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5143500" cy="9144000"/>
  <p:embeddedFontLst>
    <p:embeddedFont>
      <p:font typeface="Inter"/>
      <p:regular r:id="rId35"/>
      <p:bold r:id="rId36"/>
      <p:italic r:id="rId37"/>
      <p:boldItalic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6.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Inter-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Inter-italic.fntdata"/><Relationship Id="rId14" Type="http://schemas.openxmlformats.org/officeDocument/2006/relationships/slide" Target="slides/slide10.xml"/><Relationship Id="rId36" Type="http://schemas.openxmlformats.org/officeDocument/2006/relationships/font" Target="fonts/Inter-bold.fntdata"/><Relationship Id="rId17" Type="http://schemas.openxmlformats.org/officeDocument/2006/relationships/slide" Target="slides/slide13.xml"/><Relationship Id="rId39" Type="http://schemas.openxmlformats.org/officeDocument/2006/relationships/font" Target="fonts/RobotoMono-regular.fntdata"/><Relationship Id="rId16" Type="http://schemas.openxmlformats.org/officeDocument/2006/relationships/slide" Target="slides/slide12.xml"/><Relationship Id="rId38" Type="http://schemas.openxmlformats.org/officeDocument/2006/relationships/font" Target="fonts/Inter-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Today I am going to walk you through how we are fundamentally transforming certificate management from a manual, error-prone process into an autonomous, zero-trust security platform. This is not just another PKI tool — this is a paradigm shift in how we think about workload identity and cryptographic trust at enterprise scale. By the end of this presentation, you will understand why we built this, how it works, and the measurable business value it delivers. Let me start by showing you why this matters so urgently.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paint a picture that I know many of you have lived through. It is 3 AM on a Saturday. Your on-call engineer gets paged — the billing API is returning 503 errors. After 45 minutes of debugging, they discover the root cause: an expired TLS certificate. A single certificate that someone forgot to renew in a spreadsheet. This is not a hypothetical scenario. According to industry research, 80% of organizations have experienced a certificate-related outage in the last 24 months. The average cost per incident exceeds $300,000 when you factor in downtime, engineering time, and customer impact. And the remediation is painfully slow — 4 to 6 hours to manually rotate a compromised certificate across a fleet, because it involves manual ticket creation, copy-pasting CSRs, and human error in configuration updates. But the security risk is even more insidious. When your certificates live for 90 days, a compromised key gives an attacker a 90-day window to impersonate your services. That is the blast radius we are dealing with. So the question becomes: how do we eliminate this entire category of risk?</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why does this keep happening? The root cause is not that people are careless — it is that the underlying PKI infrastructure was never designed for the scale and complexity of modern multi-cloud environments. Most organizations have certificates scattered across dozens of teams, multiple cloud providers, and various tools — with no single source of truth. There is no central inventory that can answer the simple question: "How many certificates do we have, and when do they expire?" The second problem is the identity gap. In a zero-trust world, every workload should have a cryptographic identity. But in practice, most services communicate without mutual authentication. They rely on network perimeter security, which is exactly what zero-trust is supposed to eliminate. And the third problem is that the entire lifecycle — issuance, renewal, revocation — depends on manual processes. Calendar reminders. Tribal knowledge. The engineer who "knows how to do it" being on vacation. This is the problem we set out to solve. And the answer is not incremental improvement — it is a fundamentally different approach.</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paradigm shift. Instead of managing certificates manually, we built a system that manages them autonomously. There are three core pillars. First, zero-touch automation. When a Kubernetes pod starts, our OpAMP agent automatically bootstraps its identity, requests a certificate from Athenz ZTS backed by Vault PKI, and delivers it to the workload — all in sub-seconds, with zero human intervention. Second, short-lived credentials. We are moving from 90-day static certificates to 24-hour ephemeral identities. This reduces the blast radius of a compromised key by 98%. And because we renew proactively at 50% of the TTL — that is 12 hours into a 24-hour certificate — there is always a generous safety buffer. No more last-minute renewals. Third, policy as code. Instead of documenting security policies in a wiki and hoping people follow them, we encode them directly into the system. Tag-based rules define which algorithm to use, what key size, what TTL, and when to rotate. Compliance is not something you audit after the fact — it is enforced in real time. Now let me show you how this actually works under the hood.</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we dive into the architecture, let me give you the 60-second version of how the entire system works end to end. A Kubernetes pod starts, and our OpAMP sidecar agent starts with it. The agent immediately attests its identity — it proves who it is using the Kubernetes service account token. That attestation goes through the Supervisor Proxy, which acts as a security gateway, terminating the mTLS connection and validating the bootstrap credentials. The Supervisor Proxy forwards the validated request to the OpAMP Server, which is the control plane brain. The server requests a certificate from Athenz ZTS, which is backed by Vault PKI for the actual cryptographic signing. The certificate is delivered back to the workload through an atomic hot-reload — the application never restarts, never drops a connection. And then the cert-ops-scheduler takes over. It monitors every certificate in the fleet and automatically triggers renewal at 50% TTL — that is 12 hours into a 24-hour certificate. The result is zero human intervention, zero downtime, and continuous cryptographic identity for every workload. Now let me show you the architecture that makes this possible.</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that you have the 60-second overview, let's dive into the architecture that makes it all possible. The system is built on a four-layer architecture, with each layer playing a distinct security role. We will walk through it from the bottom up, mirroring the flow of a certificate request. Layer 1, the Agent Layer, is the execution edge where private keys are generated locally and never leave the node. Layer 2, the Supervisor Proxy, acts as a security boundary, isolating the control plane and validating bootstrap credentials. Layer 3, the Control Plane, is the orchestration brain, managing fleet state and enforcing business logic. Finally, Layer 4, the Backend Authority, is the source of truth for identity and cryptographic signing. This layered approach ensures clear security boundaries, so a compromise at one layer does not automatically compromise the others. This structured design is key to our robust security posture.</a:t>
            </a:r>
            <a:endParaRPr/>
          </a:p>
        </p:txBody>
      </p:sp>
      <p:sp>
        <p:nvSpPr>
          <p:cNvPr id="171" name="Google Shape;1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addresses a fundamental challenge in PKI: how a new workload proves its identity to get a certificate when it needs a certificate to prove its identity. We solve this classic chicken-and-egg problem through a three-phase bootstrapping process. Phase 1, Genesis, uses platform attestation, leveraging existing cloud-native identities like Kubernetes Service Account Tokens or AWS Instance Identity Documents. This eliminates the need for pre-shared secrets. In Phase 2, Exchange, the attestation is validated by Athenz ZTS, which then issues a short-lived bootstrap certificate. This allows the agent to establish its first mTLS connection. Phase 3, Steady State, means all subsequent renewals use the existing certificate as proof of identity, making the system self-sustaining. This zero-touch enrollment at scale is a cornerstone of our system. Now, let's look at the different types of certificates this system manages.</a:t>
            </a:r>
            <a:endParaRPr/>
          </a:p>
        </p:txBody>
      </p:sp>
      <p:sp>
        <p:nvSpPr>
          <p:cNvPr id="215" name="Google Shape;2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system is not a one-size-fits-all solution; we manage a full spectrum of certificate types, each with a lifetime and rotation trigger tuned to its specific use case. Workload identity certificates, for example, have a 24-hour lifetime and renew at 12 hours, minimizing the blast radius if compromised. SSH user certificates are even more aggressive, with a 1-hour lifetime tied to the session, eliminating the risk of long-lived SSH keys. We also incorporate hybrid PQC certificates, preparing for the post-quantum future by including both classical and quantum-safe keys. The core principle across all these types is the 50% TTL renewal trigger, which provides a generous safety buffer for retries. This proactive approach ensures certificates are always fresh and valid. Next, we will explore the open standards we use for certificate enrollment.</a:t>
            </a:r>
            <a:endParaRPr/>
          </a:p>
        </p:txBody>
      </p:sp>
      <p:sp>
        <p:nvSpPr>
          <p:cNvPr id="256" name="Google Shape;2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do not rely on proprietary enrollment protocols; instead, we implement two open standards widely adopted by the industry. ACME v2, defined in RFC 8555, is our choice for web PKI and automated certificate management, supporting the full order lifecycle and various challenge types. For device enrollment and IoT onboarding, we use EST, defined in RFC 7030, which is designed for constrained environments and enables zero-touch onboarding at high volumes. The key takeaway is that different use cases have different requirements, and by supporting both ACME and EST, alongside our native OpAMP attestation for Kubernetes, we provide a versatile platform. All these enrollment paths feed into the same Vault PKI backend and policy engine. This leads us to how we handle global deployments and trust across different regions.</a:t>
            </a:r>
            <a:endParaRPr/>
          </a:p>
        </p:txBody>
      </p:sp>
      <p:sp>
        <p:nvSpPr>
          <p:cNvPr id="338" name="Google Shape;3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global enterprises, centralizing certificate management in a single region is not feasible due to data sovereignty laws like GDPR. Our architecture addresses this with a federated trust model, deploying independent instances in regions like Americas, EMEA, and APAC. Each region operates its own complete stack, ensuring private keys never cross regional boundaries. The elegant solution lies in federated trust: regions share only public keys and trust bundles, allowing a workload in one region to validate a certificate issued in another without accessing its private key material. This design ensures data residency compliance by default and provides cross-region failover capabilities. This robust global architecture is orchestrated by the intelligent heart of our system, the Cert-Ops-Scheduler.</a:t>
            </a:r>
            <a:endParaRPr/>
          </a:p>
        </p:txBody>
      </p:sp>
      <p:sp>
        <p:nvSpPr>
          <p:cNvPr id="382" name="Google Shape;38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get to what I consider the most important component in the entire system — the Cert-Ops-Scheduler. If the OpAMP agent is the hands and the control plane is the brain, the scheduler is the heartbeat. It is a highly available, event-driven engine that runs continuously, autonomously managing the entire certificate lifecycle across the fleet. It runs on active-active instances with distributed locking via PostgreSQL advisory locks, so there is no single point of failure. The scheduler runs 10 autonomous jobs, and I have grouped them into three categories to make the story clear. First, Visibility and Discovery — these jobs ensure we always know what certificates exist, whether they match our source of truth, and what their health metrics look like. Second, Automated Resilience — these jobs ensure certificates are renewed before they expire, trust stores are synchronized across regions, and stale certificates are cleaned up. Third, Security Enforcement — these jobs ensure every certificate complies with our policies, every chain is valid, and we can revoke any certificate globally in under 90 seconds. Let me walk you through the most critical jobs in each category.</a:t>
            </a:r>
            <a:endParaRPr/>
          </a:p>
        </p:txBody>
      </p:sp>
      <p:sp>
        <p:nvSpPr>
          <p:cNvPr id="411" name="Google Shape;41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category is Visibility and Discovery. You cannot manage what you cannot see. Job 1, Discovery and Inventory, runs every 5 minutes and performs a full-stack scan across all environments. It discovers certificates in Kubernetes secrets, on file systems, in cloud provider certificate stores, and on load balancers. It builds a complete, real-time inventory of every certificate in the fleet. Critically, it also detects what we call "shadow certificates" — certificates that were provisioned outside our system, perhaps by a developer who manually created one. These are the certificates that cause 3 AM outages because nobody knows they exist. Job 5, Drift Detection, runs every 15 minutes and compares the actual deployed certificate against our source of truth. If someone manually replaced a certificate, or if a deployment accidentally rolled back to an old cert, drift detection catches it and automatically triggers remediation. Job 9, Telemetry and Metrics, runs continuously and exports everything to Prometheus. Renewal success rates, issuance latency, expiry countdowns, compliance scores — all available in real time. This is what powers the compliance dashboard I will show you later.</a:t>
            </a:r>
            <a:endParaRPr/>
          </a:p>
        </p:txBody>
      </p:sp>
      <p:sp>
        <p:nvSpPr>
          <p:cNvPr id="455" name="Google Shape;45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second category is Automated Resilience — this is what prevents the 3 AM outages. The Expiry Monitor runs every 5 minutes and implements what we call the 50% Rule. It scans every active certificate in the fleet and flags any that have reached 50% of their TTL. For a 24-hour workload certificate, that means renewal triggers at 12 hours. Why 50% and not 80% or 90%? Because 50% gives us the maximum safety buffer. If the first renewal attempt fails — maybe Vault is temporarily unavailable, maybe there is a network issue — we have 12 full hours to retry before the certificate expires. That is an enormous safety margin. When the Expiry Monitor flags a certificate, Auto-Rotation takes over. It generates a new key pair locally on the agent, creates a CSR, obtains the new certificate through the full attestation pipeline, and performs an atomic swap. The application never sees a gap. We also add random jitter — 0 to 30 minutes — to prevent a thundering herd. If you have 10,000 certificates that were all issued at the same time, you do not want them all renewing simultaneously. Trust Store Sync handles the federated trust model I described earlier, and Stale Cleanup removes expired and revoked certificates based on our retention policy. Together, these four jobs ensure that certificates are always fresh, always valid, and always cleaned up.</a:t>
            </a:r>
            <a:endParaRPr/>
          </a:p>
        </p:txBody>
      </p:sp>
      <p:sp>
        <p:nvSpPr>
          <p:cNvPr id="493" name="Google Shape;49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most dramatic capability in the entire system, and it is the one that gets the strongest reaction from security teams. When a key compromise is detected — whether through our own drift detection, a SIEM alert, or a manual report from SecOps — we can revoke and replace the compromised certificate across the entire global fleet in under 90 seconds. Let me walk you through the timeline. At T+0, SecOps triggers the revocation via our API or the compliance dashboard. At T+5 seconds, the certificate is marked as revoked in the database and the CRL is updated. At T+15 seconds, OCSP responders are updated across all regions. At T+30 seconds, the OpAMP Server pushes a revocation notice to every connected agent via server-sent events — this is push, not poll. The agents do not have to wait for their next check-in. At T+60 seconds, every affected agent has generated a new key pair, created a new CSR, and obtained a new certificate. At T+90 seconds, the compromised certificate is fully replaced across the entire global fleet. Compare that to the industry average of 4 to 6 hours for manual rotation. We are talking about a 200x improvement. This is the capability that transforms certificate management from a reactive, firefighting exercise into a proactive, automated security operation. Pause here and let that sink in. Under 90 seconds. Globally.</a:t>
            </a:r>
            <a:endParaRPr/>
          </a:p>
        </p:txBody>
      </p:sp>
      <p:sp>
        <p:nvSpPr>
          <p:cNvPr id="535" name="Google Shape;5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third category is Security Enforcement. The Compliance Scanner runs every 24 hours and validates every certificate in the fleet against NIST SP 800-57 requirements. It checks algorithm strength — we require ECDSA P-256 as a minimum. It checks key sizes, signature hashes, key usage extensions, and SAN configurations. If it finds a violation — say, a certificate that was somehow issued with SHA-1 — it flags it and can automatically trigger re-issuance with the correct parameters. The Chain Validator runs every 6 hours and verifies the full trust path from every leaf certificate up to the root CA. It checks that every intermediate CA in the chain is valid, that cross-signing is intact, and that the trust anchor is present in the trust store. A broken chain is one of the most insidious certificate problems because the certificate itself looks valid, but clients cannot verify it. The combined impact of these two jobs is a 100% compliance pass rate on automated scans and zero manual audit preparation. When the auditors come, we hand them the dashboard and the immutable audit logs.</a:t>
            </a:r>
            <a:endParaRPr/>
          </a:p>
        </p:txBody>
      </p:sp>
      <p:sp>
        <p:nvSpPr>
          <p:cNvPr id="586" name="Google Shape;58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is not a single feature — it is a property of the entire architecture. Let me highlight three layers of our defense-in-depth strategy. First, mTLS everywhere. Every single connection in the system uses mutual TLS 1.3. The agent connects to the Supervisor Proxy over mTLS. The Proxy connects to the OpAMP Server over mTLS. The Server connects to Vault and Athenz over mTLS. There is no plaintext communication anywhere in the system, and there is no one-way TLS where only the server is authenticated. Every connection is mutually authenticated. Second, HSM integration. Our CA private keys never exist in software. They are generated, stored, and used strictly within AWS CloudHSM hardware boundaries, which is FIPS 140-2 Level 3 certified. The keys are non-exportable — they physically cannot leave the HSM. Athenz ZTS communicates with the HSM via the standard PKCS#11 interface, which means we can switch to Azure Managed HSM or on-premises Thales hardware without changing our application code. Third, SPIFFE identity. We use the SPIFFE standard to decouple workload identity from network topology. Instead of identifying services by IP address or DNS name — which change constantly in cloud environments — we use SPIFFE IDs like spiffe://acme.com/billing/api. This identity is encoded into X.509 SVIDs and validated through workload attestation. This robust security architecture directly supports our compliance goals, which I will cover next.</a:t>
            </a:r>
            <a:endParaRPr/>
          </a:p>
        </p:txBody>
      </p:sp>
      <p:sp>
        <p:nvSpPr>
          <p:cNvPr id="649" name="Google Shape;64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Compliance is not a checkbox exercise for us — it is built into the architecture. Let me give you the compliance landscape in one view. NIST SP 800-57 — we have full compliance with key management recommendations. Key generation, distribution, storage, and destruction are all automated and policy-enforced. CISA Zero Trust Maturity — we are achieving "Advanced" maturity level across all five pillars. Automated identity verification, encrypted communications everywhere, and continuous monitoring through our telemetry jobs. FIPS 140-3 — we are ready for federal deployments. We use the Go Native FIPS 140-3 Module, which is a build-time configuration flag, not an architectural rewrite. Set the GOFIPS140 environment variable, rebuild, and you have FIPS-compliant cryptography. No code changes required. And Post-Quantum Cryptography — this is where we are ahead of the curve. We already support hybrid certificates that contain both classical ECC keys and quantum-safe keys using ML-KEM (Kyber) for key encapsulation and ML-DSA (Dilithium) for signatures. These are the algorithms NIST standardized in 2024. The critical point is that OpAMP already supports multi-key payloads, so upgrading to PQC is a configuration change, not a protocol rewrite. We are not scrambling to prepare for the quantum future — we are already there. This comprehensive compliance posture is reflected in our real-time dashboard.</a:t>
            </a:r>
            <a:endParaRPr/>
          </a:p>
        </p:txBody>
      </p:sp>
      <p:sp>
        <p:nvSpPr>
          <p:cNvPr id="681" name="Google Shape;68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the operations team sees every day. The compliance dashboard provides real-time visibility into the health of every certificate in the fleet. Let me highlight the numbers that matter most. Global compliance score: 99.7%. Active certificates: nearly 48,000 managed across the fleet. Renewal success rate: 99.99% — that is 4 failures in the last 30 days, and all four were auto-remediated by the retry logic. Average issuance latency: 340 milliseconds from CSR to delivered certificate. And the number I am most proud of: certificates expiring in the next 24 hours — zero. Because every single one has been proactively renewed. The dashboard also shows the regional breakdown, so you can see the distribution across Americas, EMEA, and APAC. All the data feeds into Splunk and Elastic for threat hunting, and every action is recorded in immutable audit logs with cryptographic chaining — WORM storage that cannot be tampered with. When auditors ask for evidence, we do not spend weeks preparing spreadsheets. We give them access to the dashboard and the audit logs. Audit preparation time goes from days to minutes. This level of operational excellence translates directly into significant business value.</a:t>
            </a:r>
            <a:endParaRPr/>
          </a:p>
        </p:txBody>
      </p:sp>
      <p:sp>
        <p:nvSpPr>
          <p:cNvPr id="725" name="Google Shape;72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 me connect everything back to the business case. Remember the 3 AM crisis I opened with? Let me show you the financial impact of eliminating it. Our total monthly infrastructure cost is approximately $12,400 — that covers the Vault cluster, Athenz, OpAMP servers, monitoring, and HSM. Annualized, that is about $149,000. Now look at the value delivered. Prevented outages alone — based on the industry average of 4 certificate-related incidents per year at $300,000 each — that is $1.2 million in prevented downtime. Engineering time saved — our operations team was spending over 2,000 hours per year on manual certificate management. At $150 per hour fully loaded, that is $312,000 returned to productive work. Compliance automation saves another $180,000 in audit preparation and reporting. And the security risk reduction — by moving to 24-hour ephemeral certificates and sub-90-second revocation, we have dramatically reduced our breach probability, which our risk team values at over $500,000 annually. Total annual value: over $2.1 million. That is a 14.7x return on investment. For every dollar we spend on this platform, we get $14.70 back. The payback period is under 30 days. This is not a cost center — it is a force multiplier. This significant ROI is achievable through a structured implementation plan.</a:t>
            </a:r>
            <a:endParaRPr/>
          </a:p>
        </p:txBody>
      </p:sp>
      <p:sp>
        <p:nvSpPr>
          <p:cNvPr id="784" name="Google Shape;78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close with our implementation roadmap. We have structured this as a three-phase approach that balances speed with risk management. Phase 1 is the Foundation — months 1 through 3. We deploy the core platform in a single region, integrate Vault PKI and Athenz ZTS, and onboard the first 100 workloads using Kubernetes attestation. The goal is to prove the zero-touch renewal model works end to end. Phase 2 is Scale and Production — months 4 through 8. We expand to multi-region deployment, activate the federated trust model, bring on EST enrollment for our IoT device fleet, and deploy the full 10-job scheduler. By the end of Phase 2, we are managing over 10,000 certificates with a 99.9% renewal success rate. Phase 3 is Advanced and PQC — months 9 through 12. We complete the APAC deployment for full geo-sovereignty, enable post-quantum hybrid certificates, migrate from Vault Transit to CloudHSM for FIPS 140-2 Level 3 hardware protection, and achieve the FIPS 140-3 production build. By the end of Phase 3, we are managing over 100,000 certificates with full NIST and CISA compliance and quantum readiness. The bottom line is this: we are moving from manual chaos to autonomous, zero-trust security. And we are doing it in a way that is ready for the post-quantum future. I would love to take your questions now, and for those who want the deep technical details, I have a comprehensive appendix with sequence diagrams for every major flow. Thank you.</a:t>
            </a:r>
            <a:endParaRPr/>
          </a:p>
        </p:txBody>
      </p:sp>
      <p:sp>
        <p:nvSpPr>
          <p:cNvPr id="831" name="Google Shape;83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have just reviewed the high-level roadmap for this system. Now, for those who want to dive deeper, we are moving into the technical reference appendix. This section provides detailed sequence diagrams and architectural flows. These are intended for technical deep-dives and follow-up discussions, not for live presentation. We will start with the initial certificate provisioning sequence.</a:t>
            </a:r>
            <a:endParaRPr/>
          </a:p>
        </p:txBody>
      </p:sp>
      <p:sp>
        <p:nvSpPr>
          <p:cNvPr id="890" name="Google Shape;89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shows the complete initial certificate provisioning flow. It illustrates how a new workload gets its first certificate without human intervention. The critical point here is that the private key is generated on the agent and never leaves that execution edge. The request then travels securely through the Supervisor Proxy to the OpAMP Server, which orchestrates the signing with Athenz ZTS and Vault PKI. The certificate is returned through the same secure path and atomically swapped into the workload's TLS configuration. This ensures zero-touch, secure enrollment from the very beginning. Next, we will look at how these certificates are automatically renewed.</a:t>
            </a:r>
            <a:endParaRPr/>
          </a:p>
        </p:txBody>
      </p:sp>
      <p:sp>
        <p:nvSpPr>
          <p:cNvPr id="900" name="Google Shape;90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Following the initial provisioning, this diagram details the automated certificate renewal process. This is where the Cert-Ops-Scheduler truly shines, preventing those 3 AM outages. The key detail is the 50% TTL trigger: the scheduler identifies certificates that have reached the halfway point of their lifetime and proactively triggers renewal. This provides a full half-lifetime of safety buffer for retries, ensuring continuous availability. The agent then generates a new key pair, obtains a new certificate through the full signing flow, and performs an atomic swap, all without application downtime. Now, let's examine our response to a key compromise.</a:t>
            </a:r>
            <a:endParaRPr/>
          </a:p>
        </p:txBody>
      </p:sp>
      <p:sp>
        <p:nvSpPr>
          <p:cNvPr id="956" name="Google Shape;95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illustrates our emergency revocation flow, which we call the "kill switch" capability. This is how we respond to a compromised key in under 90 seconds, globally. The critical aspect here is the push-based notification model: the OpAMP Server does not wait for agents to poll. Instead, it pushes the revocation notice via server-sent events, ensuring rapid, sub-90-second global propagation. This transforms a potentially hours-long manual process into an automated, near-instantaneous security response. Next, we will explore how we maintain continuous compliance.</a:t>
            </a:r>
            <a:endParaRPr/>
          </a:p>
        </p:txBody>
      </p:sp>
      <p:sp>
        <p:nvSpPr>
          <p:cNvPr id="1006" name="Google Shape;100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8" name="Google Shape;103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details the compliance scan, which is Job #4 in our Cert-Ops-Scheduler. This job runs continuously to ensure every certificate adheres to our security policies. The compliance scan validates every active certificate against the full NIST SP 800-57 policy set. It checks critical parameters like algorithm strength, key size, hash, and extensions. Violations are categorized by severity: critical violations, such as weak algorithms, trigger automatic re-issuance, while warnings, like approaching expiry, generate alerts. This proactive scanning ensures continuous compliance and reduces audit overhead. We will now move on to how we manage trust across federated regions.</a:t>
            </a:r>
            <a:endParaRPr/>
          </a:p>
        </p:txBody>
      </p:sp>
      <p:sp>
        <p:nvSpPr>
          <p:cNvPr id="1039" name="Google Shape;103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9" name="Google Shape;106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illustrates how federated trust works across regions. The critical security property is that private keys never cross regional boundaries. Only public keys and trust bundles are synchronized, enabling cross-region certificate validation while maintaining data sovereignty. This ensures global reach without compromising data residency requirements. We achieve seamless trust across our global footprint. Now, let's look at how we handle unexpected changes.</a:t>
            </a:r>
            <a:endParaRPr/>
          </a:p>
        </p:txBody>
      </p:sp>
      <p:sp>
        <p:nvSpPr>
          <p:cNvPr id="1070" name="Google Shape;107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Drift detection catches cases where the deployed certificate does not match our source of truth. This is crucial for maintaining a consistent security posture. For example, if a manual deployment accidentally rolled back to an old certificate, or if someone manually replaced a certificate outside the system, our system identifies this discrepancy. It then automatically triggers remediation to re-provision the correct certificate. This ensures that any unauthorized or incorrect changes are quickly reversed. Next, we will examine how new identities are brought into this trusted environment.</a:t>
            </a:r>
            <a:endParaRPr/>
          </a:p>
        </p:txBody>
      </p:sp>
      <p:sp>
        <p:nvSpPr>
          <p:cNvPr id="1104" name="Google Shape;11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8" name="Google Shape;113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detailed view of the identity bootstrapping flow, our solution to the classic 'chicken-and-egg' problem. The new agent uses its platform identity, like an AWS Instance Identity Document or a Kubernetes Service Account Token, as the initial proof of identity. Athenz ZTS independently validates this against the cloud provider's API before issuing the bootstrap certificate. This process ensures secure, automated enrollment for every new workload. Now, let's discuss the underlying infrastructure that supports this reliability.</a:t>
            </a:r>
            <a:endParaRPr/>
          </a:p>
        </p:txBody>
      </p:sp>
      <p:sp>
        <p:nvSpPr>
          <p:cNvPr id="1139" name="Google Shape;113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cert-ops-scheduler runs in an active-active configuration across multiple availability zones. This design ensures high availability and resilience. Job coordination uses PostgreSQL advisory locks, which eliminates the need for an external distributed lock service. Singleton jobs, like the daily compliance scan, use leader election, while parallelizable jobs, such as expiry monitoring, are distributed across all instances. This architecture allows us to scale horizontally and maintain continuous operation. Finally, we will review our comprehensive security measures.</a:t>
            </a:r>
            <a:endParaRPr/>
          </a:p>
        </p:txBody>
      </p:sp>
      <p:sp>
        <p:nvSpPr>
          <p:cNvPr id="1172" name="Google Shape;117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provides the STRIDE threat model analysis for the complete system. Each threat category has been analyzed and mitigated through architectural controls rather than relying solely on operational procedures. The key principle here is defense in depth. No single mitigation is relied upon in isolation. This layered approach ensures robust security against a wide range of potential threats.</a:t>
            </a:r>
            <a:endParaRPr/>
          </a:p>
        </p:txBody>
      </p:sp>
      <p:sp>
        <p:nvSpPr>
          <p:cNvPr id="1200" name="Google Shape;120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3"/>
          <p:cNvSpPr/>
          <p:nvPr/>
        </p:nvSpPr>
        <p:spPr>
          <a:xfrm>
            <a:off x="428625" y="1399840"/>
            <a:ext cx="8286750" cy="1097235"/>
          </a:xfrm>
          <a:prstGeom prst="rect">
            <a:avLst/>
          </a:prstGeom>
          <a:noFill/>
          <a:ln>
            <a:noFill/>
          </a:ln>
        </p:spPr>
        <p:txBody>
          <a:bodyPr anchorCtr="0" anchor="t" bIns="0" lIns="0" spcFirstLastPara="1" rIns="0" wrap="square" tIns="0">
            <a:noAutofit/>
          </a:bodyPr>
          <a:lstStyle/>
          <a:p>
            <a:pPr indent="0" lvl="0" marL="0" marR="0" rtl="0" algn="ctr">
              <a:lnSpc>
                <a:spcPct val="130580"/>
              </a:lnSpc>
              <a:spcBef>
                <a:spcPts val="0"/>
              </a:spcBef>
              <a:spcAft>
                <a:spcPts val="0"/>
              </a:spcAft>
              <a:buClr>
                <a:srgbClr val="FFFFFF"/>
              </a:buClr>
              <a:buSzPts val="3293"/>
              <a:buFont typeface="Inter"/>
              <a:buNone/>
            </a:pPr>
            <a:r>
              <a:rPr b="1" i="0" lang="en-US" sz="3294" u="none" cap="none" strike="noStrike">
                <a:solidFill>
                  <a:srgbClr val="FFFFFF"/>
                </a:solidFill>
                <a:latin typeface="Inter"/>
                <a:ea typeface="Inter"/>
                <a:cs typeface="Inter"/>
                <a:sym typeface="Inter"/>
              </a:rPr>
              <a:t>Certificate Management with OpAMP &amp; Supervisor Proxy</a:t>
            </a:r>
            <a:endParaRPr b="0" i="0" sz="3294" u="none" cap="none" strike="noStrike">
              <a:solidFill>
                <a:schemeClr val="dk1"/>
              </a:solidFill>
              <a:latin typeface="Calibri"/>
              <a:ea typeface="Calibri"/>
              <a:cs typeface="Calibri"/>
              <a:sym typeface="Calibri"/>
            </a:endParaRPr>
          </a:p>
        </p:txBody>
      </p:sp>
      <p:sp>
        <p:nvSpPr>
          <p:cNvPr id="18" name="Google Shape;18;p3"/>
          <p:cNvSpPr/>
          <p:nvPr/>
        </p:nvSpPr>
        <p:spPr>
          <a:xfrm>
            <a:off x="2580680" y="2639950"/>
            <a:ext cx="3982641" cy="276820"/>
          </a:xfrm>
          <a:prstGeom prst="rect">
            <a:avLst/>
          </a:prstGeom>
          <a:noFill/>
          <a:ln>
            <a:noFill/>
          </a:ln>
        </p:spPr>
        <p:txBody>
          <a:bodyPr anchorCtr="0" anchor="t" bIns="0" lIns="0" spcFirstLastPara="1" rIns="0" wrap="square" tIns="0">
            <a:noAutofit/>
          </a:bodyPr>
          <a:lstStyle/>
          <a:p>
            <a:pPr indent="0" lvl="0" marL="0" marR="0" rtl="0" algn="ctr">
              <a:lnSpc>
                <a:spcPct val="129107"/>
              </a:lnSpc>
              <a:spcBef>
                <a:spcPts val="0"/>
              </a:spcBef>
              <a:spcAft>
                <a:spcPts val="0"/>
              </a:spcAft>
              <a:buClr>
                <a:srgbClr val="00E5FF"/>
              </a:buClr>
              <a:buSzPts val="1704"/>
              <a:buFont typeface="Inter"/>
              <a:buNone/>
            </a:pPr>
            <a:r>
              <a:rPr b="0" i="0" lang="en-US" sz="1704" u="none" cap="none" strike="noStrike">
                <a:solidFill>
                  <a:srgbClr val="00E5FF"/>
                </a:solidFill>
                <a:latin typeface="Inter"/>
                <a:ea typeface="Inter"/>
                <a:cs typeface="Inter"/>
                <a:sym typeface="Inter"/>
              </a:rPr>
              <a:t>Comprehensive Technical Deep Dive</a:t>
            </a:r>
            <a:endParaRPr b="0" i="0" sz="1704" u="none" cap="none" strike="noStrike">
              <a:solidFill>
                <a:schemeClr val="dk1"/>
              </a:solidFill>
              <a:latin typeface="Calibri"/>
              <a:ea typeface="Calibri"/>
              <a:cs typeface="Calibri"/>
              <a:sym typeface="Calibri"/>
            </a:endParaRPr>
          </a:p>
        </p:txBody>
      </p:sp>
      <p:sp>
        <p:nvSpPr>
          <p:cNvPr id="19" name="Google Shape;19;p3"/>
          <p:cNvSpPr/>
          <p:nvPr/>
        </p:nvSpPr>
        <p:spPr>
          <a:xfrm>
            <a:off x="2811066" y="3516846"/>
            <a:ext cx="3521869" cy="226814"/>
          </a:xfrm>
          <a:prstGeom prst="rect">
            <a:avLst/>
          </a:prstGeom>
          <a:noFill/>
          <a:ln>
            <a:noFill/>
          </a:ln>
        </p:spPr>
        <p:txBody>
          <a:bodyPr anchorCtr="0" anchor="t" bIns="0" lIns="0" spcFirstLastPara="1" rIns="0" wrap="square" tIns="0">
            <a:noAutofit/>
          </a:bodyPr>
          <a:lstStyle/>
          <a:p>
            <a:pPr indent="0" lvl="0" marL="0" marR="0" rtl="0" algn="ctr">
              <a:lnSpc>
                <a:spcPct val="126083"/>
              </a:lnSpc>
              <a:spcBef>
                <a:spcPts val="0"/>
              </a:spcBef>
              <a:spcAft>
                <a:spcPts val="0"/>
              </a:spcAft>
              <a:buClr>
                <a:srgbClr val="E0E0E0"/>
              </a:buClr>
              <a:buSzPts val="1269"/>
              <a:buFont typeface="Roboto Mono"/>
              <a:buNone/>
            </a:pPr>
            <a:r>
              <a:rPr b="0" i="0" lang="en-US" sz="1269" u="none" cap="none" strike="noStrike">
                <a:solidFill>
                  <a:srgbClr val="E0E0E0"/>
                </a:solidFill>
                <a:latin typeface="Roboto Mono"/>
                <a:ea typeface="Roboto Mono"/>
                <a:cs typeface="Roboto Mono"/>
                <a:sym typeface="Roboto Mono"/>
              </a:rPr>
              <a:t>Kishore Mooli, </a:t>
            </a:r>
            <a:r>
              <a:rPr lang="en-US" sz="1269">
                <a:solidFill>
                  <a:srgbClr val="E0E0E0"/>
                </a:solidFill>
                <a:latin typeface="Roboto Mono"/>
                <a:ea typeface="Roboto Mono"/>
                <a:cs typeface="Roboto Mono"/>
                <a:sym typeface="Roboto Mono"/>
              </a:rPr>
              <a:t>Cyber Architecture</a:t>
            </a:r>
            <a:endParaRPr b="0" i="0" sz="1269"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pic>
        <p:nvPicPr>
          <p:cNvPr descr="preencoded.png" id="25" name="Google Shape;25;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 name="Google Shape;26;p4"/>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CURRENT STATE CHALLENGES</a:t>
            </a:r>
            <a:endParaRPr b="0" i="0" sz="834" u="none" cap="none" strike="noStrike">
              <a:solidFill>
                <a:schemeClr val="dk1"/>
              </a:solidFill>
              <a:latin typeface="Calibri"/>
              <a:ea typeface="Calibri"/>
              <a:cs typeface="Calibri"/>
              <a:sym typeface="Calibri"/>
            </a:endParaRPr>
          </a:p>
        </p:txBody>
      </p:sp>
      <p:sp>
        <p:nvSpPr>
          <p:cNvPr id="27" name="Google Shape;27;p4"/>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The Manual PKI Nightmare</a:t>
            </a:r>
            <a:endParaRPr b="0" i="0" sz="2436" u="none" cap="none" strike="noStrike">
              <a:solidFill>
                <a:schemeClr val="dk1"/>
              </a:solidFill>
              <a:latin typeface="Calibri"/>
              <a:ea typeface="Calibri"/>
              <a:cs typeface="Calibri"/>
              <a:sym typeface="Calibri"/>
            </a:endParaRPr>
          </a:p>
        </p:txBody>
      </p:sp>
      <p:sp>
        <p:nvSpPr>
          <p:cNvPr id="28" name="Google Shape;28;p4"/>
          <p:cNvSpPr/>
          <p:nvPr/>
        </p:nvSpPr>
        <p:spPr>
          <a:xfrm>
            <a:off x="571500" y="1418732"/>
            <a:ext cx="2476481" cy="3328541"/>
          </a:xfrm>
          <a:prstGeom prst="rect">
            <a:avLst/>
          </a:prstGeom>
          <a:solidFill>
            <a:srgbClr val="0D1B2A">
              <a:alpha val="80000"/>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785813" y="1704482"/>
            <a:ext cx="2047856" cy="169664"/>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THE SILENT KILLER</a:t>
            </a:r>
            <a:endParaRPr b="0" i="0" sz="942" u="none" cap="none" strike="noStrike">
              <a:solidFill>
                <a:schemeClr val="dk1"/>
              </a:solidFill>
              <a:latin typeface="Calibri"/>
              <a:ea typeface="Calibri"/>
              <a:cs typeface="Calibri"/>
              <a:sym typeface="Calibri"/>
            </a:endParaRPr>
          </a:p>
        </p:txBody>
      </p:sp>
      <p:sp>
        <p:nvSpPr>
          <p:cNvPr id="30" name="Google Shape;30;p4"/>
          <p:cNvSpPr/>
          <p:nvPr/>
        </p:nvSpPr>
        <p:spPr>
          <a:xfrm>
            <a:off x="785813" y="2017021"/>
            <a:ext cx="2047856" cy="457200"/>
          </a:xfrm>
          <a:prstGeom prst="rect">
            <a:avLst/>
          </a:prstGeom>
          <a:noFill/>
          <a:ln>
            <a:noFill/>
          </a:ln>
        </p:spPr>
        <p:txBody>
          <a:bodyPr anchorCtr="0" anchor="t" bIns="0" lIns="0" spcFirstLastPara="1" rIns="0" wrap="square" tIns="0">
            <a:noAutofit/>
          </a:bodyPr>
          <a:lstStyle/>
          <a:p>
            <a:pPr indent="0" lvl="0" marL="0" marR="0" rtl="0" algn="l">
              <a:lnSpc>
                <a:spcPct val="109322"/>
              </a:lnSpc>
              <a:spcBef>
                <a:spcPts val="0"/>
              </a:spcBef>
              <a:spcAft>
                <a:spcPts val="0"/>
              </a:spcAft>
              <a:buClr>
                <a:srgbClr val="FFFFFF"/>
              </a:buClr>
              <a:buSzPts val="3293"/>
              <a:buFont typeface="Inter"/>
              <a:buNone/>
            </a:pPr>
            <a:r>
              <a:rPr b="1" i="0" lang="en-US" sz="3294" u="none" cap="none" strike="noStrike">
                <a:solidFill>
                  <a:srgbClr val="FFFFFF"/>
                </a:solidFill>
                <a:latin typeface="Inter"/>
                <a:ea typeface="Inter"/>
                <a:cs typeface="Inter"/>
                <a:sym typeface="Inter"/>
              </a:rPr>
              <a:t>80%</a:t>
            </a:r>
            <a:endParaRPr b="0" i="0" sz="3294" u="none" cap="none" strike="noStrike">
              <a:solidFill>
                <a:schemeClr val="dk1"/>
              </a:solidFill>
              <a:latin typeface="Calibri"/>
              <a:ea typeface="Calibri"/>
              <a:cs typeface="Calibri"/>
              <a:sym typeface="Calibri"/>
            </a:endParaRPr>
          </a:p>
        </p:txBody>
      </p:sp>
      <p:sp>
        <p:nvSpPr>
          <p:cNvPr id="31" name="Google Shape;31;p4"/>
          <p:cNvSpPr/>
          <p:nvPr/>
        </p:nvSpPr>
        <p:spPr>
          <a:xfrm>
            <a:off x="785813" y="2643885"/>
            <a:ext cx="1969889"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of organizations experienced</a:t>
            </a:r>
            <a:endParaRPr b="0" i="0" sz="1050" u="none" cap="none" strike="noStrike">
              <a:solidFill>
                <a:schemeClr val="dk1"/>
              </a:solidFill>
              <a:latin typeface="Calibri"/>
              <a:ea typeface="Calibri"/>
              <a:cs typeface="Calibri"/>
              <a:sym typeface="Calibri"/>
            </a:endParaRPr>
          </a:p>
        </p:txBody>
      </p:sp>
      <p:sp>
        <p:nvSpPr>
          <p:cNvPr id="32" name="Google Shape;32;p4"/>
          <p:cNvSpPr/>
          <p:nvPr/>
        </p:nvSpPr>
        <p:spPr>
          <a:xfrm>
            <a:off x="785813" y="2872485"/>
            <a:ext cx="2003822"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a certificate-related outage in</a:t>
            </a:r>
            <a:endParaRPr b="0" i="0" sz="1050" u="none" cap="none" strike="noStrike">
              <a:solidFill>
                <a:schemeClr val="dk1"/>
              </a:solidFill>
              <a:latin typeface="Calibri"/>
              <a:ea typeface="Calibri"/>
              <a:cs typeface="Calibri"/>
              <a:sym typeface="Calibri"/>
            </a:endParaRPr>
          </a:p>
        </p:txBody>
      </p:sp>
      <p:sp>
        <p:nvSpPr>
          <p:cNvPr id="33" name="Google Shape;33;p4"/>
          <p:cNvSpPr/>
          <p:nvPr/>
        </p:nvSpPr>
        <p:spPr>
          <a:xfrm>
            <a:off x="785813" y="3101085"/>
            <a:ext cx="1293019"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the last 24 months.</a:t>
            </a:r>
            <a:endParaRPr b="0" i="0" sz="1050" u="none" cap="none" strike="noStrike">
              <a:solidFill>
                <a:schemeClr val="dk1"/>
              </a:solidFill>
              <a:latin typeface="Calibri"/>
              <a:ea typeface="Calibri"/>
              <a:cs typeface="Calibri"/>
              <a:sym typeface="Calibri"/>
            </a:endParaRPr>
          </a:p>
        </p:txBody>
      </p:sp>
      <p:sp>
        <p:nvSpPr>
          <p:cNvPr id="34" name="Google Shape;34;p4"/>
          <p:cNvSpPr/>
          <p:nvPr/>
        </p:nvSpPr>
        <p:spPr>
          <a:xfrm>
            <a:off x="928688" y="3410052"/>
            <a:ext cx="1904981"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Unexpected service downtime</a:t>
            </a:r>
            <a:endParaRPr b="0" i="0" sz="942" u="none" cap="none" strike="noStrike">
              <a:solidFill>
                <a:schemeClr val="dk1"/>
              </a:solidFill>
              <a:latin typeface="Calibri"/>
              <a:ea typeface="Calibri"/>
              <a:cs typeface="Calibri"/>
              <a:sym typeface="Calibri"/>
            </a:endParaRPr>
          </a:p>
        </p:txBody>
      </p:sp>
      <p:sp>
        <p:nvSpPr>
          <p:cNvPr id="35" name="Google Shape;35;p4"/>
          <p:cNvSpPr/>
          <p:nvPr/>
        </p:nvSpPr>
        <p:spPr>
          <a:xfrm>
            <a:off x="928688" y="3687207"/>
            <a:ext cx="1904981" cy="411435"/>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"It worked yesterday" syndrome</a:t>
            </a:r>
            <a:endParaRPr b="0" i="0" sz="942" u="none" cap="none" strike="noStrike">
              <a:solidFill>
                <a:schemeClr val="dk1"/>
              </a:solidFill>
              <a:latin typeface="Calibri"/>
              <a:ea typeface="Calibri"/>
              <a:cs typeface="Calibri"/>
              <a:sym typeface="Calibri"/>
            </a:endParaRPr>
          </a:p>
        </p:txBody>
      </p:sp>
      <p:sp>
        <p:nvSpPr>
          <p:cNvPr id="36" name="Google Shape;36;p4"/>
          <p:cNvSpPr/>
          <p:nvPr/>
        </p:nvSpPr>
        <p:spPr>
          <a:xfrm>
            <a:off x="928688" y="4170080"/>
            <a:ext cx="1904981"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Emergency war rooms at 3 AM</a:t>
            </a:r>
            <a:endParaRPr b="0" i="0" sz="942" u="none" cap="none" strike="noStrike">
              <a:solidFill>
                <a:schemeClr val="dk1"/>
              </a:solidFill>
              <a:latin typeface="Calibri"/>
              <a:ea typeface="Calibri"/>
              <a:cs typeface="Calibri"/>
              <a:sym typeface="Calibri"/>
            </a:endParaRPr>
          </a:p>
        </p:txBody>
      </p:sp>
      <p:sp>
        <p:nvSpPr>
          <p:cNvPr id="37" name="Google Shape;37;p4"/>
          <p:cNvSpPr/>
          <p:nvPr/>
        </p:nvSpPr>
        <p:spPr>
          <a:xfrm>
            <a:off x="3333731" y="1418732"/>
            <a:ext cx="2476509" cy="3314254"/>
          </a:xfrm>
          <a:prstGeom prst="rect">
            <a:avLst/>
          </a:prstGeom>
          <a:solidFill>
            <a:srgbClr val="0D1B2A">
              <a:alpha val="80000"/>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3548044" y="1704482"/>
            <a:ext cx="2047884" cy="169664"/>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OPERATIONAL TOIL</a:t>
            </a:r>
            <a:endParaRPr b="0" i="0" sz="942" u="none" cap="none" strike="noStrike">
              <a:solidFill>
                <a:schemeClr val="dk1"/>
              </a:solidFill>
              <a:latin typeface="Calibri"/>
              <a:ea typeface="Calibri"/>
              <a:cs typeface="Calibri"/>
              <a:sym typeface="Calibri"/>
            </a:endParaRPr>
          </a:p>
        </p:txBody>
      </p:sp>
      <p:sp>
        <p:nvSpPr>
          <p:cNvPr id="39" name="Google Shape;39;p4"/>
          <p:cNvSpPr/>
          <p:nvPr/>
        </p:nvSpPr>
        <p:spPr>
          <a:xfrm>
            <a:off x="3548044" y="2017021"/>
            <a:ext cx="2047884" cy="457200"/>
          </a:xfrm>
          <a:prstGeom prst="rect">
            <a:avLst/>
          </a:prstGeom>
          <a:noFill/>
          <a:ln>
            <a:noFill/>
          </a:ln>
        </p:spPr>
        <p:txBody>
          <a:bodyPr anchorCtr="0" anchor="t" bIns="0" lIns="0" spcFirstLastPara="1" rIns="0" wrap="square" tIns="0">
            <a:noAutofit/>
          </a:bodyPr>
          <a:lstStyle/>
          <a:p>
            <a:pPr indent="0" lvl="0" marL="0" marR="0" rtl="0" algn="l">
              <a:lnSpc>
                <a:spcPct val="109322"/>
              </a:lnSpc>
              <a:spcBef>
                <a:spcPts val="0"/>
              </a:spcBef>
              <a:spcAft>
                <a:spcPts val="0"/>
              </a:spcAft>
              <a:buClr>
                <a:srgbClr val="FFFFFF"/>
              </a:buClr>
              <a:buSzPts val="3293"/>
              <a:buFont typeface="Inter"/>
              <a:buNone/>
            </a:pPr>
            <a:r>
              <a:rPr b="1" i="0" lang="en-US" sz="3294" u="none" cap="none" strike="noStrike">
                <a:solidFill>
                  <a:srgbClr val="FFFFFF"/>
                </a:solidFill>
                <a:latin typeface="Inter"/>
                <a:ea typeface="Inter"/>
                <a:cs typeface="Inter"/>
                <a:sym typeface="Inter"/>
              </a:rPr>
              <a:t>4-6h</a:t>
            </a:r>
            <a:endParaRPr b="0" i="0" sz="3294" u="none" cap="none" strike="noStrike">
              <a:solidFill>
                <a:schemeClr val="dk1"/>
              </a:solidFill>
              <a:latin typeface="Calibri"/>
              <a:ea typeface="Calibri"/>
              <a:cs typeface="Calibri"/>
              <a:sym typeface="Calibri"/>
            </a:endParaRPr>
          </a:p>
        </p:txBody>
      </p:sp>
      <p:sp>
        <p:nvSpPr>
          <p:cNvPr id="40" name="Google Shape;40;p4"/>
          <p:cNvSpPr/>
          <p:nvPr/>
        </p:nvSpPr>
        <p:spPr>
          <a:xfrm>
            <a:off x="3548044" y="2643885"/>
            <a:ext cx="1689497"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average time to manually</a:t>
            </a:r>
            <a:endParaRPr b="0" i="0" sz="1050" u="none" cap="none" strike="noStrike">
              <a:solidFill>
                <a:schemeClr val="dk1"/>
              </a:solidFill>
              <a:latin typeface="Calibri"/>
              <a:ea typeface="Calibri"/>
              <a:cs typeface="Calibri"/>
              <a:sym typeface="Calibri"/>
            </a:endParaRPr>
          </a:p>
        </p:txBody>
      </p:sp>
      <p:sp>
        <p:nvSpPr>
          <p:cNvPr id="41" name="Google Shape;41;p4"/>
          <p:cNvSpPr/>
          <p:nvPr/>
        </p:nvSpPr>
        <p:spPr>
          <a:xfrm>
            <a:off x="3548044" y="2872485"/>
            <a:ext cx="1478756"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rotate a compromised</a:t>
            </a:r>
            <a:endParaRPr b="0" i="0" sz="1050" u="none" cap="none" strike="noStrike">
              <a:solidFill>
                <a:schemeClr val="dk1"/>
              </a:solidFill>
              <a:latin typeface="Calibri"/>
              <a:ea typeface="Calibri"/>
              <a:cs typeface="Calibri"/>
              <a:sym typeface="Calibri"/>
            </a:endParaRPr>
          </a:p>
        </p:txBody>
      </p:sp>
      <p:sp>
        <p:nvSpPr>
          <p:cNvPr id="42" name="Google Shape;42;p4"/>
          <p:cNvSpPr/>
          <p:nvPr/>
        </p:nvSpPr>
        <p:spPr>
          <a:xfrm>
            <a:off x="3548044" y="3101085"/>
            <a:ext cx="1678781"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certificate across a fleet.</a:t>
            </a:r>
            <a:endParaRPr b="0" i="0" sz="1050" u="none" cap="none" strike="noStrike">
              <a:solidFill>
                <a:schemeClr val="dk1"/>
              </a:solidFill>
              <a:latin typeface="Calibri"/>
              <a:ea typeface="Calibri"/>
              <a:cs typeface="Calibri"/>
              <a:sym typeface="Calibri"/>
            </a:endParaRPr>
          </a:p>
        </p:txBody>
      </p:sp>
      <p:sp>
        <p:nvSpPr>
          <p:cNvPr id="43" name="Google Shape;43;p4"/>
          <p:cNvSpPr/>
          <p:nvPr/>
        </p:nvSpPr>
        <p:spPr>
          <a:xfrm>
            <a:off x="3690919" y="3410052"/>
            <a:ext cx="1905009"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Manual ticket creation</a:t>
            </a:r>
            <a:endParaRPr b="0" i="0" sz="942" u="none" cap="none" strike="noStrike">
              <a:solidFill>
                <a:schemeClr val="dk1"/>
              </a:solidFill>
              <a:latin typeface="Calibri"/>
              <a:ea typeface="Calibri"/>
              <a:cs typeface="Calibri"/>
              <a:sym typeface="Calibri"/>
            </a:endParaRPr>
          </a:p>
        </p:txBody>
      </p:sp>
      <p:sp>
        <p:nvSpPr>
          <p:cNvPr id="44" name="Google Shape;44;p4"/>
          <p:cNvSpPr/>
          <p:nvPr/>
        </p:nvSpPr>
        <p:spPr>
          <a:xfrm>
            <a:off x="3690919" y="3687207"/>
            <a:ext cx="1905009"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Copy-pasting CSRs and keys</a:t>
            </a:r>
            <a:endParaRPr b="0" i="0" sz="942" u="none" cap="none" strike="noStrike">
              <a:solidFill>
                <a:schemeClr val="dk1"/>
              </a:solidFill>
              <a:latin typeface="Calibri"/>
              <a:ea typeface="Calibri"/>
              <a:cs typeface="Calibri"/>
              <a:sym typeface="Calibri"/>
            </a:endParaRPr>
          </a:p>
        </p:txBody>
      </p:sp>
      <p:sp>
        <p:nvSpPr>
          <p:cNvPr id="45" name="Google Shape;45;p4"/>
          <p:cNvSpPr/>
          <p:nvPr/>
        </p:nvSpPr>
        <p:spPr>
          <a:xfrm>
            <a:off x="3690919" y="3964363"/>
            <a:ext cx="1905009"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Human error in config updates</a:t>
            </a:r>
            <a:endParaRPr b="0" i="0" sz="942" u="none" cap="none" strike="noStrike">
              <a:solidFill>
                <a:schemeClr val="dk1"/>
              </a:solidFill>
              <a:latin typeface="Calibri"/>
              <a:ea typeface="Calibri"/>
              <a:cs typeface="Calibri"/>
              <a:sym typeface="Calibri"/>
            </a:endParaRPr>
          </a:p>
        </p:txBody>
      </p:sp>
      <p:sp>
        <p:nvSpPr>
          <p:cNvPr id="46" name="Google Shape;46;p4"/>
          <p:cNvSpPr/>
          <p:nvPr/>
        </p:nvSpPr>
        <p:spPr>
          <a:xfrm>
            <a:off x="6095991" y="1418732"/>
            <a:ext cx="2476481" cy="3314254"/>
          </a:xfrm>
          <a:prstGeom prst="rect">
            <a:avLst/>
          </a:prstGeom>
          <a:solidFill>
            <a:srgbClr val="0D1B2A">
              <a:alpha val="80000"/>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310303" y="1704482"/>
            <a:ext cx="2047856" cy="169664"/>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SECURITY RISK</a:t>
            </a:r>
            <a:endParaRPr b="0" i="0" sz="942" u="none" cap="none" strike="noStrike">
              <a:solidFill>
                <a:schemeClr val="dk1"/>
              </a:solidFill>
              <a:latin typeface="Calibri"/>
              <a:ea typeface="Calibri"/>
              <a:cs typeface="Calibri"/>
              <a:sym typeface="Calibri"/>
            </a:endParaRPr>
          </a:p>
        </p:txBody>
      </p:sp>
      <p:sp>
        <p:nvSpPr>
          <p:cNvPr id="48" name="Google Shape;48;p4"/>
          <p:cNvSpPr/>
          <p:nvPr/>
        </p:nvSpPr>
        <p:spPr>
          <a:xfrm>
            <a:off x="6310303" y="2017021"/>
            <a:ext cx="2047856" cy="457200"/>
          </a:xfrm>
          <a:prstGeom prst="rect">
            <a:avLst/>
          </a:prstGeom>
          <a:noFill/>
          <a:ln>
            <a:noFill/>
          </a:ln>
        </p:spPr>
        <p:txBody>
          <a:bodyPr anchorCtr="0" anchor="t" bIns="0" lIns="0" spcFirstLastPara="1" rIns="0" wrap="square" tIns="0">
            <a:noAutofit/>
          </a:bodyPr>
          <a:lstStyle/>
          <a:p>
            <a:pPr indent="0" lvl="0" marL="0" marR="0" rtl="0" algn="l">
              <a:lnSpc>
                <a:spcPct val="109322"/>
              </a:lnSpc>
              <a:spcBef>
                <a:spcPts val="0"/>
              </a:spcBef>
              <a:spcAft>
                <a:spcPts val="0"/>
              </a:spcAft>
              <a:buClr>
                <a:srgbClr val="FFFFFF"/>
              </a:buClr>
              <a:buSzPts val="3293"/>
              <a:buFont typeface="Inter"/>
              <a:buNone/>
            </a:pPr>
            <a:r>
              <a:rPr b="1" i="0" lang="en-US" sz="3294" u="none" cap="none" strike="noStrike">
                <a:solidFill>
                  <a:srgbClr val="FFFFFF"/>
                </a:solidFill>
                <a:latin typeface="Inter"/>
                <a:ea typeface="Inter"/>
                <a:cs typeface="Inter"/>
                <a:sym typeface="Inter"/>
              </a:rPr>
              <a:t>90d</a:t>
            </a:r>
            <a:endParaRPr b="0" i="0" sz="3294" u="none" cap="none" strike="noStrike">
              <a:solidFill>
                <a:schemeClr val="dk1"/>
              </a:solidFill>
              <a:latin typeface="Calibri"/>
              <a:ea typeface="Calibri"/>
              <a:cs typeface="Calibri"/>
              <a:sym typeface="Calibri"/>
            </a:endParaRPr>
          </a:p>
        </p:txBody>
      </p:sp>
      <p:sp>
        <p:nvSpPr>
          <p:cNvPr id="49" name="Google Shape;49;p4"/>
          <p:cNvSpPr/>
          <p:nvPr/>
        </p:nvSpPr>
        <p:spPr>
          <a:xfrm>
            <a:off x="6310303" y="2643885"/>
            <a:ext cx="1848445"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standard certificate lifetime</a:t>
            </a:r>
            <a:endParaRPr b="0" i="0" sz="1050" u="none" cap="none" strike="noStrike">
              <a:solidFill>
                <a:schemeClr val="dk1"/>
              </a:solidFill>
              <a:latin typeface="Calibri"/>
              <a:ea typeface="Calibri"/>
              <a:cs typeface="Calibri"/>
              <a:sym typeface="Calibri"/>
            </a:endParaRPr>
          </a:p>
        </p:txBody>
      </p:sp>
      <p:sp>
        <p:nvSpPr>
          <p:cNvPr id="50" name="Google Shape;50;p4"/>
          <p:cNvSpPr/>
          <p:nvPr/>
        </p:nvSpPr>
        <p:spPr>
          <a:xfrm>
            <a:off x="6310303" y="2872485"/>
            <a:ext cx="1621631" cy="173236"/>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creates a massive blast</a:t>
            </a:r>
            <a:endParaRPr b="0" i="0" sz="1050" u="none" cap="none" strike="noStrike">
              <a:solidFill>
                <a:schemeClr val="dk1"/>
              </a:solidFill>
              <a:latin typeface="Calibri"/>
              <a:ea typeface="Calibri"/>
              <a:cs typeface="Calibri"/>
              <a:sym typeface="Calibri"/>
            </a:endParaRPr>
          </a:p>
        </p:txBody>
      </p:sp>
      <p:sp>
        <p:nvSpPr>
          <p:cNvPr id="51" name="Google Shape;51;p4"/>
          <p:cNvSpPr/>
          <p:nvPr/>
        </p:nvSpPr>
        <p:spPr>
          <a:xfrm>
            <a:off x="6453178" y="3410052"/>
            <a:ext cx="1904981"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Long-lived credentials</a:t>
            </a:r>
            <a:endParaRPr b="0" i="0" sz="942" u="none" cap="none" strike="noStrike">
              <a:solidFill>
                <a:schemeClr val="dk1"/>
              </a:solidFill>
              <a:latin typeface="Calibri"/>
              <a:ea typeface="Calibri"/>
              <a:cs typeface="Calibri"/>
              <a:sym typeface="Calibri"/>
            </a:endParaRPr>
          </a:p>
        </p:txBody>
      </p:sp>
      <p:sp>
        <p:nvSpPr>
          <p:cNvPr id="52" name="Google Shape;52;p4"/>
          <p:cNvSpPr/>
          <p:nvPr/>
        </p:nvSpPr>
        <p:spPr>
          <a:xfrm>
            <a:off x="6453178" y="3687207"/>
            <a:ext cx="1904981"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No automated revocation</a:t>
            </a:r>
            <a:endParaRPr b="0" i="0" sz="942" u="none" cap="none" strike="noStrike">
              <a:solidFill>
                <a:schemeClr val="dk1"/>
              </a:solidFill>
              <a:latin typeface="Calibri"/>
              <a:ea typeface="Calibri"/>
              <a:cs typeface="Calibri"/>
              <a:sym typeface="Calibri"/>
            </a:endParaRPr>
          </a:p>
        </p:txBody>
      </p:sp>
      <p:sp>
        <p:nvSpPr>
          <p:cNvPr id="53" name="Google Shape;53;p4"/>
          <p:cNvSpPr/>
          <p:nvPr/>
        </p:nvSpPr>
        <p:spPr>
          <a:xfrm>
            <a:off x="6453178" y="3964363"/>
            <a:ext cx="1904981" cy="205718"/>
          </a:xfrm>
          <a:prstGeom prst="rect">
            <a:avLst/>
          </a:prstGeom>
          <a:noFill/>
          <a:ln>
            <a:noFill/>
          </a:ln>
        </p:spPr>
        <p:txBody>
          <a:bodyPr anchorCtr="0" anchor="t" bIns="0" lIns="0" spcFirstLastPara="1" rIns="0" wrap="square" tIns="0">
            <a:noAutofit/>
          </a:bodyPr>
          <a:lstStyle/>
          <a:p>
            <a:pPr indent="-127000" lvl="0" marL="127000" marR="0" rtl="0" algn="l">
              <a:lnSpc>
                <a:spcPct val="169851"/>
              </a:lnSpc>
              <a:spcBef>
                <a:spcPts val="0"/>
              </a:spcBef>
              <a:spcAft>
                <a:spcPts val="0"/>
              </a:spcAft>
              <a:buClr>
                <a:srgbClr val="E0E0E0"/>
              </a:buClr>
              <a:buSzPts val="942"/>
              <a:buFont typeface="Inter"/>
              <a:buChar char="•"/>
            </a:pPr>
            <a:r>
              <a:rPr b="0" i="0" lang="en-US" sz="942" u="none" cap="none" strike="noStrike">
                <a:solidFill>
                  <a:srgbClr val="E0E0E0"/>
                </a:solidFill>
                <a:latin typeface="Inter"/>
                <a:ea typeface="Inter"/>
                <a:cs typeface="Inter"/>
                <a:sym typeface="Inter"/>
              </a:rPr>
              <a:t>Compliance audit failures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preencoded.png" id="59" name="Google Shape;59;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0" name="Google Shape;60;p5"/>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THE ROOT CAUSE</a:t>
            </a:r>
            <a:endParaRPr b="0" i="0" sz="834" u="none" cap="none" strike="noStrike">
              <a:solidFill>
                <a:schemeClr val="dk1"/>
              </a:solidFill>
              <a:latin typeface="Calibri"/>
              <a:ea typeface="Calibri"/>
              <a:cs typeface="Calibri"/>
              <a:sym typeface="Calibri"/>
            </a:endParaRPr>
          </a:p>
        </p:txBody>
      </p:sp>
      <p:sp>
        <p:nvSpPr>
          <p:cNvPr id="61" name="Google Shape;61;p5"/>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Fragmented PKI Cannot Scale</a:t>
            </a:r>
            <a:endParaRPr b="0" i="0" sz="2436" u="none" cap="none" strike="noStrike">
              <a:solidFill>
                <a:schemeClr val="dk1"/>
              </a:solidFill>
              <a:latin typeface="Calibri"/>
              <a:ea typeface="Calibri"/>
              <a:cs typeface="Calibri"/>
              <a:sym typeface="Calibri"/>
            </a:endParaRPr>
          </a:p>
        </p:txBody>
      </p:sp>
      <p:sp>
        <p:nvSpPr>
          <p:cNvPr id="62" name="Google Shape;62;p5"/>
          <p:cNvSpPr/>
          <p:nvPr/>
        </p:nvSpPr>
        <p:spPr>
          <a:xfrm>
            <a:off x="571500" y="1418732"/>
            <a:ext cx="3028950" cy="3557588"/>
          </a:xfrm>
          <a:prstGeom prst="rect">
            <a:avLst/>
          </a:prstGeom>
          <a:solidFill>
            <a:srgbClr val="E53E3E">
              <a:alpha val="5098"/>
            </a:srgbClr>
          </a:solidFill>
          <a:ln cap="flat" cmpd="sng" w="18275">
            <a:solidFill>
              <a:srgbClr val="E53E3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714375" y="1561607"/>
            <a:ext cx="2743200" cy="189309"/>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E53E3E"/>
              </a:buClr>
              <a:buSzPts val="987"/>
              <a:buFont typeface="Roboto Mono"/>
              <a:buNone/>
            </a:pPr>
            <a:r>
              <a:rPr b="1" i="0" lang="en-US" sz="987" u="none" cap="none" strike="noStrike">
                <a:solidFill>
                  <a:srgbClr val="E53E3E"/>
                </a:solidFill>
                <a:latin typeface="Roboto Mono"/>
                <a:ea typeface="Roboto Mono"/>
                <a:cs typeface="Roboto Mono"/>
                <a:sym typeface="Roboto Mono"/>
              </a:rPr>
              <a:t>CURRENT STATE CHAOS</a:t>
            </a:r>
            <a:endParaRPr b="0" i="0" sz="987" u="none" cap="none" strike="noStrike">
              <a:solidFill>
                <a:schemeClr val="dk1"/>
              </a:solidFill>
              <a:latin typeface="Calibri"/>
              <a:ea typeface="Calibri"/>
              <a:cs typeface="Calibri"/>
              <a:sym typeface="Calibri"/>
            </a:endParaRPr>
          </a:p>
        </p:txBody>
      </p:sp>
      <p:sp>
        <p:nvSpPr>
          <p:cNvPr id="64" name="Google Shape;64;p5"/>
          <p:cNvSpPr/>
          <p:nvPr/>
        </p:nvSpPr>
        <p:spPr>
          <a:xfrm>
            <a:off x="714375" y="1893791"/>
            <a:ext cx="2743200" cy="307181"/>
          </a:xfrm>
          <a:prstGeom prst="rect">
            <a:avLst/>
          </a:prstGeom>
          <a:solidFill>
            <a:srgbClr val="1A202C"/>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14375" y="1893791"/>
            <a:ext cx="2743200" cy="307181"/>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AWS ACM (Team A)</a:t>
            </a:r>
            <a:endParaRPr b="0" i="0" sz="834" u="none" cap="none" strike="noStrike">
              <a:solidFill>
                <a:schemeClr val="dk1"/>
              </a:solidFill>
              <a:latin typeface="Calibri"/>
              <a:ea typeface="Calibri"/>
              <a:cs typeface="Calibri"/>
              <a:sym typeface="Calibri"/>
            </a:endParaRPr>
          </a:p>
        </p:txBody>
      </p:sp>
      <p:sp>
        <p:nvSpPr>
          <p:cNvPr id="66" name="Google Shape;66;p5"/>
          <p:cNvSpPr/>
          <p:nvPr/>
        </p:nvSpPr>
        <p:spPr>
          <a:xfrm>
            <a:off x="714375" y="2272410"/>
            <a:ext cx="2743200" cy="307181"/>
          </a:xfrm>
          <a:prstGeom prst="rect">
            <a:avLst/>
          </a:prstGeom>
          <a:solidFill>
            <a:srgbClr val="1A202C"/>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714375" y="2272410"/>
            <a:ext cx="2743200" cy="307181"/>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Azure Key Vault (Team B)</a:t>
            </a:r>
            <a:endParaRPr b="0" i="0" sz="834" u="none" cap="none" strike="noStrike">
              <a:solidFill>
                <a:schemeClr val="dk1"/>
              </a:solidFill>
              <a:latin typeface="Calibri"/>
              <a:ea typeface="Calibri"/>
              <a:cs typeface="Calibri"/>
              <a:sym typeface="Calibri"/>
            </a:endParaRPr>
          </a:p>
        </p:txBody>
      </p:sp>
      <p:sp>
        <p:nvSpPr>
          <p:cNvPr id="68" name="Google Shape;68;p5"/>
          <p:cNvSpPr/>
          <p:nvPr/>
        </p:nvSpPr>
        <p:spPr>
          <a:xfrm>
            <a:off x="714375" y="2651029"/>
            <a:ext cx="2743200" cy="307181"/>
          </a:xfrm>
          <a:prstGeom prst="rect">
            <a:avLst/>
          </a:prstGeom>
          <a:solidFill>
            <a:srgbClr val="1A202C"/>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14375" y="2651029"/>
            <a:ext cx="2743200" cy="307181"/>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Manual OpenSSL (Team C)</a:t>
            </a:r>
            <a:endParaRPr b="0" i="0" sz="834" u="none" cap="none" strike="noStrike">
              <a:solidFill>
                <a:schemeClr val="dk1"/>
              </a:solidFill>
              <a:latin typeface="Calibri"/>
              <a:ea typeface="Calibri"/>
              <a:cs typeface="Calibri"/>
              <a:sym typeface="Calibri"/>
            </a:endParaRPr>
          </a:p>
        </p:txBody>
      </p:sp>
      <p:sp>
        <p:nvSpPr>
          <p:cNvPr id="70" name="Google Shape;70;p5"/>
          <p:cNvSpPr/>
          <p:nvPr/>
        </p:nvSpPr>
        <p:spPr>
          <a:xfrm>
            <a:off x="714375" y="3029648"/>
            <a:ext cx="2743200" cy="307181"/>
          </a:xfrm>
          <a:prstGeom prst="rect">
            <a:avLst/>
          </a:prstGeom>
          <a:solidFill>
            <a:srgbClr val="1A202C"/>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714375" y="3029648"/>
            <a:ext cx="2743200" cy="307181"/>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K8s Cert-Manager (Team D)</a:t>
            </a:r>
            <a:endParaRPr b="0" i="0" sz="834" u="none" cap="none" strike="noStrike">
              <a:solidFill>
                <a:schemeClr val="dk1"/>
              </a:solidFill>
              <a:latin typeface="Calibri"/>
              <a:ea typeface="Calibri"/>
              <a:cs typeface="Calibri"/>
              <a:sym typeface="Calibri"/>
            </a:endParaRPr>
          </a:p>
        </p:txBody>
      </p:sp>
      <p:sp>
        <p:nvSpPr>
          <p:cNvPr id="72" name="Google Shape;72;p5"/>
          <p:cNvSpPr/>
          <p:nvPr/>
        </p:nvSpPr>
        <p:spPr>
          <a:xfrm>
            <a:off x="714375" y="3408266"/>
            <a:ext cx="2743200" cy="307181"/>
          </a:xfrm>
          <a:prstGeom prst="rect">
            <a:avLst/>
          </a:prstGeom>
          <a:solidFill>
            <a:srgbClr val="1A202C"/>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714375" y="3408266"/>
            <a:ext cx="2743200" cy="307181"/>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Spreadsheet Tracking</a:t>
            </a:r>
            <a:endParaRPr b="0" i="0" sz="834" u="none" cap="none" strike="noStrike">
              <a:solidFill>
                <a:schemeClr val="dk1"/>
              </a:solidFill>
              <a:latin typeface="Calibri"/>
              <a:ea typeface="Calibri"/>
              <a:cs typeface="Calibri"/>
              <a:sym typeface="Calibri"/>
            </a:endParaRPr>
          </a:p>
        </p:txBody>
      </p:sp>
      <p:sp>
        <p:nvSpPr>
          <p:cNvPr id="74" name="Google Shape;74;p5"/>
          <p:cNvSpPr/>
          <p:nvPr/>
        </p:nvSpPr>
        <p:spPr>
          <a:xfrm>
            <a:off x="4236244" y="1418732"/>
            <a:ext cx="4336256"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No Single Source of Truth</a:t>
            </a:r>
            <a:endParaRPr b="0" i="0" sz="1193" u="none" cap="none" strike="noStrike">
              <a:solidFill>
                <a:schemeClr val="dk1"/>
              </a:solidFill>
              <a:latin typeface="Calibri"/>
              <a:ea typeface="Calibri"/>
              <a:cs typeface="Calibri"/>
              <a:sym typeface="Calibri"/>
            </a:endParaRPr>
          </a:p>
        </p:txBody>
      </p:sp>
      <p:sp>
        <p:nvSpPr>
          <p:cNvPr id="75" name="Google Shape;75;p5"/>
          <p:cNvSpPr/>
          <p:nvPr/>
        </p:nvSpPr>
        <p:spPr>
          <a:xfrm>
            <a:off x="4236244" y="1683051"/>
            <a:ext cx="4336256"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Certificates scattered across teams, clouds, and tools. No central inventory to answer: "How many certificates do we have, and when do they expire?"</a:t>
            </a:r>
            <a:endParaRPr b="0" i="0" sz="1050" u="none" cap="none" strike="noStrike">
              <a:solidFill>
                <a:schemeClr val="dk1"/>
              </a:solidFill>
              <a:latin typeface="Calibri"/>
              <a:ea typeface="Calibri"/>
              <a:cs typeface="Calibri"/>
              <a:sym typeface="Calibri"/>
            </a:endParaRPr>
          </a:p>
        </p:txBody>
      </p:sp>
      <p:sp>
        <p:nvSpPr>
          <p:cNvPr id="76" name="Google Shape;76;p5"/>
          <p:cNvSpPr/>
          <p:nvPr/>
        </p:nvSpPr>
        <p:spPr>
          <a:xfrm>
            <a:off x="4236244" y="2440288"/>
            <a:ext cx="4336256"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Identity Gap</a:t>
            </a:r>
            <a:endParaRPr b="0" i="0" sz="1193" u="none" cap="none" strike="noStrike">
              <a:solidFill>
                <a:schemeClr val="dk1"/>
              </a:solidFill>
              <a:latin typeface="Calibri"/>
              <a:ea typeface="Calibri"/>
              <a:cs typeface="Calibri"/>
              <a:sym typeface="Calibri"/>
            </a:endParaRPr>
          </a:p>
        </p:txBody>
      </p:sp>
      <p:sp>
        <p:nvSpPr>
          <p:cNvPr id="77" name="Google Shape;77;p5"/>
          <p:cNvSpPr/>
          <p:nvPr/>
        </p:nvSpPr>
        <p:spPr>
          <a:xfrm>
            <a:off x="4236244" y="2704607"/>
            <a:ext cx="4336256"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Workloads run without cryptographic identity. Services communicate without mutual authentication, relying on outdated perimeter security.</a:t>
            </a:r>
            <a:endParaRPr b="0" i="0" sz="1050" u="none" cap="none" strike="noStrike">
              <a:solidFill>
                <a:schemeClr val="dk1"/>
              </a:solidFill>
              <a:latin typeface="Calibri"/>
              <a:ea typeface="Calibri"/>
              <a:cs typeface="Calibri"/>
              <a:sym typeface="Calibri"/>
            </a:endParaRPr>
          </a:p>
        </p:txBody>
      </p:sp>
      <p:sp>
        <p:nvSpPr>
          <p:cNvPr id="78" name="Google Shape;78;p5"/>
          <p:cNvSpPr/>
          <p:nvPr/>
        </p:nvSpPr>
        <p:spPr>
          <a:xfrm>
            <a:off x="4236244" y="3461845"/>
            <a:ext cx="4336256"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Manual Lifecycle</a:t>
            </a:r>
            <a:endParaRPr b="0" i="0" sz="1193" u="none" cap="none" strike="noStrike">
              <a:solidFill>
                <a:schemeClr val="dk1"/>
              </a:solidFill>
              <a:latin typeface="Calibri"/>
              <a:ea typeface="Calibri"/>
              <a:cs typeface="Calibri"/>
              <a:sym typeface="Calibri"/>
            </a:endParaRPr>
          </a:p>
        </p:txBody>
      </p:sp>
      <p:sp>
        <p:nvSpPr>
          <p:cNvPr id="79" name="Google Shape;79;p5"/>
          <p:cNvSpPr/>
          <p:nvPr/>
        </p:nvSpPr>
        <p:spPr>
          <a:xfrm>
            <a:off x="4236244" y="3726163"/>
            <a:ext cx="4336256" cy="4572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Renewal depends on calendar reminders and tribal knowledge. No automation, no policy enforcement, high risk of human error.</a:t>
            </a:r>
            <a:endParaRPr b="0" i="0" sz="1050" u="none" cap="none" strike="noStrike">
              <a:solidFill>
                <a:schemeClr val="dk1"/>
              </a:solidFill>
              <a:latin typeface="Calibri"/>
              <a:ea typeface="Calibri"/>
              <a:cs typeface="Calibri"/>
              <a:sym typeface="Calibri"/>
            </a:endParaRPr>
          </a:p>
        </p:txBody>
      </p:sp>
      <p:sp>
        <p:nvSpPr>
          <p:cNvPr id="80" name="Google Shape;80;p5"/>
          <p:cNvSpPr/>
          <p:nvPr/>
        </p:nvSpPr>
        <p:spPr>
          <a:xfrm>
            <a:off x="4236244" y="4254801"/>
            <a:ext cx="4336256"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Multi-Cloud Complexity</a:t>
            </a:r>
            <a:endParaRPr b="0" i="0" sz="1193" u="none" cap="none" strike="noStrike">
              <a:solidFill>
                <a:schemeClr val="dk1"/>
              </a:solidFill>
              <a:latin typeface="Calibri"/>
              <a:ea typeface="Calibri"/>
              <a:cs typeface="Calibri"/>
              <a:sym typeface="Calibri"/>
            </a:endParaRPr>
          </a:p>
        </p:txBody>
      </p:sp>
      <p:sp>
        <p:nvSpPr>
          <p:cNvPr id="81" name="Google Shape;81;p5"/>
          <p:cNvSpPr/>
          <p:nvPr/>
        </p:nvSpPr>
        <p:spPr>
          <a:xfrm>
            <a:off x="4236244" y="4519120"/>
            <a:ext cx="4336256" cy="4572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Different Certificate Authorities per cloud provider with no unified management or federated trust model.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preencoded.png" id="87" name="Google Shape;87;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8" name="Google Shape;88;p6"/>
          <p:cNvSpPr/>
          <p:nvPr/>
        </p:nvSpPr>
        <p:spPr>
          <a:xfrm>
            <a:off x="428625" y="428625"/>
            <a:ext cx="828675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THE NEW PARADIGM</a:t>
            </a:r>
            <a:endParaRPr b="0" i="0" sz="834" u="none" cap="none" strike="noStrike">
              <a:solidFill>
                <a:schemeClr val="dk1"/>
              </a:solidFill>
              <a:latin typeface="Calibri"/>
              <a:ea typeface="Calibri"/>
              <a:cs typeface="Calibri"/>
              <a:sym typeface="Calibri"/>
            </a:endParaRPr>
          </a:p>
        </p:txBody>
      </p:sp>
      <p:sp>
        <p:nvSpPr>
          <p:cNvPr id="89" name="Google Shape;89;p6"/>
          <p:cNvSpPr/>
          <p:nvPr/>
        </p:nvSpPr>
        <p:spPr>
          <a:xfrm>
            <a:off x="428625" y="650081"/>
            <a:ext cx="828675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Automated, Policy-Driven Lifecycle</a:t>
            </a:r>
            <a:endParaRPr b="0" i="0" sz="2436" u="none" cap="none" strike="noStrike">
              <a:solidFill>
                <a:schemeClr val="dk1"/>
              </a:solidFill>
              <a:latin typeface="Calibri"/>
              <a:ea typeface="Calibri"/>
              <a:cs typeface="Calibri"/>
              <a:sym typeface="Calibri"/>
            </a:endParaRPr>
          </a:p>
        </p:txBody>
      </p:sp>
      <p:sp>
        <p:nvSpPr>
          <p:cNvPr id="90" name="Google Shape;90;p6"/>
          <p:cNvSpPr/>
          <p:nvPr/>
        </p:nvSpPr>
        <p:spPr>
          <a:xfrm>
            <a:off x="428625" y="1275857"/>
            <a:ext cx="4843463" cy="115014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428625" y="1275857"/>
            <a:ext cx="4843463" cy="7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5264944" y="1275857"/>
            <a:ext cx="7144" cy="1150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428625" y="2418857"/>
            <a:ext cx="4843463" cy="7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428625" y="1275857"/>
            <a:ext cx="42863" cy="1150144"/>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514350" y="1361582"/>
            <a:ext cx="4672013"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Zero-Touch Automation</a:t>
            </a:r>
            <a:endParaRPr b="0" i="0" sz="1193" u="none" cap="none" strike="noStrike">
              <a:solidFill>
                <a:schemeClr val="dk1"/>
              </a:solidFill>
              <a:latin typeface="Calibri"/>
              <a:ea typeface="Calibri"/>
              <a:cs typeface="Calibri"/>
              <a:sym typeface="Calibri"/>
            </a:endParaRPr>
          </a:p>
        </p:txBody>
      </p:sp>
      <p:sp>
        <p:nvSpPr>
          <p:cNvPr id="96" name="Google Shape;96;p6"/>
          <p:cNvSpPr/>
          <p:nvPr/>
        </p:nvSpPr>
        <p:spPr>
          <a:xfrm>
            <a:off x="514350" y="1640188"/>
            <a:ext cx="4672013"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Certificates are automatically requested, issued, rotated, and deployed without human intervention. From pod start to certificate delivery in sub-seconds.</a:t>
            </a:r>
            <a:endParaRPr b="0" i="0" sz="1050" u="none" cap="none" strike="noStrike">
              <a:solidFill>
                <a:schemeClr val="dk1"/>
              </a:solidFill>
              <a:latin typeface="Calibri"/>
              <a:ea typeface="Calibri"/>
              <a:cs typeface="Calibri"/>
              <a:sym typeface="Calibri"/>
            </a:endParaRPr>
          </a:p>
        </p:txBody>
      </p:sp>
      <p:sp>
        <p:nvSpPr>
          <p:cNvPr id="97" name="Google Shape;97;p6"/>
          <p:cNvSpPr/>
          <p:nvPr/>
        </p:nvSpPr>
        <p:spPr>
          <a:xfrm>
            <a:off x="428625" y="2497438"/>
            <a:ext cx="4843463" cy="115014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428625" y="2497438"/>
            <a:ext cx="4843463" cy="7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5264944" y="2497438"/>
            <a:ext cx="7144" cy="1150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428625" y="3640438"/>
            <a:ext cx="4843463" cy="7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428625" y="2497438"/>
            <a:ext cx="42863" cy="1150144"/>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514350" y="2583163"/>
            <a:ext cx="4672013"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Short-Lived Credentials</a:t>
            </a:r>
            <a:endParaRPr b="0" i="0" sz="1193" u="none" cap="none" strike="noStrike">
              <a:solidFill>
                <a:schemeClr val="dk1"/>
              </a:solidFill>
              <a:latin typeface="Calibri"/>
              <a:ea typeface="Calibri"/>
              <a:cs typeface="Calibri"/>
              <a:sym typeface="Calibri"/>
            </a:endParaRPr>
          </a:p>
        </p:txBody>
      </p:sp>
      <p:sp>
        <p:nvSpPr>
          <p:cNvPr id="103" name="Google Shape;103;p6"/>
          <p:cNvSpPr/>
          <p:nvPr/>
        </p:nvSpPr>
        <p:spPr>
          <a:xfrm>
            <a:off x="514350" y="2861770"/>
            <a:ext cx="4672013"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Moving from 90-day static keys to 24-hour ephemeral identities, reducing blast radius by 98%. Renewal at 50% TTL ensures zero-downtime rotation.</a:t>
            </a:r>
            <a:endParaRPr b="0" i="0" sz="1050" u="none" cap="none" strike="noStrike">
              <a:solidFill>
                <a:schemeClr val="dk1"/>
              </a:solidFill>
              <a:latin typeface="Calibri"/>
              <a:ea typeface="Calibri"/>
              <a:cs typeface="Calibri"/>
              <a:sym typeface="Calibri"/>
            </a:endParaRPr>
          </a:p>
        </p:txBody>
      </p:sp>
      <p:sp>
        <p:nvSpPr>
          <p:cNvPr id="104" name="Google Shape;104;p6"/>
          <p:cNvSpPr/>
          <p:nvPr/>
        </p:nvSpPr>
        <p:spPr>
          <a:xfrm>
            <a:off x="428625" y="3719020"/>
            <a:ext cx="4843463" cy="115014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428625" y="3719020"/>
            <a:ext cx="4843463" cy="7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5264944" y="3719020"/>
            <a:ext cx="7144" cy="1150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428625" y="4862020"/>
            <a:ext cx="4843463" cy="7144"/>
          </a:xfrm>
          <a:prstGeom prst="rect">
            <a:avLst/>
          </a:prstGeom>
          <a:solidFill>
            <a:srgbClr val="B3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428625" y="3719020"/>
            <a:ext cx="42863" cy="1150144"/>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514350" y="3804745"/>
            <a:ext cx="4672013"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Policy as Code</a:t>
            </a:r>
            <a:endParaRPr b="0" i="0" sz="1193" u="none" cap="none" strike="noStrike">
              <a:solidFill>
                <a:schemeClr val="dk1"/>
              </a:solidFill>
              <a:latin typeface="Calibri"/>
              <a:ea typeface="Calibri"/>
              <a:cs typeface="Calibri"/>
              <a:sym typeface="Calibri"/>
            </a:endParaRPr>
          </a:p>
        </p:txBody>
      </p:sp>
      <p:sp>
        <p:nvSpPr>
          <p:cNvPr id="110" name="Google Shape;110;p6"/>
          <p:cNvSpPr/>
          <p:nvPr/>
        </p:nvSpPr>
        <p:spPr>
          <a:xfrm>
            <a:off x="514350" y="4083351"/>
            <a:ext cx="4672013"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Tag-based rules define key usage, algorithm strength (RSA vs. ECC), and renewal triggers. Compliance is enforced automatically, not audited after the fact.</a:t>
            </a:r>
            <a:endParaRPr b="0" i="0" sz="1050" u="none" cap="none" strike="noStrike">
              <a:solidFill>
                <a:schemeClr val="dk1"/>
              </a:solidFill>
              <a:latin typeface="Calibri"/>
              <a:ea typeface="Calibri"/>
              <a:cs typeface="Calibri"/>
              <a:sym typeface="Calibri"/>
            </a:endParaRPr>
          </a:p>
        </p:txBody>
      </p:sp>
      <p:sp>
        <p:nvSpPr>
          <p:cNvPr id="111" name="Google Shape;111;p6"/>
          <p:cNvSpPr/>
          <p:nvPr/>
        </p:nvSpPr>
        <p:spPr>
          <a:xfrm>
            <a:off x="6600825" y="2565304"/>
            <a:ext cx="1000125" cy="1000125"/>
          </a:xfrm>
          <a:prstGeom prst="rect">
            <a:avLst/>
          </a:prstGeom>
          <a:solidFill>
            <a:srgbClr val="00E5FF">
              <a:alpha val="10196"/>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6872763" y="2790337"/>
            <a:ext cx="428700" cy="189300"/>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OpAMP</a:t>
            </a:r>
            <a:endParaRPr b="0" i="0" sz="987" u="none" cap="none" strike="noStrike">
              <a:solidFill>
                <a:schemeClr val="dk1"/>
              </a:solidFill>
              <a:latin typeface="Calibri"/>
              <a:ea typeface="Calibri"/>
              <a:cs typeface="Calibri"/>
              <a:sym typeface="Calibri"/>
            </a:endParaRPr>
          </a:p>
        </p:txBody>
      </p:sp>
      <p:sp>
        <p:nvSpPr>
          <p:cNvPr id="113" name="Google Shape;113;p6"/>
          <p:cNvSpPr/>
          <p:nvPr/>
        </p:nvSpPr>
        <p:spPr>
          <a:xfrm>
            <a:off x="6706650" y="3045725"/>
            <a:ext cx="857400" cy="189300"/>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Supervisor</a:t>
            </a:r>
            <a:endParaRPr b="0" i="0" sz="987" u="none" cap="none" strike="noStrike">
              <a:solidFill>
                <a:schemeClr val="dk1"/>
              </a:solidFill>
              <a:latin typeface="Calibri"/>
              <a:ea typeface="Calibri"/>
              <a:cs typeface="Calibri"/>
              <a:sym typeface="Calibri"/>
            </a:endParaRPr>
          </a:p>
        </p:txBody>
      </p:sp>
      <p:sp>
        <p:nvSpPr>
          <p:cNvPr id="114" name="Google Shape;114;p6"/>
          <p:cNvSpPr/>
          <p:nvPr/>
        </p:nvSpPr>
        <p:spPr>
          <a:xfrm>
            <a:off x="6600825" y="1562165"/>
            <a:ext cx="1000125" cy="471488"/>
          </a:xfrm>
          <a:prstGeom prst="rect">
            <a:avLst/>
          </a:prstGeom>
          <a:solidFill>
            <a:srgbClr val="1A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6600825" y="1562165"/>
            <a:ext cx="1000125" cy="2143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7593806" y="1562165"/>
            <a:ext cx="7144" cy="47148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6600825" y="2026509"/>
            <a:ext cx="10001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6600825" y="1562165"/>
            <a:ext cx="7144" cy="47148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6600825" y="1562165"/>
            <a:ext cx="1000125" cy="471488"/>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Auto-Rotation</a:t>
            </a:r>
            <a:endParaRPr b="0" i="0" sz="834" u="none" cap="none" strike="noStrike">
              <a:solidFill>
                <a:schemeClr val="dk1"/>
              </a:solidFill>
              <a:latin typeface="Calibri"/>
              <a:ea typeface="Calibri"/>
              <a:cs typeface="Calibri"/>
              <a:sym typeface="Calibri"/>
            </a:endParaRPr>
          </a:p>
        </p:txBody>
      </p:sp>
      <p:sp>
        <p:nvSpPr>
          <p:cNvPr id="120" name="Google Shape;120;p6"/>
          <p:cNvSpPr/>
          <p:nvPr/>
        </p:nvSpPr>
        <p:spPr>
          <a:xfrm>
            <a:off x="6600825" y="4247099"/>
            <a:ext cx="1000125" cy="321469"/>
          </a:xfrm>
          <a:prstGeom prst="rect">
            <a:avLst/>
          </a:prstGeom>
          <a:solidFill>
            <a:srgbClr val="1A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6600825" y="4247099"/>
            <a:ext cx="10001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7593806" y="4247099"/>
            <a:ext cx="7144" cy="32146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6600825" y="4547136"/>
            <a:ext cx="1000125" cy="2143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6600825" y="4247099"/>
            <a:ext cx="7144" cy="32146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6600825" y="4247099"/>
            <a:ext cx="1000125" cy="321469"/>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Compliance</a:t>
            </a:r>
            <a:endParaRPr b="0" i="0" sz="834" u="none" cap="none" strike="noStrike">
              <a:solidFill>
                <a:schemeClr val="dk1"/>
              </a:solidFill>
              <a:latin typeface="Calibri"/>
              <a:ea typeface="Calibri"/>
              <a:cs typeface="Calibri"/>
              <a:sym typeface="Calibri"/>
            </a:endParaRPr>
          </a:p>
        </p:txBody>
      </p:sp>
      <p:sp>
        <p:nvSpPr>
          <p:cNvPr id="126" name="Google Shape;126;p6"/>
          <p:cNvSpPr/>
          <p:nvPr/>
        </p:nvSpPr>
        <p:spPr>
          <a:xfrm>
            <a:off x="5615546" y="2911776"/>
            <a:ext cx="1000125" cy="307181"/>
          </a:xfrm>
          <a:prstGeom prst="rect">
            <a:avLst/>
          </a:prstGeom>
          <a:solidFill>
            <a:srgbClr val="1A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615546" y="2911776"/>
            <a:ext cx="10001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6608527" y="2911776"/>
            <a:ext cx="7144" cy="307181"/>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5615546" y="3211813"/>
            <a:ext cx="10001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5615546" y="2911776"/>
            <a:ext cx="21431" cy="30718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5572342" y="2911755"/>
            <a:ext cx="1000200" cy="307200"/>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Discovery</a:t>
            </a:r>
            <a:endParaRPr b="0" i="0" sz="834" u="none" cap="none" strike="noStrike">
              <a:solidFill>
                <a:schemeClr val="dk1"/>
              </a:solidFill>
              <a:latin typeface="Calibri"/>
              <a:ea typeface="Calibri"/>
              <a:cs typeface="Calibri"/>
              <a:sym typeface="Calibri"/>
            </a:endParaRPr>
          </a:p>
        </p:txBody>
      </p:sp>
      <p:sp>
        <p:nvSpPr>
          <p:cNvPr id="132" name="Google Shape;132;p6"/>
          <p:cNvSpPr/>
          <p:nvPr/>
        </p:nvSpPr>
        <p:spPr>
          <a:xfrm>
            <a:off x="7586104" y="2911776"/>
            <a:ext cx="1000125" cy="307181"/>
          </a:xfrm>
          <a:prstGeom prst="rect">
            <a:avLst/>
          </a:prstGeom>
          <a:solidFill>
            <a:srgbClr val="1A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7586104" y="2911776"/>
            <a:ext cx="10001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8564798" y="2911776"/>
            <a:ext cx="21431" cy="30718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7586104" y="3211813"/>
            <a:ext cx="10001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7586104" y="2911776"/>
            <a:ext cx="7144" cy="307181"/>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7629225" y="2911763"/>
            <a:ext cx="1000200" cy="307200"/>
          </a:xfrm>
          <a:prstGeom prst="rect">
            <a:avLst/>
          </a:prstGeom>
          <a:noFill/>
          <a:ln>
            <a:noFill/>
          </a:ln>
        </p:spPr>
        <p:txBody>
          <a:bodyPr anchorCtr="0" anchor="t" bIns="85075" lIns="85075" spcFirstLastPara="1" rIns="85075" wrap="square" tIns="85075">
            <a:noAutofit/>
          </a:bodyPr>
          <a:lstStyle/>
          <a:p>
            <a:pPr indent="0" lvl="0" marL="0" marR="0" rtl="0" algn="ct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Telemetry</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preencoded.png" id="143" name="Google Shape;143;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4" name="Google Shape;144;p7"/>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THE BIG PICTURE</a:t>
            </a:r>
            <a:endParaRPr b="0" i="0" sz="834" u="none" cap="none" strike="noStrike">
              <a:solidFill>
                <a:schemeClr val="dk1"/>
              </a:solidFill>
              <a:latin typeface="Calibri"/>
              <a:ea typeface="Calibri"/>
              <a:cs typeface="Calibri"/>
              <a:sym typeface="Calibri"/>
            </a:endParaRPr>
          </a:p>
        </p:txBody>
      </p:sp>
      <p:sp>
        <p:nvSpPr>
          <p:cNvPr id="145" name="Google Shape;145;p7"/>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From Pod Start to Auto-Renewal in 60 Seconds</a:t>
            </a:r>
            <a:endParaRPr b="0" i="0" sz="2436" u="none" cap="none" strike="noStrike">
              <a:solidFill>
                <a:schemeClr val="dk1"/>
              </a:solidFill>
              <a:latin typeface="Calibri"/>
              <a:ea typeface="Calibri"/>
              <a:cs typeface="Calibri"/>
              <a:sym typeface="Calibri"/>
            </a:endParaRPr>
          </a:p>
        </p:txBody>
      </p:sp>
      <p:sp>
        <p:nvSpPr>
          <p:cNvPr id="146" name="Google Shape;146;p7"/>
          <p:cNvSpPr/>
          <p:nvPr/>
        </p:nvSpPr>
        <p:spPr>
          <a:xfrm>
            <a:off x="571500" y="1347295"/>
            <a:ext cx="2590781" cy="919758"/>
          </a:xfrm>
          <a:prstGeom prst="rect">
            <a:avLst/>
          </a:prstGeom>
          <a:solidFill>
            <a:srgbClr val="00E5FF">
              <a:alpha val="5098"/>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657225" y="1433020"/>
            <a:ext cx="621506" cy="276820"/>
          </a:xfrm>
          <a:prstGeom prst="rect">
            <a:avLst/>
          </a:prstGeom>
          <a:noFill/>
          <a:ln>
            <a:noFill/>
          </a:ln>
        </p:spPr>
        <p:txBody>
          <a:bodyPr anchorCtr="0" anchor="t" bIns="42525"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STEP 1</a:t>
            </a:r>
            <a:endParaRPr b="0" i="0" sz="1193" u="none" cap="none" strike="noStrike">
              <a:solidFill>
                <a:schemeClr val="dk1"/>
              </a:solidFill>
              <a:latin typeface="Calibri"/>
              <a:ea typeface="Calibri"/>
              <a:cs typeface="Calibri"/>
              <a:sym typeface="Calibri"/>
            </a:endParaRPr>
          </a:p>
        </p:txBody>
      </p:sp>
      <p:sp>
        <p:nvSpPr>
          <p:cNvPr id="148" name="Google Shape;148;p7"/>
          <p:cNvSpPr/>
          <p:nvPr/>
        </p:nvSpPr>
        <p:spPr>
          <a:xfrm>
            <a:off x="657225" y="1766990"/>
            <a:ext cx="241933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Kubernetes pod starts</a:t>
            </a:r>
            <a:r>
              <a:rPr b="0" i="0" lang="en-US" sz="942" u="none" cap="none" strike="noStrike">
                <a:solidFill>
                  <a:srgbClr val="E0E0E0"/>
                </a:solidFill>
                <a:latin typeface="Inter"/>
                <a:ea typeface="Inter"/>
                <a:cs typeface="Inter"/>
                <a:sym typeface="Inter"/>
              </a:rPr>
              <a:t> with OpAMP sidecar agent attached.</a:t>
            </a:r>
            <a:endParaRPr b="0" i="0" sz="885" u="none" cap="none" strike="noStrike">
              <a:solidFill>
                <a:schemeClr val="dk1"/>
              </a:solidFill>
              <a:latin typeface="Calibri"/>
              <a:ea typeface="Calibri"/>
              <a:cs typeface="Calibri"/>
              <a:sym typeface="Calibri"/>
            </a:endParaRPr>
          </a:p>
        </p:txBody>
      </p:sp>
      <p:sp>
        <p:nvSpPr>
          <p:cNvPr id="149" name="Google Shape;149;p7"/>
          <p:cNvSpPr/>
          <p:nvPr/>
        </p:nvSpPr>
        <p:spPr>
          <a:xfrm>
            <a:off x="3276581" y="1347295"/>
            <a:ext cx="2590809" cy="919758"/>
          </a:xfrm>
          <a:prstGeom prst="rect">
            <a:avLst/>
          </a:prstGeom>
          <a:solidFill>
            <a:srgbClr val="00E5FF">
              <a:alpha val="5098"/>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3362306" y="1433020"/>
            <a:ext cx="621506" cy="276820"/>
          </a:xfrm>
          <a:prstGeom prst="rect">
            <a:avLst/>
          </a:prstGeom>
          <a:noFill/>
          <a:ln>
            <a:noFill/>
          </a:ln>
        </p:spPr>
        <p:txBody>
          <a:bodyPr anchorCtr="0" anchor="t" bIns="42525"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STEP 2</a:t>
            </a:r>
            <a:endParaRPr b="0" i="0" sz="1193" u="none" cap="none" strike="noStrike">
              <a:solidFill>
                <a:schemeClr val="dk1"/>
              </a:solidFill>
              <a:latin typeface="Calibri"/>
              <a:ea typeface="Calibri"/>
              <a:cs typeface="Calibri"/>
              <a:sym typeface="Calibri"/>
            </a:endParaRPr>
          </a:p>
        </p:txBody>
      </p:sp>
      <p:sp>
        <p:nvSpPr>
          <p:cNvPr id="151" name="Google Shape;151;p7"/>
          <p:cNvSpPr/>
          <p:nvPr/>
        </p:nvSpPr>
        <p:spPr>
          <a:xfrm>
            <a:off x="3362306" y="1766990"/>
            <a:ext cx="241935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Agent </a:t>
            </a:r>
            <a:r>
              <a:rPr b="1" i="0" lang="en-US" sz="885" u="none" cap="none" strike="noStrike">
                <a:solidFill>
                  <a:srgbClr val="FFFFFF"/>
                </a:solidFill>
                <a:latin typeface="Inter"/>
                <a:ea typeface="Inter"/>
                <a:cs typeface="Inter"/>
                <a:sym typeface="Inter"/>
              </a:rPr>
              <a:t>attests identity</a:t>
            </a:r>
            <a:r>
              <a:rPr b="0" i="0" lang="en-US" sz="942" u="none" cap="none" strike="noStrike">
                <a:solidFill>
                  <a:srgbClr val="E0E0E0"/>
                </a:solidFill>
                <a:latin typeface="Inter"/>
                <a:ea typeface="Inter"/>
                <a:cs typeface="Inter"/>
                <a:sym typeface="Inter"/>
              </a:rPr>
              <a:t> via service account token to Supervisor Proxy.</a:t>
            </a:r>
            <a:endParaRPr b="0" i="0" sz="942" u="none" cap="none" strike="noStrike">
              <a:solidFill>
                <a:schemeClr val="dk1"/>
              </a:solidFill>
              <a:latin typeface="Calibri"/>
              <a:ea typeface="Calibri"/>
              <a:cs typeface="Calibri"/>
              <a:sym typeface="Calibri"/>
            </a:endParaRPr>
          </a:p>
        </p:txBody>
      </p:sp>
      <p:sp>
        <p:nvSpPr>
          <p:cNvPr id="152" name="Google Shape;152;p7"/>
          <p:cNvSpPr/>
          <p:nvPr/>
        </p:nvSpPr>
        <p:spPr>
          <a:xfrm>
            <a:off x="5981691" y="1347295"/>
            <a:ext cx="2590781" cy="919758"/>
          </a:xfrm>
          <a:prstGeom prst="rect">
            <a:avLst/>
          </a:prstGeom>
          <a:solidFill>
            <a:srgbClr val="00E5FF">
              <a:alpha val="5098"/>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6067416" y="1433020"/>
            <a:ext cx="621506" cy="276820"/>
          </a:xfrm>
          <a:prstGeom prst="rect">
            <a:avLst/>
          </a:prstGeom>
          <a:noFill/>
          <a:ln>
            <a:noFill/>
          </a:ln>
        </p:spPr>
        <p:txBody>
          <a:bodyPr anchorCtr="0" anchor="t" bIns="42525"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STEP 3</a:t>
            </a:r>
            <a:endParaRPr b="0" i="0" sz="1193" u="none" cap="none" strike="noStrike">
              <a:solidFill>
                <a:schemeClr val="dk1"/>
              </a:solidFill>
              <a:latin typeface="Calibri"/>
              <a:ea typeface="Calibri"/>
              <a:cs typeface="Calibri"/>
              <a:sym typeface="Calibri"/>
            </a:endParaRPr>
          </a:p>
        </p:txBody>
      </p:sp>
      <p:sp>
        <p:nvSpPr>
          <p:cNvPr id="154" name="Google Shape;154;p7"/>
          <p:cNvSpPr/>
          <p:nvPr/>
        </p:nvSpPr>
        <p:spPr>
          <a:xfrm>
            <a:off x="6067416" y="1766990"/>
            <a:ext cx="241933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Supervisor Proxy </a:t>
            </a:r>
            <a:r>
              <a:rPr b="1" i="0" lang="en-US" sz="885" u="none" cap="none" strike="noStrike">
                <a:solidFill>
                  <a:srgbClr val="FFFFFF"/>
                </a:solidFill>
                <a:latin typeface="Inter"/>
                <a:ea typeface="Inter"/>
                <a:cs typeface="Inter"/>
                <a:sym typeface="Inter"/>
              </a:rPr>
              <a:t>validates attestation</a:t>
            </a:r>
            <a:r>
              <a:rPr b="0" i="0" lang="en-US" sz="942" u="none" cap="none" strike="noStrike">
                <a:solidFill>
                  <a:srgbClr val="E0E0E0"/>
                </a:solidFill>
                <a:latin typeface="Inter"/>
                <a:ea typeface="Inter"/>
                <a:cs typeface="Inter"/>
                <a:sym typeface="Inter"/>
              </a:rPr>
              <a:t>, forwards to OpAMP Server.</a:t>
            </a:r>
            <a:endParaRPr b="0" i="0" sz="942" u="none" cap="none" strike="noStrike">
              <a:solidFill>
                <a:schemeClr val="dk1"/>
              </a:solidFill>
              <a:latin typeface="Calibri"/>
              <a:ea typeface="Calibri"/>
              <a:cs typeface="Calibri"/>
              <a:sym typeface="Calibri"/>
            </a:endParaRPr>
          </a:p>
        </p:txBody>
      </p:sp>
      <p:sp>
        <p:nvSpPr>
          <p:cNvPr id="155" name="Google Shape;155;p7"/>
          <p:cNvSpPr/>
          <p:nvPr/>
        </p:nvSpPr>
        <p:spPr>
          <a:xfrm>
            <a:off x="571500" y="2352777"/>
            <a:ext cx="2590781" cy="1112639"/>
          </a:xfrm>
          <a:prstGeom prst="rect">
            <a:avLst/>
          </a:prstGeom>
          <a:solidFill>
            <a:srgbClr val="00E5FF">
              <a:alpha val="5098"/>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657225" y="2438502"/>
            <a:ext cx="621506" cy="276820"/>
          </a:xfrm>
          <a:prstGeom prst="rect">
            <a:avLst/>
          </a:prstGeom>
          <a:noFill/>
          <a:ln>
            <a:noFill/>
          </a:ln>
        </p:spPr>
        <p:txBody>
          <a:bodyPr anchorCtr="0" anchor="t" bIns="42525"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STEP 4</a:t>
            </a:r>
            <a:endParaRPr b="0" i="0" sz="1193" u="none" cap="none" strike="noStrike">
              <a:solidFill>
                <a:schemeClr val="dk1"/>
              </a:solidFill>
              <a:latin typeface="Calibri"/>
              <a:ea typeface="Calibri"/>
              <a:cs typeface="Calibri"/>
              <a:sym typeface="Calibri"/>
            </a:endParaRPr>
          </a:p>
        </p:txBody>
      </p:sp>
      <p:sp>
        <p:nvSpPr>
          <p:cNvPr id="157" name="Google Shape;157;p7"/>
          <p:cNvSpPr/>
          <p:nvPr/>
        </p:nvSpPr>
        <p:spPr>
          <a:xfrm>
            <a:off x="657225" y="2772473"/>
            <a:ext cx="241933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OpAMP Server </a:t>
            </a:r>
            <a:r>
              <a:rPr b="1" i="0" lang="en-US" sz="885" u="none" cap="none" strike="noStrike">
                <a:solidFill>
                  <a:srgbClr val="FFFFFF"/>
                </a:solidFill>
                <a:latin typeface="Inter"/>
                <a:ea typeface="Inter"/>
                <a:cs typeface="Inter"/>
                <a:sym typeface="Inter"/>
              </a:rPr>
              <a:t>requests certificate</a:t>
            </a:r>
            <a:r>
              <a:rPr b="0" i="0" lang="en-US" sz="942" u="none" cap="none" strike="noStrike">
                <a:solidFill>
                  <a:srgbClr val="E0E0E0"/>
                </a:solidFill>
                <a:latin typeface="Inter"/>
                <a:ea typeface="Inter"/>
                <a:cs typeface="Inter"/>
                <a:sym typeface="Inter"/>
              </a:rPr>
              <a:t> from Athenz ZTS (backed by Vault PKI).</a:t>
            </a:r>
            <a:endParaRPr b="0" i="0" sz="942" u="none" cap="none" strike="noStrike">
              <a:solidFill>
                <a:schemeClr val="dk1"/>
              </a:solidFill>
              <a:latin typeface="Calibri"/>
              <a:ea typeface="Calibri"/>
              <a:cs typeface="Calibri"/>
              <a:sym typeface="Calibri"/>
            </a:endParaRPr>
          </a:p>
        </p:txBody>
      </p:sp>
      <p:sp>
        <p:nvSpPr>
          <p:cNvPr id="158" name="Google Shape;158;p7"/>
          <p:cNvSpPr/>
          <p:nvPr/>
        </p:nvSpPr>
        <p:spPr>
          <a:xfrm>
            <a:off x="3276581" y="2352777"/>
            <a:ext cx="2590809" cy="919758"/>
          </a:xfrm>
          <a:prstGeom prst="rect">
            <a:avLst/>
          </a:prstGeom>
          <a:solidFill>
            <a:srgbClr val="00E5FF">
              <a:alpha val="5098"/>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3362306" y="2438502"/>
            <a:ext cx="621506" cy="276820"/>
          </a:xfrm>
          <a:prstGeom prst="rect">
            <a:avLst/>
          </a:prstGeom>
          <a:noFill/>
          <a:ln>
            <a:noFill/>
          </a:ln>
        </p:spPr>
        <p:txBody>
          <a:bodyPr anchorCtr="0" anchor="t" bIns="42525"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STEP 5</a:t>
            </a:r>
            <a:endParaRPr b="0" i="0" sz="1193" u="none" cap="none" strike="noStrike">
              <a:solidFill>
                <a:schemeClr val="dk1"/>
              </a:solidFill>
              <a:latin typeface="Calibri"/>
              <a:ea typeface="Calibri"/>
              <a:cs typeface="Calibri"/>
              <a:sym typeface="Calibri"/>
            </a:endParaRPr>
          </a:p>
        </p:txBody>
      </p:sp>
      <p:sp>
        <p:nvSpPr>
          <p:cNvPr id="160" name="Google Shape;160;p7"/>
          <p:cNvSpPr/>
          <p:nvPr/>
        </p:nvSpPr>
        <p:spPr>
          <a:xfrm>
            <a:off x="3362306" y="2772473"/>
            <a:ext cx="241935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Certificate delivered to workload via </a:t>
            </a:r>
            <a:r>
              <a:rPr b="1" i="0" lang="en-US" sz="885" u="none" cap="none" strike="noStrike">
                <a:solidFill>
                  <a:srgbClr val="FFFFFF"/>
                </a:solidFill>
                <a:latin typeface="Inter"/>
                <a:ea typeface="Inter"/>
                <a:cs typeface="Inter"/>
                <a:sym typeface="Inter"/>
              </a:rPr>
              <a:t>atomic hot-reload</a:t>
            </a:r>
            <a:r>
              <a:rPr b="0" i="0" lang="en-US" sz="942" u="none" cap="none" strike="noStrike">
                <a:solidFill>
                  <a:srgbClr val="E0E0E0"/>
                </a:solidFill>
                <a:latin typeface="Inter"/>
                <a:ea typeface="Inter"/>
                <a:cs typeface="Inter"/>
                <a:sym typeface="Inter"/>
              </a:rPr>
              <a:t> (no restart).</a:t>
            </a:r>
            <a:endParaRPr b="0" i="0" sz="942" u="none" cap="none" strike="noStrike">
              <a:solidFill>
                <a:schemeClr val="dk1"/>
              </a:solidFill>
              <a:latin typeface="Calibri"/>
              <a:ea typeface="Calibri"/>
              <a:cs typeface="Calibri"/>
              <a:sym typeface="Calibri"/>
            </a:endParaRPr>
          </a:p>
        </p:txBody>
      </p:sp>
      <p:sp>
        <p:nvSpPr>
          <p:cNvPr id="161" name="Google Shape;161;p7"/>
          <p:cNvSpPr/>
          <p:nvPr/>
        </p:nvSpPr>
        <p:spPr>
          <a:xfrm>
            <a:off x="5981691" y="2352777"/>
            <a:ext cx="2590781" cy="919758"/>
          </a:xfrm>
          <a:prstGeom prst="rect">
            <a:avLst/>
          </a:prstGeom>
          <a:solidFill>
            <a:srgbClr val="00E5FF">
              <a:alpha val="5098"/>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6067416" y="2438502"/>
            <a:ext cx="621506" cy="276820"/>
          </a:xfrm>
          <a:prstGeom prst="rect">
            <a:avLst/>
          </a:prstGeom>
          <a:noFill/>
          <a:ln>
            <a:noFill/>
          </a:ln>
        </p:spPr>
        <p:txBody>
          <a:bodyPr anchorCtr="0" anchor="t" bIns="42525"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STEP 6</a:t>
            </a:r>
            <a:endParaRPr b="0" i="0" sz="1193" u="none" cap="none" strike="noStrike">
              <a:solidFill>
                <a:schemeClr val="dk1"/>
              </a:solidFill>
              <a:latin typeface="Calibri"/>
              <a:ea typeface="Calibri"/>
              <a:cs typeface="Calibri"/>
              <a:sym typeface="Calibri"/>
            </a:endParaRPr>
          </a:p>
        </p:txBody>
      </p:sp>
      <p:sp>
        <p:nvSpPr>
          <p:cNvPr id="163" name="Google Shape;163;p7"/>
          <p:cNvSpPr/>
          <p:nvPr/>
        </p:nvSpPr>
        <p:spPr>
          <a:xfrm>
            <a:off x="6067416" y="2772473"/>
            <a:ext cx="241933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Cert-Ops-Scheduler monitors and </a:t>
            </a:r>
            <a:r>
              <a:rPr b="1" i="0" lang="en-US" sz="885" u="none" cap="none" strike="noStrike">
                <a:solidFill>
                  <a:srgbClr val="FFFFFF"/>
                </a:solidFill>
                <a:latin typeface="Inter"/>
                <a:ea typeface="Inter"/>
                <a:cs typeface="Inter"/>
                <a:sym typeface="Inter"/>
              </a:rPr>
              <a:t>auto-renews at 50% TTL</a:t>
            </a:r>
            <a:r>
              <a:rPr b="0" i="0" lang="en-US" sz="942" u="none" cap="none" strike="noStrike">
                <a:solidFill>
                  <a:srgbClr val="E0E0E0"/>
                </a:solidFill>
                <a:latin typeface="Inter"/>
                <a:ea typeface="Inter"/>
                <a:cs typeface="Inter"/>
                <a:sym typeface="Inter"/>
              </a:rPr>
              <a:t> (12 hours).</a:t>
            </a:r>
            <a:endParaRPr b="0" i="0" sz="942" u="none" cap="none" strike="noStrike">
              <a:solidFill>
                <a:schemeClr val="dk1"/>
              </a:solidFill>
              <a:latin typeface="Calibri"/>
              <a:ea typeface="Calibri"/>
              <a:cs typeface="Calibri"/>
              <a:sym typeface="Calibri"/>
            </a:endParaRPr>
          </a:p>
        </p:txBody>
      </p:sp>
      <p:sp>
        <p:nvSpPr>
          <p:cNvPr id="164" name="Google Shape;164;p7"/>
          <p:cNvSpPr/>
          <p:nvPr/>
        </p:nvSpPr>
        <p:spPr>
          <a:xfrm>
            <a:off x="571500" y="3529710"/>
            <a:ext cx="8001000" cy="725091"/>
          </a:xfrm>
          <a:prstGeom prst="rect">
            <a:avLst/>
          </a:prstGeom>
          <a:solidFill>
            <a:srgbClr val="00E676">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571500" y="3529710"/>
            <a:ext cx="57150" cy="72509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728663" y="3658298"/>
            <a:ext cx="7686675"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676"/>
              </a:buClr>
              <a:buSzPts val="987"/>
              <a:buFont typeface="Roboto Mono"/>
              <a:buNone/>
            </a:pPr>
            <a:r>
              <a:rPr b="1" i="0" lang="en-US" sz="987" u="none" cap="none" strike="noStrike">
                <a:solidFill>
                  <a:srgbClr val="00E676"/>
                </a:solidFill>
                <a:latin typeface="Roboto Mono"/>
                <a:ea typeface="Roboto Mono"/>
                <a:cs typeface="Roboto Mono"/>
                <a:sym typeface="Roboto Mono"/>
              </a:rPr>
              <a:t>RESULT</a:t>
            </a:r>
            <a:endParaRPr b="0" i="0" sz="987" u="none" cap="none" strike="noStrike">
              <a:solidFill>
                <a:schemeClr val="dk1"/>
              </a:solidFill>
              <a:latin typeface="Calibri"/>
              <a:ea typeface="Calibri"/>
              <a:cs typeface="Calibri"/>
              <a:sym typeface="Calibri"/>
            </a:endParaRPr>
          </a:p>
        </p:txBody>
      </p:sp>
      <p:sp>
        <p:nvSpPr>
          <p:cNvPr id="167" name="Google Shape;167;p7"/>
          <p:cNvSpPr/>
          <p:nvPr/>
        </p:nvSpPr>
        <p:spPr>
          <a:xfrm>
            <a:off x="728663" y="3919045"/>
            <a:ext cx="7686675"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Zero human intervention. Zero downtime. Continuous cryptographic identity.</a:t>
            </a:r>
            <a:endParaRPr b="0" i="0" sz="1193"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preencoded.png" id="173" name="Google Shape;173;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4" name="Google Shape;174;p8"/>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SYSTEM ARCHITECTURE</a:t>
            </a:r>
            <a:endParaRPr b="0" i="0" sz="834" u="none" cap="none" strike="noStrike">
              <a:solidFill>
                <a:schemeClr val="dk1"/>
              </a:solidFill>
              <a:latin typeface="Calibri"/>
              <a:ea typeface="Calibri"/>
              <a:cs typeface="Calibri"/>
              <a:sym typeface="Calibri"/>
            </a:endParaRPr>
          </a:p>
        </p:txBody>
      </p:sp>
      <p:sp>
        <p:nvSpPr>
          <p:cNvPr id="175" name="Google Shape;175;p8"/>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4-Layer Architecture</a:t>
            </a:r>
            <a:endParaRPr b="0" i="0" sz="2436" u="none" cap="none" strike="noStrike">
              <a:solidFill>
                <a:schemeClr val="dk1"/>
              </a:solidFill>
              <a:latin typeface="Calibri"/>
              <a:ea typeface="Calibri"/>
              <a:cs typeface="Calibri"/>
              <a:sym typeface="Calibri"/>
            </a:endParaRPr>
          </a:p>
        </p:txBody>
      </p:sp>
      <p:sp>
        <p:nvSpPr>
          <p:cNvPr id="176" name="Google Shape;176;p8"/>
          <p:cNvSpPr/>
          <p:nvPr/>
        </p:nvSpPr>
        <p:spPr>
          <a:xfrm>
            <a:off x="571500" y="1572323"/>
            <a:ext cx="3086100" cy="725091"/>
          </a:xfrm>
          <a:prstGeom prst="rect">
            <a:avLst/>
          </a:prstGeom>
          <a:solidFill>
            <a:srgbClr val="E53E3E">
              <a:alpha val="5098"/>
            </a:srgbClr>
          </a:solidFill>
          <a:ln cap="flat" cmpd="sng" w="1827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657225" y="1686623"/>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LAYER 4</a:t>
            </a:r>
            <a:endParaRPr b="0" i="0" sz="727" u="none" cap="none" strike="noStrike">
              <a:solidFill>
                <a:schemeClr val="dk1"/>
              </a:solidFill>
              <a:latin typeface="Calibri"/>
              <a:ea typeface="Calibri"/>
              <a:cs typeface="Calibri"/>
              <a:sym typeface="Calibri"/>
            </a:endParaRPr>
          </a:p>
        </p:txBody>
      </p:sp>
      <p:sp>
        <p:nvSpPr>
          <p:cNvPr id="178" name="Google Shape;178;p8"/>
          <p:cNvSpPr/>
          <p:nvPr/>
        </p:nvSpPr>
        <p:spPr>
          <a:xfrm>
            <a:off x="657225" y="1854501"/>
            <a:ext cx="2914650" cy="189309"/>
          </a:xfrm>
          <a:prstGeom prst="rect">
            <a:avLst/>
          </a:prstGeom>
          <a:noFill/>
          <a:ln>
            <a:noFill/>
          </a:ln>
        </p:spPr>
        <p:txBody>
          <a:bodyPr anchorCtr="0" anchor="t" bIns="0" lIns="0" spcFirstLastPara="1" rIns="0" wrap="square" tIns="0">
            <a:noAutofit/>
          </a:bodyPr>
          <a:lstStyle/>
          <a:p>
            <a:pPr indent="0" lvl="0" marL="0" marR="0" rtl="0" algn="ctr">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Backend Authority</a:t>
            </a:r>
            <a:endParaRPr b="0" i="0" sz="1090" u="none" cap="none" strike="noStrike">
              <a:solidFill>
                <a:schemeClr val="dk1"/>
              </a:solidFill>
              <a:latin typeface="Calibri"/>
              <a:ea typeface="Calibri"/>
              <a:cs typeface="Calibri"/>
              <a:sym typeface="Calibri"/>
            </a:endParaRPr>
          </a:p>
        </p:txBody>
      </p:sp>
      <p:sp>
        <p:nvSpPr>
          <p:cNvPr id="179" name="Google Shape;179;p8"/>
          <p:cNvSpPr/>
          <p:nvPr/>
        </p:nvSpPr>
        <p:spPr>
          <a:xfrm>
            <a:off x="657225" y="2079529"/>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Athenz ZTS, Vault, DB</a:t>
            </a:r>
            <a:endParaRPr b="0" i="0" sz="727" u="none" cap="none" strike="noStrike">
              <a:solidFill>
                <a:schemeClr val="dk1"/>
              </a:solidFill>
              <a:latin typeface="Calibri"/>
              <a:ea typeface="Calibri"/>
              <a:cs typeface="Calibri"/>
              <a:sym typeface="Calibri"/>
            </a:endParaRPr>
          </a:p>
        </p:txBody>
      </p:sp>
      <p:sp>
        <p:nvSpPr>
          <p:cNvPr id="180" name="Google Shape;180;p8"/>
          <p:cNvSpPr/>
          <p:nvPr/>
        </p:nvSpPr>
        <p:spPr>
          <a:xfrm>
            <a:off x="571500" y="2383138"/>
            <a:ext cx="3086100" cy="725091"/>
          </a:xfrm>
          <a:prstGeom prst="rect">
            <a:avLst/>
          </a:prstGeom>
          <a:solidFill>
            <a:srgbClr val="D69E2E">
              <a:alpha val="5098"/>
            </a:srgbClr>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657225" y="2497438"/>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LAYER 3</a:t>
            </a:r>
            <a:endParaRPr b="0" i="0" sz="727" u="none" cap="none" strike="noStrike">
              <a:solidFill>
                <a:schemeClr val="dk1"/>
              </a:solidFill>
              <a:latin typeface="Calibri"/>
              <a:ea typeface="Calibri"/>
              <a:cs typeface="Calibri"/>
              <a:sym typeface="Calibri"/>
            </a:endParaRPr>
          </a:p>
        </p:txBody>
      </p:sp>
      <p:sp>
        <p:nvSpPr>
          <p:cNvPr id="182" name="Google Shape;182;p8"/>
          <p:cNvSpPr/>
          <p:nvPr/>
        </p:nvSpPr>
        <p:spPr>
          <a:xfrm>
            <a:off x="657225" y="2665316"/>
            <a:ext cx="2914650" cy="189309"/>
          </a:xfrm>
          <a:prstGeom prst="rect">
            <a:avLst/>
          </a:prstGeom>
          <a:noFill/>
          <a:ln>
            <a:noFill/>
          </a:ln>
        </p:spPr>
        <p:txBody>
          <a:bodyPr anchorCtr="0" anchor="t" bIns="0" lIns="0" spcFirstLastPara="1" rIns="0" wrap="square" tIns="0">
            <a:noAutofit/>
          </a:bodyPr>
          <a:lstStyle/>
          <a:p>
            <a:pPr indent="0" lvl="0" marL="0" marR="0" rtl="0" algn="ctr">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Control Plane</a:t>
            </a:r>
            <a:endParaRPr b="0" i="0" sz="1090" u="none" cap="none" strike="noStrike">
              <a:solidFill>
                <a:schemeClr val="dk1"/>
              </a:solidFill>
              <a:latin typeface="Calibri"/>
              <a:ea typeface="Calibri"/>
              <a:cs typeface="Calibri"/>
              <a:sym typeface="Calibri"/>
            </a:endParaRPr>
          </a:p>
        </p:txBody>
      </p:sp>
      <p:sp>
        <p:nvSpPr>
          <p:cNvPr id="183" name="Google Shape;183;p8"/>
          <p:cNvSpPr/>
          <p:nvPr/>
        </p:nvSpPr>
        <p:spPr>
          <a:xfrm>
            <a:off x="657225" y="2890345"/>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OpAMP Server, Scheduler</a:t>
            </a:r>
            <a:endParaRPr b="0" i="0" sz="727" u="none" cap="none" strike="noStrike">
              <a:solidFill>
                <a:schemeClr val="dk1"/>
              </a:solidFill>
              <a:latin typeface="Calibri"/>
              <a:ea typeface="Calibri"/>
              <a:cs typeface="Calibri"/>
              <a:sym typeface="Calibri"/>
            </a:endParaRPr>
          </a:p>
        </p:txBody>
      </p:sp>
      <p:sp>
        <p:nvSpPr>
          <p:cNvPr id="184" name="Google Shape;184;p8"/>
          <p:cNvSpPr/>
          <p:nvPr/>
        </p:nvSpPr>
        <p:spPr>
          <a:xfrm>
            <a:off x="571500" y="3193954"/>
            <a:ext cx="3086100" cy="725091"/>
          </a:xfrm>
          <a:prstGeom prst="rect">
            <a:avLst/>
          </a:prstGeom>
          <a:solidFill>
            <a:srgbClr val="38B2AC">
              <a:alpha val="5098"/>
            </a:srgbClr>
          </a:solidFill>
          <a:ln cap="flat" cmpd="sng" w="18275">
            <a:solidFill>
              <a:srgbClr val="38B2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657225" y="3308254"/>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LAYER 2</a:t>
            </a:r>
            <a:endParaRPr b="0" i="0" sz="727" u="none" cap="none" strike="noStrike">
              <a:solidFill>
                <a:schemeClr val="dk1"/>
              </a:solidFill>
              <a:latin typeface="Calibri"/>
              <a:ea typeface="Calibri"/>
              <a:cs typeface="Calibri"/>
              <a:sym typeface="Calibri"/>
            </a:endParaRPr>
          </a:p>
        </p:txBody>
      </p:sp>
      <p:sp>
        <p:nvSpPr>
          <p:cNvPr id="186" name="Google Shape;186;p8"/>
          <p:cNvSpPr/>
          <p:nvPr/>
        </p:nvSpPr>
        <p:spPr>
          <a:xfrm>
            <a:off x="657225" y="3476132"/>
            <a:ext cx="2914650" cy="189309"/>
          </a:xfrm>
          <a:prstGeom prst="rect">
            <a:avLst/>
          </a:prstGeom>
          <a:noFill/>
          <a:ln>
            <a:noFill/>
          </a:ln>
        </p:spPr>
        <p:txBody>
          <a:bodyPr anchorCtr="0" anchor="t" bIns="0" lIns="0" spcFirstLastPara="1" rIns="0" wrap="square" tIns="0">
            <a:noAutofit/>
          </a:bodyPr>
          <a:lstStyle/>
          <a:p>
            <a:pPr indent="0" lvl="0" marL="0" marR="0" rtl="0" algn="ctr">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Supervisor Proxy</a:t>
            </a:r>
            <a:endParaRPr b="0" i="0" sz="1090" u="none" cap="none" strike="noStrike">
              <a:solidFill>
                <a:schemeClr val="dk1"/>
              </a:solidFill>
              <a:latin typeface="Calibri"/>
              <a:ea typeface="Calibri"/>
              <a:cs typeface="Calibri"/>
              <a:sym typeface="Calibri"/>
            </a:endParaRPr>
          </a:p>
        </p:txBody>
      </p:sp>
      <p:sp>
        <p:nvSpPr>
          <p:cNvPr id="187" name="Google Shape;187;p8"/>
          <p:cNvSpPr/>
          <p:nvPr/>
        </p:nvSpPr>
        <p:spPr>
          <a:xfrm>
            <a:off x="657225" y="3701160"/>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Secure Gateway</a:t>
            </a:r>
            <a:endParaRPr b="0" i="0" sz="727" u="none" cap="none" strike="noStrike">
              <a:solidFill>
                <a:schemeClr val="dk1"/>
              </a:solidFill>
              <a:latin typeface="Calibri"/>
              <a:ea typeface="Calibri"/>
              <a:cs typeface="Calibri"/>
              <a:sym typeface="Calibri"/>
            </a:endParaRPr>
          </a:p>
        </p:txBody>
      </p:sp>
      <p:sp>
        <p:nvSpPr>
          <p:cNvPr id="188" name="Google Shape;188;p8"/>
          <p:cNvSpPr/>
          <p:nvPr/>
        </p:nvSpPr>
        <p:spPr>
          <a:xfrm>
            <a:off x="571500" y="4004770"/>
            <a:ext cx="3086100" cy="725091"/>
          </a:xfrm>
          <a:prstGeom prst="rect">
            <a:avLst/>
          </a:prstGeom>
          <a:solidFill>
            <a:srgbClr val="00E676">
              <a:alpha val="5098"/>
            </a:srgbClr>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657225" y="4119070"/>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LAYER 1</a:t>
            </a:r>
            <a:endParaRPr b="0" i="0" sz="727" u="none" cap="none" strike="noStrike">
              <a:solidFill>
                <a:schemeClr val="dk1"/>
              </a:solidFill>
              <a:latin typeface="Calibri"/>
              <a:ea typeface="Calibri"/>
              <a:cs typeface="Calibri"/>
              <a:sym typeface="Calibri"/>
            </a:endParaRPr>
          </a:p>
        </p:txBody>
      </p:sp>
      <p:sp>
        <p:nvSpPr>
          <p:cNvPr id="190" name="Google Shape;190;p8"/>
          <p:cNvSpPr/>
          <p:nvPr/>
        </p:nvSpPr>
        <p:spPr>
          <a:xfrm>
            <a:off x="657225" y="4286948"/>
            <a:ext cx="2914650" cy="189309"/>
          </a:xfrm>
          <a:prstGeom prst="rect">
            <a:avLst/>
          </a:prstGeom>
          <a:noFill/>
          <a:ln>
            <a:noFill/>
          </a:ln>
        </p:spPr>
        <p:txBody>
          <a:bodyPr anchorCtr="0" anchor="t" bIns="0" lIns="0" spcFirstLastPara="1" rIns="0" wrap="square" tIns="0">
            <a:noAutofit/>
          </a:bodyPr>
          <a:lstStyle/>
          <a:p>
            <a:pPr indent="0" lvl="0" marL="0" marR="0" rtl="0" algn="ctr">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Agent Layer</a:t>
            </a:r>
            <a:endParaRPr b="0" i="0" sz="1090" u="none" cap="none" strike="noStrike">
              <a:solidFill>
                <a:schemeClr val="dk1"/>
              </a:solidFill>
              <a:latin typeface="Calibri"/>
              <a:ea typeface="Calibri"/>
              <a:cs typeface="Calibri"/>
              <a:sym typeface="Calibri"/>
            </a:endParaRPr>
          </a:p>
        </p:txBody>
      </p:sp>
      <p:sp>
        <p:nvSpPr>
          <p:cNvPr id="191" name="Google Shape;191;p8"/>
          <p:cNvSpPr/>
          <p:nvPr/>
        </p:nvSpPr>
        <p:spPr>
          <a:xfrm>
            <a:off x="657225" y="4511976"/>
            <a:ext cx="291465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OpAMP Agent, Workloads</a:t>
            </a:r>
            <a:endParaRPr b="0" i="0" sz="727" u="none" cap="none" strike="noStrike">
              <a:solidFill>
                <a:schemeClr val="dk1"/>
              </a:solidFill>
              <a:latin typeface="Calibri"/>
              <a:ea typeface="Calibri"/>
              <a:cs typeface="Calibri"/>
              <a:sym typeface="Calibri"/>
            </a:endParaRPr>
          </a:p>
        </p:txBody>
      </p:sp>
      <p:sp>
        <p:nvSpPr>
          <p:cNvPr id="192" name="Google Shape;192;p8"/>
          <p:cNvSpPr/>
          <p:nvPr/>
        </p:nvSpPr>
        <p:spPr>
          <a:xfrm>
            <a:off x="3943350" y="1232995"/>
            <a:ext cx="2243138" cy="1771650"/>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3943350" y="1232995"/>
            <a:ext cx="28575" cy="1771650"/>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4057650" y="1318720"/>
            <a:ext cx="2014538" cy="37861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Layer 4: Backend Authority</a:t>
            </a:r>
            <a:endParaRPr b="0" i="0" sz="1090" u="none" cap="none" strike="noStrike">
              <a:solidFill>
                <a:schemeClr val="dk1"/>
              </a:solidFill>
              <a:latin typeface="Calibri"/>
              <a:ea typeface="Calibri"/>
              <a:cs typeface="Calibri"/>
              <a:sym typeface="Calibri"/>
            </a:endParaRPr>
          </a:p>
        </p:txBody>
      </p:sp>
      <p:sp>
        <p:nvSpPr>
          <p:cNvPr id="195" name="Google Shape;195;p8"/>
          <p:cNvSpPr/>
          <p:nvPr/>
        </p:nvSpPr>
        <p:spPr>
          <a:xfrm>
            <a:off x="4057650" y="1733057"/>
            <a:ext cx="201453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"The Source of Truth"</a:t>
            </a:r>
            <a:endParaRPr b="0" i="0" sz="834" u="none" cap="none" strike="noStrike">
              <a:solidFill>
                <a:schemeClr val="dk1"/>
              </a:solidFill>
              <a:latin typeface="Calibri"/>
              <a:ea typeface="Calibri"/>
              <a:cs typeface="Calibri"/>
              <a:sym typeface="Calibri"/>
            </a:endParaRPr>
          </a:p>
        </p:txBody>
      </p:sp>
      <p:sp>
        <p:nvSpPr>
          <p:cNvPr id="196" name="Google Shape;196;p8"/>
          <p:cNvSpPr/>
          <p:nvPr/>
        </p:nvSpPr>
        <p:spPr>
          <a:xfrm>
            <a:off x="4057650" y="1954513"/>
            <a:ext cx="2014538"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Centralized Certificate Authority (Athenz) and Secrets Engine (Vault). Stores the immutable root of trust and defines global policies.</a:t>
            </a:r>
            <a:endParaRPr b="0" i="0" sz="942" u="none" cap="none" strike="noStrike">
              <a:solidFill>
                <a:schemeClr val="dk1"/>
              </a:solidFill>
              <a:latin typeface="Calibri"/>
              <a:ea typeface="Calibri"/>
              <a:cs typeface="Calibri"/>
              <a:sym typeface="Calibri"/>
            </a:endParaRPr>
          </a:p>
        </p:txBody>
      </p:sp>
      <p:sp>
        <p:nvSpPr>
          <p:cNvPr id="197" name="Google Shape;197;p8"/>
          <p:cNvSpPr/>
          <p:nvPr/>
        </p:nvSpPr>
        <p:spPr>
          <a:xfrm>
            <a:off x="6329363" y="1232995"/>
            <a:ext cx="2243138" cy="1771650"/>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6329363" y="1232995"/>
            <a:ext cx="28575" cy="1771650"/>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6443663" y="1318720"/>
            <a:ext cx="2014538"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Layer 3: Control Plane</a:t>
            </a:r>
            <a:endParaRPr b="0" i="0" sz="1090" u="none" cap="none" strike="noStrike">
              <a:solidFill>
                <a:schemeClr val="dk1"/>
              </a:solidFill>
              <a:latin typeface="Calibri"/>
              <a:ea typeface="Calibri"/>
              <a:cs typeface="Calibri"/>
              <a:sym typeface="Calibri"/>
            </a:endParaRPr>
          </a:p>
        </p:txBody>
      </p:sp>
      <p:sp>
        <p:nvSpPr>
          <p:cNvPr id="200" name="Google Shape;200;p8"/>
          <p:cNvSpPr/>
          <p:nvPr/>
        </p:nvSpPr>
        <p:spPr>
          <a:xfrm>
            <a:off x="6443663" y="1543748"/>
            <a:ext cx="201453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"The Orchestration Brain"</a:t>
            </a:r>
            <a:endParaRPr b="0" i="0" sz="834" u="none" cap="none" strike="noStrike">
              <a:solidFill>
                <a:schemeClr val="dk1"/>
              </a:solidFill>
              <a:latin typeface="Calibri"/>
              <a:ea typeface="Calibri"/>
              <a:cs typeface="Calibri"/>
              <a:sym typeface="Calibri"/>
            </a:endParaRPr>
          </a:p>
        </p:txBody>
      </p:sp>
      <p:sp>
        <p:nvSpPr>
          <p:cNvPr id="201" name="Google Shape;201;p8"/>
          <p:cNvSpPr/>
          <p:nvPr/>
        </p:nvSpPr>
        <p:spPr>
          <a:xfrm>
            <a:off x="6443663" y="1765204"/>
            <a:ext cx="2014538"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Manages fleet state, schedules background jobs (rotation, drift detection), and enforces business logic. The Cert-Ops-Scheduler lives here.</a:t>
            </a:r>
            <a:endParaRPr b="0" i="0" sz="942" u="none" cap="none" strike="noStrike">
              <a:solidFill>
                <a:schemeClr val="dk1"/>
              </a:solidFill>
              <a:latin typeface="Calibri"/>
              <a:ea typeface="Calibri"/>
              <a:cs typeface="Calibri"/>
              <a:sym typeface="Calibri"/>
            </a:endParaRPr>
          </a:p>
        </p:txBody>
      </p:sp>
      <p:sp>
        <p:nvSpPr>
          <p:cNvPr id="202" name="Google Shape;202;p8"/>
          <p:cNvSpPr/>
          <p:nvPr/>
        </p:nvSpPr>
        <p:spPr>
          <a:xfrm>
            <a:off x="3943350" y="3147520"/>
            <a:ext cx="2243138" cy="1582341"/>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3943350" y="3147520"/>
            <a:ext cx="28575" cy="1582341"/>
          </a:xfrm>
          <a:prstGeom prst="rect">
            <a:avLst/>
          </a:prstGeom>
          <a:solidFill>
            <a:srgbClr val="38B2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4057650" y="3233245"/>
            <a:ext cx="2014538"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Layer 2: Supervisor Proxy</a:t>
            </a:r>
            <a:endParaRPr b="0" i="0" sz="1090" u="none" cap="none" strike="noStrike">
              <a:solidFill>
                <a:schemeClr val="dk1"/>
              </a:solidFill>
              <a:latin typeface="Calibri"/>
              <a:ea typeface="Calibri"/>
              <a:cs typeface="Calibri"/>
              <a:sym typeface="Calibri"/>
            </a:endParaRPr>
          </a:p>
        </p:txBody>
      </p:sp>
      <p:sp>
        <p:nvSpPr>
          <p:cNvPr id="205" name="Google Shape;205;p8"/>
          <p:cNvSpPr/>
          <p:nvPr/>
        </p:nvSpPr>
        <p:spPr>
          <a:xfrm>
            <a:off x="4057650" y="3458273"/>
            <a:ext cx="201453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"The Security Boundary"</a:t>
            </a:r>
            <a:endParaRPr b="0" i="0" sz="834" u="none" cap="none" strike="noStrike">
              <a:solidFill>
                <a:schemeClr val="dk1"/>
              </a:solidFill>
              <a:latin typeface="Calibri"/>
              <a:ea typeface="Calibri"/>
              <a:cs typeface="Calibri"/>
              <a:sym typeface="Calibri"/>
            </a:endParaRPr>
          </a:p>
        </p:txBody>
      </p:sp>
      <p:sp>
        <p:nvSpPr>
          <p:cNvPr id="206" name="Google Shape;206;p8"/>
          <p:cNvSpPr/>
          <p:nvPr/>
        </p:nvSpPr>
        <p:spPr>
          <a:xfrm>
            <a:off x="4057650" y="3679729"/>
            <a:ext cx="2014538"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Isolates the Control Plane from the public internet. Terminates mTLS connections from agents and validates initial bootstrap credentials.</a:t>
            </a:r>
            <a:endParaRPr b="0" i="0" sz="942" u="none" cap="none" strike="noStrike">
              <a:solidFill>
                <a:schemeClr val="dk1"/>
              </a:solidFill>
              <a:latin typeface="Calibri"/>
              <a:ea typeface="Calibri"/>
              <a:cs typeface="Calibri"/>
              <a:sym typeface="Calibri"/>
            </a:endParaRPr>
          </a:p>
        </p:txBody>
      </p:sp>
      <p:sp>
        <p:nvSpPr>
          <p:cNvPr id="207" name="Google Shape;207;p8"/>
          <p:cNvSpPr/>
          <p:nvPr/>
        </p:nvSpPr>
        <p:spPr>
          <a:xfrm>
            <a:off x="6329363" y="3147520"/>
            <a:ext cx="2243138" cy="1582341"/>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6329363" y="3147520"/>
            <a:ext cx="28575" cy="158234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6443663" y="3233245"/>
            <a:ext cx="2014538"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Layer 1: Agent Layer</a:t>
            </a:r>
            <a:endParaRPr b="0" i="0" sz="1090" u="none" cap="none" strike="noStrike">
              <a:solidFill>
                <a:schemeClr val="dk1"/>
              </a:solidFill>
              <a:latin typeface="Calibri"/>
              <a:ea typeface="Calibri"/>
              <a:cs typeface="Calibri"/>
              <a:sym typeface="Calibri"/>
            </a:endParaRPr>
          </a:p>
        </p:txBody>
      </p:sp>
      <p:sp>
        <p:nvSpPr>
          <p:cNvPr id="210" name="Google Shape;210;p8"/>
          <p:cNvSpPr/>
          <p:nvPr/>
        </p:nvSpPr>
        <p:spPr>
          <a:xfrm>
            <a:off x="6443663" y="3458273"/>
            <a:ext cx="201453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"The Execution Edge"</a:t>
            </a:r>
            <a:endParaRPr b="0" i="0" sz="834" u="none" cap="none" strike="noStrike">
              <a:solidFill>
                <a:schemeClr val="dk1"/>
              </a:solidFill>
              <a:latin typeface="Calibri"/>
              <a:ea typeface="Calibri"/>
              <a:cs typeface="Calibri"/>
              <a:sym typeface="Calibri"/>
            </a:endParaRPr>
          </a:p>
        </p:txBody>
      </p:sp>
      <p:sp>
        <p:nvSpPr>
          <p:cNvPr id="211" name="Google Shape;211;p8"/>
          <p:cNvSpPr/>
          <p:nvPr/>
        </p:nvSpPr>
        <p:spPr>
          <a:xfrm>
            <a:off x="6443663" y="3679729"/>
            <a:ext cx="2014538" cy="964406"/>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Runs on every node. Generates private keys locally (never transmitted), creates CSRs, and performs atomic certificate swaps.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descr="preencoded.png" id="217" name="Google Shape;217;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18" name="Google Shape;218;p9"/>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IDENTITY BOOTSTRAPPING</a:t>
            </a:r>
            <a:endParaRPr b="0" i="0" sz="834" u="none" cap="none" strike="noStrike">
              <a:solidFill>
                <a:schemeClr val="dk1"/>
              </a:solidFill>
              <a:latin typeface="Calibri"/>
              <a:ea typeface="Calibri"/>
              <a:cs typeface="Calibri"/>
              <a:sym typeface="Calibri"/>
            </a:endParaRPr>
          </a:p>
        </p:txBody>
      </p:sp>
      <p:sp>
        <p:nvSpPr>
          <p:cNvPr id="219" name="Google Shape;219;p9"/>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Solving the "Chicken-and-Egg" Problem</a:t>
            </a:r>
            <a:endParaRPr b="0" i="0" sz="2436" u="none" cap="none" strike="noStrike">
              <a:solidFill>
                <a:schemeClr val="dk1"/>
              </a:solidFill>
              <a:latin typeface="Calibri"/>
              <a:ea typeface="Calibri"/>
              <a:cs typeface="Calibri"/>
              <a:sym typeface="Calibri"/>
            </a:endParaRPr>
          </a:p>
        </p:txBody>
      </p:sp>
      <p:sp>
        <p:nvSpPr>
          <p:cNvPr id="220" name="Google Shape;220;p9"/>
          <p:cNvSpPr/>
          <p:nvPr/>
        </p:nvSpPr>
        <p:spPr>
          <a:xfrm>
            <a:off x="571500" y="1275857"/>
            <a:ext cx="8001000" cy="941189"/>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571500" y="1275857"/>
            <a:ext cx="28575" cy="941189"/>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714375" y="1390157"/>
            <a:ext cx="7715250" cy="169664"/>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E53E3E"/>
              </a:buClr>
              <a:buSzPts val="885"/>
              <a:buFont typeface="Roboto Mono"/>
              <a:buNone/>
            </a:pPr>
            <a:r>
              <a:rPr b="1" i="0" lang="en-US" sz="885" u="none" cap="none" strike="noStrike">
                <a:solidFill>
                  <a:srgbClr val="E53E3E"/>
                </a:solidFill>
                <a:latin typeface="Roboto Mono"/>
                <a:ea typeface="Roboto Mono"/>
                <a:cs typeface="Roboto Mono"/>
                <a:sym typeface="Roboto Mono"/>
              </a:rPr>
              <a:t>THE CHALLENGE</a:t>
            </a:r>
            <a:endParaRPr b="0" i="0" sz="885" u="none" cap="none" strike="noStrike">
              <a:solidFill>
                <a:schemeClr val="dk1"/>
              </a:solidFill>
              <a:latin typeface="Calibri"/>
              <a:ea typeface="Calibri"/>
              <a:cs typeface="Calibri"/>
              <a:sym typeface="Calibri"/>
            </a:endParaRPr>
          </a:p>
        </p:txBody>
      </p:sp>
      <p:sp>
        <p:nvSpPr>
          <p:cNvPr id="223" name="Google Shape;223;p9"/>
          <p:cNvSpPr/>
          <p:nvPr/>
        </p:nvSpPr>
        <p:spPr>
          <a:xfrm>
            <a:off x="714375" y="1631259"/>
            <a:ext cx="7715250" cy="471488"/>
          </a:xfrm>
          <a:prstGeom prst="rect">
            <a:avLst/>
          </a:prstGeom>
          <a:noFill/>
          <a:ln>
            <a:noFill/>
          </a:ln>
        </p:spPr>
        <p:txBody>
          <a:bodyPr anchorCtr="0" anchor="t" bIns="0" lIns="0" spcFirstLastPara="1" rIns="0" wrap="square" tIns="0">
            <a:noAutofit/>
          </a:bodyPr>
          <a:lstStyle/>
          <a:p>
            <a:pPr indent="0" lvl="0" marL="0" marR="0" rtl="0" algn="l">
              <a:lnSpc>
                <a:spcPct val="163934"/>
              </a:lnSpc>
              <a:spcBef>
                <a:spcPts val="0"/>
              </a:spcBef>
              <a:spcAft>
                <a:spcPts val="0"/>
              </a:spcAft>
              <a:buClr>
                <a:srgbClr val="FFFFFF"/>
              </a:buClr>
              <a:buSzPts val="1159"/>
              <a:buFont typeface="Inter"/>
              <a:buNone/>
            </a:pPr>
            <a:r>
              <a:rPr b="0" i="0" lang="en-US" sz="1159" u="none" cap="none" strike="noStrike">
                <a:solidFill>
                  <a:srgbClr val="FFFFFF"/>
                </a:solidFill>
                <a:latin typeface="Inter"/>
                <a:ea typeface="Inter"/>
                <a:cs typeface="Inter"/>
                <a:sym typeface="Inter"/>
              </a:rPr>
              <a:t>How does a new workload prove its identity to get a certificate, when it needs a certificate to prove its identity?</a:t>
            </a:r>
            <a:endParaRPr b="0" i="0" sz="1159" u="none" cap="none" strike="noStrike">
              <a:solidFill>
                <a:schemeClr val="dk1"/>
              </a:solidFill>
              <a:latin typeface="Calibri"/>
              <a:ea typeface="Calibri"/>
              <a:cs typeface="Calibri"/>
              <a:sym typeface="Calibri"/>
            </a:endParaRPr>
          </a:p>
        </p:txBody>
      </p:sp>
      <p:sp>
        <p:nvSpPr>
          <p:cNvPr id="224" name="Google Shape;224;p9"/>
          <p:cNvSpPr/>
          <p:nvPr/>
        </p:nvSpPr>
        <p:spPr>
          <a:xfrm>
            <a:off x="571500" y="2388496"/>
            <a:ext cx="2400300" cy="2061586"/>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700088" y="2517084"/>
            <a:ext cx="2143125"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PHASE 1</a:t>
            </a:r>
            <a:endParaRPr b="0" i="0" sz="834" u="none" cap="none" strike="noStrike">
              <a:solidFill>
                <a:schemeClr val="dk1"/>
              </a:solidFill>
              <a:latin typeface="Calibri"/>
              <a:ea typeface="Calibri"/>
              <a:cs typeface="Calibri"/>
              <a:sym typeface="Calibri"/>
            </a:endParaRPr>
          </a:p>
        </p:txBody>
      </p:sp>
      <p:sp>
        <p:nvSpPr>
          <p:cNvPr id="226" name="Google Shape;226;p9"/>
          <p:cNvSpPr/>
          <p:nvPr/>
        </p:nvSpPr>
        <p:spPr>
          <a:xfrm>
            <a:off x="700088" y="2738540"/>
            <a:ext cx="2143125"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Genesis (One-Time)</a:t>
            </a:r>
            <a:endParaRPr b="0" i="0" sz="1193" u="none" cap="none" strike="noStrike">
              <a:solidFill>
                <a:schemeClr val="dk1"/>
              </a:solidFill>
              <a:latin typeface="Calibri"/>
              <a:ea typeface="Calibri"/>
              <a:cs typeface="Calibri"/>
              <a:sym typeface="Calibri"/>
            </a:endParaRPr>
          </a:p>
        </p:txBody>
      </p:sp>
      <p:sp>
        <p:nvSpPr>
          <p:cNvPr id="227" name="Google Shape;227;p9"/>
          <p:cNvSpPr/>
          <p:nvPr/>
        </p:nvSpPr>
        <p:spPr>
          <a:xfrm>
            <a:off x="700088" y="3149305"/>
            <a:ext cx="1978819"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Platform attestation using cloud-</a:t>
            </a:r>
            <a:endParaRPr b="0" i="0" sz="942" u="none" cap="none" strike="noStrike">
              <a:solidFill>
                <a:schemeClr val="dk1"/>
              </a:solidFill>
              <a:latin typeface="Calibri"/>
              <a:ea typeface="Calibri"/>
              <a:cs typeface="Calibri"/>
              <a:sym typeface="Calibri"/>
            </a:endParaRPr>
          </a:p>
        </p:txBody>
      </p:sp>
      <p:sp>
        <p:nvSpPr>
          <p:cNvPr id="228" name="Google Shape;228;p9"/>
          <p:cNvSpPr/>
          <p:nvPr/>
        </p:nvSpPr>
        <p:spPr>
          <a:xfrm>
            <a:off x="700088" y="3355023"/>
            <a:ext cx="1803797"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native identity. No pre-shared</a:t>
            </a:r>
            <a:endParaRPr b="0" i="0" sz="942" u="none" cap="none" strike="noStrike">
              <a:solidFill>
                <a:schemeClr val="dk1"/>
              </a:solidFill>
              <a:latin typeface="Calibri"/>
              <a:ea typeface="Calibri"/>
              <a:cs typeface="Calibri"/>
              <a:sym typeface="Calibri"/>
            </a:endParaRPr>
          </a:p>
        </p:txBody>
      </p:sp>
      <p:sp>
        <p:nvSpPr>
          <p:cNvPr id="229" name="Google Shape;229;p9"/>
          <p:cNvSpPr/>
          <p:nvPr/>
        </p:nvSpPr>
        <p:spPr>
          <a:xfrm>
            <a:off x="700088" y="3560741"/>
            <a:ext cx="1026914"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secrets required.</a:t>
            </a:r>
            <a:endParaRPr b="0" i="0" sz="942" u="none" cap="none" strike="noStrike">
              <a:solidFill>
                <a:schemeClr val="dk1"/>
              </a:solidFill>
              <a:latin typeface="Calibri"/>
              <a:ea typeface="Calibri"/>
              <a:cs typeface="Calibri"/>
              <a:sym typeface="Calibri"/>
            </a:endParaRPr>
          </a:p>
        </p:txBody>
      </p:sp>
      <p:sp>
        <p:nvSpPr>
          <p:cNvPr id="230" name="Google Shape;230;p9"/>
          <p:cNvSpPr/>
          <p:nvPr/>
        </p:nvSpPr>
        <p:spPr>
          <a:xfrm>
            <a:off x="700088" y="3827180"/>
            <a:ext cx="2143125" cy="480027"/>
          </a:xfrm>
          <a:prstGeom prst="rect">
            <a:avLst/>
          </a:prstGeom>
          <a:solidFill>
            <a:srgbClr val="00000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700088" y="3827180"/>
            <a:ext cx="14288" cy="480027"/>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700088" y="3827180"/>
            <a:ext cx="2143125" cy="480027"/>
          </a:xfrm>
          <a:prstGeom prst="rect">
            <a:avLst/>
          </a:prstGeom>
          <a:noFill/>
          <a:ln>
            <a:noFill/>
          </a:ln>
        </p:spPr>
        <p:txBody>
          <a:bodyPr anchorCtr="0" anchor="t" bIns="68050" lIns="68050" spcFirstLastPara="1" rIns="68050" wrap="square" tIns="68050">
            <a:noAutofit/>
          </a:bodyPr>
          <a:lstStyle/>
          <a:p>
            <a:pPr indent="0" lvl="0" marL="0" marR="0" rtl="0" algn="l">
              <a:lnSpc>
                <a:spcPct val="167865"/>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AWS IID · K8s SA Token · GCP Metadata · TPM Quote</a:t>
            </a:r>
            <a:endParaRPr b="0" i="0" sz="834" u="none" cap="none" strike="noStrike">
              <a:solidFill>
                <a:schemeClr val="dk1"/>
              </a:solidFill>
              <a:latin typeface="Calibri"/>
              <a:ea typeface="Calibri"/>
              <a:cs typeface="Calibri"/>
              <a:sym typeface="Calibri"/>
            </a:endParaRPr>
          </a:p>
        </p:txBody>
      </p:sp>
      <p:sp>
        <p:nvSpPr>
          <p:cNvPr id="233" name="Google Shape;233;p9"/>
          <p:cNvSpPr/>
          <p:nvPr/>
        </p:nvSpPr>
        <p:spPr>
          <a:xfrm>
            <a:off x="3028950" y="2388496"/>
            <a:ext cx="285750" cy="258961"/>
          </a:xfrm>
          <a:prstGeom prst="rect">
            <a:avLst/>
          </a:prstGeom>
          <a:noFill/>
          <a:ln>
            <a:noFill/>
          </a:ln>
        </p:spPr>
        <p:txBody>
          <a:bodyPr anchorCtr="0" anchor="ctr" bIns="0" lIns="0" spcFirstLastPara="1" rIns="0" wrap="square" tIns="0">
            <a:noAutofit/>
          </a:bodyPr>
          <a:lstStyle/>
          <a:p>
            <a:pPr indent="0" lvl="0" marL="0" marR="0" rtl="0" algn="ctr">
              <a:lnSpc>
                <a:spcPct val="125391"/>
              </a:lnSpc>
              <a:spcBef>
                <a:spcPts val="0"/>
              </a:spcBef>
              <a:spcAft>
                <a:spcPts val="0"/>
              </a:spcAft>
              <a:buClr>
                <a:srgbClr val="4A5568"/>
              </a:buClr>
              <a:buSzPts val="1595"/>
              <a:buFont typeface="Inter"/>
              <a:buNone/>
            </a:pPr>
            <a:r>
              <a:rPr b="0" i="0" lang="en-US" sz="1595" u="none" cap="none" strike="noStrike">
                <a:solidFill>
                  <a:srgbClr val="4A5568"/>
                </a:solidFill>
                <a:latin typeface="Inter"/>
                <a:ea typeface="Inter"/>
                <a:cs typeface="Inter"/>
                <a:sym typeface="Inter"/>
              </a:rPr>
              <a:t>▶</a:t>
            </a:r>
            <a:endParaRPr b="0" i="0" sz="1595" u="none" cap="none" strike="noStrike">
              <a:solidFill>
                <a:schemeClr val="dk1"/>
              </a:solidFill>
              <a:latin typeface="Calibri"/>
              <a:ea typeface="Calibri"/>
              <a:cs typeface="Calibri"/>
              <a:sym typeface="Calibri"/>
            </a:endParaRPr>
          </a:p>
        </p:txBody>
      </p:sp>
      <p:sp>
        <p:nvSpPr>
          <p:cNvPr id="234" name="Google Shape;234;p9"/>
          <p:cNvSpPr/>
          <p:nvPr/>
        </p:nvSpPr>
        <p:spPr>
          <a:xfrm>
            <a:off x="3371850" y="2388496"/>
            <a:ext cx="2400300" cy="2244449"/>
          </a:xfrm>
          <a:prstGeom prst="rect">
            <a:avLst/>
          </a:prstGeom>
          <a:solidFill>
            <a:srgbClr val="00E5FF">
              <a:alpha val="5098"/>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3500438" y="2517084"/>
            <a:ext cx="2143125"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PHASE 2</a:t>
            </a:r>
            <a:endParaRPr b="0" i="0" sz="834" u="none" cap="none" strike="noStrike">
              <a:solidFill>
                <a:schemeClr val="dk1"/>
              </a:solidFill>
              <a:latin typeface="Calibri"/>
              <a:ea typeface="Calibri"/>
              <a:cs typeface="Calibri"/>
              <a:sym typeface="Calibri"/>
            </a:endParaRPr>
          </a:p>
        </p:txBody>
      </p:sp>
      <p:sp>
        <p:nvSpPr>
          <p:cNvPr id="236" name="Google Shape;236;p9"/>
          <p:cNvSpPr/>
          <p:nvPr/>
        </p:nvSpPr>
        <p:spPr>
          <a:xfrm>
            <a:off x="3500438" y="2738540"/>
            <a:ext cx="2143125"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Exchange</a:t>
            </a:r>
            <a:endParaRPr b="0" i="0" sz="1193" u="none" cap="none" strike="noStrike">
              <a:solidFill>
                <a:schemeClr val="dk1"/>
              </a:solidFill>
              <a:latin typeface="Calibri"/>
              <a:ea typeface="Calibri"/>
              <a:cs typeface="Calibri"/>
              <a:sym typeface="Calibri"/>
            </a:endParaRPr>
          </a:p>
        </p:txBody>
      </p:sp>
      <p:sp>
        <p:nvSpPr>
          <p:cNvPr id="237" name="Google Shape;237;p9"/>
          <p:cNvSpPr/>
          <p:nvPr/>
        </p:nvSpPr>
        <p:spPr>
          <a:xfrm>
            <a:off x="3500438" y="3149305"/>
            <a:ext cx="1889522"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Attestation validated by Athenz</a:t>
            </a:r>
            <a:endParaRPr b="0" i="0" sz="942" u="none" cap="none" strike="noStrike">
              <a:solidFill>
                <a:schemeClr val="dk1"/>
              </a:solidFill>
              <a:latin typeface="Calibri"/>
              <a:ea typeface="Calibri"/>
              <a:cs typeface="Calibri"/>
              <a:sym typeface="Calibri"/>
            </a:endParaRPr>
          </a:p>
        </p:txBody>
      </p:sp>
      <p:sp>
        <p:nvSpPr>
          <p:cNvPr id="238" name="Google Shape;238;p9"/>
          <p:cNvSpPr/>
          <p:nvPr/>
        </p:nvSpPr>
        <p:spPr>
          <a:xfrm>
            <a:off x="3500438" y="3355023"/>
            <a:ext cx="1605558"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ZTS. Short-lived bootstrap</a:t>
            </a:r>
            <a:endParaRPr b="0" i="0" sz="942" u="none" cap="none" strike="noStrike">
              <a:solidFill>
                <a:schemeClr val="dk1"/>
              </a:solidFill>
              <a:latin typeface="Calibri"/>
              <a:ea typeface="Calibri"/>
              <a:cs typeface="Calibri"/>
              <a:sym typeface="Calibri"/>
            </a:endParaRPr>
          </a:p>
        </p:txBody>
      </p:sp>
      <p:sp>
        <p:nvSpPr>
          <p:cNvPr id="239" name="Google Shape;239;p9"/>
          <p:cNvSpPr/>
          <p:nvPr/>
        </p:nvSpPr>
        <p:spPr>
          <a:xfrm>
            <a:off x="3500438" y="3560741"/>
            <a:ext cx="1082278"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certificate issued.</a:t>
            </a:r>
            <a:endParaRPr b="0" i="0" sz="942" u="none" cap="none" strike="noStrike">
              <a:solidFill>
                <a:schemeClr val="dk1"/>
              </a:solidFill>
              <a:latin typeface="Calibri"/>
              <a:ea typeface="Calibri"/>
              <a:cs typeface="Calibri"/>
              <a:sym typeface="Calibri"/>
            </a:endParaRPr>
          </a:p>
        </p:txBody>
      </p:sp>
      <p:sp>
        <p:nvSpPr>
          <p:cNvPr id="240" name="Google Shape;240;p9"/>
          <p:cNvSpPr/>
          <p:nvPr/>
        </p:nvSpPr>
        <p:spPr>
          <a:xfrm>
            <a:off x="3500438" y="3827180"/>
            <a:ext cx="2143125" cy="662890"/>
          </a:xfrm>
          <a:prstGeom prst="rect">
            <a:avLst/>
          </a:prstGeom>
          <a:solidFill>
            <a:srgbClr val="00000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3500438" y="3827180"/>
            <a:ext cx="14288" cy="66289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3500438" y="3827180"/>
            <a:ext cx="2143125" cy="662890"/>
          </a:xfrm>
          <a:prstGeom prst="rect">
            <a:avLst/>
          </a:prstGeom>
          <a:noFill/>
          <a:ln>
            <a:noFill/>
          </a:ln>
        </p:spPr>
        <p:txBody>
          <a:bodyPr anchorCtr="0" anchor="t" bIns="68050" lIns="68050" spcFirstLastPara="1" rIns="68050" wrap="square" tIns="68050">
            <a:noAutofit/>
          </a:bodyPr>
          <a:lstStyle/>
          <a:p>
            <a:pPr indent="0" lvl="0" marL="0" marR="0" rtl="0" algn="l">
              <a:lnSpc>
                <a:spcPct val="167865"/>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Agent establishes mTLS connection to Supervisor Proxy</a:t>
            </a:r>
            <a:endParaRPr b="0" i="0" sz="834" u="none" cap="none" strike="noStrike">
              <a:solidFill>
                <a:schemeClr val="dk1"/>
              </a:solidFill>
              <a:latin typeface="Calibri"/>
              <a:ea typeface="Calibri"/>
              <a:cs typeface="Calibri"/>
              <a:sym typeface="Calibri"/>
            </a:endParaRPr>
          </a:p>
        </p:txBody>
      </p:sp>
      <p:sp>
        <p:nvSpPr>
          <p:cNvPr id="243" name="Google Shape;243;p9"/>
          <p:cNvSpPr/>
          <p:nvPr/>
        </p:nvSpPr>
        <p:spPr>
          <a:xfrm>
            <a:off x="5829300" y="2388496"/>
            <a:ext cx="285750" cy="258961"/>
          </a:xfrm>
          <a:prstGeom prst="rect">
            <a:avLst/>
          </a:prstGeom>
          <a:noFill/>
          <a:ln>
            <a:noFill/>
          </a:ln>
        </p:spPr>
        <p:txBody>
          <a:bodyPr anchorCtr="0" anchor="ctr" bIns="0" lIns="0" spcFirstLastPara="1" rIns="0" wrap="square" tIns="0">
            <a:noAutofit/>
          </a:bodyPr>
          <a:lstStyle/>
          <a:p>
            <a:pPr indent="0" lvl="0" marL="0" marR="0" rtl="0" algn="ctr">
              <a:lnSpc>
                <a:spcPct val="125391"/>
              </a:lnSpc>
              <a:spcBef>
                <a:spcPts val="0"/>
              </a:spcBef>
              <a:spcAft>
                <a:spcPts val="0"/>
              </a:spcAft>
              <a:buClr>
                <a:srgbClr val="00E5FF"/>
              </a:buClr>
              <a:buSzPts val="1595"/>
              <a:buFont typeface="Inter"/>
              <a:buNone/>
            </a:pPr>
            <a:r>
              <a:rPr b="0" i="0" lang="en-US" sz="1595" u="none" cap="none" strike="noStrike">
                <a:solidFill>
                  <a:srgbClr val="00E5FF"/>
                </a:solidFill>
                <a:latin typeface="Inter"/>
                <a:ea typeface="Inter"/>
                <a:cs typeface="Inter"/>
                <a:sym typeface="Inter"/>
              </a:rPr>
              <a:t>▶</a:t>
            </a:r>
            <a:endParaRPr b="0" i="0" sz="1595" u="none" cap="none" strike="noStrike">
              <a:solidFill>
                <a:schemeClr val="dk1"/>
              </a:solidFill>
              <a:latin typeface="Calibri"/>
              <a:ea typeface="Calibri"/>
              <a:cs typeface="Calibri"/>
              <a:sym typeface="Calibri"/>
            </a:endParaRPr>
          </a:p>
        </p:txBody>
      </p:sp>
      <p:sp>
        <p:nvSpPr>
          <p:cNvPr id="244" name="Google Shape;244;p9"/>
          <p:cNvSpPr/>
          <p:nvPr/>
        </p:nvSpPr>
        <p:spPr>
          <a:xfrm>
            <a:off x="6172200" y="2388496"/>
            <a:ext cx="2400300" cy="2061586"/>
          </a:xfrm>
          <a:prstGeom prst="rect">
            <a:avLst/>
          </a:prstGeom>
          <a:solidFill>
            <a:srgbClr val="00E676">
              <a:alpha val="5098"/>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6300788" y="2517084"/>
            <a:ext cx="2143125"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676"/>
              </a:buClr>
              <a:buSzPts val="834"/>
              <a:buFont typeface="Roboto Mono"/>
              <a:buNone/>
            </a:pPr>
            <a:r>
              <a:rPr b="0" i="0" lang="en-US" sz="834" u="none" cap="none" strike="noStrike">
                <a:solidFill>
                  <a:srgbClr val="00E676"/>
                </a:solidFill>
                <a:latin typeface="Roboto Mono"/>
                <a:ea typeface="Roboto Mono"/>
                <a:cs typeface="Roboto Mono"/>
                <a:sym typeface="Roboto Mono"/>
              </a:rPr>
              <a:t>PHASE 3</a:t>
            </a:r>
            <a:endParaRPr b="0" i="0" sz="834" u="none" cap="none" strike="noStrike">
              <a:solidFill>
                <a:schemeClr val="dk1"/>
              </a:solidFill>
              <a:latin typeface="Calibri"/>
              <a:ea typeface="Calibri"/>
              <a:cs typeface="Calibri"/>
              <a:sym typeface="Calibri"/>
            </a:endParaRPr>
          </a:p>
        </p:txBody>
      </p:sp>
      <p:sp>
        <p:nvSpPr>
          <p:cNvPr id="246" name="Google Shape;246;p9"/>
          <p:cNvSpPr/>
          <p:nvPr/>
        </p:nvSpPr>
        <p:spPr>
          <a:xfrm>
            <a:off x="6300788" y="2738540"/>
            <a:ext cx="2143125"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Steady State</a:t>
            </a:r>
            <a:endParaRPr b="0" i="0" sz="1193" u="none" cap="none" strike="noStrike">
              <a:solidFill>
                <a:schemeClr val="dk1"/>
              </a:solidFill>
              <a:latin typeface="Calibri"/>
              <a:ea typeface="Calibri"/>
              <a:cs typeface="Calibri"/>
              <a:sym typeface="Calibri"/>
            </a:endParaRPr>
          </a:p>
        </p:txBody>
      </p:sp>
      <p:sp>
        <p:nvSpPr>
          <p:cNvPr id="247" name="Google Shape;247;p9"/>
          <p:cNvSpPr/>
          <p:nvPr/>
        </p:nvSpPr>
        <p:spPr>
          <a:xfrm>
            <a:off x="6300788" y="3149305"/>
            <a:ext cx="1969889"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All subsequent renewals use the</a:t>
            </a:r>
            <a:endParaRPr b="0" i="0" sz="942" u="none" cap="none" strike="noStrike">
              <a:solidFill>
                <a:schemeClr val="dk1"/>
              </a:solidFill>
              <a:latin typeface="Calibri"/>
              <a:ea typeface="Calibri"/>
              <a:cs typeface="Calibri"/>
              <a:sym typeface="Calibri"/>
            </a:endParaRPr>
          </a:p>
        </p:txBody>
      </p:sp>
      <p:sp>
        <p:nvSpPr>
          <p:cNvPr id="248" name="Google Shape;248;p9"/>
          <p:cNvSpPr/>
          <p:nvPr/>
        </p:nvSpPr>
        <p:spPr>
          <a:xfrm>
            <a:off x="6300788" y="3355023"/>
            <a:ext cx="1814513"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existing certificate as proof of</a:t>
            </a:r>
            <a:endParaRPr b="0" i="0" sz="942" u="none" cap="none" strike="noStrike">
              <a:solidFill>
                <a:schemeClr val="dk1"/>
              </a:solidFill>
              <a:latin typeface="Calibri"/>
              <a:ea typeface="Calibri"/>
              <a:cs typeface="Calibri"/>
              <a:sym typeface="Calibri"/>
            </a:endParaRPr>
          </a:p>
        </p:txBody>
      </p:sp>
      <p:sp>
        <p:nvSpPr>
          <p:cNvPr id="249" name="Google Shape;249;p9"/>
          <p:cNvSpPr/>
          <p:nvPr/>
        </p:nvSpPr>
        <p:spPr>
          <a:xfrm>
            <a:off x="6300788" y="3560741"/>
            <a:ext cx="482203" cy="155377"/>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identity.</a:t>
            </a:r>
            <a:endParaRPr b="0" i="0" sz="942" u="none" cap="none" strike="noStrike">
              <a:solidFill>
                <a:schemeClr val="dk1"/>
              </a:solidFill>
              <a:latin typeface="Calibri"/>
              <a:ea typeface="Calibri"/>
              <a:cs typeface="Calibri"/>
              <a:sym typeface="Calibri"/>
            </a:endParaRPr>
          </a:p>
        </p:txBody>
      </p:sp>
      <p:sp>
        <p:nvSpPr>
          <p:cNvPr id="250" name="Google Shape;250;p9"/>
          <p:cNvSpPr/>
          <p:nvPr/>
        </p:nvSpPr>
        <p:spPr>
          <a:xfrm>
            <a:off x="6300788" y="3827180"/>
            <a:ext cx="2143125" cy="480027"/>
          </a:xfrm>
          <a:prstGeom prst="rect">
            <a:avLst/>
          </a:prstGeom>
          <a:solidFill>
            <a:srgbClr val="00000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6300788" y="3827180"/>
            <a:ext cx="14288" cy="480027"/>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6300788" y="3827180"/>
            <a:ext cx="2143125" cy="480027"/>
          </a:xfrm>
          <a:prstGeom prst="rect">
            <a:avLst/>
          </a:prstGeom>
          <a:noFill/>
          <a:ln>
            <a:noFill/>
          </a:ln>
        </p:spPr>
        <p:txBody>
          <a:bodyPr anchorCtr="0" anchor="t" bIns="68050" lIns="68050" spcFirstLastPara="1" rIns="68050" wrap="square" tIns="68050">
            <a:noAutofit/>
          </a:bodyPr>
          <a:lstStyle/>
          <a:p>
            <a:pPr indent="0" lvl="0" marL="0" marR="0" rtl="0" algn="l">
              <a:lnSpc>
                <a:spcPct val="167865"/>
              </a:lnSpc>
              <a:spcBef>
                <a:spcPts val="0"/>
              </a:spcBef>
              <a:spcAft>
                <a:spcPts val="0"/>
              </a:spcAft>
              <a:buClr>
                <a:srgbClr val="00E676"/>
              </a:buClr>
              <a:buSzPts val="834"/>
              <a:buFont typeface="Roboto Mono"/>
              <a:buNone/>
            </a:pPr>
            <a:r>
              <a:rPr b="0" i="0" lang="en-US" sz="834" u="none" cap="none" strike="noStrike">
                <a:solidFill>
                  <a:srgbClr val="00E676"/>
                </a:solidFill>
                <a:latin typeface="Roboto Mono"/>
                <a:ea typeface="Roboto Mono"/>
                <a:cs typeface="Roboto Mono"/>
                <a:sym typeface="Roboto Mono"/>
              </a:rPr>
              <a:t>System becomes self-sustaining</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preencoded.png" id="258" name="Google Shape;258;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9" name="Google Shape;259;p10"/>
          <p:cNvSpPr/>
          <p:nvPr/>
        </p:nvSpPr>
        <p:spPr>
          <a:xfrm>
            <a:off x="571500" y="357188"/>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LIFECYCLE STRATEGY</a:t>
            </a:r>
            <a:endParaRPr b="0" i="0" sz="834" u="none" cap="none" strike="noStrike">
              <a:solidFill>
                <a:schemeClr val="dk1"/>
              </a:solidFill>
              <a:latin typeface="Calibri"/>
              <a:ea typeface="Calibri"/>
              <a:cs typeface="Calibri"/>
              <a:sym typeface="Calibri"/>
            </a:endParaRPr>
          </a:p>
        </p:txBody>
      </p:sp>
      <p:sp>
        <p:nvSpPr>
          <p:cNvPr id="260" name="Google Shape;260;p10"/>
          <p:cNvSpPr/>
          <p:nvPr/>
        </p:nvSpPr>
        <p:spPr>
          <a:xfrm>
            <a:off x="571500" y="578644"/>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Certificate Types &amp; Lifetimes</a:t>
            </a:r>
            <a:endParaRPr b="0" i="0" sz="2121" u="none" cap="none" strike="noStrike">
              <a:solidFill>
                <a:schemeClr val="dk1"/>
              </a:solidFill>
              <a:latin typeface="Calibri"/>
              <a:ea typeface="Calibri"/>
              <a:cs typeface="Calibri"/>
              <a:sym typeface="Calibri"/>
            </a:endParaRPr>
          </a:p>
        </p:txBody>
      </p:sp>
      <p:sp>
        <p:nvSpPr>
          <p:cNvPr id="261" name="Google Shape;261;p10"/>
          <p:cNvSpPr/>
          <p:nvPr/>
        </p:nvSpPr>
        <p:spPr>
          <a:xfrm>
            <a:off x="571500" y="1152990"/>
            <a:ext cx="8001000" cy="3782616"/>
          </a:xfrm>
          <a:prstGeom prst="rect">
            <a:avLst/>
          </a:prstGeom>
          <a:solidFill>
            <a:srgbClr val="0D1B2A">
              <a:alpha val="80000"/>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571500" y="1152990"/>
            <a:ext cx="1684279" cy="328613"/>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571500" y="1467315"/>
            <a:ext cx="1684279"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571500" y="1152990"/>
            <a:ext cx="1684279" cy="328613"/>
          </a:xfrm>
          <a:prstGeom prst="rect">
            <a:avLst/>
          </a:prstGeom>
          <a:noFill/>
          <a:ln>
            <a:noFill/>
          </a:ln>
        </p:spPr>
        <p:txBody>
          <a:bodyPr anchorCtr="0" anchor="ctr" bIns="102100" lIns="127500" spcFirstLastPara="1" rIns="127500" wrap="square" tIns="102100">
            <a:noAutofit/>
          </a:bodyPr>
          <a:lstStyle/>
          <a:p>
            <a:pPr indent="0" lvl="0" marL="0" marR="0" rtl="0" algn="l">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CERTIFICATE TYPE</a:t>
            </a:r>
            <a:endParaRPr b="0" i="0" sz="784" u="none" cap="none" strike="noStrike">
              <a:solidFill>
                <a:schemeClr val="dk1"/>
              </a:solidFill>
              <a:latin typeface="Calibri"/>
              <a:ea typeface="Calibri"/>
              <a:cs typeface="Calibri"/>
              <a:sym typeface="Calibri"/>
            </a:endParaRPr>
          </a:p>
        </p:txBody>
      </p:sp>
      <p:sp>
        <p:nvSpPr>
          <p:cNvPr id="265" name="Google Shape;265;p10"/>
          <p:cNvSpPr/>
          <p:nvPr/>
        </p:nvSpPr>
        <p:spPr>
          <a:xfrm>
            <a:off x="2255779" y="1152990"/>
            <a:ext cx="1060400" cy="328613"/>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2255779" y="1467315"/>
            <a:ext cx="10604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2255779" y="1152990"/>
            <a:ext cx="1060400" cy="328613"/>
          </a:xfrm>
          <a:prstGeom prst="rect">
            <a:avLst/>
          </a:prstGeom>
          <a:noFill/>
          <a:ln>
            <a:noFill/>
          </a:ln>
        </p:spPr>
        <p:txBody>
          <a:bodyPr anchorCtr="0" anchor="ctr" bIns="102100" lIns="127500" spcFirstLastPara="1" rIns="127500" wrap="square" tIns="102100">
            <a:noAutofit/>
          </a:bodyPr>
          <a:lstStyle/>
          <a:p>
            <a:pPr indent="0" lvl="0" marL="0" marR="0" rtl="0" algn="l">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LIFETIME</a:t>
            </a:r>
            <a:endParaRPr b="0" i="0" sz="784" u="none" cap="none" strike="noStrike">
              <a:solidFill>
                <a:schemeClr val="dk1"/>
              </a:solidFill>
              <a:latin typeface="Calibri"/>
              <a:ea typeface="Calibri"/>
              <a:cs typeface="Calibri"/>
              <a:sym typeface="Calibri"/>
            </a:endParaRPr>
          </a:p>
        </p:txBody>
      </p:sp>
      <p:sp>
        <p:nvSpPr>
          <p:cNvPr id="268" name="Google Shape;268;p10"/>
          <p:cNvSpPr/>
          <p:nvPr/>
        </p:nvSpPr>
        <p:spPr>
          <a:xfrm>
            <a:off x="3316179" y="1152990"/>
            <a:ext cx="1663712" cy="328613"/>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3316179" y="1467315"/>
            <a:ext cx="1663712"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3316179" y="1152990"/>
            <a:ext cx="1663712" cy="328613"/>
          </a:xfrm>
          <a:prstGeom prst="rect">
            <a:avLst/>
          </a:prstGeom>
          <a:noFill/>
          <a:ln>
            <a:noFill/>
          </a:ln>
        </p:spPr>
        <p:txBody>
          <a:bodyPr anchorCtr="0" anchor="ctr" bIns="102100" lIns="127500" spcFirstLastPara="1" rIns="127500" wrap="square" tIns="102100">
            <a:noAutofit/>
          </a:bodyPr>
          <a:lstStyle/>
          <a:p>
            <a:pPr indent="0" lvl="0" marL="0" marR="0" rtl="0" algn="l">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ROTATION TRIGGER</a:t>
            </a:r>
            <a:endParaRPr b="0" i="0" sz="784" u="none" cap="none" strike="noStrike">
              <a:solidFill>
                <a:schemeClr val="dk1"/>
              </a:solidFill>
              <a:latin typeface="Calibri"/>
              <a:ea typeface="Calibri"/>
              <a:cs typeface="Calibri"/>
              <a:sym typeface="Calibri"/>
            </a:endParaRPr>
          </a:p>
        </p:txBody>
      </p:sp>
      <p:sp>
        <p:nvSpPr>
          <p:cNvPr id="271" name="Google Shape;271;p10"/>
          <p:cNvSpPr/>
          <p:nvPr/>
        </p:nvSpPr>
        <p:spPr>
          <a:xfrm>
            <a:off x="4979891" y="1152990"/>
            <a:ext cx="1142665" cy="328613"/>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4979891" y="1467315"/>
            <a:ext cx="1142665"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4979891" y="1152990"/>
            <a:ext cx="1142665" cy="328613"/>
          </a:xfrm>
          <a:prstGeom prst="rect">
            <a:avLst/>
          </a:prstGeom>
          <a:noFill/>
          <a:ln>
            <a:noFill/>
          </a:ln>
        </p:spPr>
        <p:txBody>
          <a:bodyPr anchorCtr="0" anchor="ctr" bIns="102100" lIns="127500" spcFirstLastPara="1" rIns="127500" wrap="square" tIns="102100">
            <a:noAutofit/>
          </a:bodyPr>
          <a:lstStyle/>
          <a:p>
            <a:pPr indent="0" lvl="0" marL="0" marR="0" rtl="0" algn="l">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MANAGED BY</a:t>
            </a:r>
            <a:endParaRPr b="0" i="0" sz="784" u="none" cap="none" strike="noStrike">
              <a:solidFill>
                <a:schemeClr val="dk1"/>
              </a:solidFill>
              <a:latin typeface="Calibri"/>
              <a:ea typeface="Calibri"/>
              <a:cs typeface="Calibri"/>
              <a:sym typeface="Calibri"/>
            </a:endParaRPr>
          </a:p>
        </p:txBody>
      </p:sp>
      <p:sp>
        <p:nvSpPr>
          <p:cNvPr id="274" name="Google Shape;274;p10"/>
          <p:cNvSpPr/>
          <p:nvPr/>
        </p:nvSpPr>
        <p:spPr>
          <a:xfrm>
            <a:off x="6122557" y="1152990"/>
            <a:ext cx="2449943" cy="328613"/>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6122557" y="1467315"/>
            <a:ext cx="244994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6122557" y="1152990"/>
            <a:ext cx="2449943" cy="328613"/>
          </a:xfrm>
          <a:prstGeom prst="rect">
            <a:avLst/>
          </a:prstGeom>
          <a:noFill/>
          <a:ln>
            <a:noFill/>
          </a:ln>
        </p:spPr>
        <p:txBody>
          <a:bodyPr anchorCtr="0" anchor="ctr" bIns="102100" lIns="127500" spcFirstLastPara="1" rIns="127500" wrap="square" tIns="102100">
            <a:noAutofit/>
          </a:bodyPr>
          <a:lstStyle/>
          <a:p>
            <a:pPr indent="0" lvl="0" marL="0" marR="0" rtl="0" algn="l">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PRIMARY USE CASE</a:t>
            </a:r>
            <a:endParaRPr b="0" i="0" sz="784" u="none" cap="none" strike="noStrike">
              <a:solidFill>
                <a:schemeClr val="dk1"/>
              </a:solidFill>
              <a:latin typeface="Calibri"/>
              <a:ea typeface="Calibri"/>
              <a:cs typeface="Calibri"/>
              <a:sym typeface="Calibri"/>
            </a:endParaRPr>
          </a:p>
        </p:txBody>
      </p:sp>
      <p:sp>
        <p:nvSpPr>
          <p:cNvPr id="277" name="Google Shape;277;p10"/>
          <p:cNvSpPr/>
          <p:nvPr/>
        </p:nvSpPr>
        <p:spPr>
          <a:xfrm>
            <a:off x="571500" y="1474459"/>
            <a:ext cx="1684279" cy="378619"/>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Workload Identity</a:t>
            </a:r>
            <a:endParaRPr b="0" i="0" sz="885" u="none" cap="none" strike="noStrike">
              <a:solidFill>
                <a:schemeClr val="dk1"/>
              </a:solidFill>
              <a:latin typeface="Calibri"/>
              <a:ea typeface="Calibri"/>
              <a:cs typeface="Calibri"/>
              <a:sym typeface="Calibri"/>
            </a:endParaRPr>
          </a:p>
        </p:txBody>
      </p:sp>
      <p:sp>
        <p:nvSpPr>
          <p:cNvPr id="278" name="Google Shape;278;p10"/>
          <p:cNvSpPr/>
          <p:nvPr/>
        </p:nvSpPr>
        <p:spPr>
          <a:xfrm>
            <a:off x="2255779" y="1474459"/>
            <a:ext cx="1060400" cy="378619"/>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24 Hours</a:t>
            </a:r>
            <a:endParaRPr b="0" i="0" sz="942" u="none" cap="none" strike="noStrike">
              <a:solidFill>
                <a:schemeClr val="dk1"/>
              </a:solidFill>
              <a:latin typeface="Calibri"/>
              <a:ea typeface="Calibri"/>
              <a:cs typeface="Calibri"/>
              <a:sym typeface="Calibri"/>
            </a:endParaRPr>
          </a:p>
        </p:txBody>
      </p:sp>
      <p:sp>
        <p:nvSpPr>
          <p:cNvPr id="279" name="Google Shape;279;p10"/>
          <p:cNvSpPr/>
          <p:nvPr/>
        </p:nvSpPr>
        <p:spPr>
          <a:xfrm>
            <a:off x="3316179" y="1474459"/>
            <a:ext cx="1663712" cy="378619"/>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12h (50%)</a:t>
            </a:r>
            <a:endParaRPr b="0" i="0" sz="942" u="none" cap="none" strike="noStrike">
              <a:solidFill>
                <a:schemeClr val="dk1"/>
              </a:solidFill>
              <a:latin typeface="Calibri"/>
              <a:ea typeface="Calibri"/>
              <a:cs typeface="Calibri"/>
              <a:sym typeface="Calibri"/>
            </a:endParaRPr>
          </a:p>
        </p:txBody>
      </p:sp>
      <p:sp>
        <p:nvSpPr>
          <p:cNvPr id="280" name="Google Shape;280;p10"/>
          <p:cNvSpPr/>
          <p:nvPr/>
        </p:nvSpPr>
        <p:spPr>
          <a:xfrm>
            <a:off x="5087048" y="1560184"/>
            <a:ext cx="492919" cy="203597"/>
          </a:xfrm>
          <a:prstGeom prst="rect">
            <a:avLst/>
          </a:prstGeom>
          <a:solidFill>
            <a:srgbClr val="00E5FF">
              <a:alpha val="10196"/>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5087048" y="1560184"/>
            <a:ext cx="492919"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00E5FF"/>
              </a:buClr>
              <a:buSzPts val="683"/>
              <a:buFont typeface="Roboto Mono"/>
              <a:buNone/>
            </a:pPr>
            <a:r>
              <a:rPr b="1" i="0" lang="en-US" sz="683" u="none" cap="none" strike="noStrike">
                <a:solidFill>
                  <a:srgbClr val="00E5FF"/>
                </a:solidFill>
                <a:latin typeface="Roboto Mono"/>
                <a:ea typeface="Roboto Mono"/>
                <a:cs typeface="Roboto Mono"/>
                <a:sym typeface="Roboto Mono"/>
              </a:rPr>
              <a:t>ATHENZ</a:t>
            </a:r>
            <a:endParaRPr b="0" i="0" sz="683" u="none" cap="none" strike="noStrike">
              <a:solidFill>
                <a:schemeClr val="dk1"/>
              </a:solidFill>
              <a:latin typeface="Calibri"/>
              <a:ea typeface="Calibri"/>
              <a:cs typeface="Calibri"/>
              <a:sym typeface="Calibri"/>
            </a:endParaRPr>
          </a:p>
        </p:txBody>
      </p:sp>
      <p:sp>
        <p:nvSpPr>
          <p:cNvPr id="282" name="Google Shape;282;p10"/>
          <p:cNvSpPr/>
          <p:nvPr/>
        </p:nvSpPr>
        <p:spPr>
          <a:xfrm>
            <a:off x="6122557" y="1474459"/>
            <a:ext cx="2449943" cy="36433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Service-to-Service mTLS</a:t>
            </a:r>
            <a:endParaRPr b="0" i="0" sz="942" u="none" cap="none" strike="noStrike">
              <a:solidFill>
                <a:schemeClr val="dk1"/>
              </a:solidFill>
              <a:latin typeface="Calibri"/>
              <a:ea typeface="Calibri"/>
              <a:cs typeface="Calibri"/>
              <a:sym typeface="Calibri"/>
            </a:endParaRPr>
          </a:p>
        </p:txBody>
      </p:sp>
      <p:sp>
        <p:nvSpPr>
          <p:cNvPr id="283" name="Google Shape;283;p10"/>
          <p:cNvSpPr/>
          <p:nvPr/>
        </p:nvSpPr>
        <p:spPr>
          <a:xfrm>
            <a:off x="571500" y="1838790"/>
            <a:ext cx="8001000" cy="382191"/>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571500" y="1838790"/>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SSH User</a:t>
            </a:r>
            <a:endParaRPr b="0" i="0" sz="885" u="none" cap="none" strike="noStrike">
              <a:solidFill>
                <a:schemeClr val="dk1"/>
              </a:solidFill>
              <a:latin typeface="Calibri"/>
              <a:ea typeface="Calibri"/>
              <a:cs typeface="Calibri"/>
              <a:sym typeface="Calibri"/>
            </a:endParaRPr>
          </a:p>
        </p:txBody>
      </p:sp>
      <p:sp>
        <p:nvSpPr>
          <p:cNvPr id="285" name="Google Shape;285;p10"/>
          <p:cNvSpPr/>
          <p:nvPr/>
        </p:nvSpPr>
        <p:spPr>
          <a:xfrm>
            <a:off x="2255779" y="1838790"/>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1 Hour</a:t>
            </a:r>
            <a:endParaRPr b="0" i="0" sz="942" u="none" cap="none" strike="noStrike">
              <a:solidFill>
                <a:schemeClr val="dk1"/>
              </a:solidFill>
              <a:latin typeface="Calibri"/>
              <a:ea typeface="Calibri"/>
              <a:cs typeface="Calibri"/>
              <a:sym typeface="Calibri"/>
            </a:endParaRPr>
          </a:p>
        </p:txBody>
      </p:sp>
      <p:sp>
        <p:nvSpPr>
          <p:cNvPr id="286" name="Google Shape;286;p10"/>
          <p:cNvSpPr/>
          <p:nvPr/>
        </p:nvSpPr>
        <p:spPr>
          <a:xfrm>
            <a:off x="3316179" y="1838790"/>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Session End</a:t>
            </a:r>
            <a:endParaRPr b="0" i="0" sz="942" u="none" cap="none" strike="noStrike">
              <a:solidFill>
                <a:schemeClr val="dk1"/>
              </a:solidFill>
              <a:latin typeface="Calibri"/>
              <a:ea typeface="Calibri"/>
              <a:cs typeface="Calibri"/>
              <a:sym typeface="Calibri"/>
            </a:endParaRPr>
          </a:p>
        </p:txBody>
      </p:sp>
      <p:sp>
        <p:nvSpPr>
          <p:cNvPr id="287" name="Google Shape;287;p10"/>
          <p:cNvSpPr/>
          <p:nvPr/>
        </p:nvSpPr>
        <p:spPr>
          <a:xfrm>
            <a:off x="5087048" y="1928087"/>
            <a:ext cx="492919" cy="203597"/>
          </a:xfrm>
          <a:prstGeom prst="rect">
            <a:avLst/>
          </a:prstGeom>
          <a:solidFill>
            <a:srgbClr val="00E5FF">
              <a:alpha val="10196"/>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5087048" y="1928087"/>
            <a:ext cx="492919"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00E5FF"/>
              </a:buClr>
              <a:buSzPts val="683"/>
              <a:buFont typeface="Roboto Mono"/>
              <a:buNone/>
            </a:pPr>
            <a:r>
              <a:rPr b="1" i="0" lang="en-US" sz="683" u="none" cap="none" strike="noStrike">
                <a:solidFill>
                  <a:srgbClr val="00E5FF"/>
                </a:solidFill>
                <a:latin typeface="Roboto Mono"/>
                <a:ea typeface="Roboto Mono"/>
                <a:cs typeface="Roboto Mono"/>
                <a:sym typeface="Roboto Mono"/>
              </a:rPr>
              <a:t>ATHENZ</a:t>
            </a:r>
            <a:endParaRPr b="0" i="0" sz="683" u="none" cap="none" strike="noStrike">
              <a:solidFill>
                <a:schemeClr val="dk1"/>
              </a:solidFill>
              <a:latin typeface="Calibri"/>
              <a:ea typeface="Calibri"/>
              <a:cs typeface="Calibri"/>
              <a:sym typeface="Calibri"/>
            </a:endParaRPr>
          </a:p>
        </p:txBody>
      </p:sp>
      <p:sp>
        <p:nvSpPr>
          <p:cNvPr id="289" name="Google Shape;289;p10"/>
          <p:cNvSpPr/>
          <p:nvPr/>
        </p:nvSpPr>
        <p:spPr>
          <a:xfrm>
            <a:off x="6122557" y="1838790"/>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Ephemeral Engineer Access</a:t>
            </a:r>
            <a:endParaRPr b="0" i="0" sz="942" u="none" cap="none" strike="noStrike">
              <a:solidFill>
                <a:schemeClr val="dk1"/>
              </a:solidFill>
              <a:latin typeface="Calibri"/>
              <a:ea typeface="Calibri"/>
              <a:cs typeface="Calibri"/>
              <a:sym typeface="Calibri"/>
            </a:endParaRPr>
          </a:p>
        </p:txBody>
      </p:sp>
      <p:sp>
        <p:nvSpPr>
          <p:cNvPr id="290" name="Google Shape;290;p10"/>
          <p:cNvSpPr/>
          <p:nvPr/>
        </p:nvSpPr>
        <p:spPr>
          <a:xfrm>
            <a:off x="571500" y="2206693"/>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SSH Host</a:t>
            </a:r>
            <a:endParaRPr b="0" i="0" sz="885" u="none" cap="none" strike="noStrike">
              <a:solidFill>
                <a:schemeClr val="dk1"/>
              </a:solidFill>
              <a:latin typeface="Calibri"/>
              <a:ea typeface="Calibri"/>
              <a:cs typeface="Calibri"/>
              <a:sym typeface="Calibri"/>
            </a:endParaRPr>
          </a:p>
        </p:txBody>
      </p:sp>
      <p:sp>
        <p:nvSpPr>
          <p:cNvPr id="291" name="Google Shape;291;p10"/>
          <p:cNvSpPr/>
          <p:nvPr/>
        </p:nvSpPr>
        <p:spPr>
          <a:xfrm>
            <a:off x="2255779" y="2206693"/>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24 Hours</a:t>
            </a:r>
            <a:endParaRPr b="0" i="0" sz="942" u="none" cap="none" strike="noStrike">
              <a:solidFill>
                <a:schemeClr val="dk1"/>
              </a:solidFill>
              <a:latin typeface="Calibri"/>
              <a:ea typeface="Calibri"/>
              <a:cs typeface="Calibri"/>
              <a:sym typeface="Calibri"/>
            </a:endParaRPr>
          </a:p>
        </p:txBody>
      </p:sp>
      <p:sp>
        <p:nvSpPr>
          <p:cNvPr id="292" name="Google Shape;292;p10"/>
          <p:cNvSpPr/>
          <p:nvPr/>
        </p:nvSpPr>
        <p:spPr>
          <a:xfrm>
            <a:off x="3316179" y="2206693"/>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12h (50%)</a:t>
            </a:r>
            <a:endParaRPr b="0" i="0" sz="942" u="none" cap="none" strike="noStrike">
              <a:solidFill>
                <a:schemeClr val="dk1"/>
              </a:solidFill>
              <a:latin typeface="Calibri"/>
              <a:ea typeface="Calibri"/>
              <a:cs typeface="Calibri"/>
              <a:sym typeface="Calibri"/>
            </a:endParaRPr>
          </a:p>
        </p:txBody>
      </p:sp>
      <p:sp>
        <p:nvSpPr>
          <p:cNvPr id="293" name="Google Shape;293;p10"/>
          <p:cNvSpPr/>
          <p:nvPr/>
        </p:nvSpPr>
        <p:spPr>
          <a:xfrm>
            <a:off x="5087048" y="2295990"/>
            <a:ext cx="492919" cy="203597"/>
          </a:xfrm>
          <a:prstGeom prst="rect">
            <a:avLst/>
          </a:prstGeom>
          <a:solidFill>
            <a:srgbClr val="00E5FF">
              <a:alpha val="10196"/>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5087048" y="2295990"/>
            <a:ext cx="492919"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00E5FF"/>
              </a:buClr>
              <a:buSzPts val="683"/>
              <a:buFont typeface="Roboto Mono"/>
              <a:buNone/>
            </a:pPr>
            <a:r>
              <a:rPr b="1" i="0" lang="en-US" sz="683" u="none" cap="none" strike="noStrike">
                <a:solidFill>
                  <a:srgbClr val="00E5FF"/>
                </a:solidFill>
                <a:latin typeface="Roboto Mono"/>
                <a:ea typeface="Roboto Mono"/>
                <a:cs typeface="Roboto Mono"/>
                <a:sym typeface="Roboto Mono"/>
              </a:rPr>
              <a:t>ATHENZ</a:t>
            </a:r>
            <a:endParaRPr b="0" i="0" sz="683" u="none" cap="none" strike="noStrike">
              <a:solidFill>
                <a:schemeClr val="dk1"/>
              </a:solidFill>
              <a:latin typeface="Calibri"/>
              <a:ea typeface="Calibri"/>
              <a:cs typeface="Calibri"/>
              <a:sym typeface="Calibri"/>
            </a:endParaRPr>
          </a:p>
        </p:txBody>
      </p:sp>
      <p:sp>
        <p:nvSpPr>
          <p:cNvPr id="295" name="Google Shape;295;p10"/>
          <p:cNvSpPr/>
          <p:nvPr/>
        </p:nvSpPr>
        <p:spPr>
          <a:xfrm>
            <a:off x="6122557" y="2206693"/>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Host Identity Verification</a:t>
            </a:r>
            <a:endParaRPr b="0" i="0" sz="942" u="none" cap="none" strike="noStrike">
              <a:solidFill>
                <a:schemeClr val="dk1"/>
              </a:solidFill>
              <a:latin typeface="Calibri"/>
              <a:ea typeface="Calibri"/>
              <a:cs typeface="Calibri"/>
              <a:sym typeface="Calibri"/>
            </a:endParaRPr>
          </a:p>
        </p:txBody>
      </p:sp>
      <p:sp>
        <p:nvSpPr>
          <p:cNvPr id="296" name="Google Shape;296;p10"/>
          <p:cNvSpPr/>
          <p:nvPr/>
        </p:nvSpPr>
        <p:spPr>
          <a:xfrm>
            <a:off x="571500" y="2574596"/>
            <a:ext cx="8001000" cy="382191"/>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571500" y="2574596"/>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Hybrid (PQC)</a:t>
            </a:r>
            <a:endParaRPr b="0" i="0" sz="885" u="none" cap="none" strike="noStrike">
              <a:solidFill>
                <a:schemeClr val="dk1"/>
              </a:solidFill>
              <a:latin typeface="Calibri"/>
              <a:ea typeface="Calibri"/>
              <a:cs typeface="Calibri"/>
              <a:sym typeface="Calibri"/>
            </a:endParaRPr>
          </a:p>
        </p:txBody>
      </p:sp>
      <p:sp>
        <p:nvSpPr>
          <p:cNvPr id="298" name="Google Shape;298;p10"/>
          <p:cNvSpPr/>
          <p:nvPr/>
        </p:nvSpPr>
        <p:spPr>
          <a:xfrm>
            <a:off x="2255779" y="2574596"/>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24 Hours</a:t>
            </a:r>
            <a:endParaRPr b="0" i="0" sz="942" u="none" cap="none" strike="noStrike">
              <a:solidFill>
                <a:schemeClr val="dk1"/>
              </a:solidFill>
              <a:latin typeface="Calibri"/>
              <a:ea typeface="Calibri"/>
              <a:cs typeface="Calibri"/>
              <a:sym typeface="Calibri"/>
            </a:endParaRPr>
          </a:p>
        </p:txBody>
      </p:sp>
      <p:sp>
        <p:nvSpPr>
          <p:cNvPr id="299" name="Google Shape;299;p10"/>
          <p:cNvSpPr/>
          <p:nvPr/>
        </p:nvSpPr>
        <p:spPr>
          <a:xfrm>
            <a:off x="3316179" y="2574596"/>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12h (50%)</a:t>
            </a:r>
            <a:endParaRPr b="0" i="0" sz="942" u="none" cap="none" strike="noStrike">
              <a:solidFill>
                <a:schemeClr val="dk1"/>
              </a:solidFill>
              <a:latin typeface="Calibri"/>
              <a:ea typeface="Calibri"/>
              <a:cs typeface="Calibri"/>
              <a:sym typeface="Calibri"/>
            </a:endParaRPr>
          </a:p>
        </p:txBody>
      </p:sp>
      <p:sp>
        <p:nvSpPr>
          <p:cNvPr id="300" name="Google Shape;300;p10"/>
          <p:cNvSpPr/>
          <p:nvPr/>
        </p:nvSpPr>
        <p:spPr>
          <a:xfrm>
            <a:off x="5087048" y="2663893"/>
            <a:ext cx="492919" cy="203597"/>
          </a:xfrm>
          <a:prstGeom prst="rect">
            <a:avLst/>
          </a:prstGeom>
          <a:solidFill>
            <a:srgbClr val="00E5FF">
              <a:alpha val="10196"/>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5087048" y="2663893"/>
            <a:ext cx="492919"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00E5FF"/>
              </a:buClr>
              <a:buSzPts val="683"/>
              <a:buFont typeface="Roboto Mono"/>
              <a:buNone/>
            </a:pPr>
            <a:r>
              <a:rPr b="1" i="0" lang="en-US" sz="683" u="none" cap="none" strike="noStrike">
                <a:solidFill>
                  <a:srgbClr val="00E5FF"/>
                </a:solidFill>
                <a:latin typeface="Roboto Mono"/>
                <a:ea typeface="Roboto Mono"/>
                <a:cs typeface="Roboto Mono"/>
                <a:sym typeface="Roboto Mono"/>
              </a:rPr>
              <a:t>ATHENZ</a:t>
            </a:r>
            <a:endParaRPr b="0" i="0" sz="683" u="none" cap="none" strike="noStrike">
              <a:solidFill>
                <a:schemeClr val="dk1"/>
              </a:solidFill>
              <a:latin typeface="Calibri"/>
              <a:ea typeface="Calibri"/>
              <a:cs typeface="Calibri"/>
              <a:sym typeface="Calibri"/>
            </a:endParaRPr>
          </a:p>
        </p:txBody>
      </p:sp>
      <p:sp>
        <p:nvSpPr>
          <p:cNvPr id="302" name="Google Shape;302;p10"/>
          <p:cNvSpPr/>
          <p:nvPr/>
        </p:nvSpPr>
        <p:spPr>
          <a:xfrm>
            <a:off x="6122557" y="2574596"/>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Quantum-Safe Transition</a:t>
            </a:r>
            <a:endParaRPr b="0" i="0" sz="942" u="none" cap="none" strike="noStrike">
              <a:solidFill>
                <a:schemeClr val="dk1"/>
              </a:solidFill>
              <a:latin typeface="Calibri"/>
              <a:ea typeface="Calibri"/>
              <a:cs typeface="Calibri"/>
              <a:sym typeface="Calibri"/>
            </a:endParaRPr>
          </a:p>
        </p:txBody>
      </p:sp>
      <p:sp>
        <p:nvSpPr>
          <p:cNvPr id="303" name="Google Shape;303;p10"/>
          <p:cNvSpPr/>
          <p:nvPr/>
        </p:nvSpPr>
        <p:spPr>
          <a:xfrm>
            <a:off x="571500" y="2942499"/>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Device Cert</a:t>
            </a:r>
            <a:endParaRPr b="0" i="0" sz="885" u="none" cap="none" strike="noStrike">
              <a:solidFill>
                <a:schemeClr val="dk1"/>
              </a:solidFill>
              <a:latin typeface="Calibri"/>
              <a:ea typeface="Calibri"/>
              <a:cs typeface="Calibri"/>
              <a:sym typeface="Calibri"/>
            </a:endParaRPr>
          </a:p>
        </p:txBody>
      </p:sp>
      <p:sp>
        <p:nvSpPr>
          <p:cNvPr id="304" name="Google Shape;304;p10"/>
          <p:cNvSpPr/>
          <p:nvPr/>
        </p:nvSpPr>
        <p:spPr>
          <a:xfrm>
            <a:off x="2255779" y="2942499"/>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30 Days</a:t>
            </a:r>
            <a:endParaRPr b="0" i="0" sz="942" u="none" cap="none" strike="noStrike">
              <a:solidFill>
                <a:schemeClr val="dk1"/>
              </a:solidFill>
              <a:latin typeface="Calibri"/>
              <a:ea typeface="Calibri"/>
              <a:cs typeface="Calibri"/>
              <a:sym typeface="Calibri"/>
            </a:endParaRPr>
          </a:p>
        </p:txBody>
      </p:sp>
      <p:sp>
        <p:nvSpPr>
          <p:cNvPr id="305" name="Google Shape;305;p10"/>
          <p:cNvSpPr/>
          <p:nvPr/>
        </p:nvSpPr>
        <p:spPr>
          <a:xfrm>
            <a:off x="3316179" y="2942499"/>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15 Days (50%)</a:t>
            </a:r>
            <a:endParaRPr b="0" i="0" sz="942" u="none" cap="none" strike="noStrike">
              <a:solidFill>
                <a:schemeClr val="dk1"/>
              </a:solidFill>
              <a:latin typeface="Calibri"/>
              <a:ea typeface="Calibri"/>
              <a:cs typeface="Calibri"/>
              <a:sym typeface="Calibri"/>
            </a:endParaRPr>
          </a:p>
        </p:txBody>
      </p:sp>
      <p:sp>
        <p:nvSpPr>
          <p:cNvPr id="306" name="Google Shape;306;p10"/>
          <p:cNvSpPr/>
          <p:nvPr/>
        </p:nvSpPr>
        <p:spPr>
          <a:xfrm>
            <a:off x="5087048" y="3031796"/>
            <a:ext cx="492919" cy="203597"/>
          </a:xfrm>
          <a:prstGeom prst="rect">
            <a:avLst/>
          </a:prstGeom>
          <a:solidFill>
            <a:srgbClr val="00E5FF">
              <a:alpha val="10196"/>
            </a:srgbClr>
          </a:solidFill>
          <a:ln cap="flat" cmpd="sng" w="95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5087048" y="3031796"/>
            <a:ext cx="492919"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00E5FF"/>
              </a:buClr>
              <a:buSzPts val="683"/>
              <a:buFont typeface="Roboto Mono"/>
              <a:buNone/>
            </a:pPr>
            <a:r>
              <a:rPr b="1" i="0" lang="en-US" sz="683" u="none" cap="none" strike="noStrike">
                <a:solidFill>
                  <a:srgbClr val="00E5FF"/>
                </a:solidFill>
                <a:latin typeface="Roboto Mono"/>
                <a:ea typeface="Roboto Mono"/>
                <a:cs typeface="Roboto Mono"/>
                <a:sym typeface="Roboto Mono"/>
              </a:rPr>
              <a:t>ATHENZ</a:t>
            </a:r>
            <a:endParaRPr b="0" i="0" sz="683" u="none" cap="none" strike="noStrike">
              <a:solidFill>
                <a:schemeClr val="dk1"/>
              </a:solidFill>
              <a:latin typeface="Calibri"/>
              <a:ea typeface="Calibri"/>
              <a:cs typeface="Calibri"/>
              <a:sym typeface="Calibri"/>
            </a:endParaRPr>
          </a:p>
        </p:txBody>
      </p:sp>
      <p:sp>
        <p:nvSpPr>
          <p:cNvPr id="308" name="Google Shape;308;p10"/>
          <p:cNvSpPr/>
          <p:nvPr/>
        </p:nvSpPr>
        <p:spPr>
          <a:xfrm>
            <a:off x="6122557" y="2942499"/>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IoT / Mobile Devices</a:t>
            </a:r>
            <a:endParaRPr b="0" i="0" sz="942" u="none" cap="none" strike="noStrike">
              <a:solidFill>
                <a:schemeClr val="dk1"/>
              </a:solidFill>
              <a:latin typeface="Calibri"/>
              <a:ea typeface="Calibri"/>
              <a:cs typeface="Calibri"/>
              <a:sym typeface="Calibri"/>
            </a:endParaRPr>
          </a:p>
        </p:txBody>
      </p:sp>
      <p:sp>
        <p:nvSpPr>
          <p:cNvPr id="309" name="Google Shape;309;p10"/>
          <p:cNvSpPr/>
          <p:nvPr/>
        </p:nvSpPr>
        <p:spPr>
          <a:xfrm>
            <a:off x="571500" y="3310403"/>
            <a:ext cx="8001000" cy="382191"/>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571500" y="3310403"/>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Core Platform</a:t>
            </a:r>
            <a:endParaRPr b="0" i="0" sz="885" u="none" cap="none" strike="noStrike">
              <a:solidFill>
                <a:schemeClr val="dk1"/>
              </a:solidFill>
              <a:latin typeface="Calibri"/>
              <a:ea typeface="Calibri"/>
              <a:cs typeface="Calibri"/>
              <a:sym typeface="Calibri"/>
            </a:endParaRPr>
          </a:p>
        </p:txBody>
      </p:sp>
      <p:sp>
        <p:nvSpPr>
          <p:cNvPr id="311" name="Google Shape;311;p10"/>
          <p:cNvSpPr/>
          <p:nvPr/>
        </p:nvSpPr>
        <p:spPr>
          <a:xfrm>
            <a:off x="2255779" y="3310403"/>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90 Days</a:t>
            </a:r>
            <a:endParaRPr b="0" i="0" sz="942" u="none" cap="none" strike="noStrike">
              <a:solidFill>
                <a:schemeClr val="dk1"/>
              </a:solidFill>
              <a:latin typeface="Calibri"/>
              <a:ea typeface="Calibri"/>
              <a:cs typeface="Calibri"/>
              <a:sym typeface="Calibri"/>
            </a:endParaRPr>
          </a:p>
        </p:txBody>
      </p:sp>
      <p:sp>
        <p:nvSpPr>
          <p:cNvPr id="312" name="Google Shape;312;p10"/>
          <p:cNvSpPr/>
          <p:nvPr/>
        </p:nvSpPr>
        <p:spPr>
          <a:xfrm>
            <a:off x="3316179" y="3310403"/>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Day 45 (50%)</a:t>
            </a:r>
            <a:endParaRPr b="0" i="0" sz="942" u="none" cap="none" strike="noStrike">
              <a:solidFill>
                <a:schemeClr val="dk1"/>
              </a:solidFill>
              <a:latin typeface="Calibri"/>
              <a:ea typeface="Calibri"/>
              <a:cs typeface="Calibri"/>
              <a:sym typeface="Calibri"/>
            </a:endParaRPr>
          </a:p>
        </p:txBody>
      </p:sp>
      <p:sp>
        <p:nvSpPr>
          <p:cNvPr id="313" name="Google Shape;313;p10"/>
          <p:cNvSpPr/>
          <p:nvPr/>
        </p:nvSpPr>
        <p:spPr>
          <a:xfrm>
            <a:off x="5087048" y="3399699"/>
            <a:ext cx="675084" cy="203597"/>
          </a:xfrm>
          <a:prstGeom prst="rect">
            <a:avLst/>
          </a:prstGeom>
          <a:solidFill>
            <a:srgbClr val="00E676">
              <a:alpha val="10196"/>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0"/>
          <p:cNvSpPr/>
          <p:nvPr/>
        </p:nvSpPr>
        <p:spPr>
          <a:xfrm>
            <a:off x="5087048" y="3399699"/>
            <a:ext cx="675084"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00E676"/>
              </a:buClr>
              <a:buSzPts val="683"/>
              <a:buFont typeface="Roboto Mono"/>
              <a:buNone/>
            </a:pPr>
            <a:r>
              <a:rPr b="1" i="0" lang="en-US" sz="683" u="none" cap="none" strike="noStrike">
                <a:solidFill>
                  <a:srgbClr val="00E676"/>
                </a:solidFill>
                <a:latin typeface="Roboto Mono"/>
                <a:ea typeface="Roboto Mono"/>
                <a:cs typeface="Roboto Mono"/>
                <a:sym typeface="Roboto Mono"/>
              </a:rPr>
              <a:t>BOOTSTRAP</a:t>
            </a:r>
            <a:endParaRPr b="0" i="0" sz="683" u="none" cap="none" strike="noStrike">
              <a:solidFill>
                <a:schemeClr val="dk1"/>
              </a:solidFill>
              <a:latin typeface="Calibri"/>
              <a:ea typeface="Calibri"/>
              <a:cs typeface="Calibri"/>
              <a:sym typeface="Calibri"/>
            </a:endParaRPr>
          </a:p>
        </p:txBody>
      </p:sp>
      <p:sp>
        <p:nvSpPr>
          <p:cNvPr id="315" name="Google Shape;315;p10"/>
          <p:cNvSpPr/>
          <p:nvPr/>
        </p:nvSpPr>
        <p:spPr>
          <a:xfrm>
            <a:off x="6122557" y="3310403"/>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OpAMP / Vault / Secrets</a:t>
            </a:r>
            <a:endParaRPr b="0" i="0" sz="942" u="none" cap="none" strike="noStrike">
              <a:solidFill>
                <a:schemeClr val="dk1"/>
              </a:solidFill>
              <a:latin typeface="Calibri"/>
              <a:ea typeface="Calibri"/>
              <a:cs typeface="Calibri"/>
              <a:sym typeface="Calibri"/>
            </a:endParaRPr>
          </a:p>
        </p:txBody>
      </p:sp>
      <p:sp>
        <p:nvSpPr>
          <p:cNvPr id="316" name="Google Shape;316;p10"/>
          <p:cNvSpPr/>
          <p:nvPr/>
        </p:nvSpPr>
        <p:spPr>
          <a:xfrm>
            <a:off x="571500" y="3678306"/>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User mTLS</a:t>
            </a:r>
            <a:endParaRPr b="0" i="0" sz="885" u="none" cap="none" strike="noStrike">
              <a:solidFill>
                <a:schemeClr val="dk1"/>
              </a:solidFill>
              <a:latin typeface="Calibri"/>
              <a:ea typeface="Calibri"/>
              <a:cs typeface="Calibri"/>
              <a:sym typeface="Calibri"/>
            </a:endParaRPr>
          </a:p>
        </p:txBody>
      </p:sp>
      <p:sp>
        <p:nvSpPr>
          <p:cNvPr id="317" name="Google Shape;317;p10"/>
          <p:cNvSpPr/>
          <p:nvPr/>
        </p:nvSpPr>
        <p:spPr>
          <a:xfrm>
            <a:off x="2255779" y="3678306"/>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90 Days</a:t>
            </a:r>
            <a:endParaRPr b="0" i="0" sz="942" u="none" cap="none" strike="noStrike">
              <a:solidFill>
                <a:schemeClr val="dk1"/>
              </a:solidFill>
              <a:latin typeface="Calibri"/>
              <a:ea typeface="Calibri"/>
              <a:cs typeface="Calibri"/>
              <a:sym typeface="Calibri"/>
            </a:endParaRPr>
          </a:p>
        </p:txBody>
      </p:sp>
      <p:sp>
        <p:nvSpPr>
          <p:cNvPr id="318" name="Google Shape;318;p10"/>
          <p:cNvSpPr/>
          <p:nvPr/>
        </p:nvSpPr>
        <p:spPr>
          <a:xfrm>
            <a:off x="3316179" y="3678306"/>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Day 45 (50%)</a:t>
            </a:r>
            <a:endParaRPr b="0" i="0" sz="942" u="none" cap="none" strike="noStrike">
              <a:solidFill>
                <a:schemeClr val="dk1"/>
              </a:solidFill>
              <a:latin typeface="Calibri"/>
              <a:ea typeface="Calibri"/>
              <a:cs typeface="Calibri"/>
              <a:sym typeface="Calibri"/>
            </a:endParaRPr>
          </a:p>
        </p:txBody>
      </p:sp>
      <p:sp>
        <p:nvSpPr>
          <p:cNvPr id="319" name="Google Shape;319;p10"/>
          <p:cNvSpPr/>
          <p:nvPr/>
        </p:nvSpPr>
        <p:spPr>
          <a:xfrm>
            <a:off x="5087048" y="3767603"/>
            <a:ext cx="614363" cy="203597"/>
          </a:xfrm>
          <a:prstGeom prst="rect">
            <a:avLst/>
          </a:prstGeom>
          <a:solidFill>
            <a:srgbClr val="ECC94B">
              <a:alpha val="10196"/>
            </a:srgbClr>
          </a:solidFill>
          <a:ln cap="flat" cmpd="sng" w="9525">
            <a:solidFill>
              <a:srgbClr val="ECC9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p:nvPr/>
        </p:nvSpPr>
        <p:spPr>
          <a:xfrm>
            <a:off x="5087048" y="3767603"/>
            <a:ext cx="614363"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ECC94B"/>
              </a:buClr>
              <a:buSzPts val="683"/>
              <a:buFont typeface="Roboto Mono"/>
              <a:buNone/>
            </a:pPr>
            <a:r>
              <a:rPr b="1" i="0" lang="en-US" sz="683" u="none" cap="none" strike="noStrike">
                <a:solidFill>
                  <a:srgbClr val="ECC94B"/>
                </a:solidFill>
                <a:latin typeface="Roboto Mono"/>
                <a:ea typeface="Roboto Mono"/>
                <a:cs typeface="Roboto Mono"/>
                <a:sym typeface="Roboto Mono"/>
              </a:rPr>
              <a:t>KEYCHAIN</a:t>
            </a:r>
            <a:endParaRPr b="0" i="0" sz="683" u="none" cap="none" strike="noStrike">
              <a:solidFill>
                <a:schemeClr val="dk1"/>
              </a:solidFill>
              <a:latin typeface="Calibri"/>
              <a:ea typeface="Calibri"/>
              <a:cs typeface="Calibri"/>
              <a:sym typeface="Calibri"/>
            </a:endParaRPr>
          </a:p>
        </p:txBody>
      </p:sp>
      <p:sp>
        <p:nvSpPr>
          <p:cNvPr id="321" name="Google Shape;321;p10"/>
          <p:cNvSpPr/>
          <p:nvPr/>
        </p:nvSpPr>
        <p:spPr>
          <a:xfrm>
            <a:off x="6122557" y="3678306"/>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Corporate Network Auth</a:t>
            </a:r>
            <a:endParaRPr b="0" i="0" sz="942" u="none" cap="none" strike="noStrike">
              <a:solidFill>
                <a:schemeClr val="dk1"/>
              </a:solidFill>
              <a:latin typeface="Calibri"/>
              <a:ea typeface="Calibri"/>
              <a:cs typeface="Calibri"/>
              <a:sym typeface="Calibri"/>
            </a:endParaRPr>
          </a:p>
        </p:txBody>
      </p:sp>
      <p:sp>
        <p:nvSpPr>
          <p:cNvPr id="322" name="Google Shape;322;p10"/>
          <p:cNvSpPr/>
          <p:nvPr/>
        </p:nvSpPr>
        <p:spPr>
          <a:xfrm>
            <a:off x="571500" y="4046209"/>
            <a:ext cx="8001000" cy="382191"/>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p:nvPr/>
        </p:nvSpPr>
        <p:spPr>
          <a:xfrm>
            <a:off x="571500" y="4046209"/>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Intermediate CA</a:t>
            </a:r>
            <a:endParaRPr b="0" i="0" sz="885" u="none" cap="none" strike="noStrike">
              <a:solidFill>
                <a:schemeClr val="dk1"/>
              </a:solidFill>
              <a:latin typeface="Calibri"/>
              <a:ea typeface="Calibri"/>
              <a:cs typeface="Calibri"/>
              <a:sym typeface="Calibri"/>
            </a:endParaRPr>
          </a:p>
        </p:txBody>
      </p:sp>
      <p:sp>
        <p:nvSpPr>
          <p:cNvPr id="324" name="Google Shape;324;p10"/>
          <p:cNvSpPr/>
          <p:nvPr/>
        </p:nvSpPr>
        <p:spPr>
          <a:xfrm>
            <a:off x="2255779" y="4046209"/>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1 Year</a:t>
            </a:r>
            <a:endParaRPr b="0" i="0" sz="942" u="none" cap="none" strike="noStrike">
              <a:solidFill>
                <a:schemeClr val="dk1"/>
              </a:solidFill>
              <a:latin typeface="Calibri"/>
              <a:ea typeface="Calibri"/>
              <a:cs typeface="Calibri"/>
              <a:sym typeface="Calibri"/>
            </a:endParaRPr>
          </a:p>
        </p:txBody>
      </p:sp>
      <p:sp>
        <p:nvSpPr>
          <p:cNvPr id="325" name="Google Shape;325;p10"/>
          <p:cNvSpPr/>
          <p:nvPr/>
        </p:nvSpPr>
        <p:spPr>
          <a:xfrm>
            <a:off x="3316179" y="4046209"/>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9 Months (75%)</a:t>
            </a:r>
            <a:endParaRPr b="0" i="0" sz="942" u="none" cap="none" strike="noStrike">
              <a:solidFill>
                <a:schemeClr val="dk1"/>
              </a:solidFill>
              <a:latin typeface="Calibri"/>
              <a:ea typeface="Calibri"/>
              <a:cs typeface="Calibri"/>
              <a:sym typeface="Calibri"/>
            </a:endParaRPr>
          </a:p>
        </p:txBody>
      </p:sp>
      <p:sp>
        <p:nvSpPr>
          <p:cNvPr id="326" name="Google Shape;326;p10"/>
          <p:cNvSpPr/>
          <p:nvPr/>
        </p:nvSpPr>
        <p:spPr>
          <a:xfrm>
            <a:off x="5087048" y="4135506"/>
            <a:ext cx="614363" cy="203597"/>
          </a:xfrm>
          <a:prstGeom prst="rect">
            <a:avLst/>
          </a:prstGeom>
          <a:solidFill>
            <a:srgbClr val="E53E3E">
              <a:alpha val="10196"/>
            </a:srgbClr>
          </a:solidFill>
          <a:ln cap="flat" cmpd="sng" w="952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5087048" y="4135506"/>
            <a:ext cx="614363"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E53E3E"/>
              </a:buClr>
              <a:buSzPts val="683"/>
              <a:buFont typeface="Roboto Mono"/>
              <a:buNone/>
            </a:pPr>
            <a:r>
              <a:rPr b="1" i="0" lang="en-US" sz="683" u="none" cap="none" strike="noStrike">
                <a:solidFill>
                  <a:srgbClr val="E53E3E"/>
                </a:solidFill>
                <a:latin typeface="Roboto Mono"/>
                <a:ea typeface="Roboto Mono"/>
                <a:cs typeface="Roboto Mono"/>
                <a:sym typeface="Roboto Mono"/>
              </a:rPr>
              <a:t>CEREMONY</a:t>
            </a:r>
            <a:endParaRPr b="0" i="0" sz="683" u="none" cap="none" strike="noStrike">
              <a:solidFill>
                <a:schemeClr val="dk1"/>
              </a:solidFill>
              <a:latin typeface="Calibri"/>
              <a:ea typeface="Calibri"/>
              <a:cs typeface="Calibri"/>
              <a:sym typeface="Calibri"/>
            </a:endParaRPr>
          </a:p>
        </p:txBody>
      </p:sp>
      <p:sp>
        <p:nvSpPr>
          <p:cNvPr id="328" name="Google Shape;328;p10"/>
          <p:cNvSpPr/>
          <p:nvPr/>
        </p:nvSpPr>
        <p:spPr>
          <a:xfrm>
            <a:off x="6122557" y="4046209"/>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Issuing Certificates</a:t>
            </a:r>
            <a:endParaRPr b="0" i="0" sz="942" u="none" cap="none" strike="noStrike">
              <a:solidFill>
                <a:schemeClr val="dk1"/>
              </a:solidFill>
              <a:latin typeface="Calibri"/>
              <a:ea typeface="Calibri"/>
              <a:cs typeface="Calibri"/>
              <a:sym typeface="Calibri"/>
            </a:endParaRPr>
          </a:p>
        </p:txBody>
      </p:sp>
      <p:sp>
        <p:nvSpPr>
          <p:cNvPr id="329" name="Google Shape;329;p10"/>
          <p:cNvSpPr/>
          <p:nvPr/>
        </p:nvSpPr>
        <p:spPr>
          <a:xfrm>
            <a:off x="571500" y="4414112"/>
            <a:ext cx="1684279"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Root CA</a:t>
            </a:r>
            <a:endParaRPr b="0" i="0" sz="885" u="none" cap="none" strike="noStrike">
              <a:solidFill>
                <a:schemeClr val="dk1"/>
              </a:solidFill>
              <a:latin typeface="Calibri"/>
              <a:ea typeface="Calibri"/>
              <a:cs typeface="Calibri"/>
              <a:sym typeface="Calibri"/>
            </a:endParaRPr>
          </a:p>
        </p:txBody>
      </p:sp>
      <p:sp>
        <p:nvSpPr>
          <p:cNvPr id="330" name="Google Shape;330;p10"/>
          <p:cNvSpPr/>
          <p:nvPr/>
        </p:nvSpPr>
        <p:spPr>
          <a:xfrm>
            <a:off x="2255779" y="4414112"/>
            <a:ext cx="1060400"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10 Years</a:t>
            </a:r>
            <a:endParaRPr b="0" i="0" sz="942" u="none" cap="none" strike="noStrike">
              <a:solidFill>
                <a:schemeClr val="dk1"/>
              </a:solidFill>
              <a:latin typeface="Calibri"/>
              <a:ea typeface="Calibri"/>
              <a:cs typeface="Calibri"/>
              <a:sym typeface="Calibri"/>
            </a:endParaRPr>
          </a:p>
        </p:txBody>
      </p:sp>
      <p:sp>
        <p:nvSpPr>
          <p:cNvPr id="331" name="Google Shape;331;p10"/>
          <p:cNvSpPr/>
          <p:nvPr/>
        </p:nvSpPr>
        <p:spPr>
          <a:xfrm>
            <a:off x="3316179" y="4414112"/>
            <a:ext cx="1663712" cy="382191"/>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Manual</a:t>
            </a:r>
            <a:endParaRPr b="0" i="0" sz="942" u="none" cap="none" strike="noStrike">
              <a:solidFill>
                <a:schemeClr val="dk1"/>
              </a:solidFill>
              <a:latin typeface="Calibri"/>
              <a:ea typeface="Calibri"/>
              <a:cs typeface="Calibri"/>
              <a:sym typeface="Calibri"/>
            </a:endParaRPr>
          </a:p>
        </p:txBody>
      </p:sp>
      <p:sp>
        <p:nvSpPr>
          <p:cNvPr id="332" name="Google Shape;332;p10"/>
          <p:cNvSpPr/>
          <p:nvPr/>
        </p:nvSpPr>
        <p:spPr>
          <a:xfrm>
            <a:off x="5087048" y="4503409"/>
            <a:ext cx="553641" cy="203597"/>
          </a:xfrm>
          <a:prstGeom prst="rect">
            <a:avLst/>
          </a:prstGeom>
          <a:solidFill>
            <a:srgbClr val="A0AEC0">
              <a:alpha val="10196"/>
            </a:srgbClr>
          </a:solidFill>
          <a:ln cap="flat" cmpd="sng" w="9525">
            <a:solidFill>
              <a:srgbClr val="A0AE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0"/>
          <p:cNvSpPr/>
          <p:nvPr/>
        </p:nvSpPr>
        <p:spPr>
          <a:xfrm>
            <a:off x="5087048" y="4503409"/>
            <a:ext cx="553641" cy="203597"/>
          </a:xfrm>
          <a:prstGeom prst="rect">
            <a:avLst/>
          </a:prstGeom>
          <a:noFill/>
          <a:ln>
            <a:noFill/>
          </a:ln>
        </p:spPr>
        <p:txBody>
          <a:bodyPr anchorCtr="0" anchor="t" bIns="34025" lIns="68050" spcFirstLastPara="1" rIns="68050" wrap="square" tIns="34025">
            <a:noAutofit/>
          </a:bodyPr>
          <a:lstStyle/>
          <a:p>
            <a:pPr indent="0" lvl="0" marL="0" marR="0" rtl="0" algn="l">
              <a:lnSpc>
                <a:spcPct val="131771"/>
              </a:lnSpc>
              <a:spcBef>
                <a:spcPts val="0"/>
              </a:spcBef>
              <a:spcAft>
                <a:spcPts val="0"/>
              </a:spcAft>
              <a:buClr>
                <a:srgbClr val="A0AEC0"/>
              </a:buClr>
              <a:buSzPts val="683"/>
              <a:buFont typeface="Roboto Mono"/>
              <a:buNone/>
            </a:pPr>
            <a:r>
              <a:rPr b="1" i="0" lang="en-US" sz="683" u="none" cap="none" strike="noStrike">
                <a:solidFill>
                  <a:srgbClr val="A0AEC0"/>
                </a:solidFill>
                <a:latin typeface="Roboto Mono"/>
                <a:ea typeface="Roboto Mono"/>
                <a:cs typeface="Roboto Mono"/>
                <a:sym typeface="Roboto Mono"/>
              </a:rPr>
              <a:t>OFFLINE</a:t>
            </a:r>
            <a:endParaRPr b="0" i="0" sz="683" u="none" cap="none" strike="noStrike">
              <a:solidFill>
                <a:schemeClr val="dk1"/>
              </a:solidFill>
              <a:latin typeface="Calibri"/>
              <a:ea typeface="Calibri"/>
              <a:cs typeface="Calibri"/>
              <a:sym typeface="Calibri"/>
            </a:endParaRPr>
          </a:p>
        </p:txBody>
      </p:sp>
      <p:sp>
        <p:nvSpPr>
          <p:cNvPr id="334" name="Google Shape;334;p10"/>
          <p:cNvSpPr/>
          <p:nvPr/>
        </p:nvSpPr>
        <p:spPr>
          <a:xfrm>
            <a:off x="6122557" y="4414112"/>
            <a:ext cx="2449943" cy="367903"/>
          </a:xfrm>
          <a:prstGeom prst="rect">
            <a:avLst/>
          </a:prstGeom>
          <a:noFill/>
          <a:ln>
            <a:noFill/>
          </a:ln>
        </p:spPr>
        <p:txBody>
          <a:bodyPr anchorCtr="0" anchor="ctr" bIns="102100" lIns="127500" spcFirstLastPara="1" rIns="127500" wrap="square" tIns="1021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Trust Anchor</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descr="preencoded.png" id="340" name="Google Shape;340;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41" name="Google Shape;341;p11"/>
          <p:cNvSpPr/>
          <p:nvPr/>
        </p:nvSpPr>
        <p:spPr>
          <a:xfrm>
            <a:off x="571500" y="357188"/>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OPEN STANDARD ENROLLMENT</a:t>
            </a:r>
            <a:endParaRPr b="0" i="0" sz="834" u="none" cap="none" strike="noStrike">
              <a:solidFill>
                <a:schemeClr val="dk1"/>
              </a:solidFill>
              <a:latin typeface="Calibri"/>
              <a:ea typeface="Calibri"/>
              <a:cs typeface="Calibri"/>
              <a:sym typeface="Calibri"/>
            </a:endParaRPr>
          </a:p>
        </p:txBody>
      </p:sp>
      <p:sp>
        <p:nvSpPr>
          <p:cNvPr id="342" name="Google Shape;342;p11"/>
          <p:cNvSpPr/>
          <p:nvPr/>
        </p:nvSpPr>
        <p:spPr>
          <a:xfrm>
            <a:off x="571500" y="578644"/>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ACME v2 &amp; EST Protocol Implementations</a:t>
            </a:r>
            <a:endParaRPr b="0" i="0" sz="2121" u="none" cap="none" strike="noStrike">
              <a:solidFill>
                <a:schemeClr val="dk1"/>
              </a:solidFill>
              <a:latin typeface="Calibri"/>
              <a:ea typeface="Calibri"/>
              <a:cs typeface="Calibri"/>
              <a:sym typeface="Calibri"/>
            </a:endParaRPr>
          </a:p>
        </p:txBody>
      </p:sp>
      <p:sp>
        <p:nvSpPr>
          <p:cNvPr id="343" name="Google Shape;343;p11"/>
          <p:cNvSpPr/>
          <p:nvPr/>
        </p:nvSpPr>
        <p:spPr>
          <a:xfrm>
            <a:off x="571500" y="1152990"/>
            <a:ext cx="3893344" cy="3015276"/>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571500" y="1152990"/>
            <a:ext cx="3893344"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4457700" y="1152990"/>
            <a:ext cx="7144" cy="3015276"/>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571500" y="4161123"/>
            <a:ext cx="3893344"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571500" y="1152990"/>
            <a:ext cx="7144" cy="3015276"/>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657225" y="1238715"/>
            <a:ext cx="884039" cy="24288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ACME v2</a:t>
            </a:r>
            <a:endParaRPr b="0" i="0" sz="1397" u="none" cap="none" strike="noStrike">
              <a:solidFill>
                <a:schemeClr val="dk1"/>
              </a:solidFill>
              <a:latin typeface="Calibri"/>
              <a:ea typeface="Calibri"/>
              <a:cs typeface="Calibri"/>
              <a:sym typeface="Calibri"/>
            </a:endParaRPr>
          </a:p>
        </p:txBody>
      </p:sp>
      <p:sp>
        <p:nvSpPr>
          <p:cNvPr id="349" name="Google Shape;349;p11"/>
          <p:cNvSpPr/>
          <p:nvPr/>
        </p:nvSpPr>
        <p:spPr>
          <a:xfrm>
            <a:off x="3779044" y="1299437"/>
            <a:ext cx="600075" cy="18930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3779044" y="1299437"/>
            <a:ext cx="600075" cy="189309"/>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RFC 8555</a:t>
            </a:r>
            <a:endParaRPr b="0" i="0" sz="727" u="none" cap="none" strike="noStrike">
              <a:solidFill>
                <a:schemeClr val="dk1"/>
              </a:solidFill>
              <a:latin typeface="Calibri"/>
              <a:ea typeface="Calibri"/>
              <a:cs typeface="Calibri"/>
              <a:sym typeface="Calibri"/>
            </a:endParaRPr>
          </a:p>
        </p:txBody>
      </p:sp>
      <p:sp>
        <p:nvSpPr>
          <p:cNvPr id="351" name="Google Shape;351;p11"/>
          <p:cNvSpPr/>
          <p:nvPr/>
        </p:nvSpPr>
        <p:spPr>
          <a:xfrm>
            <a:off x="657225" y="1624478"/>
            <a:ext cx="3721894" cy="155377"/>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E0E0E0"/>
              </a:buClr>
              <a:buSzPts val="942"/>
              <a:buFont typeface="Inter"/>
              <a:buNone/>
            </a:pPr>
            <a:r>
              <a:rPr b="0" i="1" lang="en-US" sz="942" u="none" cap="none" strike="noStrike">
                <a:solidFill>
                  <a:srgbClr val="E0E0E0"/>
                </a:solidFill>
                <a:latin typeface="Inter"/>
                <a:ea typeface="Inter"/>
                <a:cs typeface="Inter"/>
                <a:sym typeface="Inter"/>
              </a:rPr>
              <a:t>For web PKI and automated certificate management</a:t>
            </a:r>
            <a:endParaRPr b="0" i="0" sz="942" u="none" cap="none" strike="noStrike">
              <a:solidFill>
                <a:schemeClr val="dk1"/>
              </a:solidFill>
              <a:latin typeface="Calibri"/>
              <a:ea typeface="Calibri"/>
              <a:cs typeface="Calibri"/>
              <a:sym typeface="Calibri"/>
            </a:endParaRPr>
          </a:p>
        </p:txBody>
      </p:sp>
      <p:sp>
        <p:nvSpPr>
          <p:cNvPr id="352" name="Google Shape;352;p11"/>
          <p:cNvSpPr/>
          <p:nvPr/>
        </p:nvSpPr>
        <p:spPr>
          <a:xfrm>
            <a:off x="657225" y="1865579"/>
            <a:ext cx="3721894" cy="1554380"/>
          </a:xfrm>
          <a:prstGeom prst="rect">
            <a:avLst/>
          </a:prstGeom>
          <a:solidFill>
            <a:srgbClr val="00000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657225" y="1865579"/>
            <a:ext cx="3721894" cy="1554380"/>
          </a:xfrm>
          <a:prstGeom prst="rect">
            <a:avLst/>
          </a:prstGeom>
          <a:noFill/>
          <a:ln>
            <a:noFill/>
          </a:ln>
        </p:spPr>
        <p:txBody>
          <a:bodyPr anchorCtr="0" anchor="t" bIns="68050" lIns="68050" spcFirstLastPara="1" rIns="68050" wrap="square" tIns="68050">
            <a:noAutofit/>
          </a:bodyPr>
          <a:lstStyle/>
          <a:p>
            <a:pPr indent="0" lvl="0" marL="0" marR="0" rtl="0" algn="l">
              <a:lnSpc>
                <a:spcPct val="178817"/>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NewOrder</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Authorization</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Challenge (HTTP-01/DNS-01)</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Finalize</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a:t>
            </a:r>
            <a:br>
              <a:rPr b="0" i="0" lang="en-US" sz="727" u="none" cap="none" strike="noStrike">
                <a:solidFill>
                  <a:srgbClr val="00E5FF"/>
                </a:solidFill>
                <a:latin typeface="Roboto Mono"/>
                <a:ea typeface="Roboto Mono"/>
                <a:cs typeface="Roboto Mono"/>
                <a:sym typeface="Roboto Mono"/>
              </a:rPr>
            </a:br>
            <a:r>
              <a:rPr b="0" i="0" lang="en-US" sz="727" u="none" cap="none" strike="noStrike">
                <a:solidFill>
                  <a:srgbClr val="00E5FF"/>
                </a:solidFill>
                <a:latin typeface="Roboto Mono"/>
                <a:ea typeface="Roboto Mono"/>
                <a:cs typeface="Roboto Mono"/>
                <a:sym typeface="Roboto Mono"/>
              </a:rPr>
              <a:t>Certificate</a:t>
            </a:r>
            <a:endParaRPr b="0" i="0" sz="727" u="none" cap="none" strike="noStrike">
              <a:solidFill>
                <a:schemeClr val="dk1"/>
              </a:solidFill>
              <a:latin typeface="Calibri"/>
              <a:ea typeface="Calibri"/>
              <a:cs typeface="Calibri"/>
              <a:sym typeface="Calibri"/>
            </a:endParaRPr>
          </a:p>
        </p:txBody>
      </p:sp>
      <p:sp>
        <p:nvSpPr>
          <p:cNvPr id="354" name="Google Shape;354;p11"/>
          <p:cNvSpPr/>
          <p:nvPr/>
        </p:nvSpPr>
        <p:spPr>
          <a:xfrm>
            <a:off x="657225" y="3505684"/>
            <a:ext cx="3721894" cy="137517"/>
          </a:xfrm>
          <a:prstGeom prst="rect">
            <a:avLst/>
          </a:prstGeom>
          <a:noFill/>
          <a:ln>
            <a:noFill/>
          </a:ln>
        </p:spPr>
        <p:txBody>
          <a:bodyPr anchorCtr="0" anchor="t" bIns="0" lIns="153025"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Supports HTTP-01, DNS-01, TLS-ALPN-01 challenges</a:t>
            </a:r>
            <a:endParaRPr b="0" i="0" sz="834" u="none" cap="none" strike="noStrike">
              <a:solidFill>
                <a:schemeClr val="dk1"/>
              </a:solidFill>
              <a:latin typeface="Calibri"/>
              <a:ea typeface="Calibri"/>
              <a:cs typeface="Calibri"/>
              <a:sym typeface="Calibri"/>
            </a:endParaRPr>
          </a:p>
        </p:txBody>
      </p:sp>
      <p:sp>
        <p:nvSpPr>
          <p:cNvPr id="355" name="Google Shape;355;p11"/>
          <p:cNvSpPr/>
          <p:nvPr/>
        </p:nvSpPr>
        <p:spPr>
          <a:xfrm>
            <a:off x="657225" y="3686063"/>
            <a:ext cx="3721894" cy="137517"/>
          </a:xfrm>
          <a:prstGeom prst="rect">
            <a:avLst/>
          </a:prstGeom>
          <a:noFill/>
          <a:ln>
            <a:noFill/>
          </a:ln>
        </p:spPr>
        <p:txBody>
          <a:bodyPr anchorCtr="0" anchor="t" bIns="0" lIns="153025"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Integrated with Let's Encrypt and private CAs</a:t>
            </a:r>
            <a:endParaRPr b="0" i="0" sz="834" u="none" cap="none" strike="noStrike">
              <a:solidFill>
                <a:schemeClr val="dk1"/>
              </a:solidFill>
              <a:latin typeface="Calibri"/>
              <a:ea typeface="Calibri"/>
              <a:cs typeface="Calibri"/>
              <a:sym typeface="Calibri"/>
            </a:endParaRPr>
          </a:p>
        </p:txBody>
      </p:sp>
      <p:sp>
        <p:nvSpPr>
          <p:cNvPr id="356" name="Google Shape;356;p11"/>
          <p:cNvSpPr/>
          <p:nvPr/>
        </p:nvSpPr>
        <p:spPr>
          <a:xfrm>
            <a:off x="657225" y="3866443"/>
            <a:ext cx="3721894" cy="137517"/>
          </a:xfrm>
          <a:prstGeom prst="rect">
            <a:avLst/>
          </a:prstGeom>
          <a:noFill/>
          <a:ln>
            <a:noFill/>
          </a:ln>
        </p:spPr>
        <p:txBody>
          <a:bodyPr anchorCtr="0" anchor="t" bIns="0" lIns="153025"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Standard for automated web server provisioning</a:t>
            </a:r>
            <a:endParaRPr b="0" i="0" sz="834" u="none" cap="none" strike="noStrike">
              <a:solidFill>
                <a:schemeClr val="dk1"/>
              </a:solidFill>
              <a:latin typeface="Calibri"/>
              <a:ea typeface="Calibri"/>
              <a:cs typeface="Calibri"/>
              <a:sym typeface="Calibri"/>
            </a:endParaRPr>
          </a:p>
        </p:txBody>
      </p:sp>
      <p:sp>
        <p:nvSpPr>
          <p:cNvPr id="357" name="Google Shape;357;p11"/>
          <p:cNvSpPr/>
          <p:nvPr/>
        </p:nvSpPr>
        <p:spPr>
          <a:xfrm>
            <a:off x="4679156" y="1152990"/>
            <a:ext cx="3893344" cy="297955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4679156" y="1152990"/>
            <a:ext cx="3893344"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8565356" y="1152990"/>
            <a:ext cx="7144" cy="297955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4679156" y="4125404"/>
            <a:ext cx="3893344"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4679156" y="1152990"/>
            <a:ext cx="7144" cy="297955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657225" y="3527115"/>
            <a:ext cx="51792"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4A5568"/>
              </a:buClr>
              <a:buSzPts val="621"/>
              <a:buFont typeface="Inter"/>
              <a:buNone/>
            </a:pPr>
            <a:r>
              <a:rPr b="0" i="0" lang="en-US" sz="621" u="none" cap="none" strike="noStrike">
                <a:solidFill>
                  <a:srgbClr val="4A5568"/>
                </a:solidFill>
                <a:latin typeface="Inter"/>
                <a:ea typeface="Inter"/>
                <a:cs typeface="Inter"/>
                <a:sym typeface="Inter"/>
              </a:rPr>
              <a:t>■</a:t>
            </a:r>
            <a:endParaRPr b="0" i="0" sz="621" u="none" cap="none" strike="noStrike">
              <a:solidFill>
                <a:schemeClr val="dk1"/>
              </a:solidFill>
              <a:latin typeface="Calibri"/>
              <a:ea typeface="Calibri"/>
              <a:cs typeface="Calibri"/>
              <a:sym typeface="Calibri"/>
            </a:endParaRPr>
          </a:p>
        </p:txBody>
      </p:sp>
      <p:sp>
        <p:nvSpPr>
          <p:cNvPr id="363" name="Google Shape;363;p11"/>
          <p:cNvSpPr/>
          <p:nvPr/>
        </p:nvSpPr>
        <p:spPr>
          <a:xfrm>
            <a:off x="657225" y="3707495"/>
            <a:ext cx="51792"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4A5568"/>
              </a:buClr>
              <a:buSzPts val="621"/>
              <a:buFont typeface="Inter"/>
              <a:buNone/>
            </a:pPr>
            <a:r>
              <a:rPr b="0" i="0" lang="en-US" sz="621" u="none" cap="none" strike="noStrike">
                <a:solidFill>
                  <a:srgbClr val="4A5568"/>
                </a:solidFill>
                <a:latin typeface="Inter"/>
                <a:ea typeface="Inter"/>
                <a:cs typeface="Inter"/>
                <a:sym typeface="Inter"/>
              </a:rPr>
              <a:t>■</a:t>
            </a:r>
            <a:endParaRPr b="0" i="0" sz="621" u="none" cap="none" strike="noStrike">
              <a:solidFill>
                <a:schemeClr val="dk1"/>
              </a:solidFill>
              <a:latin typeface="Calibri"/>
              <a:ea typeface="Calibri"/>
              <a:cs typeface="Calibri"/>
              <a:sym typeface="Calibri"/>
            </a:endParaRPr>
          </a:p>
        </p:txBody>
      </p:sp>
      <p:sp>
        <p:nvSpPr>
          <p:cNvPr id="364" name="Google Shape;364;p11"/>
          <p:cNvSpPr/>
          <p:nvPr/>
        </p:nvSpPr>
        <p:spPr>
          <a:xfrm>
            <a:off x="657225" y="3887874"/>
            <a:ext cx="51792"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4A5568"/>
              </a:buClr>
              <a:buSzPts val="621"/>
              <a:buFont typeface="Inter"/>
              <a:buNone/>
            </a:pPr>
            <a:r>
              <a:rPr b="0" i="0" lang="en-US" sz="621" u="none" cap="none" strike="noStrike">
                <a:solidFill>
                  <a:srgbClr val="4A5568"/>
                </a:solidFill>
                <a:latin typeface="Inter"/>
                <a:ea typeface="Inter"/>
                <a:cs typeface="Inter"/>
                <a:sym typeface="Inter"/>
              </a:rPr>
              <a:t>■</a:t>
            </a:r>
            <a:endParaRPr b="0" i="0" sz="621" u="none" cap="none" strike="noStrike">
              <a:solidFill>
                <a:schemeClr val="dk1"/>
              </a:solidFill>
              <a:latin typeface="Calibri"/>
              <a:ea typeface="Calibri"/>
              <a:cs typeface="Calibri"/>
              <a:sym typeface="Calibri"/>
            </a:endParaRPr>
          </a:p>
        </p:txBody>
      </p:sp>
      <p:sp>
        <p:nvSpPr>
          <p:cNvPr id="365" name="Google Shape;365;p11"/>
          <p:cNvSpPr/>
          <p:nvPr/>
        </p:nvSpPr>
        <p:spPr>
          <a:xfrm>
            <a:off x="4764881" y="1238715"/>
            <a:ext cx="382191" cy="24288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EST</a:t>
            </a:r>
            <a:endParaRPr b="0" i="0" sz="1397" u="none" cap="none" strike="noStrike">
              <a:solidFill>
                <a:schemeClr val="dk1"/>
              </a:solidFill>
              <a:latin typeface="Calibri"/>
              <a:ea typeface="Calibri"/>
              <a:cs typeface="Calibri"/>
              <a:sym typeface="Calibri"/>
            </a:endParaRPr>
          </a:p>
        </p:txBody>
      </p:sp>
      <p:sp>
        <p:nvSpPr>
          <p:cNvPr id="366" name="Google Shape;366;p11"/>
          <p:cNvSpPr/>
          <p:nvPr/>
        </p:nvSpPr>
        <p:spPr>
          <a:xfrm>
            <a:off x="7886700" y="1299437"/>
            <a:ext cx="600075" cy="18930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7886700" y="1299437"/>
            <a:ext cx="600075" cy="189309"/>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RFC 7030</a:t>
            </a:r>
            <a:endParaRPr b="0" i="0" sz="727" u="none" cap="none" strike="noStrike">
              <a:solidFill>
                <a:schemeClr val="dk1"/>
              </a:solidFill>
              <a:latin typeface="Calibri"/>
              <a:ea typeface="Calibri"/>
              <a:cs typeface="Calibri"/>
              <a:sym typeface="Calibri"/>
            </a:endParaRPr>
          </a:p>
        </p:txBody>
      </p:sp>
      <p:sp>
        <p:nvSpPr>
          <p:cNvPr id="368" name="Google Shape;368;p11"/>
          <p:cNvSpPr/>
          <p:nvPr/>
        </p:nvSpPr>
        <p:spPr>
          <a:xfrm>
            <a:off x="4764881" y="1624478"/>
            <a:ext cx="3721894" cy="155377"/>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E0E0E0"/>
              </a:buClr>
              <a:buSzPts val="942"/>
              <a:buFont typeface="Inter"/>
              <a:buNone/>
            </a:pPr>
            <a:r>
              <a:rPr b="0" i="1" lang="en-US" sz="942" u="none" cap="none" strike="noStrike">
                <a:solidFill>
                  <a:srgbClr val="E0E0E0"/>
                </a:solidFill>
                <a:latin typeface="Inter"/>
                <a:ea typeface="Inter"/>
                <a:cs typeface="Inter"/>
                <a:sym typeface="Inter"/>
              </a:rPr>
              <a:t>For device enrollment and IoT onboarding</a:t>
            </a:r>
            <a:endParaRPr b="0" i="0" sz="942" u="none" cap="none" strike="noStrike">
              <a:solidFill>
                <a:schemeClr val="dk1"/>
              </a:solidFill>
              <a:latin typeface="Calibri"/>
              <a:ea typeface="Calibri"/>
              <a:cs typeface="Calibri"/>
              <a:sym typeface="Calibri"/>
            </a:endParaRPr>
          </a:p>
        </p:txBody>
      </p:sp>
      <p:sp>
        <p:nvSpPr>
          <p:cNvPr id="369" name="Google Shape;369;p11"/>
          <p:cNvSpPr/>
          <p:nvPr/>
        </p:nvSpPr>
        <p:spPr>
          <a:xfrm>
            <a:off x="4764881" y="1865579"/>
            <a:ext cx="3721894" cy="1234362"/>
          </a:xfrm>
          <a:prstGeom prst="rect">
            <a:avLst/>
          </a:prstGeom>
          <a:solidFill>
            <a:srgbClr val="00000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4764881" y="1865579"/>
            <a:ext cx="3721894" cy="1234362"/>
          </a:xfrm>
          <a:prstGeom prst="rect">
            <a:avLst/>
          </a:prstGeom>
          <a:noFill/>
          <a:ln>
            <a:noFill/>
          </a:ln>
        </p:spPr>
        <p:txBody>
          <a:bodyPr anchorCtr="0" anchor="t" bIns="68050" lIns="68050" spcFirstLastPara="1" rIns="68050" wrap="square" tIns="68050">
            <a:noAutofit/>
          </a:bodyPr>
          <a:lstStyle/>
          <a:p>
            <a:pPr indent="0" lvl="0" marL="0" marR="0" rtl="0" algn="l">
              <a:lnSpc>
                <a:spcPct val="178817"/>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Discovery (/.well-known/est)</a:t>
            </a:r>
            <a:br>
              <a:rPr b="0" i="0" lang="en-US" sz="727" u="none" cap="none" strike="noStrike">
                <a:solidFill>
                  <a:srgbClr val="00E676"/>
                </a:solidFill>
                <a:latin typeface="Roboto Mono"/>
                <a:ea typeface="Roboto Mono"/>
                <a:cs typeface="Roboto Mono"/>
                <a:sym typeface="Roboto Mono"/>
              </a:rPr>
            </a:br>
            <a:r>
              <a:rPr b="0" i="0" lang="en-US" sz="727" u="none" cap="none" strike="noStrike">
                <a:solidFill>
                  <a:srgbClr val="00E676"/>
                </a:solidFill>
                <a:latin typeface="Roboto Mono"/>
                <a:ea typeface="Roboto Mono"/>
                <a:cs typeface="Roboto Mono"/>
                <a:sym typeface="Roboto Mono"/>
              </a:rPr>
              <a:t>↓</a:t>
            </a:r>
            <a:br>
              <a:rPr b="0" i="0" lang="en-US" sz="727" u="none" cap="none" strike="noStrike">
                <a:solidFill>
                  <a:srgbClr val="00E676"/>
                </a:solidFill>
                <a:latin typeface="Roboto Mono"/>
                <a:ea typeface="Roboto Mono"/>
                <a:cs typeface="Roboto Mono"/>
                <a:sym typeface="Roboto Mono"/>
              </a:rPr>
            </a:br>
            <a:r>
              <a:rPr b="0" i="0" lang="en-US" sz="727" u="none" cap="none" strike="noStrike">
                <a:solidFill>
                  <a:srgbClr val="00E676"/>
                </a:solidFill>
                <a:latin typeface="Roboto Mono"/>
                <a:ea typeface="Roboto Mono"/>
                <a:cs typeface="Roboto Mono"/>
                <a:sym typeface="Roboto Mono"/>
              </a:rPr>
              <a:t>Authentication (mTLS/Basic)</a:t>
            </a:r>
            <a:br>
              <a:rPr b="0" i="0" lang="en-US" sz="727" u="none" cap="none" strike="noStrike">
                <a:solidFill>
                  <a:srgbClr val="00E676"/>
                </a:solidFill>
                <a:latin typeface="Roboto Mono"/>
                <a:ea typeface="Roboto Mono"/>
                <a:cs typeface="Roboto Mono"/>
                <a:sym typeface="Roboto Mono"/>
              </a:rPr>
            </a:br>
            <a:r>
              <a:rPr b="0" i="0" lang="en-US" sz="727" u="none" cap="none" strike="noStrike">
                <a:solidFill>
                  <a:srgbClr val="00E676"/>
                </a:solidFill>
                <a:latin typeface="Roboto Mono"/>
                <a:ea typeface="Roboto Mono"/>
                <a:cs typeface="Roboto Mono"/>
                <a:sym typeface="Roboto Mono"/>
              </a:rPr>
              <a:t>↓</a:t>
            </a:r>
            <a:br>
              <a:rPr b="0" i="0" lang="en-US" sz="727" u="none" cap="none" strike="noStrike">
                <a:solidFill>
                  <a:srgbClr val="00E676"/>
                </a:solidFill>
                <a:latin typeface="Roboto Mono"/>
                <a:ea typeface="Roboto Mono"/>
                <a:cs typeface="Roboto Mono"/>
                <a:sym typeface="Roboto Mono"/>
              </a:rPr>
            </a:br>
            <a:r>
              <a:rPr b="0" i="0" lang="en-US" sz="727" u="none" cap="none" strike="noStrike">
                <a:solidFill>
                  <a:srgbClr val="00E676"/>
                </a:solidFill>
                <a:latin typeface="Roboto Mono"/>
                <a:ea typeface="Roboto Mono"/>
                <a:cs typeface="Roboto Mono"/>
                <a:sym typeface="Roboto Mono"/>
              </a:rPr>
              <a:t>CSR Submission</a:t>
            </a:r>
            <a:br>
              <a:rPr b="0" i="0" lang="en-US" sz="727" u="none" cap="none" strike="noStrike">
                <a:solidFill>
                  <a:srgbClr val="00E676"/>
                </a:solidFill>
                <a:latin typeface="Roboto Mono"/>
                <a:ea typeface="Roboto Mono"/>
                <a:cs typeface="Roboto Mono"/>
                <a:sym typeface="Roboto Mono"/>
              </a:rPr>
            </a:br>
            <a:r>
              <a:rPr b="0" i="0" lang="en-US" sz="727" u="none" cap="none" strike="noStrike">
                <a:solidFill>
                  <a:srgbClr val="00E676"/>
                </a:solidFill>
                <a:latin typeface="Roboto Mono"/>
                <a:ea typeface="Roboto Mono"/>
                <a:cs typeface="Roboto Mono"/>
                <a:sym typeface="Roboto Mono"/>
              </a:rPr>
              <a:t>↓</a:t>
            </a:r>
            <a:br>
              <a:rPr b="0" i="0" lang="en-US" sz="727" u="none" cap="none" strike="noStrike">
                <a:solidFill>
                  <a:srgbClr val="00E676"/>
                </a:solidFill>
                <a:latin typeface="Roboto Mono"/>
                <a:ea typeface="Roboto Mono"/>
                <a:cs typeface="Roboto Mono"/>
                <a:sym typeface="Roboto Mono"/>
              </a:rPr>
            </a:br>
            <a:r>
              <a:rPr b="0" i="0" lang="en-US" sz="727" u="none" cap="none" strike="noStrike">
                <a:solidFill>
                  <a:srgbClr val="00E676"/>
                </a:solidFill>
                <a:latin typeface="Roboto Mono"/>
                <a:ea typeface="Roboto Mono"/>
                <a:cs typeface="Roboto Mono"/>
                <a:sym typeface="Roboto Mono"/>
              </a:rPr>
              <a:t>Certificate Issuance</a:t>
            </a:r>
            <a:endParaRPr b="0" i="0" sz="727" u="none" cap="none" strike="noStrike">
              <a:solidFill>
                <a:schemeClr val="dk1"/>
              </a:solidFill>
              <a:latin typeface="Calibri"/>
              <a:ea typeface="Calibri"/>
              <a:cs typeface="Calibri"/>
              <a:sym typeface="Calibri"/>
            </a:endParaRPr>
          </a:p>
        </p:txBody>
      </p:sp>
      <p:sp>
        <p:nvSpPr>
          <p:cNvPr id="371" name="Google Shape;371;p11"/>
          <p:cNvSpPr/>
          <p:nvPr/>
        </p:nvSpPr>
        <p:spPr>
          <a:xfrm>
            <a:off x="4764881" y="3185666"/>
            <a:ext cx="3721894" cy="137517"/>
          </a:xfrm>
          <a:prstGeom prst="rect">
            <a:avLst/>
          </a:prstGeom>
          <a:noFill/>
          <a:ln>
            <a:noFill/>
          </a:ln>
        </p:spPr>
        <p:txBody>
          <a:bodyPr anchorCtr="0" anchor="t" bIns="0" lIns="153025"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Supports simple enroll, re-enroll, and CA cert distribution</a:t>
            </a:r>
            <a:endParaRPr b="0" i="0" sz="834" u="none" cap="none" strike="noStrike">
              <a:solidFill>
                <a:schemeClr val="dk1"/>
              </a:solidFill>
              <a:latin typeface="Calibri"/>
              <a:ea typeface="Calibri"/>
              <a:cs typeface="Calibri"/>
              <a:sym typeface="Calibri"/>
            </a:endParaRPr>
          </a:p>
        </p:txBody>
      </p:sp>
      <p:sp>
        <p:nvSpPr>
          <p:cNvPr id="372" name="Google Shape;372;p11"/>
          <p:cNvSpPr/>
          <p:nvPr/>
        </p:nvSpPr>
        <p:spPr>
          <a:xfrm>
            <a:off x="4764881" y="3366046"/>
            <a:ext cx="3721894" cy="137517"/>
          </a:xfrm>
          <a:prstGeom prst="rect">
            <a:avLst/>
          </a:prstGeom>
          <a:noFill/>
          <a:ln>
            <a:noFill/>
          </a:ln>
        </p:spPr>
        <p:txBody>
          <a:bodyPr anchorCtr="0" anchor="t" bIns="0" lIns="153025"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Zero-touch device onboarding at 100 devices/minute</a:t>
            </a:r>
            <a:endParaRPr b="0" i="0" sz="834" u="none" cap="none" strike="noStrike">
              <a:solidFill>
                <a:schemeClr val="dk1"/>
              </a:solidFill>
              <a:latin typeface="Calibri"/>
              <a:ea typeface="Calibri"/>
              <a:cs typeface="Calibri"/>
              <a:sym typeface="Calibri"/>
            </a:endParaRPr>
          </a:p>
        </p:txBody>
      </p:sp>
      <p:sp>
        <p:nvSpPr>
          <p:cNvPr id="373" name="Google Shape;373;p11"/>
          <p:cNvSpPr/>
          <p:nvPr/>
        </p:nvSpPr>
        <p:spPr>
          <a:xfrm>
            <a:off x="4764881" y="3546425"/>
            <a:ext cx="3721894" cy="137517"/>
          </a:xfrm>
          <a:prstGeom prst="rect">
            <a:avLst/>
          </a:prstGeom>
          <a:noFill/>
          <a:ln>
            <a:noFill/>
          </a:ln>
        </p:spPr>
        <p:txBody>
          <a:bodyPr anchorCtr="0" anchor="t" bIns="0" lIns="153025"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Designed for constrained environments</a:t>
            </a:r>
            <a:endParaRPr b="0" i="0" sz="834" u="none" cap="none" strike="noStrike">
              <a:solidFill>
                <a:schemeClr val="dk1"/>
              </a:solidFill>
              <a:latin typeface="Calibri"/>
              <a:ea typeface="Calibri"/>
              <a:cs typeface="Calibri"/>
              <a:sym typeface="Calibri"/>
            </a:endParaRPr>
          </a:p>
        </p:txBody>
      </p:sp>
      <p:sp>
        <p:nvSpPr>
          <p:cNvPr id="374" name="Google Shape;374;p11"/>
          <p:cNvSpPr/>
          <p:nvPr/>
        </p:nvSpPr>
        <p:spPr>
          <a:xfrm>
            <a:off x="571500" y="4218273"/>
            <a:ext cx="8001000" cy="532209"/>
          </a:xfrm>
          <a:prstGeom prst="rect">
            <a:avLst/>
          </a:prstGeom>
          <a:solidFill>
            <a:srgbClr val="FFFFFF">
              <a:alpha val="1960"/>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571500" y="4218273"/>
            <a:ext cx="8001000" cy="532209"/>
          </a:xfrm>
          <a:prstGeom prst="rect">
            <a:avLst/>
          </a:prstGeom>
          <a:noFill/>
          <a:ln>
            <a:noFill/>
          </a:ln>
        </p:spPr>
        <p:txBody>
          <a:bodyPr anchorCtr="0" anchor="t" bIns="102100" lIns="102100" spcFirstLastPara="1" rIns="102100" wrap="square" tIns="102100">
            <a:noAutofit/>
          </a:bodyPr>
          <a:lstStyle/>
          <a:p>
            <a:pPr indent="0" lvl="0" marL="0" marR="0" rtl="0" algn="ctr">
              <a:lnSpc>
                <a:spcPct val="141843"/>
              </a:lnSpc>
              <a:spcBef>
                <a:spcPts val="0"/>
              </a:spcBef>
              <a:spcAft>
                <a:spcPts val="0"/>
              </a:spcAft>
              <a:buClr>
                <a:srgbClr val="FFFFFF"/>
              </a:buClr>
              <a:buSzPts val="987"/>
              <a:buFont typeface="Inter"/>
              <a:buNone/>
            </a:pPr>
            <a:r>
              <a:rPr b="1" i="0" lang="en-US" sz="987" u="none" cap="none" strike="noStrike">
                <a:solidFill>
                  <a:srgbClr val="FFFFFF"/>
                </a:solidFill>
                <a:latin typeface="Inter"/>
                <a:ea typeface="Inter"/>
                <a:cs typeface="Inter"/>
                <a:sym typeface="Inter"/>
              </a:rPr>
              <a:t>Both protocols are </a:t>
            </a:r>
            <a:r>
              <a:rPr b="1" i="0" lang="en-US" sz="987" u="none" cap="none" strike="noStrike">
                <a:solidFill>
                  <a:srgbClr val="00E5FF"/>
                </a:solidFill>
                <a:latin typeface="Inter"/>
                <a:ea typeface="Inter"/>
                <a:cs typeface="Inter"/>
                <a:sym typeface="Inter"/>
              </a:rPr>
              <a:t>standards-compliant</a:t>
            </a:r>
            <a:r>
              <a:rPr b="1" i="0" lang="en-US" sz="987" u="none" cap="none" strike="noStrike">
                <a:solidFill>
                  <a:srgbClr val="FFFFFF"/>
                </a:solidFill>
                <a:latin typeface="Inter"/>
                <a:ea typeface="Inter"/>
                <a:cs typeface="Inter"/>
                <a:sym typeface="Inter"/>
              </a:rPr>
              <a:t>, </a:t>
            </a:r>
            <a:r>
              <a:rPr b="1" i="0" lang="en-US" sz="987" u="none" cap="none" strike="noStrike">
                <a:solidFill>
                  <a:srgbClr val="00E5FF"/>
                </a:solidFill>
                <a:latin typeface="Inter"/>
                <a:ea typeface="Inter"/>
                <a:cs typeface="Inter"/>
                <a:sym typeface="Inter"/>
              </a:rPr>
              <a:t>vendor-neutral</a:t>
            </a:r>
            <a:r>
              <a:rPr b="1" i="0" lang="en-US" sz="987" u="none" cap="none" strike="noStrike">
                <a:solidFill>
                  <a:srgbClr val="FFFFFF"/>
                </a:solidFill>
                <a:latin typeface="Inter"/>
                <a:ea typeface="Inter"/>
                <a:cs typeface="Inter"/>
                <a:sym typeface="Inter"/>
              </a:rPr>
              <a:t>, and </a:t>
            </a:r>
            <a:r>
              <a:rPr b="1" i="0" lang="en-US" sz="987" u="none" cap="none" strike="noStrike">
                <a:solidFill>
                  <a:srgbClr val="00E5FF"/>
                </a:solidFill>
                <a:latin typeface="Inter"/>
                <a:ea typeface="Inter"/>
                <a:cs typeface="Inter"/>
                <a:sym typeface="Inter"/>
              </a:rPr>
              <a:t>production-ready</a:t>
            </a:r>
            <a:r>
              <a:rPr b="1" i="0" lang="en-US" sz="987" u="none" cap="none" strike="noStrike">
                <a:solidFill>
                  <a:srgbClr val="FFFFFF"/>
                </a:solidFill>
                <a:latin typeface="Inter"/>
                <a:ea typeface="Inter"/>
                <a:cs typeface="Inter"/>
                <a:sym typeface="Inter"/>
              </a:rPr>
              <a:t>, feeding into the same unified Vault PKI backend.</a:t>
            </a:r>
            <a:endParaRPr b="0" i="0" sz="987" u="none" cap="none" strike="noStrike">
              <a:solidFill>
                <a:schemeClr val="dk1"/>
              </a:solidFill>
              <a:latin typeface="Calibri"/>
              <a:ea typeface="Calibri"/>
              <a:cs typeface="Calibri"/>
              <a:sym typeface="Calibri"/>
            </a:endParaRPr>
          </a:p>
        </p:txBody>
      </p:sp>
      <p:sp>
        <p:nvSpPr>
          <p:cNvPr id="376" name="Google Shape;376;p11"/>
          <p:cNvSpPr/>
          <p:nvPr/>
        </p:nvSpPr>
        <p:spPr>
          <a:xfrm>
            <a:off x="4764881" y="3207097"/>
            <a:ext cx="51792"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4A5568"/>
              </a:buClr>
              <a:buSzPts val="621"/>
              <a:buFont typeface="Inter"/>
              <a:buNone/>
            </a:pPr>
            <a:r>
              <a:rPr b="0" i="0" lang="en-US" sz="621" u="none" cap="none" strike="noStrike">
                <a:solidFill>
                  <a:srgbClr val="4A5568"/>
                </a:solidFill>
                <a:latin typeface="Inter"/>
                <a:ea typeface="Inter"/>
                <a:cs typeface="Inter"/>
                <a:sym typeface="Inter"/>
              </a:rPr>
              <a:t>■</a:t>
            </a:r>
            <a:endParaRPr b="0" i="0" sz="621" u="none" cap="none" strike="noStrike">
              <a:solidFill>
                <a:schemeClr val="dk1"/>
              </a:solidFill>
              <a:latin typeface="Calibri"/>
              <a:ea typeface="Calibri"/>
              <a:cs typeface="Calibri"/>
              <a:sym typeface="Calibri"/>
            </a:endParaRPr>
          </a:p>
        </p:txBody>
      </p:sp>
      <p:sp>
        <p:nvSpPr>
          <p:cNvPr id="377" name="Google Shape;377;p11"/>
          <p:cNvSpPr/>
          <p:nvPr/>
        </p:nvSpPr>
        <p:spPr>
          <a:xfrm>
            <a:off x="4764881" y="3387477"/>
            <a:ext cx="51792"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4A5568"/>
              </a:buClr>
              <a:buSzPts val="621"/>
              <a:buFont typeface="Inter"/>
              <a:buNone/>
            </a:pPr>
            <a:r>
              <a:rPr b="0" i="0" lang="en-US" sz="621" u="none" cap="none" strike="noStrike">
                <a:solidFill>
                  <a:srgbClr val="4A5568"/>
                </a:solidFill>
                <a:latin typeface="Inter"/>
                <a:ea typeface="Inter"/>
                <a:cs typeface="Inter"/>
                <a:sym typeface="Inter"/>
              </a:rPr>
              <a:t>■</a:t>
            </a:r>
            <a:endParaRPr b="0" i="0" sz="621" u="none" cap="none" strike="noStrike">
              <a:solidFill>
                <a:schemeClr val="dk1"/>
              </a:solidFill>
              <a:latin typeface="Calibri"/>
              <a:ea typeface="Calibri"/>
              <a:cs typeface="Calibri"/>
              <a:sym typeface="Calibri"/>
            </a:endParaRPr>
          </a:p>
        </p:txBody>
      </p:sp>
      <p:sp>
        <p:nvSpPr>
          <p:cNvPr id="378" name="Google Shape;378;p11"/>
          <p:cNvSpPr/>
          <p:nvPr/>
        </p:nvSpPr>
        <p:spPr>
          <a:xfrm>
            <a:off x="4764881" y="3567857"/>
            <a:ext cx="51792"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4A5568"/>
              </a:buClr>
              <a:buSzPts val="621"/>
              <a:buFont typeface="Inter"/>
              <a:buNone/>
            </a:pPr>
            <a:r>
              <a:rPr b="0" i="0" lang="en-US" sz="621" u="none" cap="none" strike="noStrike">
                <a:solidFill>
                  <a:srgbClr val="4A5568"/>
                </a:solidFill>
                <a:latin typeface="Inter"/>
                <a:ea typeface="Inter"/>
                <a:cs typeface="Inter"/>
                <a:sym typeface="Inter"/>
              </a:rPr>
              <a:t>■</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descr="preencoded.png" id="384" name="Google Shape;384;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5" name="Google Shape;385;p12"/>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GLOBAL ARCHITECTURE</a:t>
            </a:r>
            <a:endParaRPr b="0" i="0" sz="834" u="none" cap="none" strike="noStrike">
              <a:solidFill>
                <a:schemeClr val="dk1"/>
              </a:solidFill>
              <a:latin typeface="Calibri"/>
              <a:ea typeface="Calibri"/>
              <a:cs typeface="Calibri"/>
              <a:sym typeface="Calibri"/>
            </a:endParaRPr>
          </a:p>
        </p:txBody>
      </p:sp>
      <p:sp>
        <p:nvSpPr>
          <p:cNvPr id="386" name="Google Shape;386;p12"/>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Multi-Instance Geo-Sovereignty with Federated Trust</a:t>
            </a:r>
            <a:endParaRPr b="0" i="0" sz="2121" u="none" cap="none" strike="noStrike">
              <a:solidFill>
                <a:schemeClr val="dk1"/>
              </a:solidFill>
              <a:latin typeface="Calibri"/>
              <a:ea typeface="Calibri"/>
              <a:cs typeface="Calibri"/>
              <a:sym typeface="Calibri"/>
            </a:endParaRPr>
          </a:p>
        </p:txBody>
      </p:sp>
      <p:sp>
        <p:nvSpPr>
          <p:cNvPr id="387" name="Google Shape;387;p12"/>
          <p:cNvSpPr/>
          <p:nvPr/>
        </p:nvSpPr>
        <p:spPr>
          <a:xfrm>
            <a:off x="571500" y="1295865"/>
            <a:ext cx="3474458" cy="3643313"/>
          </a:xfrm>
          <a:prstGeom prst="rect">
            <a:avLst/>
          </a:prstGeom>
          <a:solidFill>
            <a:srgbClr val="0D1B2A">
              <a:alpha val="50196"/>
            </a:srgbClr>
          </a:solidFill>
          <a:ln cap="flat" cmpd="sng" w="9525">
            <a:solidFill>
              <a:srgbClr val="00E5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2"/>
          <p:cNvSpPr/>
          <p:nvPr/>
        </p:nvSpPr>
        <p:spPr>
          <a:xfrm>
            <a:off x="918921" y="1842362"/>
            <a:ext cx="1143000" cy="701873"/>
          </a:xfrm>
          <a:prstGeom prst="rect">
            <a:avLst/>
          </a:prstGeom>
          <a:solidFill>
            <a:srgbClr val="1A202C"/>
          </a:solidFill>
          <a:ln cap="flat" cmpd="sng" w="18275">
            <a:solidFill>
              <a:srgbClr val="38B2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1026077" y="1949518"/>
            <a:ext cx="928688" cy="212527"/>
          </a:xfrm>
          <a:prstGeom prst="rect">
            <a:avLst/>
          </a:prstGeom>
          <a:noFill/>
          <a:ln>
            <a:noFill/>
          </a:ln>
        </p:spPr>
        <p:txBody>
          <a:bodyPr anchorCtr="0" anchor="t" bIns="42525" lIns="0" spcFirstLastPara="1" rIns="0" wrap="square" tIns="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AMERICAS</a:t>
            </a:r>
            <a:endParaRPr b="0" i="0" sz="885" u="none" cap="none" strike="noStrike">
              <a:solidFill>
                <a:schemeClr val="dk1"/>
              </a:solidFill>
              <a:latin typeface="Calibri"/>
              <a:ea typeface="Calibri"/>
              <a:cs typeface="Calibri"/>
              <a:sym typeface="Calibri"/>
            </a:endParaRPr>
          </a:p>
        </p:txBody>
      </p:sp>
      <p:sp>
        <p:nvSpPr>
          <p:cNvPr id="390" name="Google Shape;390;p12"/>
          <p:cNvSpPr/>
          <p:nvPr/>
        </p:nvSpPr>
        <p:spPr>
          <a:xfrm>
            <a:off x="1026077" y="2197764"/>
            <a:ext cx="928688" cy="210741"/>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EC0"/>
              </a:buClr>
              <a:buSzPts val="621"/>
              <a:buFont typeface="Inter"/>
              <a:buNone/>
            </a:pPr>
            <a:r>
              <a:rPr b="0" i="0" lang="en-US" sz="621" u="none" cap="none" strike="noStrike">
                <a:solidFill>
                  <a:srgbClr val="A0AEC0"/>
                </a:solidFill>
                <a:latin typeface="Inter"/>
                <a:ea typeface="Inter"/>
                <a:cs typeface="Inter"/>
                <a:sym typeface="Inter"/>
              </a:rPr>
              <a:t>Independent Stack</a:t>
            </a:r>
            <a:br>
              <a:rPr b="0" i="0" lang="en-US" sz="621" u="none" cap="none" strike="noStrike">
                <a:solidFill>
                  <a:srgbClr val="A0AEC0"/>
                </a:solidFill>
                <a:latin typeface="Inter"/>
                <a:ea typeface="Inter"/>
                <a:cs typeface="Inter"/>
                <a:sym typeface="Inter"/>
              </a:rPr>
            </a:br>
            <a:r>
              <a:rPr b="0" i="0" lang="en-US" sz="621" u="none" cap="none" strike="noStrike">
                <a:solidFill>
                  <a:srgbClr val="A0AEC0"/>
                </a:solidFill>
                <a:latin typeface="Inter"/>
                <a:ea typeface="Inter"/>
                <a:cs typeface="Inter"/>
                <a:sym typeface="Inter"/>
              </a:rPr>
              <a:t>Private Keys Isolated</a:t>
            </a:r>
            <a:endParaRPr b="0" i="0" sz="621" u="none" cap="none" strike="noStrike">
              <a:solidFill>
                <a:schemeClr val="dk1"/>
              </a:solidFill>
              <a:latin typeface="Calibri"/>
              <a:ea typeface="Calibri"/>
              <a:cs typeface="Calibri"/>
              <a:sym typeface="Calibri"/>
            </a:endParaRPr>
          </a:p>
        </p:txBody>
      </p:sp>
      <p:sp>
        <p:nvSpPr>
          <p:cNvPr id="391" name="Google Shape;391;p12"/>
          <p:cNvSpPr/>
          <p:nvPr/>
        </p:nvSpPr>
        <p:spPr>
          <a:xfrm>
            <a:off x="2555537" y="1842362"/>
            <a:ext cx="1143000" cy="701873"/>
          </a:xfrm>
          <a:prstGeom prst="rect">
            <a:avLst/>
          </a:prstGeom>
          <a:solidFill>
            <a:srgbClr val="1A202C"/>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2662693" y="1949518"/>
            <a:ext cx="928688" cy="212527"/>
          </a:xfrm>
          <a:prstGeom prst="rect">
            <a:avLst/>
          </a:prstGeom>
          <a:noFill/>
          <a:ln>
            <a:noFill/>
          </a:ln>
        </p:spPr>
        <p:txBody>
          <a:bodyPr anchorCtr="0" anchor="t" bIns="42525" lIns="0" spcFirstLastPara="1" rIns="0" wrap="square" tIns="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EMEA</a:t>
            </a:r>
            <a:endParaRPr b="0" i="0" sz="885" u="none" cap="none" strike="noStrike">
              <a:solidFill>
                <a:schemeClr val="dk1"/>
              </a:solidFill>
              <a:latin typeface="Calibri"/>
              <a:ea typeface="Calibri"/>
              <a:cs typeface="Calibri"/>
              <a:sym typeface="Calibri"/>
            </a:endParaRPr>
          </a:p>
        </p:txBody>
      </p:sp>
      <p:sp>
        <p:nvSpPr>
          <p:cNvPr id="393" name="Google Shape;393;p12"/>
          <p:cNvSpPr/>
          <p:nvPr/>
        </p:nvSpPr>
        <p:spPr>
          <a:xfrm>
            <a:off x="2662693" y="2197764"/>
            <a:ext cx="928688" cy="210741"/>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EC0"/>
              </a:buClr>
              <a:buSzPts val="621"/>
              <a:buFont typeface="Inter"/>
              <a:buNone/>
            </a:pPr>
            <a:r>
              <a:rPr b="0" i="0" lang="en-US" sz="621" u="none" cap="none" strike="noStrike">
                <a:solidFill>
                  <a:srgbClr val="A0AEC0"/>
                </a:solidFill>
                <a:latin typeface="Inter"/>
                <a:ea typeface="Inter"/>
                <a:cs typeface="Inter"/>
                <a:sym typeface="Inter"/>
              </a:rPr>
              <a:t>Independent Stack</a:t>
            </a:r>
            <a:br>
              <a:rPr b="0" i="0" lang="en-US" sz="621" u="none" cap="none" strike="noStrike">
                <a:solidFill>
                  <a:srgbClr val="A0AEC0"/>
                </a:solidFill>
                <a:latin typeface="Inter"/>
                <a:ea typeface="Inter"/>
                <a:cs typeface="Inter"/>
                <a:sym typeface="Inter"/>
              </a:rPr>
            </a:br>
            <a:r>
              <a:rPr b="0" i="0" lang="en-US" sz="621" u="none" cap="none" strike="noStrike">
                <a:solidFill>
                  <a:srgbClr val="A0AEC0"/>
                </a:solidFill>
                <a:latin typeface="Inter"/>
                <a:ea typeface="Inter"/>
                <a:cs typeface="Inter"/>
                <a:sym typeface="Inter"/>
              </a:rPr>
              <a:t>Private Keys Isolated</a:t>
            </a:r>
            <a:endParaRPr b="0" i="0" sz="621" u="none" cap="none" strike="noStrike">
              <a:solidFill>
                <a:schemeClr val="dk1"/>
              </a:solidFill>
              <a:latin typeface="Calibri"/>
              <a:ea typeface="Calibri"/>
              <a:cs typeface="Calibri"/>
              <a:sym typeface="Calibri"/>
            </a:endParaRPr>
          </a:p>
        </p:txBody>
      </p:sp>
      <p:sp>
        <p:nvSpPr>
          <p:cNvPr id="394" name="Google Shape;394;p12"/>
          <p:cNvSpPr/>
          <p:nvPr/>
        </p:nvSpPr>
        <p:spPr>
          <a:xfrm>
            <a:off x="1594340" y="2669251"/>
            <a:ext cx="1428750" cy="896541"/>
          </a:xfrm>
          <a:prstGeom prst="rect">
            <a:avLst/>
          </a:prstGeom>
          <a:solidFill>
            <a:srgbClr val="00E676">
              <a:alpha val="10196"/>
            </a:srgbClr>
          </a:solidFill>
          <a:ln cap="flat" cmpd="sng" w="18275">
            <a:solidFill>
              <a:srgbClr val="00E67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1737215" y="2826414"/>
            <a:ext cx="1143000" cy="300038"/>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FEDERATED TRUST SYNC</a:t>
            </a:r>
            <a:endParaRPr b="0" i="0" sz="784" u="none" cap="none" strike="noStrike">
              <a:solidFill>
                <a:schemeClr val="dk1"/>
              </a:solidFill>
              <a:latin typeface="Calibri"/>
              <a:ea typeface="Calibri"/>
              <a:cs typeface="Calibri"/>
              <a:sym typeface="Calibri"/>
            </a:endParaRPr>
          </a:p>
        </p:txBody>
      </p:sp>
      <p:sp>
        <p:nvSpPr>
          <p:cNvPr id="396" name="Google Shape;396;p12"/>
          <p:cNvSpPr/>
          <p:nvPr/>
        </p:nvSpPr>
        <p:spPr>
          <a:xfrm>
            <a:off x="1737215" y="3197889"/>
            <a:ext cx="1143000" cy="210741"/>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E0E0E0"/>
              </a:buClr>
              <a:buSzPts val="621"/>
              <a:buFont typeface="Inter"/>
              <a:buNone/>
            </a:pPr>
            <a:r>
              <a:rPr b="0" i="0" lang="en-US" sz="621" u="none" cap="none" strike="noStrike">
                <a:solidFill>
                  <a:srgbClr val="E0E0E0"/>
                </a:solidFill>
                <a:latin typeface="Inter"/>
                <a:ea typeface="Inter"/>
                <a:cs typeface="Inter"/>
                <a:sym typeface="Inter"/>
              </a:rPr>
              <a:t>Public Keys &amp; Trust Bundles Only</a:t>
            </a:r>
            <a:endParaRPr b="0" i="0" sz="621" u="none" cap="none" strike="noStrike">
              <a:solidFill>
                <a:schemeClr val="dk1"/>
              </a:solidFill>
              <a:latin typeface="Calibri"/>
              <a:ea typeface="Calibri"/>
              <a:cs typeface="Calibri"/>
              <a:sym typeface="Calibri"/>
            </a:endParaRPr>
          </a:p>
        </p:txBody>
      </p:sp>
      <p:sp>
        <p:nvSpPr>
          <p:cNvPr id="397" name="Google Shape;397;p12"/>
          <p:cNvSpPr/>
          <p:nvPr/>
        </p:nvSpPr>
        <p:spPr>
          <a:xfrm>
            <a:off x="1737215" y="3690807"/>
            <a:ext cx="1143000" cy="701873"/>
          </a:xfrm>
          <a:prstGeom prst="rect">
            <a:avLst/>
          </a:prstGeom>
          <a:solidFill>
            <a:srgbClr val="1A202C"/>
          </a:solidFill>
          <a:ln cap="flat" cmpd="sng" w="1827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2"/>
          <p:cNvSpPr/>
          <p:nvPr/>
        </p:nvSpPr>
        <p:spPr>
          <a:xfrm>
            <a:off x="1844371" y="3826539"/>
            <a:ext cx="928688" cy="212527"/>
          </a:xfrm>
          <a:prstGeom prst="rect">
            <a:avLst/>
          </a:prstGeom>
          <a:noFill/>
          <a:ln>
            <a:noFill/>
          </a:ln>
        </p:spPr>
        <p:txBody>
          <a:bodyPr anchorCtr="0" anchor="t" bIns="42525" lIns="0" spcFirstLastPara="1" rIns="0" wrap="square" tIns="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APAC</a:t>
            </a:r>
            <a:endParaRPr b="0" i="0" sz="885" u="none" cap="none" strike="noStrike">
              <a:solidFill>
                <a:schemeClr val="dk1"/>
              </a:solidFill>
              <a:latin typeface="Calibri"/>
              <a:ea typeface="Calibri"/>
              <a:cs typeface="Calibri"/>
              <a:sym typeface="Calibri"/>
            </a:endParaRPr>
          </a:p>
        </p:txBody>
      </p:sp>
      <p:sp>
        <p:nvSpPr>
          <p:cNvPr id="399" name="Google Shape;399;p12"/>
          <p:cNvSpPr/>
          <p:nvPr/>
        </p:nvSpPr>
        <p:spPr>
          <a:xfrm>
            <a:off x="1844371" y="4074784"/>
            <a:ext cx="928688" cy="210741"/>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EC0"/>
              </a:buClr>
              <a:buSzPts val="621"/>
              <a:buFont typeface="Inter"/>
              <a:buNone/>
            </a:pPr>
            <a:r>
              <a:rPr b="0" i="0" lang="en-US" sz="621" u="none" cap="none" strike="noStrike">
                <a:solidFill>
                  <a:srgbClr val="A0AEC0"/>
                </a:solidFill>
                <a:latin typeface="Inter"/>
                <a:ea typeface="Inter"/>
                <a:cs typeface="Inter"/>
                <a:sym typeface="Inter"/>
              </a:rPr>
              <a:t>Independent Stack</a:t>
            </a:r>
            <a:br>
              <a:rPr b="0" i="0" lang="en-US" sz="621" u="none" cap="none" strike="noStrike">
                <a:solidFill>
                  <a:srgbClr val="A0AEC0"/>
                </a:solidFill>
                <a:latin typeface="Inter"/>
                <a:ea typeface="Inter"/>
                <a:cs typeface="Inter"/>
                <a:sym typeface="Inter"/>
              </a:rPr>
            </a:br>
            <a:r>
              <a:rPr b="0" i="0" lang="en-US" sz="621" u="none" cap="none" strike="noStrike">
                <a:solidFill>
                  <a:srgbClr val="A0AEC0"/>
                </a:solidFill>
                <a:latin typeface="Inter"/>
                <a:ea typeface="Inter"/>
                <a:cs typeface="Inter"/>
                <a:sym typeface="Inter"/>
              </a:rPr>
              <a:t>Private Keys Isolated</a:t>
            </a:r>
            <a:endParaRPr b="0" i="0" sz="621" u="none" cap="none" strike="noStrike">
              <a:solidFill>
                <a:schemeClr val="dk1"/>
              </a:solidFill>
              <a:latin typeface="Calibri"/>
              <a:ea typeface="Calibri"/>
              <a:cs typeface="Calibri"/>
              <a:sym typeface="Calibri"/>
            </a:endParaRPr>
          </a:p>
        </p:txBody>
      </p:sp>
      <p:sp>
        <p:nvSpPr>
          <p:cNvPr id="400" name="Google Shape;400;p12"/>
          <p:cNvSpPr/>
          <p:nvPr/>
        </p:nvSpPr>
        <p:spPr>
          <a:xfrm>
            <a:off x="4574595" y="1295865"/>
            <a:ext cx="3997905"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Three Independent Instances</a:t>
            </a:r>
            <a:endParaRPr b="0" i="0" sz="1090" u="none" cap="none" strike="noStrike">
              <a:solidFill>
                <a:schemeClr val="dk1"/>
              </a:solidFill>
              <a:latin typeface="Calibri"/>
              <a:ea typeface="Calibri"/>
              <a:cs typeface="Calibri"/>
              <a:sym typeface="Calibri"/>
            </a:endParaRPr>
          </a:p>
        </p:txBody>
      </p:sp>
      <p:sp>
        <p:nvSpPr>
          <p:cNvPr id="401" name="Google Shape;401;p12"/>
          <p:cNvSpPr/>
          <p:nvPr/>
        </p:nvSpPr>
        <p:spPr>
          <a:xfrm>
            <a:off x="4574595" y="1542324"/>
            <a:ext cx="3997905"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Each region (Americas, EMEA, APAC) operates its own complete stack — OpAMP Server, Athenz, Vault, Database. </a:t>
            </a:r>
            <a:r>
              <a:rPr b="1" i="0" lang="en-US" sz="885" u="none" cap="none" strike="noStrike">
                <a:solidFill>
                  <a:srgbClr val="00E676"/>
                </a:solidFill>
                <a:latin typeface="Inter"/>
                <a:ea typeface="Inter"/>
                <a:cs typeface="Inter"/>
                <a:sym typeface="Inter"/>
              </a:rPr>
              <a:t>Private keys never cross regional boundaries.</a:t>
            </a:r>
            <a:endParaRPr b="0" i="0" sz="942" u="none" cap="none" strike="noStrike">
              <a:solidFill>
                <a:schemeClr val="dk1"/>
              </a:solidFill>
              <a:latin typeface="Calibri"/>
              <a:ea typeface="Calibri"/>
              <a:cs typeface="Calibri"/>
              <a:sym typeface="Calibri"/>
            </a:endParaRPr>
          </a:p>
        </p:txBody>
      </p:sp>
      <p:sp>
        <p:nvSpPr>
          <p:cNvPr id="402" name="Google Shape;402;p12"/>
          <p:cNvSpPr/>
          <p:nvPr/>
        </p:nvSpPr>
        <p:spPr>
          <a:xfrm>
            <a:off x="4574595" y="2299562"/>
            <a:ext cx="3997905"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Federated Trust (Public Keys Only)</a:t>
            </a:r>
            <a:endParaRPr b="0" i="0" sz="1090" u="none" cap="none" strike="noStrike">
              <a:solidFill>
                <a:schemeClr val="dk1"/>
              </a:solidFill>
              <a:latin typeface="Calibri"/>
              <a:ea typeface="Calibri"/>
              <a:cs typeface="Calibri"/>
              <a:sym typeface="Calibri"/>
            </a:endParaRPr>
          </a:p>
        </p:txBody>
      </p:sp>
      <p:sp>
        <p:nvSpPr>
          <p:cNvPr id="403" name="Google Shape;403;p12"/>
          <p:cNvSpPr/>
          <p:nvPr/>
        </p:nvSpPr>
        <p:spPr>
          <a:xfrm>
            <a:off x="4574595" y="2546021"/>
            <a:ext cx="3997905"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Regions share only public keys and trust bundles. A workload in US-East can validate a certificate issued in EU-West without accessing the EU's private key material.</a:t>
            </a:r>
            <a:endParaRPr b="0" i="0" sz="942" u="none" cap="none" strike="noStrike">
              <a:solidFill>
                <a:schemeClr val="dk1"/>
              </a:solidFill>
              <a:latin typeface="Calibri"/>
              <a:ea typeface="Calibri"/>
              <a:cs typeface="Calibri"/>
              <a:sym typeface="Calibri"/>
            </a:endParaRPr>
          </a:p>
        </p:txBody>
      </p:sp>
      <p:sp>
        <p:nvSpPr>
          <p:cNvPr id="404" name="Google Shape;404;p12"/>
          <p:cNvSpPr/>
          <p:nvPr/>
        </p:nvSpPr>
        <p:spPr>
          <a:xfrm>
            <a:off x="4574595" y="3303259"/>
            <a:ext cx="3997905"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Data Residency Compliance</a:t>
            </a:r>
            <a:endParaRPr b="0" i="0" sz="1090" u="none" cap="none" strike="noStrike">
              <a:solidFill>
                <a:schemeClr val="dk1"/>
              </a:solidFill>
              <a:latin typeface="Calibri"/>
              <a:ea typeface="Calibri"/>
              <a:cs typeface="Calibri"/>
              <a:sym typeface="Calibri"/>
            </a:endParaRPr>
          </a:p>
        </p:txBody>
      </p:sp>
      <p:sp>
        <p:nvSpPr>
          <p:cNvPr id="405" name="Google Shape;405;p12"/>
          <p:cNvSpPr/>
          <p:nvPr/>
        </p:nvSpPr>
        <p:spPr>
          <a:xfrm>
            <a:off x="4574595" y="3549718"/>
            <a:ext cx="3997905"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Meets GDPR, CCPA, and regional data sovereignty requirements by design. Cryptographic material stays in-region.</a:t>
            </a:r>
            <a:endParaRPr b="0" i="0" sz="942" u="none" cap="none" strike="noStrike">
              <a:solidFill>
                <a:schemeClr val="dk1"/>
              </a:solidFill>
              <a:latin typeface="Calibri"/>
              <a:ea typeface="Calibri"/>
              <a:cs typeface="Calibri"/>
              <a:sym typeface="Calibri"/>
            </a:endParaRPr>
          </a:p>
        </p:txBody>
      </p:sp>
      <p:sp>
        <p:nvSpPr>
          <p:cNvPr id="406" name="Google Shape;406;p12"/>
          <p:cNvSpPr/>
          <p:nvPr/>
        </p:nvSpPr>
        <p:spPr>
          <a:xfrm>
            <a:off x="4574595" y="4114074"/>
            <a:ext cx="3997905"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Cross-Region Failover</a:t>
            </a:r>
            <a:endParaRPr b="0" i="0" sz="1090" u="none" cap="none" strike="noStrike">
              <a:solidFill>
                <a:schemeClr val="dk1"/>
              </a:solidFill>
              <a:latin typeface="Calibri"/>
              <a:ea typeface="Calibri"/>
              <a:cs typeface="Calibri"/>
              <a:sym typeface="Calibri"/>
            </a:endParaRPr>
          </a:p>
        </p:txBody>
      </p:sp>
      <p:sp>
        <p:nvSpPr>
          <p:cNvPr id="407" name="Google Shape;407;p12"/>
          <p:cNvSpPr/>
          <p:nvPr/>
        </p:nvSpPr>
        <p:spPr>
          <a:xfrm>
            <a:off x="4574595" y="4360534"/>
            <a:ext cx="3997905"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If a region goes down, workloads can failover to another region while maintaining trust validation through the federated trust store.</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descr="preencoded.png" id="413" name="Google Shape;413;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14" name="Google Shape;414;p13"/>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ORCHESTRATION ENGINE</a:t>
            </a:r>
            <a:endParaRPr b="0" i="0" sz="834" u="none" cap="none" strike="noStrike">
              <a:solidFill>
                <a:schemeClr val="dk1"/>
              </a:solidFill>
              <a:latin typeface="Calibri"/>
              <a:ea typeface="Calibri"/>
              <a:cs typeface="Calibri"/>
              <a:sym typeface="Calibri"/>
            </a:endParaRPr>
          </a:p>
        </p:txBody>
      </p:sp>
      <p:sp>
        <p:nvSpPr>
          <p:cNvPr id="415" name="Google Shape;415;p13"/>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The Cert-Ops-Scheduler</a:t>
            </a:r>
            <a:endParaRPr b="0" i="0" sz="2121" u="none" cap="none" strike="noStrike">
              <a:solidFill>
                <a:schemeClr val="dk1"/>
              </a:solidFill>
              <a:latin typeface="Calibri"/>
              <a:ea typeface="Calibri"/>
              <a:cs typeface="Calibri"/>
              <a:sym typeface="Calibri"/>
            </a:endParaRPr>
          </a:p>
        </p:txBody>
      </p:sp>
      <p:sp>
        <p:nvSpPr>
          <p:cNvPr id="416" name="Google Shape;416;p13"/>
          <p:cNvSpPr/>
          <p:nvPr/>
        </p:nvSpPr>
        <p:spPr>
          <a:xfrm>
            <a:off x="571500" y="1081553"/>
            <a:ext cx="8001000" cy="226814"/>
          </a:xfrm>
          <a:prstGeom prst="rect">
            <a:avLst/>
          </a:prstGeom>
          <a:noFill/>
          <a:ln>
            <a:noFill/>
          </a:ln>
        </p:spPr>
        <p:txBody>
          <a:bodyPr anchorCtr="0" anchor="t" bIns="0" lIns="0" spcFirstLastPara="1" rIns="0" wrap="square" tIns="0">
            <a:noAutofit/>
          </a:bodyPr>
          <a:lstStyle/>
          <a:p>
            <a:pPr indent="0" lvl="0" marL="0" marR="0" rtl="0" algn="l">
              <a:lnSpc>
                <a:spcPct val="126083"/>
              </a:lnSpc>
              <a:spcBef>
                <a:spcPts val="0"/>
              </a:spcBef>
              <a:spcAft>
                <a:spcPts val="0"/>
              </a:spcAft>
              <a:buClr>
                <a:srgbClr val="00E5FF"/>
              </a:buClr>
              <a:buSzPts val="1269"/>
              <a:buFont typeface="Roboto Mono"/>
              <a:buNone/>
            </a:pPr>
            <a:r>
              <a:rPr b="0" i="0" lang="en-US" sz="1269" u="none" cap="none" strike="noStrike">
                <a:solidFill>
                  <a:srgbClr val="00E5FF"/>
                </a:solidFill>
                <a:latin typeface="Roboto Mono"/>
                <a:ea typeface="Roboto Mono"/>
                <a:cs typeface="Roboto Mono"/>
                <a:sym typeface="Roboto Mono"/>
              </a:rPr>
              <a:t>The intelligent heart of the control plane</a:t>
            </a:r>
            <a:endParaRPr b="0" i="0" sz="1269" u="none" cap="none" strike="noStrike">
              <a:solidFill>
                <a:schemeClr val="dk1"/>
              </a:solidFill>
              <a:latin typeface="Calibri"/>
              <a:ea typeface="Calibri"/>
              <a:cs typeface="Calibri"/>
              <a:sym typeface="Calibri"/>
            </a:endParaRPr>
          </a:p>
        </p:txBody>
      </p:sp>
      <p:sp>
        <p:nvSpPr>
          <p:cNvPr id="417" name="Google Shape;417;p13"/>
          <p:cNvSpPr/>
          <p:nvPr/>
        </p:nvSpPr>
        <p:spPr>
          <a:xfrm>
            <a:off x="571500" y="1522679"/>
            <a:ext cx="8001000" cy="892969"/>
          </a:xfrm>
          <a:prstGeom prst="rect">
            <a:avLst/>
          </a:prstGeom>
          <a:solidFill>
            <a:srgbClr val="0D1B2A">
              <a:alpha val="80000"/>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785813" y="1754851"/>
            <a:ext cx="1107281" cy="207169"/>
          </a:xfrm>
          <a:prstGeom prst="rect">
            <a:avLst/>
          </a:prstGeom>
          <a:noFill/>
          <a:ln>
            <a:noFill/>
          </a:ln>
        </p:spPr>
        <p:txBody>
          <a:bodyPr anchorCtr="0" anchor="t" bIns="0" lIns="0" spcFirstLastPara="1" rIns="17005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The Engine</a:t>
            </a:r>
            <a:endParaRPr b="0" i="0" sz="1193" u="none" cap="none" strike="noStrike">
              <a:solidFill>
                <a:schemeClr val="dk1"/>
              </a:solidFill>
              <a:latin typeface="Calibri"/>
              <a:ea typeface="Calibri"/>
              <a:cs typeface="Calibri"/>
              <a:sym typeface="Calibri"/>
            </a:endParaRPr>
          </a:p>
        </p:txBody>
      </p:sp>
      <p:sp>
        <p:nvSpPr>
          <p:cNvPr id="419" name="Google Shape;419;p13"/>
          <p:cNvSpPr/>
          <p:nvPr/>
        </p:nvSpPr>
        <p:spPr>
          <a:xfrm>
            <a:off x="2035969" y="1665554"/>
            <a:ext cx="632221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 highly available, event-driven engine that autonomously manages the entire certificate lifecycle across the fleet. Runs on active-active instances with distributed locking via PostgreSQL advisory locks.</a:t>
            </a:r>
            <a:endParaRPr b="0" i="0" sz="942" u="none" cap="none" strike="noStrike">
              <a:solidFill>
                <a:schemeClr val="dk1"/>
              </a:solidFill>
              <a:latin typeface="Calibri"/>
              <a:ea typeface="Calibri"/>
              <a:cs typeface="Calibri"/>
              <a:sym typeface="Calibri"/>
            </a:endParaRPr>
          </a:p>
        </p:txBody>
      </p:sp>
      <p:sp>
        <p:nvSpPr>
          <p:cNvPr id="420" name="Google Shape;420;p13"/>
          <p:cNvSpPr/>
          <p:nvPr/>
        </p:nvSpPr>
        <p:spPr>
          <a:xfrm>
            <a:off x="571500" y="2479942"/>
            <a:ext cx="2524116" cy="2305645"/>
          </a:xfrm>
          <a:prstGeom prst="rect">
            <a:avLst/>
          </a:prstGeom>
          <a:solidFill>
            <a:srgbClr val="FFFFFF">
              <a:alpha val="196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571500" y="2479942"/>
            <a:ext cx="2524116" cy="391120"/>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a:off x="571500" y="2863918"/>
            <a:ext cx="2524116" cy="714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3"/>
          <p:cNvSpPr/>
          <p:nvPr/>
        </p:nvSpPr>
        <p:spPr>
          <a:xfrm>
            <a:off x="571500" y="2479942"/>
            <a:ext cx="2524116" cy="391120"/>
          </a:xfrm>
          <a:prstGeom prst="rect">
            <a:avLst/>
          </a:prstGeom>
          <a:noFill/>
          <a:ln>
            <a:noFill/>
          </a:ln>
        </p:spPr>
        <p:txBody>
          <a:bodyPr anchorCtr="0" anchor="t" bIns="127500" lIns="170050" spcFirstLastPara="1" rIns="170050" wrap="square" tIns="127500">
            <a:noAutofit/>
          </a:bodyPr>
          <a:lstStyle/>
          <a:p>
            <a:pPr indent="0" lvl="0" marL="0" marR="0" rtl="0" algn="l">
              <a:lnSpc>
                <a:spcPct val="135593"/>
              </a:lnSpc>
              <a:spcBef>
                <a:spcPts val="0"/>
              </a:spcBef>
              <a:spcAft>
                <a:spcPts val="0"/>
              </a:spcAft>
              <a:buClr>
                <a:srgbClr val="00E5FF"/>
              </a:buClr>
              <a:buSzPts val="885"/>
              <a:buFont typeface="Roboto Mono"/>
              <a:buNone/>
            </a:pPr>
            <a:r>
              <a:rPr b="1" i="0" lang="en-US" sz="885" u="none" cap="none" strike="noStrike">
                <a:solidFill>
                  <a:srgbClr val="00E5FF"/>
                </a:solidFill>
                <a:latin typeface="Roboto Mono"/>
                <a:ea typeface="Roboto Mono"/>
                <a:cs typeface="Roboto Mono"/>
                <a:sym typeface="Roboto Mono"/>
              </a:rPr>
              <a:t>VISIBILITY &amp; DISCOVERY</a:t>
            </a:r>
            <a:endParaRPr b="0" i="0" sz="885" u="none" cap="none" strike="noStrike">
              <a:solidFill>
                <a:schemeClr val="dk1"/>
              </a:solidFill>
              <a:latin typeface="Calibri"/>
              <a:ea typeface="Calibri"/>
              <a:cs typeface="Calibri"/>
              <a:sym typeface="Calibri"/>
            </a:endParaRPr>
          </a:p>
        </p:txBody>
      </p:sp>
      <p:sp>
        <p:nvSpPr>
          <p:cNvPr id="424" name="Google Shape;424;p13"/>
          <p:cNvSpPr/>
          <p:nvPr/>
        </p:nvSpPr>
        <p:spPr>
          <a:xfrm>
            <a:off x="714375" y="3006793"/>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Discovery &amp; Inventory</a:t>
            </a:r>
            <a:endParaRPr b="0" i="0" sz="885" u="none" cap="none" strike="noStrike">
              <a:solidFill>
                <a:schemeClr val="dk1"/>
              </a:solidFill>
              <a:latin typeface="Calibri"/>
              <a:ea typeface="Calibri"/>
              <a:cs typeface="Calibri"/>
              <a:sym typeface="Calibri"/>
            </a:endParaRPr>
          </a:p>
        </p:txBody>
      </p:sp>
      <p:sp>
        <p:nvSpPr>
          <p:cNvPr id="425" name="Google Shape;425;p13"/>
          <p:cNvSpPr/>
          <p:nvPr/>
        </p:nvSpPr>
        <p:spPr>
          <a:xfrm>
            <a:off x="714375" y="3197889"/>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5 min</a:t>
            </a:r>
            <a:endParaRPr b="0" i="0" sz="727" u="none" cap="none" strike="noStrike">
              <a:solidFill>
                <a:schemeClr val="dk1"/>
              </a:solidFill>
              <a:latin typeface="Calibri"/>
              <a:ea typeface="Calibri"/>
              <a:cs typeface="Calibri"/>
              <a:sym typeface="Calibri"/>
            </a:endParaRPr>
          </a:p>
        </p:txBody>
      </p:sp>
      <p:sp>
        <p:nvSpPr>
          <p:cNvPr id="426" name="Google Shape;426;p13"/>
          <p:cNvSpPr/>
          <p:nvPr/>
        </p:nvSpPr>
        <p:spPr>
          <a:xfrm>
            <a:off x="714375" y="3437204"/>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Drift Detection</a:t>
            </a:r>
            <a:endParaRPr b="0" i="0" sz="885" u="none" cap="none" strike="noStrike">
              <a:solidFill>
                <a:schemeClr val="dk1"/>
              </a:solidFill>
              <a:latin typeface="Calibri"/>
              <a:ea typeface="Calibri"/>
              <a:cs typeface="Calibri"/>
              <a:sym typeface="Calibri"/>
            </a:endParaRPr>
          </a:p>
        </p:txBody>
      </p:sp>
      <p:sp>
        <p:nvSpPr>
          <p:cNvPr id="427" name="Google Shape;427;p13"/>
          <p:cNvSpPr/>
          <p:nvPr/>
        </p:nvSpPr>
        <p:spPr>
          <a:xfrm>
            <a:off x="714375" y="3628299"/>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15 min</a:t>
            </a:r>
            <a:endParaRPr b="0" i="0" sz="727" u="none" cap="none" strike="noStrike">
              <a:solidFill>
                <a:schemeClr val="dk1"/>
              </a:solidFill>
              <a:latin typeface="Calibri"/>
              <a:ea typeface="Calibri"/>
              <a:cs typeface="Calibri"/>
              <a:sym typeface="Calibri"/>
            </a:endParaRPr>
          </a:p>
        </p:txBody>
      </p:sp>
      <p:sp>
        <p:nvSpPr>
          <p:cNvPr id="428" name="Google Shape;428;p13"/>
          <p:cNvSpPr/>
          <p:nvPr/>
        </p:nvSpPr>
        <p:spPr>
          <a:xfrm>
            <a:off x="714375" y="3867615"/>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Telemetry &amp; Metrics</a:t>
            </a:r>
            <a:endParaRPr b="0" i="0" sz="885" u="none" cap="none" strike="noStrike">
              <a:solidFill>
                <a:schemeClr val="dk1"/>
              </a:solidFill>
              <a:latin typeface="Calibri"/>
              <a:ea typeface="Calibri"/>
              <a:cs typeface="Calibri"/>
              <a:sym typeface="Calibri"/>
            </a:endParaRPr>
          </a:p>
        </p:txBody>
      </p:sp>
      <p:sp>
        <p:nvSpPr>
          <p:cNvPr id="429" name="Google Shape;429;p13"/>
          <p:cNvSpPr/>
          <p:nvPr/>
        </p:nvSpPr>
        <p:spPr>
          <a:xfrm>
            <a:off x="714375" y="4058710"/>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Continuous</a:t>
            </a:r>
            <a:endParaRPr b="0" i="0" sz="727" u="none" cap="none" strike="noStrike">
              <a:solidFill>
                <a:schemeClr val="dk1"/>
              </a:solidFill>
              <a:latin typeface="Calibri"/>
              <a:ea typeface="Calibri"/>
              <a:cs typeface="Calibri"/>
              <a:sym typeface="Calibri"/>
            </a:endParaRPr>
          </a:p>
        </p:txBody>
      </p:sp>
      <p:sp>
        <p:nvSpPr>
          <p:cNvPr id="430" name="Google Shape;430;p13"/>
          <p:cNvSpPr/>
          <p:nvPr/>
        </p:nvSpPr>
        <p:spPr>
          <a:xfrm>
            <a:off x="3309928" y="2479942"/>
            <a:ext cx="2524116" cy="2305645"/>
          </a:xfrm>
          <a:prstGeom prst="rect">
            <a:avLst/>
          </a:prstGeom>
          <a:solidFill>
            <a:srgbClr val="FFFFFF">
              <a:alpha val="196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p:nvPr/>
        </p:nvSpPr>
        <p:spPr>
          <a:xfrm>
            <a:off x="3309928" y="2479942"/>
            <a:ext cx="2524116" cy="391120"/>
          </a:xfrm>
          <a:prstGeom prst="rect">
            <a:avLst/>
          </a:prstGeom>
          <a:solidFill>
            <a:srgbClr val="00E676">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
          <p:cNvSpPr/>
          <p:nvPr/>
        </p:nvSpPr>
        <p:spPr>
          <a:xfrm>
            <a:off x="3309928" y="2863918"/>
            <a:ext cx="2524116" cy="7144"/>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3309928" y="2479942"/>
            <a:ext cx="2524116" cy="391120"/>
          </a:xfrm>
          <a:prstGeom prst="rect">
            <a:avLst/>
          </a:prstGeom>
          <a:noFill/>
          <a:ln>
            <a:noFill/>
          </a:ln>
        </p:spPr>
        <p:txBody>
          <a:bodyPr anchorCtr="0" anchor="t" bIns="127500" lIns="170050" spcFirstLastPara="1" rIns="170050" wrap="square" tIns="127500">
            <a:noAutofit/>
          </a:bodyPr>
          <a:lstStyle/>
          <a:p>
            <a:pPr indent="0" lvl="0" marL="0" marR="0" rtl="0" algn="l">
              <a:lnSpc>
                <a:spcPct val="135593"/>
              </a:lnSpc>
              <a:spcBef>
                <a:spcPts val="0"/>
              </a:spcBef>
              <a:spcAft>
                <a:spcPts val="0"/>
              </a:spcAft>
              <a:buClr>
                <a:srgbClr val="00E676"/>
              </a:buClr>
              <a:buSzPts val="885"/>
              <a:buFont typeface="Roboto Mono"/>
              <a:buNone/>
            </a:pPr>
            <a:r>
              <a:rPr b="1" i="0" lang="en-US" sz="885" u="none" cap="none" strike="noStrike">
                <a:solidFill>
                  <a:srgbClr val="00E676"/>
                </a:solidFill>
                <a:latin typeface="Roboto Mono"/>
                <a:ea typeface="Roboto Mono"/>
                <a:cs typeface="Roboto Mono"/>
                <a:sym typeface="Roboto Mono"/>
              </a:rPr>
              <a:t>AUTOMATED RESILIENCE</a:t>
            </a:r>
            <a:endParaRPr b="0" i="0" sz="885" u="none" cap="none" strike="noStrike">
              <a:solidFill>
                <a:schemeClr val="dk1"/>
              </a:solidFill>
              <a:latin typeface="Calibri"/>
              <a:ea typeface="Calibri"/>
              <a:cs typeface="Calibri"/>
              <a:sym typeface="Calibri"/>
            </a:endParaRPr>
          </a:p>
        </p:txBody>
      </p:sp>
      <p:sp>
        <p:nvSpPr>
          <p:cNvPr id="434" name="Google Shape;434;p13"/>
          <p:cNvSpPr/>
          <p:nvPr/>
        </p:nvSpPr>
        <p:spPr>
          <a:xfrm>
            <a:off x="3452803" y="3006793"/>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Expiry Monitor</a:t>
            </a:r>
            <a:endParaRPr b="0" i="0" sz="885" u="none" cap="none" strike="noStrike">
              <a:solidFill>
                <a:schemeClr val="dk1"/>
              </a:solidFill>
              <a:latin typeface="Calibri"/>
              <a:ea typeface="Calibri"/>
              <a:cs typeface="Calibri"/>
              <a:sym typeface="Calibri"/>
            </a:endParaRPr>
          </a:p>
        </p:txBody>
      </p:sp>
      <p:sp>
        <p:nvSpPr>
          <p:cNvPr id="435" name="Google Shape;435;p13"/>
          <p:cNvSpPr/>
          <p:nvPr/>
        </p:nvSpPr>
        <p:spPr>
          <a:xfrm>
            <a:off x="3452803" y="3197889"/>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5 min</a:t>
            </a:r>
            <a:endParaRPr b="0" i="0" sz="727" u="none" cap="none" strike="noStrike">
              <a:solidFill>
                <a:schemeClr val="dk1"/>
              </a:solidFill>
              <a:latin typeface="Calibri"/>
              <a:ea typeface="Calibri"/>
              <a:cs typeface="Calibri"/>
              <a:sym typeface="Calibri"/>
            </a:endParaRPr>
          </a:p>
        </p:txBody>
      </p:sp>
      <p:sp>
        <p:nvSpPr>
          <p:cNvPr id="436" name="Google Shape;436;p13"/>
          <p:cNvSpPr/>
          <p:nvPr/>
        </p:nvSpPr>
        <p:spPr>
          <a:xfrm>
            <a:off x="3452803" y="3437204"/>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Auto-Rotation</a:t>
            </a:r>
            <a:endParaRPr b="0" i="0" sz="885" u="none" cap="none" strike="noStrike">
              <a:solidFill>
                <a:schemeClr val="dk1"/>
              </a:solidFill>
              <a:latin typeface="Calibri"/>
              <a:ea typeface="Calibri"/>
              <a:cs typeface="Calibri"/>
              <a:sym typeface="Calibri"/>
            </a:endParaRPr>
          </a:p>
        </p:txBody>
      </p:sp>
      <p:sp>
        <p:nvSpPr>
          <p:cNvPr id="437" name="Google Shape;437;p13"/>
          <p:cNvSpPr/>
          <p:nvPr/>
        </p:nvSpPr>
        <p:spPr>
          <a:xfrm>
            <a:off x="3452803" y="3628299"/>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5 min</a:t>
            </a:r>
            <a:endParaRPr b="0" i="0" sz="727" u="none" cap="none" strike="noStrike">
              <a:solidFill>
                <a:schemeClr val="dk1"/>
              </a:solidFill>
              <a:latin typeface="Calibri"/>
              <a:ea typeface="Calibri"/>
              <a:cs typeface="Calibri"/>
              <a:sym typeface="Calibri"/>
            </a:endParaRPr>
          </a:p>
        </p:txBody>
      </p:sp>
      <p:sp>
        <p:nvSpPr>
          <p:cNvPr id="438" name="Google Shape;438;p13"/>
          <p:cNvSpPr/>
          <p:nvPr/>
        </p:nvSpPr>
        <p:spPr>
          <a:xfrm>
            <a:off x="3452803" y="3867615"/>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Trust Store Sync</a:t>
            </a:r>
            <a:endParaRPr b="0" i="0" sz="885" u="none" cap="none" strike="noStrike">
              <a:solidFill>
                <a:schemeClr val="dk1"/>
              </a:solidFill>
              <a:latin typeface="Calibri"/>
              <a:ea typeface="Calibri"/>
              <a:cs typeface="Calibri"/>
              <a:sym typeface="Calibri"/>
            </a:endParaRPr>
          </a:p>
        </p:txBody>
      </p:sp>
      <p:sp>
        <p:nvSpPr>
          <p:cNvPr id="439" name="Google Shape;439;p13"/>
          <p:cNvSpPr/>
          <p:nvPr/>
        </p:nvSpPr>
        <p:spPr>
          <a:xfrm>
            <a:off x="3452803" y="4058710"/>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1 hour</a:t>
            </a:r>
            <a:endParaRPr b="0" i="0" sz="727" u="none" cap="none" strike="noStrike">
              <a:solidFill>
                <a:schemeClr val="dk1"/>
              </a:solidFill>
              <a:latin typeface="Calibri"/>
              <a:ea typeface="Calibri"/>
              <a:cs typeface="Calibri"/>
              <a:sym typeface="Calibri"/>
            </a:endParaRPr>
          </a:p>
        </p:txBody>
      </p:sp>
      <p:sp>
        <p:nvSpPr>
          <p:cNvPr id="440" name="Google Shape;440;p13"/>
          <p:cNvSpPr/>
          <p:nvPr/>
        </p:nvSpPr>
        <p:spPr>
          <a:xfrm>
            <a:off x="3452803" y="4298026"/>
            <a:ext cx="223836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Stale Cleanup</a:t>
            </a:r>
            <a:endParaRPr b="0" i="0" sz="885" u="none" cap="none" strike="noStrike">
              <a:solidFill>
                <a:schemeClr val="dk1"/>
              </a:solidFill>
              <a:latin typeface="Calibri"/>
              <a:ea typeface="Calibri"/>
              <a:cs typeface="Calibri"/>
              <a:sym typeface="Calibri"/>
            </a:endParaRPr>
          </a:p>
        </p:txBody>
      </p:sp>
      <p:sp>
        <p:nvSpPr>
          <p:cNvPr id="441" name="Google Shape;441;p13"/>
          <p:cNvSpPr/>
          <p:nvPr/>
        </p:nvSpPr>
        <p:spPr>
          <a:xfrm>
            <a:off x="3452803" y="4489121"/>
            <a:ext cx="22383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24 hours</a:t>
            </a:r>
            <a:endParaRPr b="0" i="0" sz="727" u="none" cap="none" strike="noStrike">
              <a:solidFill>
                <a:schemeClr val="dk1"/>
              </a:solidFill>
              <a:latin typeface="Calibri"/>
              <a:ea typeface="Calibri"/>
              <a:cs typeface="Calibri"/>
              <a:sym typeface="Calibri"/>
            </a:endParaRPr>
          </a:p>
        </p:txBody>
      </p:sp>
      <p:sp>
        <p:nvSpPr>
          <p:cNvPr id="442" name="Google Shape;442;p13"/>
          <p:cNvSpPr/>
          <p:nvPr/>
        </p:nvSpPr>
        <p:spPr>
          <a:xfrm>
            <a:off x="6048356" y="2479942"/>
            <a:ext cx="2524144" cy="2284214"/>
          </a:xfrm>
          <a:prstGeom prst="rect">
            <a:avLst/>
          </a:prstGeom>
          <a:solidFill>
            <a:srgbClr val="FFFFFF">
              <a:alpha val="196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6048356" y="2479942"/>
            <a:ext cx="2524144" cy="391120"/>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6048356" y="2863918"/>
            <a:ext cx="2524144" cy="7144"/>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6048356" y="2479942"/>
            <a:ext cx="2524144" cy="391120"/>
          </a:xfrm>
          <a:prstGeom prst="rect">
            <a:avLst/>
          </a:prstGeom>
          <a:noFill/>
          <a:ln>
            <a:noFill/>
          </a:ln>
        </p:spPr>
        <p:txBody>
          <a:bodyPr anchorCtr="0" anchor="t" bIns="127500" lIns="170050" spcFirstLastPara="1" rIns="170050" wrap="square" tIns="127500">
            <a:noAutofit/>
          </a:bodyPr>
          <a:lstStyle/>
          <a:p>
            <a:pPr indent="0" lvl="0" marL="0" marR="0" rtl="0" algn="l">
              <a:lnSpc>
                <a:spcPct val="135593"/>
              </a:lnSpc>
              <a:spcBef>
                <a:spcPts val="0"/>
              </a:spcBef>
              <a:spcAft>
                <a:spcPts val="0"/>
              </a:spcAft>
              <a:buClr>
                <a:srgbClr val="E53E3E"/>
              </a:buClr>
              <a:buSzPts val="885"/>
              <a:buFont typeface="Roboto Mono"/>
              <a:buNone/>
            </a:pPr>
            <a:r>
              <a:rPr b="1" i="0" lang="en-US" sz="885" u="none" cap="none" strike="noStrike">
                <a:solidFill>
                  <a:srgbClr val="E53E3E"/>
                </a:solidFill>
                <a:latin typeface="Roboto Mono"/>
                <a:ea typeface="Roboto Mono"/>
                <a:cs typeface="Roboto Mono"/>
                <a:sym typeface="Roboto Mono"/>
              </a:rPr>
              <a:t>SECURITY ENFORCEMENT</a:t>
            </a:r>
            <a:endParaRPr b="0" i="0" sz="885" u="none" cap="none" strike="noStrike">
              <a:solidFill>
                <a:schemeClr val="dk1"/>
              </a:solidFill>
              <a:latin typeface="Calibri"/>
              <a:ea typeface="Calibri"/>
              <a:cs typeface="Calibri"/>
              <a:sym typeface="Calibri"/>
            </a:endParaRPr>
          </a:p>
        </p:txBody>
      </p:sp>
      <p:sp>
        <p:nvSpPr>
          <p:cNvPr id="446" name="Google Shape;446;p13"/>
          <p:cNvSpPr/>
          <p:nvPr/>
        </p:nvSpPr>
        <p:spPr>
          <a:xfrm>
            <a:off x="6191231" y="3006793"/>
            <a:ext cx="223839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Compliance Scanner</a:t>
            </a:r>
            <a:endParaRPr b="0" i="0" sz="885" u="none" cap="none" strike="noStrike">
              <a:solidFill>
                <a:schemeClr val="dk1"/>
              </a:solidFill>
              <a:latin typeface="Calibri"/>
              <a:ea typeface="Calibri"/>
              <a:cs typeface="Calibri"/>
              <a:sym typeface="Calibri"/>
            </a:endParaRPr>
          </a:p>
        </p:txBody>
      </p:sp>
      <p:sp>
        <p:nvSpPr>
          <p:cNvPr id="447" name="Google Shape;447;p13"/>
          <p:cNvSpPr/>
          <p:nvPr/>
        </p:nvSpPr>
        <p:spPr>
          <a:xfrm>
            <a:off x="6191231" y="3197889"/>
            <a:ext cx="223839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24 hours</a:t>
            </a:r>
            <a:endParaRPr b="0" i="0" sz="727" u="none" cap="none" strike="noStrike">
              <a:solidFill>
                <a:schemeClr val="dk1"/>
              </a:solidFill>
              <a:latin typeface="Calibri"/>
              <a:ea typeface="Calibri"/>
              <a:cs typeface="Calibri"/>
              <a:sym typeface="Calibri"/>
            </a:endParaRPr>
          </a:p>
        </p:txBody>
      </p:sp>
      <p:sp>
        <p:nvSpPr>
          <p:cNvPr id="448" name="Google Shape;448;p13"/>
          <p:cNvSpPr/>
          <p:nvPr/>
        </p:nvSpPr>
        <p:spPr>
          <a:xfrm>
            <a:off x="6191231" y="3437204"/>
            <a:ext cx="223839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Chain Validator</a:t>
            </a:r>
            <a:endParaRPr b="0" i="0" sz="885" u="none" cap="none" strike="noStrike">
              <a:solidFill>
                <a:schemeClr val="dk1"/>
              </a:solidFill>
              <a:latin typeface="Calibri"/>
              <a:ea typeface="Calibri"/>
              <a:cs typeface="Calibri"/>
              <a:sym typeface="Calibri"/>
            </a:endParaRPr>
          </a:p>
        </p:txBody>
      </p:sp>
      <p:sp>
        <p:nvSpPr>
          <p:cNvPr id="449" name="Google Shape;449;p13"/>
          <p:cNvSpPr/>
          <p:nvPr/>
        </p:nvSpPr>
        <p:spPr>
          <a:xfrm>
            <a:off x="6191231" y="3628299"/>
            <a:ext cx="223839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Every 6 hours</a:t>
            </a:r>
            <a:endParaRPr b="0" i="0" sz="727" u="none" cap="none" strike="noStrike">
              <a:solidFill>
                <a:schemeClr val="dk1"/>
              </a:solidFill>
              <a:latin typeface="Calibri"/>
              <a:ea typeface="Calibri"/>
              <a:cs typeface="Calibri"/>
              <a:sym typeface="Calibri"/>
            </a:endParaRPr>
          </a:p>
        </p:txBody>
      </p:sp>
      <p:sp>
        <p:nvSpPr>
          <p:cNvPr id="450" name="Google Shape;450;p13"/>
          <p:cNvSpPr/>
          <p:nvPr/>
        </p:nvSpPr>
        <p:spPr>
          <a:xfrm>
            <a:off x="6191231" y="3867615"/>
            <a:ext cx="223839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Emergency Revocation</a:t>
            </a:r>
            <a:endParaRPr b="0" i="0" sz="885" u="none" cap="none" strike="noStrike">
              <a:solidFill>
                <a:schemeClr val="dk1"/>
              </a:solidFill>
              <a:latin typeface="Calibri"/>
              <a:ea typeface="Calibri"/>
              <a:cs typeface="Calibri"/>
              <a:sym typeface="Calibri"/>
            </a:endParaRPr>
          </a:p>
        </p:txBody>
      </p:sp>
      <p:sp>
        <p:nvSpPr>
          <p:cNvPr id="451" name="Google Shape;451;p13"/>
          <p:cNvSpPr/>
          <p:nvPr/>
        </p:nvSpPr>
        <p:spPr>
          <a:xfrm>
            <a:off x="6191231" y="4058710"/>
            <a:ext cx="223839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On-demand</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descr="preencoded.png" id="457" name="Google Shape;457;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58" name="Google Shape;458;p14"/>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CERT-OPS-SCHEDULER</a:t>
            </a:r>
            <a:endParaRPr b="0" i="0" sz="834" u="none" cap="none" strike="noStrike">
              <a:solidFill>
                <a:schemeClr val="dk1"/>
              </a:solidFill>
              <a:latin typeface="Calibri"/>
              <a:ea typeface="Calibri"/>
              <a:cs typeface="Calibri"/>
              <a:sym typeface="Calibri"/>
            </a:endParaRPr>
          </a:p>
        </p:txBody>
      </p:sp>
      <p:sp>
        <p:nvSpPr>
          <p:cNvPr id="459" name="Google Shape;459;p14"/>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Visibility &amp; Discovery</a:t>
            </a:r>
            <a:endParaRPr b="0" i="0" sz="2436" u="none" cap="none" strike="noStrike">
              <a:solidFill>
                <a:schemeClr val="dk1"/>
              </a:solidFill>
              <a:latin typeface="Calibri"/>
              <a:ea typeface="Calibri"/>
              <a:cs typeface="Calibri"/>
              <a:sym typeface="Calibri"/>
            </a:endParaRPr>
          </a:p>
        </p:txBody>
      </p:sp>
      <p:sp>
        <p:nvSpPr>
          <p:cNvPr id="460" name="Google Shape;460;p14"/>
          <p:cNvSpPr/>
          <p:nvPr/>
        </p:nvSpPr>
        <p:spPr>
          <a:xfrm>
            <a:off x="571500" y="1418732"/>
            <a:ext cx="2524116" cy="322805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4"/>
          <p:cNvSpPr/>
          <p:nvPr/>
        </p:nvSpPr>
        <p:spPr>
          <a:xfrm>
            <a:off x="571500" y="1418732"/>
            <a:ext cx="2524116"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4"/>
          <p:cNvSpPr/>
          <p:nvPr/>
        </p:nvSpPr>
        <p:spPr>
          <a:xfrm>
            <a:off x="3088472" y="1418732"/>
            <a:ext cx="7144" cy="322805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571500" y="4639642"/>
            <a:ext cx="2524116"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4"/>
          <p:cNvSpPr/>
          <p:nvPr/>
        </p:nvSpPr>
        <p:spPr>
          <a:xfrm>
            <a:off x="571500" y="1418732"/>
            <a:ext cx="7144" cy="322805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4"/>
          <p:cNvSpPr/>
          <p:nvPr/>
        </p:nvSpPr>
        <p:spPr>
          <a:xfrm>
            <a:off x="750094" y="1633045"/>
            <a:ext cx="216692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JOB 1</a:t>
            </a:r>
            <a:endParaRPr b="0" i="0" sz="834" u="none" cap="none" strike="noStrike">
              <a:solidFill>
                <a:schemeClr val="dk1"/>
              </a:solidFill>
              <a:latin typeface="Calibri"/>
              <a:ea typeface="Calibri"/>
              <a:cs typeface="Calibri"/>
              <a:sym typeface="Calibri"/>
            </a:endParaRPr>
          </a:p>
        </p:txBody>
      </p:sp>
      <p:sp>
        <p:nvSpPr>
          <p:cNvPr id="466" name="Google Shape;466;p14"/>
          <p:cNvSpPr/>
          <p:nvPr/>
        </p:nvSpPr>
        <p:spPr>
          <a:xfrm>
            <a:off x="750094" y="1854501"/>
            <a:ext cx="2166928" cy="222879"/>
          </a:xfrm>
          <a:prstGeom prst="rect">
            <a:avLst/>
          </a:prstGeom>
          <a:noFill/>
          <a:ln>
            <a:noFill/>
          </a:ln>
        </p:spPr>
        <p:txBody>
          <a:bodyPr anchorCtr="0" anchor="t" bIns="0" lIns="0" spcFirstLastPara="1" rIns="0" wrap="square" tIns="0">
            <a:noAutofit/>
          </a:bodyPr>
          <a:lstStyle/>
          <a:p>
            <a:pPr indent="0" lvl="0" marL="0" marR="0" rtl="0" algn="l">
              <a:lnSpc>
                <a:spcPct val="150880"/>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Discovery &amp; Inventory</a:t>
            </a:r>
            <a:endParaRPr b="0" i="0" sz="1193" u="none" cap="none" strike="noStrike">
              <a:solidFill>
                <a:schemeClr val="dk1"/>
              </a:solidFill>
              <a:latin typeface="Calibri"/>
              <a:ea typeface="Calibri"/>
              <a:cs typeface="Calibri"/>
              <a:sym typeface="Calibri"/>
            </a:endParaRPr>
          </a:p>
        </p:txBody>
      </p:sp>
      <p:sp>
        <p:nvSpPr>
          <p:cNvPr id="467" name="Google Shape;467;p14"/>
          <p:cNvSpPr/>
          <p:nvPr/>
        </p:nvSpPr>
        <p:spPr>
          <a:xfrm>
            <a:off x="750094" y="2184536"/>
            <a:ext cx="2166928" cy="217884"/>
          </a:xfrm>
          <a:prstGeom prst="rect">
            <a:avLst/>
          </a:prstGeom>
          <a:solidFill>
            <a:srgbClr val="FFFFFF">
              <a:alpha val="5098"/>
            </a:srgbClr>
          </a:solidFill>
          <a:ln cap="flat" cmpd="sng" w="9525">
            <a:solidFill>
              <a:srgbClr val="00E5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750094" y="2184536"/>
            <a:ext cx="2166928"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Every 5 min</a:t>
            </a:r>
            <a:endParaRPr b="0" i="0" sz="727" u="none" cap="none" strike="noStrike">
              <a:solidFill>
                <a:schemeClr val="dk1"/>
              </a:solidFill>
              <a:latin typeface="Calibri"/>
              <a:ea typeface="Calibri"/>
              <a:cs typeface="Calibri"/>
              <a:sym typeface="Calibri"/>
            </a:endParaRPr>
          </a:p>
        </p:txBody>
      </p:sp>
      <p:sp>
        <p:nvSpPr>
          <p:cNvPr id="469" name="Google Shape;469;p14"/>
          <p:cNvSpPr/>
          <p:nvPr/>
        </p:nvSpPr>
        <p:spPr>
          <a:xfrm>
            <a:off x="750094" y="2531008"/>
            <a:ext cx="2166928" cy="1851459"/>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Full-stack scanning across all environments. Discovers certificates in Kubernetes secrets, file systems, cloud provider stores, and load balancers. Builds a complete, real-time inventory. </a:t>
            </a:r>
            <a:r>
              <a:rPr b="1" i="0" lang="en-US" sz="885" u="none" cap="none" strike="noStrike">
                <a:solidFill>
                  <a:srgbClr val="FFFFFF"/>
                </a:solidFill>
                <a:latin typeface="Inter"/>
                <a:ea typeface="Inter"/>
                <a:cs typeface="Inter"/>
                <a:sym typeface="Inter"/>
              </a:rPr>
              <a:t>Detects "shadow certificates"</a:t>
            </a:r>
            <a:r>
              <a:rPr b="0" i="0" lang="en-US" sz="942" u="none" cap="none" strike="noStrike">
                <a:solidFill>
                  <a:srgbClr val="E0E0E0"/>
                </a:solidFill>
                <a:latin typeface="Inter"/>
                <a:ea typeface="Inter"/>
                <a:cs typeface="Inter"/>
                <a:sym typeface="Inter"/>
              </a:rPr>
              <a:t> that were provisioned outside the system.</a:t>
            </a:r>
            <a:endParaRPr b="0" i="0" sz="942" u="none" cap="none" strike="noStrike">
              <a:solidFill>
                <a:schemeClr val="dk1"/>
              </a:solidFill>
              <a:latin typeface="Calibri"/>
              <a:ea typeface="Calibri"/>
              <a:cs typeface="Calibri"/>
              <a:sym typeface="Calibri"/>
            </a:endParaRPr>
          </a:p>
        </p:txBody>
      </p:sp>
      <p:sp>
        <p:nvSpPr>
          <p:cNvPr id="470" name="Google Shape;470;p14"/>
          <p:cNvSpPr/>
          <p:nvPr/>
        </p:nvSpPr>
        <p:spPr>
          <a:xfrm>
            <a:off x="3309928" y="1418732"/>
            <a:ext cx="2524116" cy="317804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3309928" y="1418732"/>
            <a:ext cx="2524116"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5826900" y="1418732"/>
            <a:ext cx="7144" cy="317804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3309928" y="4589636"/>
            <a:ext cx="2524116"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3309928" y="1418732"/>
            <a:ext cx="7144" cy="317804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3488522" y="1633045"/>
            <a:ext cx="216692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JOB 5</a:t>
            </a:r>
            <a:endParaRPr b="0" i="0" sz="834" u="none" cap="none" strike="noStrike">
              <a:solidFill>
                <a:schemeClr val="dk1"/>
              </a:solidFill>
              <a:latin typeface="Calibri"/>
              <a:ea typeface="Calibri"/>
              <a:cs typeface="Calibri"/>
              <a:sym typeface="Calibri"/>
            </a:endParaRPr>
          </a:p>
        </p:txBody>
      </p:sp>
      <p:sp>
        <p:nvSpPr>
          <p:cNvPr id="476" name="Google Shape;476;p14"/>
          <p:cNvSpPr/>
          <p:nvPr/>
        </p:nvSpPr>
        <p:spPr>
          <a:xfrm>
            <a:off x="3488522" y="1854501"/>
            <a:ext cx="2166928" cy="222879"/>
          </a:xfrm>
          <a:prstGeom prst="rect">
            <a:avLst/>
          </a:prstGeom>
          <a:noFill/>
          <a:ln>
            <a:noFill/>
          </a:ln>
        </p:spPr>
        <p:txBody>
          <a:bodyPr anchorCtr="0" anchor="t" bIns="0" lIns="0" spcFirstLastPara="1" rIns="0" wrap="square" tIns="0">
            <a:noAutofit/>
          </a:bodyPr>
          <a:lstStyle/>
          <a:p>
            <a:pPr indent="0" lvl="0" marL="0" marR="0" rtl="0" algn="l">
              <a:lnSpc>
                <a:spcPct val="150880"/>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Drift Detection</a:t>
            </a:r>
            <a:endParaRPr b="0" i="0" sz="1193" u="none" cap="none" strike="noStrike">
              <a:solidFill>
                <a:schemeClr val="dk1"/>
              </a:solidFill>
              <a:latin typeface="Calibri"/>
              <a:ea typeface="Calibri"/>
              <a:cs typeface="Calibri"/>
              <a:sym typeface="Calibri"/>
            </a:endParaRPr>
          </a:p>
        </p:txBody>
      </p:sp>
      <p:sp>
        <p:nvSpPr>
          <p:cNvPr id="477" name="Google Shape;477;p14"/>
          <p:cNvSpPr/>
          <p:nvPr/>
        </p:nvSpPr>
        <p:spPr>
          <a:xfrm>
            <a:off x="3488522" y="2184536"/>
            <a:ext cx="2166928" cy="217884"/>
          </a:xfrm>
          <a:prstGeom prst="rect">
            <a:avLst/>
          </a:prstGeom>
          <a:solidFill>
            <a:srgbClr val="FFFFFF">
              <a:alpha val="5098"/>
            </a:srgbClr>
          </a:solidFill>
          <a:ln cap="flat" cmpd="sng" w="9525">
            <a:solidFill>
              <a:srgbClr val="00E67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3488522" y="2184536"/>
            <a:ext cx="2166928"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Every 15 min</a:t>
            </a:r>
            <a:endParaRPr b="0" i="0" sz="727" u="none" cap="none" strike="noStrike">
              <a:solidFill>
                <a:schemeClr val="dk1"/>
              </a:solidFill>
              <a:latin typeface="Calibri"/>
              <a:ea typeface="Calibri"/>
              <a:cs typeface="Calibri"/>
              <a:sym typeface="Calibri"/>
            </a:endParaRPr>
          </a:p>
        </p:txBody>
      </p:sp>
      <p:sp>
        <p:nvSpPr>
          <p:cNvPr id="479" name="Google Shape;479;p14"/>
          <p:cNvSpPr/>
          <p:nvPr/>
        </p:nvSpPr>
        <p:spPr>
          <a:xfrm>
            <a:off x="3488522" y="2531008"/>
            <a:ext cx="2166928" cy="1440024"/>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Compares the actual deployed certificate against the source of truth in the database. </a:t>
            </a:r>
            <a:r>
              <a:rPr b="1" i="0" lang="en-US" sz="885" u="none" cap="none" strike="noStrike">
                <a:solidFill>
                  <a:srgbClr val="FFFFFF"/>
                </a:solidFill>
                <a:latin typeface="Inter"/>
                <a:ea typeface="Inter"/>
                <a:cs typeface="Inter"/>
                <a:sym typeface="Inter"/>
              </a:rPr>
              <a:t>Detects mismatches</a:t>
            </a:r>
            <a:r>
              <a:rPr b="0" i="0" lang="en-US" sz="942" u="none" cap="none" strike="noStrike">
                <a:solidFill>
                  <a:srgbClr val="E0E0E0"/>
                </a:solidFill>
                <a:latin typeface="Inter"/>
                <a:ea typeface="Inter"/>
                <a:cs typeface="Inter"/>
                <a:sym typeface="Inter"/>
              </a:rPr>
              <a:t> in algorithm, key size, SAN entries, or expiration. Automatically triggers remediation for any drift found.</a:t>
            </a:r>
            <a:endParaRPr b="0" i="0" sz="942" u="none" cap="none" strike="noStrike">
              <a:solidFill>
                <a:schemeClr val="dk1"/>
              </a:solidFill>
              <a:latin typeface="Calibri"/>
              <a:ea typeface="Calibri"/>
              <a:cs typeface="Calibri"/>
              <a:sym typeface="Calibri"/>
            </a:endParaRPr>
          </a:p>
        </p:txBody>
      </p:sp>
      <p:sp>
        <p:nvSpPr>
          <p:cNvPr id="480" name="Google Shape;480;p14"/>
          <p:cNvSpPr/>
          <p:nvPr/>
        </p:nvSpPr>
        <p:spPr>
          <a:xfrm>
            <a:off x="6048356" y="1418732"/>
            <a:ext cx="2524144" cy="317804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6048356" y="1418732"/>
            <a:ext cx="2524144" cy="28575"/>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8565356" y="1418732"/>
            <a:ext cx="7144" cy="317804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4"/>
          <p:cNvSpPr/>
          <p:nvPr/>
        </p:nvSpPr>
        <p:spPr>
          <a:xfrm>
            <a:off x="6048356" y="4589636"/>
            <a:ext cx="2524144"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4"/>
          <p:cNvSpPr/>
          <p:nvPr/>
        </p:nvSpPr>
        <p:spPr>
          <a:xfrm>
            <a:off x="6048356" y="1418732"/>
            <a:ext cx="7144" cy="317804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6226950" y="1633045"/>
            <a:ext cx="2166956"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JOB 9</a:t>
            </a:r>
            <a:endParaRPr b="0" i="0" sz="834" u="none" cap="none" strike="noStrike">
              <a:solidFill>
                <a:schemeClr val="dk1"/>
              </a:solidFill>
              <a:latin typeface="Calibri"/>
              <a:ea typeface="Calibri"/>
              <a:cs typeface="Calibri"/>
              <a:sym typeface="Calibri"/>
            </a:endParaRPr>
          </a:p>
        </p:txBody>
      </p:sp>
      <p:sp>
        <p:nvSpPr>
          <p:cNvPr id="486" name="Google Shape;486;p14"/>
          <p:cNvSpPr/>
          <p:nvPr/>
        </p:nvSpPr>
        <p:spPr>
          <a:xfrm>
            <a:off x="6226950" y="1854501"/>
            <a:ext cx="2166956" cy="222879"/>
          </a:xfrm>
          <a:prstGeom prst="rect">
            <a:avLst/>
          </a:prstGeom>
          <a:noFill/>
          <a:ln>
            <a:noFill/>
          </a:ln>
        </p:spPr>
        <p:txBody>
          <a:bodyPr anchorCtr="0" anchor="t" bIns="0" lIns="0" spcFirstLastPara="1" rIns="0" wrap="square" tIns="0">
            <a:noAutofit/>
          </a:bodyPr>
          <a:lstStyle/>
          <a:p>
            <a:pPr indent="0" lvl="0" marL="0" marR="0" rtl="0" algn="l">
              <a:lnSpc>
                <a:spcPct val="150880"/>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Telemetry &amp; Metrics</a:t>
            </a:r>
            <a:endParaRPr b="0" i="0" sz="1193" u="none" cap="none" strike="noStrike">
              <a:solidFill>
                <a:schemeClr val="dk1"/>
              </a:solidFill>
              <a:latin typeface="Calibri"/>
              <a:ea typeface="Calibri"/>
              <a:cs typeface="Calibri"/>
              <a:sym typeface="Calibri"/>
            </a:endParaRPr>
          </a:p>
        </p:txBody>
      </p:sp>
      <p:sp>
        <p:nvSpPr>
          <p:cNvPr id="487" name="Google Shape;487;p14"/>
          <p:cNvSpPr/>
          <p:nvPr/>
        </p:nvSpPr>
        <p:spPr>
          <a:xfrm>
            <a:off x="6226950" y="2184536"/>
            <a:ext cx="2166956" cy="217884"/>
          </a:xfrm>
          <a:prstGeom prst="rect">
            <a:avLst/>
          </a:prstGeom>
          <a:solidFill>
            <a:srgbClr val="FFFFFF">
              <a:alpha val="5098"/>
            </a:srgbClr>
          </a:solidFill>
          <a:ln cap="flat" cmpd="sng" w="9525">
            <a:solidFill>
              <a:srgbClr val="D69E2E">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6226950" y="2184536"/>
            <a:ext cx="2166956"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Continuous</a:t>
            </a:r>
            <a:endParaRPr b="0" i="0" sz="727" u="none" cap="none" strike="noStrike">
              <a:solidFill>
                <a:schemeClr val="dk1"/>
              </a:solidFill>
              <a:latin typeface="Calibri"/>
              <a:ea typeface="Calibri"/>
              <a:cs typeface="Calibri"/>
              <a:sym typeface="Calibri"/>
            </a:endParaRPr>
          </a:p>
        </p:txBody>
      </p:sp>
      <p:sp>
        <p:nvSpPr>
          <p:cNvPr id="489" name="Google Shape;489;p14"/>
          <p:cNvSpPr/>
          <p:nvPr/>
        </p:nvSpPr>
        <p:spPr>
          <a:xfrm>
            <a:off x="6226950" y="2531008"/>
            <a:ext cx="2166956" cy="1234306"/>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Exports certificate health metrics to Prometheus. Tracks renewal success rates, issuance latency, expiry countdown, and compliance scores. </a:t>
            </a:r>
            <a:r>
              <a:rPr b="1" i="0" lang="en-US" sz="885" u="none" cap="none" strike="noStrike">
                <a:solidFill>
                  <a:srgbClr val="FFFFFF"/>
                </a:solidFill>
                <a:latin typeface="Inter"/>
                <a:ea typeface="Inter"/>
                <a:cs typeface="Inter"/>
                <a:sym typeface="Inter"/>
              </a:rPr>
              <a:t>Powers the real-time compliance dashboard.</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descr="preencoded.png" id="495" name="Google Shape;495;p15"/>
          <p:cNvPicPr preferRelativeResize="0"/>
          <p:nvPr/>
        </p:nvPicPr>
        <p:blipFill rotWithShape="1">
          <a:blip r:embed="rId3">
            <a:alphaModFix/>
          </a:blip>
          <a:srcRect b="0" l="0" r="0" t="0"/>
          <a:stretch/>
        </p:blipFill>
        <p:spPr>
          <a:xfrm>
            <a:off x="0" y="0"/>
            <a:ext cx="9144000" cy="5201710"/>
          </a:xfrm>
          <a:prstGeom prst="rect">
            <a:avLst/>
          </a:prstGeom>
          <a:noFill/>
          <a:ln>
            <a:noFill/>
          </a:ln>
        </p:spPr>
      </p:pic>
      <p:sp>
        <p:nvSpPr>
          <p:cNvPr id="496" name="Google Shape;496;p15"/>
          <p:cNvSpPr/>
          <p:nvPr/>
        </p:nvSpPr>
        <p:spPr>
          <a:xfrm>
            <a:off x="571500" y="357188"/>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CERT-OPS-SCHEDULER</a:t>
            </a:r>
            <a:endParaRPr b="0" i="0" sz="834" u="none" cap="none" strike="noStrike">
              <a:solidFill>
                <a:schemeClr val="dk1"/>
              </a:solidFill>
              <a:latin typeface="Calibri"/>
              <a:ea typeface="Calibri"/>
              <a:cs typeface="Calibri"/>
              <a:sym typeface="Calibri"/>
            </a:endParaRPr>
          </a:p>
        </p:txBody>
      </p:sp>
      <p:sp>
        <p:nvSpPr>
          <p:cNvPr id="497" name="Google Shape;497;p15"/>
          <p:cNvSpPr/>
          <p:nvPr/>
        </p:nvSpPr>
        <p:spPr>
          <a:xfrm>
            <a:off x="571500" y="578644"/>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Automated Resilience</a:t>
            </a:r>
            <a:endParaRPr b="0" i="0" sz="2121" u="none" cap="none" strike="noStrike">
              <a:solidFill>
                <a:schemeClr val="dk1"/>
              </a:solidFill>
              <a:latin typeface="Calibri"/>
              <a:ea typeface="Calibri"/>
              <a:cs typeface="Calibri"/>
              <a:sym typeface="Calibri"/>
            </a:endParaRPr>
          </a:p>
        </p:txBody>
      </p:sp>
      <p:sp>
        <p:nvSpPr>
          <p:cNvPr id="498" name="Google Shape;498;p15"/>
          <p:cNvSpPr/>
          <p:nvPr/>
        </p:nvSpPr>
        <p:spPr>
          <a:xfrm>
            <a:off x="571500" y="1152990"/>
            <a:ext cx="8001000" cy="1198364"/>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857250" y="1367303"/>
            <a:ext cx="7429500" cy="169664"/>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00E676"/>
              </a:buClr>
              <a:buSzPts val="885"/>
              <a:buFont typeface="Roboto Mono"/>
              <a:buNone/>
            </a:pPr>
            <a:r>
              <a:rPr b="1" i="0" lang="en-US" sz="885" u="none" cap="none" strike="noStrike">
                <a:solidFill>
                  <a:srgbClr val="00E676"/>
                </a:solidFill>
                <a:latin typeface="Roboto Mono"/>
                <a:ea typeface="Roboto Mono"/>
                <a:cs typeface="Roboto Mono"/>
                <a:sym typeface="Roboto Mono"/>
              </a:rPr>
              <a:t>THE 50% RULE: 24-HOUR WORKLOAD CERTIFICATE</a:t>
            </a:r>
            <a:endParaRPr b="0" i="0" sz="885" u="none" cap="none" strike="noStrike">
              <a:solidFill>
                <a:schemeClr val="dk1"/>
              </a:solidFill>
              <a:latin typeface="Calibri"/>
              <a:ea typeface="Calibri"/>
              <a:cs typeface="Calibri"/>
              <a:sym typeface="Calibri"/>
            </a:endParaRPr>
          </a:p>
        </p:txBody>
      </p:sp>
      <p:sp>
        <p:nvSpPr>
          <p:cNvPr id="500" name="Google Shape;500;p15"/>
          <p:cNvSpPr/>
          <p:nvPr/>
        </p:nvSpPr>
        <p:spPr>
          <a:xfrm>
            <a:off x="857250" y="1751279"/>
            <a:ext cx="7429500" cy="85725"/>
          </a:xfrm>
          <a:prstGeom prst="rect">
            <a:avLst/>
          </a:prstGeom>
          <a:solidFill>
            <a:srgbClr val="1A202C"/>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5"/>
          <p:cNvSpPr/>
          <p:nvPr/>
        </p:nvSpPr>
        <p:spPr>
          <a:xfrm>
            <a:off x="857250" y="1644123"/>
            <a:ext cx="28575" cy="2857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857250" y="1858435"/>
            <a:ext cx="407194" cy="300038"/>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0h</a:t>
            </a:r>
            <a:br>
              <a:rPr b="0" i="0" lang="en-US" sz="834" u="none" cap="none" strike="noStrike">
                <a:solidFill>
                  <a:srgbClr val="A0AEC0"/>
                </a:solidFill>
                <a:latin typeface="Roboto Mono"/>
                <a:ea typeface="Roboto Mono"/>
                <a:cs typeface="Roboto Mono"/>
                <a:sym typeface="Roboto Mono"/>
              </a:rPr>
            </a:br>
            <a:r>
              <a:rPr b="0" i="0" lang="en-US" sz="834" u="none" cap="none" strike="noStrike">
                <a:solidFill>
                  <a:srgbClr val="A0AEC0"/>
                </a:solidFill>
                <a:latin typeface="Roboto Mono"/>
                <a:ea typeface="Roboto Mono"/>
                <a:cs typeface="Roboto Mono"/>
                <a:sym typeface="Roboto Mono"/>
              </a:rPr>
              <a:t>Issued</a:t>
            </a:r>
            <a:endParaRPr b="0" i="0" sz="834" u="none" cap="none" strike="noStrike">
              <a:solidFill>
                <a:schemeClr val="dk1"/>
              </a:solidFill>
              <a:latin typeface="Calibri"/>
              <a:ea typeface="Calibri"/>
              <a:cs typeface="Calibri"/>
              <a:sym typeface="Calibri"/>
            </a:endParaRPr>
          </a:p>
        </p:txBody>
      </p:sp>
      <p:sp>
        <p:nvSpPr>
          <p:cNvPr id="503" name="Google Shape;503;p15"/>
          <p:cNvSpPr/>
          <p:nvPr/>
        </p:nvSpPr>
        <p:spPr>
          <a:xfrm>
            <a:off x="4572000" y="1644123"/>
            <a:ext cx="28575" cy="285750"/>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3995142" y="1858435"/>
            <a:ext cx="1153716" cy="300038"/>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12h (50%)</a:t>
            </a:r>
            <a:br>
              <a:rPr b="1" i="0" lang="en-US" sz="784" u="none" cap="none" strike="noStrike">
                <a:solidFill>
                  <a:srgbClr val="00E676"/>
                </a:solidFill>
                <a:latin typeface="Roboto Mono"/>
                <a:ea typeface="Roboto Mono"/>
                <a:cs typeface="Roboto Mono"/>
                <a:sym typeface="Roboto Mono"/>
              </a:rPr>
            </a:br>
            <a:r>
              <a:rPr b="1" i="0" lang="en-US" sz="784" u="none" cap="none" strike="noStrike">
                <a:solidFill>
                  <a:srgbClr val="00E676"/>
                </a:solidFill>
                <a:latin typeface="Roboto Mono"/>
                <a:ea typeface="Roboto Mono"/>
                <a:cs typeface="Roboto Mono"/>
                <a:sym typeface="Roboto Mono"/>
              </a:rPr>
              <a:t>Renewal Triggered</a:t>
            </a:r>
            <a:endParaRPr b="0" i="0" sz="784" u="none" cap="none" strike="noStrike">
              <a:solidFill>
                <a:schemeClr val="dk1"/>
              </a:solidFill>
              <a:latin typeface="Calibri"/>
              <a:ea typeface="Calibri"/>
              <a:cs typeface="Calibri"/>
              <a:sym typeface="Calibri"/>
            </a:endParaRPr>
          </a:p>
        </p:txBody>
      </p:sp>
      <p:sp>
        <p:nvSpPr>
          <p:cNvPr id="505" name="Google Shape;505;p15"/>
          <p:cNvSpPr/>
          <p:nvPr/>
        </p:nvSpPr>
        <p:spPr>
          <a:xfrm>
            <a:off x="8258175" y="1644123"/>
            <a:ext cx="28575" cy="285750"/>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5"/>
          <p:cNvSpPr/>
          <p:nvPr/>
        </p:nvSpPr>
        <p:spPr>
          <a:xfrm>
            <a:off x="7850981" y="1858435"/>
            <a:ext cx="407194" cy="300038"/>
          </a:xfrm>
          <a:prstGeom prst="rect">
            <a:avLst/>
          </a:prstGeom>
          <a:noFill/>
          <a:ln>
            <a:noFill/>
          </a:ln>
        </p:spPr>
        <p:txBody>
          <a:bodyPr anchorCtr="0" anchor="t" bIns="0" lIns="0" spcFirstLastPara="1" rIns="0" wrap="square" tIns="0">
            <a:noAutofit/>
          </a:bodyPr>
          <a:lstStyle/>
          <a:p>
            <a:pPr indent="0" lvl="0" marL="0" marR="0" rtl="0" algn="r">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24h</a:t>
            </a:r>
            <a:br>
              <a:rPr b="0" i="0" lang="en-US" sz="834" u="none" cap="none" strike="noStrike">
                <a:solidFill>
                  <a:srgbClr val="A0AEC0"/>
                </a:solidFill>
                <a:latin typeface="Roboto Mono"/>
                <a:ea typeface="Roboto Mono"/>
                <a:cs typeface="Roboto Mono"/>
                <a:sym typeface="Roboto Mono"/>
              </a:rPr>
            </a:br>
            <a:r>
              <a:rPr b="0" i="0" lang="en-US" sz="834" u="none" cap="none" strike="noStrike">
                <a:solidFill>
                  <a:srgbClr val="A0AEC0"/>
                </a:solidFill>
                <a:latin typeface="Roboto Mono"/>
                <a:ea typeface="Roboto Mono"/>
                <a:cs typeface="Roboto Mono"/>
                <a:sym typeface="Roboto Mono"/>
              </a:rPr>
              <a:t>Expiry</a:t>
            </a:r>
            <a:endParaRPr b="0" i="0" sz="834" u="none" cap="none" strike="noStrike">
              <a:solidFill>
                <a:schemeClr val="dk1"/>
              </a:solidFill>
              <a:latin typeface="Calibri"/>
              <a:ea typeface="Calibri"/>
              <a:cs typeface="Calibri"/>
              <a:sym typeface="Calibri"/>
            </a:endParaRPr>
          </a:p>
        </p:txBody>
      </p:sp>
      <p:sp>
        <p:nvSpPr>
          <p:cNvPr id="507" name="Google Shape;507;p15"/>
          <p:cNvSpPr/>
          <p:nvPr/>
        </p:nvSpPr>
        <p:spPr>
          <a:xfrm>
            <a:off x="5500688" y="1501248"/>
            <a:ext cx="1857375" cy="300038"/>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12-Hour Safety Buffer for Retries</a:t>
            </a:r>
            <a:endParaRPr b="0" i="0" sz="784" u="none" cap="none" strike="noStrike">
              <a:solidFill>
                <a:schemeClr val="dk1"/>
              </a:solidFill>
              <a:latin typeface="Calibri"/>
              <a:ea typeface="Calibri"/>
              <a:cs typeface="Calibri"/>
              <a:sym typeface="Calibri"/>
            </a:endParaRPr>
          </a:p>
        </p:txBody>
      </p:sp>
      <p:sp>
        <p:nvSpPr>
          <p:cNvPr id="508" name="Google Shape;508;p15"/>
          <p:cNvSpPr/>
          <p:nvPr/>
        </p:nvSpPr>
        <p:spPr>
          <a:xfrm>
            <a:off x="571500" y="2551379"/>
            <a:ext cx="3929063" cy="1343025"/>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a:off x="571500" y="2551379"/>
            <a:ext cx="28575" cy="134302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714375" y="2694254"/>
            <a:ext cx="1769864"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Job 2 — Expiry Monitor</a:t>
            </a:r>
            <a:endParaRPr b="0" i="0" sz="1090" u="none" cap="none" strike="noStrike">
              <a:solidFill>
                <a:schemeClr val="dk1"/>
              </a:solidFill>
              <a:latin typeface="Calibri"/>
              <a:ea typeface="Calibri"/>
              <a:cs typeface="Calibri"/>
              <a:sym typeface="Calibri"/>
            </a:endParaRPr>
          </a:p>
        </p:txBody>
      </p:sp>
      <p:sp>
        <p:nvSpPr>
          <p:cNvPr id="511" name="Google Shape;511;p15"/>
          <p:cNvSpPr/>
          <p:nvPr/>
        </p:nvSpPr>
        <p:spPr>
          <a:xfrm>
            <a:off x="3561159" y="2704970"/>
            <a:ext cx="796528" cy="203597"/>
          </a:xfrm>
          <a:prstGeom prst="rect">
            <a:avLst/>
          </a:prstGeom>
          <a:solidFill>
            <a:srgbClr val="00E5FF">
              <a:alpha val="10196"/>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3561159" y="2704970"/>
            <a:ext cx="796528" cy="203597"/>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Every 5 min</a:t>
            </a:r>
            <a:endParaRPr b="0" i="0" sz="727" u="none" cap="none" strike="noStrike">
              <a:solidFill>
                <a:schemeClr val="dk1"/>
              </a:solidFill>
              <a:latin typeface="Calibri"/>
              <a:ea typeface="Calibri"/>
              <a:cs typeface="Calibri"/>
              <a:sym typeface="Calibri"/>
            </a:endParaRPr>
          </a:p>
        </p:txBody>
      </p:sp>
      <p:sp>
        <p:nvSpPr>
          <p:cNvPr id="513" name="Google Shape;513;p15"/>
          <p:cNvSpPr/>
          <p:nvPr/>
        </p:nvSpPr>
        <p:spPr>
          <a:xfrm>
            <a:off x="714375" y="2972860"/>
            <a:ext cx="3643313"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Scans all active certificates and flags any that have reached </a:t>
            </a:r>
            <a:r>
              <a:rPr b="1" i="0" lang="en-US" sz="885" u="none" cap="none" strike="noStrike">
                <a:solidFill>
                  <a:srgbClr val="00E5FF"/>
                </a:solidFill>
                <a:latin typeface="Inter"/>
                <a:ea typeface="Inter"/>
                <a:cs typeface="Inter"/>
                <a:sym typeface="Inter"/>
              </a:rPr>
              <a:t>50% of their TTL</a:t>
            </a:r>
            <a:r>
              <a:rPr b="0" i="0" lang="en-US" sz="942" u="none" cap="none" strike="noStrike">
                <a:solidFill>
                  <a:srgbClr val="E0E0E0"/>
                </a:solidFill>
                <a:latin typeface="Inter"/>
                <a:ea typeface="Inter"/>
                <a:cs typeface="Inter"/>
                <a:sym typeface="Inter"/>
              </a:rPr>
              <a:t>. Provides a generous safety buffer for retries.</a:t>
            </a:r>
            <a:endParaRPr b="0" i="0" sz="942" u="none" cap="none" strike="noStrike">
              <a:solidFill>
                <a:schemeClr val="dk1"/>
              </a:solidFill>
              <a:latin typeface="Calibri"/>
              <a:ea typeface="Calibri"/>
              <a:cs typeface="Calibri"/>
              <a:sym typeface="Calibri"/>
            </a:endParaRPr>
          </a:p>
        </p:txBody>
      </p:sp>
      <p:sp>
        <p:nvSpPr>
          <p:cNvPr id="514" name="Google Shape;514;p15"/>
          <p:cNvSpPr/>
          <p:nvPr/>
        </p:nvSpPr>
        <p:spPr>
          <a:xfrm>
            <a:off x="4643438" y="2551379"/>
            <a:ext cx="3929063" cy="1343025"/>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4643438" y="2551379"/>
            <a:ext cx="28575" cy="134302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4786313" y="2694254"/>
            <a:ext cx="1727002"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Job 3 — Auto-Rotation</a:t>
            </a:r>
            <a:endParaRPr b="0" i="0" sz="1090" u="none" cap="none" strike="noStrike">
              <a:solidFill>
                <a:schemeClr val="dk1"/>
              </a:solidFill>
              <a:latin typeface="Calibri"/>
              <a:ea typeface="Calibri"/>
              <a:cs typeface="Calibri"/>
              <a:sym typeface="Calibri"/>
            </a:endParaRPr>
          </a:p>
        </p:txBody>
      </p:sp>
      <p:sp>
        <p:nvSpPr>
          <p:cNvPr id="517" name="Google Shape;517;p15"/>
          <p:cNvSpPr/>
          <p:nvPr/>
        </p:nvSpPr>
        <p:spPr>
          <a:xfrm>
            <a:off x="7633097" y="2704970"/>
            <a:ext cx="796528" cy="203597"/>
          </a:xfrm>
          <a:prstGeom prst="rect">
            <a:avLst/>
          </a:prstGeom>
          <a:solidFill>
            <a:srgbClr val="00E5FF">
              <a:alpha val="10196"/>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5"/>
          <p:cNvSpPr/>
          <p:nvPr/>
        </p:nvSpPr>
        <p:spPr>
          <a:xfrm>
            <a:off x="7633097" y="2704970"/>
            <a:ext cx="796528" cy="203597"/>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Every 5 min</a:t>
            </a:r>
            <a:endParaRPr b="0" i="0" sz="727" u="none" cap="none" strike="noStrike">
              <a:solidFill>
                <a:schemeClr val="dk1"/>
              </a:solidFill>
              <a:latin typeface="Calibri"/>
              <a:ea typeface="Calibri"/>
              <a:cs typeface="Calibri"/>
              <a:sym typeface="Calibri"/>
            </a:endParaRPr>
          </a:p>
        </p:txBody>
      </p:sp>
      <p:sp>
        <p:nvSpPr>
          <p:cNvPr id="519" name="Google Shape;519;p15"/>
          <p:cNvSpPr/>
          <p:nvPr/>
        </p:nvSpPr>
        <p:spPr>
          <a:xfrm>
            <a:off x="4786313" y="2972860"/>
            <a:ext cx="3643313"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Performs the actual renewal. Generates new key pair, creates CSR, obtains new certificate, performs atomic swap. Adds </a:t>
            </a:r>
            <a:r>
              <a:rPr b="1" i="0" lang="en-US" sz="885" u="none" cap="none" strike="noStrike">
                <a:solidFill>
                  <a:srgbClr val="00E5FF"/>
                </a:solidFill>
                <a:latin typeface="Inter"/>
                <a:ea typeface="Inter"/>
                <a:cs typeface="Inter"/>
                <a:sym typeface="Inter"/>
              </a:rPr>
              <a:t>random jitter (0-30 min)</a:t>
            </a:r>
            <a:r>
              <a:rPr b="0" i="0" lang="en-US" sz="942" u="none" cap="none" strike="noStrike">
                <a:solidFill>
                  <a:srgbClr val="E0E0E0"/>
                </a:solidFill>
                <a:latin typeface="Inter"/>
                <a:ea typeface="Inter"/>
                <a:cs typeface="Inter"/>
                <a:sym typeface="Inter"/>
              </a:rPr>
              <a:t> to prevent thundering herd.</a:t>
            </a:r>
            <a:endParaRPr b="0" i="0" sz="942" u="none" cap="none" strike="noStrike">
              <a:solidFill>
                <a:schemeClr val="dk1"/>
              </a:solidFill>
              <a:latin typeface="Calibri"/>
              <a:ea typeface="Calibri"/>
              <a:cs typeface="Calibri"/>
              <a:sym typeface="Calibri"/>
            </a:endParaRPr>
          </a:p>
        </p:txBody>
      </p:sp>
      <p:sp>
        <p:nvSpPr>
          <p:cNvPr id="520" name="Google Shape;520;p15"/>
          <p:cNvSpPr/>
          <p:nvPr/>
        </p:nvSpPr>
        <p:spPr>
          <a:xfrm>
            <a:off x="571500" y="4030135"/>
            <a:ext cx="3929063" cy="115014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571500" y="4030135"/>
            <a:ext cx="28575" cy="115014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714375" y="4173010"/>
            <a:ext cx="1910953"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Job 7 — Trust Store Sync</a:t>
            </a:r>
            <a:endParaRPr b="0" i="0" sz="1090" u="none" cap="none" strike="noStrike">
              <a:solidFill>
                <a:schemeClr val="dk1"/>
              </a:solidFill>
              <a:latin typeface="Calibri"/>
              <a:ea typeface="Calibri"/>
              <a:cs typeface="Calibri"/>
              <a:sym typeface="Calibri"/>
            </a:endParaRPr>
          </a:p>
        </p:txBody>
      </p:sp>
      <p:sp>
        <p:nvSpPr>
          <p:cNvPr id="523" name="Google Shape;523;p15"/>
          <p:cNvSpPr/>
          <p:nvPr/>
        </p:nvSpPr>
        <p:spPr>
          <a:xfrm>
            <a:off x="3500438" y="4183726"/>
            <a:ext cx="857250" cy="203597"/>
          </a:xfrm>
          <a:prstGeom prst="rect">
            <a:avLst/>
          </a:prstGeom>
          <a:solidFill>
            <a:srgbClr val="00E5FF">
              <a:alpha val="10196"/>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3500438" y="4183726"/>
            <a:ext cx="857250" cy="203597"/>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Every 1 hour</a:t>
            </a:r>
            <a:endParaRPr b="0" i="0" sz="727" u="none" cap="none" strike="noStrike">
              <a:solidFill>
                <a:schemeClr val="dk1"/>
              </a:solidFill>
              <a:latin typeface="Calibri"/>
              <a:ea typeface="Calibri"/>
              <a:cs typeface="Calibri"/>
              <a:sym typeface="Calibri"/>
            </a:endParaRPr>
          </a:p>
        </p:txBody>
      </p:sp>
      <p:sp>
        <p:nvSpPr>
          <p:cNvPr id="525" name="Google Shape;525;p15"/>
          <p:cNvSpPr/>
          <p:nvPr/>
        </p:nvSpPr>
        <p:spPr>
          <a:xfrm>
            <a:off x="714375" y="4451617"/>
            <a:ext cx="3643313"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Synchronizes trust bundles across federated regions. Ensures every region can validate certificates issued by any other region.</a:t>
            </a:r>
            <a:endParaRPr b="0" i="0" sz="942" u="none" cap="none" strike="noStrike">
              <a:solidFill>
                <a:schemeClr val="dk1"/>
              </a:solidFill>
              <a:latin typeface="Calibri"/>
              <a:ea typeface="Calibri"/>
              <a:cs typeface="Calibri"/>
              <a:sym typeface="Calibri"/>
            </a:endParaRPr>
          </a:p>
        </p:txBody>
      </p:sp>
      <p:sp>
        <p:nvSpPr>
          <p:cNvPr id="526" name="Google Shape;526;p15"/>
          <p:cNvSpPr/>
          <p:nvPr/>
        </p:nvSpPr>
        <p:spPr>
          <a:xfrm>
            <a:off x="4643438" y="4030135"/>
            <a:ext cx="3929063" cy="1143000"/>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5"/>
          <p:cNvSpPr/>
          <p:nvPr/>
        </p:nvSpPr>
        <p:spPr>
          <a:xfrm>
            <a:off x="4643438" y="4030135"/>
            <a:ext cx="28575" cy="11430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a:off x="4786313" y="4173010"/>
            <a:ext cx="1716286"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Job 8 — Stale Cleanup</a:t>
            </a:r>
            <a:endParaRPr b="0" i="0" sz="1090" u="none" cap="none" strike="noStrike">
              <a:solidFill>
                <a:schemeClr val="dk1"/>
              </a:solidFill>
              <a:latin typeface="Calibri"/>
              <a:ea typeface="Calibri"/>
              <a:cs typeface="Calibri"/>
              <a:sym typeface="Calibri"/>
            </a:endParaRPr>
          </a:p>
        </p:txBody>
      </p:sp>
      <p:sp>
        <p:nvSpPr>
          <p:cNvPr id="529" name="Google Shape;529;p15"/>
          <p:cNvSpPr/>
          <p:nvPr/>
        </p:nvSpPr>
        <p:spPr>
          <a:xfrm>
            <a:off x="7450931" y="4183726"/>
            <a:ext cx="978694" cy="203597"/>
          </a:xfrm>
          <a:prstGeom prst="rect">
            <a:avLst/>
          </a:prstGeom>
          <a:solidFill>
            <a:srgbClr val="00E5FF">
              <a:alpha val="10196"/>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5"/>
          <p:cNvSpPr/>
          <p:nvPr/>
        </p:nvSpPr>
        <p:spPr>
          <a:xfrm>
            <a:off x="7450931" y="4183726"/>
            <a:ext cx="978694" cy="203597"/>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Every 24 hours</a:t>
            </a:r>
            <a:endParaRPr b="0" i="0" sz="727" u="none" cap="none" strike="noStrike">
              <a:solidFill>
                <a:schemeClr val="dk1"/>
              </a:solidFill>
              <a:latin typeface="Calibri"/>
              <a:ea typeface="Calibri"/>
              <a:cs typeface="Calibri"/>
              <a:sym typeface="Calibri"/>
            </a:endParaRPr>
          </a:p>
        </p:txBody>
      </p:sp>
      <p:sp>
        <p:nvSpPr>
          <p:cNvPr id="531" name="Google Shape;531;p15"/>
          <p:cNvSpPr/>
          <p:nvPr/>
        </p:nvSpPr>
        <p:spPr>
          <a:xfrm>
            <a:off x="4786313" y="4451617"/>
            <a:ext cx="3643313"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Removes expired certificates, revoked certificates, and orphaned key material based on retention policy.</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descr="preencoded.png" id="537" name="Google Shape;537;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38" name="Google Shape;538;p16"/>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53E3E"/>
              </a:buClr>
              <a:buSzPts val="834"/>
              <a:buFont typeface="Roboto Mono"/>
              <a:buNone/>
            </a:pPr>
            <a:r>
              <a:rPr b="0" i="0" lang="en-US" sz="834" u="none" cap="none" strike="noStrike">
                <a:solidFill>
                  <a:srgbClr val="E53E3E"/>
                </a:solidFill>
                <a:latin typeface="Roboto Mono"/>
                <a:ea typeface="Roboto Mono"/>
                <a:cs typeface="Roboto Mono"/>
                <a:sym typeface="Roboto Mono"/>
              </a:rPr>
              <a:t>INCIDENT RESPONSE</a:t>
            </a:r>
            <a:endParaRPr b="0" i="0" sz="834" u="none" cap="none" strike="noStrike">
              <a:solidFill>
                <a:schemeClr val="dk1"/>
              </a:solidFill>
              <a:latin typeface="Calibri"/>
              <a:ea typeface="Calibri"/>
              <a:cs typeface="Calibri"/>
              <a:sym typeface="Calibri"/>
            </a:endParaRPr>
          </a:p>
        </p:txBody>
      </p:sp>
      <p:sp>
        <p:nvSpPr>
          <p:cNvPr id="539" name="Google Shape;539;p16"/>
          <p:cNvSpPr/>
          <p:nvPr/>
        </p:nvSpPr>
        <p:spPr>
          <a:xfrm>
            <a:off x="571500" y="650081"/>
            <a:ext cx="8001000" cy="822927"/>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Emergency Revocation — The Global Kill Switch</a:t>
            </a:r>
            <a:endParaRPr b="0" i="0" sz="2436" u="none" cap="none" strike="noStrike">
              <a:solidFill>
                <a:schemeClr val="dk1"/>
              </a:solidFill>
              <a:latin typeface="Calibri"/>
              <a:ea typeface="Calibri"/>
              <a:cs typeface="Calibri"/>
              <a:sym typeface="Calibri"/>
            </a:endParaRPr>
          </a:p>
        </p:txBody>
      </p:sp>
      <p:sp>
        <p:nvSpPr>
          <p:cNvPr id="540" name="Google Shape;540;p16"/>
          <p:cNvSpPr/>
          <p:nvPr/>
        </p:nvSpPr>
        <p:spPr>
          <a:xfrm>
            <a:off x="571500" y="1687320"/>
            <a:ext cx="8001000" cy="737592"/>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571500" y="1687320"/>
            <a:ext cx="57150" cy="737592"/>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785813" y="1830195"/>
            <a:ext cx="1026914"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E53E3E"/>
              </a:buClr>
              <a:buSzPts val="2436"/>
              <a:buFont typeface="Roboto Mono"/>
              <a:buNone/>
            </a:pPr>
            <a:r>
              <a:rPr b="1" i="0" lang="en-US" sz="2436" u="none" cap="none" strike="noStrike">
                <a:solidFill>
                  <a:srgbClr val="E53E3E"/>
                </a:solidFill>
                <a:latin typeface="Roboto Mono"/>
                <a:ea typeface="Roboto Mono"/>
                <a:cs typeface="Roboto Mono"/>
                <a:sym typeface="Roboto Mono"/>
              </a:rPr>
              <a:t>&lt; 90s</a:t>
            </a:r>
            <a:endParaRPr b="0" i="0" sz="2436" u="none" cap="none" strike="noStrike">
              <a:solidFill>
                <a:schemeClr val="dk1"/>
              </a:solidFill>
              <a:latin typeface="Calibri"/>
              <a:ea typeface="Calibri"/>
              <a:cs typeface="Calibri"/>
              <a:sym typeface="Calibri"/>
            </a:endParaRPr>
          </a:p>
        </p:txBody>
      </p:sp>
      <p:sp>
        <p:nvSpPr>
          <p:cNvPr id="543" name="Google Shape;543;p16"/>
          <p:cNvSpPr/>
          <p:nvPr/>
        </p:nvSpPr>
        <p:spPr>
          <a:xfrm>
            <a:off x="2027039" y="1836111"/>
            <a:ext cx="6331148" cy="440010"/>
          </a:xfrm>
          <a:prstGeom prst="rect">
            <a:avLst/>
          </a:prstGeom>
          <a:noFill/>
          <a:ln>
            <a:noFill/>
          </a:ln>
        </p:spPr>
        <p:txBody>
          <a:bodyPr anchorCtr="0" anchor="t" bIns="0" lIns="0" spcFirstLastPara="1" rIns="0" wrap="square" tIns="0">
            <a:noAutofit/>
          </a:bodyPr>
          <a:lstStyle/>
          <a:p>
            <a:pPr indent="0" lvl="0" marL="0" marR="0" rtl="0" algn="l">
              <a:lnSpc>
                <a:spcPct val="146678"/>
              </a:lnSpc>
              <a:spcBef>
                <a:spcPts val="0"/>
              </a:spcBef>
              <a:spcAft>
                <a:spcPts val="0"/>
              </a:spcAft>
              <a:buClr>
                <a:srgbClr val="FFFFFF"/>
              </a:buClr>
              <a:buSzPts val="1159"/>
              <a:buFont typeface="Inter"/>
              <a:buNone/>
            </a:pPr>
            <a:r>
              <a:rPr b="0" i="0" lang="en-US" sz="1159" u="none" cap="none" strike="noStrike">
                <a:solidFill>
                  <a:srgbClr val="FFFFFF"/>
                </a:solidFill>
                <a:latin typeface="Inter"/>
                <a:ea typeface="Inter"/>
                <a:cs typeface="Inter"/>
                <a:sym typeface="Inter"/>
              </a:rPr>
              <a:t>From the moment a compromise is detected to the complete global replacement of the affected cryptographic identity across all environments.</a:t>
            </a:r>
            <a:endParaRPr b="0" i="0" sz="1159" u="none" cap="none" strike="noStrike">
              <a:solidFill>
                <a:schemeClr val="dk1"/>
              </a:solidFill>
              <a:latin typeface="Calibri"/>
              <a:ea typeface="Calibri"/>
              <a:cs typeface="Calibri"/>
              <a:sym typeface="Calibri"/>
            </a:endParaRPr>
          </a:p>
        </p:txBody>
      </p:sp>
      <p:sp>
        <p:nvSpPr>
          <p:cNvPr id="544" name="Google Shape;544;p16"/>
          <p:cNvSpPr/>
          <p:nvPr/>
        </p:nvSpPr>
        <p:spPr>
          <a:xfrm>
            <a:off x="571500" y="2782100"/>
            <a:ext cx="1678781" cy="197881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571500" y="2782100"/>
            <a:ext cx="1678781"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2243138"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571500" y="4753775"/>
            <a:ext cx="16787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571500"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714375" y="2960694"/>
            <a:ext cx="357188" cy="189309"/>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714375" y="2960694"/>
            <a:ext cx="357188" cy="189309"/>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T+0s</a:t>
            </a:r>
            <a:endParaRPr b="0" i="0" sz="727" u="none" cap="none" strike="noStrike">
              <a:solidFill>
                <a:schemeClr val="dk1"/>
              </a:solidFill>
              <a:latin typeface="Calibri"/>
              <a:ea typeface="Calibri"/>
              <a:cs typeface="Calibri"/>
              <a:sym typeface="Calibri"/>
            </a:endParaRPr>
          </a:p>
        </p:txBody>
      </p:sp>
      <p:sp>
        <p:nvSpPr>
          <p:cNvPr id="551" name="Google Shape;551;p16"/>
          <p:cNvSpPr/>
          <p:nvPr/>
        </p:nvSpPr>
        <p:spPr>
          <a:xfrm>
            <a:off x="714375" y="3221441"/>
            <a:ext cx="1393031"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1. Trigger</a:t>
            </a:r>
            <a:endParaRPr b="0" i="0" sz="1090" u="none" cap="none" strike="noStrike">
              <a:solidFill>
                <a:schemeClr val="dk1"/>
              </a:solidFill>
              <a:latin typeface="Calibri"/>
              <a:ea typeface="Calibri"/>
              <a:cs typeface="Calibri"/>
              <a:sym typeface="Calibri"/>
            </a:endParaRPr>
          </a:p>
        </p:txBody>
      </p:sp>
      <p:sp>
        <p:nvSpPr>
          <p:cNvPr id="552" name="Google Shape;552;p16"/>
          <p:cNvSpPr/>
          <p:nvPr/>
        </p:nvSpPr>
        <p:spPr>
          <a:xfrm>
            <a:off x="714375" y="3517906"/>
            <a:ext cx="1393031" cy="10287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Security admin or automated intrusion detection system triggers the </a:t>
            </a:r>
            <a:r>
              <a:rPr b="1" i="0" lang="en-US" sz="784" u="none" cap="none" strike="noStrike">
                <a:solidFill>
                  <a:srgbClr val="FFFFFF"/>
                </a:solidFill>
                <a:latin typeface="Inter"/>
                <a:ea typeface="Inter"/>
                <a:cs typeface="Inter"/>
                <a:sym typeface="Inter"/>
              </a:rPr>
              <a:t>Revocation API</a:t>
            </a:r>
            <a:r>
              <a:rPr b="0" i="0" lang="en-US" sz="834" u="none" cap="none" strike="noStrike">
                <a:solidFill>
                  <a:srgbClr val="E0E0E0"/>
                </a:solidFill>
                <a:latin typeface="Inter"/>
                <a:ea typeface="Inter"/>
                <a:cs typeface="Inter"/>
                <a:sym typeface="Inter"/>
              </a:rPr>
              <a:t> for a specific certificate or entire workload identity.</a:t>
            </a:r>
            <a:endParaRPr b="0" i="0" sz="834" u="none" cap="none" strike="noStrike">
              <a:solidFill>
                <a:schemeClr val="dk1"/>
              </a:solidFill>
              <a:latin typeface="Calibri"/>
              <a:ea typeface="Calibri"/>
              <a:cs typeface="Calibri"/>
              <a:sym typeface="Calibri"/>
            </a:endParaRPr>
          </a:p>
        </p:txBody>
      </p:sp>
      <p:sp>
        <p:nvSpPr>
          <p:cNvPr id="553" name="Google Shape;553;p16"/>
          <p:cNvSpPr/>
          <p:nvPr/>
        </p:nvSpPr>
        <p:spPr>
          <a:xfrm>
            <a:off x="2321719" y="2782100"/>
            <a:ext cx="285750" cy="1978819"/>
          </a:xfrm>
          <a:prstGeom prst="rect">
            <a:avLst/>
          </a:prstGeom>
          <a:noFill/>
          <a:ln>
            <a:noFill/>
          </a:ln>
        </p:spPr>
        <p:txBody>
          <a:bodyPr anchorCtr="0" anchor="ctr" bIns="0" lIns="0" spcFirstLastPara="1" rIns="0" wrap="square" tIns="0">
            <a:noAutofit/>
          </a:bodyPr>
          <a:lstStyle/>
          <a:p>
            <a:pPr indent="0" lvl="0" marL="0" marR="0" rtl="0" algn="ctr">
              <a:lnSpc>
                <a:spcPct val="125391"/>
              </a:lnSpc>
              <a:spcBef>
                <a:spcPts val="0"/>
              </a:spcBef>
              <a:spcAft>
                <a:spcPts val="0"/>
              </a:spcAft>
              <a:buClr>
                <a:srgbClr val="E53E3E"/>
              </a:buClr>
              <a:buSzPts val="1595"/>
              <a:buFont typeface="Inter"/>
              <a:buNone/>
            </a:pPr>
            <a:r>
              <a:rPr b="0" i="0" lang="en-US" sz="1595" u="none" cap="none" strike="noStrike">
                <a:solidFill>
                  <a:srgbClr val="E53E3E"/>
                </a:solidFill>
                <a:latin typeface="Inter"/>
                <a:ea typeface="Inter"/>
                <a:cs typeface="Inter"/>
                <a:sym typeface="Inter"/>
              </a:rPr>
              <a:t>▶</a:t>
            </a:r>
            <a:endParaRPr b="0" i="0" sz="1595" u="none" cap="none" strike="noStrike">
              <a:solidFill>
                <a:schemeClr val="dk1"/>
              </a:solidFill>
              <a:latin typeface="Calibri"/>
              <a:ea typeface="Calibri"/>
              <a:cs typeface="Calibri"/>
              <a:sym typeface="Calibri"/>
            </a:endParaRPr>
          </a:p>
        </p:txBody>
      </p:sp>
      <p:sp>
        <p:nvSpPr>
          <p:cNvPr id="554" name="Google Shape;554;p16"/>
          <p:cNvSpPr/>
          <p:nvPr/>
        </p:nvSpPr>
        <p:spPr>
          <a:xfrm>
            <a:off x="2678906" y="2782100"/>
            <a:ext cx="1678781" cy="197881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2678906" y="2782100"/>
            <a:ext cx="1678781"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4350544"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2678906" y="4753775"/>
            <a:ext cx="16787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2678906"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2821781" y="2960694"/>
            <a:ext cx="357188" cy="189309"/>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2821781" y="2960694"/>
            <a:ext cx="357188" cy="189309"/>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T+5s</a:t>
            </a:r>
            <a:endParaRPr b="0" i="0" sz="727" u="none" cap="none" strike="noStrike">
              <a:solidFill>
                <a:schemeClr val="dk1"/>
              </a:solidFill>
              <a:latin typeface="Calibri"/>
              <a:ea typeface="Calibri"/>
              <a:cs typeface="Calibri"/>
              <a:sym typeface="Calibri"/>
            </a:endParaRPr>
          </a:p>
        </p:txBody>
      </p:sp>
      <p:sp>
        <p:nvSpPr>
          <p:cNvPr id="561" name="Google Shape;561;p16"/>
          <p:cNvSpPr/>
          <p:nvPr/>
        </p:nvSpPr>
        <p:spPr>
          <a:xfrm>
            <a:off x="2821781" y="3221441"/>
            <a:ext cx="1393031"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2. Invalidate</a:t>
            </a:r>
            <a:endParaRPr b="0" i="0" sz="1090" u="none" cap="none" strike="noStrike">
              <a:solidFill>
                <a:schemeClr val="dk1"/>
              </a:solidFill>
              <a:latin typeface="Calibri"/>
              <a:ea typeface="Calibri"/>
              <a:cs typeface="Calibri"/>
              <a:sym typeface="Calibri"/>
            </a:endParaRPr>
          </a:p>
        </p:txBody>
      </p:sp>
      <p:sp>
        <p:nvSpPr>
          <p:cNvPr id="562" name="Google Shape;562;p16"/>
          <p:cNvSpPr/>
          <p:nvPr/>
        </p:nvSpPr>
        <p:spPr>
          <a:xfrm>
            <a:off x="2821781" y="3517906"/>
            <a:ext cx="1393031" cy="10287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Athenz immediately adds the serial number to the </a:t>
            </a:r>
            <a:r>
              <a:rPr b="1" i="0" lang="en-US" sz="784" u="none" cap="none" strike="noStrike">
                <a:solidFill>
                  <a:srgbClr val="FFFFFF"/>
                </a:solidFill>
                <a:latin typeface="Inter"/>
                <a:ea typeface="Inter"/>
                <a:cs typeface="Inter"/>
                <a:sym typeface="Inter"/>
              </a:rPr>
              <a:t>CRL</a:t>
            </a:r>
            <a:r>
              <a:rPr b="0" i="0" lang="en-US" sz="834" u="none" cap="none" strike="noStrike">
                <a:solidFill>
                  <a:srgbClr val="E0E0E0"/>
                </a:solidFill>
                <a:latin typeface="Inter"/>
                <a:ea typeface="Inter"/>
                <a:cs typeface="Inter"/>
                <a:sym typeface="Inter"/>
              </a:rPr>
              <a:t> and updates </a:t>
            </a:r>
            <a:r>
              <a:rPr b="1" i="0" lang="en-US" sz="784" u="none" cap="none" strike="noStrike">
                <a:solidFill>
                  <a:srgbClr val="FFFFFF"/>
                </a:solidFill>
                <a:latin typeface="Inter"/>
                <a:ea typeface="Inter"/>
                <a:cs typeface="Inter"/>
                <a:sym typeface="Inter"/>
              </a:rPr>
              <a:t>OCSP</a:t>
            </a:r>
            <a:r>
              <a:rPr b="0" i="0" lang="en-US" sz="834" u="none" cap="none" strike="noStrike">
                <a:solidFill>
                  <a:srgbClr val="E0E0E0"/>
                </a:solidFill>
                <a:latin typeface="Inter"/>
                <a:ea typeface="Inter"/>
                <a:cs typeface="Inter"/>
                <a:sym typeface="Inter"/>
              </a:rPr>
              <a:t> responders. The certificate is cryptographically dead.</a:t>
            </a:r>
            <a:endParaRPr b="0" i="0" sz="834" u="none" cap="none" strike="noStrike">
              <a:solidFill>
                <a:schemeClr val="dk1"/>
              </a:solidFill>
              <a:latin typeface="Calibri"/>
              <a:ea typeface="Calibri"/>
              <a:cs typeface="Calibri"/>
              <a:sym typeface="Calibri"/>
            </a:endParaRPr>
          </a:p>
        </p:txBody>
      </p:sp>
      <p:sp>
        <p:nvSpPr>
          <p:cNvPr id="563" name="Google Shape;563;p16"/>
          <p:cNvSpPr/>
          <p:nvPr/>
        </p:nvSpPr>
        <p:spPr>
          <a:xfrm>
            <a:off x="4429125" y="2782100"/>
            <a:ext cx="285750" cy="1978819"/>
          </a:xfrm>
          <a:prstGeom prst="rect">
            <a:avLst/>
          </a:prstGeom>
          <a:noFill/>
          <a:ln>
            <a:noFill/>
          </a:ln>
        </p:spPr>
        <p:txBody>
          <a:bodyPr anchorCtr="0" anchor="ctr" bIns="0" lIns="0" spcFirstLastPara="1" rIns="0" wrap="square" tIns="0">
            <a:noAutofit/>
          </a:bodyPr>
          <a:lstStyle/>
          <a:p>
            <a:pPr indent="0" lvl="0" marL="0" marR="0" rtl="0" algn="ctr">
              <a:lnSpc>
                <a:spcPct val="125391"/>
              </a:lnSpc>
              <a:spcBef>
                <a:spcPts val="0"/>
              </a:spcBef>
              <a:spcAft>
                <a:spcPts val="0"/>
              </a:spcAft>
              <a:buClr>
                <a:srgbClr val="E53E3E"/>
              </a:buClr>
              <a:buSzPts val="1595"/>
              <a:buFont typeface="Inter"/>
              <a:buNone/>
            </a:pPr>
            <a:r>
              <a:rPr b="0" i="0" lang="en-US" sz="1595" u="none" cap="none" strike="noStrike">
                <a:solidFill>
                  <a:srgbClr val="E53E3E"/>
                </a:solidFill>
                <a:latin typeface="Inter"/>
                <a:ea typeface="Inter"/>
                <a:cs typeface="Inter"/>
                <a:sym typeface="Inter"/>
              </a:rPr>
              <a:t>▶</a:t>
            </a:r>
            <a:endParaRPr b="0" i="0" sz="1595" u="none" cap="none" strike="noStrike">
              <a:solidFill>
                <a:schemeClr val="dk1"/>
              </a:solidFill>
              <a:latin typeface="Calibri"/>
              <a:ea typeface="Calibri"/>
              <a:cs typeface="Calibri"/>
              <a:sym typeface="Calibri"/>
            </a:endParaRPr>
          </a:p>
        </p:txBody>
      </p:sp>
      <p:sp>
        <p:nvSpPr>
          <p:cNvPr id="564" name="Google Shape;564;p16"/>
          <p:cNvSpPr/>
          <p:nvPr/>
        </p:nvSpPr>
        <p:spPr>
          <a:xfrm>
            <a:off x="4786313" y="2782100"/>
            <a:ext cx="1678781" cy="197881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4786313" y="2782100"/>
            <a:ext cx="1678781"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6457950"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a:off x="4786313" y="4753775"/>
            <a:ext cx="16787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4786313"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4929188" y="2960694"/>
            <a:ext cx="417909" cy="189309"/>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a:off x="4929188" y="2960694"/>
            <a:ext cx="417909" cy="189309"/>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T+15s</a:t>
            </a:r>
            <a:endParaRPr b="0" i="0" sz="727" u="none" cap="none" strike="noStrike">
              <a:solidFill>
                <a:schemeClr val="dk1"/>
              </a:solidFill>
              <a:latin typeface="Calibri"/>
              <a:ea typeface="Calibri"/>
              <a:cs typeface="Calibri"/>
              <a:sym typeface="Calibri"/>
            </a:endParaRPr>
          </a:p>
        </p:txBody>
      </p:sp>
      <p:sp>
        <p:nvSpPr>
          <p:cNvPr id="571" name="Google Shape;571;p16"/>
          <p:cNvSpPr/>
          <p:nvPr/>
        </p:nvSpPr>
        <p:spPr>
          <a:xfrm>
            <a:off x="4929188" y="3221441"/>
            <a:ext cx="1393031"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3. Propagate</a:t>
            </a:r>
            <a:endParaRPr b="0" i="0" sz="1090" u="none" cap="none" strike="noStrike">
              <a:solidFill>
                <a:schemeClr val="dk1"/>
              </a:solidFill>
              <a:latin typeface="Calibri"/>
              <a:ea typeface="Calibri"/>
              <a:cs typeface="Calibri"/>
              <a:sym typeface="Calibri"/>
            </a:endParaRPr>
          </a:p>
        </p:txBody>
      </p:sp>
      <p:sp>
        <p:nvSpPr>
          <p:cNvPr id="572" name="Google Shape;572;p16"/>
          <p:cNvSpPr/>
          <p:nvPr/>
        </p:nvSpPr>
        <p:spPr>
          <a:xfrm>
            <a:off x="4929188" y="3517906"/>
            <a:ext cx="1393031" cy="85725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OpAMP Server pushes a high-priority </a:t>
            </a:r>
            <a:r>
              <a:rPr b="1" i="0" lang="en-US" sz="784" u="none" cap="none" strike="noStrike">
                <a:solidFill>
                  <a:srgbClr val="FFFFFF"/>
                </a:solidFill>
                <a:latin typeface="Inter"/>
                <a:ea typeface="Inter"/>
                <a:cs typeface="Inter"/>
                <a:sym typeface="Inter"/>
              </a:rPr>
              <a:t>revocation event</a:t>
            </a:r>
            <a:r>
              <a:rPr b="0" i="0" lang="en-US" sz="834" u="none" cap="none" strike="noStrike">
                <a:solidFill>
                  <a:srgbClr val="E0E0E0"/>
                </a:solidFill>
                <a:latin typeface="Inter"/>
                <a:ea typeface="Inter"/>
                <a:cs typeface="Inter"/>
                <a:sym typeface="Inter"/>
              </a:rPr>
              <a:t> down through the Supervisor Proxies to all connected agents.</a:t>
            </a:r>
            <a:endParaRPr b="0" i="0" sz="834" u="none" cap="none" strike="noStrike">
              <a:solidFill>
                <a:schemeClr val="dk1"/>
              </a:solidFill>
              <a:latin typeface="Calibri"/>
              <a:ea typeface="Calibri"/>
              <a:cs typeface="Calibri"/>
              <a:sym typeface="Calibri"/>
            </a:endParaRPr>
          </a:p>
        </p:txBody>
      </p:sp>
      <p:sp>
        <p:nvSpPr>
          <p:cNvPr id="573" name="Google Shape;573;p16"/>
          <p:cNvSpPr/>
          <p:nvPr/>
        </p:nvSpPr>
        <p:spPr>
          <a:xfrm>
            <a:off x="6536531" y="2782100"/>
            <a:ext cx="285750" cy="1978819"/>
          </a:xfrm>
          <a:prstGeom prst="rect">
            <a:avLst/>
          </a:prstGeom>
          <a:noFill/>
          <a:ln>
            <a:noFill/>
          </a:ln>
        </p:spPr>
        <p:txBody>
          <a:bodyPr anchorCtr="0" anchor="ctr" bIns="0" lIns="0" spcFirstLastPara="1" rIns="0" wrap="square" tIns="0">
            <a:noAutofit/>
          </a:bodyPr>
          <a:lstStyle/>
          <a:p>
            <a:pPr indent="0" lvl="0" marL="0" marR="0" rtl="0" algn="ctr">
              <a:lnSpc>
                <a:spcPct val="125391"/>
              </a:lnSpc>
              <a:spcBef>
                <a:spcPts val="0"/>
              </a:spcBef>
              <a:spcAft>
                <a:spcPts val="0"/>
              </a:spcAft>
              <a:buClr>
                <a:srgbClr val="E53E3E"/>
              </a:buClr>
              <a:buSzPts val="1595"/>
              <a:buFont typeface="Inter"/>
              <a:buNone/>
            </a:pPr>
            <a:r>
              <a:rPr b="0" i="0" lang="en-US" sz="1595" u="none" cap="none" strike="noStrike">
                <a:solidFill>
                  <a:srgbClr val="E53E3E"/>
                </a:solidFill>
                <a:latin typeface="Inter"/>
                <a:ea typeface="Inter"/>
                <a:cs typeface="Inter"/>
                <a:sym typeface="Inter"/>
              </a:rPr>
              <a:t>▶</a:t>
            </a:r>
            <a:endParaRPr b="0" i="0" sz="1595" u="none" cap="none" strike="noStrike">
              <a:solidFill>
                <a:schemeClr val="dk1"/>
              </a:solidFill>
              <a:latin typeface="Calibri"/>
              <a:ea typeface="Calibri"/>
              <a:cs typeface="Calibri"/>
              <a:sym typeface="Calibri"/>
            </a:endParaRPr>
          </a:p>
        </p:txBody>
      </p:sp>
      <p:sp>
        <p:nvSpPr>
          <p:cNvPr id="574" name="Google Shape;574;p16"/>
          <p:cNvSpPr/>
          <p:nvPr/>
        </p:nvSpPr>
        <p:spPr>
          <a:xfrm>
            <a:off x="6893719" y="2782100"/>
            <a:ext cx="1678781" cy="197881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6893719" y="2782100"/>
            <a:ext cx="1678781"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8565356"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6893719" y="4753775"/>
            <a:ext cx="16787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6893719" y="2782100"/>
            <a:ext cx="7144" cy="1978819"/>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7036594" y="2960694"/>
            <a:ext cx="417909" cy="189309"/>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7036594" y="2960694"/>
            <a:ext cx="417909" cy="189309"/>
          </a:xfrm>
          <a:prstGeom prst="rect">
            <a:avLst/>
          </a:prstGeom>
          <a:noFill/>
          <a:ln>
            <a:noFill/>
          </a:ln>
        </p:spPr>
        <p:txBody>
          <a:bodyPr anchorCtr="0" anchor="t" bIns="34025" lIns="68050" spcFirstLastPara="1" rIns="68050" wrap="square" tIns="34025">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T+85s</a:t>
            </a:r>
            <a:endParaRPr b="0" i="0" sz="727" u="none" cap="none" strike="noStrike">
              <a:solidFill>
                <a:schemeClr val="dk1"/>
              </a:solidFill>
              <a:latin typeface="Calibri"/>
              <a:ea typeface="Calibri"/>
              <a:cs typeface="Calibri"/>
              <a:sym typeface="Calibri"/>
            </a:endParaRPr>
          </a:p>
        </p:txBody>
      </p:sp>
      <p:sp>
        <p:nvSpPr>
          <p:cNvPr id="581" name="Google Shape;581;p16"/>
          <p:cNvSpPr/>
          <p:nvPr/>
        </p:nvSpPr>
        <p:spPr>
          <a:xfrm>
            <a:off x="7036594" y="3221441"/>
            <a:ext cx="1393031" cy="18930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Inter"/>
              <a:buNone/>
            </a:pPr>
            <a:r>
              <a:rPr b="1" i="0" lang="en-US" sz="1090" u="none" cap="none" strike="noStrike">
                <a:solidFill>
                  <a:srgbClr val="FFFFFF"/>
                </a:solidFill>
                <a:latin typeface="Inter"/>
                <a:ea typeface="Inter"/>
                <a:cs typeface="Inter"/>
                <a:sym typeface="Inter"/>
              </a:rPr>
              <a:t>4. Force Rotate</a:t>
            </a:r>
            <a:endParaRPr b="0" i="0" sz="1090" u="none" cap="none" strike="noStrike">
              <a:solidFill>
                <a:schemeClr val="dk1"/>
              </a:solidFill>
              <a:latin typeface="Calibri"/>
              <a:ea typeface="Calibri"/>
              <a:cs typeface="Calibri"/>
              <a:sym typeface="Calibri"/>
            </a:endParaRPr>
          </a:p>
        </p:txBody>
      </p:sp>
      <p:sp>
        <p:nvSpPr>
          <p:cNvPr id="582" name="Google Shape;582;p16"/>
          <p:cNvSpPr/>
          <p:nvPr/>
        </p:nvSpPr>
        <p:spPr>
          <a:xfrm>
            <a:off x="7036594" y="3517906"/>
            <a:ext cx="1393031" cy="10287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Agent instantly drops the compromised key, generates a new keypair, requests a new certificate, and performs an </a:t>
            </a:r>
            <a:r>
              <a:rPr b="1" i="0" lang="en-US" sz="784" u="none" cap="none" strike="noStrike">
                <a:solidFill>
                  <a:srgbClr val="FFFFFF"/>
                </a:solidFill>
                <a:latin typeface="Inter"/>
                <a:ea typeface="Inter"/>
                <a:cs typeface="Inter"/>
                <a:sym typeface="Inter"/>
              </a:rPr>
              <a:t>atomic hot-reload</a:t>
            </a:r>
            <a:r>
              <a:rPr b="0" i="0" lang="en-US" sz="834" u="none" cap="none" strike="noStrike">
                <a:solidFill>
                  <a:srgbClr val="E0E0E0"/>
                </a:solidFill>
                <a:latin typeface="Inter"/>
                <a:ea typeface="Inter"/>
                <a:cs typeface="Inter"/>
                <a:sym typeface="Inter"/>
              </a:rPr>
              <a:t>.</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descr="preencoded.png" id="588" name="Google Shape;588;p17"/>
          <p:cNvPicPr preferRelativeResize="0"/>
          <p:nvPr/>
        </p:nvPicPr>
        <p:blipFill rotWithShape="1">
          <a:blip r:embed="rId3">
            <a:alphaModFix/>
          </a:blip>
          <a:srcRect b="0" l="0" r="0" t="0"/>
          <a:stretch/>
        </p:blipFill>
        <p:spPr>
          <a:xfrm>
            <a:off x="0" y="0"/>
            <a:ext cx="9144000" cy="5230927"/>
          </a:xfrm>
          <a:prstGeom prst="rect">
            <a:avLst/>
          </a:prstGeom>
          <a:noFill/>
          <a:ln>
            <a:noFill/>
          </a:ln>
        </p:spPr>
      </p:pic>
      <p:sp>
        <p:nvSpPr>
          <p:cNvPr id="589" name="Google Shape;589;p17"/>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CERT-OPS-SCHEDULER</a:t>
            </a:r>
            <a:endParaRPr b="0" i="0" sz="834" u="none" cap="none" strike="noStrike">
              <a:solidFill>
                <a:schemeClr val="dk1"/>
              </a:solidFill>
              <a:latin typeface="Calibri"/>
              <a:ea typeface="Calibri"/>
              <a:cs typeface="Calibri"/>
              <a:sym typeface="Calibri"/>
            </a:endParaRPr>
          </a:p>
        </p:txBody>
      </p:sp>
      <p:sp>
        <p:nvSpPr>
          <p:cNvPr id="590" name="Google Shape;590;p17"/>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Security Enforcement</a:t>
            </a:r>
            <a:endParaRPr b="0" i="0" sz="2436" u="none" cap="none" strike="noStrike">
              <a:solidFill>
                <a:schemeClr val="dk1"/>
              </a:solidFill>
              <a:latin typeface="Calibri"/>
              <a:ea typeface="Calibri"/>
              <a:cs typeface="Calibri"/>
              <a:sym typeface="Calibri"/>
            </a:endParaRPr>
          </a:p>
        </p:txBody>
      </p:sp>
      <p:sp>
        <p:nvSpPr>
          <p:cNvPr id="591" name="Google Shape;591;p17"/>
          <p:cNvSpPr/>
          <p:nvPr/>
        </p:nvSpPr>
        <p:spPr>
          <a:xfrm>
            <a:off x="571500" y="1347295"/>
            <a:ext cx="3857625" cy="3308561"/>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7"/>
          <p:cNvSpPr/>
          <p:nvPr/>
        </p:nvSpPr>
        <p:spPr>
          <a:xfrm>
            <a:off x="571500" y="1347295"/>
            <a:ext cx="3857625"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7"/>
          <p:cNvSpPr/>
          <p:nvPr/>
        </p:nvSpPr>
        <p:spPr>
          <a:xfrm>
            <a:off x="4421981" y="1347295"/>
            <a:ext cx="7144" cy="3308561"/>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7"/>
          <p:cNvSpPr/>
          <p:nvPr/>
        </p:nvSpPr>
        <p:spPr>
          <a:xfrm>
            <a:off x="571500" y="4648712"/>
            <a:ext cx="38576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7"/>
          <p:cNvSpPr/>
          <p:nvPr/>
        </p:nvSpPr>
        <p:spPr>
          <a:xfrm>
            <a:off x="571500" y="1347295"/>
            <a:ext cx="7144" cy="3308561"/>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7"/>
          <p:cNvSpPr/>
          <p:nvPr/>
        </p:nvSpPr>
        <p:spPr>
          <a:xfrm>
            <a:off x="785813" y="1561607"/>
            <a:ext cx="200560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JOB 4</a:t>
            </a:r>
            <a:endParaRPr b="0" i="0" sz="834" u="none" cap="none" strike="noStrike">
              <a:solidFill>
                <a:schemeClr val="dk1"/>
              </a:solidFill>
              <a:latin typeface="Calibri"/>
              <a:ea typeface="Calibri"/>
              <a:cs typeface="Calibri"/>
              <a:sym typeface="Calibri"/>
            </a:endParaRPr>
          </a:p>
        </p:txBody>
      </p:sp>
      <p:sp>
        <p:nvSpPr>
          <p:cNvPr id="597" name="Google Shape;597;p17"/>
          <p:cNvSpPr/>
          <p:nvPr/>
        </p:nvSpPr>
        <p:spPr>
          <a:xfrm>
            <a:off x="785813" y="1747345"/>
            <a:ext cx="2005608" cy="24288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Compliance Scanner</a:t>
            </a:r>
            <a:endParaRPr b="0" i="0" sz="1397" u="none" cap="none" strike="noStrike">
              <a:solidFill>
                <a:schemeClr val="dk1"/>
              </a:solidFill>
              <a:latin typeface="Calibri"/>
              <a:ea typeface="Calibri"/>
              <a:cs typeface="Calibri"/>
              <a:sym typeface="Calibri"/>
            </a:endParaRPr>
          </a:p>
        </p:txBody>
      </p:sp>
      <p:sp>
        <p:nvSpPr>
          <p:cNvPr id="598" name="Google Shape;598;p17"/>
          <p:cNvSpPr/>
          <p:nvPr/>
        </p:nvSpPr>
        <p:spPr>
          <a:xfrm>
            <a:off x="3178969" y="1561607"/>
            <a:ext cx="1035844" cy="232172"/>
          </a:xfrm>
          <a:prstGeom prst="rect">
            <a:avLst/>
          </a:prstGeom>
          <a:solidFill>
            <a:srgbClr val="FFFFFF">
              <a:alpha val="5098"/>
            </a:srgbClr>
          </a:solidFill>
          <a:ln cap="flat" cmpd="sng" w="9525">
            <a:solidFill>
              <a:srgbClr val="E53E3E">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7"/>
          <p:cNvSpPr/>
          <p:nvPr/>
        </p:nvSpPr>
        <p:spPr>
          <a:xfrm>
            <a:off x="3178969" y="1561607"/>
            <a:ext cx="1035844" cy="232172"/>
          </a:xfrm>
          <a:prstGeom prst="rect">
            <a:avLst/>
          </a:prstGeom>
          <a:noFill/>
          <a:ln>
            <a:noFill/>
          </a:ln>
        </p:spPr>
        <p:txBody>
          <a:bodyPr anchorCtr="0" anchor="t" bIns="51050" lIns="102100" spcFirstLastPara="1" rIns="102100" wrap="square" tIns="51050">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Every 24 hours</a:t>
            </a:r>
            <a:endParaRPr b="0" i="0" sz="727" u="none" cap="none" strike="noStrike">
              <a:solidFill>
                <a:schemeClr val="dk1"/>
              </a:solidFill>
              <a:latin typeface="Calibri"/>
              <a:ea typeface="Calibri"/>
              <a:cs typeface="Calibri"/>
              <a:sym typeface="Calibri"/>
            </a:endParaRPr>
          </a:p>
        </p:txBody>
      </p:sp>
      <p:sp>
        <p:nvSpPr>
          <p:cNvPr id="600" name="Google Shape;600;p17"/>
          <p:cNvSpPr/>
          <p:nvPr/>
        </p:nvSpPr>
        <p:spPr>
          <a:xfrm>
            <a:off x="785813" y="2247407"/>
            <a:ext cx="3429000" cy="617153"/>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Scans all active certificates against organizational policy and cryptographic standards. Automatically flags non-compliant certificates for </a:t>
            </a:r>
            <a:r>
              <a:rPr b="1" i="0" lang="en-US" sz="885" u="none" cap="none" strike="noStrike">
                <a:solidFill>
                  <a:srgbClr val="FFFFFF"/>
                </a:solidFill>
                <a:latin typeface="Inter"/>
                <a:ea typeface="Inter"/>
                <a:cs typeface="Inter"/>
                <a:sym typeface="Inter"/>
              </a:rPr>
              <a:t>forced rotation</a:t>
            </a:r>
            <a:r>
              <a:rPr b="0" i="0" lang="en-US" sz="942" u="none" cap="none" strike="noStrike">
                <a:solidFill>
                  <a:srgbClr val="E0E0E0"/>
                </a:solidFill>
                <a:latin typeface="Inter"/>
                <a:ea typeface="Inter"/>
                <a:cs typeface="Inter"/>
                <a:sym typeface="Inter"/>
              </a:rPr>
              <a:t>.</a:t>
            </a:r>
            <a:endParaRPr b="0" i="0" sz="942" u="none" cap="none" strike="noStrike">
              <a:solidFill>
                <a:schemeClr val="dk1"/>
              </a:solidFill>
              <a:latin typeface="Calibri"/>
              <a:ea typeface="Calibri"/>
              <a:cs typeface="Calibri"/>
              <a:sym typeface="Calibri"/>
            </a:endParaRPr>
          </a:p>
        </p:txBody>
      </p:sp>
      <p:sp>
        <p:nvSpPr>
          <p:cNvPr id="601" name="Google Shape;601;p17"/>
          <p:cNvSpPr/>
          <p:nvPr/>
        </p:nvSpPr>
        <p:spPr>
          <a:xfrm>
            <a:off x="785813" y="3037796"/>
            <a:ext cx="3429000" cy="289322"/>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a:off x="785813" y="3037796"/>
            <a:ext cx="14288" cy="289322"/>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a:off x="892969" y="3111912"/>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04" name="Google Shape;604;p17"/>
          <p:cNvSpPr/>
          <p:nvPr/>
        </p:nvSpPr>
        <p:spPr>
          <a:xfrm>
            <a:off x="1053703" y="3109233"/>
            <a:ext cx="2185988" cy="146447"/>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Key Length (RSA ≥ 2048, ECC ≥ 256)</a:t>
            </a:r>
            <a:endParaRPr b="0" i="0" sz="780" u="none" cap="none" strike="noStrike">
              <a:solidFill>
                <a:schemeClr val="dk1"/>
              </a:solidFill>
              <a:latin typeface="Calibri"/>
              <a:ea typeface="Calibri"/>
              <a:cs typeface="Calibri"/>
              <a:sym typeface="Calibri"/>
            </a:endParaRPr>
          </a:p>
        </p:txBody>
      </p:sp>
      <p:sp>
        <p:nvSpPr>
          <p:cNvPr id="605" name="Google Shape;605;p17"/>
          <p:cNvSpPr/>
          <p:nvPr/>
        </p:nvSpPr>
        <p:spPr>
          <a:xfrm>
            <a:off x="785813" y="3412843"/>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
          <p:cNvSpPr/>
          <p:nvPr/>
        </p:nvSpPr>
        <p:spPr>
          <a:xfrm>
            <a:off x="785813" y="3412843"/>
            <a:ext cx="14288" cy="283964"/>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a:off x="892969" y="3484280"/>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08" name="Google Shape;608;p17"/>
          <p:cNvSpPr/>
          <p:nvPr/>
        </p:nvSpPr>
        <p:spPr>
          <a:xfrm>
            <a:off x="1053703" y="3484280"/>
            <a:ext cx="1928813"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Signature Algorithm (No SHA-1)</a:t>
            </a:r>
            <a:endParaRPr b="0" i="0" sz="780" u="none" cap="none" strike="noStrike">
              <a:solidFill>
                <a:schemeClr val="dk1"/>
              </a:solidFill>
              <a:latin typeface="Calibri"/>
              <a:ea typeface="Calibri"/>
              <a:cs typeface="Calibri"/>
              <a:sym typeface="Calibri"/>
            </a:endParaRPr>
          </a:p>
        </p:txBody>
      </p:sp>
      <p:sp>
        <p:nvSpPr>
          <p:cNvPr id="609" name="Google Shape;609;p17"/>
          <p:cNvSpPr/>
          <p:nvPr/>
        </p:nvSpPr>
        <p:spPr>
          <a:xfrm>
            <a:off x="785813" y="3782532"/>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a:off x="785813" y="3782532"/>
            <a:ext cx="14288" cy="283964"/>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a:off x="892969" y="3853969"/>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12" name="Google Shape;612;p17"/>
          <p:cNvSpPr/>
          <p:nvPr/>
        </p:nvSpPr>
        <p:spPr>
          <a:xfrm>
            <a:off x="1053703" y="3853969"/>
            <a:ext cx="1414463"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Validity Period Limits</a:t>
            </a:r>
            <a:endParaRPr b="0" i="0" sz="780" u="none" cap="none" strike="noStrike">
              <a:solidFill>
                <a:schemeClr val="dk1"/>
              </a:solidFill>
              <a:latin typeface="Calibri"/>
              <a:ea typeface="Calibri"/>
              <a:cs typeface="Calibri"/>
              <a:sym typeface="Calibri"/>
            </a:endParaRPr>
          </a:p>
        </p:txBody>
      </p:sp>
      <p:sp>
        <p:nvSpPr>
          <p:cNvPr id="613" name="Google Shape;613;p17"/>
          <p:cNvSpPr/>
          <p:nvPr/>
        </p:nvSpPr>
        <p:spPr>
          <a:xfrm>
            <a:off x="785813" y="4152221"/>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a:off x="785813" y="4152221"/>
            <a:ext cx="14288" cy="283964"/>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
          <p:cNvSpPr/>
          <p:nvPr/>
        </p:nvSpPr>
        <p:spPr>
          <a:xfrm>
            <a:off x="892969" y="4223658"/>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16" name="Google Shape;616;p17"/>
          <p:cNvSpPr/>
          <p:nvPr/>
        </p:nvSpPr>
        <p:spPr>
          <a:xfrm>
            <a:off x="1053703" y="4223658"/>
            <a:ext cx="2185988"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Approved Subject Alternative Names</a:t>
            </a:r>
            <a:endParaRPr b="0" i="0" sz="780" u="none" cap="none" strike="noStrike">
              <a:solidFill>
                <a:schemeClr val="dk1"/>
              </a:solidFill>
              <a:latin typeface="Calibri"/>
              <a:ea typeface="Calibri"/>
              <a:cs typeface="Calibri"/>
              <a:sym typeface="Calibri"/>
            </a:endParaRPr>
          </a:p>
        </p:txBody>
      </p:sp>
      <p:sp>
        <p:nvSpPr>
          <p:cNvPr id="617" name="Google Shape;617;p17"/>
          <p:cNvSpPr/>
          <p:nvPr/>
        </p:nvSpPr>
        <p:spPr>
          <a:xfrm>
            <a:off x="4714875" y="1347295"/>
            <a:ext cx="3857625" cy="3303203"/>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a:off x="4714875" y="1347295"/>
            <a:ext cx="3857625"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7"/>
          <p:cNvSpPr/>
          <p:nvPr/>
        </p:nvSpPr>
        <p:spPr>
          <a:xfrm>
            <a:off x="8565356" y="1347295"/>
            <a:ext cx="7144" cy="330320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7"/>
          <p:cNvSpPr/>
          <p:nvPr/>
        </p:nvSpPr>
        <p:spPr>
          <a:xfrm>
            <a:off x="4714875" y="4643354"/>
            <a:ext cx="38576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p:nvPr/>
        </p:nvSpPr>
        <p:spPr>
          <a:xfrm>
            <a:off x="4714875" y="1347295"/>
            <a:ext cx="7144" cy="330320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7"/>
          <p:cNvSpPr/>
          <p:nvPr/>
        </p:nvSpPr>
        <p:spPr>
          <a:xfrm>
            <a:off x="4929188" y="1561607"/>
            <a:ext cx="1471613"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JOB 6</a:t>
            </a:r>
            <a:endParaRPr b="0" i="0" sz="834" u="none" cap="none" strike="noStrike">
              <a:solidFill>
                <a:schemeClr val="dk1"/>
              </a:solidFill>
              <a:latin typeface="Calibri"/>
              <a:ea typeface="Calibri"/>
              <a:cs typeface="Calibri"/>
              <a:sym typeface="Calibri"/>
            </a:endParaRPr>
          </a:p>
        </p:txBody>
      </p:sp>
      <p:sp>
        <p:nvSpPr>
          <p:cNvPr id="623" name="Google Shape;623;p17"/>
          <p:cNvSpPr/>
          <p:nvPr/>
        </p:nvSpPr>
        <p:spPr>
          <a:xfrm>
            <a:off x="4929188" y="1747345"/>
            <a:ext cx="1471613" cy="24288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Chain Validator</a:t>
            </a:r>
            <a:endParaRPr b="0" i="0" sz="1397" u="none" cap="none" strike="noStrike">
              <a:solidFill>
                <a:schemeClr val="dk1"/>
              </a:solidFill>
              <a:latin typeface="Calibri"/>
              <a:ea typeface="Calibri"/>
              <a:cs typeface="Calibri"/>
              <a:sym typeface="Calibri"/>
            </a:endParaRPr>
          </a:p>
        </p:txBody>
      </p:sp>
      <p:sp>
        <p:nvSpPr>
          <p:cNvPr id="624" name="Google Shape;624;p17"/>
          <p:cNvSpPr/>
          <p:nvPr/>
        </p:nvSpPr>
        <p:spPr>
          <a:xfrm>
            <a:off x="7383066" y="1561607"/>
            <a:ext cx="975122" cy="232172"/>
          </a:xfrm>
          <a:prstGeom prst="rect">
            <a:avLst/>
          </a:prstGeom>
          <a:solidFill>
            <a:srgbClr val="FFFFFF">
              <a:alpha val="5098"/>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7"/>
          <p:cNvSpPr/>
          <p:nvPr/>
        </p:nvSpPr>
        <p:spPr>
          <a:xfrm>
            <a:off x="7383066" y="1561607"/>
            <a:ext cx="975122" cy="232172"/>
          </a:xfrm>
          <a:prstGeom prst="rect">
            <a:avLst/>
          </a:prstGeom>
          <a:noFill/>
          <a:ln>
            <a:noFill/>
          </a:ln>
        </p:spPr>
        <p:txBody>
          <a:bodyPr anchorCtr="0" anchor="t" bIns="51050" lIns="102100" spcFirstLastPara="1" rIns="102100" wrap="square" tIns="5105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Every 6 hours</a:t>
            </a:r>
            <a:endParaRPr b="0" i="0" sz="727" u="none" cap="none" strike="noStrike">
              <a:solidFill>
                <a:schemeClr val="dk1"/>
              </a:solidFill>
              <a:latin typeface="Calibri"/>
              <a:ea typeface="Calibri"/>
              <a:cs typeface="Calibri"/>
              <a:sym typeface="Calibri"/>
            </a:endParaRPr>
          </a:p>
        </p:txBody>
      </p:sp>
      <p:sp>
        <p:nvSpPr>
          <p:cNvPr id="626" name="Google Shape;626;p17"/>
          <p:cNvSpPr/>
          <p:nvPr/>
        </p:nvSpPr>
        <p:spPr>
          <a:xfrm>
            <a:off x="4929188" y="2247407"/>
            <a:ext cx="3429000" cy="617153"/>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Verifies the entire certificate chain of trust up to the Root CA. Ensures that no intermediate authorities have been compromised or unexpectedly expired.</a:t>
            </a:r>
            <a:endParaRPr b="0" i="0" sz="942" u="none" cap="none" strike="noStrike">
              <a:solidFill>
                <a:schemeClr val="dk1"/>
              </a:solidFill>
              <a:latin typeface="Calibri"/>
              <a:ea typeface="Calibri"/>
              <a:cs typeface="Calibri"/>
              <a:sym typeface="Calibri"/>
            </a:endParaRPr>
          </a:p>
        </p:txBody>
      </p:sp>
      <p:sp>
        <p:nvSpPr>
          <p:cNvPr id="627" name="Google Shape;627;p17"/>
          <p:cNvSpPr/>
          <p:nvPr/>
        </p:nvSpPr>
        <p:spPr>
          <a:xfrm>
            <a:off x="4929188" y="3012793"/>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a:off x="4929188" y="3012793"/>
            <a:ext cx="14288" cy="28396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7"/>
          <p:cNvSpPr/>
          <p:nvPr/>
        </p:nvSpPr>
        <p:spPr>
          <a:xfrm>
            <a:off x="5036344" y="3084230"/>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30" name="Google Shape;630;p17"/>
          <p:cNvSpPr/>
          <p:nvPr/>
        </p:nvSpPr>
        <p:spPr>
          <a:xfrm>
            <a:off x="5197078" y="3084230"/>
            <a:ext cx="2057400"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Intermediate CA Expiration Check</a:t>
            </a:r>
            <a:endParaRPr b="0" i="0" sz="780" u="none" cap="none" strike="noStrike">
              <a:solidFill>
                <a:schemeClr val="dk1"/>
              </a:solidFill>
              <a:latin typeface="Calibri"/>
              <a:ea typeface="Calibri"/>
              <a:cs typeface="Calibri"/>
              <a:sym typeface="Calibri"/>
            </a:endParaRPr>
          </a:p>
        </p:txBody>
      </p:sp>
      <p:sp>
        <p:nvSpPr>
          <p:cNvPr id="631" name="Google Shape;631;p17"/>
          <p:cNvSpPr/>
          <p:nvPr/>
        </p:nvSpPr>
        <p:spPr>
          <a:xfrm>
            <a:off x="4929188" y="3382482"/>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7"/>
          <p:cNvSpPr/>
          <p:nvPr/>
        </p:nvSpPr>
        <p:spPr>
          <a:xfrm>
            <a:off x="4929188" y="3382482"/>
            <a:ext cx="14288" cy="28396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7"/>
          <p:cNvSpPr/>
          <p:nvPr/>
        </p:nvSpPr>
        <p:spPr>
          <a:xfrm>
            <a:off x="5036344" y="3453919"/>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34" name="Google Shape;634;p17"/>
          <p:cNvSpPr/>
          <p:nvPr/>
        </p:nvSpPr>
        <p:spPr>
          <a:xfrm>
            <a:off x="5197078" y="3453919"/>
            <a:ext cx="2443163"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CRL (Certificate Revocation List) Sync</a:t>
            </a:r>
            <a:endParaRPr b="0" i="0" sz="780" u="none" cap="none" strike="noStrike">
              <a:solidFill>
                <a:schemeClr val="dk1"/>
              </a:solidFill>
              <a:latin typeface="Calibri"/>
              <a:ea typeface="Calibri"/>
              <a:cs typeface="Calibri"/>
              <a:sym typeface="Calibri"/>
            </a:endParaRPr>
          </a:p>
        </p:txBody>
      </p:sp>
      <p:sp>
        <p:nvSpPr>
          <p:cNvPr id="635" name="Google Shape;635;p17"/>
          <p:cNvSpPr/>
          <p:nvPr/>
        </p:nvSpPr>
        <p:spPr>
          <a:xfrm>
            <a:off x="4929188" y="3752171"/>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7"/>
          <p:cNvSpPr/>
          <p:nvPr/>
        </p:nvSpPr>
        <p:spPr>
          <a:xfrm>
            <a:off x="4929188" y="3752171"/>
            <a:ext cx="14288" cy="28396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
          <p:cNvSpPr/>
          <p:nvPr/>
        </p:nvSpPr>
        <p:spPr>
          <a:xfrm>
            <a:off x="5036344" y="3823608"/>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38" name="Google Shape;638;p17"/>
          <p:cNvSpPr/>
          <p:nvPr/>
        </p:nvSpPr>
        <p:spPr>
          <a:xfrm>
            <a:off x="5197078" y="3823608"/>
            <a:ext cx="1543050"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OCSP Endpoint Validation</a:t>
            </a:r>
            <a:endParaRPr b="0" i="0" sz="780" u="none" cap="none" strike="noStrike">
              <a:solidFill>
                <a:schemeClr val="dk1"/>
              </a:solidFill>
              <a:latin typeface="Calibri"/>
              <a:ea typeface="Calibri"/>
              <a:cs typeface="Calibri"/>
              <a:sym typeface="Calibri"/>
            </a:endParaRPr>
          </a:p>
        </p:txBody>
      </p:sp>
      <p:sp>
        <p:nvSpPr>
          <p:cNvPr id="639" name="Google Shape;639;p17"/>
          <p:cNvSpPr/>
          <p:nvPr/>
        </p:nvSpPr>
        <p:spPr>
          <a:xfrm>
            <a:off x="4929188" y="4121860"/>
            <a:ext cx="3429000" cy="283964"/>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7"/>
          <p:cNvSpPr/>
          <p:nvPr/>
        </p:nvSpPr>
        <p:spPr>
          <a:xfrm>
            <a:off x="4929188" y="4121860"/>
            <a:ext cx="14288" cy="28396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7"/>
          <p:cNvSpPr/>
          <p:nvPr/>
        </p:nvSpPr>
        <p:spPr>
          <a:xfrm>
            <a:off x="5036344" y="4193298"/>
            <a:ext cx="89297" cy="141089"/>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00E676"/>
              </a:buClr>
              <a:buSzPts val="734"/>
              <a:buFont typeface="Roboto Mono"/>
              <a:buNone/>
            </a:pPr>
            <a:r>
              <a:rPr b="1" i="0" lang="en-US" sz="734" u="none" cap="none" strike="noStrike">
                <a:solidFill>
                  <a:srgbClr val="00E676"/>
                </a:solidFill>
                <a:latin typeface="Roboto Mono"/>
                <a:ea typeface="Roboto Mono"/>
                <a:cs typeface="Roboto Mono"/>
                <a:sym typeface="Roboto Mono"/>
              </a:rPr>
              <a:t>✓</a:t>
            </a:r>
            <a:endParaRPr b="0" i="0" sz="734" u="none" cap="none" strike="noStrike">
              <a:solidFill>
                <a:schemeClr val="dk1"/>
              </a:solidFill>
              <a:latin typeface="Calibri"/>
              <a:ea typeface="Calibri"/>
              <a:cs typeface="Calibri"/>
              <a:sym typeface="Calibri"/>
            </a:endParaRPr>
          </a:p>
        </p:txBody>
      </p:sp>
      <p:sp>
        <p:nvSpPr>
          <p:cNvPr id="642" name="Google Shape;642;p17"/>
          <p:cNvSpPr/>
          <p:nvPr/>
        </p:nvSpPr>
        <p:spPr>
          <a:xfrm>
            <a:off x="5197078" y="4193298"/>
            <a:ext cx="1414463" cy="141089"/>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A0AEC0"/>
              </a:buClr>
              <a:buSzPts val="780"/>
              <a:buFont typeface="Roboto Mono"/>
              <a:buNone/>
            </a:pPr>
            <a:r>
              <a:rPr b="0" i="0" lang="en-US" sz="780" u="none" cap="none" strike="noStrike">
                <a:solidFill>
                  <a:srgbClr val="A0AEC0"/>
                </a:solidFill>
                <a:latin typeface="Roboto Mono"/>
                <a:ea typeface="Roboto Mono"/>
                <a:cs typeface="Roboto Mono"/>
                <a:sym typeface="Roboto Mono"/>
              </a:rPr>
              <a:t>Trust Bundle Integrity</a:t>
            </a:r>
            <a:endParaRPr b="0" i="0" sz="780" u="none" cap="none" strike="noStrike">
              <a:solidFill>
                <a:schemeClr val="dk1"/>
              </a:solidFill>
              <a:latin typeface="Calibri"/>
              <a:ea typeface="Calibri"/>
              <a:cs typeface="Calibri"/>
              <a:sym typeface="Calibri"/>
            </a:endParaRPr>
          </a:p>
        </p:txBody>
      </p:sp>
      <p:sp>
        <p:nvSpPr>
          <p:cNvPr id="643" name="Google Shape;643;p17"/>
          <p:cNvSpPr/>
          <p:nvPr/>
        </p:nvSpPr>
        <p:spPr>
          <a:xfrm>
            <a:off x="571500" y="4705862"/>
            <a:ext cx="8001000" cy="489347"/>
          </a:xfrm>
          <a:prstGeom prst="rect">
            <a:avLst/>
          </a:prstGeom>
          <a:solidFill>
            <a:srgbClr val="00E676">
              <a:alpha val="10196"/>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7"/>
          <p:cNvSpPr/>
          <p:nvPr/>
        </p:nvSpPr>
        <p:spPr>
          <a:xfrm>
            <a:off x="1111746" y="4848737"/>
            <a:ext cx="2214563" cy="189309"/>
          </a:xfrm>
          <a:prstGeom prst="rect">
            <a:avLst/>
          </a:prstGeom>
          <a:noFill/>
          <a:ln>
            <a:noFill/>
          </a:ln>
        </p:spPr>
        <p:txBody>
          <a:bodyPr anchorCtr="0" anchor="t" bIns="0" lIns="0" spcFirstLastPara="1" rIns="170050" wrap="square" tIns="0">
            <a:noAutofit/>
          </a:bodyPr>
          <a:lstStyle/>
          <a:p>
            <a:pPr indent="0" lvl="0" marL="0" marR="0" rtl="0" algn="l">
              <a:lnSpc>
                <a:spcPct val="141843"/>
              </a:lnSpc>
              <a:spcBef>
                <a:spcPts val="0"/>
              </a:spcBef>
              <a:spcAft>
                <a:spcPts val="0"/>
              </a:spcAft>
              <a:buClr>
                <a:srgbClr val="00E676"/>
              </a:buClr>
              <a:buSzPts val="987"/>
              <a:buFont typeface="Roboto Mono"/>
              <a:buNone/>
            </a:pPr>
            <a:r>
              <a:rPr b="1" i="0" lang="en-US" sz="987" u="none" cap="none" strike="noStrike">
                <a:solidFill>
                  <a:srgbClr val="00E676"/>
                </a:solidFill>
                <a:latin typeface="Roboto Mono"/>
                <a:ea typeface="Roboto Mono"/>
                <a:cs typeface="Roboto Mono"/>
                <a:sym typeface="Roboto Mono"/>
              </a:rPr>
              <a:t>NIST SP 800-57 ADHERENCE</a:t>
            </a:r>
            <a:endParaRPr b="0" i="0" sz="987" u="none" cap="none" strike="noStrike">
              <a:solidFill>
                <a:schemeClr val="dk1"/>
              </a:solidFill>
              <a:latin typeface="Calibri"/>
              <a:ea typeface="Calibri"/>
              <a:cs typeface="Calibri"/>
              <a:sym typeface="Calibri"/>
            </a:endParaRPr>
          </a:p>
        </p:txBody>
      </p:sp>
      <p:sp>
        <p:nvSpPr>
          <p:cNvPr id="645" name="Google Shape;645;p17"/>
          <p:cNvSpPr/>
          <p:nvPr/>
        </p:nvSpPr>
        <p:spPr>
          <a:xfrm>
            <a:off x="3469184" y="4865703"/>
            <a:ext cx="4563070" cy="155377"/>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Continuous enforcement of cryptographic key management best practices.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descr="preencoded.png" id="651" name="Google Shape;651;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52" name="Google Shape;652;p18"/>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SECURITY ARCHITECTURE</a:t>
            </a:r>
            <a:endParaRPr b="0" i="0" sz="834" u="none" cap="none" strike="noStrike">
              <a:solidFill>
                <a:schemeClr val="dk1"/>
              </a:solidFill>
              <a:latin typeface="Calibri"/>
              <a:ea typeface="Calibri"/>
              <a:cs typeface="Calibri"/>
              <a:sym typeface="Calibri"/>
            </a:endParaRPr>
          </a:p>
        </p:txBody>
      </p:sp>
      <p:sp>
        <p:nvSpPr>
          <p:cNvPr id="653" name="Google Shape;653;p18"/>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Defense in Depth</a:t>
            </a:r>
            <a:endParaRPr b="0" i="0" sz="2436" u="none" cap="none" strike="noStrike">
              <a:solidFill>
                <a:schemeClr val="dk1"/>
              </a:solidFill>
              <a:latin typeface="Calibri"/>
              <a:ea typeface="Calibri"/>
              <a:cs typeface="Calibri"/>
              <a:sym typeface="Calibri"/>
            </a:endParaRPr>
          </a:p>
        </p:txBody>
      </p:sp>
      <p:sp>
        <p:nvSpPr>
          <p:cNvPr id="654" name="Google Shape;654;p18"/>
          <p:cNvSpPr/>
          <p:nvPr/>
        </p:nvSpPr>
        <p:spPr>
          <a:xfrm>
            <a:off x="571500" y="1418732"/>
            <a:ext cx="2476481" cy="325057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8"/>
          <p:cNvSpPr/>
          <p:nvPr/>
        </p:nvSpPr>
        <p:spPr>
          <a:xfrm>
            <a:off x="571500" y="1418732"/>
            <a:ext cx="2476481"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8"/>
          <p:cNvSpPr/>
          <p:nvPr/>
        </p:nvSpPr>
        <p:spPr>
          <a:xfrm>
            <a:off x="3040838" y="1418732"/>
            <a:ext cx="7144" cy="325057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8"/>
          <p:cNvSpPr/>
          <p:nvPr/>
        </p:nvSpPr>
        <p:spPr>
          <a:xfrm>
            <a:off x="571500" y="4662162"/>
            <a:ext cx="24764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8"/>
          <p:cNvSpPr/>
          <p:nvPr/>
        </p:nvSpPr>
        <p:spPr>
          <a:xfrm>
            <a:off x="571500" y="1418732"/>
            <a:ext cx="7144" cy="325057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8"/>
          <p:cNvSpPr/>
          <p:nvPr/>
        </p:nvSpPr>
        <p:spPr>
          <a:xfrm>
            <a:off x="785813" y="1704482"/>
            <a:ext cx="2047856"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E5FF"/>
              </a:buClr>
              <a:buSzPts val="2436"/>
              <a:buFont typeface="Roboto Mono"/>
              <a:buNone/>
            </a:pPr>
            <a:r>
              <a:rPr b="1" i="0" lang="en-US" sz="2436" u="none" cap="none" strike="noStrike">
                <a:solidFill>
                  <a:srgbClr val="00E5FF"/>
                </a:solidFill>
                <a:latin typeface="Roboto Mono"/>
                <a:ea typeface="Roboto Mono"/>
                <a:cs typeface="Roboto Mono"/>
                <a:sym typeface="Roboto Mono"/>
              </a:rPr>
              <a:t>01</a:t>
            </a:r>
            <a:endParaRPr b="0" i="0" sz="2436" u="none" cap="none" strike="noStrike">
              <a:solidFill>
                <a:schemeClr val="dk1"/>
              </a:solidFill>
              <a:latin typeface="Calibri"/>
              <a:ea typeface="Calibri"/>
              <a:cs typeface="Calibri"/>
              <a:sym typeface="Calibri"/>
            </a:endParaRPr>
          </a:p>
        </p:txBody>
      </p:sp>
      <p:sp>
        <p:nvSpPr>
          <p:cNvPr id="660" name="Google Shape;660;p18"/>
          <p:cNvSpPr/>
          <p:nvPr/>
        </p:nvSpPr>
        <p:spPr>
          <a:xfrm>
            <a:off x="785813" y="2299199"/>
            <a:ext cx="2047856" cy="260021"/>
          </a:xfrm>
          <a:prstGeom prst="rect">
            <a:avLst/>
          </a:prstGeom>
          <a:noFill/>
          <a:ln>
            <a:noFill/>
          </a:ln>
        </p:spPr>
        <p:txBody>
          <a:bodyPr anchorCtr="0" anchor="t" bIns="0" lIns="0" spcFirstLastPara="1" rIns="0" wrap="square" tIns="0">
            <a:noAutofit/>
          </a:bodyPr>
          <a:lstStyle/>
          <a:p>
            <a:pPr indent="0" lvl="0" marL="0" marR="0" rtl="0" algn="l">
              <a:lnSpc>
                <a:spcPct val="143163"/>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mTLS Everywhere</a:t>
            </a:r>
            <a:endParaRPr b="0" i="0" sz="1397" u="none" cap="none" strike="noStrike">
              <a:solidFill>
                <a:schemeClr val="dk1"/>
              </a:solidFill>
              <a:latin typeface="Calibri"/>
              <a:ea typeface="Calibri"/>
              <a:cs typeface="Calibri"/>
              <a:sym typeface="Calibri"/>
            </a:endParaRPr>
          </a:p>
        </p:txBody>
      </p:sp>
      <p:sp>
        <p:nvSpPr>
          <p:cNvPr id="661" name="Google Shape;661;p18"/>
          <p:cNvSpPr/>
          <p:nvPr/>
        </p:nvSpPr>
        <p:spPr>
          <a:xfrm>
            <a:off x="785813" y="2702096"/>
            <a:ext cx="2047856" cy="1645741"/>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All internal communication between agents, proxies, and the control plane is secured via </a:t>
            </a:r>
            <a:r>
              <a:rPr b="1" i="0" lang="en-US" sz="885" u="none" cap="none" strike="noStrike">
                <a:solidFill>
                  <a:srgbClr val="FFFFFF"/>
                </a:solidFill>
                <a:latin typeface="Inter"/>
                <a:ea typeface="Inter"/>
                <a:cs typeface="Inter"/>
                <a:sym typeface="Inter"/>
              </a:rPr>
              <a:t>mutual TLS</a:t>
            </a:r>
            <a:r>
              <a:rPr b="0" i="0" lang="en-US" sz="942" u="none" cap="none" strike="noStrike">
                <a:solidFill>
                  <a:srgbClr val="E0E0E0"/>
                </a:solidFill>
                <a:latin typeface="Inter"/>
                <a:ea typeface="Inter"/>
                <a:cs typeface="Inter"/>
                <a:sym typeface="Inter"/>
              </a:rPr>
              <a:t>. No plaintext traffic. Every component cryptographically verifies the identity of its peer before exchanging data.</a:t>
            </a:r>
            <a:endParaRPr b="0" i="0" sz="942" u="none" cap="none" strike="noStrike">
              <a:solidFill>
                <a:schemeClr val="dk1"/>
              </a:solidFill>
              <a:latin typeface="Calibri"/>
              <a:ea typeface="Calibri"/>
              <a:cs typeface="Calibri"/>
              <a:sym typeface="Calibri"/>
            </a:endParaRPr>
          </a:p>
        </p:txBody>
      </p:sp>
      <p:sp>
        <p:nvSpPr>
          <p:cNvPr id="662" name="Google Shape;662;p18"/>
          <p:cNvSpPr/>
          <p:nvPr/>
        </p:nvSpPr>
        <p:spPr>
          <a:xfrm>
            <a:off x="3333731" y="1418732"/>
            <a:ext cx="2476509" cy="325057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8"/>
          <p:cNvSpPr/>
          <p:nvPr/>
        </p:nvSpPr>
        <p:spPr>
          <a:xfrm>
            <a:off x="3333731" y="1418732"/>
            <a:ext cx="2476509"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8"/>
          <p:cNvSpPr/>
          <p:nvPr/>
        </p:nvSpPr>
        <p:spPr>
          <a:xfrm>
            <a:off x="5803097" y="1418732"/>
            <a:ext cx="7144" cy="325057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8"/>
          <p:cNvSpPr/>
          <p:nvPr/>
        </p:nvSpPr>
        <p:spPr>
          <a:xfrm>
            <a:off x="3333731" y="4662162"/>
            <a:ext cx="2476509"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8"/>
          <p:cNvSpPr/>
          <p:nvPr/>
        </p:nvSpPr>
        <p:spPr>
          <a:xfrm>
            <a:off x="3333731" y="1418732"/>
            <a:ext cx="7144" cy="325057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8"/>
          <p:cNvSpPr/>
          <p:nvPr/>
        </p:nvSpPr>
        <p:spPr>
          <a:xfrm>
            <a:off x="3548044" y="1704482"/>
            <a:ext cx="2047884"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00E676"/>
              </a:buClr>
              <a:buSzPts val="2436"/>
              <a:buFont typeface="Roboto Mono"/>
              <a:buNone/>
            </a:pPr>
            <a:r>
              <a:rPr b="1" i="0" lang="en-US" sz="2436" u="none" cap="none" strike="noStrike">
                <a:solidFill>
                  <a:srgbClr val="00E676"/>
                </a:solidFill>
                <a:latin typeface="Roboto Mono"/>
                <a:ea typeface="Roboto Mono"/>
                <a:cs typeface="Roboto Mono"/>
                <a:sym typeface="Roboto Mono"/>
              </a:rPr>
              <a:t>02</a:t>
            </a:r>
            <a:endParaRPr b="0" i="0" sz="2436" u="none" cap="none" strike="noStrike">
              <a:solidFill>
                <a:schemeClr val="dk1"/>
              </a:solidFill>
              <a:latin typeface="Calibri"/>
              <a:ea typeface="Calibri"/>
              <a:cs typeface="Calibri"/>
              <a:sym typeface="Calibri"/>
            </a:endParaRPr>
          </a:p>
        </p:txBody>
      </p:sp>
      <p:sp>
        <p:nvSpPr>
          <p:cNvPr id="668" name="Google Shape;668;p18"/>
          <p:cNvSpPr/>
          <p:nvPr/>
        </p:nvSpPr>
        <p:spPr>
          <a:xfrm>
            <a:off x="3548044" y="2299199"/>
            <a:ext cx="2047884" cy="260021"/>
          </a:xfrm>
          <a:prstGeom prst="rect">
            <a:avLst/>
          </a:prstGeom>
          <a:noFill/>
          <a:ln>
            <a:noFill/>
          </a:ln>
        </p:spPr>
        <p:txBody>
          <a:bodyPr anchorCtr="0" anchor="t" bIns="0" lIns="0" spcFirstLastPara="1" rIns="0" wrap="square" tIns="0">
            <a:noAutofit/>
          </a:bodyPr>
          <a:lstStyle/>
          <a:p>
            <a:pPr indent="0" lvl="0" marL="0" marR="0" rtl="0" algn="l">
              <a:lnSpc>
                <a:spcPct val="143163"/>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HSM Integration</a:t>
            </a:r>
            <a:endParaRPr b="0" i="0" sz="1397" u="none" cap="none" strike="noStrike">
              <a:solidFill>
                <a:schemeClr val="dk1"/>
              </a:solidFill>
              <a:latin typeface="Calibri"/>
              <a:ea typeface="Calibri"/>
              <a:cs typeface="Calibri"/>
              <a:sym typeface="Calibri"/>
            </a:endParaRPr>
          </a:p>
        </p:txBody>
      </p:sp>
      <p:sp>
        <p:nvSpPr>
          <p:cNvPr id="669" name="Google Shape;669;p18"/>
          <p:cNvSpPr/>
          <p:nvPr/>
        </p:nvSpPr>
        <p:spPr>
          <a:xfrm>
            <a:off x="3548044" y="2702096"/>
            <a:ext cx="2047884" cy="1645741"/>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Root and intermediate CA keys are stored in </a:t>
            </a:r>
            <a:r>
              <a:rPr b="1" i="0" lang="en-US" sz="885" u="none" cap="none" strike="noStrike">
                <a:solidFill>
                  <a:srgbClr val="FFFFFF"/>
                </a:solidFill>
                <a:latin typeface="Inter"/>
                <a:ea typeface="Inter"/>
                <a:cs typeface="Inter"/>
                <a:sym typeface="Inter"/>
              </a:rPr>
              <a:t>FIPS 140-2 Level 3</a:t>
            </a:r>
            <a:r>
              <a:rPr b="0" i="0" lang="en-US" sz="942" u="none" cap="none" strike="noStrike">
                <a:solidFill>
                  <a:srgbClr val="E0E0E0"/>
                </a:solidFill>
                <a:latin typeface="Inter"/>
                <a:ea typeface="Inter"/>
                <a:cs typeface="Inter"/>
                <a:sym typeface="Inter"/>
              </a:rPr>
              <a:t> Hardware Security Modules. Private keys never leave the hardware boundary, ensuring the highest level of protection against extraction or compromise.</a:t>
            </a:r>
            <a:endParaRPr b="0" i="0" sz="942" u="none" cap="none" strike="noStrike">
              <a:solidFill>
                <a:schemeClr val="dk1"/>
              </a:solidFill>
              <a:latin typeface="Calibri"/>
              <a:ea typeface="Calibri"/>
              <a:cs typeface="Calibri"/>
              <a:sym typeface="Calibri"/>
            </a:endParaRPr>
          </a:p>
        </p:txBody>
      </p:sp>
      <p:sp>
        <p:nvSpPr>
          <p:cNvPr id="670" name="Google Shape;670;p18"/>
          <p:cNvSpPr/>
          <p:nvPr/>
        </p:nvSpPr>
        <p:spPr>
          <a:xfrm>
            <a:off x="6095991" y="1418732"/>
            <a:ext cx="2476481" cy="3250574"/>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8"/>
          <p:cNvSpPr/>
          <p:nvPr/>
        </p:nvSpPr>
        <p:spPr>
          <a:xfrm>
            <a:off x="6095991" y="1418732"/>
            <a:ext cx="2476481" cy="28575"/>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8"/>
          <p:cNvSpPr/>
          <p:nvPr/>
        </p:nvSpPr>
        <p:spPr>
          <a:xfrm>
            <a:off x="8565328" y="1418732"/>
            <a:ext cx="7144" cy="325057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8"/>
          <p:cNvSpPr/>
          <p:nvPr/>
        </p:nvSpPr>
        <p:spPr>
          <a:xfrm>
            <a:off x="6095991" y="4662162"/>
            <a:ext cx="24764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8"/>
          <p:cNvSpPr/>
          <p:nvPr/>
        </p:nvSpPr>
        <p:spPr>
          <a:xfrm>
            <a:off x="6095991" y="1418732"/>
            <a:ext cx="7144" cy="325057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8"/>
          <p:cNvSpPr/>
          <p:nvPr/>
        </p:nvSpPr>
        <p:spPr>
          <a:xfrm>
            <a:off x="6310303" y="1704482"/>
            <a:ext cx="2047856"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D69E2E"/>
              </a:buClr>
              <a:buSzPts val="2436"/>
              <a:buFont typeface="Roboto Mono"/>
              <a:buNone/>
            </a:pPr>
            <a:r>
              <a:rPr b="1" i="0" lang="en-US" sz="2436" u="none" cap="none" strike="noStrike">
                <a:solidFill>
                  <a:srgbClr val="D69E2E"/>
                </a:solidFill>
                <a:latin typeface="Roboto Mono"/>
                <a:ea typeface="Roboto Mono"/>
                <a:cs typeface="Roboto Mono"/>
                <a:sym typeface="Roboto Mono"/>
              </a:rPr>
              <a:t>03</a:t>
            </a:r>
            <a:endParaRPr b="0" i="0" sz="2436" u="none" cap="none" strike="noStrike">
              <a:solidFill>
                <a:schemeClr val="dk1"/>
              </a:solidFill>
              <a:latin typeface="Calibri"/>
              <a:ea typeface="Calibri"/>
              <a:cs typeface="Calibri"/>
              <a:sym typeface="Calibri"/>
            </a:endParaRPr>
          </a:p>
        </p:txBody>
      </p:sp>
      <p:sp>
        <p:nvSpPr>
          <p:cNvPr id="676" name="Google Shape;676;p18"/>
          <p:cNvSpPr/>
          <p:nvPr/>
        </p:nvSpPr>
        <p:spPr>
          <a:xfrm>
            <a:off x="6310303" y="2299199"/>
            <a:ext cx="2047856" cy="260021"/>
          </a:xfrm>
          <a:prstGeom prst="rect">
            <a:avLst/>
          </a:prstGeom>
          <a:noFill/>
          <a:ln>
            <a:noFill/>
          </a:ln>
        </p:spPr>
        <p:txBody>
          <a:bodyPr anchorCtr="0" anchor="t" bIns="0" lIns="0" spcFirstLastPara="1" rIns="0" wrap="square" tIns="0">
            <a:noAutofit/>
          </a:bodyPr>
          <a:lstStyle/>
          <a:p>
            <a:pPr indent="0" lvl="0" marL="0" marR="0" rtl="0" algn="l">
              <a:lnSpc>
                <a:spcPct val="143163"/>
              </a:lnSpc>
              <a:spcBef>
                <a:spcPts val="0"/>
              </a:spcBef>
              <a:spcAft>
                <a:spcPts val="0"/>
              </a:spcAft>
              <a:buClr>
                <a:srgbClr val="FFFFFF"/>
              </a:buClr>
              <a:buSzPts val="1397"/>
              <a:buFont typeface="Inter"/>
              <a:buNone/>
            </a:pPr>
            <a:r>
              <a:rPr b="1" i="0" lang="en-US" sz="1397" u="none" cap="none" strike="noStrike">
                <a:solidFill>
                  <a:srgbClr val="FFFFFF"/>
                </a:solidFill>
                <a:latin typeface="Inter"/>
                <a:ea typeface="Inter"/>
                <a:cs typeface="Inter"/>
                <a:sym typeface="Inter"/>
              </a:rPr>
              <a:t>SPIFFE Identity</a:t>
            </a:r>
            <a:endParaRPr b="0" i="0" sz="1397" u="none" cap="none" strike="noStrike">
              <a:solidFill>
                <a:schemeClr val="dk1"/>
              </a:solidFill>
              <a:latin typeface="Calibri"/>
              <a:ea typeface="Calibri"/>
              <a:cs typeface="Calibri"/>
              <a:sym typeface="Calibri"/>
            </a:endParaRPr>
          </a:p>
        </p:txBody>
      </p:sp>
      <p:sp>
        <p:nvSpPr>
          <p:cNvPr id="677" name="Google Shape;677;p18"/>
          <p:cNvSpPr/>
          <p:nvPr/>
        </p:nvSpPr>
        <p:spPr>
          <a:xfrm>
            <a:off x="6310303" y="2702096"/>
            <a:ext cx="2047856" cy="1645741"/>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Workloads are assigned cryptographic identities based on the </a:t>
            </a:r>
            <a:r>
              <a:rPr b="1" i="0" lang="en-US" sz="885" u="none" cap="none" strike="noStrike">
                <a:solidFill>
                  <a:srgbClr val="FFFFFF"/>
                </a:solidFill>
                <a:latin typeface="Inter"/>
                <a:ea typeface="Inter"/>
                <a:cs typeface="Inter"/>
                <a:sym typeface="Inter"/>
              </a:rPr>
              <a:t>SPIFFE standard</a:t>
            </a:r>
            <a:r>
              <a:rPr b="0" i="0" lang="en-US" sz="942" u="none" cap="none" strike="noStrike">
                <a:solidFill>
                  <a:srgbClr val="E0E0E0"/>
                </a:solidFill>
                <a:latin typeface="Inter"/>
                <a:ea typeface="Inter"/>
                <a:cs typeface="Inter"/>
                <a:sym typeface="Inter"/>
              </a:rPr>
              <a:t>. This enables true zero-trust networking across heterogeneous environments, decoupling identity from network topology.</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pic>
        <p:nvPicPr>
          <p:cNvPr descr="preencoded.png" id="683" name="Google Shape;683;p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84" name="Google Shape;684;p19"/>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REGULATORY ALIGNMENT</a:t>
            </a:r>
            <a:endParaRPr b="0" i="0" sz="834" u="none" cap="none" strike="noStrike">
              <a:solidFill>
                <a:schemeClr val="dk1"/>
              </a:solidFill>
              <a:latin typeface="Calibri"/>
              <a:ea typeface="Calibri"/>
              <a:cs typeface="Calibri"/>
              <a:sym typeface="Calibri"/>
            </a:endParaRPr>
          </a:p>
        </p:txBody>
      </p:sp>
      <p:sp>
        <p:nvSpPr>
          <p:cNvPr id="685" name="Google Shape;685;p19"/>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Compliance at a Glance</a:t>
            </a:r>
            <a:endParaRPr b="0" i="0" sz="2436" u="none" cap="none" strike="noStrike">
              <a:solidFill>
                <a:schemeClr val="dk1"/>
              </a:solidFill>
              <a:latin typeface="Calibri"/>
              <a:ea typeface="Calibri"/>
              <a:cs typeface="Calibri"/>
              <a:sym typeface="Calibri"/>
            </a:endParaRPr>
          </a:p>
        </p:txBody>
      </p:sp>
      <p:sp>
        <p:nvSpPr>
          <p:cNvPr id="686" name="Google Shape;686;p19"/>
          <p:cNvSpPr/>
          <p:nvPr/>
        </p:nvSpPr>
        <p:spPr>
          <a:xfrm>
            <a:off x="571500" y="1132982"/>
            <a:ext cx="3857625" cy="1612702"/>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571500" y="1132982"/>
            <a:ext cx="3857625"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4421981" y="1132982"/>
            <a:ext cx="7144" cy="1612702"/>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571500" y="2738540"/>
            <a:ext cx="38576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571500" y="1132982"/>
            <a:ext cx="7144" cy="1612702"/>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714375" y="1275857"/>
            <a:ext cx="1675209" cy="26253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Roboto Mono"/>
              <a:buNone/>
            </a:pPr>
            <a:r>
              <a:rPr b="1" i="0" lang="en-US" sz="1397" u="none" cap="none" strike="noStrike">
                <a:solidFill>
                  <a:srgbClr val="FFFFFF"/>
                </a:solidFill>
                <a:latin typeface="Roboto Mono"/>
                <a:ea typeface="Roboto Mono"/>
                <a:cs typeface="Roboto Mono"/>
                <a:sym typeface="Roboto Mono"/>
              </a:rPr>
              <a:t>NIST SP 800-57</a:t>
            </a:r>
            <a:endParaRPr b="0" i="0" sz="1397" u="none" cap="none" strike="noStrike">
              <a:solidFill>
                <a:schemeClr val="dk1"/>
              </a:solidFill>
              <a:latin typeface="Calibri"/>
              <a:ea typeface="Calibri"/>
              <a:cs typeface="Calibri"/>
              <a:sym typeface="Calibri"/>
            </a:endParaRPr>
          </a:p>
        </p:txBody>
      </p:sp>
      <p:sp>
        <p:nvSpPr>
          <p:cNvPr id="692" name="Google Shape;692;p19"/>
          <p:cNvSpPr/>
          <p:nvPr/>
        </p:nvSpPr>
        <p:spPr>
          <a:xfrm>
            <a:off x="3582591" y="1275857"/>
            <a:ext cx="703659" cy="217884"/>
          </a:xfrm>
          <a:prstGeom prst="rect">
            <a:avLst/>
          </a:prstGeom>
          <a:solidFill>
            <a:srgbClr val="00E5FF">
              <a:alpha val="10196"/>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3582591" y="1275857"/>
            <a:ext cx="703659"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COMPLIANT</a:t>
            </a:r>
            <a:endParaRPr b="0" i="0" sz="727" u="none" cap="none" strike="noStrike">
              <a:solidFill>
                <a:schemeClr val="dk1"/>
              </a:solidFill>
              <a:latin typeface="Calibri"/>
              <a:ea typeface="Calibri"/>
              <a:cs typeface="Calibri"/>
              <a:sym typeface="Calibri"/>
            </a:endParaRPr>
          </a:p>
        </p:txBody>
      </p:sp>
      <p:sp>
        <p:nvSpPr>
          <p:cNvPr id="694" name="Google Shape;694;p19"/>
          <p:cNvSpPr/>
          <p:nvPr/>
        </p:nvSpPr>
        <p:spPr>
          <a:xfrm>
            <a:off x="714375" y="1652690"/>
            <a:ext cx="3571875" cy="9144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Strict adherence to </a:t>
            </a:r>
            <a:r>
              <a:rPr b="1" i="0" lang="en-US" sz="987" u="none" cap="none" strike="noStrike">
                <a:solidFill>
                  <a:srgbClr val="FFFFFF"/>
                </a:solidFill>
                <a:latin typeface="Inter"/>
                <a:ea typeface="Inter"/>
                <a:cs typeface="Inter"/>
                <a:sym typeface="Inter"/>
              </a:rPr>
              <a:t>Recommendation for Key Management</a:t>
            </a:r>
            <a:r>
              <a:rPr b="0" i="0" lang="en-US" sz="1050" u="none" cap="none" strike="noStrike">
                <a:solidFill>
                  <a:srgbClr val="E0E0E0"/>
                </a:solidFill>
                <a:latin typeface="Inter"/>
                <a:ea typeface="Inter"/>
                <a:cs typeface="Inter"/>
                <a:sym typeface="Inter"/>
              </a:rPr>
              <a:t>. Automated key lifecycle management, enforced rotation periods, and strict cryptographic algorithm policies.</a:t>
            </a:r>
            <a:endParaRPr b="0" i="0" sz="1050" u="none" cap="none" strike="noStrike">
              <a:solidFill>
                <a:schemeClr val="dk1"/>
              </a:solidFill>
              <a:latin typeface="Calibri"/>
              <a:ea typeface="Calibri"/>
              <a:cs typeface="Calibri"/>
              <a:sym typeface="Calibri"/>
            </a:endParaRPr>
          </a:p>
        </p:txBody>
      </p:sp>
      <p:sp>
        <p:nvSpPr>
          <p:cNvPr id="695" name="Google Shape;695;p19"/>
          <p:cNvSpPr/>
          <p:nvPr/>
        </p:nvSpPr>
        <p:spPr>
          <a:xfrm>
            <a:off x="4714875" y="1132982"/>
            <a:ext cx="3857625" cy="1576983"/>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4714875" y="1132982"/>
            <a:ext cx="3857625"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8565356" y="1132982"/>
            <a:ext cx="7144" cy="157698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4714875" y="2702821"/>
            <a:ext cx="38576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4714875" y="1132982"/>
            <a:ext cx="7144" cy="157698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4857750" y="1275857"/>
            <a:ext cx="1794867" cy="26253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Roboto Mono"/>
              <a:buNone/>
            </a:pPr>
            <a:r>
              <a:rPr b="1" i="0" lang="en-US" sz="1397" u="none" cap="none" strike="noStrike">
                <a:solidFill>
                  <a:srgbClr val="FFFFFF"/>
                </a:solidFill>
                <a:latin typeface="Roboto Mono"/>
                <a:ea typeface="Roboto Mono"/>
                <a:cs typeface="Roboto Mono"/>
                <a:sym typeface="Roboto Mono"/>
              </a:rPr>
              <a:t>CISA Zero Trust</a:t>
            </a:r>
            <a:endParaRPr b="0" i="0" sz="1397" u="none" cap="none" strike="noStrike">
              <a:solidFill>
                <a:schemeClr val="dk1"/>
              </a:solidFill>
              <a:latin typeface="Calibri"/>
              <a:ea typeface="Calibri"/>
              <a:cs typeface="Calibri"/>
              <a:sym typeface="Calibri"/>
            </a:endParaRPr>
          </a:p>
        </p:txBody>
      </p:sp>
      <p:sp>
        <p:nvSpPr>
          <p:cNvPr id="701" name="Google Shape;701;p19"/>
          <p:cNvSpPr/>
          <p:nvPr/>
        </p:nvSpPr>
        <p:spPr>
          <a:xfrm>
            <a:off x="7300913" y="1275857"/>
            <a:ext cx="1128713" cy="217884"/>
          </a:xfrm>
          <a:prstGeom prst="rect">
            <a:avLst/>
          </a:prstGeom>
          <a:solidFill>
            <a:srgbClr val="00E676">
              <a:alpha val="10196"/>
            </a:srgbClr>
          </a:solidFill>
          <a:ln cap="flat" cmpd="sng" w="9525">
            <a:solidFill>
              <a:srgbClr val="00E67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7300913" y="1275857"/>
            <a:ext cx="1128713"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OPTIMAL MATURITY</a:t>
            </a:r>
            <a:endParaRPr b="0" i="0" sz="727" u="none" cap="none" strike="noStrike">
              <a:solidFill>
                <a:schemeClr val="dk1"/>
              </a:solidFill>
              <a:latin typeface="Calibri"/>
              <a:ea typeface="Calibri"/>
              <a:cs typeface="Calibri"/>
              <a:sym typeface="Calibri"/>
            </a:endParaRPr>
          </a:p>
        </p:txBody>
      </p:sp>
      <p:sp>
        <p:nvSpPr>
          <p:cNvPr id="703" name="Google Shape;703;p19"/>
          <p:cNvSpPr/>
          <p:nvPr/>
        </p:nvSpPr>
        <p:spPr>
          <a:xfrm>
            <a:off x="4857750" y="1652690"/>
            <a:ext cx="3571875"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Achieves "Optimal" maturity for Identity and Workload pillars via </a:t>
            </a:r>
            <a:r>
              <a:rPr b="1" i="0" lang="en-US" sz="987" u="none" cap="none" strike="noStrike">
                <a:solidFill>
                  <a:srgbClr val="FFFFFF"/>
                </a:solidFill>
                <a:latin typeface="Inter"/>
                <a:ea typeface="Inter"/>
                <a:cs typeface="Inter"/>
                <a:sym typeface="Inter"/>
              </a:rPr>
              <a:t>continuous mTLS</a:t>
            </a:r>
            <a:r>
              <a:rPr b="0" i="0" lang="en-US" sz="1050" u="none" cap="none" strike="noStrike">
                <a:solidFill>
                  <a:srgbClr val="E0E0E0"/>
                </a:solidFill>
                <a:latin typeface="Inter"/>
                <a:ea typeface="Inter"/>
                <a:cs typeface="Inter"/>
                <a:sym typeface="Inter"/>
              </a:rPr>
              <a:t>, ephemeral credentials, and dynamic trust evaluation.</a:t>
            </a:r>
            <a:endParaRPr b="0" i="0" sz="1050" u="none" cap="none" strike="noStrike">
              <a:solidFill>
                <a:schemeClr val="dk1"/>
              </a:solidFill>
              <a:latin typeface="Calibri"/>
              <a:ea typeface="Calibri"/>
              <a:cs typeface="Calibri"/>
              <a:sym typeface="Calibri"/>
            </a:endParaRPr>
          </a:p>
        </p:txBody>
      </p:sp>
      <p:sp>
        <p:nvSpPr>
          <p:cNvPr id="704" name="Google Shape;704;p19"/>
          <p:cNvSpPr/>
          <p:nvPr/>
        </p:nvSpPr>
        <p:spPr>
          <a:xfrm>
            <a:off x="571500" y="2995715"/>
            <a:ext cx="3857625" cy="1576983"/>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a:off x="571500" y="2995715"/>
            <a:ext cx="3857625" cy="28575"/>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a:off x="4421981" y="2995715"/>
            <a:ext cx="7144" cy="157698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a:off x="571500" y="4565554"/>
            <a:ext cx="38576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a:off x="571500" y="2995715"/>
            <a:ext cx="7144" cy="157698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a:off x="714375" y="3138590"/>
            <a:ext cx="1196578" cy="26253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Roboto Mono"/>
              <a:buNone/>
            </a:pPr>
            <a:r>
              <a:rPr b="1" i="0" lang="en-US" sz="1397" u="none" cap="none" strike="noStrike">
                <a:solidFill>
                  <a:srgbClr val="FFFFFF"/>
                </a:solidFill>
                <a:latin typeface="Roboto Mono"/>
                <a:ea typeface="Roboto Mono"/>
                <a:cs typeface="Roboto Mono"/>
                <a:sym typeface="Roboto Mono"/>
              </a:rPr>
              <a:t>FIPS 140-3</a:t>
            </a:r>
            <a:endParaRPr b="0" i="0" sz="1397" u="none" cap="none" strike="noStrike">
              <a:solidFill>
                <a:schemeClr val="dk1"/>
              </a:solidFill>
              <a:latin typeface="Calibri"/>
              <a:ea typeface="Calibri"/>
              <a:cs typeface="Calibri"/>
              <a:sym typeface="Calibri"/>
            </a:endParaRPr>
          </a:p>
        </p:txBody>
      </p:sp>
      <p:sp>
        <p:nvSpPr>
          <p:cNvPr id="710" name="Google Shape;710;p19"/>
          <p:cNvSpPr/>
          <p:nvPr/>
        </p:nvSpPr>
        <p:spPr>
          <a:xfrm>
            <a:off x="3339703" y="3138590"/>
            <a:ext cx="946547" cy="217884"/>
          </a:xfrm>
          <a:prstGeom prst="rect">
            <a:avLst/>
          </a:prstGeom>
          <a:solidFill>
            <a:srgbClr val="D69E2E">
              <a:alpha val="10196"/>
            </a:srgbClr>
          </a:solidFill>
          <a:ln cap="flat" cmpd="sng" w="9525">
            <a:solidFill>
              <a:srgbClr val="D69E2E">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p:nvPr/>
        </p:nvSpPr>
        <p:spPr>
          <a:xfrm>
            <a:off x="3339703" y="3138590"/>
            <a:ext cx="946547"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LEVEL 3 READY</a:t>
            </a:r>
            <a:endParaRPr b="0" i="0" sz="727" u="none" cap="none" strike="noStrike">
              <a:solidFill>
                <a:schemeClr val="dk1"/>
              </a:solidFill>
              <a:latin typeface="Calibri"/>
              <a:ea typeface="Calibri"/>
              <a:cs typeface="Calibri"/>
              <a:sym typeface="Calibri"/>
            </a:endParaRPr>
          </a:p>
        </p:txBody>
      </p:sp>
      <p:sp>
        <p:nvSpPr>
          <p:cNvPr id="712" name="Google Shape;712;p19"/>
          <p:cNvSpPr/>
          <p:nvPr/>
        </p:nvSpPr>
        <p:spPr>
          <a:xfrm>
            <a:off x="714375" y="3515423"/>
            <a:ext cx="3571875"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All private keys generated and stored within </a:t>
            </a:r>
            <a:r>
              <a:rPr b="1" i="0" lang="en-US" sz="987" u="none" cap="none" strike="noStrike">
                <a:solidFill>
                  <a:srgbClr val="FFFFFF"/>
                </a:solidFill>
                <a:latin typeface="Inter"/>
                <a:ea typeface="Inter"/>
                <a:cs typeface="Inter"/>
                <a:sym typeface="Inter"/>
              </a:rPr>
              <a:t>Hardware Security Modules (HSMs)</a:t>
            </a:r>
            <a:r>
              <a:rPr b="0" i="0" lang="en-US" sz="1050" u="none" cap="none" strike="noStrike">
                <a:solidFill>
                  <a:srgbClr val="E0E0E0"/>
                </a:solidFill>
                <a:latin typeface="Inter"/>
                <a:ea typeface="Inter"/>
                <a:cs typeface="Inter"/>
                <a:sym typeface="Inter"/>
              </a:rPr>
              <a:t> or cloud-native KMS (AWS KMS / Azure Key Vault).</a:t>
            </a:r>
            <a:endParaRPr b="0" i="0" sz="1050" u="none" cap="none" strike="noStrike">
              <a:solidFill>
                <a:schemeClr val="dk1"/>
              </a:solidFill>
              <a:latin typeface="Calibri"/>
              <a:ea typeface="Calibri"/>
              <a:cs typeface="Calibri"/>
              <a:sym typeface="Calibri"/>
            </a:endParaRPr>
          </a:p>
        </p:txBody>
      </p:sp>
      <p:sp>
        <p:nvSpPr>
          <p:cNvPr id="713" name="Google Shape;713;p19"/>
          <p:cNvSpPr/>
          <p:nvPr/>
        </p:nvSpPr>
        <p:spPr>
          <a:xfrm>
            <a:off x="4714875" y="2995715"/>
            <a:ext cx="3857625" cy="1576983"/>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a:off x="4714875" y="2995715"/>
            <a:ext cx="3857625"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p:nvPr/>
        </p:nvSpPr>
        <p:spPr>
          <a:xfrm>
            <a:off x="8565356" y="2995715"/>
            <a:ext cx="7144" cy="157698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p:nvPr/>
        </p:nvSpPr>
        <p:spPr>
          <a:xfrm>
            <a:off x="4714875" y="4565554"/>
            <a:ext cx="3857625"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4714875" y="2995715"/>
            <a:ext cx="7144" cy="157698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4857750" y="3138590"/>
            <a:ext cx="2153841" cy="262533"/>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Roboto Mono"/>
              <a:buNone/>
            </a:pPr>
            <a:r>
              <a:rPr b="1" i="0" lang="en-US" sz="1397" u="none" cap="none" strike="noStrike">
                <a:solidFill>
                  <a:srgbClr val="FFFFFF"/>
                </a:solidFill>
                <a:latin typeface="Roboto Mono"/>
                <a:ea typeface="Roboto Mono"/>
                <a:cs typeface="Roboto Mono"/>
                <a:sym typeface="Roboto Mono"/>
              </a:rPr>
              <a:t>Post-Quantum (PQC)</a:t>
            </a:r>
            <a:endParaRPr b="0" i="0" sz="1397" u="none" cap="none" strike="noStrike">
              <a:solidFill>
                <a:schemeClr val="dk1"/>
              </a:solidFill>
              <a:latin typeface="Calibri"/>
              <a:ea typeface="Calibri"/>
              <a:cs typeface="Calibri"/>
              <a:sym typeface="Calibri"/>
            </a:endParaRPr>
          </a:p>
        </p:txBody>
      </p:sp>
      <p:sp>
        <p:nvSpPr>
          <p:cNvPr id="719" name="Google Shape;719;p19"/>
          <p:cNvSpPr/>
          <p:nvPr/>
        </p:nvSpPr>
        <p:spPr>
          <a:xfrm>
            <a:off x="7543800" y="3138590"/>
            <a:ext cx="885825" cy="217884"/>
          </a:xfrm>
          <a:prstGeom prst="rect">
            <a:avLst/>
          </a:prstGeom>
          <a:solidFill>
            <a:srgbClr val="E53E3E">
              <a:alpha val="10196"/>
            </a:srgbClr>
          </a:solidFill>
          <a:ln cap="flat" cmpd="sng" w="9525">
            <a:solidFill>
              <a:srgbClr val="E53E3E">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7543800" y="3138590"/>
            <a:ext cx="885825" cy="217884"/>
          </a:xfrm>
          <a:prstGeom prst="rect">
            <a:avLst/>
          </a:prstGeom>
          <a:noFill/>
          <a:ln>
            <a:noFill/>
          </a:ln>
        </p:spPr>
        <p:txBody>
          <a:bodyPr anchorCtr="0" anchor="t" bIns="42525" lIns="85075" spcFirstLastPara="1" rIns="85075" wrap="square" tIns="42525">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FUTURE-PROOF</a:t>
            </a:r>
            <a:endParaRPr b="0" i="0" sz="727" u="none" cap="none" strike="noStrike">
              <a:solidFill>
                <a:schemeClr val="dk1"/>
              </a:solidFill>
              <a:latin typeface="Calibri"/>
              <a:ea typeface="Calibri"/>
              <a:cs typeface="Calibri"/>
              <a:sym typeface="Calibri"/>
            </a:endParaRPr>
          </a:p>
        </p:txBody>
      </p:sp>
      <p:sp>
        <p:nvSpPr>
          <p:cNvPr id="721" name="Google Shape;721;p19"/>
          <p:cNvSpPr/>
          <p:nvPr/>
        </p:nvSpPr>
        <p:spPr>
          <a:xfrm>
            <a:off x="4857750" y="3515423"/>
            <a:ext cx="3571875" cy="685800"/>
          </a:xfrm>
          <a:prstGeom prst="rect">
            <a:avLst/>
          </a:prstGeom>
          <a:noFill/>
          <a:ln>
            <a:noFill/>
          </a:ln>
        </p:spPr>
        <p:txBody>
          <a:bodyPr anchorCtr="0" anchor="t" bIns="0" lIns="0" spcFirstLastPara="1" rIns="0" wrap="square" tIns="0">
            <a:noAutofit/>
          </a:bodyPr>
          <a:lstStyle/>
          <a:p>
            <a:pPr indent="0" lvl="0" marL="0" marR="0" rtl="0" algn="l">
              <a:lnSpc>
                <a:spcPct val="171428"/>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Architecture supports </a:t>
            </a:r>
            <a:r>
              <a:rPr b="1" i="0" lang="en-US" sz="987" u="none" cap="none" strike="noStrike">
                <a:solidFill>
                  <a:srgbClr val="FFFFFF"/>
                </a:solidFill>
                <a:latin typeface="Inter"/>
                <a:ea typeface="Inter"/>
                <a:cs typeface="Inter"/>
                <a:sym typeface="Inter"/>
              </a:rPr>
              <a:t>hybrid certificates</a:t>
            </a:r>
            <a:r>
              <a:rPr b="0" i="0" lang="en-US" sz="1050" u="none" cap="none" strike="noStrike">
                <a:solidFill>
                  <a:srgbClr val="E0E0E0"/>
                </a:solidFill>
                <a:latin typeface="Inter"/>
                <a:ea typeface="Inter"/>
                <a:cs typeface="Inter"/>
                <a:sym typeface="Inter"/>
              </a:rPr>
              <a:t> (RSA/ECC + Kyber) for a seamless, zero-downtime transition to quantum-safe algorithms.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descr="preencoded.png" id="727" name="Google Shape;727;p20"/>
          <p:cNvPicPr preferRelativeResize="0"/>
          <p:nvPr/>
        </p:nvPicPr>
        <p:blipFill rotWithShape="1">
          <a:blip r:embed="rId3">
            <a:alphaModFix/>
          </a:blip>
          <a:srcRect b="0" l="0" r="0" t="0"/>
          <a:stretch/>
        </p:blipFill>
        <p:spPr>
          <a:xfrm>
            <a:off x="0" y="0"/>
            <a:ext cx="9144000" cy="5197776"/>
          </a:xfrm>
          <a:prstGeom prst="rect">
            <a:avLst/>
          </a:prstGeom>
          <a:noFill/>
          <a:ln>
            <a:noFill/>
          </a:ln>
        </p:spPr>
      </p:pic>
      <p:sp>
        <p:nvSpPr>
          <p:cNvPr id="728" name="Google Shape;728;p20"/>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VISIBILITY &amp; CONTROL</a:t>
            </a:r>
            <a:endParaRPr b="0" i="0" sz="834" u="none" cap="none" strike="noStrike">
              <a:solidFill>
                <a:schemeClr val="dk1"/>
              </a:solidFill>
              <a:latin typeface="Calibri"/>
              <a:ea typeface="Calibri"/>
              <a:cs typeface="Calibri"/>
              <a:sym typeface="Calibri"/>
            </a:endParaRPr>
          </a:p>
        </p:txBody>
      </p:sp>
      <p:sp>
        <p:nvSpPr>
          <p:cNvPr id="729" name="Google Shape;729;p20"/>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Real-Time Compliance Dashboard</a:t>
            </a:r>
            <a:endParaRPr b="0" i="0" sz="2436" u="none" cap="none" strike="noStrike">
              <a:solidFill>
                <a:schemeClr val="dk1"/>
              </a:solidFill>
              <a:latin typeface="Calibri"/>
              <a:ea typeface="Calibri"/>
              <a:cs typeface="Calibri"/>
              <a:sym typeface="Calibri"/>
            </a:endParaRPr>
          </a:p>
        </p:txBody>
      </p:sp>
      <p:sp>
        <p:nvSpPr>
          <p:cNvPr id="730" name="Google Shape;730;p20"/>
          <p:cNvSpPr/>
          <p:nvPr/>
        </p:nvSpPr>
        <p:spPr>
          <a:xfrm>
            <a:off x="571500" y="1347295"/>
            <a:ext cx="2524116" cy="131087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0"/>
          <p:cNvSpPr/>
          <p:nvPr/>
        </p:nvSpPr>
        <p:spPr>
          <a:xfrm>
            <a:off x="571500" y="1347295"/>
            <a:ext cx="2524116"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0"/>
          <p:cNvSpPr/>
          <p:nvPr/>
        </p:nvSpPr>
        <p:spPr>
          <a:xfrm>
            <a:off x="3088472" y="1347295"/>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0"/>
          <p:cNvSpPr/>
          <p:nvPr/>
        </p:nvSpPr>
        <p:spPr>
          <a:xfrm>
            <a:off x="571500" y="2651029"/>
            <a:ext cx="2524116"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
          <p:cNvSpPr/>
          <p:nvPr/>
        </p:nvSpPr>
        <p:spPr>
          <a:xfrm>
            <a:off x="571500" y="1347295"/>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0"/>
          <p:cNvSpPr/>
          <p:nvPr/>
        </p:nvSpPr>
        <p:spPr>
          <a:xfrm>
            <a:off x="750094" y="1525888"/>
            <a:ext cx="216692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TOTAL ACTIVE CERTIFICATES</a:t>
            </a:r>
            <a:endParaRPr b="0" i="0" sz="834" u="none" cap="none" strike="noStrike">
              <a:solidFill>
                <a:schemeClr val="dk1"/>
              </a:solidFill>
              <a:latin typeface="Calibri"/>
              <a:ea typeface="Calibri"/>
              <a:cs typeface="Calibri"/>
              <a:sym typeface="Calibri"/>
            </a:endParaRPr>
          </a:p>
        </p:txBody>
      </p:sp>
      <p:sp>
        <p:nvSpPr>
          <p:cNvPr id="736" name="Google Shape;736;p20"/>
          <p:cNvSpPr/>
          <p:nvPr/>
        </p:nvSpPr>
        <p:spPr>
          <a:xfrm>
            <a:off x="750094" y="1783063"/>
            <a:ext cx="2166928"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Roboto Mono"/>
              <a:buNone/>
            </a:pPr>
            <a:r>
              <a:rPr b="1" i="0" lang="en-US" sz="2436" u="none" cap="none" strike="noStrike">
                <a:solidFill>
                  <a:srgbClr val="FFFFFF"/>
                </a:solidFill>
                <a:latin typeface="Roboto Mono"/>
                <a:ea typeface="Roboto Mono"/>
                <a:cs typeface="Roboto Mono"/>
                <a:sym typeface="Roboto Mono"/>
              </a:rPr>
              <a:t>1.24M</a:t>
            </a:r>
            <a:endParaRPr b="0" i="0" sz="2436" u="none" cap="none" strike="noStrike">
              <a:solidFill>
                <a:schemeClr val="dk1"/>
              </a:solidFill>
              <a:latin typeface="Calibri"/>
              <a:ea typeface="Calibri"/>
              <a:cs typeface="Calibri"/>
              <a:sym typeface="Calibri"/>
            </a:endParaRPr>
          </a:p>
        </p:txBody>
      </p:sp>
      <p:sp>
        <p:nvSpPr>
          <p:cNvPr id="737" name="Google Shape;737;p20"/>
          <p:cNvSpPr/>
          <p:nvPr/>
        </p:nvSpPr>
        <p:spPr>
          <a:xfrm>
            <a:off x="750094" y="2306343"/>
            <a:ext cx="2166928"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676"/>
              </a:buClr>
              <a:buSzPts val="834"/>
              <a:buFont typeface="Inter"/>
              <a:buNone/>
            </a:pPr>
            <a:r>
              <a:rPr b="0" i="0" lang="en-US" sz="834" u="none" cap="none" strike="noStrike">
                <a:solidFill>
                  <a:srgbClr val="00E676"/>
                </a:solidFill>
                <a:latin typeface="Inter"/>
                <a:ea typeface="Inter"/>
                <a:cs typeface="Inter"/>
                <a:sym typeface="Inter"/>
              </a:rPr>
              <a:t>▲ +12k this week</a:t>
            </a:r>
            <a:endParaRPr b="0" i="0" sz="834" u="none" cap="none" strike="noStrike">
              <a:solidFill>
                <a:schemeClr val="dk1"/>
              </a:solidFill>
              <a:latin typeface="Calibri"/>
              <a:ea typeface="Calibri"/>
              <a:cs typeface="Calibri"/>
              <a:sym typeface="Calibri"/>
            </a:endParaRPr>
          </a:p>
        </p:txBody>
      </p:sp>
      <p:sp>
        <p:nvSpPr>
          <p:cNvPr id="738" name="Google Shape;738;p20"/>
          <p:cNvSpPr/>
          <p:nvPr/>
        </p:nvSpPr>
        <p:spPr>
          <a:xfrm>
            <a:off x="3309928" y="1347295"/>
            <a:ext cx="2524116" cy="131087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a:off x="3309928" y="1347295"/>
            <a:ext cx="2524116"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0"/>
          <p:cNvSpPr/>
          <p:nvPr/>
        </p:nvSpPr>
        <p:spPr>
          <a:xfrm>
            <a:off x="5826900" y="1347295"/>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0"/>
          <p:cNvSpPr/>
          <p:nvPr/>
        </p:nvSpPr>
        <p:spPr>
          <a:xfrm>
            <a:off x="3309928" y="2651029"/>
            <a:ext cx="2524116"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0"/>
          <p:cNvSpPr/>
          <p:nvPr/>
        </p:nvSpPr>
        <p:spPr>
          <a:xfrm>
            <a:off x="3309928" y="1347295"/>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0"/>
          <p:cNvSpPr/>
          <p:nvPr/>
        </p:nvSpPr>
        <p:spPr>
          <a:xfrm>
            <a:off x="3488522" y="1525888"/>
            <a:ext cx="216692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GLOBAL COMPLIANCE SCORE</a:t>
            </a:r>
            <a:endParaRPr b="0" i="0" sz="834" u="none" cap="none" strike="noStrike">
              <a:solidFill>
                <a:schemeClr val="dk1"/>
              </a:solidFill>
              <a:latin typeface="Calibri"/>
              <a:ea typeface="Calibri"/>
              <a:cs typeface="Calibri"/>
              <a:sym typeface="Calibri"/>
            </a:endParaRPr>
          </a:p>
        </p:txBody>
      </p:sp>
      <p:sp>
        <p:nvSpPr>
          <p:cNvPr id="744" name="Google Shape;744;p20"/>
          <p:cNvSpPr/>
          <p:nvPr/>
        </p:nvSpPr>
        <p:spPr>
          <a:xfrm>
            <a:off x="3488522" y="1783063"/>
            <a:ext cx="2166928"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Roboto Mono"/>
              <a:buNone/>
            </a:pPr>
            <a:r>
              <a:rPr b="1" i="0" lang="en-US" sz="2436" u="none" cap="none" strike="noStrike">
                <a:solidFill>
                  <a:srgbClr val="FFFFFF"/>
                </a:solidFill>
                <a:latin typeface="Roboto Mono"/>
                <a:ea typeface="Roboto Mono"/>
                <a:cs typeface="Roboto Mono"/>
                <a:sym typeface="Roboto Mono"/>
              </a:rPr>
              <a:t>99.9%</a:t>
            </a:r>
            <a:endParaRPr b="0" i="0" sz="2436" u="none" cap="none" strike="noStrike">
              <a:solidFill>
                <a:schemeClr val="dk1"/>
              </a:solidFill>
              <a:latin typeface="Calibri"/>
              <a:ea typeface="Calibri"/>
              <a:cs typeface="Calibri"/>
              <a:sym typeface="Calibri"/>
            </a:endParaRPr>
          </a:p>
        </p:txBody>
      </p:sp>
      <p:sp>
        <p:nvSpPr>
          <p:cNvPr id="745" name="Google Shape;745;p20"/>
          <p:cNvSpPr/>
          <p:nvPr/>
        </p:nvSpPr>
        <p:spPr>
          <a:xfrm>
            <a:off x="3488522" y="2306343"/>
            <a:ext cx="2166928"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676"/>
              </a:buClr>
              <a:buSzPts val="834"/>
              <a:buFont typeface="Inter"/>
              <a:buNone/>
            </a:pPr>
            <a:r>
              <a:rPr b="0" i="0" lang="en-US" sz="834" u="none" cap="none" strike="noStrike">
                <a:solidFill>
                  <a:srgbClr val="00E676"/>
                </a:solidFill>
                <a:latin typeface="Inter"/>
                <a:ea typeface="Inter"/>
                <a:cs typeface="Inter"/>
                <a:sym typeface="Inter"/>
              </a:rPr>
              <a:t>▲ +0.2% vs last month</a:t>
            </a:r>
            <a:endParaRPr b="0" i="0" sz="834" u="none" cap="none" strike="noStrike">
              <a:solidFill>
                <a:schemeClr val="dk1"/>
              </a:solidFill>
              <a:latin typeface="Calibri"/>
              <a:ea typeface="Calibri"/>
              <a:cs typeface="Calibri"/>
              <a:sym typeface="Calibri"/>
            </a:endParaRPr>
          </a:p>
        </p:txBody>
      </p:sp>
      <p:sp>
        <p:nvSpPr>
          <p:cNvPr id="746" name="Google Shape;746;p20"/>
          <p:cNvSpPr/>
          <p:nvPr/>
        </p:nvSpPr>
        <p:spPr>
          <a:xfrm>
            <a:off x="6048356" y="1347295"/>
            <a:ext cx="2524144" cy="131087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0"/>
          <p:cNvSpPr/>
          <p:nvPr/>
        </p:nvSpPr>
        <p:spPr>
          <a:xfrm>
            <a:off x="6048356" y="1347295"/>
            <a:ext cx="2524144"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0"/>
          <p:cNvSpPr/>
          <p:nvPr/>
        </p:nvSpPr>
        <p:spPr>
          <a:xfrm>
            <a:off x="8565356" y="1347295"/>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0"/>
          <p:cNvSpPr/>
          <p:nvPr/>
        </p:nvSpPr>
        <p:spPr>
          <a:xfrm>
            <a:off x="6048356" y="2651029"/>
            <a:ext cx="2524144"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0"/>
          <p:cNvSpPr/>
          <p:nvPr/>
        </p:nvSpPr>
        <p:spPr>
          <a:xfrm>
            <a:off x="6048356" y="1347295"/>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0"/>
          <p:cNvSpPr/>
          <p:nvPr/>
        </p:nvSpPr>
        <p:spPr>
          <a:xfrm>
            <a:off x="6226950" y="1525888"/>
            <a:ext cx="2166956"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AUTO-RENEWAL SUCCESS</a:t>
            </a:r>
            <a:endParaRPr b="0" i="0" sz="834" u="none" cap="none" strike="noStrike">
              <a:solidFill>
                <a:schemeClr val="dk1"/>
              </a:solidFill>
              <a:latin typeface="Calibri"/>
              <a:ea typeface="Calibri"/>
              <a:cs typeface="Calibri"/>
              <a:sym typeface="Calibri"/>
            </a:endParaRPr>
          </a:p>
        </p:txBody>
      </p:sp>
      <p:sp>
        <p:nvSpPr>
          <p:cNvPr id="752" name="Google Shape;752;p20"/>
          <p:cNvSpPr/>
          <p:nvPr/>
        </p:nvSpPr>
        <p:spPr>
          <a:xfrm>
            <a:off x="6226950" y="1783063"/>
            <a:ext cx="2166956"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Roboto Mono"/>
              <a:buNone/>
            </a:pPr>
            <a:r>
              <a:rPr b="1" i="0" lang="en-US" sz="2436" u="none" cap="none" strike="noStrike">
                <a:solidFill>
                  <a:srgbClr val="FFFFFF"/>
                </a:solidFill>
                <a:latin typeface="Roboto Mono"/>
                <a:ea typeface="Roboto Mono"/>
                <a:cs typeface="Roboto Mono"/>
                <a:sym typeface="Roboto Mono"/>
              </a:rPr>
              <a:t>99.99%</a:t>
            </a:r>
            <a:endParaRPr b="0" i="0" sz="2436" u="none" cap="none" strike="noStrike">
              <a:solidFill>
                <a:schemeClr val="dk1"/>
              </a:solidFill>
              <a:latin typeface="Calibri"/>
              <a:ea typeface="Calibri"/>
              <a:cs typeface="Calibri"/>
              <a:sym typeface="Calibri"/>
            </a:endParaRPr>
          </a:p>
        </p:txBody>
      </p:sp>
      <p:sp>
        <p:nvSpPr>
          <p:cNvPr id="753" name="Google Shape;753;p20"/>
          <p:cNvSpPr/>
          <p:nvPr/>
        </p:nvSpPr>
        <p:spPr>
          <a:xfrm>
            <a:off x="6226950" y="2306343"/>
            <a:ext cx="2166956"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Inter"/>
              <a:buNone/>
            </a:pPr>
            <a:r>
              <a:rPr b="0" i="0" lang="en-US" sz="834" u="none" cap="none" strike="noStrike">
                <a:solidFill>
                  <a:srgbClr val="A0AEC0"/>
                </a:solidFill>
                <a:latin typeface="Inter"/>
                <a:ea typeface="Inter"/>
                <a:cs typeface="Inter"/>
                <a:sym typeface="Inter"/>
              </a:rPr>
              <a:t>▶ Stable</a:t>
            </a:r>
            <a:endParaRPr b="0" i="0" sz="834" u="none" cap="none" strike="noStrike">
              <a:solidFill>
                <a:schemeClr val="dk1"/>
              </a:solidFill>
              <a:latin typeface="Calibri"/>
              <a:ea typeface="Calibri"/>
              <a:cs typeface="Calibri"/>
              <a:sym typeface="Calibri"/>
            </a:endParaRPr>
          </a:p>
        </p:txBody>
      </p:sp>
      <p:sp>
        <p:nvSpPr>
          <p:cNvPr id="754" name="Google Shape;754;p20"/>
          <p:cNvSpPr/>
          <p:nvPr/>
        </p:nvSpPr>
        <p:spPr>
          <a:xfrm>
            <a:off x="571500" y="2836766"/>
            <a:ext cx="2524116" cy="131087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0"/>
          <p:cNvSpPr/>
          <p:nvPr/>
        </p:nvSpPr>
        <p:spPr>
          <a:xfrm>
            <a:off x="571500" y="2836766"/>
            <a:ext cx="2524116" cy="28575"/>
          </a:xfrm>
          <a:prstGeom prst="rect">
            <a:avLst/>
          </a:prstGeom>
          <a:solidFill>
            <a:srgbClr val="ECC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a:off x="3088472" y="2836766"/>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a:off x="571500" y="4140501"/>
            <a:ext cx="2524116"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a:off x="571500" y="2836766"/>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a:off x="750094" y="3015360"/>
            <a:ext cx="216692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APPROACHING EXPIRY (&lt; 12H)</a:t>
            </a:r>
            <a:endParaRPr b="0" i="0" sz="834" u="none" cap="none" strike="noStrike">
              <a:solidFill>
                <a:schemeClr val="dk1"/>
              </a:solidFill>
              <a:latin typeface="Calibri"/>
              <a:ea typeface="Calibri"/>
              <a:cs typeface="Calibri"/>
              <a:sym typeface="Calibri"/>
            </a:endParaRPr>
          </a:p>
        </p:txBody>
      </p:sp>
      <p:sp>
        <p:nvSpPr>
          <p:cNvPr id="760" name="Google Shape;760;p20"/>
          <p:cNvSpPr/>
          <p:nvPr/>
        </p:nvSpPr>
        <p:spPr>
          <a:xfrm>
            <a:off x="750094" y="3272535"/>
            <a:ext cx="2166928"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Roboto Mono"/>
              <a:buNone/>
            </a:pPr>
            <a:r>
              <a:rPr b="1" i="0" lang="en-US" sz="2436" u="none" cap="none" strike="noStrike">
                <a:solidFill>
                  <a:srgbClr val="FFFFFF"/>
                </a:solidFill>
                <a:latin typeface="Roboto Mono"/>
                <a:ea typeface="Roboto Mono"/>
                <a:cs typeface="Roboto Mono"/>
                <a:sym typeface="Roboto Mono"/>
              </a:rPr>
              <a:t>0</a:t>
            </a:r>
            <a:endParaRPr b="0" i="0" sz="2436" u="none" cap="none" strike="noStrike">
              <a:solidFill>
                <a:schemeClr val="dk1"/>
              </a:solidFill>
              <a:latin typeface="Calibri"/>
              <a:ea typeface="Calibri"/>
              <a:cs typeface="Calibri"/>
              <a:sym typeface="Calibri"/>
            </a:endParaRPr>
          </a:p>
        </p:txBody>
      </p:sp>
      <p:sp>
        <p:nvSpPr>
          <p:cNvPr id="761" name="Google Shape;761;p20"/>
          <p:cNvSpPr/>
          <p:nvPr/>
        </p:nvSpPr>
        <p:spPr>
          <a:xfrm>
            <a:off x="750094" y="3795815"/>
            <a:ext cx="2166928"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Inter"/>
              <a:buNone/>
            </a:pPr>
            <a:r>
              <a:rPr b="0" i="0" lang="en-US" sz="834" u="none" cap="none" strike="noStrike">
                <a:solidFill>
                  <a:srgbClr val="A0AEC0"/>
                </a:solidFill>
                <a:latin typeface="Inter"/>
                <a:ea typeface="Inter"/>
                <a:cs typeface="Inter"/>
                <a:sym typeface="Inter"/>
              </a:rPr>
              <a:t>▶ Expected state</a:t>
            </a:r>
            <a:endParaRPr b="0" i="0" sz="834" u="none" cap="none" strike="noStrike">
              <a:solidFill>
                <a:schemeClr val="dk1"/>
              </a:solidFill>
              <a:latin typeface="Calibri"/>
              <a:ea typeface="Calibri"/>
              <a:cs typeface="Calibri"/>
              <a:sym typeface="Calibri"/>
            </a:endParaRPr>
          </a:p>
        </p:txBody>
      </p:sp>
      <p:sp>
        <p:nvSpPr>
          <p:cNvPr id="762" name="Google Shape;762;p20"/>
          <p:cNvSpPr/>
          <p:nvPr/>
        </p:nvSpPr>
        <p:spPr>
          <a:xfrm>
            <a:off x="3309928" y="2836766"/>
            <a:ext cx="2524116" cy="131087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a:off x="3309928" y="2836766"/>
            <a:ext cx="2524116" cy="28575"/>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a:off x="5826900" y="2836766"/>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a:off x="3309928" y="4140501"/>
            <a:ext cx="2524116"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a:off x="3309928" y="2836766"/>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a:off x="3488522" y="3015360"/>
            <a:ext cx="2166928"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ACTIVE INCIDENTS / DRIFT</a:t>
            </a:r>
            <a:endParaRPr b="0" i="0" sz="834" u="none" cap="none" strike="noStrike">
              <a:solidFill>
                <a:schemeClr val="dk1"/>
              </a:solidFill>
              <a:latin typeface="Calibri"/>
              <a:ea typeface="Calibri"/>
              <a:cs typeface="Calibri"/>
              <a:sym typeface="Calibri"/>
            </a:endParaRPr>
          </a:p>
        </p:txBody>
      </p:sp>
      <p:sp>
        <p:nvSpPr>
          <p:cNvPr id="768" name="Google Shape;768;p20"/>
          <p:cNvSpPr/>
          <p:nvPr/>
        </p:nvSpPr>
        <p:spPr>
          <a:xfrm>
            <a:off x="3488522" y="3272535"/>
            <a:ext cx="2166928"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Roboto Mono"/>
              <a:buNone/>
            </a:pPr>
            <a:r>
              <a:rPr b="1" i="0" lang="en-US" sz="2436" u="none" cap="none" strike="noStrike">
                <a:solidFill>
                  <a:srgbClr val="FFFFFF"/>
                </a:solidFill>
                <a:latin typeface="Roboto Mono"/>
                <a:ea typeface="Roboto Mono"/>
                <a:cs typeface="Roboto Mono"/>
                <a:sym typeface="Roboto Mono"/>
              </a:rPr>
              <a:t>0</a:t>
            </a:r>
            <a:endParaRPr b="0" i="0" sz="2436" u="none" cap="none" strike="noStrike">
              <a:solidFill>
                <a:schemeClr val="dk1"/>
              </a:solidFill>
              <a:latin typeface="Calibri"/>
              <a:ea typeface="Calibri"/>
              <a:cs typeface="Calibri"/>
              <a:sym typeface="Calibri"/>
            </a:endParaRPr>
          </a:p>
        </p:txBody>
      </p:sp>
      <p:sp>
        <p:nvSpPr>
          <p:cNvPr id="769" name="Google Shape;769;p20"/>
          <p:cNvSpPr/>
          <p:nvPr/>
        </p:nvSpPr>
        <p:spPr>
          <a:xfrm>
            <a:off x="3488522" y="3795815"/>
            <a:ext cx="2166928"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676"/>
              </a:buClr>
              <a:buSzPts val="834"/>
              <a:buFont typeface="Inter"/>
              <a:buNone/>
            </a:pPr>
            <a:r>
              <a:rPr b="0" i="0" lang="en-US" sz="834" u="none" cap="none" strike="noStrike">
                <a:solidFill>
                  <a:srgbClr val="00E676"/>
                </a:solidFill>
                <a:latin typeface="Inter"/>
                <a:ea typeface="Inter"/>
                <a:cs typeface="Inter"/>
                <a:sym typeface="Inter"/>
              </a:rPr>
              <a:t>▼ -2 resolved automatically</a:t>
            </a:r>
            <a:endParaRPr b="0" i="0" sz="834" u="none" cap="none" strike="noStrike">
              <a:solidFill>
                <a:schemeClr val="dk1"/>
              </a:solidFill>
              <a:latin typeface="Calibri"/>
              <a:ea typeface="Calibri"/>
              <a:cs typeface="Calibri"/>
              <a:sym typeface="Calibri"/>
            </a:endParaRPr>
          </a:p>
        </p:txBody>
      </p:sp>
      <p:sp>
        <p:nvSpPr>
          <p:cNvPr id="770" name="Google Shape;770;p20"/>
          <p:cNvSpPr/>
          <p:nvPr/>
        </p:nvSpPr>
        <p:spPr>
          <a:xfrm>
            <a:off x="6048356" y="2836766"/>
            <a:ext cx="2524144" cy="131087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a:off x="6048356" y="2836766"/>
            <a:ext cx="2524144"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a:off x="8565356" y="2836766"/>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6048356" y="4140501"/>
            <a:ext cx="2524144"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a:off x="6048356" y="2836766"/>
            <a:ext cx="7144" cy="1310878"/>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6226950" y="3015360"/>
            <a:ext cx="2166956"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A0AEC0"/>
              </a:buClr>
              <a:buSzPts val="834"/>
              <a:buFont typeface="Roboto Mono"/>
              <a:buNone/>
            </a:pPr>
            <a:r>
              <a:rPr b="0" i="0" lang="en-US" sz="834" u="none" cap="none" strike="noStrike">
                <a:solidFill>
                  <a:srgbClr val="A0AEC0"/>
                </a:solidFill>
                <a:latin typeface="Roboto Mono"/>
                <a:ea typeface="Roboto Mono"/>
                <a:cs typeface="Roboto Mono"/>
                <a:sym typeface="Roboto Mono"/>
              </a:rPr>
              <a:t>PQC READINESS</a:t>
            </a:r>
            <a:endParaRPr b="0" i="0" sz="834" u="none" cap="none" strike="noStrike">
              <a:solidFill>
                <a:schemeClr val="dk1"/>
              </a:solidFill>
              <a:latin typeface="Calibri"/>
              <a:ea typeface="Calibri"/>
              <a:cs typeface="Calibri"/>
              <a:sym typeface="Calibri"/>
            </a:endParaRPr>
          </a:p>
        </p:txBody>
      </p:sp>
      <p:sp>
        <p:nvSpPr>
          <p:cNvPr id="776" name="Google Shape;776;p20"/>
          <p:cNvSpPr/>
          <p:nvPr/>
        </p:nvSpPr>
        <p:spPr>
          <a:xfrm>
            <a:off x="6226950" y="3272535"/>
            <a:ext cx="2166956" cy="451842"/>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Roboto Mono"/>
              <a:buNone/>
            </a:pPr>
            <a:r>
              <a:rPr b="1" i="0" lang="en-US" sz="2436" u="none" cap="none" strike="noStrike">
                <a:solidFill>
                  <a:srgbClr val="FFFFFF"/>
                </a:solidFill>
                <a:latin typeface="Roboto Mono"/>
                <a:ea typeface="Roboto Mono"/>
                <a:cs typeface="Roboto Mono"/>
                <a:sym typeface="Roboto Mono"/>
              </a:rPr>
              <a:t>15%</a:t>
            </a:r>
            <a:endParaRPr b="0" i="0" sz="2436" u="none" cap="none" strike="noStrike">
              <a:solidFill>
                <a:schemeClr val="dk1"/>
              </a:solidFill>
              <a:latin typeface="Calibri"/>
              <a:ea typeface="Calibri"/>
              <a:cs typeface="Calibri"/>
              <a:sym typeface="Calibri"/>
            </a:endParaRPr>
          </a:p>
        </p:txBody>
      </p:sp>
      <p:sp>
        <p:nvSpPr>
          <p:cNvPr id="777" name="Google Shape;777;p20"/>
          <p:cNvSpPr/>
          <p:nvPr/>
        </p:nvSpPr>
        <p:spPr>
          <a:xfrm>
            <a:off x="6226950" y="3795815"/>
            <a:ext cx="2166956"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676"/>
              </a:buClr>
              <a:buSzPts val="834"/>
              <a:buFont typeface="Inter"/>
              <a:buNone/>
            </a:pPr>
            <a:r>
              <a:rPr b="0" i="0" lang="en-US" sz="834" u="none" cap="none" strike="noStrike">
                <a:solidFill>
                  <a:srgbClr val="00E676"/>
                </a:solidFill>
                <a:latin typeface="Inter"/>
                <a:ea typeface="Inter"/>
                <a:cs typeface="Inter"/>
                <a:sym typeface="Inter"/>
              </a:rPr>
              <a:t>▲ +5% this month</a:t>
            </a:r>
            <a:endParaRPr b="0" i="0" sz="834" u="none" cap="none" strike="noStrike">
              <a:solidFill>
                <a:schemeClr val="dk1"/>
              </a:solidFill>
              <a:latin typeface="Calibri"/>
              <a:ea typeface="Calibri"/>
              <a:cs typeface="Calibri"/>
              <a:sym typeface="Calibri"/>
            </a:endParaRPr>
          </a:p>
        </p:txBody>
      </p:sp>
      <p:sp>
        <p:nvSpPr>
          <p:cNvPr id="778" name="Google Shape;778;p20"/>
          <p:cNvSpPr/>
          <p:nvPr/>
        </p:nvSpPr>
        <p:spPr>
          <a:xfrm>
            <a:off x="571500" y="4397676"/>
            <a:ext cx="8001000" cy="728663"/>
          </a:xfrm>
          <a:prstGeom prst="rect">
            <a:avLst/>
          </a:prstGeom>
          <a:solidFill>
            <a:srgbClr val="00E5FF">
              <a:alpha val="5098"/>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a:off x="714375" y="4603952"/>
            <a:ext cx="275034" cy="301823"/>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E5FF"/>
              </a:buClr>
              <a:buSzPts val="1602"/>
              <a:buFont typeface="Roboto Mono"/>
              <a:buNone/>
            </a:pPr>
            <a:r>
              <a:rPr b="1" i="0" lang="en-US" sz="1602" u="none" cap="none" strike="noStrike">
                <a:solidFill>
                  <a:srgbClr val="00E5FF"/>
                </a:solidFill>
                <a:latin typeface="Roboto Mono"/>
                <a:ea typeface="Roboto Mono"/>
                <a:cs typeface="Roboto Mono"/>
                <a:sym typeface="Roboto Mono"/>
              </a:rPr>
              <a:t>&gt;_</a:t>
            </a:r>
            <a:endParaRPr b="0" i="0" sz="1602" u="none" cap="none" strike="noStrike">
              <a:solidFill>
                <a:schemeClr val="dk1"/>
              </a:solidFill>
              <a:latin typeface="Calibri"/>
              <a:ea typeface="Calibri"/>
              <a:cs typeface="Calibri"/>
              <a:sym typeface="Calibri"/>
            </a:endParaRPr>
          </a:p>
        </p:txBody>
      </p:sp>
      <p:sp>
        <p:nvSpPr>
          <p:cNvPr id="780" name="Google Shape;780;p20"/>
          <p:cNvSpPr/>
          <p:nvPr/>
        </p:nvSpPr>
        <p:spPr>
          <a:xfrm>
            <a:off x="1132284" y="4540551"/>
            <a:ext cx="7297341" cy="428625"/>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E0E0E0"/>
              </a:buClr>
              <a:buSzPts val="1050"/>
              <a:buFont typeface="Inter"/>
              <a:buNone/>
            </a:pPr>
            <a:r>
              <a:rPr b="0" i="0" lang="en-US" sz="1050" u="none" cap="none" strike="noStrike">
                <a:solidFill>
                  <a:srgbClr val="E0E0E0"/>
                </a:solidFill>
                <a:latin typeface="Inter"/>
                <a:ea typeface="Inter"/>
                <a:cs typeface="Inter"/>
                <a:sym typeface="Inter"/>
              </a:rPr>
              <a:t>The dashboard aggregates telemetry from the </a:t>
            </a:r>
            <a:r>
              <a:rPr b="1" i="0" lang="en-US" sz="987" u="none" cap="none" strike="noStrike">
                <a:solidFill>
                  <a:srgbClr val="00E5FF"/>
                </a:solidFill>
                <a:latin typeface="Inter"/>
                <a:ea typeface="Inter"/>
                <a:cs typeface="Inter"/>
                <a:sym typeface="Inter"/>
              </a:rPr>
              <a:t>Cert-Ops-Scheduler</a:t>
            </a:r>
            <a:r>
              <a:rPr b="0" i="0" lang="en-US" sz="1050" u="none" cap="none" strike="noStrike">
                <a:solidFill>
                  <a:srgbClr val="E0E0E0"/>
                </a:solidFill>
                <a:latin typeface="Inter"/>
                <a:ea typeface="Inter"/>
                <a:cs typeface="Inter"/>
                <a:sym typeface="Inter"/>
              </a:rPr>
              <a:t>, providing a single pane of glass for security teams to monitor fleet health, audit compliance, and prove NIST SP 800-57 adherence in real-time.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5" name="Shape 785"/>
        <p:cNvGrpSpPr/>
        <p:nvPr/>
      </p:nvGrpSpPr>
      <p:grpSpPr>
        <a:xfrm>
          <a:off x="0" y="0"/>
          <a:ext cx="0" cy="0"/>
          <a:chOff x="0" y="0"/>
          <a:chExt cx="0" cy="0"/>
        </a:xfrm>
      </p:grpSpPr>
      <p:pic>
        <p:nvPicPr>
          <p:cNvPr descr="preencoded.png" id="786" name="Google Shape;786;p21"/>
          <p:cNvPicPr preferRelativeResize="0"/>
          <p:nvPr/>
        </p:nvPicPr>
        <p:blipFill rotWithShape="1">
          <a:blip r:embed="rId3">
            <a:alphaModFix/>
          </a:blip>
          <a:srcRect b="0" l="0" r="0" t="0"/>
          <a:stretch/>
        </p:blipFill>
        <p:spPr>
          <a:xfrm>
            <a:off x="0" y="0"/>
            <a:ext cx="9144000" cy="5190632"/>
          </a:xfrm>
          <a:prstGeom prst="rect">
            <a:avLst/>
          </a:prstGeom>
          <a:noFill/>
          <a:ln>
            <a:noFill/>
          </a:ln>
        </p:spPr>
      </p:pic>
      <p:sp>
        <p:nvSpPr>
          <p:cNvPr id="787" name="Google Shape;787;p21"/>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BUSINESS VALUE</a:t>
            </a:r>
            <a:endParaRPr b="0" i="0" sz="834" u="none" cap="none" strike="noStrike">
              <a:solidFill>
                <a:schemeClr val="dk1"/>
              </a:solidFill>
              <a:latin typeface="Calibri"/>
              <a:ea typeface="Calibri"/>
              <a:cs typeface="Calibri"/>
              <a:sym typeface="Calibri"/>
            </a:endParaRPr>
          </a:p>
        </p:txBody>
      </p:sp>
      <p:sp>
        <p:nvSpPr>
          <p:cNvPr id="788" name="Google Shape;788;p21"/>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Cost Analysis &amp; ROI</a:t>
            </a:r>
            <a:endParaRPr b="0" i="0" sz="2436" u="none" cap="none" strike="noStrike">
              <a:solidFill>
                <a:schemeClr val="dk1"/>
              </a:solidFill>
              <a:latin typeface="Calibri"/>
              <a:ea typeface="Calibri"/>
              <a:cs typeface="Calibri"/>
              <a:sym typeface="Calibri"/>
            </a:endParaRPr>
          </a:p>
        </p:txBody>
      </p:sp>
      <p:sp>
        <p:nvSpPr>
          <p:cNvPr id="789" name="Google Shape;789;p21"/>
          <p:cNvSpPr/>
          <p:nvPr/>
        </p:nvSpPr>
        <p:spPr>
          <a:xfrm>
            <a:off x="571500" y="1204420"/>
            <a:ext cx="3474458" cy="1221581"/>
          </a:xfrm>
          <a:prstGeom prst="rect">
            <a:avLst/>
          </a:prstGeom>
          <a:solidFill>
            <a:srgbClr val="00E676">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1"/>
          <p:cNvSpPr/>
          <p:nvPr/>
        </p:nvSpPr>
        <p:spPr>
          <a:xfrm>
            <a:off x="571500" y="1204420"/>
            <a:ext cx="57150" cy="122158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1"/>
          <p:cNvSpPr/>
          <p:nvPr/>
        </p:nvSpPr>
        <p:spPr>
          <a:xfrm>
            <a:off x="785813" y="1418732"/>
            <a:ext cx="3045833" cy="514350"/>
          </a:xfrm>
          <a:prstGeom prst="rect">
            <a:avLst/>
          </a:prstGeom>
          <a:noFill/>
          <a:ln>
            <a:noFill/>
          </a:ln>
        </p:spPr>
        <p:txBody>
          <a:bodyPr anchorCtr="0" anchor="t" bIns="0" lIns="0" spcFirstLastPara="1" rIns="0" wrap="square" tIns="0">
            <a:noAutofit/>
          </a:bodyPr>
          <a:lstStyle/>
          <a:p>
            <a:pPr indent="0" lvl="0" marL="0" marR="0" rtl="0" algn="l">
              <a:lnSpc>
                <a:spcPct val="109890"/>
              </a:lnSpc>
              <a:spcBef>
                <a:spcPts val="0"/>
              </a:spcBef>
              <a:spcAft>
                <a:spcPts val="0"/>
              </a:spcAft>
              <a:buClr>
                <a:srgbClr val="00E676"/>
              </a:buClr>
              <a:buSzPts val="3731"/>
              <a:buFont typeface="Roboto Mono"/>
              <a:buNone/>
            </a:pPr>
            <a:r>
              <a:rPr b="1" i="0" lang="en-US" sz="3731" u="none" cap="none" strike="noStrike">
                <a:solidFill>
                  <a:srgbClr val="00E676"/>
                </a:solidFill>
                <a:latin typeface="Roboto Mono"/>
                <a:ea typeface="Roboto Mono"/>
                <a:cs typeface="Roboto Mono"/>
                <a:sym typeface="Roboto Mono"/>
              </a:rPr>
              <a:t>14.7x</a:t>
            </a:r>
            <a:endParaRPr b="0" i="0" sz="3731" u="none" cap="none" strike="noStrike">
              <a:solidFill>
                <a:schemeClr val="dk1"/>
              </a:solidFill>
              <a:latin typeface="Calibri"/>
              <a:ea typeface="Calibri"/>
              <a:cs typeface="Calibri"/>
              <a:sym typeface="Calibri"/>
            </a:endParaRPr>
          </a:p>
        </p:txBody>
      </p:sp>
      <p:sp>
        <p:nvSpPr>
          <p:cNvPr id="792" name="Google Shape;792;p21"/>
          <p:cNvSpPr/>
          <p:nvPr/>
        </p:nvSpPr>
        <p:spPr>
          <a:xfrm>
            <a:off x="785813" y="2004520"/>
            <a:ext cx="3045833"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RETURN ON INVESTMENT</a:t>
            </a:r>
            <a:endParaRPr b="0" i="0" sz="1193" u="none" cap="none" strike="noStrike">
              <a:solidFill>
                <a:schemeClr val="dk1"/>
              </a:solidFill>
              <a:latin typeface="Calibri"/>
              <a:ea typeface="Calibri"/>
              <a:cs typeface="Calibri"/>
              <a:sym typeface="Calibri"/>
            </a:endParaRPr>
          </a:p>
        </p:txBody>
      </p:sp>
      <p:sp>
        <p:nvSpPr>
          <p:cNvPr id="793" name="Google Shape;793;p21"/>
          <p:cNvSpPr/>
          <p:nvPr/>
        </p:nvSpPr>
        <p:spPr>
          <a:xfrm>
            <a:off x="571500" y="2640313"/>
            <a:ext cx="3474458" cy="1803797"/>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1"/>
          <p:cNvSpPr/>
          <p:nvPr/>
        </p:nvSpPr>
        <p:spPr>
          <a:xfrm>
            <a:off x="750094" y="2818907"/>
            <a:ext cx="3117270" cy="169664"/>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PROJECTED ANNUAL SAVINGS</a:t>
            </a:r>
            <a:endParaRPr b="0" i="0" sz="942" u="none" cap="none" strike="noStrike">
              <a:solidFill>
                <a:schemeClr val="dk1"/>
              </a:solidFill>
              <a:latin typeface="Calibri"/>
              <a:ea typeface="Calibri"/>
              <a:cs typeface="Calibri"/>
              <a:sym typeface="Calibri"/>
            </a:endParaRPr>
          </a:p>
        </p:txBody>
      </p:sp>
      <p:sp>
        <p:nvSpPr>
          <p:cNvPr id="795" name="Google Shape;795;p21"/>
          <p:cNvSpPr/>
          <p:nvPr/>
        </p:nvSpPr>
        <p:spPr>
          <a:xfrm>
            <a:off x="750094" y="3060009"/>
            <a:ext cx="3117270" cy="312539"/>
          </a:xfrm>
          <a:prstGeom prst="rect">
            <a:avLst/>
          </a:prstGeom>
          <a:noFill/>
          <a:ln>
            <a:noFill/>
          </a:ln>
        </p:spPr>
        <p:txBody>
          <a:bodyPr anchorCtr="0" anchor="t" bIns="0" lIns="0" spcFirstLastPara="1" rIns="0" wrap="square" tIns="0">
            <a:noAutofit/>
          </a:bodyPr>
          <a:lstStyle/>
          <a:p>
            <a:pPr indent="0" lvl="0" marL="0" marR="0" rtl="0" algn="l">
              <a:lnSpc>
                <a:spcPct val="132743"/>
              </a:lnSpc>
              <a:spcBef>
                <a:spcPts val="0"/>
              </a:spcBef>
              <a:spcAft>
                <a:spcPts val="0"/>
              </a:spcAft>
              <a:buClr>
                <a:srgbClr val="00E5FF"/>
              </a:buClr>
              <a:buSzPts val="1808"/>
              <a:buFont typeface="Inter"/>
              <a:buNone/>
            </a:pPr>
            <a:r>
              <a:rPr b="1" i="0" lang="en-US" sz="1808" u="none" cap="none" strike="noStrike">
                <a:solidFill>
                  <a:srgbClr val="00E5FF"/>
                </a:solidFill>
                <a:latin typeface="Inter"/>
                <a:ea typeface="Inter"/>
                <a:cs typeface="Inter"/>
                <a:sym typeface="Inter"/>
              </a:rPr>
              <a:t>$4.2M</a:t>
            </a:r>
            <a:endParaRPr b="0" i="0" sz="1808" u="none" cap="none" strike="noStrike">
              <a:solidFill>
                <a:schemeClr val="dk1"/>
              </a:solidFill>
              <a:latin typeface="Calibri"/>
              <a:ea typeface="Calibri"/>
              <a:cs typeface="Calibri"/>
              <a:sym typeface="Calibri"/>
            </a:endParaRPr>
          </a:p>
        </p:txBody>
      </p:sp>
      <p:sp>
        <p:nvSpPr>
          <p:cNvPr id="796" name="Google Shape;796;p21"/>
          <p:cNvSpPr/>
          <p:nvPr/>
        </p:nvSpPr>
        <p:spPr>
          <a:xfrm>
            <a:off x="750094" y="3479704"/>
            <a:ext cx="3117270" cy="771525"/>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Eliminates manual provisioning hours, prevents costly outage incidents, and consolidates fragmented vendor licensing into a single unified platform.</a:t>
            </a:r>
            <a:endParaRPr b="0" i="0" sz="942" u="none" cap="none" strike="noStrike">
              <a:solidFill>
                <a:schemeClr val="dk1"/>
              </a:solidFill>
              <a:latin typeface="Calibri"/>
              <a:ea typeface="Calibri"/>
              <a:cs typeface="Calibri"/>
              <a:sym typeface="Calibri"/>
            </a:endParaRPr>
          </a:p>
        </p:txBody>
      </p:sp>
      <p:sp>
        <p:nvSpPr>
          <p:cNvPr id="797" name="Google Shape;797;p21"/>
          <p:cNvSpPr/>
          <p:nvPr/>
        </p:nvSpPr>
        <p:spPr>
          <a:xfrm>
            <a:off x="4403145" y="1204420"/>
            <a:ext cx="4169355" cy="3986213"/>
          </a:xfrm>
          <a:prstGeom prst="rect">
            <a:avLst/>
          </a:prstGeom>
          <a:solidFill>
            <a:srgbClr val="0D1B2A">
              <a:alpha val="80000"/>
            </a:srgbClr>
          </a:solidFill>
          <a:ln cap="flat" cmpd="sng" w="9525">
            <a:solidFill>
              <a:srgbClr val="00E5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1"/>
          <p:cNvSpPr/>
          <p:nvPr/>
        </p:nvSpPr>
        <p:spPr>
          <a:xfrm>
            <a:off x="4403145" y="1204420"/>
            <a:ext cx="1814094" cy="632222"/>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1"/>
          <p:cNvSpPr/>
          <p:nvPr/>
        </p:nvSpPr>
        <p:spPr>
          <a:xfrm>
            <a:off x="4403145" y="1822354"/>
            <a:ext cx="1814094"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1"/>
          <p:cNvSpPr/>
          <p:nvPr/>
        </p:nvSpPr>
        <p:spPr>
          <a:xfrm>
            <a:off x="4403145" y="1204420"/>
            <a:ext cx="1814094" cy="632222"/>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00E5FF"/>
              </a:buClr>
              <a:buSzPts val="885"/>
              <a:buFont typeface="Roboto Mono"/>
              <a:buNone/>
            </a:pPr>
            <a:r>
              <a:rPr b="1" i="0" lang="en-US" sz="885" u="none" cap="none" strike="noStrike">
                <a:solidFill>
                  <a:srgbClr val="00E5FF"/>
                </a:solidFill>
                <a:latin typeface="Roboto Mono"/>
                <a:ea typeface="Roboto Mono"/>
                <a:cs typeface="Roboto Mono"/>
                <a:sym typeface="Roboto Mono"/>
              </a:rPr>
              <a:t>COST CATEGORY (ANNUAL)</a:t>
            </a:r>
            <a:endParaRPr b="0" i="0" sz="885" u="none" cap="none" strike="noStrike">
              <a:solidFill>
                <a:schemeClr val="dk1"/>
              </a:solidFill>
              <a:latin typeface="Calibri"/>
              <a:ea typeface="Calibri"/>
              <a:cs typeface="Calibri"/>
              <a:sym typeface="Calibri"/>
            </a:endParaRPr>
          </a:p>
        </p:txBody>
      </p:sp>
      <p:sp>
        <p:nvSpPr>
          <p:cNvPr id="801" name="Google Shape;801;p21"/>
          <p:cNvSpPr/>
          <p:nvPr/>
        </p:nvSpPr>
        <p:spPr>
          <a:xfrm>
            <a:off x="6217239" y="1204420"/>
            <a:ext cx="1187509" cy="632222"/>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1"/>
          <p:cNvSpPr/>
          <p:nvPr/>
        </p:nvSpPr>
        <p:spPr>
          <a:xfrm>
            <a:off x="6217239" y="1822354"/>
            <a:ext cx="1187509"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1"/>
          <p:cNvSpPr/>
          <p:nvPr/>
        </p:nvSpPr>
        <p:spPr>
          <a:xfrm>
            <a:off x="6217239" y="1204420"/>
            <a:ext cx="1187509" cy="632222"/>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00E5FF"/>
              </a:buClr>
              <a:buSzPts val="885"/>
              <a:buFont typeface="Roboto Mono"/>
              <a:buNone/>
            </a:pPr>
            <a:r>
              <a:rPr b="1" i="0" lang="en-US" sz="885" u="none" cap="none" strike="noStrike">
                <a:solidFill>
                  <a:srgbClr val="00E5FF"/>
                </a:solidFill>
                <a:latin typeface="Roboto Mono"/>
                <a:ea typeface="Roboto Mono"/>
                <a:cs typeface="Roboto Mono"/>
                <a:sym typeface="Roboto Mono"/>
              </a:rPr>
              <a:t>CURRENT STATE</a:t>
            </a:r>
            <a:endParaRPr b="0" i="0" sz="885" u="none" cap="none" strike="noStrike">
              <a:solidFill>
                <a:schemeClr val="dk1"/>
              </a:solidFill>
              <a:latin typeface="Calibri"/>
              <a:ea typeface="Calibri"/>
              <a:cs typeface="Calibri"/>
              <a:sym typeface="Calibri"/>
            </a:endParaRPr>
          </a:p>
        </p:txBody>
      </p:sp>
      <p:sp>
        <p:nvSpPr>
          <p:cNvPr id="804" name="Google Shape;804;p21"/>
          <p:cNvSpPr/>
          <p:nvPr/>
        </p:nvSpPr>
        <p:spPr>
          <a:xfrm>
            <a:off x="7404748" y="1204420"/>
            <a:ext cx="1167752" cy="632222"/>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1"/>
          <p:cNvSpPr/>
          <p:nvPr/>
        </p:nvSpPr>
        <p:spPr>
          <a:xfrm>
            <a:off x="7404748" y="1822354"/>
            <a:ext cx="1167752"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1"/>
          <p:cNvSpPr/>
          <p:nvPr/>
        </p:nvSpPr>
        <p:spPr>
          <a:xfrm>
            <a:off x="7404748" y="1204420"/>
            <a:ext cx="1167752" cy="632222"/>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00E5FF"/>
              </a:buClr>
              <a:buSzPts val="885"/>
              <a:buFont typeface="Roboto Mono"/>
              <a:buNone/>
            </a:pPr>
            <a:r>
              <a:rPr b="1" i="0" lang="en-US" sz="885" u="none" cap="none" strike="noStrike">
                <a:solidFill>
                  <a:srgbClr val="00E5FF"/>
                </a:solidFill>
                <a:latin typeface="Roboto Mono"/>
                <a:ea typeface="Roboto Mono"/>
                <a:cs typeface="Roboto Mono"/>
                <a:sym typeface="Roboto Mono"/>
              </a:rPr>
              <a:t>OPAMP PLATFORM</a:t>
            </a:r>
            <a:endParaRPr b="0" i="0" sz="885" u="none" cap="none" strike="noStrike">
              <a:solidFill>
                <a:schemeClr val="dk1"/>
              </a:solidFill>
              <a:latin typeface="Calibri"/>
              <a:ea typeface="Calibri"/>
              <a:cs typeface="Calibri"/>
              <a:sym typeface="Calibri"/>
            </a:endParaRPr>
          </a:p>
        </p:txBody>
      </p:sp>
      <p:sp>
        <p:nvSpPr>
          <p:cNvPr id="807" name="Google Shape;807;p21"/>
          <p:cNvSpPr/>
          <p:nvPr/>
        </p:nvSpPr>
        <p:spPr>
          <a:xfrm>
            <a:off x="4403145" y="1829498"/>
            <a:ext cx="1814094" cy="600075"/>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Manual Provisioning Labor</a:t>
            </a:r>
            <a:endParaRPr b="0" i="0" sz="885" u="none" cap="none" strike="noStrike">
              <a:solidFill>
                <a:schemeClr val="dk1"/>
              </a:solidFill>
              <a:latin typeface="Calibri"/>
              <a:ea typeface="Calibri"/>
              <a:cs typeface="Calibri"/>
              <a:sym typeface="Calibri"/>
            </a:endParaRPr>
          </a:p>
        </p:txBody>
      </p:sp>
      <p:sp>
        <p:nvSpPr>
          <p:cNvPr id="808" name="Google Shape;808;p21"/>
          <p:cNvSpPr/>
          <p:nvPr/>
        </p:nvSpPr>
        <p:spPr>
          <a:xfrm>
            <a:off x="6217239" y="1829498"/>
            <a:ext cx="1187509" cy="600075"/>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E53E3E"/>
              </a:buClr>
              <a:buSzPts val="942"/>
              <a:buFont typeface="Roboto Mono"/>
              <a:buNone/>
            </a:pPr>
            <a:r>
              <a:rPr b="0" i="0" lang="en-US" sz="942" u="none" cap="none" strike="noStrike">
                <a:solidFill>
                  <a:srgbClr val="E53E3E"/>
                </a:solidFill>
                <a:latin typeface="Roboto Mono"/>
                <a:ea typeface="Roboto Mono"/>
                <a:cs typeface="Roboto Mono"/>
                <a:sym typeface="Roboto Mono"/>
              </a:rPr>
              <a:t>$1,850,000</a:t>
            </a:r>
            <a:endParaRPr b="0" i="0" sz="942" u="none" cap="none" strike="noStrike">
              <a:solidFill>
                <a:schemeClr val="dk1"/>
              </a:solidFill>
              <a:latin typeface="Calibri"/>
              <a:ea typeface="Calibri"/>
              <a:cs typeface="Calibri"/>
              <a:sym typeface="Calibri"/>
            </a:endParaRPr>
          </a:p>
        </p:txBody>
      </p:sp>
      <p:sp>
        <p:nvSpPr>
          <p:cNvPr id="809" name="Google Shape;809;p21"/>
          <p:cNvSpPr/>
          <p:nvPr/>
        </p:nvSpPr>
        <p:spPr>
          <a:xfrm>
            <a:off x="7404748" y="1829498"/>
            <a:ext cx="1167752" cy="600075"/>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$45,000</a:t>
            </a:r>
            <a:endParaRPr b="0" i="0" sz="942" u="none" cap="none" strike="noStrike">
              <a:solidFill>
                <a:schemeClr val="dk1"/>
              </a:solidFill>
              <a:latin typeface="Calibri"/>
              <a:ea typeface="Calibri"/>
              <a:cs typeface="Calibri"/>
              <a:sym typeface="Calibri"/>
            </a:endParaRPr>
          </a:p>
        </p:txBody>
      </p:sp>
      <p:sp>
        <p:nvSpPr>
          <p:cNvPr id="810" name="Google Shape;810;p21"/>
          <p:cNvSpPr/>
          <p:nvPr/>
        </p:nvSpPr>
        <p:spPr>
          <a:xfrm>
            <a:off x="4403145" y="2429573"/>
            <a:ext cx="1814094"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Outage Remediation (Downtime)</a:t>
            </a:r>
            <a:endParaRPr b="0" i="0" sz="885" u="none" cap="none" strike="noStrike">
              <a:solidFill>
                <a:schemeClr val="dk1"/>
              </a:solidFill>
              <a:latin typeface="Calibri"/>
              <a:ea typeface="Calibri"/>
              <a:cs typeface="Calibri"/>
              <a:sym typeface="Calibri"/>
            </a:endParaRPr>
          </a:p>
        </p:txBody>
      </p:sp>
      <p:sp>
        <p:nvSpPr>
          <p:cNvPr id="811" name="Google Shape;811;p21"/>
          <p:cNvSpPr/>
          <p:nvPr/>
        </p:nvSpPr>
        <p:spPr>
          <a:xfrm>
            <a:off x="6217239" y="2429573"/>
            <a:ext cx="1187509"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E53E3E"/>
              </a:buClr>
              <a:buSzPts val="942"/>
              <a:buFont typeface="Roboto Mono"/>
              <a:buNone/>
            </a:pPr>
            <a:r>
              <a:rPr b="0" i="0" lang="en-US" sz="942" u="none" cap="none" strike="noStrike">
                <a:solidFill>
                  <a:srgbClr val="E53E3E"/>
                </a:solidFill>
                <a:latin typeface="Roboto Mono"/>
                <a:ea typeface="Roboto Mono"/>
                <a:cs typeface="Roboto Mono"/>
                <a:sym typeface="Roboto Mono"/>
              </a:rPr>
              <a:t>$2,100,000</a:t>
            </a:r>
            <a:endParaRPr b="0" i="0" sz="942" u="none" cap="none" strike="noStrike">
              <a:solidFill>
                <a:schemeClr val="dk1"/>
              </a:solidFill>
              <a:latin typeface="Calibri"/>
              <a:ea typeface="Calibri"/>
              <a:cs typeface="Calibri"/>
              <a:sym typeface="Calibri"/>
            </a:endParaRPr>
          </a:p>
        </p:txBody>
      </p:sp>
      <p:sp>
        <p:nvSpPr>
          <p:cNvPr id="812" name="Google Shape;812;p21"/>
          <p:cNvSpPr/>
          <p:nvPr/>
        </p:nvSpPr>
        <p:spPr>
          <a:xfrm>
            <a:off x="7404748" y="2429573"/>
            <a:ext cx="1167752"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$0</a:t>
            </a:r>
            <a:endParaRPr b="0" i="0" sz="942" u="none" cap="none" strike="noStrike">
              <a:solidFill>
                <a:schemeClr val="dk1"/>
              </a:solidFill>
              <a:latin typeface="Calibri"/>
              <a:ea typeface="Calibri"/>
              <a:cs typeface="Calibri"/>
              <a:sym typeface="Calibri"/>
            </a:endParaRPr>
          </a:p>
        </p:txBody>
      </p:sp>
      <p:sp>
        <p:nvSpPr>
          <p:cNvPr id="813" name="Google Shape;813;p21"/>
          <p:cNvSpPr/>
          <p:nvPr/>
        </p:nvSpPr>
        <p:spPr>
          <a:xfrm>
            <a:off x="4403145" y="3033220"/>
            <a:ext cx="1814094"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Third-Party CA Licensing</a:t>
            </a:r>
            <a:endParaRPr b="0" i="0" sz="885" u="none" cap="none" strike="noStrike">
              <a:solidFill>
                <a:schemeClr val="dk1"/>
              </a:solidFill>
              <a:latin typeface="Calibri"/>
              <a:ea typeface="Calibri"/>
              <a:cs typeface="Calibri"/>
              <a:sym typeface="Calibri"/>
            </a:endParaRPr>
          </a:p>
        </p:txBody>
      </p:sp>
      <p:sp>
        <p:nvSpPr>
          <p:cNvPr id="814" name="Google Shape;814;p21"/>
          <p:cNvSpPr/>
          <p:nvPr/>
        </p:nvSpPr>
        <p:spPr>
          <a:xfrm>
            <a:off x="6217239" y="3033220"/>
            <a:ext cx="1187509"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E53E3E"/>
              </a:buClr>
              <a:buSzPts val="942"/>
              <a:buFont typeface="Roboto Mono"/>
              <a:buNone/>
            </a:pPr>
            <a:r>
              <a:rPr b="0" i="0" lang="en-US" sz="942" u="none" cap="none" strike="noStrike">
                <a:solidFill>
                  <a:srgbClr val="E53E3E"/>
                </a:solidFill>
                <a:latin typeface="Roboto Mono"/>
                <a:ea typeface="Roboto Mono"/>
                <a:cs typeface="Roboto Mono"/>
                <a:sym typeface="Roboto Mono"/>
              </a:rPr>
              <a:t>$450,000</a:t>
            </a:r>
            <a:endParaRPr b="0" i="0" sz="942" u="none" cap="none" strike="noStrike">
              <a:solidFill>
                <a:schemeClr val="dk1"/>
              </a:solidFill>
              <a:latin typeface="Calibri"/>
              <a:ea typeface="Calibri"/>
              <a:cs typeface="Calibri"/>
              <a:sym typeface="Calibri"/>
            </a:endParaRPr>
          </a:p>
        </p:txBody>
      </p:sp>
      <p:sp>
        <p:nvSpPr>
          <p:cNvPr id="815" name="Google Shape;815;p21"/>
          <p:cNvSpPr/>
          <p:nvPr/>
        </p:nvSpPr>
        <p:spPr>
          <a:xfrm>
            <a:off x="7404748" y="3033220"/>
            <a:ext cx="1167752"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$120,000</a:t>
            </a:r>
            <a:endParaRPr b="0" i="0" sz="942" u="none" cap="none" strike="noStrike">
              <a:solidFill>
                <a:schemeClr val="dk1"/>
              </a:solidFill>
              <a:latin typeface="Calibri"/>
              <a:ea typeface="Calibri"/>
              <a:cs typeface="Calibri"/>
              <a:sym typeface="Calibri"/>
            </a:endParaRPr>
          </a:p>
        </p:txBody>
      </p:sp>
      <p:sp>
        <p:nvSpPr>
          <p:cNvPr id="816" name="Google Shape;816;p21"/>
          <p:cNvSpPr/>
          <p:nvPr/>
        </p:nvSpPr>
        <p:spPr>
          <a:xfrm>
            <a:off x="4403145" y="3636866"/>
            <a:ext cx="1814094" cy="462558"/>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Compliance Auditing</a:t>
            </a:r>
            <a:endParaRPr b="0" i="0" sz="885" u="none" cap="none" strike="noStrike">
              <a:solidFill>
                <a:schemeClr val="dk1"/>
              </a:solidFill>
              <a:latin typeface="Calibri"/>
              <a:ea typeface="Calibri"/>
              <a:cs typeface="Calibri"/>
              <a:sym typeface="Calibri"/>
            </a:endParaRPr>
          </a:p>
        </p:txBody>
      </p:sp>
      <p:sp>
        <p:nvSpPr>
          <p:cNvPr id="817" name="Google Shape;817;p21"/>
          <p:cNvSpPr/>
          <p:nvPr/>
        </p:nvSpPr>
        <p:spPr>
          <a:xfrm>
            <a:off x="6217239" y="3636866"/>
            <a:ext cx="1187509" cy="462558"/>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E53E3E"/>
              </a:buClr>
              <a:buSzPts val="942"/>
              <a:buFont typeface="Roboto Mono"/>
              <a:buNone/>
            </a:pPr>
            <a:r>
              <a:rPr b="0" i="0" lang="en-US" sz="942" u="none" cap="none" strike="noStrike">
                <a:solidFill>
                  <a:srgbClr val="E53E3E"/>
                </a:solidFill>
                <a:latin typeface="Roboto Mono"/>
                <a:ea typeface="Roboto Mono"/>
                <a:cs typeface="Roboto Mono"/>
                <a:sym typeface="Roboto Mono"/>
              </a:rPr>
              <a:t>$120,000</a:t>
            </a:r>
            <a:endParaRPr b="0" i="0" sz="942" u="none" cap="none" strike="noStrike">
              <a:solidFill>
                <a:schemeClr val="dk1"/>
              </a:solidFill>
              <a:latin typeface="Calibri"/>
              <a:ea typeface="Calibri"/>
              <a:cs typeface="Calibri"/>
              <a:sym typeface="Calibri"/>
            </a:endParaRPr>
          </a:p>
        </p:txBody>
      </p:sp>
      <p:sp>
        <p:nvSpPr>
          <p:cNvPr id="818" name="Google Shape;818;p21"/>
          <p:cNvSpPr/>
          <p:nvPr/>
        </p:nvSpPr>
        <p:spPr>
          <a:xfrm>
            <a:off x="7404748" y="3636866"/>
            <a:ext cx="1167752" cy="462558"/>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$30,000</a:t>
            </a:r>
            <a:endParaRPr b="0" i="0" sz="942" u="none" cap="none" strike="noStrike">
              <a:solidFill>
                <a:schemeClr val="dk1"/>
              </a:solidFill>
              <a:latin typeface="Calibri"/>
              <a:ea typeface="Calibri"/>
              <a:cs typeface="Calibri"/>
              <a:sym typeface="Calibri"/>
            </a:endParaRPr>
          </a:p>
        </p:txBody>
      </p:sp>
      <p:sp>
        <p:nvSpPr>
          <p:cNvPr id="819" name="Google Shape;819;p21"/>
          <p:cNvSpPr/>
          <p:nvPr/>
        </p:nvSpPr>
        <p:spPr>
          <a:xfrm>
            <a:off x="4403145" y="4099424"/>
            <a:ext cx="1814094"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Infrastructure &amp; Compute</a:t>
            </a:r>
            <a:endParaRPr b="0" i="0" sz="885" u="none" cap="none" strike="noStrike">
              <a:solidFill>
                <a:schemeClr val="dk1"/>
              </a:solidFill>
              <a:latin typeface="Calibri"/>
              <a:ea typeface="Calibri"/>
              <a:cs typeface="Calibri"/>
              <a:sym typeface="Calibri"/>
            </a:endParaRPr>
          </a:p>
        </p:txBody>
      </p:sp>
      <p:sp>
        <p:nvSpPr>
          <p:cNvPr id="820" name="Google Shape;820;p21"/>
          <p:cNvSpPr/>
          <p:nvPr/>
        </p:nvSpPr>
        <p:spPr>
          <a:xfrm>
            <a:off x="6217239" y="4099424"/>
            <a:ext cx="1187509"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E53E3E"/>
              </a:buClr>
              <a:buSzPts val="942"/>
              <a:buFont typeface="Roboto Mono"/>
              <a:buNone/>
            </a:pPr>
            <a:r>
              <a:rPr b="0" i="0" lang="en-US" sz="942" u="none" cap="none" strike="noStrike">
                <a:solidFill>
                  <a:srgbClr val="E53E3E"/>
                </a:solidFill>
                <a:latin typeface="Roboto Mono"/>
                <a:ea typeface="Roboto Mono"/>
                <a:cs typeface="Roboto Mono"/>
                <a:sym typeface="Roboto Mono"/>
              </a:rPr>
              <a:t>$80,000</a:t>
            </a:r>
            <a:endParaRPr b="0" i="0" sz="942" u="none" cap="none" strike="noStrike">
              <a:solidFill>
                <a:schemeClr val="dk1"/>
              </a:solidFill>
              <a:latin typeface="Calibri"/>
              <a:ea typeface="Calibri"/>
              <a:cs typeface="Calibri"/>
              <a:sym typeface="Calibri"/>
            </a:endParaRPr>
          </a:p>
        </p:txBody>
      </p:sp>
      <p:sp>
        <p:nvSpPr>
          <p:cNvPr id="821" name="Google Shape;821;p21"/>
          <p:cNvSpPr/>
          <p:nvPr/>
        </p:nvSpPr>
        <p:spPr>
          <a:xfrm>
            <a:off x="7404748" y="4099424"/>
            <a:ext cx="1167752" cy="603647"/>
          </a:xfrm>
          <a:prstGeom prst="rect">
            <a:avLst/>
          </a:prstGeom>
          <a:noFill/>
          <a:ln>
            <a:noFill/>
          </a:ln>
        </p:spPr>
        <p:txBody>
          <a:bodyPr anchorCtr="0" anchor="ctr" bIns="170050" lIns="170050" spcFirstLastPara="1" rIns="170050" wrap="square" tIns="170050">
            <a:noAutofit/>
          </a:bodyPr>
          <a:lstStyle/>
          <a:p>
            <a:pPr indent="0" lvl="0" marL="0" marR="0" rtl="0" algn="l">
              <a:lnSpc>
                <a:spcPct val="127388"/>
              </a:lnSpc>
              <a:spcBef>
                <a:spcPts val="0"/>
              </a:spcBef>
              <a:spcAft>
                <a:spcPts val="0"/>
              </a:spcAft>
              <a:buClr>
                <a:srgbClr val="00E676"/>
              </a:buClr>
              <a:buSzPts val="942"/>
              <a:buFont typeface="Roboto Mono"/>
              <a:buNone/>
            </a:pPr>
            <a:r>
              <a:rPr b="0" i="0" lang="en-US" sz="942" u="none" cap="none" strike="noStrike">
                <a:solidFill>
                  <a:srgbClr val="00E676"/>
                </a:solidFill>
                <a:latin typeface="Roboto Mono"/>
                <a:ea typeface="Roboto Mono"/>
                <a:cs typeface="Roboto Mono"/>
                <a:sym typeface="Roboto Mono"/>
              </a:rPr>
              <a:t>$150,000</a:t>
            </a:r>
            <a:endParaRPr b="0" i="0" sz="942" u="none" cap="none" strike="noStrike">
              <a:solidFill>
                <a:schemeClr val="dk1"/>
              </a:solidFill>
              <a:latin typeface="Calibri"/>
              <a:ea typeface="Calibri"/>
              <a:cs typeface="Calibri"/>
              <a:sym typeface="Calibri"/>
            </a:endParaRPr>
          </a:p>
        </p:txBody>
      </p:sp>
      <p:sp>
        <p:nvSpPr>
          <p:cNvPr id="822" name="Google Shape;822;p21"/>
          <p:cNvSpPr/>
          <p:nvPr/>
        </p:nvSpPr>
        <p:spPr>
          <a:xfrm>
            <a:off x="4403145" y="4703071"/>
            <a:ext cx="1814094" cy="45898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4403145" y="4703071"/>
            <a:ext cx="1814094" cy="458986"/>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Total Annual Cost</a:t>
            </a:r>
            <a:endParaRPr b="0" i="0" sz="885" u="none" cap="none" strike="noStrike">
              <a:solidFill>
                <a:schemeClr val="dk1"/>
              </a:solidFill>
              <a:latin typeface="Calibri"/>
              <a:ea typeface="Calibri"/>
              <a:cs typeface="Calibri"/>
              <a:sym typeface="Calibri"/>
            </a:endParaRPr>
          </a:p>
        </p:txBody>
      </p:sp>
      <p:sp>
        <p:nvSpPr>
          <p:cNvPr id="824" name="Google Shape;824;p21"/>
          <p:cNvSpPr/>
          <p:nvPr/>
        </p:nvSpPr>
        <p:spPr>
          <a:xfrm>
            <a:off x="6217239" y="4703071"/>
            <a:ext cx="1187509" cy="45898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a:off x="6217239" y="4703071"/>
            <a:ext cx="1187509" cy="458986"/>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E53E3E"/>
              </a:buClr>
              <a:buSzPts val="885"/>
              <a:buFont typeface="Roboto Mono"/>
              <a:buNone/>
            </a:pPr>
            <a:r>
              <a:rPr b="1" i="0" lang="en-US" sz="885" u="none" cap="none" strike="noStrike">
                <a:solidFill>
                  <a:srgbClr val="E53E3E"/>
                </a:solidFill>
                <a:latin typeface="Roboto Mono"/>
                <a:ea typeface="Roboto Mono"/>
                <a:cs typeface="Roboto Mono"/>
                <a:sym typeface="Roboto Mono"/>
              </a:rPr>
              <a:t>$4,600,000</a:t>
            </a:r>
            <a:endParaRPr b="0" i="0" sz="885" u="none" cap="none" strike="noStrike">
              <a:solidFill>
                <a:schemeClr val="dk1"/>
              </a:solidFill>
              <a:latin typeface="Calibri"/>
              <a:ea typeface="Calibri"/>
              <a:cs typeface="Calibri"/>
              <a:sym typeface="Calibri"/>
            </a:endParaRPr>
          </a:p>
        </p:txBody>
      </p:sp>
      <p:sp>
        <p:nvSpPr>
          <p:cNvPr id="826" name="Google Shape;826;p21"/>
          <p:cNvSpPr/>
          <p:nvPr/>
        </p:nvSpPr>
        <p:spPr>
          <a:xfrm>
            <a:off x="7404748" y="4703071"/>
            <a:ext cx="1167752" cy="45898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7404748" y="4703071"/>
            <a:ext cx="1167752" cy="458986"/>
          </a:xfrm>
          <a:prstGeom prst="rect">
            <a:avLst/>
          </a:prstGeom>
          <a:noFill/>
          <a:ln>
            <a:noFill/>
          </a:ln>
        </p:spPr>
        <p:txBody>
          <a:bodyPr anchorCtr="0" anchor="ctr" bIns="170050" lIns="170050" spcFirstLastPara="1" rIns="170050" wrap="square" tIns="170050">
            <a:noAutofit/>
          </a:bodyPr>
          <a:lstStyle/>
          <a:p>
            <a:pPr indent="0" lvl="0" marL="0" marR="0" rtl="0" algn="l">
              <a:lnSpc>
                <a:spcPct val="135593"/>
              </a:lnSpc>
              <a:spcBef>
                <a:spcPts val="0"/>
              </a:spcBef>
              <a:spcAft>
                <a:spcPts val="0"/>
              </a:spcAft>
              <a:buClr>
                <a:srgbClr val="00E676"/>
              </a:buClr>
              <a:buSzPts val="885"/>
              <a:buFont typeface="Roboto Mono"/>
              <a:buNone/>
            </a:pPr>
            <a:r>
              <a:rPr b="1" i="0" lang="en-US" sz="885" u="none" cap="none" strike="noStrike">
                <a:solidFill>
                  <a:srgbClr val="00E676"/>
                </a:solidFill>
                <a:latin typeface="Roboto Mono"/>
                <a:ea typeface="Roboto Mono"/>
                <a:cs typeface="Roboto Mono"/>
                <a:sym typeface="Roboto Mono"/>
              </a:rPr>
              <a:t>$345,000</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2" name="Shape 832"/>
        <p:cNvGrpSpPr/>
        <p:nvPr/>
      </p:nvGrpSpPr>
      <p:grpSpPr>
        <a:xfrm>
          <a:off x="0" y="0"/>
          <a:ext cx="0" cy="0"/>
          <a:chOff x="0" y="0"/>
          <a:chExt cx="0" cy="0"/>
        </a:xfrm>
      </p:grpSpPr>
      <p:pic>
        <p:nvPicPr>
          <p:cNvPr descr="preencoded.png" id="833" name="Google Shape;833;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34" name="Google Shape;834;p22"/>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ROADMAP</a:t>
            </a:r>
            <a:endParaRPr b="0" i="0" sz="834" u="none" cap="none" strike="noStrike">
              <a:solidFill>
                <a:schemeClr val="dk1"/>
              </a:solidFill>
              <a:latin typeface="Calibri"/>
              <a:ea typeface="Calibri"/>
              <a:cs typeface="Calibri"/>
              <a:sym typeface="Calibri"/>
            </a:endParaRPr>
          </a:p>
        </p:txBody>
      </p:sp>
      <p:sp>
        <p:nvSpPr>
          <p:cNvPr id="835" name="Google Shape;835;p22"/>
          <p:cNvSpPr/>
          <p:nvPr/>
        </p:nvSpPr>
        <p:spPr>
          <a:xfrm>
            <a:off x="571500" y="650081"/>
            <a:ext cx="800100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Three-Phase Implementation</a:t>
            </a:r>
            <a:endParaRPr b="0" i="0" sz="2436" u="none" cap="none" strike="noStrike">
              <a:solidFill>
                <a:schemeClr val="dk1"/>
              </a:solidFill>
              <a:latin typeface="Calibri"/>
              <a:ea typeface="Calibri"/>
              <a:cs typeface="Calibri"/>
              <a:sym typeface="Calibri"/>
            </a:endParaRPr>
          </a:p>
        </p:txBody>
      </p:sp>
      <p:sp>
        <p:nvSpPr>
          <p:cNvPr id="836" name="Google Shape;836;p22"/>
          <p:cNvSpPr/>
          <p:nvPr/>
        </p:nvSpPr>
        <p:spPr>
          <a:xfrm>
            <a:off x="571500" y="1318720"/>
            <a:ext cx="2476481" cy="3227133"/>
          </a:xfrm>
          <a:prstGeom prst="rect">
            <a:avLst/>
          </a:prstGeom>
          <a:solidFill>
            <a:srgbClr val="0D1B2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a:off x="571500" y="1318720"/>
            <a:ext cx="2476481"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a:off x="3040838" y="1318720"/>
            <a:ext cx="7144" cy="322713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a:off x="571500" y="4538709"/>
            <a:ext cx="24764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2"/>
          <p:cNvSpPr/>
          <p:nvPr/>
        </p:nvSpPr>
        <p:spPr>
          <a:xfrm>
            <a:off x="571500" y="1318720"/>
            <a:ext cx="7144" cy="322713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2"/>
          <p:cNvSpPr/>
          <p:nvPr/>
        </p:nvSpPr>
        <p:spPr>
          <a:xfrm>
            <a:off x="700088" y="1447307"/>
            <a:ext cx="2219306" cy="169664"/>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PHASE 1</a:t>
            </a:r>
            <a:endParaRPr b="0" i="0" sz="942" u="none" cap="none" strike="noStrike">
              <a:solidFill>
                <a:schemeClr val="dk1"/>
              </a:solidFill>
              <a:latin typeface="Calibri"/>
              <a:ea typeface="Calibri"/>
              <a:cs typeface="Calibri"/>
              <a:sym typeface="Calibri"/>
            </a:endParaRPr>
          </a:p>
        </p:txBody>
      </p:sp>
      <p:sp>
        <p:nvSpPr>
          <p:cNvPr id="842" name="Google Shape;842;p22"/>
          <p:cNvSpPr/>
          <p:nvPr/>
        </p:nvSpPr>
        <p:spPr>
          <a:xfrm>
            <a:off x="700088" y="1688409"/>
            <a:ext cx="2219306" cy="303609"/>
          </a:xfrm>
          <a:prstGeom prst="rect">
            <a:avLst/>
          </a:prstGeom>
          <a:noFill/>
          <a:ln>
            <a:noFill/>
          </a:ln>
        </p:spPr>
        <p:txBody>
          <a:bodyPr anchorCtr="0" anchor="t" bIns="85075" lIns="0" spcFirstLastPara="1" rIns="0" wrap="square" tIns="0">
            <a:noAutofit/>
          </a:bodyPr>
          <a:lstStyle/>
          <a:p>
            <a:pPr indent="0" lvl="0" marL="0" marR="0" rtl="0" algn="ctr">
              <a:lnSpc>
                <a:spcPct val="138996"/>
              </a:lnSpc>
              <a:spcBef>
                <a:spcPts val="0"/>
              </a:spcBef>
              <a:spcAft>
                <a:spcPts val="0"/>
              </a:spcAft>
              <a:buClr>
                <a:srgbClr val="FFFFFF"/>
              </a:buClr>
              <a:buSzPts val="1295"/>
              <a:buFont typeface="Inter"/>
              <a:buNone/>
            </a:pPr>
            <a:r>
              <a:rPr b="1" i="0" lang="en-US" sz="1295" u="none" cap="none" strike="noStrike">
                <a:solidFill>
                  <a:srgbClr val="FFFFFF"/>
                </a:solidFill>
                <a:latin typeface="Inter"/>
                <a:ea typeface="Inter"/>
                <a:cs typeface="Inter"/>
                <a:sym typeface="Inter"/>
              </a:rPr>
              <a:t>Foundation &amp; PoC</a:t>
            </a:r>
            <a:endParaRPr b="0" i="0" sz="1295" u="none" cap="none" strike="noStrike">
              <a:solidFill>
                <a:schemeClr val="dk1"/>
              </a:solidFill>
              <a:latin typeface="Calibri"/>
              <a:ea typeface="Calibri"/>
              <a:cs typeface="Calibri"/>
              <a:sym typeface="Calibri"/>
            </a:endParaRPr>
          </a:p>
        </p:txBody>
      </p:sp>
      <p:sp>
        <p:nvSpPr>
          <p:cNvPr id="843" name="Google Shape;843;p22"/>
          <p:cNvSpPr/>
          <p:nvPr/>
        </p:nvSpPr>
        <p:spPr>
          <a:xfrm>
            <a:off x="700088" y="2077743"/>
            <a:ext cx="2219306" cy="203597"/>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2"/>
          <p:cNvSpPr/>
          <p:nvPr/>
        </p:nvSpPr>
        <p:spPr>
          <a:xfrm>
            <a:off x="700088" y="2077743"/>
            <a:ext cx="2219306" cy="203597"/>
          </a:xfrm>
          <a:prstGeom prst="rect">
            <a:avLst/>
          </a:prstGeom>
          <a:noFill/>
          <a:ln>
            <a:noFill/>
          </a:ln>
        </p:spPr>
        <p:txBody>
          <a:bodyPr anchorCtr="0" anchor="t" bIns="42525" lIns="42525" spcFirstLastPara="1" rIns="42525" wrap="square" tIns="42525">
            <a:noAutofit/>
          </a:bodyPr>
          <a:lstStyle/>
          <a:p>
            <a:pPr indent="0" lvl="0" marL="0" marR="0" rtl="0" algn="ctr">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Months 1 - 3</a:t>
            </a:r>
            <a:endParaRPr b="0" i="0" sz="727" u="none" cap="none" strike="noStrike">
              <a:solidFill>
                <a:schemeClr val="dk1"/>
              </a:solidFill>
              <a:latin typeface="Calibri"/>
              <a:ea typeface="Calibri"/>
              <a:cs typeface="Calibri"/>
              <a:sym typeface="Calibri"/>
            </a:endParaRPr>
          </a:p>
        </p:txBody>
      </p:sp>
      <p:sp>
        <p:nvSpPr>
          <p:cNvPr id="845" name="Google Shape;845;p22"/>
          <p:cNvSpPr/>
          <p:nvPr/>
        </p:nvSpPr>
        <p:spPr>
          <a:xfrm>
            <a:off x="700088" y="2409927"/>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Deploy core </a:t>
            </a:r>
            <a:r>
              <a:rPr b="1" i="0" lang="en-US" sz="885" u="none" cap="none" strike="noStrike">
                <a:solidFill>
                  <a:srgbClr val="FFFFFF"/>
                </a:solidFill>
                <a:latin typeface="Inter"/>
                <a:ea typeface="Inter"/>
                <a:cs typeface="Inter"/>
                <a:sym typeface="Inter"/>
              </a:rPr>
              <a:t>Athenz ZTS</a:t>
            </a:r>
            <a:r>
              <a:rPr b="0" i="0" lang="en-US" sz="942" u="none" cap="none" strike="noStrike">
                <a:solidFill>
                  <a:srgbClr val="E0E0E0"/>
                </a:solidFill>
                <a:latin typeface="Inter"/>
                <a:ea typeface="Inter"/>
                <a:cs typeface="Inter"/>
                <a:sym typeface="Inter"/>
              </a:rPr>
              <a:t> and Vault PKI backend.</a:t>
            </a:r>
            <a:endParaRPr b="0" i="0" sz="942" u="none" cap="none" strike="noStrike">
              <a:solidFill>
                <a:schemeClr val="dk1"/>
              </a:solidFill>
              <a:latin typeface="Calibri"/>
              <a:ea typeface="Calibri"/>
              <a:cs typeface="Calibri"/>
              <a:sym typeface="Calibri"/>
            </a:endParaRPr>
          </a:p>
        </p:txBody>
      </p:sp>
      <p:sp>
        <p:nvSpPr>
          <p:cNvPr id="846" name="Google Shape;846;p22"/>
          <p:cNvSpPr/>
          <p:nvPr/>
        </p:nvSpPr>
        <p:spPr>
          <a:xfrm>
            <a:off x="700088" y="2827111"/>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Setup single-region </a:t>
            </a:r>
            <a:r>
              <a:rPr b="1" i="0" lang="en-US" sz="885" u="none" cap="none" strike="noStrike">
                <a:solidFill>
                  <a:srgbClr val="FFFFFF"/>
                </a:solidFill>
                <a:latin typeface="Inter"/>
                <a:ea typeface="Inter"/>
                <a:cs typeface="Inter"/>
                <a:sym typeface="Inter"/>
              </a:rPr>
              <a:t>OpAMP Server</a:t>
            </a:r>
            <a:r>
              <a:rPr b="0" i="0" lang="en-US" sz="942" u="none" cap="none" strike="noStrike">
                <a:solidFill>
                  <a:srgbClr val="E0E0E0"/>
                </a:solidFill>
                <a:latin typeface="Inter"/>
                <a:ea typeface="Inter"/>
                <a:cs typeface="Inter"/>
                <a:sym typeface="Inter"/>
              </a:rPr>
              <a:t> and Supervisor Proxy.</a:t>
            </a:r>
            <a:endParaRPr b="0" i="0" sz="942" u="none" cap="none" strike="noStrike">
              <a:solidFill>
                <a:schemeClr val="dk1"/>
              </a:solidFill>
              <a:latin typeface="Calibri"/>
              <a:ea typeface="Calibri"/>
              <a:cs typeface="Calibri"/>
              <a:sym typeface="Calibri"/>
            </a:endParaRPr>
          </a:p>
        </p:txBody>
      </p:sp>
      <p:sp>
        <p:nvSpPr>
          <p:cNvPr id="847" name="Google Shape;847;p22"/>
          <p:cNvSpPr/>
          <p:nvPr/>
        </p:nvSpPr>
        <p:spPr>
          <a:xfrm>
            <a:off x="700088" y="3244295"/>
            <a:ext cx="2219306" cy="540051"/>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Integrate OpAMP Agent as sidecar in non-prod Kubernetes clusters.</a:t>
            </a:r>
            <a:endParaRPr b="0" i="0" sz="942" u="none" cap="none" strike="noStrike">
              <a:solidFill>
                <a:schemeClr val="dk1"/>
              </a:solidFill>
              <a:latin typeface="Calibri"/>
              <a:ea typeface="Calibri"/>
              <a:cs typeface="Calibri"/>
              <a:sym typeface="Calibri"/>
            </a:endParaRPr>
          </a:p>
        </p:txBody>
      </p:sp>
      <p:sp>
        <p:nvSpPr>
          <p:cNvPr id="848" name="Google Shape;848;p22"/>
          <p:cNvSpPr/>
          <p:nvPr/>
        </p:nvSpPr>
        <p:spPr>
          <a:xfrm>
            <a:off x="700088" y="3841496"/>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Establish basic identity bootstrapping flow.</a:t>
            </a:r>
            <a:endParaRPr b="0" i="0" sz="942" u="none" cap="none" strike="noStrike">
              <a:solidFill>
                <a:schemeClr val="dk1"/>
              </a:solidFill>
              <a:latin typeface="Calibri"/>
              <a:ea typeface="Calibri"/>
              <a:cs typeface="Calibri"/>
              <a:sym typeface="Calibri"/>
            </a:endParaRPr>
          </a:p>
        </p:txBody>
      </p:sp>
      <p:sp>
        <p:nvSpPr>
          <p:cNvPr id="849" name="Google Shape;849;p22"/>
          <p:cNvSpPr/>
          <p:nvPr/>
        </p:nvSpPr>
        <p:spPr>
          <a:xfrm>
            <a:off x="3333731" y="1318720"/>
            <a:ext cx="2476509" cy="3227133"/>
          </a:xfrm>
          <a:prstGeom prst="rect">
            <a:avLst/>
          </a:prstGeom>
          <a:solidFill>
            <a:srgbClr val="0D1B2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2"/>
          <p:cNvSpPr/>
          <p:nvPr/>
        </p:nvSpPr>
        <p:spPr>
          <a:xfrm>
            <a:off x="3333731" y="1318720"/>
            <a:ext cx="2476509"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2"/>
          <p:cNvSpPr/>
          <p:nvPr/>
        </p:nvSpPr>
        <p:spPr>
          <a:xfrm>
            <a:off x="5803097" y="1318720"/>
            <a:ext cx="7144" cy="322713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2"/>
          <p:cNvSpPr/>
          <p:nvPr/>
        </p:nvSpPr>
        <p:spPr>
          <a:xfrm>
            <a:off x="3333731" y="4538709"/>
            <a:ext cx="2476509"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2"/>
          <p:cNvSpPr/>
          <p:nvPr/>
        </p:nvSpPr>
        <p:spPr>
          <a:xfrm>
            <a:off x="3333731" y="1318720"/>
            <a:ext cx="7144" cy="3227133"/>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2"/>
          <p:cNvSpPr/>
          <p:nvPr/>
        </p:nvSpPr>
        <p:spPr>
          <a:xfrm>
            <a:off x="700088" y="2424215"/>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5FF"/>
              </a:buClr>
              <a:buSzPts val="727"/>
              <a:buFont typeface="Inter"/>
              <a:buNone/>
            </a:pPr>
            <a:r>
              <a:rPr b="0" i="0" lang="en-US" sz="727" u="none" cap="none" strike="noStrike">
                <a:solidFill>
                  <a:srgbClr val="00E5FF"/>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55" name="Google Shape;855;p22"/>
          <p:cNvSpPr/>
          <p:nvPr/>
        </p:nvSpPr>
        <p:spPr>
          <a:xfrm>
            <a:off x="700088" y="2841399"/>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5FF"/>
              </a:buClr>
              <a:buSzPts val="727"/>
              <a:buFont typeface="Inter"/>
              <a:buNone/>
            </a:pPr>
            <a:r>
              <a:rPr b="0" i="0" lang="en-US" sz="727" u="none" cap="none" strike="noStrike">
                <a:solidFill>
                  <a:srgbClr val="00E5FF"/>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56" name="Google Shape;856;p22"/>
          <p:cNvSpPr/>
          <p:nvPr/>
        </p:nvSpPr>
        <p:spPr>
          <a:xfrm>
            <a:off x="700088" y="3258582"/>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5FF"/>
              </a:buClr>
              <a:buSzPts val="727"/>
              <a:buFont typeface="Inter"/>
              <a:buNone/>
            </a:pPr>
            <a:r>
              <a:rPr b="0" i="0" lang="en-US" sz="727" u="none" cap="none" strike="noStrike">
                <a:solidFill>
                  <a:srgbClr val="00E5FF"/>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57" name="Google Shape;857;p22"/>
          <p:cNvSpPr/>
          <p:nvPr/>
        </p:nvSpPr>
        <p:spPr>
          <a:xfrm>
            <a:off x="700088" y="3855783"/>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5FF"/>
              </a:buClr>
              <a:buSzPts val="727"/>
              <a:buFont typeface="Inter"/>
              <a:buNone/>
            </a:pPr>
            <a:r>
              <a:rPr b="0" i="0" lang="en-US" sz="727" u="none" cap="none" strike="noStrike">
                <a:solidFill>
                  <a:srgbClr val="00E5FF"/>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58" name="Google Shape;858;p22"/>
          <p:cNvSpPr/>
          <p:nvPr/>
        </p:nvSpPr>
        <p:spPr>
          <a:xfrm>
            <a:off x="3462319" y="1447307"/>
            <a:ext cx="2219334" cy="169664"/>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PHASE 2</a:t>
            </a:r>
            <a:endParaRPr b="0" i="0" sz="942" u="none" cap="none" strike="noStrike">
              <a:solidFill>
                <a:schemeClr val="dk1"/>
              </a:solidFill>
              <a:latin typeface="Calibri"/>
              <a:ea typeface="Calibri"/>
              <a:cs typeface="Calibri"/>
              <a:sym typeface="Calibri"/>
            </a:endParaRPr>
          </a:p>
        </p:txBody>
      </p:sp>
      <p:sp>
        <p:nvSpPr>
          <p:cNvPr id="859" name="Google Shape;859;p22"/>
          <p:cNvSpPr/>
          <p:nvPr/>
        </p:nvSpPr>
        <p:spPr>
          <a:xfrm>
            <a:off x="3462319" y="1688409"/>
            <a:ext cx="2219334" cy="303609"/>
          </a:xfrm>
          <a:prstGeom prst="rect">
            <a:avLst/>
          </a:prstGeom>
          <a:noFill/>
          <a:ln>
            <a:noFill/>
          </a:ln>
        </p:spPr>
        <p:txBody>
          <a:bodyPr anchorCtr="0" anchor="t" bIns="85075" lIns="0" spcFirstLastPara="1" rIns="0" wrap="square" tIns="0">
            <a:noAutofit/>
          </a:bodyPr>
          <a:lstStyle/>
          <a:p>
            <a:pPr indent="0" lvl="0" marL="0" marR="0" rtl="0" algn="ctr">
              <a:lnSpc>
                <a:spcPct val="138996"/>
              </a:lnSpc>
              <a:spcBef>
                <a:spcPts val="0"/>
              </a:spcBef>
              <a:spcAft>
                <a:spcPts val="0"/>
              </a:spcAft>
              <a:buClr>
                <a:srgbClr val="FFFFFF"/>
              </a:buClr>
              <a:buSzPts val="1295"/>
              <a:buFont typeface="Inter"/>
              <a:buNone/>
            </a:pPr>
            <a:r>
              <a:rPr b="1" i="0" lang="en-US" sz="1295" u="none" cap="none" strike="noStrike">
                <a:solidFill>
                  <a:srgbClr val="FFFFFF"/>
                </a:solidFill>
                <a:latin typeface="Inter"/>
                <a:ea typeface="Inter"/>
                <a:cs typeface="Inter"/>
                <a:sym typeface="Inter"/>
              </a:rPr>
              <a:t>Scale &amp; Automation</a:t>
            </a:r>
            <a:endParaRPr b="0" i="0" sz="1295" u="none" cap="none" strike="noStrike">
              <a:solidFill>
                <a:schemeClr val="dk1"/>
              </a:solidFill>
              <a:latin typeface="Calibri"/>
              <a:ea typeface="Calibri"/>
              <a:cs typeface="Calibri"/>
              <a:sym typeface="Calibri"/>
            </a:endParaRPr>
          </a:p>
        </p:txBody>
      </p:sp>
      <p:sp>
        <p:nvSpPr>
          <p:cNvPr id="860" name="Google Shape;860;p22"/>
          <p:cNvSpPr/>
          <p:nvPr/>
        </p:nvSpPr>
        <p:spPr>
          <a:xfrm>
            <a:off x="3462319" y="2077743"/>
            <a:ext cx="2219334" cy="203597"/>
          </a:xfrm>
          <a:prstGeom prst="rect">
            <a:avLst/>
          </a:prstGeom>
          <a:solidFill>
            <a:srgbClr val="00E676">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2"/>
          <p:cNvSpPr/>
          <p:nvPr/>
        </p:nvSpPr>
        <p:spPr>
          <a:xfrm>
            <a:off x="3462319" y="2077743"/>
            <a:ext cx="2219334" cy="203597"/>
          </a:xfrm>
          <a:prstGeom prst="rect">
            <a:avLst/>
          </a:prstGeom>
          <a:noFill/>
          <a:ln>
            <a:noFill/>
          </a:ln>
        </p:spPr>
        <p:txBody>
          <a:bodyPr anchorCtr="0" anchor="t" bIns="42525" lIns="42525" spcFirstLastPara="1" rIns="42525" wrap="square" tIns="42525">
            <a:noAutofit/>
          </a:bodyPr>
          <a:lstStyle/>
          <a:p>
            <a:pPr indent="0" lvl="0" marL="0" marR="0" rtl="0" algn="ctr">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Months 4 - 6</a:t>
            </a:r>
            <a:endParaRPr b="0" i="0" sz="727" u="none" cap="none" strike="noStrike">
              <a:solidFill>
                <a:schemeClr val="dk1"/>
              </a:solidFill>
              <a:latin typeface="Calibri"/>
              <a:ea typeface="Calibri"/>
              <a:cs typeface="Calibri"/>
              <a:sym typeface="Calibri"/>
            </a:endParaRPr>
          </a:p>
        </p:txBody>
      </p:sp>
      <p:sp>
        <p:nvSpPr>
          <p:cNvPr id="862" name="Google Shape;862;p22"/>
          <p:cNvSpPr/>
          <p:nvPr/>
        </p:nvSpPr>
        <p:spPr>
          <a:xfrm>
            <a:off x="3462319" y="2409927"/>
            <a:ext cx="2219334" cy="540051"/>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Deploy the </a:t>
            </a:r>
            <a:r>
              <a:rPr b="1" i="0" lang="en-US" sz="885" u="none" cap="none" strike="noStrike">
                <a:solidFill>
                  <a:srgbClr val="FFFFFF"/>
                </a:solidFill>
                <a:latin typeface="Inter"/>
                <a:ea typeface="Inter"/>
                <a:cs typeface="Inter"/>
                <a:sym typeface="Inter"/>
              </a:rPr>
              <a:t>Cert-Ops-Scheduler</a:t>
            </a:r>
            <a:r>
              <a:rPr b="0" i="0" lang="en-US" sz="942" u="none" cap="none" strike="noStrike">
                <a:solidFill>
                  <a:srgbClr val="E0E0E0"/>
                </a:solidFill>
                <a:latin typeface="Inter"/>
                <a:ea typeface="Inter"/>
                <a:cs typeface="Inter"/>
                <a:sym typeface="Inter"/>
              </a:rPr>
              <a:t> for automated lifecycle management.</a:t>
            </a:r>
            <a:endParaRPr b="0" i="0" sz="942" u="none" cap="none" strike="noStrike">
              <a:solidFill>
                <a:schemeClr val="dk1"/>
              </a:solidFill>
              <a:latin typeface="Calibri"/>
              <a:ea typeface="Calibri"/>
              <a:cs typeface="Calibri"/>
              <a:sym typeface="Calibri"/>
            </a:endParaRPr>
          </a:p>
        </p:txBody>
      </p:sp>
      <p:sp>
        <p:nvSpPr>
          <p:cNvPr id="863" name="Google Shape;863;p22"/>
          <p:cNvSpPr/>
          <p:nvPr/>
        </p:nvSpPr>
        <p:spPr>
          <a:xfrm>
            <a:off x="3462319" y="3007128"/>
            <a:ext cx="2219334"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Enforce </a:t>
            </a:r>
            <a:r>
              <a:rPr b="1" i="0" lang="en-US" sz="885" u="none" cap="none" strike="noStrike">
                <a:solidFill>
                  <a:srgbClr val="FFFFFF"/>
                </a:solidFill>
                <a:latin typeface="Inter"/>
                <a:ea typeface="Inter"/>
                <a:cs typeface="Inter"/>
                <a:sym typeface="Inter"/>
              </a:rPr>
              <a:t>50% TTL</a:t>
            </a:r>
            <a:r>
              <a:rPr b="0" i="0" lang="en-US" sz="942" u="none" cap="none" strike="noStrike">
                <a:solidFill>
                  <a:srgbClr val="E0E0E0"/>
                </a:solidFill>
                <a:latin typeface="Inter"/>
                <a:ea typeface="Inter"/>
                <a:cs typeface="Inter"/>
                <a:sym typeface="Inter"/>
              </a:rPr>
              <a:t> auto-renewal policy across all workloads.</a:t>
            </a:r>
            <a:endParaRPr b="0" i="0" sz="942" u="none" cap="none" strike="noStrike">
              <a:solidFill>
                <a:schemeClr val="dk1"/>
              </a:solidFill>
              <a:latin typeface="Calibri"/>
              <a:ea typeface="Calibri"/>
              <a:cs typeface="Calibri"/>
              <a:sym typeface="Calibri"/>
            </a:endParaRPr>
          </a:p>
        </p:txBody>
      </p:sp>
      <p:sp>
        <p:nvSpPr>
          <p:cNvPr id="864" name="Google Shape;864;p22"/>
          <p:cNvSpPr/>
          <p:nvPr/>
        </p:nvSpPr>
        <p:spPr>
          <a:xfrm>
            <a:off x="3462319" y="3424312"/>
            <a:ext cx="2219334" cy="540051"/>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Expand to multi-region architecture with </a:t>
            </a:r>
            <a:r>
              <a:rPr b="1" i="0" lang="en-US" sz="885" u="none" cap="none" strike="noStrike">
                <a:solidFill>
                  <a:srgbClr val="FFFFFF"/>
                </a:solidFill>
                <a:latin typeface="Inter"/>
                <a:ea typeface="Inter"/>
                <a:cs typeface="Inter"/>
                <a:sym typeface="Inter"/>
              </a:rPr>
              <a:t>Federated Trust</a:t>
            </a:r>
            <a:r>
              <a:rPr b="0" i="0" lang="en-US" sz="942" u="none" cap="none" strike="noStrike">
                <a:solidFill>
                  <a:srgbClr val="E0E0E0"/>
                </a:solidFill>
                <a:latin typeface="Inter"/>
                <a:ea typeface="Inter"/>
                <a:cs typeface="Inter"/>
                <a:sym typeface="Inter"/>
              </a:rPr>
              <a:t>.</a:t>
            </a:r>
            <a:endParaRPr b="0" i="0" sz="942" u="none" cap="none" strike="noStrike">
              <a:solidFill>
                <a:schemeClr val="dk1"/>
              </a:solidFill>
              <a:latin typeface="Calibri"/>
              <a:ea typeface="Calibri"/>
              <a:cs typeface="Calibri"/>
              <a:sym typeface="Calibri"/>
            </a:endParaRPr>
          </a:p>
        </p:txBody>
      </p:sp>
      <p:sp>
        <p:nvSpPr>
          <p:cNvPr id="865" name="Google Shape;865;p22"/>
          <p:cNvSpPr/>
          <p:nvPr/>
        </p:nvSpPr>
        <p:spPr>
          <a:xfrm>
            <a:off x="3462319" y="4021513"/>
            <a:ext cx="2219334"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Rollout to production environments.</a:t>
            </a:r>
            <a:endParaRPr b="0" i="0" sz="942" u="none" cap="none" strike="noStrike">
              <a:solidFill>
                <a:schemeClr val="dk1"/>
              </a:solidFill>
              <a:latin typeface="Calibri"/>
              <a:ea typeface="Calibri"/>
              <a:cs typeface="Calibri"/>
              <a:sym typeface="Calibri"/>
            </a:endParaRPr>
          </a:p>
        </p:txBody>
      </p:sp>
      <p:sp>
        <p:nvSpPr>
          <p:cNvPr id="866" name="Google Shape;866;p22"/>
          <p:cNvSpPr/>
          <p:nvPr/>
        </p:nvSpPr>
        <p:spPr>
          <a:xfrm>
            <a:off x="6095991" y="1318720"/>
            <a:ext cx="2476481" cy="3191415"/>
          </a:xfrm>
          <a:prstGeom prst="rect">
            <a:avLst/>
          </a:prstGeom>
          <a:solidFill>
            <a:srgbClr val="0D1B2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2"/>
          <p:cNvSpPr/>
          <p:nvPr/>
        </p:nvSpPr>
        <p:spPr>
          <a:xfrm>
            <a:off x="6095991" y="1318720"/>
            <a:ext cx="2476481" cy="28575"/>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2"/>
          <p:cNvSpPr/>
          <p:nvPr/>
        </p:nvSpPr>
        <p:spPr>
          <a:xfrm>
            <a:off x="8565328" y="1318720"/>
            <a:ext cx="7144" cy="3191415"/>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2"/>
          <p:cNvSpPr/>
          <p:nvPr/>
        </p:nvSpPr>
        <p:spPr>
          <a:xfrm>
            <a:off x="6095991" y="4502990"/>
            <a:ext cx="2476481" cy="7144"/>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2"/>
          <p:cNvSpPr/>
          <p:nvPr/>
        </p:nvSpPr>
        <p:spPr>
          <a:xfrm>
            <a:off x="6095991" y="1318720"/>
            <a:ext cx="7144" cy="3191415"/>
          </a:xfrm>
          <a:prstGeom prst="rect">
            <a:avLst/>
          </a:prstGeom>
          <a:solidFill>
            <a:srgbClr val="4A5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2"/>
          <p:cNvSpPr/>
          <p:nvPr/>
        </p:nvSpPr>
        <p:spPr>
          <a:xfrm>
            <a:off x="3462319" y="2424215"/>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676"/>
              </a:buClr>
              <a:buSzPts val="727"/>
              <a:buFont typeface="Inter"/>
              <a:buNone/>
            </a:pPr>
            <a:r>
              <a:rPr b="0" i="0" lang="en-US" sz="727" u="none" cap="none" strike="noStrike">
                <a:solidFill>
                  <a:srgbClr val="00E676"/>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72" name="Google Shape;872;p22"/>
          <p:cNvSpPr/>
          <p:nvPr/>
        </p:nvSpPr>
        <p:spPr>
          <a:xfrm>
            <a:off x="3462319" y="3021416"/>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676"/>
              </a:buClr>
              <a:buSzPts val="727"/>
              <a:buFont typeface="Inter"/>
              <a:buNone/>
            </a:pPr>
            <a:r>
              <a:rPr b="0" i="0" lang="en-US" sz="727" u="none" cap="none" strike="noStrike">
                <a:solidFill>
                  <a:srgbClr val="00E676"/>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73" name="Google Shape;873;p22"/>
          <p:cNvSpPr/>
          <p:nvPr/>
        </p:nvSpPr>
        <p:spPr>
          <a:xfrm>
            <a:off x="3462319" y="3438599"/>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676"/>
              </a:buClr>
              <a:buSzPts val="727"/>
              <a:buFont typeface="Inter"/>
              <a:buNone/>
            </a:pPr>
            <a:r>
              <a:rPr b="0" i="0" lang="en-US" sz="727" u="none" cap="none" strike="noStrike">
                <a:solidFill>
                  <a:srgbClr val="00E676"/>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74" name="Google Shape;874;p22"/>
          <p:cNvSpPr/>
          <p:nvPr/>
        </p:nvSpPr>
        <p:spPr>
          <a:xfrm>
            <a:off x="3462319" y="4035800"/>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00E676"/>
              </a:buClr>
              <a:buSzPts val="727"/>
              <a:buFont typeface="Inter"/>
              <a:buNone/>
            </a:pPr>
            <a:r>
              <a:rPr b="0" i="0" lang="en-US" sz="727" u="none" cap="none" strike="noStrike">
                <a:solidFill>
                  <a:srgbClr val="00E676"/>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75" name="Google Shape;875;p22"/>
          <p:cNvSpPr/>
          <p:nvPr/>
        </p:nvSpPr>
        <p:spPr>
          <a:xfrm>
            <a:off x="6224578" y="1447307"/>
            <a:ext cx="2219306" cy="169664"/>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A0AEC0"/>
              </a:buClr>
              <a:buSzPts val="942"/>
              <a:buFont typeface="Roboto Mono"/>
              <a:buNone/>
            </a:pPr>
            <a:r>
              <a:rPr b="0" i="0" lang="en-US" sz="942" u="none" cap="none" strike="noStrike">
                <a:solidFill>
                  <a:srgbClr val="A0AEC0"/>
                </a:solidFill>
                <a:latin typeface="Roboto Mono"/>
                <a:ea typeface="Roboto Mono"/>
                <a:cs typeface="Roboto Mono"/>
                <a:sym typeface="Roboto Mono"/>
              </a:rPr>
              <a:t>PHASE 3</a:t>
            </a:r>
            <a:endParaRPr b="0" i="0" sz="942" u="none" cap="none" strike="noStrike">
              <a:solidFill>
                <a:schemeClr val="dk1"/>
              </a:solidFill>
              <a:latin typeface="Calibri"/>
              <a:ea typeface="Calibri"/>
              <a:cs typeface="Calibri"/>
              <a:sym typeface="Calibri"/>
            </a:endParaRPr>
          </a:p>
        </p:txBody>
      </p:sp>
      <p:sp>
        <p:nvSpPr>
          <p:cNvPr id="876" name="Google Shape;876;p22"/>
          <p:cNvSpPr/>
          <p:nvPr/>
        </p:nvSpPr>
        <p:spPr>
          <a:xfrm>
            <a:off x="6224578" y="1688409"/>
            <a:ext cx="2219306" cy="303609"/>
          </a:xfrm>
          <a:prstGeom prst="rect">
            <a:avLst/>
          </a:prstGeom>
          <a:noFill/>
          <a:ln>
            <a:noFill/>
          </a:ln>
        </p:spPr>
        <p:txBody>
          <a:bodyPr anchorCtr="0" anchor="t" bIns="85075" lIns="0" spcFirstLastPara="1" rIns="0" wrap="square" tIns="0">
            <a:noAutofit/>
          </a:bodyPr>
          <a:lstStyle/>
          <a:p>
            <a:pPr indent="0" lvl="0" marL="0" marR="0" rtl="0" algn="ctr">
              <a:lnSpc>
                <a:spcPct val="138996"/>
              </a:lnSpc>
              <a:spcBef>
                <a:spcPts val="0"/>
              </a:spcBef>
              <a:spcAft>
                <a:spcPts val="0"/>
              </a:spcAft>
              <a:buClr>
                <a:srgbClr val="FFFFFF"/>
              </a:buClr>
              <a:buSzPts val="1295"/>
              <a:buFont typeface="Inter"/>
              <a:buNone/>
            </a:pPr>
            <a:r>
              <a:rPr b="1" i="0" lang="en-US" sz="1295" u="none" cap="none" strike="noStrike">
                <a:solidFill>
                  <a:srgbClr val="FFFFFF"/>
                </a:solidFill>
                <a:latin typeface="Inter"/>
                <a:ea typeface="Inter"/>
                <a:cs typeface="Inter"/>
                <a:sym typeface="Inter"/>
              </a:rPr>
              <a:t>Advanced &amp; PQC</a:t>
            </a:r>
            <a:endParaRPr b="0" i="0" sz="1295" u="none" cap="none" strike="noStrike">
              <a:solidFill>
                <a:schemeClr val="dk1"/>
              </a:solidFill>
              <a:latin typeface="Calibri"/>
              <a:ea typeface="Calibri"/>
              <a:cs typeface="Calibri"/>
              <a:sym typeface="Calibri"/>
            </a:endParaRPr>
          </a:p>
        </p:txBody>
      </p:sp>
      <p:sp>
        <p:nvSpPr>
          <p:cNvPr id="877" name="Google Shape;877;p22"/>
          <p:cNvSpPr/>
          <p:nvPr/>
        </p:nvSpPr>
        <p:spPr>
          <a:xfrm>
            <a:off x="6224578" y="2077743"/>
            <a:ext cx="2219306" cy="203597"/>
          </a:xfrm>
          <a:prstGeom prst="rect">
            <a:avLst/>
          </a:prstGeom>
          <a:solidFill>
            <a:srgbClr val="D69E2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2"/>
          <p:cNvSpPr/>
          <p:nvPr/>
        </p:nvSpPr>
        <p:spPr>
          <a:xfrm>
            <a:off x="6224578" y="2077743"/>
            <a:ext cx="2219306" cy="203597"/>
          </a:xfrm>
          <a:prstGeom prst="rect">
            <a:avLst/>
          </a:prstGeom>
          <a:noFill/>
          <a:ln>
            <a:noFill/>
          </a:ln>
        </p:spPr>
        <p:txBody>
          <a:bodyPr anchorCtr="0" anchor="t" bIns="42525" lIns="42525" spcFirstLastPara="1" rIns="42525" wrap="square" tIns="42525">
            <a:noAutofit/>
          </a:bodyPr>
          <a:lstStyle/>
          <a:p>
            <a:pPr indent="0" lvl="0" marL="0" marR="0" rtl="0" algn="ctr">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Months 7 - 9</a:t>
            </a:r>
            <a:endParaRPr b="0" i="0" sz="727" u="none" cap="none" strike="noStrike">
              <a:solidFill>
                <a:schemeClr val="dk1"/>
              </a:solidFill>
              <a:latin typeface="Calibri"/>
              <a:ea typeface="Calibri"/>
              <a:cs typeface="Calibri"/>
              <a:sym typeface="Calibri"/>
            </a:endParaRPr>
          </a:p>
        </p:txBody>
      </p:sp>
      <p:sp>
        <p:nvSpPr>
          <p:cNvPr id="879" name="Google Shape;879;p22"/>
          <p:cNvSpPr/>
          <p:nvPr/>
        </p:nvSpPr>
        <p:spPr>
          <a:xfrm>
            <a:off x="6224578" y="2409927"/>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Integrate </a:t>
            </a:r>
            <a:r>
              <a:rPr b="1" i="0" lang="en-US" sz="885" u="none" cap="none" strike="noStrike">
                <a:solidFill>
                  <a:srgbClr val="FFFFFF"/>
                </a:solidFill>
                <a:latin typeface="Inter"/>
                <a:ea typeface="Inter"/>
                <a:cs typeface="Inter"/>
                <a:sym typeface="Inter"/>
              </a:rPr>
              <a:t>FIPS 140-3 HSMs</a:t>
            </a:r>
            <a:r>
              <a:rPr b="0" i="0" lang="en-US" sz="942" u="none" cap="none" strike="noStrike">
                <a:solidFill>
                  <a:srgbClr val="E0E0E0"/>
                </a:solidFill>
                <a:latin typeface="Inter"/>
                <a:ea typeface="Inter"/>
                <a:cs typeface="Inter"/>
                <a:sym typeface="Inter"/>
              </a:rPr>
              <a:t> for root key protection.</a:t>
            </a:r>
            <a:endParaRPr b="0" i="0" sz="942" u="none" cap="none" strike="noStrike">
              <a:solidFill>
                <a:schemeClr val="dk1"/>
              </a:solidFill>
              <a:latin typeface="Calibri"/>
              <a:ea typeface="Calibri"/>
              <a:cs typeface="Calibri"/>
              <a:sym typeface="Calibri"/>
            </a:endParaRPr>
          </a:p>
        </p:txBody>
      </p:sp>
      <p:sp>
        <p:nvSpPr>
          <p:cNvPr id="880" name="Google Shape;880;p22"/>
          <p:cNvSpPr/>
          <p:nvPr/>
        </p:nvSpPr>
        <p:spPr>
          <a:xfrm>
            <a:off x="6224578" y="2827111"/>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Deploy the real-time </a:t>
            </a:r>
            <a:r>
              <a:rPr b="1" i="0" lang="en-US" sz="885" u="none" cap="none" strike="noStrike">
                <a:solidFill>
                  <a:srgbClr val="FFFFFF"/>
                </a:solidFill>
                <a:latin typeface="Inter"/>
                <a:ea typeface="Inter"/>
                <a:cs typeface="Inter"/>
                <a:sym typeface="Inter"/>
              </a:rPr>
              <a:t>Compliance Dashboard</a:t>
            </a:r>
            <a:r>
              <a:rPr b="0" i="0" lang="en-US" sz="942" u="none" cap="none" strike="noStrike">
                <a:solidFill>
                  <a:srgbClr val="E0E0E0"/>
                </a:solidFill>
                <a:latin typeface="Inter"/>
                <a:ea typeface="Inter"/>
                <a:cs typeface="Inter"/>
                <a:sym typeface="Inter"/>
              </a:rPr>
              <a:t>.</a:t>
            </a:r>
            <a:endParaRPr b="0" i="0" sz="942" u="none" cap="none" strike="noStrike">
              <a:solidFill>
                <a:schemeClr val="dk1"/>
              </a:solidFill>
              <a:latin typeface="Calibri"/>
              <a:ea typeface="Calibri"/>
              <a:cs typeface="Calibri"/>
              <a:sym typeface="Calibri"/>
            </a:endParaRPr>
          </a:p>
        </p:txBody>
      </p:sp>
      <p:sp>
        <p:nvSpPr>
          <p:cNvPr id="881" name="Google Shape;881;p22"/>
          <p:cNvSpPr/>
          <p:nvPr/>
        </p:nvSpPr>
        <p:spPr>
          <a:xfrm>
            <a:off x="6224578" y="3244295"/>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Implement emergency revocation "Kill Switch".</a:t>
            </a:r>
            <a:endParaRPr b="0" i="0" sz="942" u="none" cap="none" strike="noStrike">
              <a:solidFill>
                <a:schemeClr val="dk1"/>
              </a:solidFill>
              <a:latin typeface="Calibri"/>
              <a:ea typeface="Calibri"/>
              <a:cs typeface="Calibri"/>
              <a:sym typeface="Calibri"/>
            </a:endParaRPr>
          </a:p>
        </p:txBody>
      </p:sp>
      <p:sp>
        <p:nvSpPr>
          <p:cNvPr id="882" name="Google Shape;882;p22"/>
          <p:cNvSpPr/>
          <p:nvPr/>
        </p:nvSpPr>
        <p:spPr>
          <a:xfrm>
            <a:off x="6224578" y="3661479"/>
            <a:ext cx="2219306" cy="360034"/>
          </a:xfrm>
          <a:prstGeom prst="rect">
            <a:avLst/>
          </a:prstGeom>
          <a:noFill/>
          <a:ln>
            <a:noFill/>
          </a:ln>
        </p:spPr>
        <p:txBody>
          <a:bodyPr anchorCtr="0" anchor="t" bIns="0" lIns="18705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Begin testing </a:t>
            </a:r>
            <a:r>
              <a:rPr b="1" i="0" lang="en-US" sz="885" u="none" cap="none" strike="noStrike">
                <a:solidFill>
                  <a:srgbClr val="FFFFFF"/>
                </a:solidFill>
                <a:latin typeface="Inter"/>
                <a:ea typeface="Inter"/>
                <a:cs typeface="Inter"/>
                <a:sym typeface="Inter"/>
              </a:rPr>
              <a:t>PQC hybrid certificates</a:t>
            </a:r>
            <a:r>
              <a:rPr b="0" i="0" lang="en-US" sz="942" u="none" cap="none" strike="noStrike">
                <a:solidFill>
                  <a:srgbClr val="E0E0E0"/>
                </a:solidFill>
                <a:latin typeface="Inter"/>
                <a:ea typeface="Inter"/>
                <a:cs typeface="Inter"/>
                <a:sym typeface="Inter"/>
              </a:rPr>
              <a:t> (Kyber + ECC).</a:t>
            </a:r>
            <a:endParaRPr b="0" i="0" sz="942" u="none" cap="none" strike="noStrike">
              <a:solidFill>
                <a:schemeClr val="dk1"/>
              </a:solidFill>
              <a:latin typeface="Calibri"/>
              <a:ea typeface="Calibri"/>
              <a:cs typeface="Calibri"/>
              <a:sym typeface="Calibri"/>
            </a:endParaRPr>
          </a:p>
        </p:txBody>
      </p:sp>
      <p:sp>
        <p:nvSpPr>
          <p:cNvPr id="883" name="Google Shape;883;p22"/>
          <p:cNvSpPr/>
          <p:nvPr/>
        </p:nvSpPr>
        <p:spPr>
          <a:xfrm>
            <a:off x="6224578" y="2424215"/>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D69E2E"/>
              </a:buClr>
              <a:buSzPts val="727"/>
              <a:buFont typeface="Inter"/>
              <a:buNone/>
            </a:pPr>
            <a:r>
              <a:rPr b="0" i="0" lang="en-US" sz="727" u="none" cap="none" strike="noStrike">
                <a:solidFill>
                  <a:srgbClr val="D69E2E"/>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84" name="Google Shape;884;p22"/>
          <p:cNvSpPr/>
          <p:nvPr/>
        </p:nvSpPr>
        <p:spPr>
          <a:xfrm>
            <a:off x="6224578" y="2841399"/>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D69E2E"/>
              </a:buClr>
              <a:buSzPts val="727"/>
              <a:buFont typeface="Inter"/>
              <a:buNone/>
            </a:pPr>
            <a:r>
              <a:rPr b="0" i="0" lang="en-US" sz="727" u="none" cap="none" strike="noStrike">
                <a:solidFill>
                  <a:srgbClr val="D69E2E"/>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85" name="Google Shape;885;p22"/>
          <p:cNvSpPr/>
          <p:nvPr/>
        </p:nvSpPr>
        <p:spPr>
          <a:xfrm>
            <a:off x="6224578" y="3258582"/>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D69E2E"/>
              </a:buClr>
              <a:buSzPts val="727"/>
              <a:buFont typeface="Inter"/>
              <a:buNone/>
            </a:pPr>
            <a:r>
              <a:rPr b="0" i="0" lang="en-US" sz="727" u="none" cap="none" strike="noStrike">
                <a:solidFill>
                  <a:srgbClr val="D69E2E"/>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886" name="Google Shape;886;p22"/>
          <p:cNvSpPr/>
          <p:nvPr/>
        </p:nvSpPr>
        <p:spPr>
          <a:xfrm>
            <a:off x="6224578" y="3675766"/>
            <a:ext cx="7679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D69E2E"/>
              </a:buClr>
              <a:buSzPts val="727"/>
              <a:buFont typeface="Inter"/>
              <a:buNone/>
            </a:pPr>
            <a:r>
              <a:rPr b="0" i="0" lang="en-US" sz="727" u="none" cap="none" strike="noStrike">
                <a:solidFill>
                  <a:srgbClr val="D69E2E"/>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pic>
        <p:nvPicPr>
          <p:cNvPr descr="preencoded.png" id="892" name="Google Shape;892;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93" name="Google Shape;893;p23"/>
          <p:cNvSpPr/>
          <p:nvPr/>
        </p:nvSpPr>
        <p:spPr>
          <a:xfrm>
            <a:off x="1357313" y="1036402"/>
            <a:ext cx="6429375" cy="3070696"/>
          </a:xfrm>
          <a:prstGeom prst="rect">
            <a:avLst/>
          </a:prstGeom>
          <a:solidFill>
            <a:srgbClr val="0D1B2A">
              <a:alpha val="80000"/>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3"/>
          <p:cNvSpPr/>
          <p:nvPr/>
        </p:nvSpPr>
        <p:spPr>
          <a:xfrm>
            <a:off x="2085975" y="1479314"/>
            <a:ext cx="4972050" cy="189309"/>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00E5FF"/>
              </a:buClr>
              <a:buSzPts val="1050"/>
              <a:buFont typeface="Roboto Mono"/>
              <a:buNone/>
            </a:pPr>
            <a:r>
              <a:rPr b="0" i="0" lang="en-US" sz="1050" u="none" cap="none" strike="noStrike">
                <a:solidFill>
                  <a:srgbClr val="00E5FF"/>
                </a:solidFill>
                <a:latin typeface="Roboto Mono"/>
                <a:ea typeface="Roboto Mono"/>
                <a:cs typeface="Roboto Mono"/>
                <a:sym typeface="Roboto Mono"/>
              </a:rPr>
              <a:t>SECTION 04</a:t>
            </a:r>
            <a:endParaRPr b="0" i="0" sz="1050" u="none" cap="none" strike="noStrike">
              <a:solidFill>
                <a:schemeClr val="dk1"/>
              </a:solidFill>
              <a:latin typeface="Calibri"/>
              <a:ea typeface="Calibri"/>
              <a:cs typeface="Calibri"/>
              <a:sym typeface="Calibri"/>
            </a:endParaRPr>
          </a:p>
        </p:txBody>
      </p:sp>
      <p:sp>
        <p:nvSpPr>
          <p:cNvPr id="895" name="Google Shape;895;p23"/>
          <p:cNvSpPr/>
          <p:nvPr/>
        </p:nvSpPr>
        <p:spPr>
          <a:xfrm>
            <a:off x="2085975" y="1811499"/>
            <a:ext cx="4972050" cy="1097235"/>
          </a:xfrm>
          <a:prstGeom prst="rect">
            <a:avLst/>
          </a:prstGeom>
          <a:noFill/>
          <a:ln>
            <a:noFill/>
          </a:ln>
        </p:spPr>
        <p:txBody>
          <a:bodyPr anchorCtr="0" anchor="t" bIns="0" lIns="0" spcFirstLastPara="1" rIns="0" wrap="square" tIns="0">
            <a:noAutofit/>
          </a:bodyPr>
          <a:lstStyle/>
          <a:p>
            <a:pPr indent="0" lvl="0" marL="0" marR="0" rtl="0" algn="ctr">
              <a:lnSpc>
                <a:spcPct val="130580"/>
              </a:lnSpc>
              <a:spcBef>
                <a:spcPts val="0"/>
              </a:spcBef>
              <a:spcAft>
                <a:spcPts val="0"/>
              </a:spcAft>
              <a:buClr>
                <a:srgbClr val="FFFFFF"/>
              </a:buClr>
              <a:buSzPts val="3293"/>
              <a:buFont typeface="Inter"/>
              <a:buNone/>
            </a:pPr>
            <a:r>
              <a:rPr b="1" i="0" lang="en-US" sz="3294" u="none" cap="none" strike="noStrike">
                <a:solidFill>
                  <a:srgbClr val="FFFFFF"/>
                </a:solidFill>
                <a:latin typeface="Inter"/>
                <a:ea typeface="Inter"/>
                <a:cs typeface="Inter"/>
                <a:sym typeface="Inter"/>
              </a:rPr>
              <a:t>Technical Reference</a:t>
            </a:r>
            <a:br>
              <a:rPr b="1" i="0" lang="en-US" sz="3294" u="none" cap="none" strike="noStrike">
                <a:solidFill>
                  <a:srgbClr val="FFFFFF"/>
                </a:solidFill>
                <a:latin typeface="Inter"/>
                <a:ea typeface="Inter"/>
                <a:cs typeface="Inter"/>
                <a:sym typeface="Inter"/>
              </a:rPr>
            </a:br>
            <a:r>
              <a:rPr b="1" i="0" lang="en-US" sz="3294" u="none" cap="none" strike="noStrike">
                <a:solidFill>
                  <a:srgbClr val="FFFFFF"/>
                </a:solidFill>
                <a:latin typeface="Inter"/>
                <a:ea typeface="Inter"/>
                <a:cs typeface="Inter"/>
                <a:sym typeface="Inter"/>
              </a:rPr>
              <a:t>Appendix</a:t>
            </a:r>
            <a:endParaRPr b="0" i="0" sz="3294" u="none" cap="none" strike="noStrike">
              <a:solidFill>
                <a:schemeClr val="dk1"/>
              </a:solidFill>
              <a:latin typeface="Calibri"/>
              <a:ea typeface="Calibri"/>
              <a:cs typeface="Calibri"/>
              <a:sym typeface="Calibri"/>
            </a:endParaRPr>
          </a:p>
        </p:txBody>
      </p:sp>
      <p:sp>
        <p:nvSpPr>
          <p:cNvPr id="896" name="Google Shape;896;p23"/>
          <p:cNvSpPr/>
          <p:nvPr/>
        </p:nvSpPr>
        <p:spPr>
          <a:xfrm>
            <a:off x="2085975" y="3123047"/>
            <a:ext cx="4972050" cy="226814"/>
          </a:xfrm>
          <a:prstGeom prst="rect">
            <a:avLst/>
          </a:prstGeom>
          <a:noFill/>
          <a:ln>
            <a:noFill/>
          </a:ln>
        </p:spPr>
        <p:txBody>
          <a:bodyPr anchorCtr="0" anchor="t" bIns="0" lIns="0" spcFirstLastPara="1" rIns="0" wrap="square" tIns="0">
            <a:noAutofit/>
          </a:bodyPr>
          <a:lstStyle/>
          <a:p>
            <a:pPr indent="0" lvl="0" marL="0" marR="0" rtl="0" algn="ctr">
              <a:lnSpc>
                <a:spcPct val="126083"/>
              </a:lnSpc>
              <a:spcBef>
                <a:spcPts val="0"/>
              </a:spcBef>
              <a:spcAft>
                <a:spcPts val="0"/>
              </a:spcAft>
              <a:buClr>
                <a:srgbClr val="A0AEC0"/>
              </a:buClr>
              <a:buSzPts val="1269"/>
              <a:buFont typeface="Roboto Mono"/>
              <a:buNone/>
            </a:pPr>
            <a:r>
              <a:rPr b="0" i="0" lang="en-US" sz="1269" u="none" cap="none" strike="noStrike">
                <a:solidFill>
                  <a:srgbClr val="A0AEC0"/>
                </a:solidFill>
                <a:latin typeface="Roboto Mono"/>
                <a:ea typeface="Roboto Mono"/>
                <a:cs typeface="Roboto Mono"/>
                <a:sym typeface="Roboto Mono"/>
              </a:rPr>
              <a:t>Detailed Sequence Diagrams &amp; Architectural Flows</a:t>
            </a:r>
            <a:endParaRPr b="0" i="0" sz="1269"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pic>
        <p:nvPicPr>
          <p:cNvPr descr="preencoded.png" id="902" name="Google Shape;902;p2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03" name="Google Shape;903;p24"/>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904" name="Google Shape;904;p24"/>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Initial Certificate Provisioning</a:t>
            </a:r>
            <a:endParaRPr b="0" i="0" sz="2121" u="none" cap="none" strike="noStrike">
              <a:solidFill>
                <a:schemeClr val="dk1"/>
              </a:solidFill>
              <a:latin typeface="Calibri"/>
              <a:ea typeface="Calibri"/>
              <a:cs typeface="Calibri"/>
              <a:sym typeface="Calibri"/>
            </a:endParaRPr>
          </a:p>
        </p:txBody>
      </p:sp>
      <p:sp>
        <p:nvSpPr>
          <p:cNvPr id="905" name="Google Shape;905;p24"/>
          <p:cNvSpPr/>
          <p:nvPr/>
        </p:nvSpPr>
        <p:spPr>
          <a:xfrm>
            <a:off x="571500" y="1152990"/>
            <a:ext cx="8001000" cy="619720"/>
          </a:xfrm>
          <a:prstGeom prst="rect">
            <a:avLst/>
          </a:prstGeom>
          <a:solidFill>
            <a:srgbClr val="FFFFFF">
              <a:alpha val="196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714375" y="1342299"/>
            <a:ext cx="571500" cy="226814"/>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01</a:t>
            </a:r>
            <a:endParaRPr b="0" i="0" sz="1193" u="none" cap="none" strike="noStrike">
              <a:solidFill>
                <a:schemeClr val="dk1"/>
              </a:solidFill>
              <a:latin typeface="Calibri"/>
              <a:ea typeface="Calibri"/>
              <a:cs typeface="Calibri"/>
              <a:sym typeface="Calibri"/>
            </a:endParaRPr>
          </a:p>
        </p:txBody>
      </p:sp>
      <p:sp>
        <p:nvSpPr>
          <p:cNvPr id="907" name="Google Shape;907;p24"/>
          <p:cNvSpPr/>
          <p:nvPr/>
        </p:nvSpPr>
        <p:spPr>
          <a:xfrm>
            <a:off x="1285875" y="1330691"/>
            <a:ext cx="1428750" cy="250031"/>
          </a:xfrm>
          <a:prstGeom prst="rect">
            <a:avLst/>
          </a:prstGeom>
          <a:solidFill>
            <a:srgbClr val="00E676">
              <a:alpha val="10196"/>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a:off x="1285875" y="1330691"/>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OpAMP Agent</a:t>
            </a:r>
            <a:endParaRPr b="0" i="0" sz="784" u="none" cap="none" strike="noStrike">
              <a:solidFill>
                <a:schemeClr val="dk1"/>
              </a:solidFill>
              <a:latin typeface="Calibri"/>
              <a:ea typeface="Calibri"/>
              <a:cs typeface="Calibri"/>
              <a:sym typeface="Calibri"/>
            </a:endParaRPr>
          </a:p>
        </p:txBody>
      </p:sp>
      <p:sp>
        <p:nvSpPr>
          <p:cNvPr id="909" name="Google Shape;909;p24"/>
          <p:cNvSpPr/>
          <p:nvPr/>
        </p:nvSpPr>
        <p:spPr>
          <a:xfrm>
            <a:off x="2857500" y="1392306"/>
            <a:ext cx="4000500" cy="155377"/>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Connect &amp; Authenticate</a:t>
            </a:r>
            <a:endParaRPr b="0" i="0" sz="942" u="none" cap="none" strike="noStrike">
              <a:solidFill>
                <a:schemeClr val="dk1"/>
              </a:solidFill>
              <a:latin typeface="Calibri"/>
              <a:ea typeface="Calibri"/>
              <a:cs typeface="Calibri"/>
              <a:sym typeface="Calibri"/>
            </a:endParaRPr>
          </a:p>
        </p:txBody>
      </p:sp>
      <p:sp>
        <p:nvSpPr>
          <p:cNvPr id="910" name="Google Shape;910;p24"/>
          <p:cNvSpPr/>
          <p:nvPr/>
        </p:nvSpPr>
        <p:spPr>
          <a:xfrm>
            <a:off x="2857500" y="1583401"/>
            <a:ext cx="400050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mTLS + Cloud Attestation (e.g., K8s SA Token)</a:t>
            </a:r>
            <a:endParaRPr b="0" i="0" sz="727" u="none" cap="none" strike="noStrike">
              <a:solidFill>
                <a:schemeClr val="dk1"/>
              </a:solidFill>
              <a:latin typeface="Calibri"/>
              <a:ea typeface="Calibri"/>
              <a:cs typeface="Calibri"/>
              <a:sym typeface="Calibri"/>
            </a:endParaRPr>
          </a:p>
        </p:txBody>
      </p:sp>
      <p:sp>
        <p:nvSpPr>
          <p:cNvPr id="911" name="Google Shape;911;p24"/>
          <p:cNvSpPr/>
          <p:nvPr/>
        </p:nvSpPr>
        <p:spPr>
          <a:xfrm>
            <a:off x="7000875" y="1330691"/>
            <a:ext cx="1428750" cy="250031"/>
          </a:xfrm>
          <a:prstGeom prst="rect">
            <a:avLst/>
          </a:prstGeom>
          <a:solidFill>
            <a:srgbClr val="38B2AC">
              <a:alpha val="10196"/>
            </a:srgbClr>
          </a:solidFill>
          <a:ln cap="flat" cmpd="sng" w="9525">
            <a:solidFill>
              <a:srgbClr val="38B2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7000875" y="1330691"/>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38B2AC"/>
              </a:buClr>
              <a:buSzPts val="784"/>
              <a:buFont typeface="Roboto Mono"/>
              <a:buNone/>
            </a:pPr>
            <a:r>
              <a:rPr b="1" i="0" lang="en-US" sz="784" u="none" cap="none" strike="noStrike">
                <a:solidFill>
                  <a:srgbClr val="38B2AC"/>
                </a:solidFill>
                <a:latin typeface="Roboto Mono"/>
                <a:ea typeface="Roboto Mono"/>
                <a:cs typeface="Roboto Mono"/>
                <a:sym typeface="Roboto Mono"/>
              </a:rPr>
              <a:t>Supervisor Proxy</a:t>
            </a:r>
            <a:endParaRPr b="0" i="0" sz="784" u="none" cap="none" strike="noStrike">
              <a:solidFill>
                <a:schemeClr val="dk1"/>
              </a:solidFill>
              <a:latin typeface="Calibri"/>
              <a:ea typeface="Calibri"/>
              <a:cs typeface="Calibri"/>
              <a:sym typeface="Calibri"/>
            </a:endParaRPr>
          </a:p>
        </p:txBody>
      </p:sp>
      <p:sp>
        <p:nvSpPr>
          <p:cNvPr id="913" name="Google Shape;913;p24"/>
          <p:cNvSpPr/>
          <p:nvPr/>
        </p:nvSpPr>
        <p:spPr>
          <a:xfrm>
            <a:off x="571500" y="1801285"/>
            <a:ext cx="8001000" cy="619720"/>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4"/>
          <p:cNvSpPr/>
          <p:nvPr/>
        </p:nvSpPr>
        <p:spPr>
          <a:xfrm>
            <a:off x="714375" y="1990595"/>
            <a:ext cx="571500" cy="226814"/>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02</a:t>
            </a:r>
            <a:endParaRPr b="0" i="0" sz="1193" u="none" cap="none" strike="noStrike">
              <a:solidFill>
                <a:schemeClr val="dk1"/>
              </a:solidFill>
              <a:latin typeface="Calibri"/>
              <a:ea typeface="Calibri"/>
              <a:cs typeface="Calibri"/>
              <a:sym typeface="Calibri"/>
            </a:endParaRPr>
          </a:p>
        </p:txBody>
      </p:sp>
      <p:sp>
        <p:nvSpPr>
          <p:cNvPr id="915" name="Google Shape;915;p24"/>
          <p:cNvSpPr/>
          <p:nvPr/>
        </p:nvSpPr>
        <p:spPr>
          <a:xfrm>
            <a:off x="1285875" y="1978986"/>
            <a:ext cx="1428750" cy="250031"/>
          </a:xfrm>
          <a:prstGeom prst="rect">
            <a:avLst/>
          </a:prstGeom>
          <a:solidFill>
            <a:srgbClr val="38B2AC">
              <a:alpha val="10196"/>
            </a:srgbClr>
          </a:solidFill>
          <a:ln cap="flat" cmpd="sng" w="9525">
            <a:solidFill>
              <a:srgbClr val="38B2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4"/>
          <p:cNvSpPr/>
          <p:nvPr/>
        </p:nvSpPr>
        <p:spPr>
          <a:xfrm>
            <a:off x="1285875" y="1978986"/>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38B2AC"/>
              </a:buClr>
              <a:buSzPts val="784"/>
              <a:buFont typeface="Roboto Mono"/>
              <a:buNone/>
            </a:pPr>
            <a:r>
              <a:rPr b="1" i="0" lang="en-US" sz="784" u="none" cap="none" strike="noStrike">
                <a:solidFill>
                  <a:srgbClr val="38B2AC"/>
                </a:solidFill>
                <a:latin typeface="Roboto Mono"/>
                <a:ea typeface="Roboto Mono"/>
                <a:cs typeface="Roboto Mono"/>
                <a:sym typeface="Roboto Mono"/>
              </a:rPr>
              <a:t>Supervisor Proxy</a:t>
            </a:r>
            <a:endParaRPr b="0" i="0" sz="784" u="none" cap="none" strike="noStrike">
              <a:solidFill>
                <a:schemeClr val="dk1"/>
              </a:solidFill>
              <a:latin typeface="Calibri"/>
              <a:ea typeface="Calibri"/>
              <a:cs typeface="Calibri"/>
              <a:sym typeface="Calibri"/>
            </a:endParaRPr>
          </a:p>
        </p:txBody>
      </p:sp>
      <p:sp>
        <p:nvSpPr>
          <p:cNvPr id="917" name="Google Shape;917;p24"/>
          <p:cNvSpPr/>
          <p:nvPr/>
        </p:nvSpPr>
        <p:spPr>
          <a:xfrm>
            <a:off x="2857500" y="2040601"/>
            <a:ext cx="4000500" cy="155377"/>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Forward Validated Request</a:t>
            </a:r>
            <a:endParaRPr b="0" i="0" sz="942" u="none" cap="none" strike="noStrike">
              <a:solidFill>
                <a:schemeClr val="dk1"/>
              </a:solidFill>
              <a:latin typeface="Calibri"/>
              <a:ea typeface="Calibri"/>
              <a:cs typeface="Calibri"/>
              <a:sym typeface="Calibri"/>
            </a:endParaRPr>
          </a:p>
        </p:txBody>
      </p:sp>
      <p:sp>
        <p:nvSpPr>
          <p:cNvPr id="918" name="Google Shape;918;p24"/>
          <p:cNvSpPr/>
          <p:nvPr/>
        </p:nvSpPr>
        <p:spPr>
          <a:xfrm>
            <a:off x="2857500" y="2231696"/>
            <a:ext cx="400050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Passes CSR and verified identity claims</a:t>
            </a:r>
            <a:endParaRPr b="0" i="0" sz="727" u="none" cap="none" strike="noStrike">
              <a:solidFill>
                <a:schemeClr val="dk1"/>
              </a:solidFill>
              <a:latin typeface="Calibri"/>
              <a:ea typeface="Calibri"/>
              <a:cs typeface="Calibri"/>
              <a:sym typeface="Calibri"/>
            </a:endParaRPr>
          </a:p>
        </p:txBody>
      </p:sp>
      <p:sp>
        <p:nvSpPr>
          <p:cNvPr id="919" name="Google Shape;919;p24"/>
          <p:cNvSpPr/>
          <p:nvPr/>
        </p:nvSpPr>
        <p:spPr>
          <a:xfrm>
            <a:off x="7000875" y="1978986"/>
            <a:ext cx="1428750" cy="250031"/>
          </a:xfrm>
          <a:prstGeom prst="rect">
            <a:avLst/>
          </a:prstGeom>
          <a:solidFill>
            <a:srgbClr val="D69E2E">
              <a:alpha val="10196"/>
            </a:srgbClr>
          </a:solidFill>
          <a:ln cap="flat" cmpd="sng" w="952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4"/>
          <p:cNvSpPr/>
          <p:nvPr/>
        </p:nvSpPr>
        <p:spPr>
          <a:xfrm>
            <a:off x="7000875" y="1978986"/>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921" name="Google Shape;921;p24"/>
          <p:cNvSpPr/>
          <p:nvPr/>
        </p:nvSpPr>
        <p:spPr>
          <a:xfrm>
            <a:off x="571500" y="2449581"/>
            <a:ext cx="8001000" cy="619720"/>
          </a:xfrm>
          <a:prstGeom prst="rect">
            <a:avLst/>
          </a:prstGeom>
          <a:solidFill>
            <a:srgbClr val="FFFFFF">
              <a:alpha val="196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a:off x="714375" y="2638890"/>
            <a:ext cx="571500" cy="226814"/>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03</a:t>
            </a:r>
            <a:endParaRPr b="0" i="0" sz="1193" u="none" cap="none" strike="noStrike">
              <a:solidFill>
                <a:schemeClr val="dk1"/>
              </a:solidFill>
              <a:latin typeface="Calibri"/>
              <a:ea typeface="Calibri"/>
              <a:cs typeface="Calibri"/>
              <a:sym typeface="Calibri"/>
            </a:endParaRPr>
          </a:p>
        </p:txBody>
      </p:sp>
      <p:sp>
        <p:nvSpPr>
          <p:cNvPr id="923" name="Google Shape;923;p24"/>
          <p:cNvSpPr/>
          <p:nvPr/>
        </p:nvSpPr>
        <p:spPr>
          <a:xfrm>
            <a:off x="1285875" y="2627281"/>
            <a:ext cx="1428750" cy="250031"/>
          </a:xfrm>
          <a:prstGeom prst="rect">
            <a:avLst/>
          </a:prstGeom>
          <a:solidFill>
            <a:srgbClr val="D69E2E">
              <a:alpha val="10196"/>
            </a:srgbClr>
          </a:solidFill>
          <a:ln cap="flat" cmpd="sng" w="952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a:off x="1285875" y="2627281"/>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925" name="Google Shape;925;p24"/>
          <p:cNvSpPr/>
          <p:nvPr/>
        </p:nvSpPr>
        <p:spPr>
          <a:xfrm>
            <a:off x="2857500" y="2688896"/>
            <a:ext cx="4000500" cy="155377"/>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Request Certificate</a:t>
            </a:r>
            <a:endParaRPr b="0" i="0" sz="942" u="none" cap="none" strike="noStrike">
              <a:solidFill>
                <a:schemeClr val="dk1"/>
              </a:solidFill>
              <a:latin typeface="Calibri"/>
              <a:ea typeface="Calibri"/>
              <a:cs typeface="Calibri"/>
              <a:sym typeface="Calibri"/>
            </a:endParaRPr>
          </a:p>
        </p:txBody>
      </p:sp>
      <p:sp>
        <p:nvSpPr>
          <p:cNvPr id="926" name="Google Shape;926;p24"/>
          <p:cNvSpPr/>
          <p:nvPr/>
        </p:nvSpPr>
        <p:spPr>
          <a:xfrm>
            <a:off x="2857500" y="2879992"/>
            <a:ext cx="400050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Applies policy, requests signing via API</a:t>
            </a:r>
            <a:endParaRPr b="0" i="0" sz="727" u="none" cap="none" strike="noStrike">
              <a:solidFill>
                <a:schemeClr val="dk1"/>
              </a:solidFill>
              <a:latin typeface="Calibri"/>
              <a:ea typeface="Calibri"/>
              <a:cs typeface="Calibri"/>
              <a:sym typeface="Calibri"/>
            </a:endParaRPr>
          </a:p>
        </p:txBody>
      </p:sp>
      <p:sp>
        <p:nvSpPr>
          <p:cNvPr id="927" name="Google Shape;927;p24"/>
          <p:cNvSpPr/>
          <p:nvPr/>
        </p:nvSpPr>
        <p:spPr>
          <a:xfrm>
            <a:off x="7000875" y="2627281"/>
            <a:ext cx="1428750" cy="250031"/>
          </a:xfrm>
          <a:prstGeom prst="rect">
            <a:avLst/>
          </a:prstGeom>
          <a:solidFill>
            <a:srgbClr val="E53E3E">
              <a:alpha val="10196"/>
            </a:srgbClr>
          </a:solidFill>
          <a:ln cap="flat" cmpd="sng" w="952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4"/>
          <p:cNvSpPr/>
          <p:nvPr/>
        </p:nvSpPr>
        <p:spPr>
          <a:xfrm>
            <a:off x="7000875" y="2627281"/>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E53E3E"/>
              </a:buClr>
              <a:buSzPts val="784"/>
              <a:buFont typeface="Roboto Mono"/>
              <a:buNone/>
            </a:pPr>
            <a:r>
              <a:rPr b="1" i="0" lang="en-US" sz="784" u="none" cap="none" strike="noStrike">
                <a:solidFill>
                  <a:srgbClr val="E53E3E"/>
                </a:solidFill>
                <a:latin typeface="Roboto Mono"/>
                <a:ea typeface="Roboto Mono"/>
                <a:cs typeface="Roboto Mono"/>
                <a:sym typeface="Roboto Mono"/>
              </a:rPr>
              <a:t>Athenz ZTS</a:t>
            </a:r>
            <a:endParaRPr b="0" i="0" sz="784" u="none" cap="none" strike="noStrike">
              <a:solidFill>
                <a:schemeClr val="dk1"/>
              </a:solidFill>
              <a:latin typeface="Calibri"/>
              <a:ea typeface="Calibri"/>
              <a:cs typeface="Calibri"/>
              <a:sym typeface="Calibri"/>
            </a:endParaRPr>
          </a:p>
        </p:txBody>
      </p:sp>
      <p:sp>
        <p:nvSpPr>
          <p:cNvPr id="929" name="Google Shape;929;p24"/>
          <p:cNvSpPr/>
          <p:nvPr/>
        </p:nvSpPr>
        <p:spPr>
          <a:xfrm>
            <a:off x="571500" y="3097876"/>
            <a:ext cx="8001000" cy="619720"/>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4"/>
          <p:cNvSpPr/>
          <p:nvPr/>
        </p:nvSpPr>
        <p:spPr>
          <a:xfrm>
            <a:off x="714375" y="3287185"/>
            <a:ext cx="571500" cy="226814"/>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04</a:t>
            </a:r>
            <a:endParaRPr b="0" i="0" sz="1193" u="none" cap="none" strike="noStrike">
              <a:solidFill>
                <a:schemeClr val="dk1"/>
              </a:solidFill>
              <a:latin typeface="Calibri"/>
              <a:ea typeface="Calibri"/>
              <a:cs typeface="Calibri"/>
              <a:sym typeface="Calibri"/>
            </a:endParaRPr>
          </a:p>
        </p:txBody>
      </p:sp>
      <p:sp>
        <p:nvSpPr>
          <p:cNvPr id="931" name="Google Shape;931;p24"/>
          <p:cNvSpPr/>
          <p:nvPr/>
        </p:nvSpPr>
        <p:spPr>
          <a:xfrm>
            <a:off x="1285875" y="3275577"/>
            <a:ext cx="1428750" cy="250031"/>
          </a:xfrm>
          <a:prstGeom prst="rect">
            <a:avLst/>
          </a:prstGeom>
          <a:solidFill>
            <a:srgbClr val="D69E2E">
              <a:alpha val="10196"/>
            </a:srgbClr>
          </a:solidFill>
          <a:ln cap="flat" cmpd="sng" w="952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a:off x="1285875" y="3275577"/>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933" name="Google Shape;933;p24"/>
          <p:cNvSpPr/>
          <p:nvPr/>
        </p:nvSpPr>
        <p:spPr>
          <a:xfrm>
            <a:off x="2857500" y="3337192"/>
            <a:ext cx="4000500" cy="155377"/>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Return Signed Certificate</a:t>
            </a:r>
            <a:endParaRPr b="0" i="0" sz="942" u="none" cap="none" strike="noStrike">
              <a:solidFill>
                <a:schemeClr val="dk1"/>
              </a:solidFill>
              <a:latin typeface="Calibri"/>
              <a:ea typeface="Calibri"/>
              <a:cs typeface="Calibri"/>
              <a:sym typeface="Calibri"/>
            </a:endParaRPr>
          </a:p>
        </p:txBody>
      </p:sp>
      <p:sp>
        <p:nvSpPr>
          <p:cNvPr id="934" name="Google Shape;934;p24"/>
          <p:cNvSpPr/>
          <p:nvPr/>
        </p:nvSpPr>
        <p:spPr>
          <a:xfrm>
            <a:off x="2857500" y="3528287"/>
            <a:ext cx="400050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X.509 Certificate + Trust Bundle</a:t>
            </a:r>
            <a:endParaRPr b="0" i="0" sz="727" u="none" cap="none" strike="noStrike">
              <a:solidFill>
                <a:schemeClr val="dk1"/>
              </a:solidFill>
              <a:latin typeface="Calibri"/>
              <a:ea typeface="Calibri"/>
              <a:cs typeface="Calibri"/>
              <a:sym typeface="Calibri"/>
            </a:endParaRPr>
          </a:p>
        </p:txBody>
      </p:sp>
      <p:sp>
        <p:nvSpPr>
          <p:cNvPr id="935" name="Google Shape;935;p24"/>
          <p:cNvSpPr/>
          <p:nvPr/>
        </p:nvSpPr>
        <p:spPr>
          <a:xfrm>
            <a:off x="7000875" y="3275577"/>
            <a:ext cx="1428750" cy="250031"/>
          </a:xfrm>
          <a:prstGeom prst="rect">
            <a:avLst/>
          </a:prstGeom>
          <a:solidFill>
            <a:srgbClr val="E53E3E">
              <a:alpha val="10196"/>
            </a:srgbClr>
          </a:solidFill>
          <a:ln cap="flat" cmpd="sng" w="952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4"/>
          <p:cNvSpPr/>
          <p:nvPr/>
        </p:nvSpPr>
        <p:spPr>
          <a:xfrm>
            <a:off x="7000875" y="3275577"/>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E53E3E"/>
              </a:buClr>
              <a:buSzPts val="784"/>
              <a:buFont typeface="Roboto Mono"/>
              <a:buNone/>
            </a:pPr>
            <a:r>
              <a:rPr b="1" i="0" lang="en-US" sz="784" u="none" cap="none" strike="noStrike">
                <a:solidFill>
                  <a:srgbClr val="E53E3E"/>
                </a:solidFill>
                <a:latin typeface="Roboto Mono"/>
                <a:ea typeface="Roboto Mono"/>
                <a:cs typeface="Roboto Mono"/>
                <a:sym typeface="Roboto Mono"/>
              </a:rPr>
              <a:t>Athenz ZTS</a:t>
            </a:r>
            <a:endParaRPr b="0" i="0" sz="784" u="none" cap="none" strike="noStrike">
              <a:solidFill>
                <a:schemeClr val="dk1"/>
              </a:solidFill>
              <a:latin typeface="Calibri"/>
              <a:ea typeface="Calibri"/>
              <a:cs typeface="Calibri"/>
              <a:sym typeface="Calibri"/>
            </a:endParaRPr>
          </a:p>
        </p:txBody>
      </p:sp>
      <p:sp>
        <p:nvSpPr>
          <p:cNvPr id="937" name="Google Shape;937;p24"/>
          <p:cNvSpPr/>
          <p:nvPr/>
        </p:nvSpPr>
        <p:spPr>
          <a:xfrm>
            <a:off x="571500" y="3746171"/>
            <a:ext cx="8001000" cy="619720"/>
          </a:xfrm>
          <a:prstGeom prst="rect">
            <a:avLst/>
          </a:prstGeom>
          <a:solidFill>
            <a:srgbClr val="FFFFFF">
              <a:alpha val="196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4"/>
          <p:cNvSpPr/>
          <p:nvPr/>
        </p:nvSpPr>
        <p:spPr>
          <a:xfrm>
            <a:off x="714375" y="3935481"/>
            <a:ext cx="571500" cy="226814"/>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05</a:t>
            </a:r>
            <a:endParaRPr b="0" i="0" sz="1193" u="none" cap="none" strike="noStrike">
              <a:solidFill>
                <a:schemeClr val="dk1"/>
              </a:solidFill>
              <a:latin typeface="Calibri"/>
              <a:ea typeface="Calibri"/>
              <a:cs typeface="Calibri"/>
              <a:sym typeface="Calibri"/>
            </a:endParaRPr>
          </a:p>
        </p:txBody>
      </p:sp>
      <p:sp>
        <p:nvSpPr>
          <p:cNvPr id="939" name="Google Shape;939;p24"/>
          <p:cNvSpPr/>
          <p:nvPr/>
        </p:nvSpPr>
        <p:spPr>
          <a:xfrm>
            <a:off x="1285875" y="3923872"/>
            <a:ext cx="1428750" cy="250031"/>
          </a:xfrm>
          <a:prstGeom prst="rect">
            <a:avLst/>
          </a:prstGeom>
          <a:solidFill>
            <a:srgbClr val="00E676">
              <a:alpha val="10196"/>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4"/>
          <p:cNvSpPr/>
          <p:nvPr/>
        </p:nvSpPr>
        <p:spPr>
          <a:xfrm>
            <a:off x="1285875" y="3923872"/>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OpAMP Agent</a:t>
            </a:r>
            <a:endParaRPr b="0" i="0" sz="784" u="none" cap="none" strike="noStrike">
              <a:solidFill>
                <a:schemeClr val="dk1"/>
              </a:solidFill>
              <a:latin typeface="Calibri"/>
              <a:ea typeface="Calibri"/>
              <a:cs typeface="Calibri"/>
              <a:sym typeface="Calibri"/>
            </a:endParaRPr>
          </a:p>
        </p:txBody>
      </p:sp>
      <p:sp>
        <p:nvSpPr>
          <p:cNvPr id="941" name="Google Shape;941;p24"/>
          <p:cNvSpPr/>
          <p:nvPr/>
        </p:nvSpPr>
        <p:spPr>
          <a:xfrm>
            <a:off x="2857500" y="3985487"/>
            <a:ext cx="4000500" cy="155377"/>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Deliver Certificate</a:t>
            </a:r>
            <a:endParaRPr b="0" i="0" sz="942" u="none" cap="none" strike="noStrike">
              <a:solidFill>
                <a:schemeClr val="dk1"/>
              </a:solidFill>
              <a:latin typeface="Calibri"/>
              <a:ea typeface="Calibri"/>
              <a:cs typeface="Calibri"/>
              <a:sym typeface="Calibri"/>
            </a:endParaRPr>
          </a:p>
        </p:txBody>
      </p:sp>
      <p:sp>
        <p:nvSpPr>
          <p:cNvPr id="942" name="Google Shape;942;p24"/>
          <p:cNvSpPr/>
          <p:nvPr/>
        </p:nvSpPr>
        <p:spPr>
          <a:xfrm>
            <a:off x="2857500" y="4176582"/>
            <a:ext cx="400050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Secure delivery over established mTLS channel</a:t>
            </a:r>
            <a:endParaRPr b="0" i="0" sz="727" u="none" cap="none" strike="noStrike">
              <a:solidFill>
                <a:schemeClr val="dk1"/>
              </a:solidFill>
              <a:latin typeface="Calibri"/>
              <a:ea typeface="Calibri"/>
              <a:cs typeface="Calibri"/>
              <a:sym typeface="Calibri"/>
            </a:endParaRPr>
          </a:p>
        </p:txBody>
      </p:sp>
      <p:sp>
        <p:nvSpPr>
          <p:cNvPr id="943" name="Google Shape;943;p24"/>
          <p:cNvSpPr/>
          <p:nvPr/>
        </p:nvSpPr>
        <p:spPr>
          <a:xfrm>
            <a:off x="7000875" y="3923872"/>
            <a:ext cx="1428750" cy="250031"/>
          </a:xfrm>
          <a:prstGeom prst="rect">
            <a:avLst/>
          </a:prstGeom>
          <a:solidFill>
            <a:srgbClr val="D69E2E">
              <a:alpha val="10196"/>
            </a:srgbClr>
          </a:solidFill>
          <a:ln cap="flat" cmpd="sng" w="952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4"/>
          <p:cNvSpPr/>
          <p:nvPr/>
        </p:nvSpPr>
        <p:spPr>
          <a:xfrm>
            <a:off x="7000875" y="3923872"/>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945" name="Google Shape;945;p24"/>
          <p:cNvSpPr/>
          <p:nvPr/>
        </p:nvSpPr>
        <p:spPr>
          <a:xfrm>
            <a:off x="571500" y="4394467"/>
            <a:ext cx="8001000" cy="619720"/>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4"/>
          <p:cNvSpPr/>
          <p:nvPr/>
        </p:nvSpPr>
        <p:spPr>
          <a:xfrm>
            <a:off x="714375" y="4583776"/>
            <a:ext cx="571500" cy="226814"/>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E5FF"/>
              </a:buClr>
              <a:buSzPts val="1193"/>
              <a:buFont typeface="Roboto Mono"/>
              <a:buNone/>
            </a:pPr>
            <a:r>
              <a:rPr b="1" i="0" lang="en-US" sz="1193" u="none" cap="none" strike="noStrike">
                <a:solidFill>
                  <a:srgbClr val="00E5FF"/>
                </a:solidFill>
                <a:latin typeface="Roboto Mono"/>
                <a:ea typeface="Roboto Mono"/>
                <a:cs typeface="Roboto Mono"/>
                <a:sym typeface="Roboto Mono"/>
              </a:rPr>
              <a:t>06</a:t>
            </a:r>
            <a:endParaRPr b="0" i="0" sz="1193" u="none" cap="none" strike="noStrike">
              <a:solidFill>
                <a:schemeClr val="dk1"/>
              </a:solidFill>
              <a:latin typeface="Calibri"/>
              <a:ea typeface="Calibri"/>
              <a:cs typeface="Calibri"/>
              <a:sym typeface="Calibri"/>
            </a:endParaRPr>
          </a:p>
        </p:txBody>
      </p:sp>
      <p:sp>
        <p:nvSpPr>
          <p:cNvPr id="947" name="Google Shape;947;p24"/>
          <p:cNvSpPr/>
          <p:nvPr/>
        </p:nvSpPr>
        <p:spPr>
          <a:xfrm>
            <a:off x="1285875" y="4572167"/>
            <a:ext cx="1428750" cy="250031"/>
          </a:xfrm>
          <a:prstGeom prst="rect">
            <a:avLst/>
          </a:prstGeom>
          <a:solidFill>
            <a:srgbClr val="00E676">
              <a:alpha val="10196"/>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a:off x="1285875" y="4572167"/>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OpAMP Agent</a:t>
            </a:r>
            <a:endParaRPr b="0" i="0" sz="784" u="none" cap="none" strike="noStrike">
              <a:solidFill>
                <a:schemeClr val="dk1"/>
              </a:solidFill>
              <a:latin typeface="Calibri"/>
              <a:ea typeface="Calibri"/>
              <a:cs typeface="Calibri"/>
              <a:sym typeface="Calibri"/>
            </a:endParaRPr>
          </a:p>
        </p:txBody>
      </p:sp>
      <p:sp>
        <p:nvSpPr>
          <p:cNvPr id="949" name="Google Shape;949;p24"/>
          <p:cNvSpPr/>
          <p:nvPr/>
        </p:nvSpPr>
        <p:spPr>
          <a:xfrm>
            <a:off x="2857500" y="4633782"/>
            <a:ext cx="4000500" cy="155377"/>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FFFFFF"/>
              </a:buClr>
              <a:buSzPts val="942"/>
              <a:buFont typeface="Inter"/>
              <a:buNone/>
            </a:pPr>
            <a:r>
              <a:rPr b="0" i="0" lang="en-US" sz="942" u="none" cap="none" strike="noStrike">
                <a:solidFill>
                  <a:srgbClr val="FFFFFF"/>
                </a:solidFill>
                <a:latin typeface="Inter"/>
                <a:ea typeface="Inter"/>
                <a:cs typeface="Inter"/>
                <a:sym typeface="Inter"/>
              </a:rPr>
              <a:t>Atomic Hot-Reload</a:t>
            </a:r>
            <a:endParaRPr b="0" i="0" sz="942" u="none" cap="none" strike="noStrike">
              <a:solidFill>
                <a:schemeClr val="dk1"/>
              </a:solidFill>
              <a:latin typeface="Calibri"/>
              <a:ea typeface="Calibri"/>
              <a:cs typeface="Calibri"/>
              <a:sym typeface="Calibri"/>
            </a:endParaRPr>
          </a:p>
        </p:txBody>
      </p:sp>
      <p:sp>
        <p:nvSpPr>
          <p:cNvPr id="950" name="Google Shape;950;p24"/>
          <p:cNvSpPr/>
          <p:nvPr/>
        </p:nvSpPr>
        <p:spPr>
          <a:xfrm>
            <a:off x="2857500" y="4824878"/>
            <a:ext cx="4000500" cy="132159"/>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EC0"/>
              </a:buClr>
              <a:buSzPts val="727"/>
              <a:buFont typeface="Roboto Mono"/>
              <a:buNone/>
            </a:pPr>
            <a:r>
              <a:rPr b="0" i="0" lang="en-US" sz="727" u="none" cap="none" strike="noStrike">
                <a:solidFill>
                  <a:srgbClr val="A0AEC0"/>
                </a:solidFill>
                <a:latin typeface="Roboto Mono"/>
                <a:ea typeface="Roboto Mono"/>
                <a:cs typeface="Roboto Mono"/>
                <a:sym typeface="Roboto Mono"/>
              </a:rPr>
              <a:t>Writes to memory/disk, signals workload</a:t>
            </a:r>
            <a:endParaRPr b="0" i="0" sz="727" u="none" cap="none" strike="noStrike">
              <a:solidFill>
                <a:schemeClr val="dk1"/>
              </a:solidFill>
              <a:latin typeface="Calibri"/>
              <a:ea typeface="Calibri"/>
              <a:cs typeface="Calibri"/>
              <a:sym typeface="Calibri"/>
            </a:endParaRPr>
          </a:p>
        </p:txBody>
      </p:sp>
      <p:sp>
        <p:nvSpPr>
          <p:cNvPr id="951" name="Google Shape;951;p24"/>
          <p:cNvSpPr/>
          <p:nvPr/>
        </p:nvSpPr>
        <p:spPr>
          <a:xfrm>
            <a:off x="7000875" y="4572167"/>
            <a:ext cx="1428750" cy="250031"/>
          </a:xfrm>
          <a:prstGeom prst="rect">
            <a:avLst/>
          </a:prstGeom>
          <a:solidFill>
            <a:srgbClr val="A0AEC0">
              <a:alpha val="10196"/>
            </a:srgbClr>
          </a:solidFill>
          <a:ln cap="flat" cmpd="sng" w="9525">
            <a:solidFill>
              <a:srgbClr val="A0AE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a:off x="7000875" y="4572167"/>
            <a:ext cx="1428750" cy="250031"/>
          </a:xfrm>
          <a:prstGeom prst="rect">
            <a:avLst/>
          </a:prstGeom>
          <a:noFill/>
          <a:ln>
            <a:noFill/>
          </a:ln>
        </p:spPr>
        <p:txBody>
          <a:bodyPr anchorCtr="0" anchor="t" bIns="51050" lIns="51050" spcFirstLastPara="1" rIns="51050" wrap="square" tIns="51050">
            <a:noAutofit/>
          </a:bodyPr>
          <a:lstStyle/>
          <a:p>
            <a:pPr indent="0" lvl="0" marL="0" marR="0" rtl="0" algn="ctr">
              <a:lnSpc>
                <a:spcPct val="140306"/>
              </a:lnSpc>
              <a:spcBef>
                <a:spcPts val="0"/>
              </a:spcBef>
              <a:spcAft>
                <a:spcPts val="0"/>
              </a:spcAft>
              <a:buClr>
                <a:srgbClr val="A0AEC0"/>
              </a:buClr>
              <a:buSzPts val="784"/>
              <a:buFont typeface="Roboto Mono"/>
              <a:buNone/>
            </a:pPr>
            <a:r>
              <a:rPr b="1" i="0" lang="en-US" sz="784" u="none" cap="none" strike="noStrike">
                <a:solidFill>
                  <a:srgbClr val="A0AEC0"/>
                </a:solidFill>
                <a:latin typeface="Roboto Mono"/>
                <a:ea typeface="Roboto Mono"/>
                <a:cs typeface="Roboto Mono"/>
                <a:sym typeface="Roboto Mono"/>
              </a:rPr>
              <a:t>Workload</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pic>
        <p:nvPicPr>
          <p:cNvPr descr="preencoded.png" id="958" name="Google Shape;958;p25"/>
          <p:cNvPicPr preferRelativeResize="0"/>
          <p:nvPr/>
        </p:nvPicPr>
        <p:blipFill rotWithShape="1">
          <a:blip r:embed="rId3">
            <a:alphaModFix/>
          </a:blip>
          <a:srcRect b="0" l="0" r="0" t="0"/>
          <a:stretch/>
        </p:blipFill>
        <p:spPr>
          <a:xfrm>
            <a:off x="0" y="0"/>
            <a:ext cx="9144000" cy="5165992"/>
          </a:xfrm>
          <a:prstGeom prst="rect">
            <a:avLst/>
          </a:prstGeom>
          <a:noFill/>
          <a:ln>
            <a:noFill/>
          </a:ln>
        </p:spPr>
      </p:pic>
      <p:sp>
        <p:nvSpPr>
          <p:cNvPr id="959" name="Google Shape;959;p25"/>
          <p:cNvSpPr/>
          <p:nvPr/>
        </p:nvSpPr>
        <p:spPr>
          <a:xfrm>
            <a:off x="571500" y="357188"/>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960" name="Google Shape;960;p25"/>
          <p:cNvSpPr/>
          <p:nvPr/>
        </p:nvSpPr>
        <p:spPr>
          <a:xfrm>
            <a:off x="571500" y="578644"/>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Automated Certificate Renewal</a:t>
            </a:r>
            <a:endParaRPr b="0" i="0" sz="2121" u="none" cap="none" strike="noStrike">
              <a:solidFill>
                <a:schemeClr val="dk1"/>
              </a:solidFill>
              <a:latin typeface="Calibri"/>
              <a:ea typeface="Calibri"/>
              <a:cs typeface="Calibri"/>
              <a:sym typeface="Calibri"/>
            </a:endParaRPr>
          </a:p>
        </p:txBody>
      </p:sp>
      <p:sp>
        <p:nvSpPr>
          <p:cNvPr id="961" name="Google Shape;961;p25"/>
          <p:cNvSpPr/>
          <p:nvPr/>
        </p:nvSpPr>
        <p:spPr>
          <a:xfrm>
            <a:off x="571500" y="1152990"/>
            <a:ext cx="8001000" cy="3870127"/>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5"/>
          <p:cNvSpPr/>
          <p:nvPr/>
        </p:nvSpPr>
        <p:spPr>
          <a:xfrm>
            <a:off x="771525" y="1238715"/>
            <a:ext cx="1793081" cy="412552"/>
          </a:xfrm>
          <a:prstGeom prst="rect">
            <a:avLst/>
          </a:prstGeom>
          <a:solidFill>
            <a:srgbClr val="1A202C"/>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5"/>
          <p:cNvSpPr/>
          <p:nvPr/>
        </p:nvSpPr>
        <p:spPr>
          <a:xfrm>
            <a:off x="771525" y="1238715"/>
            <a:ext cx="1793081" cy="412552"/>
          </a:xfrm>
          <a:prstGeom prst="rect">
            <a:avLst/>
          </a:prstGeom>
          <a:noFill/>
          <a:ln>
            <a:noFill/>
          </a:ln>
        </p:spPr>
        <p:txBody>
          <a:bodyPr anchorCtr="0" anchor="t" bIns="127500" lIns="85075" spcFirstLastPara="1" rIns="85075" wrap="square" tIns="12750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Cert-Ops-Scheduler</a:t>
            </a:r>
            <a:endParaRPr b="0" i="0" sz="885" u="none" cap="none" strike="noStrike">
              <a:solidFill>
                <a:schemeClr val="dk1"/>
              </a:solidFill>
              <a:latin typeface="Calibri"/>
              <a:ea typeface="Calibri"/>
              <a:cs typeface="Calibri"/>
              <a:sym typeface="Calibri"/>
            </a:endParaRPr>
          </a:p>
        </p:txBody>
      </p:sp>
      <p:sp>
        <p:nvSpPr>
          <p:cNvPr id="964" name="Google Shape;964;p25"/>
          <p:cNvSpPr/>
          <p:nvPr/>
        </p:nvSpPr>
        <p:spPr>
          <a:xfrm>
            <a:off x="2707481" y="1238715"/>
            <a:ext cx="1793081" cy="412552"/>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5"/>
          <p:cNvSpPr/>
          <p:nvPr/>
        </p:nvSpPr>
        <p:spPr>
          <a:xfrm>
            <a:off x="2707481" y="1238715"/>
            <a:ext cx="1793081" cy="412552"/>
          </a:xfrm>
          <a:prstGeom prst="rect">
            <a:avLst/>
          </a:prstGeom>
          <a:noFill/>
          <a:ln>
            <a:noFill/>
          </a:ln>
        </p:spPr>
        <p:txBody>
          <a:bodyPr anchorCtr="0" anchor="t" bIns="127500" lIns="85075" spcFirstLastPara="1" rIns="85075" wrap="square" tIns="12750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OpAMP Server</a:t>
            </a:r>
            <a:endParaRPr b="0" i="0" sz="885" u="none" cap="none" strike="noStrike">
              <a:solidFill>
                <a:schemeClr val="dk1"/>
              </a:solidFill>
              <a:latin typeface="Calibri"/>
              <a:ea typeface="Calibri"/>
              <a:cs typeface="Calibri"/>
              <a:sym typeface="Calibri"/>
            </a:endParaRPr>
          </a:p>
        </p:txBody>
      </p:sp>
      <p:sp>
        <p:nvSpPr>
          <p:cNvPr id="966" name="Google Shape;966;p25"/>
          <p:cNvSpPr/>
          <p:nvPr/>
        </p:nvSpPr>
        <p:spPr>
          <a:xfrm>
            <a:off x="4643438" y="1238715"/>
            <a:ext cx="1793081" cy="412552"/>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5"/>
          <p:cNvSpPr/>
          <p:nvPr/>
        </p:nvSpPr>
        <p:spPr>
          <a:xfrm>
            <a:off x="4643438" y="1238715"/>
            <a:ext cx="1793081" cy="412552"/>
          </a:xfrm>
          <a:prstGeom prst="rect">
            <a:avLst/>
          </a:prstGeom>
          <a:noFill/>
          <a:ln>
            <a:noFill/>
          </a:ln>
        </p:spPr>
        <p:txBody>
          <a:bodyPr anchorCtr="0" anchor="t" bIns="127500" lIns="85075" spcFirstLastPara="1" rIns="85075" wrap="square" tIns="12750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OpAMP Agent</a:t>
            </a:r>
            <a:endParaRPr b="0" i="0" sz="885" u="none" cap="none" strike="noStrike">
              <a:solidFill>
                <a:schemeClr val="dk1"/>
              </a:solidFill>
              <a:latin typeface="Calibri"/>
              <a:ea typeface="Calibri"/>
              <a:cs typeface="Calibri"/>
              <a:sym typeface="Calibri"/>
            </a:endParaRPr>
          </a:p>
        </p:txBody>
      </p:sp>
      <p:sp>
        <p:nvSpPr>
          <p:cNvPr id="968" name="Google Shape;968;p25"/>
          <p:cNvSpPr/>
          <p:nvPr/>
        </p:nvSpPr>
        <p:spPr>
          <a:xfrm>
            <a:off x="6579394" y="1238715"/>
            <a:ext cx="1793081" cy="412552"/>
          </a:xfrm>
          <a:prstGeom prst="rect">
            <a:avLst/>
          </a:prstGeom>
          <a:solidFill>
            <a:srgbClr val="1A202C"/>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5"/>
          <p:cNvSpPr/>
          <p:nvPr/>
        </p:nvSpPr>
        <p:spPr>
          <a:xfrm>
            <a:off x="6579394" y="1238715"/>
            <a:ext cx="1793081" cy="412552"/>
          </a:xfrm>
          <a:prstGeom prst="rect">
            <a:avLst/>
          </a:prstGeom>
          <a:noFill/>
          <a:ln>
            <a:noFill/>
          </a:ln>
        </p:spPr>
        <p:txBody>
          <a:bodyPr anchorCtr="0" anchor="t" bIns="127500" lIns="85075" spcFirstLastPara="1" rIns="85075" wrap="square" tIns="127500">
            <a:noAutofit/>
          </a:bodyPr>
          <a:lstStyle/>
          <a:p>
            <a:pPr indent="0" lvl="0" marL="0" marR="0" rtl="0" algn="ctr">
              <a:lnSpc>
                <a:spcPct val="135593"/>
              </a:lnSpc>
              <a:spcBef>
                <a:spcPts val="0"/>
              </a:spcBef>
              <a:spcAft>
                <a:spcPts val="0"/>
              </a:spcAft>
              <a:buClr>
                <a:srgbClr val="FFFFFF"/>
              </a:buClr>
              <a:buSzPts val="885"/>
              <a:buFont typeface="Roboto Mono"/>
              <a:buNone/>
            </a:pPr>
            <a:r>
              <a:rPr b="1" i="0" lang="en-US" sz="885" u="none" cap="none" strike="noStrike">
                <a:solidFill>
                  <a:srgbClr val="FFFFFF"/>
                </a:solidFill>
                <a:latin typeface="Roboto Mono"/>
                <a:ea typeface="Roboto Mono"/>
                <a:cs typeface="Roboto Mono"/>
                <a:sym typeface="Roboto Mono"/>
              </a:rPr>
              <a:t>Athenz ZTS</a:t>
            </a:r>
            <a:endParaRPr b="0" i="0" sz="885" u="none" cap="none" strike="noStrike">
              <a:solidFill>
                <a:schemeClr val="dk1"/>
              </a:solidFill>
              <a:latin typeface="Calibri"/>
              <a:ea typeface="Calibri"/>
              <a:cs typeface="Calibri"/>
              <a:sym typeface="Calibri"/>
            </a:endParaRPr>
          </a:p>
        </p:txBody>
      </p:sp>
      <p:sp>
        <p:nvSpPr>
          <p:cNvPr id="970" name="Google Shape;970;p25"/>
          <p:cNvSpPr/>
          <p:nvPr/>
        </p:nvSpPr>
        <p:spPr>
          <a:xfrm>
            <a:off x="950844" y="1751279"/>
            <a:ext cx="1434443" cy="357188"/>
          </a:xfrm>
          <a:prstGeom prst="rect">
            <a:avLst/>
          </a:prstGeom>
          <a:solidFill>
            <a:srgbClr val="00E676">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5"/>
          <p:cNvSpPr/>
          <p:nvPr/>
        </p:nvSpPr>
        <p:spPr>
          <a:xfrm>
            <a:off x="950844" y="1751279"/>
            <a:ext cx="28575" cy="3571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5"/>
          <p:cNvSpPr/>
          <p:nvPr/>
        </p:nvSpPr>
        <p:spPr>
          <a:xfrm>
            <a:off x="950844" y="1751279"/>
            <a:ext cx="1434443" cy="357188"/>
          </a:xfrm>
          <a:prstGeom prst="rect">
            <a:avLst/>
          </a:prstGeom>
          <a:noFill/>
          <a:ln>
            <a:noFill/>
          </a:ln>
        </p:spPr>
        <p:txBody>
          <a:bodyPr anchorCtr="0" anchor="t" bIns="68050" lIns="102100" spcFirstLastPara="1" rIns="102100" wrap="square" tIns="68050">
            <a:noAutofit/>
          </a:bodyPr>
          <a:lstStyle/>
          <a:p>
            <a:pPr indent="0" lvl="0" marL="0" marR="0" rtl="0" algn="l">
              <a:lnSpc>
                <a:spcPct val="123796"/>
              </a:lnSpc>
              <a:spcBef>
                <a:spcPts val="0"/>
              </a:spcBef>
              <a:spcAft>
                <a:spcPts val="0"/>
              </a:spcAft>
              <a:buClr>
                <a:srgbClr val="FFFFFF"/>
              </a:buClr>
              <a:buSzPts val="727"/>
              <a:buFont typeface="Inter"/>
              <a:buNone/>
            </a:pPr>
            <a:r>
              <a:rPr b="0" i="0" lang="en-US" sz="727" u="none" cap="none" strike="noStrike">
                <a:solidFill>
                  <a:srgbClr val="FFFFFF"/>
                </a:solidFill>
                <a:latin typeface="Inter"/>
                <a:ea typeface="Inter"/>
                <a:cs typeface="Inter"/>
                <a:sym typeface="Inter"/>
              </a:rPr>
              <a:t>Job 2: Detects Cert at </a:t>
            </a:r>
            <a:r>
              <a:rPr b="1" i="0" lang="en-US" sz="683" u="none" cap="none" strike="noStrike">
                <a:solidFill>
                  <a:srgbClr val="00E676"/>
                </a:solidFill>
                <a:latin typeface="Inter"/>
                <a:ea typeface="Inter"/>
                <a:cs typeface="Inter"/>
                <a:sym typeface="Inter"/>
              </a:rPr>
              <a:t>50% TTL</a:t>
            </a:r>
            <a:endParaRPr b="0" i="0" sz="727" u="none" cap="none" strike="noStrike">
              <a:solidFill>
                <a:schemeClr val="dk1"/>
              </a:solidFill>
              <a:latin typeface="Calibri"/>
              <a:ea typeface="Calibri"/>
              <a:cs typeface="Calibri"/>
              <a:sym typeface="Calibri"/>
            </a:endParaRPr>
          </a:p>
        </p:txBody>
      </p:sp>
      <p:sp>
        <p:nvSpPr>
          <p:cNvPr id="973" name="Google Shape;973;p25"/>
          <p:cNvSpPr/>
          <p:nvPr/>
        </p:nvSpPr>
        <p:spPr>
          <a:xfrm>
            <a:off x="2636044" y="2297776"/>
            <a:ext cx="3729038"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5"/>
          <p:cNvSpPr/>
          <p:nvPr/>
        </p:nvSpPr>
        <p:spPr>
          <a:xfrm>
            <a:off x="6318647" y="2226339"/>
            <a:ext cx="110728" cy="173236"/>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Inter"/>
              <a:buNone/>
            </a:pPr>
            <a:r>
              <a:rPr b="0" i="0" lang="en-US" sz="1050" u="none" cap="none" strike="noStrike">
                <a:solidFill>
                  <a:srgbClr val="00E5FF"/>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p:txBody>
      </p:sp>
      <p:sp>
        <p:nvSpPr>
          <p:cNvPr id="975" name="Google Shape;975;p25"/>
          <p:cNvSpPr/>
          <p:nvPr/>
        </p:nvSpPr>
        <p:spPr>
          <a:xfrm>
            <a:off x="1517321" y="2179904"/>
            <a:ext cx="2237417" cy="250031"/>
          </a:xfrm>
          <a:prstGeom prst="rect">
            <a:avLst/>
          </a:prstGeom>
          <a:solidFill>
            <a:srgbClr val="000000">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5"/>
          <p:cNvSpPr/>
          <p:nvPr/>
        </p:nvSpPr>
        <p:spPr>
          <a:xfrm>
            <a:off x="1517321" y="2179904"/>
            <a:ext cx="2237417" cy="250031"/>
          </a:xfrm>
          <a:prstGeom prst="rect">
            <a:avLst/>
          </a:prstGeom>
          <a:noFill/>
          <a:ln>
            <a:noFill/>
          </a:ln>
        </p:spPr>
        <p:txBody>
          <a:bodyPr anchorCtr="0" anchor="t" bIns="68050" lIns="102100" spcFirstLastPara="1" rIns="102100" wrap="square" tIns="68050">
            <a:noAutofit/>
          </a:bodyPr>
          <a:lstStyle/>
          <a:p>
            <a:pPr indent="0" lvl="0" marL="0" marR="0" rtl="0" algn="ctr">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Trigger Job 3 (Auto-Rotation)</a:t>
            </a:r>
            <a:endParaRPr b="0" i="0" sz="727" u="none" cap="none" strike="noStrike">
              <a:solidFill>
                <a:schemeClr val="dk1"/>
              </a:solidFill>
              <a:latin typeface="Calibri"/>
              <a:ea typeface="Calibri"/>
              <a:cs typeface="Calibri"/>
              <a:sym typeface="Calibri"/>
            </a:endParaRPr>
          </a:p>
        </p:txBody>
      </p:sp>
      <p:sp>
        <p:nvSpPr>
          <p:cNvPr id="977" name="Google Shape;977;p25"/>
          <p:cNvSpPr/>
          <p:nvPr/>
        </p:nvSpPr>
        <p:spPr>
          <a:xfrm>
            <a:off x="4572000" y="2604957"/>
            <a:ext cx="3729038"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5"/>
          <p:cNvSpPr/>
          <p:nvPr/>
        </p:nvSpPr>
        <p:spPr>
          <a:xfrm>
            <a:off x="8254603" y="2533520"/>
            <a:ext cx="110728" cy="173236"/>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Inter"/>
              <a:buNone/>
            </a:pPr>
            <a:r>
              <a:rPr b="0" i="0" lang="en-US" sz="1050" u="none" cap="none" strike="noStrike">
                <a:solidFill>
                  <a:srgbClr val="00E5FF"/>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p:txBody>
      </p:sp>
      <p:sp>
        <p:nvSpPr>
          <p:cNvPr id="979" name="Google Shape;979;p25"/>
          <p:cNvSpPr/>
          <p:nvPr/>
        </p:nvSpPr>
        <p:spPr>
          <a:xfrm>
            <a:off x="3453278" y="2487085"/>
            <a:ext cx="2237417" cy="250031"/>
          </a:xfrm>
          <a:prstGeom prst="rect">
            <a:avLst/>
          </a:prstGeom>
          <a:solidFill>
            <a:srgbClr val="000000">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5"/>
          <p:cNvSpPr/>
          <p:nvPr/>
        </p:nvSpPr>
        <p:spPr>
          <a:xfrm>
            <a:off x="3453278" y="2487085"/>
            <a:ext cx="2237417" cy="250031"/>
          </a:xfrm>
          <a:prstGeom prst="rect">
            <a:avLst/>
          </a:prstGeom>
          <a:noFill/>
          <a:ln>
            <a:noFill/>
          </a:ln>
        </p:spPr>
        <p:txBody>
          <a:bodyPr anchorCtr="0" anchor="t" bIns="68050" lIns="102100" spcFirstLastPara="1" rIns="102100" wrap="square" tIns="68050">
            <a:noAutofit/>
          </a:bodyPr>
          <a:lstStyle/>
          <a:p>
            <a:pPr indent="0" lvl="0" marL="0" marR="0" rtl="0" algn="ctr">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Initiate Rotation Command</a:t>
            </a:r>
            <a:endParaRPr b="0" i="0" sz="727" u="none" cap="none" strike="noStrike">
              <a:solidFill>
                <a:schemeClr val="dk1"/>
              </a:solidFill>
              <a:latin typeface="Calibri"/>
              <a:ea typeface="Calibri"/>
              <a:cs typeface="Calibri"/>
              <a:sym typeface="Calibri"/>
            </a:endParaRPr>
          </a:p>
        </p:txBody>
      </p:sp>
      <p:sp>
        <p:nvSpPr>
          <p:cNvPr id="981" name="Google Shape;981;p25"/>
          <p:cNvSpPr/>
          <p:nvPr/>
        </p:nvSpPr>
        <p:spPr>
          <a:xfrm>
            <a:off x="4822757" y="2794267"/>
            <a:ext cx="1434443" cy="357188"/>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5"/>
          <p:cNvSpPr/>
          <p:nvPr/>
        </p:nvSpPr>
        <p:spPr>
          <a:xfrm>
            <a:off x="4822757" y="2794267"/>
            <a:ext cx="28575" cy="3571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5"/>
          <p:cNvSpPr/>
          <p:nvPr/>
        </p:nvSpPr>
        <p:spPr>
          <a:xfrm>
            <a:off x="4822757" y="2794267"/>
            <a:ext cx="1434443" cy="357188"/>
          </a:xfrm>
          <a:prstGeom prst="rect">
            <a:avLst/>
          </a:prstGeom>
          <a:noFill/>
          <a:ln>
            <a:noFill/>
          </a:ln>
        </p:spPr>
        <p:txBody>
          <a:bodyPr anchorCtr="0" anchor="t" bIns="68050" lIns="102100" spcFirstLastPara="1" rIns="102100" wrap="square" tIns="68050">
            <a:noAutofit/>
          </a:bodyPr>
          <a:lstStyle/>
          <a:p>
            <a:pPr indent="0" lvl="0" marL="0" marR="0" rtl="0" algn="l">
              <a:lnSpc>
                <a:spcPct val="123796"/>
              </a:lnSpc>
              <a:spcBef>
                <a:spcPts val="0"/>
              </a:spcBef>
              <a:spcAft>
                <a:spcPts val="0"/>
              </a:spcAft>
              <a:buClr>
                <a:srgbClr val="FFFFFF"/>
              </a:buClr>
              <a:buSzPts val="727"/>
              <a:buFont typeface="Inter"/>
              <a:buNone/>
            </a:pPr>
            <a:r>
              <a:rPr b="0" i="0" lang="en-US" sz="727" u="none" cap="none" strike="noStrike">
                <a:solidFill>
                  <a:srgbClr val="FFFFFF"/>
                </a:solidFill>
                <a:latin typeface="Inter"/>
                <a:ea typeface="Inter"/>
                <a:cs typeface="Inter"/>
                <a:sym typeface="Inter"/>
              </a:rPr>
              <a:t>Generate New Keypair &amp; CSR</a:t>
            </a:r>
            <a:endParaRPr b="0" i="0" sz="727" u="none" cap="none" strike="noStrike">
              <a:solidFill>
                <a:schemeClr val="dk1"/>
              </a:solidFill>
              <a:latin typeface="Calibri"/>
              <a:ea typeface="Calibri"/>
              <a:cs typeface="Calibri"/>
              <a:sym typeface="Calibri"/>
            </a:endParaRPr>
          </a:p>
        </p:txBody>
      </p:sp>
      <p:sp>
        <p:nvSpPr>
          <p:cNvPr id="984" name="Google Shape;984;p25"/>
          <p:cNvSpPr/>
          <p:nvPr/>
        </p:nvSpPr>
        <p:spPr>
          <a:xfrm>
            <a:off x="842963" y="3340764"/>
            <a:ext cx="3729038"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5"/>
          <p:cNvSpPr/>
          <p:nvPr/>
        </p:nvSpPr>
        <p:spPr>
          <a:xfrm>
            <a:off x="771525" y="3269326"/>
            <a:ext cx="110728" cy="173236"/>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Inter"/>
              <a:buNone/>
            </a:pPr>
            <a:r>
              <a:rPr b="0" i="0" lang="en-US" sz="1050" u="none" cap="none" strike="noStrike">
                <a:solidFill>
                  <a:srgbClr val="00E5FF"/>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p:txBody>
      </p:sp>
      <p:sp>
        <p:nvSpPr>
          <p:cNvPr id="986" name="Google Shape;986;p25"/>
          <p:cNvSpPr/>
          <p:nvPr/>
        </p:nvSpPr>
        <p:spPr>
          <a:xfrm>
            <a:off x="3453278" y="3222892"/>
            <a:ext cx="2237417" cy="250031"/>
          </a:xfrm>
          <a:prstGeom prst="rect">
            <a:avLst/>
          </a:prstGeom>
          <a:solidFill>
            <a:srgbClr val="000000">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5"/>
          <p:cNvSpPr/>
          <p:nvPr/>
        </p:nvSpPr>
        <p:spPr>
          <a:xfrm>
            <a:off x="3453278" y="3222892"/>
            <a:ext cx="2237417" cy="250031"/>
          </a:xfrm>
          <a:prstGeom prst="rect">
            <a:avLst/>
          </a:prstGeom>
          <a:noFill/>
          <a:ln>
            <a:noFill/>
          </a:ln>
        </p:spPr>
        <p:txBody>
          <a:bodyPr anchorCtr="0" anchor="t" bIns="68050" lIns="102100" spcFirstLastPara="1" rIns="102100" wrap="square" tIns="68050">
            <a:noAutofit/>
          </a:bodyPr>
          <a:lstStyle/>
          <a:p>
            <a:pPr indent="0" lvl="0" marL="0" marR="0" rtl="0" algn="ctr">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Submit CSR (via mTLS)</a:t>
            </a:r>
            <a:endParaRPr b="0" i="0" sz="727" u="none" cap="none" strike="noStrike">
              <a:solidFill>
                <a:schemeClr val="dk1"/>
              </a:solidFill>
              <a:latin typeface="Calibri"/>
              <a:ea typeface="Calibri"/>
              <a:cs typeface="Calibri"/>
              <a:sym typeface="Calibri"/>
            </a:endParaRPr>
          </a:p>
        </p:txBody>
      </p:sp>
      <p:sp>
        <p:nvSpPr>
          <p:cNvPr id="988" name="Google Shape;988;p25"/>
          <p:cNvSpPr/>
          <p:nvPr/>
        </p:nvSpPr>
        <p:spPr>
          <a:xfrm>
            <a:off x="4123730" y="3647945"/>
            <a:ext cx="5664994"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5"/>
          <p:cNvSpPr/>
          <p:nvPr/>
        </p:nvSpPr>
        <p:spPr>
          <a:xfrm>
            <a:off x="9738717" y="3576507"/>
            <a:ext cx="110728" cy="173236"/>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Inter"/>
              <a:buNone/>
            </a:pPr>
            <a:r>
              <a:rPr b="0" i="0" lang="en-US" sz="1050" u="none" cap="none" strike="noStrike">
                <a:solidFill>
                  <a:srgbClr val="00E5FF"/>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p:txBody>
      </p:sp>
      <p:sp>
        <p:nvSpPr>
          <p:cNvPr id="990" name="Google Shape;990;p25"/>
          <p:cNvSpPr/>
          <p:nvPr/>
        </p:nvSpPr>
        <p:spPr>
          <a:xfrm>
            <a:off x="4406968" y="3530073"/>
            <a:ext cx="2265992" cy="250031"/>
          </a:xfrm>
          <a:prstGeom prst="rect">
            <a:avLst/>
          </a:prstGeom>
          <a:solidFill>
            <a:srgbClr val="000000">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5"/>
          <p:cNvSpPr/>
          <p:nvPr/>
        </p:nvSpPr>
        <p:spPr>
          <a:xfrm>
            <a:off x="4406968" y="3530073"/>
            <a:ext cx="2265992" cy="250031"/>
          </a:xfrm>
          <a:prstGeom prst="rect">
            <a:avLst/>
          </a:prstGeom>
          <a:noFill/>
          <a:ln>
            <a:noFill/>
          </a:ln>
        </p:spPr>
        <p:txBody>
          <a:bodyPr anchorCtr="0" anchor="t" bIns="68050" lIns="102100" spcFirstLastPara="1" rIns="102100" wrap="square" tIns="68050">
            <a:noAutofit/>
          </a:bodyPr>
          <a:lstStyle/>
          <a:p>
            <a:pPr indent="0" lvl="0" marL="0" marR="0" rtl="0" algn="ctr">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Request Certificate (ACME/EST)</a:t>
            </a:r>
            <a:endParaRPr b="0" i="0" sz="727" u="none" cap="none" strike="noStrike">
              <a:solidFill>
                <a:schemeClr val="dk1"/>
              </a:solidFill>
              <a:latin typeface="Calibri"/>
              <a:ea typeface="Calibri"/>
              <a:cs typeface="Calibri"/>
              <a:sym typeface="Calibri"/>
            </a:endParaRPr>
          </a:p>
        </p:txBody>
      </p:sp>
      <p:sp>
        <p:nvSpPr>
          <p:cNvPr id="992" name="Google Shape;992;p25"/>
          <p:cNvSpPr/>
          <p:nvPr/>
        </p:nvSpPr>
        <p:spPr>
          <a:xfrm>
            <a:off x="1291233" y="3955126"/>
            <a:ext cx="5664994"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5"/>
          <p:cNvSpPr/>
          <p:nvPr/>
        </p:nvSpPr>
        <p:spPr>
          <a:xfrm>
            <a:off x="1219795" y="3883689"/>
            <a:ext cx="110728" cy="173236"/>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Inter"/>
              <a:buNone/>
            </a:pPr>
            <a:r>
              <a:rPr b="0" i="0" lang="en-US" sz="1050" u="none" cap="none" strike="noStrike">
                <a:solidFill>
                  <a:srgbClr val="00E5FF"/>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p:txBody>
      </p:sp>
      <p:sp>
        <p:nvSpPr>
          <p:cNvPr id="994" name="Google Shape;994;p25"/>
          <p:cNvSpPr/>
          <p:nvPr/>
        </p:nvSpPr>
        <p:spPr>
          <a:xfrm>
            <a:off x="4406968" y="3837254"/>
            <a:ext cx="2265992" cy="250031"/>
          </a:xfrm>
          <a:prstGeom prst="rect">
            <a:avLst/>
          </a:prstGeom>
          <a:solidFill>
            <a:srgbClr val="000000">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5"/>
          <p:cNvSpPr/>
          <p:nvPr/>
        </p:nvSpPr>
        <p:spPr>
          <a:xfrm>
            <a:off x="4406968" y="3837254"/>
            <a:ext cx="2265992" cy="250031"/>
          </a:xfrm>
          <a:prstGeom prst="rect">
            <a:avLst/>
          </a:prstGeom>
          <a:noFill/>
          <a:ln>
            <a:noFill/>
          </a:ln>
        </p:spPr>
        <p:txBody>
          <a:bodyPr anchorCtr="0" anchor="t" bIns="68050" lIns="102100" spcFirstLastPara="1" rIns="102100" wrap="square" tIns="68050">
            <a:noAutofit/>
          </a:bodyPr>
          <a:lstStyle/>
          <a:p>
            <a:pPr indent="0" lvl="0" marL="0" marR="0" rtl="0" algn="ctr">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Return Signed Certificate</a:t>
            </a:r>
            <a:endParaRPr b="0" i="0" sz="727" u="none" cap="none" strike="noStrike">
              <a:solidFill>
                <a:schemeClr val="dk1"/>
              </a:solidFill>
              <a:latin typeface="Calibri"/>
              <a:ea typeface="Calibri"/>
              <a:cs typeface="Calibri"/>
              <a:sym typeface="Calibri"/>
            </a:endParaRPr>
          </a:p>
        </p:txBody>
      </p:sp>
      <p:sp>
        <p:nvSpPr>
          <p:cNvPr id="996" name="Google Shape;996;p25"/>
          <p:cNvSpPr/>
          <p:nvPr/>
        </p:nvSpPr>
        <p:spPr>
          <a:xfrm>
            <a:off x="842963" y="4262307"/>
            <a:ext cx="3729038"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5"/>
          <p:cNvSpPr/>
          <p:nvPr/>
        </p:nvSpPr>
        <p:spPr>
          <a:xfrm>
            <a:off x="771525" y="4190870"/>
            <a:ext cx="110728" cy="173236"/>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Inter"/>
              <a:buNone/>
            </a:pPr>
            <a:r>
              <a:rPr b="0" i="0" lang="en-US" sz="1050" u="none" cap="none" strike="noStrike">
                <a:solidFill>
                  <a:srgbClr val="00E5FF"/>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p:txBody>
      </p:sp>
      <p:sp>
        <p:nvSpPr>
          <p:cNvPr id="998" name="Google Shape;998;p25"/>
          <p:cNvSpPr/>
          <p:nvPr/>
        </p:nvSpPr>
        <p:spPr>
          <a:xfrm>
            <a:off x="3453278" y="4144435"/>
            <a:ext cx="2237417" cy="250031"/>
          </a:xfrm>
          <a:prstGeom prst="rect">
            <a:avLst/>
          </a:prstGeom>
          <a:solidFill>
            <a:srgbClr val="000000">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5"/>
          <p:cNvSpPr/>
          <p:nvPr/>
        </p:nvSpPr>
        <p:spPr>
          <a:xfrm>
            <a:off x="3453278" y="4144435"/>
            <a:ext cx="2237417" cy="250031"/>
          </a:xfrm>
          <a:prstGeom prst="rect">
            <a:avLst/>
          </a:prstGeom>
          <a:noFill/>
          <a:ln>
            <a:noFill/>
          </a:ln>
        </p:spPr>
        <p:txBody>
          <a:bodyPr anchorCtr="0" anchor="t" bIns="68050" lIns="102100" spcFirstLastPara="1" rIns="102100" wrap="square" tIns="68050">
            <a:noAutofit/>
          </a:bodyPr>
          <a:lstStyle/>
          <a:p>
            <a:pPr indent="0" lvl="0" marL="0" marR="0" rtl="0" algn="ctr">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Deliver Certificate</a:t>
            </a:r>
            <a:endParaRPr b="0" i="0" sz="727" u="none" cap="none" strike="noStrike">
              <a:solidFill>
                <a:schemeClr val="dk1"/>
              </a:solidFill>
              <a:latin typeface="Calibri"/>
              <a:ea typeface="Calibri"/>
              <a:cs typeface="Calibri"/>
              <a:sym typeface="Calibri"/>
            </a:endParaRPr>
          </a:p>
        </p:txBody>
      </p:sp>
      <p:sp>
        <p:nvSpPr>
          <p:cNvPr id="1000" name="Google Shape;1000;p25"/>
          <p:cNvSpPr/>
          <p:nvPr/>
        </p:nvSpPr>
        <p:spPr>
          <a:xfrm>
            <a:off x="4822757" y="4451617"/>
            <a:ext cx="1434443" cy="357188"/>
          </a:xfrm>
          <a:prstGeom prst="rect">
            <a:avLst/>
          </a:prstGeom>
          <a:solidFill>
            <a:srgbClr val="E53E3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5"/>
          <p:cNvSpPr/>
          <p:nvPr/>
        </p:nvSpPr>
        <p:spPr>
          <a:xfrm>
            <a:off x="4822757" y="4451617"/>
            <a:ext cx="28575" cy="357188"/>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5"/>
          <p:cNvSpPr/>
          <p:nvPr/>
        </p:nvSpPr>
        <p:spPr>
          <a:xfrm>
            <a:off x="4822757" y="4451617"/>
            <a:ext cx="1434443" cy="357188"/>
          </a:xfrm>
          <a:prstGeom prst="rect">
            <a:avLst/>
          </a:prstGeom>
          <a:noFill/>
          <a:ln>
            <a:noFill/>
          </a:ln>
        </p:spPr>
        <p:txBody>
          <a:bodyPr anchorCtr="0" anchor="t" bIns="68050" lIns="102100" spcFirstLastPara="1" rIns="102100" wrap="square" tIns="68050">
            <a:noAutofit/>
          </a:bodyPr>
          <a:lstStyle/>
          <a:p>
            <a:pPr indent="0" lvl="0" marL="0" marR="0" rtl="0" algn="l">
              <a:lnSpc>
                <a:spcPct val="123796"/>
              </a:lnSpc>
              <a:spcBef>
                <a:spcPts val="0"/>
              </a:spcBef>
              <a:spcAft>
                <a:spcPts val="0"/>
              </a:spcAft>
              <a:buClr>
                <a:srgbClr val="FFFFFF"/>
              </a:buClr>
              <a:buSzPts val="727"/>
              <a:buFont typeface="Inter"/>
              <a:buNone/>
            </a:pPr>
            <a:r>
              <a:rPr b="0" i="0" lang="en-US" sz="727" u="none" cap="none" strike="noStrike">
                <a:solidFill>
                  <a:srgbClr val="FFFFFF"/>
                </a:solidFill>
                <a:latin typeface="Inter"/>
                <a:ea typeface="Inter"/>
                <a:cs typeface="Inter"/>
                <a:sym typeface="Inter"/>
              </a:rPr>
              <a:t>Atomic Hot-Reload (Zero Downtime)</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pic>
        <p:nvPicPr>
          <p:cNvPr descr="preencoded.png" id="1008" name="Google Shape;1008;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09" name="Google Shape;1009;p26"/>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53E3E"/>
              </a:buClr>
              <a:buSzPts val="834"/>
              <a:buFont typeface="Roboto Mono"/>
              <a:buNone/>
            </a:pPr>
            <a:r>
              <a:rPr b="0" i="0" lang="en-US" sz="834" u="none" cap="none" strike="noStrike">
                <a:solidFill>
                  <a:srgbClr val="E53E3E"/>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010" name="Google Shape;1010;p26"/>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Key Compromise Response</a:t>
            </a:r>
            <a:endParaRPr b="0" i="0" sz="2121" u="none" cap="none" strike="noStrike">
              <a:solidFill>
                <a:schemeClr val="dk1"/>
              </a:solidFill>
              <a:latin typeface="Calibri"/>
              <a:ea typeface="Calibri"/>
              <a:cs typeface="Calibri"/>
              <a:sym typeface="Calibri"/>
            </a:endParaRPr>
          </a:p>
        </p:txBody>
      </p:sp>
      <p:sp>
        <p:nvSpPr>
          <p:cNvPr id="1011" name="Google Shape;1011;p26"/>
          <p:cNvSpPr/>
          <p:nvPr/>
        </p:nvSpPr>
        <p:spPr>
          <a:xfrm>
            <a:off x="571500" y="1295865"/>
            <a:ext cx="8001000" cy="14288"/>
          </a:xfrm>
          <a:prstGeom prst="rect">
            <a:avLst/>
          </a:prstGeom>
          <a:solidFill>
            <a:srgbClr val="0D1B2A">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6"/>
          <p:cNvSpPr/>
          <p:nvPr/>
        </p:nvSpPr>
        <p:spPr>
          <a:xfrm>
            <a:off x="1139428" y="1188709"/>
            <a:ext cx="1264444" cy="321469"/>
          </a:xfrm>
          <a:prstGeom prst="rect">
            <a:avLst/>
          </a:prstGeom>
          <a:solidFill>
            <a:srgbClr val="1A202C"/>
          </a:solidFill>
          <a:ln cap="flat" cmpd="sng" w="1827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6"/>
          <p:cNvSpPr/>
          <p:nvPr/>
        </p:nvSpPr>
        <p:spPr>
          <a:xfrm>
            <a:off x="1139428" y="1188709"/>
            <a:ext cx="1264444"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E53E3E"/>
              </a:buClr>
              <a:buSzPts val="784"/>
              <a:buFont typeface="Roboto Mono"/>
              <a:buNone/>
            </a:pPr>
            <a:r>
              <a:rPr b="1" i="0" lang="en-US" sz="784" u="none" cap="none" strike="noStrike">
                <a:solidFill>
                  <a:srgbClr val="E53E3E"/>
                </a:solidFill>
                <a:latin typeface="Roboto Mono"/>
                <a:ea typeface="Roboto Mono"/>
                <a:cs typeface="Roboto Mono"/>
                <a:sym typeface="Roboto Mono"/>
              </a:rPr>
              <a:t>Security Admin</a:t>
            </a:r>
            <a:endParaRPr b="0" i="0" sz="784" u="none" cap="none" strike="noStrike">
              <a:solidFill>
                <a:schemeClr val="dk1"/>
              </a:solidFill>
              <a:latin typeface="Calibri"/>
              <a:ea typeface="Calibri"/>
              <a:cs typeface="Calibri"/>
              <a:sym typeface="Calibri"/>
            </a:endParaRPr>
          </a:p>
        </p:txBody>
      </p:sp>
      <p:sp>
        <p:nvSpPr>
          <p:cNvPr id="1014" name="Google Shape;1014;p26"/>
          <p:cNvSpPr/>
          <p:nvPr/>
        </p:nvSpPr>
        <p:spPr>
          <a:xfrm>
            <a:off x="3047507" y="1188709"/>
            <a:ext cx="1128713"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6"/>
          <p:cNvSpPr/>
          <p:nvPr/>
        </p:nvSpPr>
        <p:spPr>
          <a:xfrm>
            <a:off x="3047507" y="1188709"/>
            <a:ext cx="1128713"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1016" name="Google Shape;1016;p26"/>
          <p:cNvSpPr/>
          <p:nvPr/>
        </p:nvSpPr>
        <p:spPr>
          <a:xfrm>
            <a:off x="4955614" y="1188709"/>
            <a:ext cx="992981"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6"/>
          <p:cNvSpPr/>
          <p:nvPr/>
        </p:nvSpPr>
        <p:spPr>
          <a:xfrm>
            <a:off x="4955614" y="1188709"/>
            <a:ext cx="992981"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Athenz ZTS</a:t>
            </a:r>
            <a:endParaRPr b="0" i="0" sz="784" u="none" cap="none" strike="noStrike">
              <a:solidFill>
                <a:schemeClr val="dk1"/>
              </a:solidFill>
              <a:latin typeface="Calibri"/>
              <a:ea typeface="Calibri"/>
              <a:cs typeface="Calibri"/>
              <a:sym typeface="Calibri"/>
            </a:endParaRPr>
          </a:p>
        </p:txBody>
      </p:sp>
      <p:sp>
        <p:nvSpPr>
          <p:cNvPr id="1018" name="Google Shape;1018;p26"/>
          <p:cNvSpPr/>
          <p:nvPr/>
        </p:nvSpPr>
        <p:spPr>
          <a:xfrm>
            <a:off x="6761894" y="1188709"/>
            <a:ext cx="1060847"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6"/>
          <p:cNvSpPr/>
          <p:nvPr/>
        </p:nvSpPr>
        <p:spPr>
          <a:xfrm>
            <a:off x="6761894" y="1188709"/>
            <a:ext cx="1060847"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Agent</a:t>
            </a:r>
            <a:endParaRPr b="0" i="0" sz="784" u="none" cap="none" strike="noStrike">
              <a:solidFill>
                <a:schemeClr val="dk1"/>
              </a:solidFill>
              <a:latin typeface="Calibri"/>
              <a:ea typeface="Calibri"/>
              <a:cs typeface="Calibri"/>
              <a:sym typeface="Calibri"/>
            </a:endParaRPr>
          </a:p>
        </p:txBody>
      </p:sp>
      <p:sp>
        <p:nvSpPr>
          <p:cNvPr id="1020" name="Google Shape;1020;p26"/>
          <p:cNvSpPr/>
          <p:nvPr/>
        </p:nvSpPr>
        <p:spPr>
          <a:xfrm>
            <a:off x="1771650" y="1867365"/>
            <a:ext cx="1840213" cy="14288"/>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6"/>
          <p:cNvSpPr/>
          <p:nvPr/>
        </p:nvSpPr>
        <p:spPr>
          <a:xfrm>
            <a:off x="1568388" y="1710203"/>
            <a:ext cx="2246709"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1. POST /revoke (Compromise Detected)</a:t>
            </a:r>
            <a:endParaRPr b="0" i="0" sz="727" u="none" cap="none" strike="noStrike">
              <a:solidFill>
                <a:schemeClr val="dk1"/>
              </a:solidFill>
              <a:latin typeface="Calibri"/>
              <a:ea typeface="Calibri"/>
              <a:cs typeface="Calibri"/>
              <a:sym typeface="Calibri"/>
            </a:endParaRPr>
          </a:p>
        </p:txBody>
      </p:sp>
      <p:sp>
        <p:nvSpPr>
          <p:cNvPr id="1022" name="Google Shape;1022;p26"/>
          <p:cNvSpPr/>
          <p:nvPr/>
        </p:nvSpPr>
        <p:spPr>
          <a:xfrm>
            <a:off x="3611863" y="2188834"/>
            <a:ext cx="1840213" cy="14288"/>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6"/>
          <p:cNvSpPr/>
          <p:nvPr/>
        </p:nvSpPr>
        <p:spPr>
          <a:xfrm>
            <a:off x="3712211" y="2031671"/>
            <a:ext cx="163949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2. Revoke Cert &amp; Update CRL</a:t>
            </a:r>
            <a:endParaRPr b="0" i="0" sz="727" u="none" cap="none" strike="noStrike">
              <a:solidFill>
                <a:schemeClr val="dk1"/>
              </a:solidFill>
              <a:latin typeface="Calibri"/>
              <a:ea typeface="Calibri"/>
              <a:cs typeface="Calibri"/>
              <a:sym typeface="Calibri"/>
            </a:endParaRPr>
          </a:p>
        </p:txBody>
      </p:sp>
      <p:sp>
        <p:nvSpPr>
          <p:cNvPr id="1024" name="Google Shape;1024;p26"/>
          <p:cNvSpPr/>
          <p:nvPr/>
        </p:nvSpPr>
        <p:spPr>
          <a:xfrm>
            <a:off x="3611863" y="2510303"/>
            <a:ext cx="3680454" cy="14288"/>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6"/>
          <p:cNvSpPr/>
          <p:nvPr/>
        </p:nvSpPr>
        <p:spPr>
          <a:xfrm>
            <a:off x="4359083" y="2353140"/>
            <a:ext cx="2185988"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3. Push Revocation Event (via Proxy)</a:t>
            </a:r>
            <a:endParaRPr b="0" i="0" sz="727" u="none" cap="none" strike="noStrike">
              <a:solidFill>
                <a:schemeClr val="dk1"/>
              </a:solidFill>
              <a:latin typeface="Calibri"/>
              <a:ea typeface="Calibri"/>
              <a:cs typeface="Calibri"/>
              <a:sym typeface="Calibri"/>
            </a:endParaRPr>
          </a:p>
        </p:txBody>
      </p:sp>
      <p:sp>
        <p:nvSpPr>
          <p:cNvPr id="1026" name="Google Shape;1026;p26"/>
          <p:cNvSpPr/>
          <p:nvPr/>
        </p:nvSpPr>
        <p:spPr>
          <a:xfrm>
            <a:off x="7578068" y="2860346"/>
            <a:ext cx="176093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4. Drop Key &amp; Gen New Keypair</a:t>
            </a:r>
            <a:endParaRPr b="0" i="0" sz="727" u="none" cap="none" strike="noStrike">
              <a:solidFill>
                <a:schemeClr val="dk1"/>
              </a:solidFill>
              <a:latin typeface="Calibri"/>
              <a:ea typeface="Calibri"/>
              <a:cs typeface="Calibri"/>
              <a:sym typeface="Calibri"/>
            </a:endParaRPr>
          </a:p>
        </p:txBody>
      </p:sp>
      <p:sp>
        <p:nvSpPr>
          <p:cNvPr id="1027" name="Google Shape;1027;p26"/>
          <p:cNvSpPr/>
          <p:nvPr/>
        </p:nvSpPr>
        <p:spPr>
          <a:xfrm>
            <a:off x="3611863" y="3153240"/>
            <a:ext cx="3680454"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6"/>
          <p:cNvSpPr/>
          <p:nvPr/>
        </p:nvSpPr>
        <p:spPr>
          <a:xfrm>
            <a:off x="4601970" y="2996078"/>
            <a:ext cx="170021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5. Submit CSR (New Identity)</a:t>
            </a:r>
            <a:endParaRPr b="0" i="0" sz="727" u="none" cap="none" strike="noStrike">
              <a:solidFill>
                <a:schemeClr val="dk1"/>
              </a:solidFill>
              <a:latin typeface="Calibri"/>
              <a:ea typeface="Calibri"/>
              <a:cs typeface="Calibri"/>
              <a:sym typeface="Calibri"/>
            </a:endParaRPr>
          </a:p>
        </p:txBody>
      </p:sp>
      <p:sp>
        <p:nvSpPr>
          <p:cNvPr id="1029" name="Google Shape;1029;p26"/>
          <p:cNvSpPr/>
          <p:nvPr/>
        </p:nvSpPr>
        <p:spPr>
          <a:xfrm>
            <a:off x="3611863" y="3474709"/>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6"/>
          <p:cNvSpPr/>
          <p:nvPr/>
        </p:nvSpPr>
        <p:spPr>
          <a:xfrm>
            <a:off x="4197986" y="3317546"/>
            <a:ext cx="66794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6. Sign CSR</a:t>
            </a:r>
            <a:endParaRPr b="0" i="0" sz="727" u="none" cap="none" strike="noStrike">
              <a:solidFill>
                <a:schemeClr val="dk1"/>
              </a:solidFill>
              <a:latin typeface="Calibri"/>
              <a:ea typeface="Calibri"/>
              <a:cs typeface="Calibri"/>
              <a:sym typeface="Calibri"/>
            </a:endParaRPr>
          </a:p>
        </p:txBody>
      </p:sp>
      <p:sp>
        <p:nvSpPr>
          <p:cNvPr id="1031" name="Google Shape;1031;p26"/>
          <p:cNvSpPr/>
          <p:nvPr/>
        </p:nvSpPr>
        <p:spPr>
          <a:xfrm>
            <a:off x="3611863" y="379617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6"/>
          <p:cNvSpPr/>
          <p:nvPr/>
        </p:nvSpPr>
        <p:spPr>
          <a:xfrm>
            <a:off x="3772932" y="3639015"/>
            <a:ext cx="1518047"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7. Return New Certificate</a:t>
            </a:r>
            <a:endParaRPr b="0" i="0" sz="727" u="none" cap="none" strike="noStrike">
              <a:solidFill>
                <a:schemeClr val="dk1"/>
              </a:solidFill>
              <a:latin typeface="Calibri"/>
              <a:ea typeface="Calibri"/>
              <a:cs typeface="Calibri"/>
              <a:sym typeface="Calibri"/>
            </a:endParaRPr>
          </a:p>
        </p:txBody>
      </p:sp>
      <p:sp>
        <p:nvSpPr>
          <p:cNvPr id="1033" name="Google Shape;1033;p26"/>
          <p:cNvSpPr/>
          <p:nvPr/>
        </p:nvSpPr>
        <p:spPr>
          <a:xfrm>
            <a:off x="3611863" y="4117646"/>
            <a:ext cx="3680454"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6"/>
          <p:cNvSpPr/>
          <p:nvPr/>
        </p:nvSpPr>
        <p:spPr>
          <a:xfrm>
            <a:off x="4784136" y="3960484"/>
            <a:ext cx="133588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8. Deliver Certificate</a:t>
            </a:r>
            <a:endParaRPr b="0" i="0" sz="727" u="none" cap="none" strike="noStrike">
              <a:solidFill>
                <a:schemeClr val="dk1"/>
              </a:solidFill>
              <a:latin typeface="Calibri"/>
              <a:ea typeface="Calibri"/>
              <a:cs typeface="Calibri"/>
              <a:sym typeface="Calibri"/>
            </a:endParaRPr>
          </a:p>
        </p:txBody>
      </p:sp>
      <p:sp>
        <p:nvSpPr>
          <p:cNvPr id="1035" name="Google Shape;1035;p26"/>
          <p:cNvSpPr/>
          <p:nvPr/>
        </p:nvSpPr>
        <p:spPr>
          <a:xfrm>
            <a:off x="7578068" y="4467690"/>
            <a:ext cx="1214438"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9. Atomic Hot-Reload</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pic>
        <p:nvPicPr>
          <p:cNvPr descr="preencoded.png" id="1041" name="Google Shape;1041;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42" name="Google Shape;1042;p27"/>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043" name="Google Shape;1043;p27"/>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Compliance Scan (Job #4)</a:t>
            </a:r>
            <a:endParaRPr b="0" i="0" sz="2121" u="none" cap="none" strike="noStrike">
              <a:solidFill>
                <a:schemeClr val="dk1"/>
              </a:solidFill>
              <a:latin typeface="Calibri"/>
              <a:ea typeface="Calibri"/>
              <a:cs typeface="Calibri"/>
              <a:sym typeface="Calibri"/>
            </a:endParaRPr>
          </a:p>
        </p:txBody>
      </p:sp>
      <p:sp>
        <p:nvSpPr>
          <p:cNvPr id="1044" name="Google Shape;1044;p27"/>
          <p:cNvSpPr/>
          <p:nvPr/>
        </p:nvSpPr>
        <p:spPr>
          <a:xfrm>
            <a:off x="571500" y="1295865"/>
            <a:ext cx="8001000" cy="14288"/>
          </a:xfrm>
          <a:prstGeom prst="rect">
            <a:avLst/>
          </a:prstGeom>
          <a:solidFill>
            <a:srgbClr val="0D1B2A">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7"/>
          <p:cNvSpPr/>
          <p:nvPr/>
        </p:nvSpPr>
        <p:spPr>
          <a:xfrm>
            <a:off x="1003697" y="1188709"/>
            <a:ext cx="1535906" cy="321469"/>
          </a:xfrm>
          <a:prstGeom prst="rect">
            <a:avLst/>
          </a:prstGeom>
          <a:solidFill>
            <a:srgbClr val="1A202C"/>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7"/>
          <p:cNvSpPr/>
          <p:nvPr/>
        </p:nvSpPr>
        <p:spPr>
          <a:xfrm>
            <a:off x="1003697" y="1188709"/>
            <a:ext cx="1535906"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Cert-Ops-Scheduler</a:t>
            </a:r>
            <a:endParaRPr b="0" i="0" sz="784" u="none" cap="none" strike="noStrike">
              <a:solidFill>
                <a:schemeClr val="dk1"/>
              </a:solidFill>
              <a:latin typeface="Calibri"/>
              <a:ea typeface="Calibri"/>
              <a:cs typeface="Calibri"/>
              <a:sym typeface="Calibri"/>
            </a:endParaRPr>
          </a:p>
        </p:txBody>
      </p:sp>
      <p:sp>
        <p:nvSpPr>
          <p:cNvPr id="1047" name="Google Shape;1047;p27"/>
          <p:cNvSpPr/>
          <p:nvPr/>
        </p:nvSpPr>
        <p:spPr>
          <a:xfrm>
            <a:off x="3183238" y="1188709"/>
            <a:ext cx="857250" cy="321469"/>
          </a:xfrm>
          <a:prstGeom prst="rect">
            <a:avLst/>
          </a:prstGeom>
          <a:solidFill>
            <a:srgbClr val="1A202C"/>
          </a:solidFill>
          <a:ln cap="flat" cmpd="sng" w="18275">
            <a:solidFill>
              <a:srgbClr val="A0AE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7"/>
          <p:cNvSpPr/>
          <p:nvPr/>
        </p:nvSpPr>
        <p:spPr>
          <a:xfrm>
            <a:off x="3183238" y="1188709"/>
            <a:ext cx="857250"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A0AEC0"/>
              </a:buClr>
              <a:buSzPts val="784"/>
              <a:buFont typeface="Roboto Mono"/>
              <a:buNone/>
            </a:pPr>
            <a:r>
              <a:rPr b="1" i="0" lang="en-US" sz="784" u="none" cap="none" strike="noStrike">
                <a:solidFill>
                  <a:srgbClr val="A0AEC0"/>
                </a:solidFill>
                <a:latin typeface="Roboto Mono"/>
                <a:ea typeface="Roboto Mono"/>
                <a:cs typeface="Roboto Mono"/>
                <a:sym typeface="Roboto Mono"/>
              </a:rPr>
              <a:t>Database</a:t>
            </a:r>
            <a:endParaRPr b="0" i="0" sz="784" u="none" cap="none" strike="noStrike">
              <a:solidFill>
                <a:schemeClr val="dk1"/>
              </a:solidFill>
              <a:latin typeface="Calibri"/>
              <a:ea typeface="Calibri"/>
              <a:cs typeface="Calibri"/>
              <a:sym typeface="Calibri"/>
            </a:endParaRPr>
          </a:p>
        </p:txBody>
      </p:sp>
      <p:sp>
        <p:nvSpPr>
          <p:cNvPr id="1049" name="Google Shape;1049;p27"/>
          <p:cNvSpPr/>
          <p:nvPr/>
        </p:nvSpPr>
        <p:spPr>
          <a:xfrm>
            <a:off x="4887748" y="1188709"/>
            <a:ext cx="1128713"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7"/>
          <p:cNvSpPr/>
          <p:nvPr/>
        </p:nvSpPr>
        <p:spPr>
          <a:xfrm>
            <a:off x="4887748" y="1188709"/>
            <a:ext cx="1128713"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1051" name="Google Shape;1051;p27"/>
          <p:cNvSpPr/>
          <p:nvPr/>
        </p:nvSpPr>
        <p:spPr>
          <a:xfrm>
            <a:off x="6795827" y="1188709"/>
            <a:ext cx="992981" cy="321469"/>
          </a:xfrm>
          <a:prstGeom prst="rect">
            <a:avLst/>
          </a:prstGeom>
          <a:solidFill>
            <a:srgbClr val="1A202C"/>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7"/>
          <p:cNvSpPr/>
          <p:nvPr/>
        </p:nvSpPr>
        <p:spPr>
          <a:xfrm>
            <a:off x="6795827" y="1188709"/>
            <a:ext cx="992981"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Athenz ZTS</a:t>
            </a:r>
            <a:endParaRPr b="0" i="0" sz="784" u="none" cap="none" strike="noStrike">
              <a:solidFill>
                <a:schemeClr val="dk1"/>
              </a:solidFill>
              <a:latin typeface="Calibri"/>
              <a:ea typeface="Calibri"/>
              <a:cs typeface="Calibri"/>
              <a:sym typeface="Calibri"/>
            </a:endParaRPr>
          </a:p>
        </p:txBody>
      </p:sp>
      <p:sp>
        <p:nvSpPr>
          <p:cNvPr id="1053" name="Google Shape;1053;p27"/>
          <p:cNvSpPr/>
          <p:nvPr/>
        </p:nvSpPr>
        <p:spPr>
          <a:xfrm>
            <a:off x="1771650" y="1867365"/>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7"/>
          <p:cNvSpPr/>
          <p:nvPr/>
        </p:nvSpPr>
        <p:spPr>
          <a:xfrm>
            <a:off x="1841636" y="1710203"/>
            <a:ext cx="170021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1. Fetch Active Certificates</a:t>
            </a:r>
            <a:endParaRPr b="0" i="0" sz="727" u="none" cap="none" strike="noStrike">
              <a:solidFill>
                <a:schemeClr val="dk1"/>
              </a:solidFill>
              <a:latin typeface="Calibri"/>
              <a:ea typeface="Calibri"/>
              <a:cs typeface="Calibri"/>
              <a:sym typeface="Calibri"/>
            </a:endParaRPr>
          </a:p>
        </p:txBody>
      </p:sp>
      <p:sp>
        <p:nvSpPr>
          <p:cNvPr id="1055" name="Google Shape;1055;p27"/>
          <p:cNvSpPr/>
          <p:nvPr/>
        </p:nvSpPr>
        <p:spPr>
          <a:xfrm>
            <a:off x="1771650" y="2188834"/>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7"/>
          <p:cNvSpPr/>
          <p:nvPr/>
        </p:nvSpPr>
        <p:spPr>
          <a:xfrm>
            <a:off x="1993441" y="2031671"/>
            <a:ext cx="139660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2. Return Cert Metadata</a:t>
            </a:r>
            <a:endParaRPr b="0" i="0" sz="727" u="none" cap="none" strike="noStrike">
              <a:solidFill>
                <a:schemeClr val="dk1"/>
              </a:solidFill>
              <a:latin typeface="Calibri"/>
              <a:ea typeface="Calibri"/>
              <a:cs typeface="Calibri"/>
              <a:sym typeface="Calibri"/>
            </a:endParaRPr>
          </a:p>
        </p:txBody>
      </p:sp>
      <p:sp>
        <p:nvSpPr>
          <p:cNvPr id="1057" name="Google Shape;1057;p27"/>
          <p:cNvSpPr/>
          <p:nvPr/>
        </p:nvSpPr>
        <p:spPr>
          <a:xfrm>
            <a:off x="2057400" y="2538878"/>
            <a:ext cx="1882378"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3. Evaluate against NIST Policy</a:t>
            </a:r>
            <a:endParaRPr b="0" i="0" sz="727" u="none" cap="none" strike="noStrike">
              <a:solidFill>
                <a:schemeClr val="dk1"/>
              </a:solidFill>
              <a:latin typeface="Calibri"/>
              <a:ea typeface="Calibri"/>
              <a:cs typeface="Calibri"/>
              <a:sym typeface="Calibri"/>
            </a:endParaRPr>
          </a:p>
        </p:txBody>
      </p:sp>
      <p:sp>
        <p:nvSpPr>
          <p:cNvPr id="1058" name="Google Shape;1058;p27"/>
          <p:cNvSpPr/>
          <p:nvPr/>
        </p:nvSpPr>
        <p:spPr>
          <a:xfrm>
            <a:off x="1771650" y="2831771"/>
            <a:ext cx="3680454"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7"/>
          <p:cNvSpPr/>
          <p:nvPr/>
        </p:nvSpPr>
        <p:spPr>
          <a:xfrm>
            <a:off x="2518870" y="2674609"/>
            <a:ext cx="2185988"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4. Flag Non-Compliant (Force Rotate)</a:t>
            </a:r>
            <a:endParaRPr b="0" i="0" sz="727" u="none" cap="none" strike="noStrike">
              <a:solidFill>
                <a:schemeClr val="dk1"/>
              </a:solidFill>
              <a:latin typeface="Calibri"/>
              <a:ea typeface="Calibri"/>
              <a:cs typeface="Calibri"/>
              <a:sym typeface="Calibri"/>
            </a:endParaRPr>
          </a:p>
        </p:txBody>
      </p:sp>
      <p:sp>
        <p:nvSpPr>
          <p:cNvPr id="1060" name="Google Shape;1060;p27"/>
          <p:cNvSpPr/>
          <p:nvPr/>
        </p:nvSpPr>
        <p:spPr>
          <a:xfrm>
            <a:off x="5452104" y="3153240"/>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7"/>
          <p:cNvSpPr/>
          <p:nvPr/>
        </p:nvSpPr>
        <p:spPr>
          <a:xfrm>
            <a:off x="5552452" y="2996078"/>
            <a:ext cx="163949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5. Request New Certificates</a:t>
            </a:r>
            <a:endParaRPr b="0" i="0" sz="727" u="none" cap="none" strike="noStrike">
              <a:solidFill>
                <a:schemeClr val="dk1"/>
              </a:solidFill>
              <a:latin typeface="Calibri"/>
              <a:ea typeface="Calibri"/>
              <a:cs typeface="Calibri"/>
              <a:sym typeface="Calibri"/>
            </a:endParaRPr>
          </a:p>
        </p:txBody>
      </p:sp>
      <p:sp>
        <p:nvSpPr>
          <p:cNvPr id="1062" name="Google Shape;1062;p27"/>
          <p:cNvSpPr/>
          <p:nvPr/>
        </p:nvSpPr>
        <p:spPr>
          <a:xfrm>
            <a:off x="5452104" y="3474709"/>
            <a:ext cx="1840213"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7"/>
          <p:cNvSpPr/>
          <p:nvPr/>
        </p:nvSpPr>
        <p:spPr>
          <a:xfrm>
            <a:off x="5400647" y="3317546"/>
            <a:ext cx="1943100"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6. Return Compliant Certificates</a:t>
            </a:r>
            <a:endParaRPr b="0" i="0" sz="727" u="none" cap="none" strike="noStrike">
              <a:solidFill>
                <a:schemeClr val="dk1"/>
              </a:solidFill>
              <a:latin typeface="Calibri"/>
              <a:ea typeface="Calibri"/>
              <a:cs typeface="Calibri"/>
              <a:sym typeface="Calibri"/>
            </a:endParaRPr>
          </a:p>
        </p:txBody>
      </p:sp>
      <p:sp>
        <p:nvSpPr>
          <p:cNvPr id="1064" name="Google Shape;1064;p27"/>
          <p:cNvSpPr/>
          <p:nvPr/>
        </p:nvSpPr>
        <p:spPr>
          <a:xfrm>
            <a:off x="3611863" y="379617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7"/>
          <p:cNvSpPr/>
          <p:nvPr/>
        </p:nvSpPr>
        <p:spPr>
          <a:xfrm>
            <a:off x="4015820" y="3639015"/>
            <a:ext cx="1032272"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7. Update Records</a:t>
            </a:r>
            <a:endParaRPr b="0" i="0" sz="727" u="none" cap="none" strike="noStrike">
              <a:solidFill>
                <a:schemeClr val="dk1"/>
              </a:solidFill>
              <a:latin typeface="Calibri"/>
              <a:ea typeface="Calibri"/>
              <a:cs typeface="Calibri"/>
              <a:sym typeface="Calibri"/>
            </a:endParaRPr>
          </a:p>
        </p:txBody>
      </p:sp>
      <p:sp>
        <p:nvSpPr>
          <p:cNvPr id="1066" name="Google Shape;1066;p27"/>
          <p:cNvSpPr/>
          <p:nvPr/>
        </p:nvSpPr>
        <p:spPr>
          <a:xfrm>
            <a:off x="5737854" y="4146221"/>
            <a:ext cx="1032272"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8. Push to Agents</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pic>
        <p:nvPicPr>
          <p:cNvPr descr="preencoded.png" id="1072" name="Google Shape;1072;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73" name="Google Shape;1073;p28"/>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074" name="Google Shape;1074;p28"/>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Federated Trust Validation</a:t>
            </a:r>
            <a:endParaRPr b="0" i="0" sz="2121" u="none" cap="none" strike="noStrike">
              <a:solidFill>
                <a:schemeClr val="dk1"/>
              </a:solidFill>
              <a:latin typeface="Calibri"/>
              <a:ea typeface="Calibri"/>
              <a:cs typeface="Calibri"/>
              <a:sym typeface="Calibri"/>
            </a:endParaRPr>
          </a:p>
        </p:txBody>
      </p:sp>
      <p:sp>
        <p:nvSpPr>
          <p:cNvPr id="1075" name="Google Shape;1075;p28"/>
          <p:cNvSpPr/>
          <p:nvPr/>
        </p:nvSpPr>
        <p:spPr>
          <a:xfrm>
            <a:off x="571500" y="1295865"/>
            <a:ext cx="8001000" cy="14288"/>
          </a:xfrm>
          <a:prstGeom prst="rect">
            <a:avLst/>
          </a:prstGeom>
          <a:solidFill>
            <a:srgbClr val="0D1B2A">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8"/>
          <p:cNvSpPr/>
          <p:nvPr/>
        </p:nvSpPr>
        <p:spPr>
          <a:xfrm>
            <a:off x="1275159" y="1188709"/>
            <a:ext cx="992981" cy="471488"/>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8"/>
          <p:cNvSpPr/>
          <p:nvPr/>
        </p:nvSpPr>
        <p:spPr>
          <a:xfrm>
            <a:off x="1275159" y="1188709"/>
            <a:ext cx="992981" cy="471488"/>
          </a:xfrm>
          <a:prstGeom prst="rect">
            <a:avLst/>
          </a:prstGeom>
          <a:noFill/>
          <a:ln>
            <a:noFill/>
          </a:ln>
        </p:spPr>
        <p:txBody>
          <a:bodyPr anchorCtr="0" anchor="t" bIns="85075" lIns="170050" spcFirstLastPara="1" rIns="170050" wrap="square" tIns="85075">
            <a:noAutofit/>
          </a:bodyPr>
          <a:lstStyle/>
          <a:p>
            <a:pPr indent="0" lvl="0" marL="0" marR="0" rtl="0" algn="ctr">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Workload A</a:t>
            </a:r>
            <a:br>
              <a:rPr b="1" i="0" lang="en-US" sz="784" u="none" cap="none" strike="noStrike">
                <a:solidFill>
                  <a:srgbClr val="00E5FF"/>
                </a:solidFill>
                <a:latin typeface="Roboto Mono"/>
                <a:ea typeface="Roboto Mono"/>
                <a:cs typeface="Roboto Mono"/>
                <a:sym typeface="Roboto Mono"/>
              </a:rPr>
            </a:br>
            <a:r>
              <a:rPr b="0" i="0" lang="en-US" sz="621" u="none" cap="none" strike="noStrike">
                <a:solidFill>
                  <a:srgbClr val="00E5FF"/>
                </a:solidFill>
                <a:latin typeface="Roboto Mono"/>
                <a:ea typeface="Roboto Mono"/>
                <a:cs typeface="Roboto Mono"/>
                <a:sym typeface="Roboto Mono"/>
              </a:rPr>
              <a:t>(US-East)</a:t>
            </a:r>
            <a:endParaRPr b="0" i="0" sz="784" u="none" cap="none" strike="noStrike">
              <a:solidFill>
                <a:schemeClr val="dk1"/>
              </a:solidFill>
              <a:latin typeface="Calibri"/>
              <a:ea typeface="Calibri"/>
              <a:cs typeface="Calibri"/>
              <a:sym typeface="Calibri"/>
            </a:endParaRPr>
          </a:p>
        </p:txBody>
      </p:sp>
      <p:sp>
        <p:nvSpPr>
          <p:cNvPr id="1078" name="Google Shape;1078;p28"/>
          <p:cNvSpPr/>
          <p:nvPr/>
        </p:nvSpPr>
        <p:spPr>
          <a:xfrm>
            <a:off x="3047507" y="1188709"/>
            <a:ext cx="1128713" cy="471488"/>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8"/>
          <p:cNvSpPr/>
          <p:nvPr/>
        </p:nvSpPr>
        <p:spPr>
          <a:xfrm>
            <a:off x="3047507" y="1188709"/>
            <a:ext cx="1128713" cy="471488"/>
          </a:xfrm>
          <a:prstGeom prst="rect">
            <a:avLst/>
          </a:prstGeom>
          <a:noFill/>
          <a:ln>
            <a:noFill/>
          </a:ln>
        </p:spPr>
        <p:txBody>
          <a:bodyPr anchorCtr="0" anchor="t" bIns="85075" lIns="170050" spcFirstLastPara="1" rIns="170050" wrap="square" tIns="85075">
            <a:noAutofit/>
          </a:bodyPr>
          <a:lstStyle/>
          <a:p>
            <a:pPr indent="0" lvl="0" marL="0" marR="0" rtl="0" algn="ctr">
              <a:lnSpc>
                <a:spcPct val="140306"/>
              </a:lnSpc>
              <a:spcBef>
                <a:spcPts val="0"/>
              </a:spcBef>
              <a:spcAft>
                <a:spcPts val="0"/>
              </a:spcAft>
              <a:buClr>
                <a:srgbClr val="00E5FF"/>
              </a:buClr>
              <a:buSzPts val="784"/>
              <a:buFont typeface="Roboto Mono"/>
              <a:buNone/>
            </a:pPr>
            <a:r>
              <a:rPr b="1" i="0" lang="en-US" sz="784" u="none" cap="none" strike="noStrike">
                <a:solidFill>
                  <a:srgbClr val="00E5FF"/>
                </a:solidFill>
                <a:latin typeface="Roboto Mono"/>
                <a:ea typeface="Roboto Mono"/>
                <a:cs typeface="Roboto Mono"/>
                <a:sym typeface="Roboto Mono"/>
              </a:rPr>
              <a:t>OpAMP Server</a:t>
            </a:r>
            <a:br>
              <a:rPr b="1" i="0" lang="en-US" sz="784" u="none" cap="none" strike="noStrike">
                <a:solidFill>
                  <a:srgbClr val="00E5FF"/>
                </a:solidFill>
                <a:latin typeface="Roboto Mono"/>
                <a:ea typeface="Roboto Mono"/>
                <a:cs typeface="Roboto Mono"/>
                <a:sym typeface="Roboto Mono"/>
              </a:rPr>
            </a:br>
            <a:r>
              <a:rPr b="0" i="0" lang="en-US" sz="621" u="none" cap="none" strike="noStrike">
                <a:solidFill>
                  <a:srgbClr val="00E5FF"/>
                </a:solidFill>
                <a:latin typeface="Roboto Mono"/>
                <a:ea typeface="Roboto Mono"/>
                <a:cs typeface="Roboto Mono"/>
                <a:sym typeface="Roboto Mono"/>
              </a:rPr>
              <a:t>(US-East)</a:t>
            </a:r>
            <a:endParaRPr b="0" i="0" sz="784" u="none" cap="none" strike="noStrike">
              <a:solidFill>
                <a:schemeClr val="dk1"/>
              </a:solidFill>
              <a:latin typeface="Calibri"/>
              <a:ea typeface="Calibri"/>
              <a:cs typeface="Calibri"/>
              <a:sym typeface="Calibri"/>
            </a:endParaRPr>
          </a:p>
        </p:txBody>
      </p:sp>
      <p:sp>
        <p:nvSpPr>
          <p:cNvPr id="1080" name="Google Shape;1080;p28"/>
          <p:cNvSpPr/>
          <p:nvPr/>
        </p:nvSpPr>
        <p:spPr>
          <a:xfrm>
            <a:off x="4887748" y="1188709"/>
            <a:ext cx="1128713" cy="471488"/>
          </a:xfrm>
          <a:prstGeom prst="rect">
            <a:avLst/>
          </a:prstGeom>
          <a:solidFill>
            <a:srgbClr val="1A202C"/>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8"/>
          <p:cNvSpPr/>
          <p:nvPr/>
        </p:nvSpPr>
        <p:spPr>
          <a:xfrm>
            <a:off x="4887748" y="1188709"/>
            <a:ext cx="1128713" cy="471488"/>
          </a:xfrm>
          <a:prstGeom prst="rect">
            <a:avLst/>
          </a:prstGeom>
          <a:noFill/>
          <a:ln>
            <a:noFill/>
          </a:ln>
        </p:spPr>
        <p:txBody>
          <a:bodyPr anchorCtr="0" anchor="t" bIns="85075" lIns="170050" spcFirstLastPara="1" rIns="170050" wrap="square" tIns="85075">
            <a:noAutofit/>
          </a:bodyPr>
          <a:lstStyle/>
          <a:p>
            <a:pPr indent="0" lvl="0" marL="0" marR="0" rtl="0" algn="ctr">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OpAMP Server</a:t>
            </a:r>
            <a:br>
              <a:rPr b="1" i="0" lang="en-US" sz="784" u="none" cap="none" strike="noStrike">
                <a:solidFill>
                  <a:srgbClr val="D69E2E"/>
                </a:solidFill>
                <a:latin typeface="Roboto Mono"/>
                <a:ea typeface="Roboto Mono"/>
                <a:cs typeface="Roboto Mono"/>
                <a:sym typeface="Roboto Mono"/>
              </a:rPr>
            </a:br>
            <a:r>
              <a:rPr b="0" i="0" lang="en-US" sz="621" u="none" cap="none" strike="noStrike">
                <a:solidFill>
                  <a:srgbClr val="D69E2E"/>
                </a:solidFill>
                <a:latin typeface="Roboto Mono"/>
                <a:ea typeface="Roboto Mono"/>
                <a:cs typeface="Roboto Mono"/>
                <a:sym typeface="Roboto Mono"/>
              </a:rPr>
              <a:t>(EU-West)</a:t>
            </a:r>
            <a:endParaRPr b="0" i="0" sz="784" u="none" cap="none" strike="noStrike">
              <a:solidFill>
                <a:schemeClr val="dk1"/>
              </a:solidFill>
              <a:latin typeface="Calibri"/>
              <a:ea typeface="Calibri"/>
              <a:cs typeface="Calibri"/>
              <a:sym typeface="Calibri"/>
            </a:endParaRPr>
          </a:p>
        </p:txBody>
      </p:sp>
      <p:sp>
        <p:nvSpPr>
          <p:cNvPr id="1082" name="Google Shape;1082;p28"/>
          <p:cNvSpPr/>
          <p:nvPr/>
        </p:nvSpPr>
        <p:spPr>
          <a:xfrm>
            <a:off x="6795827" y="1188709"/>
            <a:ext cx="992981" cy="471488"/>
          </a:xfrm>
          <a:prstGeom prst="rect">
            <a:avLst/>
          </a:prstGeom>
          <a:solidFill>
            <a:srgbClr val="1A202C"/>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8"/>
          <p:cNvSpPr/>
          <p:nvPr/>
        </p:nvSpPr>
        <p:spPr>
          <a:xfrm>
            <a:off x="6795827" y="1188709"/>
            <a:ext cx="992981" cy="471488"/>
          </a:xfrm>
          <a:prstGeom prst="rect">
            <a:avLst/>
          </a:prstGeom>
          <a:noFill/>
          <a:ln>
            <a:noFill/>
          </a:ln>
        </p:spPr>
        <p:txBody>
          <a:bodyPr anchorCtr="0" anchor="t" bIns="85075" lIns="170050" spcFirstLastPara="1" rIns="170050" wrap="square" tIns="85075">
            <a:noAutofit/>
          </a:bodyPr>
          <a:lstStyle/>
          <a:p>
            <a:pPr indent="0" lvl="0" marL="0" marR="0" rtl="0" algn="ctr">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Workload B</a:t>
            </a:r>
            <a:br>
              <a:rPr b="1" i="0" lang="en-US" sz="784" u="none" cap="none" strike="noStrike">
                <a:solidFill>
                  <a:srgbClr val="D69E2E"/>
                </a:solidFill>
                <a:latin typeface="Roboto Mono"/>
                <a:ea typeface="Roboto Mono"/>
                <a:cs typeface="Roboto Mono"/>
                <a:sym typeface="Roboto Mono"/>
              </a:rPr>
            </a:br>
            <a:r>
              <a:rPr b="0" i="0" lang="en-US" sz="621" u="none" cap="none" strike="noStrike">
                <a:solidFill>
                  <a:srgbClr val="D69E2E"/>
                </a:solidFill>
                <a:latin typeface="Roboto Mono"/>
                <a:ea typeface="Roboto Mono"/>
                <a:cs typeface="Roboto Mono"/>
                <a:sym typeface="Roboto Mono"/>
              </a:rPr>
              <a:t>(EU-West)</a:t>
            </a:r>
            <a:endParaRPr b="0" i="0" sz="784" u="none" cap="none" strike="noStrike">
              <a:solidFill>
                <a:schemeClr val="dk1"/>
              </a:solidFill>
              <a:latin typeface="Calibri"/>
              <a:ea typeface="Calibri"/>
              <a:cs typeface="Calibri"/>
              <a:sym typeface="Calibri"/>
            </a:endParaRPr>
          </a:p>
        </p:txBody>
      </p:sp>
      <p:sp>
        <p:nvSpPr>
          <p:cNvPr id="1084" name="Google Shape;1084;p28"/>
          <p:cNvSpPr/>
          <p:nvPr/>
        </p:nvSpPr>
        <p:spPr>
          <a:xfrm>
            <a:off x="3611863" y="1867365"/>
            <a:ext cx="1840213"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8"/>
          <p:cNvSpPr/>
          <p:nvPr/>
        </p:nvSpPr>
        <p:spPr>
          <a:xfrm>
            <a:off x="3433604" y="1710203"/>
            <a:ext cx="2196703" cy="13215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8"/>
          <p:cNvSpPr/>
          <p:nvPr/>
        </p:nvSpPr>
        <p:spPr>
          <a:xfrm>
            <a:off x="3433604" y="1710203"/>
            <a:ext cx="2196703" cy="132159"/>
          </a:xfrm>
          <a:prstGeom prst="rect">
            <a:avLst/>
          </a:prstGeom>
          <a:noFill/>
          <a:ln>
            <a:noFill/>
          </a:ln>
        </p:spPr>
        <p:txBody>
          <a:bodyPr anchorCtr="0" anchor="t" bIns="0" lIns="42525" spcFirstLastPara="1" rIns="42525"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1. Publish Public CA Bundle (Job 7)</a:t>
            </a:r>
            <a:endParaRPr b="0" i="0" sz="727" u="none" cap="none" strike="noStrike">
              <a:solidFill>
                <a:schemeClr val="dk1"/>
              </a:solidFill>
              <a:latin typeface="Calibri"/>
              <a:ea typeface="Calibri"/>
              <a:cs typeface="Calibri"/>
              <a:sym typeface="Calibri"/>
            </a:endParaRPr>
          </a:p>
        </p:txBody>
      </p:sp>
      <p:sp>
        <p:nvSpPr>
          <p:cNvPr id="1087" name="Google Shape;1087;p28"/>
          <p:cNvSpPr/>
          <p:nvPr/>
        </p:nvSpPr>
        <p:spPr>
          <a:xfrm>
            <a:off x="1771650" y="2295990"/>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8"/>
          <p:cNvSpPr/>
          <p:nvPr/>
        </p:nvSpPr>
        <p:spPr>
          <a:xfrm>
            <a:off x="1593391" y="2138828"/>
            <a:ext cx="2196703" cy="13215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8"/>
          <p:cNvSpPr/>
          <p:nvPr/>
        </p:nvSpPr>
        <p:spPr>
          <a:xfrm>
            <a:off x="1593391" y="2138828"/>
            <a:ext cx="2196703" cy="132159"/>
          </a:xfrm>
          <a:prstGeom prst="rect">
            <a:avLst/>
          </a:prstGeom>
          <a:noFill/>
          <a:ln>
            <a:noFill/>
          </a:ln>
        </p:spPr>
        <p:txBody>
          <a:bodyPr anchorCtr="0" anchor="t" bIns="0" lIns="42525" spcFirstLastPara="1" rIns="42525"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2. Distribute Federated Trust Store</a:t>
            </a:r>
            <a:endParaRPr b="0" i="0" sz="727" u="none" cap="none" strike="noStrike">
              <a:solidFill>
                <a:schemeClr val="dk1"/>
              </a:solidFill>
              <a:latin typeface="Calibri"/>
              <a:ea typeface="Calibri"/>
              <a:cs typeface="Calibri"/>
              <a:sym typeface="Calibri"/>
            </a:endParaRPr>
          </a:p>
        </p:txBody>
      </p:sp>
      <p:sp>
        <p:nvSpPr>
          <p:cNvPr id="1090" name="Google Shape;1090;p28"/>
          <p:cNvSpPr/>
          <p:nvPr/>
        </p:nvSpPr>
        <p:spPr>
          <a:xfrm>
            <a:off x="1771650" y="2724615"/>
            <a:ext cx="5520668"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8"/>
          <p:cNvSpPr/>
          <p:nvPr/>
        </p:nvSpPr>
        <p:spPr>
          <a:xfrm>
            <a:off x="3706881" y="2567453"/>
            <a:ext cx="1650206" cy="13215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8"/>
          <p:cNvSpPr/>
          <p:nvPr/>
        </p:nvSpPr>
        <p:spPr>
          <a:xfrm>
            <a:off x="3706881" y="2567453"/>
            <a:ext cx="1650206" cy="132159"/>
          </a:xfrm>
          <a:prstGeom prst="rect">
            <a:avLst/>
          </a:prstGeom>
          <a:noFill/>
          <a:ln>
            <a:noFill/>
          </a:ln>
        </p:spPr>
        <p:txBody>
          <a:bodyPr anchorCtr="0" anchor="t" bIns="0" lIns="42525" spcFirstLastPara="1" rIns="42525"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3. Initiate mTLS Handshake</a:t>
            </a:r>
            <a:endParaRPr b="0" i="0" sz="727" u="none" cap="none" strike="noStrike">
              <a:solidFill>
                <a:schemeClr val="dk1"/>
              </a:solidFill>
              <a:latin typeface="Calibri"/>
              <a:ea typeface="Calibri"/>
              <a:cs typeface="Calibri"/>
              <a:sym typeface="Calibri"/>
            </a:endParaRPr>
          </a:p>
        </p:txBody>
      </p:sp>
      <p:sp>
        <p:nvSpPr>
          <p:cNvPr id="1093" name="Google Shape;1093;p28"/>
          <p:cNvSpPr/>
          <p:nvPr/>
        </p:nvSpPr>
        <p:spPr>
          <a:xfrm>
            <a:off x="1771650" y="3153240"/>
            <a:ext cx="5520668"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8"/>
          <p:cNvSpPr/>
          <p:nvPr/>
        </p:nvSpPr>
        <p:spPr>
          <a:xfrm>
            <a:off x="3524715" y="2996078"/>
            <a:ext cx="2014538" cy="13215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8"/>
          <p:cNvSpPr/>
          <p:nvPr/>
        </p:nvSpPr>
        <p:spPr>
          <a:xfrm>
            <a:off x="3524715" y="2996078"/>
            <a:ext cx="2014538" cy="132159"/>
          </a:xfrm>
          <a:prstGeom prst="rect">
            <a:avLst/>
          </a:prstGeom>
          <a:noFill/>
          <a:ln>
            <a:noFill/>
          </a:ln>
        </p:spPr>
        <p:txBody>
          <a:bodyPr anchorCtr="0" anchor="t" bIns="0" lIns="42525" spcFirstLastPara="1" rIns="42525"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4. Present EU-issued Certificate</a:t>
            </a:r>
            <a:endParaRPr b="0" i="0" sz="727" u="none" cap="none" strike="noStrike">
              <a:solidFill>
                <a:schemeClr val="dk1"/>
              </a:solidFill>
              <a:latin typeface="Calibri"/>
              <a:ea typeface="Calibri"/>
              <a:cs typeface="Calibri"/>
              <a:sym typeface="Calibri"/>
            </a:endParaRPr>
          </a:p>
        </p:txBody>
      </p:sp>
      <p:sp>
        <p:nvSpPr>
          <p:cNvPr id="1096" name="Google Shape;1096;p28"/>
          <p:cNvSpPr/>
          <p:nvPr/>
        </p:nvSpPr>
        <p:spPr>
          <a:xfrm>
            <a:off x="2057400" y="3610440"/>
            <a:ext cx="2378869" cy="13215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8"/>
          <p:cNvSpPr/>
          <p:nvPr/>
        </p:nvSpPr>
        <p:spPr>
          <a:xfrm>
            <a:off x="2057400" y="3610440"/>
            <a:ext cx="2378869" cy="132159"/>
          </a:xfrm>
          <a:prstGeom prst="rect">
            <a:avLst/>
          </a:prstGeom>
          <a:noFill/>
          <a:ln>
            <a:noFill/>
          </a:ln>
        </p:spPr>
        <p:txBody>
          <a:bodyPr anchorCtr="0" anchor="t" bIns="0" lIns="42525" spcFirstLastPara="1" rIns="42525"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5. Verify Signature using EU Public CA</a:t>
            </a:r>
            <a:endParaRPr b="0" i="0" sz="727" u="none" cap="none" strike="noStrike">
              <a:solidFill>
                <a:schemeClr val="dk1"/>
              </a:solidFill>
              <a:latin typeface="Calibri"/>
              <a:ea typeface="Calibri"/>
              <a:cs typeface="Calibri"/>
              <a:sym typeface="Calibri"/>
            </a:endParaRPr>
          </a:p>
        </p:txBody>
      </p:sp>
      <p:sp>
        <p:nvSpPr>
          <p:cNvPr id="1098" name="Google Shape;1098;p28"/>
          <p:cNvSpPr/>
          <p:nvPr/>
        </p:nvSpPr>
        <p:spPr>
          <a:xfrm>
            <a:off x="1771650" y="4010490"/>
            <a:ext cx="5520668"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8"/>
          <p:cNvSpPr/>
          <p:nvPr/>
        </p:nvSpPr>
        <p:spPr>
          <a:xfrm>
            <a:off x="3038940" y="3853328"/>
            <a:ext cx="2986088" cy="132159"/>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8"/>
          <p:cNvSpPr/>
          <p:nvPr/>
        </p:nvSpPr>
        <p:spPr>
          <a:xfrm>
            <a:off x="3038940" y="3853328"/>
            <a:ext cx="2986088" cy="132159"/>
          </a:xfrm>
          <a:prstGeom prst="rect">
            <a:avLst/>
          </a:prstGeom>
          <a:noFill/>
          <a:ln>
            <a:noFill/>
          </a:ln>
        </p:spPr>
        <p:txBody>
          <a:bodyPr anchorCtr="0" anchor="t" bIns="0" lIns="42525" spcFirstLastPara="1" rIns="42525"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6. Secure Cross-Region Communication Established</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pic>
        <p:nvPicPr>
          <p:cNvPr descr="preencoded.png" id="1106" name="Google Shape;1106;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07" name="Google Shape;1107;p29"/>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108" name="Google Shape;1108;p29"/>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Drift Detection &amp; Remediation</a:t>
            </a:r>
            <a:endParaRPr b="0" i="0" sz="2121" u="none" cap="none" strike="noStrike">
              <a:solidFill>
                <a:schemeClr val="dk1"/>
              </a:solidFill>
              <a:latin typeface="Calibri"/>
              <a:ea typeface="Calibri"/>
              <a:cs typeface="Calibri"/>
              <a:sym typeface="Calibri"/>
            </a:endParaRPr>
          </a:p>
        </p:txBody>
      </p:sp>
      <p:sp>
        <p:nvSpPr>
          <p:cNvPr id="1109" name="Google Shape;1109;p29"/>
          <p:cNvSpPr/>
          <p:nvPr/>
        </p:nvSpPr>
        <p:spPr>
          <a:xfrm>
            <a:off x="571500" y="1295865"/>
            <a:ext cx="8001000" cy="14288"/>
          </a:xfrm>
          <a:prstGeom prst="rect">
            <a:avLst/>
          </a:prstGeom>
          <a:solidFill>
            <a:srgbClr val="0D1B2A">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9"/>
          <p:cNvSpPr/>
          <p:nvPr/>
        </p:nvSpPr>
        <p:spPr>
          <a:xfrm>
            <a:off x="1003697" y="1188709"/>
            <a:ext cx="1535906" cy="321469"/>
          </a:xfrm>
          <a:prstGeom prst="rect">
            <a:avLst/>
          </a:prstGeom>
          <a:solidFill>
            <a:srgbClr val="1A202C"/>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9"/>
          <p:cNvSpPr/>
          <p:nvPr/>
        </p:nvSpPr>
        <p:spPr>
          <a:xfrm>
            <a:off x="1003697" y="1188709"/>
            <a:ext cx="1535906"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Cert-Ops-Scheduler</a:t>
            </a:r>
            <a:endParaRPr b="0" i="0" sz="784" u="none" cap="none" strike="noStrike">
              <a:solidFill>
                <a:schemeClr val="dk1"/>
              </a:solidFill>
              <a:latin typeface="Calibri"/>
              <a:ea typeface="Calibri"/>
              <a:cs typeface="Calibri"/>
              <a:sym typeface="Calibri"/>
            </a:endParaRPr>
          </a:p>
        </p:txBody>
      </p:sp>
      <p:sp>
        <p:nvSpPr>
          <p:cNvPr id="1112" name="Google Shape;1112;p29"/>
          <p:cNvSpPr/>
          <p:nvPr/>
        </p:nvSpPr>
        <p:spPr>
          <a:xfrm>
            <a:off x="3047507" y="1188709"/>
            <a:ext cx="1128713"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9"/>
          <p:cNvSpPr/>
          <p:nvPr/>
        </p:nvSpPr>
        <p:spPr>
          <a:xfrm>
            <a:off x="3047507" y="1188709"/>
            <a:ext cx="1128713"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1114" name="Google Shape;1114;p29"/>
          <p:cNvSpPr/>
          <p:nvPr/>
        </p:nvSpPr>
        <p:spPr>
          <a:xfrm>
            <a:off x="4921681" y="1188709"/>
            <a:ext cx="1060847"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9"/>
          <p:cNvSpPr/>
          <p:nvPr/>
        </p:nvSpPr>
        <p:spPr>
          <a:xfrm>
            <a:off x="4921681" y="1188709"/>
            <a:ext cx="1060847"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Agent</a:t>
            </a:r>
            <a:endParaRPr b="0" i="0" sz="784" u="none" cap="none" strike="noStrike">
              <a:solidFill>
                <a:schemeClr val="dk1"/>
              </a:solidFill>
              <a:latin typeface="Calibri"/>
              <a:ea typeface="Calibri"/>
              <a:cs typeface="Calibri"/>
              <a:sym typeface="Calibri"/>
            </a:endParaRPr>
          </a:p>
        </p:txBody>
      </p:sp>
      <p:sp>
        <p:nvSpPr>
          <p:cNvPr id="1116" name="Google Shape;1116;p29"/>
          <p:cNvSpPr/>
          <p:nvPr/>
        </p:nvSpPr>
        <p:spPr>
          <a:xfrm>
            <a:off x="6863693" y="1188709"/>
            <a:ext cx="857250" cy="321469"/>
          </a:xfrm>
          <a:prstGeom prst="rect">
            <a:avLst/>
          </a:prstGeom>
          <a:solidFill>
            <a:srgbClr val="1A202C"/>
          </a:solidFill>
          <a:ln cap="flat" cmpd="sng" w="18275">
            <a:solidFill>
              <a:srgbClr val="A0AE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9"/>
          <p:cNvSpPr/>
          <p:nvPr/>
        </p:nvSpPr>
        <p:spPr>
          <a:xfrm>
            <a:off x="6863693" y="1188709"/>
            <a:ext cx="857250"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A0AEC0"/>
              </a:buClr>
              <a:buSzPts val="784"/>
              <a:buFont typeface="Roboto Mono"/>
              <a:buNone/>
            </a:pPr>
            <a:r>
              <a:rPr b="1" i="0" lang="en-US" sz="784" u="none" cap="none" strike="noStrike">
                <a:solidFill>
                  <a:srgbClr val="A0AEC0"/>
                </a:solidFill>
                <a:latin typeface="Roboto Mono"/>
                <a:ea typeface="Roboto Mono"/>
                <a:cs typeface="Roboto Mono"/>
                <a:sym typeface="Roboto Mono"/>
              </a:rPr>
              <a:t>Workload</a:t>
            </a:r>
            <a:endParaRPr b="0" i="0" sz="784" u="none" cap="none" strike="noStrike">
              <a:solidFill>
                <a:schemeClr val="dk1"/>
              </a:solidFill>
              <a:latin typeface="Calibri"/>
              <a:ea typeface="Calibri"/>
              <a:cs typeface="Calibri"/>
              <a:sym typeface="Calibri"/>
            </a:endParaRPr>
          </a:p>
        </p:txBody>
      </p:sp>
      <p:sp>
        <p:nvSpPr>
          <p:cNvPr id="1118" name="Google Shape;1118;p29"/>
          <p:cNvSpPr/>
          <p:nvPr/>
        </p:nvSpPr>
        <p:spPr>
          <a:xfrm>
            <a:off x="2057400" y="1824503"/>
            <a:ext cx="206454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1. Trigger Job 5 (Drift Detection)</a:t>
            </a:r>
            <a:endParaRPr b="0" i="0" sz="727" u="none" cap="none" strike="noStrike">
              <a:solidFill>
                <a:schemeClr val="dk1"/>
              </a:solidFill>
              <a:latin typeface="Calibri"/>
              <a:ea typeface="Calibri"/>
              <a:cs typeface="Calibri"/>
              <a:sym typeface="Calibri"/>
            </a:endParaRPr>
          </a:p>
        </p:txBody>
      </p:sp>
      <p:sp>
        <p:nvSpPr>
          <p:cNvPr id="1119" name="Google Shape;1119;p29"/>
          <p:cNvSpPr/>
          <p:nvPr/>
        </p:nvSpPr>
        <p:spPr>
          <a:xfrm>
            <a:off x="1771650" y="208167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9"/>
          <p:cNvSpPr/>
          <p:nvPr/>
        </p:nvSpPr>
        <p:spPr>
          <a:xfrm>
            <a:off x="1841636" y="1924515"/>
            <a:ext cx="170021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2. Fetch Expected State (DB)</a:t>
            </a:r>
            <a:endParaRPr b="0" i="0" sz="727" u="none" cap="none" strike="noStrike">
              <a:solidFill>
                <a:schemeClr val="dk1"/>
              </a:solidFill>
              <a:latin typeface="Calibri"/>
              <a:ea typeface="Calibri"/>
              <a:cs typeface="Calibri"/>
              <a:sym typeface="Calibri"/>
            </a:endParaRPr>
          </a:p>
        </p:txBody>
      </p:sp>
      <p:sp>
        <p:nvSpPr>
          <p:cNvPr id="1121" name="Google Shape;1121;p29"/>
          <p:cNvSpPr/>
          <p:nvPr/>
        </p:nvSpPr>
        <p:spPr>
          <a:xfrm>
            <a:off x="3611863" y="236742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9"/>
          <p:cNvSpPr/>
          <p:nvPr/>
        </p:nvSpPr>
        <p:spPr>
          <a:xfrm>
            <a:off x="3681850" y="2210265"/>
            <a:ext cx="170021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3. Query Actual State (Hash)</a:t>
            </a:r>
            <a:endParaRPr b="0" i="0" sz="727" u="none" cap="none" strike="noStrike">
              <a:solidFill>
                <a:schemeClr val="dk1"/>
              </a:solidFill>
              <a:latin typeface="Calibri"/>
              <a:ea typeface="Calibri"/>
              <a:cs typeface="Calibri"/>
              <a:sym typeface="Calibri"/>
            </a:endParaRPr>
          </a:p>
        </p:txBody>
      </p:sp>
      <p:sp>
        <p:nvSpPr>
          <p:cNvPr id="1123" name="Google Shape;1123;p29"/>
          <p:cNvSpPr/>
          <p:nvPr/>
        </p:nvSpPr>
        <p:spPr>
          <a:xfrm>
            <a:off x="5452104" y="265317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9"/>
          <p:cNvSpPr/>
          <p:nvPr/>
        </p:nvSpPr>
        <p:spPr>
          <a:xfrm>
            <a:off x="5673896" y="2496015"/>
            <a:ext cx="139660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4. Inspect Mounted Cert</a:t>
            </a:r>
            <a:endParaRPr b="0" i="0" sz="727" u="none" cap="none" strike="noStrike">
              <a:solidFill>
                <a:schemeClr val="dk1"/>
              </a:solidFill>
              <a:latin typeface="Calibri"/>
              <a:ea typeface="Calibri"/>
              <a:cs typeface="Calibri"/>
              <a:sym typeface="Calibri"/>
            </a:endParaRPr>
          </a:p>
        </p:txBody>
      </p:sp>
      <p:sp>
        <p:nvSpPr>
          <p:cNvPr id="1125" name="Google Shape;1125;p29"/>
          <p:cNvSpPr/>
          <p:nvPr/>
        </p:nvSpPr>
        <p:spPr>
          <a:xfrm>
            <a:off x="5452104" y="293892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9"/>
          <p:cNvSpPr/>
          <p:nvPr/>
        </p:nvSpPr>
        <p:spPr>
          <a:xfrm>
            <a:off x="5795339" y="2781765"/>
            <a:ext cx="115371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5. Return Cert Hash</a:t>
            </a:r>
            <a:endParaRPr b="0" i="0" sz="727" u="none" cap="none" strike="noStrike">
              <a:solidFill>
                <a:schemeClr val="dk1"/>
              </a:solidFill>
              <a:latin typeface="Calibri"/>
              <a:ea typeface="Calibri"/>
              <a:cs typeface="Calibri"/>
              <a:sym typeface="Calibri"/>
            </a:endParaRPr>
          </a:p>
        </p:txBody>
      </p:sp>
      <p:sp>
        <p:nvSpPr>
          <p:cNvPr id="1127" name="Google Shape;1127;p29"/>
          <p:cNvSpPr/>
          <p:nvPr/>
        </p:nvSpPr>
        <p:spPr>
          <a:xfrm>
            <a:off x="3611863" y="3224678"/>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9"/>
          <p:cNvSpPr/>
          <p:nvPr/>
        </p:nvSpPr>
        <p:spPr>
          <a:xfrm>
            <a:off x="3864015" y="3067515"/>
            <a:ext cx="133588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6. Return Actual State</a:t>
            </a:r>
            <a:endParaRPr b="0" i="0" sz="727" u="none" cap="none" strike="noStrike">
              <a:solidFill>
                <a:schemeClr val="dk1"/>
              </a:solidFill>
              <a:latin typeface="Calibri"/>
              <a:ea typeface="Calibri"/>
              <a:cs typeface="Calibri"/>
              <a:sym typeface="Calibri"/>
            </a:endParaRPr>
          </a:p>
        </p:txBody>
      </p:sp>
      <p:sp>
        <p:nvSpPr>
          <p:cNvPr id="1129" name="Google Shape;1129;p29"/>
          <p:cNvSpPr/>
          <p:nvPr/>
        </p:nvSpPr>
        <p:spPr>
          <a:xfrm>
            <a:off x="1771650" y="3510428"/>
            <a:ext cx="1840213" cy="14288"/>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9"/>
          <p:cNvSpPr/>
          <p:nvPr/>
        </p:nvSpPr>
        <p:spPr>
          <a:xfrm>
            <a:off x="1629110" y="3353265"/>
            <a:ext cx="21252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53E3E"/>
              </a:buClr>
              <a:buSzPts val="727"/>
              <a:buFont typeface="Roboto Mono"/>
              <a:buNone/>
            </a:pPr>
            <a:r>
              <a:rPr b="0" i="0" lang="en-US" sz="727" u="none" cap="none" strike="noStrike">
                <a:solidFill>
                  <a:srgbClr val="E53E3E"/>
                </a:solidFill>
                <a:latin typeface="Roboto Mono"/>
                <a:ea typeface="Roboto Mono"/>
                <a:cs typeface="Roboto Mono"/>
                <a:sym typeface="Roboto Mono"/>
              </a:rPr>
              <a:t>7. State Mismatch (Drift Detected!)</a:t>
            </a:r>
            <a:endParaRPr b="0" i="0" sz="727" u="none" cap="none" strike="noStrike">
              <a:solidFill>
                <a:schemeClr val="dk1"/>
              </a:solidFill>
              <a:latin typeface="Calibri"/>
              <a:ea typeface="Calibri"/>
              <a:cs typeface="Calibri"/>
              <a:sym typeface="Calibri"/>
            </a:endParaRPr>
          </a:p>
        </p:txBody>
      </p:sp>
      <p:sp>
        <p:nvSpPr>
          <p:cNvPr id="1131" name="Google Shape;1131;p29"/>
          <p:cNvSpPr/>
          <p:nvPr/>
        </p:nvSpPr>
        <p:spPr>
          <a:xfrm>
            <a:off x="1771650" y="3796178"/>
            <a:ext cx="1840213"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9"/>
          <p:cNvSpPr/>
          <p:nvPr/>
        </p:nvSpPr>
        <p:spPr>
          <a:xfrm>
            <a:off x="1629110" y="3639015"/>
            <a:ext cx="212526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8. Trigger Remediation (Force Sync)</a:t>
            </a:r>
            <a:endParaRPr b="0" i="0" sz="727" u="none" cap="none" strike="noStrike">
              <a:solidFill>
                <a:schemeClr val="dk1"/>
              </a:solidFill>
              <a:latin typeface="Calibri"/>
              <a:ea typeface="Calibri"/>
              <a:cs typeface="Calibri"/>
              <a:sym typeface="Calibri"/>
            </a:endParaRPr>
          </a:p>
        </p:txBody>
      </p:sp>
      <p:sp>
        <p:nvSpPr>
          <p:cNvPr id="1133" name="Google Shape;1133;p29"/>
          <p:cNvSpPr/>
          <p:nvPr/>
        </p:nvSpPr>
        <p:spPr>
          <a:xfrm>
            <a:off x="3611863" y="4081928"/>
            <a:ext cx="1840213"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9"/>
          <p:cNvSpPr/>
          <p:nvPr/>
        </p:nvSpPr>
        <p:spPr>
          <a:xfrm>
            <a:off x="3712211" y="3924765"/>
            <a:ext cx="163949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9. Push Correct Certificate</a:t>
            </a:r>
            <a:endParaRPr b="0" i="0" sz="727" u="none" cap="none" strike="noStrike">
              <a:solidFill>
                <a:schemeClr val="dk1"/>
              </a:solidFill>
              <a:latin typeface="Calibri"/>
              <a:ea typeface="Calibri"/>
              <a:cs typeface="Calibri"/>
              <a:sym typeface="Calibri"/>
            </a:endParaRPr>
          </a:p>
        </p:txBody>
      </p:sp>
      <p:sp>
        <p:nvSpPr>
          <p:cNvPr id="1135" name="Google Shape;1135;p29"/>
          <p:cNvSpPr/>
          <p:nvPr/>
        </p:nvSpPr>
        <p:spPr>
          <a:xfrm>
            <a:off x="5737854" y="4396253"/>
            <a:ext cx="1275159"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10. Atomic Hot-Reload</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pic>
        <p:nvPicPr>
          <p:cNvPr descr="preencoded.png" id="1141" name="Google Shape;1141;p3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42" name="Google Shape;1142;p30"/>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143" name="Google Shape;1143;p30"/>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SEQ: Bootstrap Trust Flow</a:t>
            </a:r>
            <a:endParaRPr b="0" i="0" sz="2121" u="none" cap="none" strike="noStrike">
              <a:solidFill>
                <a:schemeClr val="dk1"/>
              </a:solidFill>
              <a:latin typeface="Calibri"/>
              <a:ea typeface="Calibri"/>
              <a:cs typeface="Calibri"/>
              <a:sym typeface="Calibri"/>
            </a:endParaRPr>
          </a:p>
        </p:txBody>
      </p:sp>
      <p:sp>
        <p:nvSpPr>
          <p:cNvPr id="1144" name="Google Shape;1144;p30"/>
          <p:cNvSpPr/>
          <p:nvPr/>
        </p:nvSpPr>
        <p:spPr>
          <a:xfrm>
            <a:off x="571500" y="1295865"/>
            <a:ext cx="8001000" cy="14288"/>
          </a:xfrm>
          <a:prstGeom prst="rect">
            <a:avLst/>
          </a:prstGeom>
          <a:solidFill>
            <a:srgbClr val="0D1B2A">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0"/>
          <p:cNvSpPr/>
          <p:nvPr/>
        </p:nvSpPr>
        <p:spPr>
          <a:xfrm>
            <a:off x="1241227" y="1188709"/>
            <a:ext cx="1060847" cy="321469"/>
          </a:xfrm>
          <a:prstGeom prst="rect">
            <a:avLst/>
          </a:prstGeom>
          <a:solidFill>
            <a:srgbClr val="1A202C"/>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0"/>
          <p:cNvSpPr/>
          <p:nvPr/>
        </p:nvSpPr>
        <p:spPr>
          <a:xfrm>
            <a:off x="1241227" y="1188709"/>
            <a:ext cx="1060847"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00E676"/>
              </a:buClr>
              <a:buSzPts val="784"/>
              <a:buFont typeface="Roboto Mono"/>
              <a:buNone/>
            </a:pPr>
            <a:r>
              <a:rPr b="1" i="0" lang="en-US" sz="784" u="none" cap="none" strike="noStrike">
                <a:solidFill>
                  <a:srgbClr val="00E676"/>
                </a:solidFill>
                <a:latin typeface="Roboto Mono"/>
                <a:ea typeface="Roboto Mono"/>
                <a:cs typeface="Roboto Mono"/>
                <a:sym typeface="Roboto Mono"/>
              </a:rPr>
              <a:t>OpAMP Agent</a:t>
            </a:r>
            <a:endParaRPr b="0" i="0" sz="784" u="none" cap="none" strike="noStrike">
              <a:solidFill>
                <a:schemeClr val="dk1"/>
              </a:solidFill>
              <a:latin typeface="Calibri"/>
              <a:ea typeface="Calibri"/>
              <a:cs typeface="Calibri"/>
              <a:sym typeface="Calibri"/>
            </a:endParaRPr>
          </a:p>
        </p:txBody>
      </p:sp>
      <p:sp>
        <p:nvSpPr>
          <p:cNvPr id="1147" name="Google Shape;1147;p30"/>
          <p:cNvSpPr/>
          <p:nvPr/>
        </p:nvSpPr>
        <p:spPr>
          <a:xfrm>
            <a:off x="2640313" y="1188709"/>
            <a:ext cx="1943100" cy="321469"/>
          </a:xfrm>
          <a:prstGeom prst="rect">
            <a:avLst/>
          </a:prstGeom>
          <a:solidFill>
            <a:srgbClr val="1A202C"/>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0"/>
          <p:cNvSpPr/>
          <p:nvPr/>
        </p:nvSpPr>
        <p:spPr>
          <a:xfrm>
            <a:off x="2640313" y="1188709"/>
            <a:ext cx="1943100"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D69E2E"/>
              </a:buClr>
              <a:buSzPts val="784"/>
              <a:buFont typeface="Roboto Mono"/>
              <a:buNone/>
            </a:pPr>
            <a:r>
              <a:rPr b="1" i="0" lang="en-US" sz="784" u="none" cap="none" strike="noStrike">
                <a:solidFill>
                  <a:srgbClr val="D69E2E"/>
                </a:solidFill>
                <a:latin typeface="Roboto Mono"/>
                <a:ea typeface="Roboto Mono"/>
                <a:cs typeface="Roboto Mono"/>
                <a:sym typeface="Roboto Mono"/>
              </a:rPr>
              <a:t>Cloud Provider (AWS/K8s)</a:t>
            </a:r>
            <a:endParaRPr b="0" i="0" sz="784" u="none" cap="none" strike="noStrike">
              <a:solidFill>
                <a:schemeClr val="dk1"/>
              </a:solidFill>
              <a:latin typeface="Calibri"/>
              <a:ea typeface="Calibri"/>
              <a:cs typeface="Calibri"/>
              <a:sym typeface="Calibri"/>
            </a:endParaRPr>
          </a:p>
        </p:txBody>
      </p:sp>
      <p:sp>
        <p:nvSpPr>
          <p:cNvPr id="1149" name="Google Shape;1149;p30"/>
          <p:cNvSpPr/>
          <p:nvPr/>
        </p:nvSpPr>
        <p:spPr>
          <a:xfrm>
            <a:off x="4887748" y="1188709"/>
            <a:ext cx="1128713" cy="321469"/>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0"/>
          <p:cNvSpPr/>
          <p:nvPr/>
        </p:nvSpPr>
        <p:spPr>
          <a:xfrm>
            <a:off x="4887748" y="1188709"/>
            <a:ext cx="1128713"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Server</a:t>
            </a:r>
            <a:endParaRPr b="0" i="0" sz="784" u="none" cap="none" strike="noStrike">
              <a:solidFill>
                <a:schemeClr val="dk1"/>
              </a:solidFill>
              <a:latin typeface="Calibri"/>
              <a:ea typeface="Calibri"/>
              <a:cs typeface="Calibri"/>
              <a:sym typeface="Calibri"/>
            </a:endParaRPr>
          </a:p>
        </p:txBody>
      </p:sp>
      <p:sp>
        <p:nvSpPr>
          <p:cNvPr id="1151" name="Google Shape;1151;p30"/>
          <p:cNvSpPr/>
          <p:nvPr/>
        </p:nvSpPr>
        <p:spPr>
          <a:xfrm>
            <a:off x="6795827" y="1188709"/>
            <a:ext cx="992981" cy="321469"/>
          </a:xfrm>
          <a:prstGeom prst="rect">
            <a:avLst/>
          </a:prstGeom>
          <a:solidFill>
            <a:srgbClr val="1A202C"/>
          </a:solidFill>
          <a:ln cap="flat" cmpd="sng" w="18275">
            <a:solidFill>
              <a:srgbClr val="E53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0"/>
          <p:cNvSpPr/>
          <p:nvPr/>
        </p:nvSpPr>
        <p:spPr>
          <a:xfrm>
            <a:off x="6795827" y="1188709"/>
            <a:ext cx="992981" cy="321469"/>
          </a:xfrm>
          <a:prstGeom prst="rect">
            <a:avLst/>
          </a:prstGeom>
          <a:noFill/>
          <a:ln>
            <a:noFill/>
          </a:ln>
        </p:spPr>
        <p:txBody>
          <a:bodyPr anchorCtr="0" anchor="t" bIns="85075" lIns="170050" spcFirstLastPara="1" rIns="170050" wrap="square" tIns="85075">
            <a:noAutofit/>
          </a:bodyPr>
          <a:lstStyle/>
          <a:p>
            <a:pPr indent="0" lvl="0" marL="0" marR="0" rtl="0" algn="l">
              <a:lnSpc>
                <a:spcPct val="140306"/>
              </a:lnSpc>
              <a:spcBef>
                <a:spcPts val="0"/>
              </a:spcBef>
              <a:spcAft>
                <a:spcPts val="0"/>
              </a:spcAft>
              <a:buClr>
                <a:srgbClr val="E53E3E"/>
              </a:buClr>
              <a:buSzPts val="784"/>
              <a:buFont typeface="Roboto Mono"/>
              <a:buNone/>
            </a:pPr>
            <a:r>
              <a:rPr b="1" i="0" lang="en-US" sz="784" u="none" cap="none" strike="noStrike">
                <a:solidFill>
                  <a:srgbClr val="E53E3E"/>
                </a:solidFill>
                <a:latin typeface="Roboto Mono"/>
                <a:ea typeface="Roboto Mono"/>
                <a:cs typeface="Roboto Mono"/>
                <a:sym typeface="Roboto Mono"/>
              </a:rPr>
              <a:t>Athenz ZTS</a:t>
            </a:r>
            <a:endParaRPr b="0" i="0" sz="784" u="none" cap="none" strike="noStrike">
              <a:solidFill>
                <a:schemeClr val="dk1"/>
              </a:solidFill>
              <a:latin typeface="Calibri"/>
              <a:ea typeface="Calibri"/>
              <a:cs typeface="Calibri"/>
              <a:sym typeface="Calibri"/>
            </a:endParaRPr>
          </a:p>
        </p:txBody>
      </p:sp>
      <p:sp>
        <p:nvSpPr>
          <p:cNvPr id="1153" name="Google Shape;1153;p30"/>
          <p:cNvSpPr/>
          <p:nvPr/>
        </p:nvSpPr>
        <p:spPr>
          <a:xfrm>
            <a:off x="1771650" y="1867365"/>
            <a:ext cx="1840213"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0"/>
          <p:cNvSpPr/>
          <p:nvPr/>
        </p:nvSpPr>
        <p:spPr>
          <a:xfrm>
            <a:off x="1932719" y="1710203"/>
            <a:ext cx="1518047"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1. Request Identity Token</a:t>
            </a:r>
            <a:endParaRPr b="0" i="0" sz="727" u="none" cap="none" strike="noStrike">
              <a:solidFill>
                <a:schemeClr val="dk1"/>
              </a:solidFill>
              <a:latin typeface="Calibri"/>
              <a:ea typeface="Calibri"/>
              <a:cs typeface="Calibri"/>
              <a:sym typeface="Calibri"/>
            </a:endParaRPr>
          </a:p>
        </p:txBody>
      </p:sp>
      <p:sp>
        <p:nvSpPr>
          <p:cNvPr id="1155" name="Google Shape;1155;p30"/>
          <p:cNvSpPr/>
          <p:nvPr/>
        </p:nvSpPr>
        <p:spPr>
          <a:xfrm>
            <a:off x="1771650" y="2224553"/>
            <a:ext cx="1840213"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0"/>
          <p:cNvSpPr/>
          <p:nvPr/>
        </p:nvSpPr>
        <p:spPr>
          <a:xfrm>
            <a:off x="1780915" y="2067390"/>
            <a:ext cx="182165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2. Return Signed JWT / IAM Doc</a:t>
            </a:r>
            <a:endParaRPr b="0" i="0" sz="727" u="none" cap="none" strike="noStrike">
              <a:solidFill>
                <a:schemeClr val="dk1"/>
              </a:solidFill>
              <a:latin typeface="Calibri"/>
              <a:ea typeface="Calibri"/>
              <a:cs typeface="Calibri"/>
              <a:sym typeface="Calibri"/>
            </a:endParaRPr>
          </a:p>
        </p:txBody>
      </p:sp>
      <p:sp>
        <p:nvSpPr>
          <p:cNvPr id="1157" name="Google Shape;1157;p30"/>
          <p:cNvSpPr/>
          <p:nvPr/>
        </p:nvSpPr>
        <p:spPr>
          <a:xfrm>
            <a:off x="1771650" y="2581740"/>
            <a:ext cx="3680454"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0"/>
          <p:cNvSpPr/>
          <p:nvPr/>
        </p:nvSpPr>
        <p:spPr>
          <a:xfrm>
            <a:off x="2792118" y="2424578"/>
            <a:ext cx="163949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3. Submit CSR + Cloud Token</a:t>
            </a:r>
            <a:endParaRPr b="0" i="0" sz="727" u="none" cap="none" strike="noStrike">
              <a:solidFill>
                <a:schemeClr val="dk1"/>
              </a:solidFill>
              <a:latin typeface="Calibri"/>
              <a:ea typeface="Calibri"/>
              <a:cs typeface="Calibri"/>
              <a:sym typeface="Calibri"/>
            </a:endParaRPr>
          </a:p>
        </p:txBody>
      </p:sp>
      <p:sp>
        <p:nvSpPr>
          <p:cNvPr id="1159" name="Google Shape;1159;p30"/>
          <p:cNvSpPr/>
          <p:nvPr/>
        </p:nvSpPr>
        <p:spPr>
          <a:xfrm>
            <a:off x="3611863" y="2938928"/>
            <a:ext cx="1840213"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0"/>
          <p:cNvSpPr/>
          <p:nvPr/>
        </p:nvSpPr>
        <p:spPr>
          <a:xfrm>
            <a:off x="3499684" y="2781765"/>
            <a:ext cx="206454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4. Validate Token Signature/Claims</a:t>
            </a:r>
            <a:endParaRPr b="0" i="0" sz="727" u="none" cap="none" strike="noStrike">
              <a:solidFill>
                <a:schemeClr val="dk1"/>
              </a:solidFill>
              <a:latin typeface="Calibri"/>
              <a:ea typeface="Calibri"/>
              <a:cs typeface="Calibri"/>
              <a:sym typeface="Calibri"/>
            </a:endParaRPr>
          </a:p>
        </p:txBody>
      </p:sp>
      <p:sp>
        <p:nvSpPr>
          <p:cNvPr id="1161" name="Google Shape;1161;p30"/>
          <p:cNvSpPr/>
          <p:nvPr/>
        </p:nvSpPr>
        <p:spPr>
          <a:xfrm>
            <a:off x="3611863" y="3296115"/>
            <a:ext cx="1840213" cy="1428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0"/>
          <p:cNvSpPr/>
          <p:nvPr/>
        </p:nvSpPr>
        <p:spPr>
          <a:xfrm>
            <a:off x="3985459" y="3138953"/>
            <a:ext cx="1092994"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D69E2E"/>
              </a:buClr>
              <a:buSzPts val="727"/>
              <a:buFont typeface="Roboto Mono"/>
              <a:buNone/>
            </a:pPr>
            <a:r>
              <a:rPr b="0" i="0" lang="en-US" sz="727" u="none" cap="none" strike="noStrike">
                <a:solidFill>
                  <a:srgbClr val="D69E2E"/>
                </a:solidFill>
                <a:latin typeface="Roboto Mono"/>
                <a:ea typeface="Roboto Mono"/>
                <a:cs typeface="Roboto Mono"/>
                <a:sym typeface="Roboto Mono"/>
              </a:rPr>
              <a:t>5. Token Validated</a:t>
            </a:r>
            <a:endParaRPr b="0" i="0" sz="727" u="none" cap="none" strike="noStrike">
              <a:solidFill>
                <a:schemeClr val="dk1"/>
              </a:solidFill>
              <a:latin typeface="Calibri"/>
              <a:ea typeface="Calibri"/>
              <a:cs typeface="Calibri"/>
              <a:sym typeface="Calibri"/>
            </a:endParaRPr>
          </a:p>
        </p:txBody>
      </p:sp>
      <p:sp>
        <p:nvSpPr>
          <p:cNvPr id="1163" name="Google Shape;1163;p30"/>
          <p:cNvSpPr/>
          <p:nvPr/>
        </p:nvSpPr>
        <p:spPr>
          <a:xfrm>
            <a:off x="5452104" y="3653303"/>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0"/>
          <p:cNvSpPr/>
          <p:nvPr/>
        </p:nvSpPr>
        <p:spPr>
          <a:xfrm>
            <a:off x="5461369" y="3496140"/>
            <a:ext cx="1821656"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6. Request Initial Certificate</a:t>
            </a:r>
            <a:endParaRPr b="0" i="0" sz="727" u="none" cap="none" strike="noStrike">
              <a:solidFill>
                <a:schemeClr val="dk1"/>
              </a:solidFill>
              <a:latin typeface="Calibri"/>
              <a:ea typeface="Calibri"/>
              <a:cs typeface="Calibri"/>
              <a:sym typeface="Calibri"/>
            </a:endParaRPr>
          </a:p>
        </p:txBody>
      </p:sp>
      <p:sp>
        <p:nvSpPr>
          <p:cNvPr id="1165" name="Google Shape;1165;p30"/>
          <p:cNvSpPr/>
          <p:nvPr/>
        </p:nvSpPr>
        <p:spPr>
          <a:xfrm>
            <a:off x="5452104" y="4010490"/>
            <a:ext cx="1840213"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0"/>
          <p:cNvSpPr/>
          <p:nvPr/>
        </p:nvSpPr>
        <p:spPr>
          <a:xfrm>
            <a:off x="5522091" y="3853328"/>
            <a:ext cx="1700213"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5FF"/>
              </a:buClr>
              <a:buSzPts val="727"/>
              <a:buFont typeface="Roboto Mono"/>
              <a:buNone/>
            </a:pPr>
            <a:r>
              <a:rPr b="0" i="0" lang="en-US" sz="727" u="none" cap="none" strike="noStrike">
                <a:solidFill>
                  <a:srgbClr val="00E5FF"/>
                </a:solidFill>
                <a:latin typeface="Roboto Mono"/>
                <a:ea typeface="Roboto Mono"/>
                <a:cs typeface="Roboto Mono"/>
                <a:sym typeface="Roboto Mono"/>
              </a:rPr>
              <a:t>7. Return Signed Certificate</a:t>
            </a:r>
            <a:endParaRPr b="0" i="0" sz="727" u="none" cap="none" strike="noStrike">
              <a:solidFill>
                <a:schemeClr val="dk1"/>
              </a:solidFill>
              <a:latin typeface="Calibri"/>
              <a:ea typeface="Calibri"/>
              <a:cs typeface="Calibri"/>
              <a:sym typeface="Calibri"/>
            </a:endParaRPr>
          </a:p>
        </p:txBody>
      </p:sp>
      <p:sp>
        <p:nvSpPr>
          <p:cNvPr id="1167" name="Google Shape;1167;p30"/>
          <p:cNvSpPr/>
          <p:nvPr/>
        </p:nvSpPr>
        <p:spPr>
          <a:xfrm>
            <a:off x="1771650" y="4367678"/>
            <a:ext cx="3680454"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0"/>
          <p:cNvSpPr/>
          <p:nvPr/>
        </p:nvSpPr>
        <p:spPr>
          <a:xfrm>
            <a:off x="2306343" y="4210515"/>
            <a:ext cx="2611041" cy="132159"/>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00E676"/>
              </a:buClr>
              <a:buSzPts val="727"/>
              <a:buFont typeface="Roboto Mono"/>
              <a:buNone/>
            </a:pPr>
            <a:r>
              <a:rPr b="0" i="0" lang="en-US" sz="727" u="none" cap="none" strike="noStrike">
                <a:solidFill>
                  <a:srgbClr val="00E676"/>
                </a:solidFill>
                <a:latin typeface="Roboto Mono"/>
                <a:ea typeface="Roboto Mono"/>
                <a:cs typeface="Roboto Mono"/>
                <a:sym typeface="Roboto Mono"/>
              </a:rPr>
              <a:t>8. Deliver Certificate (Bootstrap Complete)</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pic>
        <p:nvPicPr>
          <p:cNvPr descr="preencoded.png" id="1174" name="Google Shape;1174;p3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75" name="Google Shape;1175;p31"/>
          <p:cNvSpPr/>
          <p:nvPr/>
        </p:nvSpPr>
        <p:spPr>
          <a:xfrm>
            <a:off x="571500" y="428625"/>
            <a:ext cx="800100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176" name="Google Shape;1176;p31"/>
          <p:cNvSpPr/>
          <p:nvPr/>
        </p:nvSpPr>
        <p:spPr>
          <a:xfrm>
            <a:off x="571500" y="650081"/>
            <a:ext cx="8001000" cy="360034"/>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Inter"/>
              <a:buNone/>
            </a:pPr>
            <a:r>
              <a:rPr b="1" i="0" lang="en-US" sz="2121" u="none" cap="none" strike="noStrike">
                <a:solidFill>
                  <a:srgbClr val="FFFFFF"/>
                </a:solidFill>
                <a:latin typeface="Inter"/>
                <a:ea typeface="Inter"/>
                <a:cs typeface="Inter"/>
                <a:sym typeface="Inter"/>
              </a:rPr>
              <a:t>HA &amp; Distributed Locking</a:t>
            </a:r>
            <a:endParaRPr b="0" i="0" sz="2121" u="none" cap="none" strike="noStrike">
              <a:solidFill>
                <a:schemeClr val="dk1"/>
              </a:solidFill>
              <a:latin typeface="Calibri"/>
              <a:ea typeface="Calibri"/>
              <a:cs typeface="Calibri"/>
              <a:sym typeface="Calibri"/>
            </a:endParaRPr>
          </a:p>
        </p:txBody>
      </p:sp>
      <p:sp>
        <p:nvSpPr>
          <p:cNvPr id="1177" name="Google Shape;1177;p31"/>
          <p:cNvSpPr/>
          <p:nvPr/>
        </p:nvSpPr>
        <p:spPr>
          <a:xfrm>
            <a:off x="571500" y="1152990"/>
            <a:ext cx="4208311" cy="3214688"/>
          </a:xfrm>
          <a:prstGeom prst="rect">
            <a:avLst/>
          </a:prstGeom>
          <a:solidFill>
            <a:srgbClr val="0D1B2A">
              <a:alpha val="50196"/>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1"/>
          <p:cNvSpPr/>
          <p:nvPr/>
        </p:nvSpPr>
        <p:spPr>
          <a:xfrm>
            <a:off x="1961266" y="1438740"/>
            <a:ext cx="1428750" cy="392906"/>
          </a:xfrm>
          <a:prstGeom prst="rect">
            <a:avLst/>
          </a:prstGeom>
          <a:solidFill>
            <a:srgbClr val="1A202C"/>
          </a:solidFill>
          <a:ln cap="flat" cmpd="sng" w="18275">
            <a:solidFill>
              <a:srgbClr val="A0AE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1"/>
          <p:cNvSpPr/>
          <p:nvPr/>
        </p:nvSpPr>
        <p:spPr>
          <a:xfrm>
            <a:off x="1961266" y="1438740"/>
            <a:ext cx="1428750" cy="392906"/>
          </a:xfrm>
          <a:prstGeom prst="rect">
            <a:avLst/>
          </a:prstGeom>
          <a:noFill/>
          <a:ln>
            <a:noFill/>
          </a:ln>
        </p:spPr>
        <p:txBody>
          <a:bodyPr anchorCtr="0" anchor="t" bIns="127500" lIns="127500" spcFirstLastPara="1" rIns="127500" wrap="square" tIns="127500">
            <a:noAutofit/>
          </a:bodyPr>
          <a:lstStyle/>
          <a:p>
            <a:pPr indent="0" lvl="0" marL="0" marR="0" rtl="0" algn="ctr">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L4 Load Balancer</a:t>
            </a:r>
            <a:endParaRPr b="0" i="0" sz="784" u="none" cap="none" strike="noStrike">
              <a:solidFill>
                <a:schemeClr val="dk1"/>
              </a:solidFill>
              <a:latin typeface="Calibri"/>
              <a:ea typeface="Calibri"/>
              <a:cs typeface="Calibri"/>
              <a:sym typeface="Calibri"/>
            </a:endParaRPr>
          </a:p>
        </p:txBody>
      </p:sp>
      <p:sp>
        <p:nvSpPr>
          <p:cNvPr id="1180" name="Google Shape;1180;p31"/>
          <p:cNvSpPr/>
          <p:nvPr/>
        </p:nvSpPr>
        <p:spPr>
          <a:xfrm>
            <a:off x="1413151" y="2438865"/>
            <a:ext cx="1285875" cy="542925"/>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1"/>
          <p:cNvSpPr/>
          <p:nvPr/>
        </p:nvSpPr>
        <p:spPr>
          <a:xfrm>
            <a:off x="1413151" y="2438865"/>
            <a:ext cx="1285875" cy="542925"/>
          </a:xfrm>
          <a:prstGeom prst="rect">
            <a:avLst/>
          </a:prstGeom>
          <a:noFill/>
          <a:ln>
            <a:noFill/>
          </a:ln>
        </p:spPr>
        <p:txBody>
          <a:bodyPr anchorCtr="0" anchor="t" bIns="127500" lIns="127500" spcFirstLastPara="1" rIns="127500" wrap="square" tIns="127500">
            <a:noAutofit/>
          </a:bodyPr>
          <a:lstStyle/>
          <a:p>
            <a:pPr indent="0" lvl="0" marL="0" marR="0" rtl="0" algn="ctr">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Server</a:t>
            </a:r>
            <a:br>
              <a:rPr b="1" i="0" lang="en-US" sz="784" u="none" cap="none" strike="noStrike">
                <a:solidFill>
                  <a:srgbClr val="FFFFFF"/>
                </a:solidFill>
                <a:latin typeface="Roboto Mono"/>
                <a:ea typeface="Roboto Mono"/>
                <a:cs typeface="Roboto Mono"/>
                <a:sym typeface="Roboto Mono"/>
              </a:rPr>
            </a:br>
            <a:r>
              <a:rPr b="0" i="0" lang="en-US" sz="621" u="none" cap="none" strike="noStrike">
                <a:solidFill>
                  <a:srgbClr val="A0AEC0"/>
                </a:solidFill>
                <a:latin typeface="Roboto Mono"/>
                <a:ea typeface="Roboto Mono"/>
                <a:cs typeface="Roboto Mono"/>
                <a:sym typeface="Roboto Mono"/>
              </a:rPr>
              <a:t>Instance A (Active)</a:t>
            </a:r>
            <a:endParaRPr b="0" i="0" sz="784" u="none" cap="none" strike="noStrike">
              <a:solidFill>
                <a:schemeClr val="dk1"/>
              </a:solidFill>
              <a:latin typeface="Calibri"/>
              <a:ea typeface="Calibri"/>
              <a:cs typeface="Calibri"/>
              <a:sym typeface="Calibri"/>
            </a:endParaRPr>
          </a:p>
        </p:txBody>
      </p:sp>
      <p:sp>
        <p:nvSpPr>
          <p:cNvPr id="1182" name="Google Shape;1182;p31"/>
          <p:cNvSpPr/>
          <p:nvPr/>
        </p:nvSpPr>
        <p:spPr>
          <a:xfrm>
            <a:off x="2652285" y="2438865"/>
            <a:ext cx="1285875" cy="542925"/>
          </a:xfrm>
          <a:prstGeom prst="rect">
            <a:avLst/>
          </a:prstGeom>
          <a:solidFill>
            <a:srgbClr val="1A202C"/>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1"/>
          <p:cNvSpPr/>
          <p:nvPr/>
        </p:nvSpPr>
        <p:spPr>
          <a:xfrm>
            <a:off x="2652285" y="2438865"/>
            <a:ext cx="1285875" cy="542925"/>
          </a:xfrm>
          <a:prstGeom prst="rect">
            <a:avLst/>
          </a:prstGeom>
          <a:noFill/>
          <a:ln>
            <a:noFill/>
          </a:ln>
        </p:spPr>
        <p:txBody>
          <a:bodyPr anchorCtr="0" anchor="t" bIns="127500" lIns="127500" spcFirstLastPara="1" rIns="127500" wrap="square" tIns="127500">
            <a:noAutofit/>
          </a:bodyPr>
          <a:lstStyle/>
          <a:p>
            <a:pPr indent="0" lvl="0" marL="0" marR="0" rtl="0" algn="ctr">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OpAMP Server</a:t>
            </a:r>
            <a:br>
              <a:rPr b="1" i="0" lang="en-US" sz="784" u="none" cap="none" strike="noStrike">
                <a:solidFill>
                  <a:srgbClr val="FFFFFF"/>
                </a:solidFill>
                <a:latin typeface="Roboto Mono"/>
                <a:ea typeface="Roboto Mono"/>
                <a:cs typeface="Roboto Mono"/>
                <a:sym typeface="Roboto Mono"/>
              </a:rPr>
            </a:br>
            <a:r>
              <a:rPr b="0" i="0" lang="en-US" sz="621" u="none" cap="none" strike="noStrike">
                <a:solidFill>
                  <a:srgbClr val="A0AEC0"/>
                </a:solidFill>
                <a:latin typeface="Roboto Mono"/>
                <a:ea typeface="Roboto Mono"/>
                <a:cs typeface="Roboto Mono"/>
                <a:sym typeface="Roboto Mono"/>
              </a:rPr>
              <a:t>Instance B (Active)</a:t>
            </a:r>
            <a:endParaRPr b="0" i="0" sz="784" u="none" cap="none" strike="noStrike">
              <a:solidFill>
                <a:schemeClr val="dk1"/>
              </a:solidFill>
              <a:latin typeface="Calibri"/>
              <a:ea typeface="Calibri"/>
              <a:cs typeface="Calibri"/>
              <a:sym typeface="Calibri"/>
            </a:endParaRPr>
          </a:p>
        </p:txBody>
      </p:sp>
      <p:sp>
        <p:nvSpPr>
          <p:cNvPr id="1184" name="Google Shape;1184;p31"/>
          <p:cNvSpPr/>
          <p:nvPr/>
        </p:nvSpPr>
        <p:spPr>
          <a:xfrm>
            <a:off x="1782673" y="3539003"/>
            <a:ext cx="1785938" cy="542925"/>
          </a:xfrm>
          <a:prstGeom prst="rect">
            <a:avLst/>
          </a:prstGeom>
          <a:solidFill>
            <a:srgbClr val="D69E2E">
              <a:alpha val="10196"/>
            </a:srgbClr>
          </a:solidFill>
          <a:ln cap="flat" cmpd="sng" w="18275">
            <a:solidFill>
              <a:srgbClr val="D69E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1"/>
          <p:cNvSpPr/>
          <p:nvPr/>
        </p:nvSpPr>
        <p:spPr>
          <a:xfrm>
            <a:off x="2234515" y="3674734"/>
            <a:ext cx="882253" cy="150019"/>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FFFFFF"/>
              </a:buClr>
              <a:buSzPts val="784"/>
              <a:buFont typeface="Roboto Mono"/>
              <a:buNone/>
            </a:pPr>
            <a:r>
              <a:rPr b="1" i="0" lang="en-US" sz="784" u="none" cap="none" strike="noStrike">
                <a:solidFill>
                  <a:srgbClr val="FFFFFF"/>
                </a:solidFill>
                <a:latin typeface="Roboto Mono"/>
                <a:ea typeface="Roboto Mono"/>
                <a:cs typeface="Roboto Mono"/>
                <a:sym typeface="Roboto Mono"/>
              </a:rPr>
              <a:t>PostgreSQL DB</a:t>
            </a:r>
            <a:endParaRPr b="0" i="0" sz="784" u="none" cap="none" strike="noStrike">
              <a:solidFill>
                <a:schemeClr val="dk1"/>
              </a:solidFill>
              <a:latin typeface="Calibri"/>
              <a:ea typeface="Calibri"/>
              <a:cs typeface="Calibri"/>
              <a:sym typeface="Calibri"/>
            </a:endParaRPr>
          </a:p>
        </p:txBody>
      </p:sp>
      <p:sp>
        <p:nvSpPr>
          <p:cNvPr id="1186" name="Google Shape;1186;p31"/>
          <p:cNvSpPr/>
          <p:nvPr/>
        </p:nvSpPr>
        <p:spPr>
          <a:xfrm>
            <a:off x="2105927" y="3855114"/>
            <a:ext cx="1139428" cy="112514"/>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EC0"/>
              </a:buClr>
              <a:buSzPts val="621"/>
              <a:buFont typeface="Roboto Mono"/>
              <a:buNone/>
            </a:pPr>
            <a:r>
              <a:rPr b="0" i="0" lang="en-US" sz="621" u="none" cap="none" strike="noStrike">
                <a:solidFill>
                  <a:srgbClr val="A0AEC0"/>
                </a:solidFill>
                <a:latin typeface="Roboto Mono"/>
                <a:ea typeface="Roboto Mono"/>
                <a:cs typeface="Roboto Mono"/>
                <a:sym typeface="Roboto Mono"/>
              </a:rPr>
              <a:t>State &amp; Advisory Locks</a:t>
            </a:r>
            <a:endParaRPr b="0" i="0" sz="621" u="none" cap="none" strike="noStrike">
              <a:solidFill>
                <a:schemeClr val="dk1"/>
              </a:solidFill>
              <a:latin typeface="Calibri"/>
              <a:ea typeface="Calibri"/>
              <a:cs typeface="Calibri"/>
              <a:sym typeface="Calibri"/>
            </a:endParaRPr>
          </a:p>
        </p:txBody>
      </p:sp>
      <p:sp>
        <p:nvSpPr>
          <p:cNvPr id="1187" name="Google Shape;1187;p31"/>
          <p:cNvSpPr/>
          <p:nvPr/>
        </p:nvSpPr>
        <p:spPr>
          <a:xfrm>
            <a:off x="3461454" y="3460421"/>
            <a:ext cx="214313" cy="214313"/>
          </a:xfrm>
          <a:prstGeom prst="ellipse">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1"/>
          <p:cNvSpPr/>
          <p:nvPr/>
        </p:nvSpPr>
        <p:spPr>
          <a:xfrm>
            <a:off x="3461454" y="3460421"/>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5593"/>
              </a:lnSpc>
              <a:spcBef>
                <a:spcPts val="0"/>
              </a:spcBef>
              <a:spcAft>
                <a:spcPts val="0"/>
              </a:spcAft>
              <a:buClr>
                <a:srgbClr val="0D1B2A"/>
              </a:buClr>
              <a:buSzPts val="885"/>
              <a:buFont typeface="Roboto Mono"/>
              <a:buNone/>
            </a:pPr>
            <a:r>
              <a:rPr b="1" i="0" lang="en-US" sz="885" u="none" cap="none" strike="noStrike">
                <a:solidFill>
                  <a:srgbClr val="0D1B2A"/>
                </a:solidFill>
                <a:latin typeface="Roboto Mono"/>
                <a:ea typeface="Roboto Mono"/>
                <a:cs typeface="Roboto Mono"/>
                <a:sym typeface="Roboto Mono"/>
              </a:rPr>
              <a:t>🔒</a:t>
            </a:r>
            <a:endParaRPr b="0" i="0" sz="885" u="none" cap="none" strike="noStrike">
              <a:solidFill>
                <a:schemeClr val="dk1"/>
              </a:solidFill>
              <a:latin typeface="Calibri"/>
              <a:ea typeface="Calibri"/>
              <a:cs typeface="Calibri"/>
              <a:sym typeface="Calibri"/>
            </a:endParaRPr>
          </a:p>
        </p:txBody>
      </p:sp>
      <p:sp>
        <p:nvSpPr>
          <p:cNvPr id="1189" name="Google Shape;1189;p31"/>
          <p:cNvSpPr/>
          <p:nvPr/>
        </p:nvSpPr>
        <p:spPr>
          <a:xfrm>
            <a:off x="5065561" y="1152990"/>
            <a:ext cx="3506939" cy="1383655"/>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1"/>
          <p:cNvSpPr/>
          <p:nvPr/>
        </p:nvSpPr>
        <p:spPr>
          <a:xfrm>
            <a:off x="5065561" y="1152990"/>
            <a:ext cx="28575" cy="138365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1"/>
          <p:cNvSpPr/>
          <p:nvPr/>
        </p:nvSpPr>
        <p:spPr>
          <a:xfrm>
            <a:off x="5208436" y="1295865"/>
            <a:ext cx="3221189"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Roboto Mono"/>
              <a:buNone/>
            </a:pPr>
            <a:r>
              <a:rPr b="1" i="0" lang="en-US" sz="987" u="none" cap="none" strike="noStrike">
                <a:solidFill>
                  <a:srgbClr val="00E5FF"/>
                </a:solidFill>
                <a:latin typeface="Roboto Mono"/>
                <a:ea typeface="Roboto Mono"/>
                <a:cs typeface="Roboto Mono"/>
                <a:sym typeface="Roboto Mono"/>
              </a:rPr>
              <a:t>ACTIVE-ACTIVE DEPLOYMENT</a:t>
            </a:r>
            <a:endParaRPr b="0" i="0" sz="987" u="none" cap="none" strike="noStrike">
              <a:solidFill>
                <a:schemeClr val="dk1"/>
              </a:solidFill>
              <a:latin typeface="Calibri"/>
              <a:ea typeface="Calibri"/>
              <a:cs typeface="Calibri"/>
              <a:sym typeface="Calibri"/>
            </a:endParaRPr>
          </a:p>
        </p:txBody>
      </p:sp>
      <p:sp>
        <p:nvSpPr>
          <p:cNvPr id="1192" name="Google Shape;1192;p31"/>
          <p:cNvSpPr/>
          <p:nvPr/>
        </p:nvSpPr>
        <p:spPr>
          <a:xfrm>
            <a:off x="5208436" y="1570899"/>
            <a:ext cx="3221189" cy="822871"/>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Multiple OpAMP Server instances run concurrently behind a Layer 4 Load Balancer. This ensures </a:t>
            </a:r>
            <a:r>
              <a:rPr b="1" i="0" lang="en-US" sz="885" u="none" cap="none" strike="noStrike">
                <a:solidFill>
                  <a:srgbClr val="FFFFFF"/>
                </a:solidFill>
                <a:latin typeface="Inter"/>
                <a:ea typeface="Inter"/>
                <a:cs typeface="Inter"/>
                <a:sym typeface="Inter"/>
              </a:rPr>
              <a:t>high availability</a:t>
            </a:r>
            <a:r>
              <a:rPr b="0" i="0" lang="en-US" sz="942" u="none" cap="none" strike="noStrike">
                <a:solidFill>
                  <a:srgbClr val="E0E0E0"/>
                </a:solidFill>
                <a:latin typeface="Inter"/>
                <a:ea typeface="Inter"/>
                <a:cs typeface="Inter"/>
                <a:sym typeface="Inter"/>
              </a:rPr>
              <a:t> and horizontal scalability without a single point of failure.</a:t>
            </a:r>
            <a:endParaRPr b="0" i="0" sz="942" u="none" cap="none" strike="noStrike">
              <a:solidFill>
                <a:schemeClr val="dk1"/>
              </a:solidFill>
              <a:latin typeface="Calibri"/>
              <a:ea typeface="Calibri"/>
              <a:cs typeface="Calibri"/>
              <a:sym typeface="Calibri"/>
            </a:endParaRPr>
          </a:p>
        </p:txBody>
      </p:sp>
      <p:sp>
        <p:nvSpPr>
          <p:cNvPr id="1193" name="Google Shape;1193;p31"/>
          <p:cNvSpPr/>
          <p:nvPr/>
        </p:nvSpPr>
        <p:spPr>
          <a:xfrm>
            <a:off x="5065561" y="2679520"/>
            <a:ext cx="3506939" cy="2000808"/>
          </a:xfrm>
          <a:prstGeom prst="rect">
            <a:avLst/>
          </a:prstGeom>
          <a:solidFill>
            <a:srgbClr val="0D1B2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1"/>
          <p:cNvSpPr/>
          <p:nvPr/>
        </p:nvSpPr>
        <p:spPr>
          <a:xfrm>
            <a:off x="5065561" y="2679520"/>
            <a:ext cx="28575" cy="2000808"/>
          </a:xfrm>
          <a:prstGeom prst="rect">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1"/>
          <p:cNvSpPr/>
          <p:nvPr/>
        </p:nvSpPr>
        <p:spPr>
          <a:xfrm>
            <a:off x="5208436" y="2822395"/>
            <a:ext cx="3221189"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D69E2E"/>
              </a:buClr>
              <a:buSzPts val="987"/>
              <a:buFont typeface="Roboto Mono"/>
              <a:buNone/>
            </a:pPr>
            <a:r>
              <a:rPr b="1" i="0" lang="en-US" sz="987" u="none" cap="none" strike="noStrike">
                <a:solidFill>
                  <a:srgbClr val="D69E2E"/>
                </a:solidFill>
                <a:latin typeface="Roboto Mono"/>
                <a:ea typeface="Roboto Mono"/>
                <a:cs typeface="Roboto Mono"/>
                <a:sym typeface="Roboto Mono"/>
              </a:rPr>
              <a:t>POSTGRESQL ADVISORY LOCKS</a:t>
            </a:r>
            <a:endParaRPr b="0" i="0" sz="987" u="none" cap="none" strike="noStrike">
              <a:solidFill>
                <a:schemeClr val="dk1"/>
              </a:solidFill>
              <a:latin typeface="Calibri"/>
              <a:ea typeface="Calibri"/>
              <a:cs typeface="Calibri"/>
              <a:sym typeface="Calibri"/>
            </a:endParaRPr>
          </a:p>
        </p:txBody>
      </p:sp>
      <p:sp>
        <p:nvSpPr>
          <p:cNvPr id="1196" name="Google Shape;1196;p31"/>
          <p:cNvSpPr/>
          <p:nvPr/>
        </p:nvSpPr>
        <p:spPr>
          <a:xfrm>
            <a:off x="5208436" y="3097430"/>
            <a:ext cx="3221189" cy="1440024"/>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To prevent race conditions when multiple instances attempt to execute the same Cert-Ops-Scheduler job (e.g., auto-renewal), the system uses </a:t>
            </a:r>
            <a:r>
              <a:rPr b="1" i="0" lang="en-US" sz="885" u="none" cap="none" strike="noStrike">
                <a:solidFill>
                  <a:srgbClr val="FFFFFF"/>
                </a:solidFill>
                <a:latin typeface="Inter"/>
                <a:ea typeface="Inter"/>
                <a:cs typeface="Inter"/>
                <a:sym typeface="Inter"/>
              </a:rPr>
              <a:t>pg_advisory_lock()</a:t>
            </a:r>
            <a:r>
              <a:rPr b="0" i="0" lang="en-US" sz="942" u="none" cap="none" strike="noStrike">
                <a:solidFill>
                  <a:srgbClr val="E0E0E0"/>
                </a:solidFill>
                <a:latin typeface="Inter"/>
                <a:ea typeface="Inter"/>
                <a:cs typeface="Inter"/>
                <a:sym typeface="Inter"/>
              </a:rPr>
              <a:t>. Only the instance that successfully acquires the lock executes the job, while others skip it, ensuring exactly-once execution semantics.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pic>
        <p:nvPicPr>
          <p:cNvPr descr="preencoded.png" id="1202" name="Google Shape;1202;p3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03" name="Google Shape;1203;p32"/>
          <p:cNvSpPr/>
          <p:nvPr/>
        </p:nvSpPr>
        <p:spPr>
          <a:xfrm>
            <a:off x="428625" y="428625"/>
            <a:ext cx="8286750" cy="15001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E5FF"/>
              </a:buClr>
              <a:buSzPts val="834"/>
              <a:buFont typeface="Roboto Mono"/>
              <a:buNone/>
            </a:pPr>
            <a:r>
              <a:rPr b="0" i="0" lang="en-US" sz="834" u="none" cap="none" strike="noStrike">
                <a:solidFill>
                  <a:srgbClr val="00E5FF"/>
                </a:solidFill>
                <a:latin typeface="Roboto Mono"/>
                <a:ea typeface="Roboto Mono"/>
                <a:cs typeface="Roboto Mono"/>
                <a:sym typeface="Roboto Mono"/>
              </a:rPr>
              <a:t>TECHNICAL APPENDIX</a:t>
            </a:r>
            <a:endParaRPr b="0" i="0" sz="834" u="none" cap="none" strike="noStrike">
              <a:solidFill>
                <a:schemeClr val="dk1"/>
              </a:solidFill>
              <a:latin typeface="Calibri"/>
              <a:ea typeface="Calibri"/>
              <a:cs typeface="Calibri"/>
              <a:sym typeface="Calibri"/>
            </a:endParaRPr>
          </a:p>
        </p:txBody>
      </p:sp>
      <p:sp>
        <p:nvSpPr>
          <p:cNvPr id="1204" name="Google Shape;1204;p32"/>
          <p:cNvSpPr/>
          <p:nvPr/>
        </p:nvSpPr>
        <p:spPr>
          <a:xfrm>
            <a:off x="428625" y="635794"/>
            <a:ext cx="8286750" cy="411463"/>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STRIDE Threat Model &amp; Mitigation</a:t>
            </a:r>
            <a:endParaRPr b="0" i="0" sz="2436" u="none" cap="none" strike="noStrike">
              <a:solidFill>
                <a:schemeClr val="dk1"/>
              </a:solidFill>
              <a:latin typeface="Calibri"/>
              <a:ea typeface="Calibri"/>
              <a:cs typeface="Calibri"/>
              <a:sym typeface="Calibri"/>
            </a:endParaRPr>
          </a:p>
        </p:txBody>
      </p:sp>
      <p:sp>
        <p:nvSpPr>
          <p:cNvPr id="1205" name="Google Shape;1205;p32"/>
          <p:cNvSpPr/>
          <p:nvPr/>
        </p:nvSpPr>
        <p:spPr>
          <a:xfrm>
            <a:off x="428625" y="1175845"/>
            <a:ext cx="2705081" cy="1771259"/>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2"/>
          <p:cNvSpPr/>
          <p:nvPr/>
        </p:nvSpPr>
        <p:spPr>
          <a:xfrm>
            <a:off x="514350" y="1261570"/>
            <a:ext cx="137517" cy="228600"/>
          </a:xfrm>
          <a:prstGeom prst="rect">
            <a:avLst/>
          </a:prstGeom>
          <a:noFill/>
          <a:ln>
            <a:noFill/>
          </a:ln>
        </p:spPr>
        <p:txBody>
          <a:bodyPr anchorCtr="0" anchor="t" bIns="0" lIns="0" spcFirstLastPara="1" rIns="0" wrap="square" tIns="0">
            <a:noAutofit/>
          </a:bodyPr>
          <a:lstStyle/>
          <a:p>
            <a:pPr indent="0" lvl="0" marL="0" marR="0" rtl="0" algn="l">
              <a:lnSpc>
                <a:spcPct val="112359"/>
              </a:lnSpc>
              <a:spcBef>
                <a:spcPts val="0"/>
              </a:spcBef>
              <a:spcAft>
                <a:spcPts val="0"/>
              </a:spcAft>
              <a:buClr>
                <a:srgbClr val="E53E3E"/>
              </a:buClr>
              <a:buSzPts val="1602"/>
              <a:buFont typeface="Roboto Mono"/>
              <a:buNone/>
            </a:pPr>
            <a:r>
              <a:rPr b="1" i="0" lang="en-US" sz="1602" u="none" cap="none" strike="noStrike">
                <a:solidFill>
                  <a:srgbClr val="E53E3E"/>
                </a:solidFill>
                <a:latin typeface="Roboto Mono"/>
                <a:ea typeface="Roboto Mono"/>
                <a:cs typeface="Roboto Mono"/>
                <a:sym typeface="Roboto Mono"/>
              </a:rPr>
              <a:t>S</a:t>
            </a:r>
            <a:endParaRPr b="0" i="0" sz="1602" u="none" cap="none" strike="noStrike">
              <a:solidFill>
                <a:schemeClr val="dk1"/>
              </a:solidFill>
              <a:latin typeface="Calibri"/>
              <a:ea typeface="Calibri"/>
              <a:cs typeface="Calibri"/>
              <a:sym typeface="Calibri"/>
            </a:endParaRPr>
          </a:p>
        </p:txBody>
      </p:sp>
      <p:sp>
        <p:nvSpPr>
          <p:cNvPr id="1207" name="Google Shape;1207;p32"/>
          <p:cNvSpPr/>
          <p:nvPr/>
        </p:nvSpPr>
        <p:spPr>
          <a:xfrm>
            <a:off x="737592" y="1281215"/>
            <a:ext cx="685800"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SPOOFING</a:t>
            </a:r>
            <a:endParaRPr b="0" i="0" sz="987" u="none" cap="none" strike="noStrike">
              <a:solidFill>
                <a:schemeClr val="dk1"/>
              </a:solidFill>
              <a:latin typeface="Calibri"/>
              <a:ea typeface="Calibri"/>
              <a:cs typeface="Calibri"/>
              <a:sym typeface="Calibri"/>
            </a:endParaRPr>
          </a:p>
        </p:txBody>
      </p:sp>
      <p:sp>
        <p:nvSpPr>
          <p:cNvPr id="1208" name="Google Shape;1208;p32"/>
          <p:cNvSpPr/>
          <p:nvPr/>
        </p:nvSpPr>
        <p:spPr>
          <a:xfrm>
            <a:off x="514350" y="1611613"/>
            <a:ext cx="2533631"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A0AEC0"/>
              </a:buClr>
              <a:buSzPts val="780"/>
              <a:buFont typeface="Inter"/>
              <a:buNone/>
            </a:pPr>
            <a:r>
              <a:rPr b="0" i="0" lang="en-US" sz="780" u="none" cap="none" strike="noStrike">
                <a:solidFill>
                  <a:srgbClr val="A0AEC0"/>
                </a:solidFill>
                <a:latin typeface="Inter"/>
                <a:ea typeface="Inter"/>
                <a:cs typeface="Inter"/>
                <a:sym typeface="Inter"/>
              </a:rPr>
              <a:t>An attacker attempts to impersonate a legitimate workload or the OpAMP Server.</a:t>
            </a:r>
            <a:endParaRPr b="0" i="0" sz="780" u="none" cap="none" strike="noStrike">
              <a:solidFill>
                <a:schemeClr val="dk1"/>
              </a:solidFill>
              <a:latin typeface="Calibri"/>
              <a:ea typeface="Calibri"/>
              <a:cs typeface="Calibri"/>
              <a:sym typeface="Calibri"/>
            </a:endParaRPr>
          </a:p>
        </p:txBody>
      </p:sp>
      <p:sp>
        <p:nvSpPr>
          <p:cNvPr id="1209" name="Google Shape;1209;p32"/>
          <p:cNvSpPr/>
          <p:nvPr/>
        </p:nvSpPr>
        <p:spPr>
          <a:xfrm>
            <a:off x="514350" y="2068813"/>
            <a:ext cx="2533631" cy="778278"/>
          </a:xfrm>
          <a:prstGeom prst="rect">
            <a:avLst/>
          </a:prstGeom>
          <a:solidFill>
            <a:srgbClr val="00E676">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2"/>
          <p:cNvSpPr/>
          <p:nvPr/>
        </p:nvSpPr>
        <p:spPr>
          <a:xfrm>
            <a:off x="514350" y="2068813"/>
            <a:ext cx="21431" cy="77827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2"/>
          <p:cNvSpPr/>
          <p:nvPr/>
        </p:nvSpPr>
        <p:spPr>
          <a:xfrm>
            <a:off x="600075" y="2140251"/>
            <a:ext cx="2362181"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00E676"/>
              </a:buClr>
              <a:buSzPts val="621"/>
              <a:buFont typeface="Roboto Mono"/>
              <a:buNone/>
            </a:pPr>
            <a:r>
              <a:rPr b="0" i="0" lang="en-US" sz="621" u="none" cap="none" strike="noStrike">
                <a:solidFill>
                  <a:srgbClr val="00E676"/>
                </a:solidFill>
                <a:latin typeface="Roboto Mono"/>
                <a:ea typeface="Roboto Mono"/>
                <a:cs typeface="Roboto Mono"/>
                <a:sym typeface="Roboto Mono"/>
              </a:rPr>
              <a:t>MITIGATION</a:t>
            </a:r>
            <a:endParaRPr b="0" i="0" sz="621" u="none" cap="none" strike="noStrike">
              <a:solidFill>
                <a:schemeClr val="dk1"/>
              </a:solidFill>
              <a:latin typeface="Calibri"/>
              <a:ea typeface="Calibri"/>
              <a:cs typeface="Calibri"/>
              <a:sym typeface="Calibri"/>
            </a:endParaRPr>
          </a:p>
        </p:txBody>
      </p:sp>
      <p:sp>
        <p:nvSpPr>
          <p:cNvPr id="1212" name="Google Shape;1212;p32"/>
          <p:cNvSpPr/>
          <p:nvPr/>
        </p:nvSpPr>
        <p:spPr>
          <a:xfrm>
            <a:off x="600075" y="2295627"/>
            <a:ext cx="2362181" cy="480027"/>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Strict mTLS</a:t>
            </a:r>
            <a:r>
              <a:rPr b="0" i="0" lang="en-US" sz="834" u="none" cap="none" strike="noStrike">
                <a:solidFill>
                  <a:srgbClr val="E0E0E0"/>
                </a:solidFill>
                <a:latin typeface="Inter"/>
                <a:ea typeface="Inter"/>
                <a:cs typeface="Inter"/>
                <a:sym typeface="Inter"/>
              </a:rPr>
              <a:t> for all communication. Cloud attestation required for initial bootstrapping.</a:t>
            </a:r>
            <a:endParaRPr b="0" i="0" sz="784" u="none" cap="none" strike="noStrike">
              <a:solidFill>
                <a:schemeClr val="dk1"/>
              </a:solidFill>
              <a:latin typeface="Calibri"/>
              <a:ea typeface="Calibri"/>
              <a:cs typeface="Calibri"/>
              <a:sym typeface="Calibri"/>
            </a:endParaRPr>
          </a:p>
        </p:txBody>
      </p:sp>
      <p:sp>
        <p:nvSpPr>
          <p:cNvPr id="1213" name="Google Shape;1213;p32"/>
          <p:cNvSpPr/>
          <p:nvPr/>
        </p:nvSpPr>
        <p:spPr>
          <a:xfrm>
            <a:off x="3219431" y="1175845"/>
            <a:ext cx="2705109" cy="1771259"/>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2"/>
          <p:cNvSpPr/>
          <p:nvPr/>
        </p:nvSpPr>
        <p:spPr>
          <a:xfrm>
            <a:off x="3305156" y="1261570"/>
            <a:ext cx="137517" cy="228600"/>
          </a:xfrm>
          <a:prstGeom prst="rect">
            <a:avLst/>
          </a:prstGeom>
          <a:noFill/>
          <a:ln>
            <a:noFill/>
          </a:ln>
        </p:spPr>
        <p:txBody>
          <a:bodyPr anchorCtr="0" anchor="t" bIns="0" lIns="0" spcFirstLastPara="1" rIns="0" wrap="square" tIns="0">
            <a:noAutofit/>
          </a:bodyPr>
          <a:lstStyle/>
          <a:p>
            <a:pPr indent="0" lvl="0" marL="0" marR="0" rtl="0" algn="l">
              <a:lnSpc>
                <a:spcPct val="112359"/>
              </a:lnSpc>
              <a:spcBef>
                <a:spcPts val="0"/>
              </a:spcBef>
              <a:spcAft>
                <a:spcPts val="0"/>
              </a:spcAft>
              <a:buClr>
                <a:srgbClr val="E53E3E"/>
              </a:buClr>
              <a:buSzPts val="1602"/>
              <a:buFont typeface="Roboto Mono"/>
              <a:buNone/>
            </a:pPr>
            <a:r>
              <a:rPr b="1" i="0" lang="en-US" sz="1602" u="none" cap="none" strike="noStrike">
                <a:solidFill>
                  <a:srgbClr val="E53E3E"/>
                </a:solidFill>
                <a:latin typeface="Roboto Mono"/>
                <a:ea typeface="Roboto Mono"/>
                <a:cs typeface="Roboto Mono"/>
                <a:sym typeface="Roboto Mono"/>
              </a:rPr>
              <a:t>T</a:t>
            </a:r>
            <a:endParaRPr b="0" i="0" sz="1602" u="none" cap="none" strike="noStrike">
              <a:solidFill>
                <a:schemeClr val="dk1"/>
              </a:solidFill>
              <a:latin typeface="Calibri"/>
              <a:ea typeface="Calibri"/>
              <a:cs typeface="Calibri"/>
              <a:sym typeface="Calibri"/>
            </a:endParaRPr>
          </a:p>
        </p:txBody>
      </p:sp>
      <p:sp>
        <p:nvSpPr>
          <p:cNvPr id="1215" name="Google Shape;1215;p32"/>
          <p:cNvSpPr/>
          <p:nvPr/>
        </p:nvSpPr>
        <p:spPr>
          <a:xfrm>
            <a:off x="3528399" y="1281215"/>
            <a:ext cx="771525"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TAMPERING</a:t>
            </a:r>
            <a:endParaRPr b="0" i="0" sz="987" u="none" cap="none" strike="noStrike">
              <a:solidFill>
                <a:schemeClr val="dk1"/>
              </a:solidFill>
              <a:latin typeface="Calibri"/>
              <a:ea typeface="Calibri"/>
              <a:cs typeface="Calibri"/>
              <a:sym typeface="Calibri"/>
            </a:endParaRPr>
          </a:p>
        </p:txBody>
      </p:sp>
      <p:sp>
        <p:nvSpPr>
          <p:cNvPr id="1216" name="Google Shape;1216;p32"/>
          <p:cNvSpPr/>
          <p:nvPr/>
        </p:nvSpPr>
        <p:spPr>
          <a:xfrm>
            <a:off x="3305156" y="1611613"/>
            <a:ext cx="2533659"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A0AEC0"/>
              </a:buClr>
              <a:buSzPts val="780"/>
              <a:buFont typeface="Inter"/>
              <a:buNone/>
            </a:pPr>
            <a:r>
              <a:rPr b="0" i="0" lang="en-US" sz="780" u="none" cap="none" strike="noStrike">
                <a:solidFill>
                  <a:srgbClr val="A0AEC0"/>
                </a:solidFill>
                <a:latin typeface="Inter"/>
                <a:ea typeface="Inter"/>
                <a:cs typeface="Inter"/>
                <a:sym typeface="Inter"/>
              </a:rPr>
              <a:t>Malicious modification of certificates, CSRs, or trust bundles in transit or at rest.</a:t>
            </a:r>
            <a:endParaRPr b="0" i="0" sz="780" u="none" cap="none" strike="noStrike">
              <a:solidFill>
                <a:schemeClr val="dk1"/>
              </a:solidFill>
              <a:latin typeface="Calibri"/>
              <a:ea typeface="Calibri"/>
              <a:cs typeface="Calibri"/>
              <a:sym typeface="Calibri"/>
            </a:endParaRPr>
          </a:p>
        </p:txBody>
      </p:sp>
      <p:sp>
        <p:nvSpPr>
          <p:cNvPr id="1217" name="Google Shape;1217;p32"/>
          <p:cNvSpPr/>
          <p:nvPr/>
        </p:nvSpPr>
        <p:spPr>
          <a:xfrm>
            <a:off x="3305156" y="2068813"/>
            <a:ext cx="2533659" cy="778278"/>
          </a:xfrm>
          <a:prstGeom prst="rect">
            <a:avLst/>
          </a:prstGeom>
          <a:solidFill>
            <a:srgbClr val="00E676">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2"/>
          <p:cNvSpPr/>
          <p:nvPr/>
        </p:nvSpPr>
        <p:spPr>
          <a:xfrm>
            <a:off x="3305156" y="2068813"/>
            <a:ext cx="21431" cy="77827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2"/>
          <p:cNvSpPr/>
          <p:nvPr/>
        </p:nvSpPr>
        <p:spPr>
          <a:xfrm>
            <a:off x="3390881" y="2140251"/>
            <a:ext cx="2362209"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00E676"/>
              </a:buClr>
              <a:buSzPts val="621"/>
              <a:buFont typeface="Roboto Mono"/>
              <a:buNone/>
            </a:pPr>
            <a:r>
              <a:rPr b="0" i="0" lang="en-US" sz="621" u="none" cap="none" strike="noStrike">
                <a:solidFill>
                  <a:srgbClr val="00E676"/>
                </a:solidFill>
                <a:latin typeface="Roboto Mono"/>
                <a:ea typeface="Roboto Mono"/>
                <a:cs typeface="Roboto Mono"/>
                <a:sym typeface="Roboto Mono"/>
              </a:rPr>
              <a:t>MITIGATION</a:t>
            </a:r>
            <a:endParaRPr b="0" i="0" sz="621" u="none" cap="none" strike="noStrike">
              <a:solidFill>
                <a:schemeClr val="dk1"/>
              </a:solidFill>
              <a:latin typeface="Calibri"/>
              <a:ea typeface="Calibri"/>
              <a:cs typeface="Calibri"/>
              <a:sym typeface="Calibri"/>
            </a:endParaRPr>
          </a:p>
        </p:txBody>
      </p:sp>
      <p:sp>
        <p:nvSpPr>
          <p:cNvPr id="1220" name="Google Shape;1220;p32"/>
          <p:cNvSpPr/>
          <p:nvPr/>
        </p:nvSpPr>
        <p:spPr>
          <a:xfrm>
            <a:off x="3390881" y="2295627"/>
            <a:ext cx="2362209" cy="480027"/>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All payloads signed and delivered over encrypted channels; certificates mounted as </a:t>
            </a:r>
            <a:r>
              <a:rPr b="1" i="0" lang="en-US" sz="784" u="none" cap="none" strike="noStrike">
                <a:solidFill>
                  <a:srgbClr val="FFFFFF"/>
                </a:solidFill>
                <a:latin typeface="Inter"/>
                <a:ea typeface="Inter"/>
                <a:cs typeface="Inter"/>
                <a:sym typeface="Inter"/>
              </a:rPr>
              <a:t>read-only volumes</a:t>
            </a:r>
            <a:r>
              <a:rPr b="0" i="0" lang="en-US" sz="834" u="none" cap="none" strike="noStrike">
                <a:solidFill>
                  <a:srgbClr val="E0E0E0"/>
                </a:solidFill>
                <a:latin typeface="Inter"/>
                <a:ea typeface="Inter"/>
                <a:cs typeface="Inter"/>
                <a:sym typeface="Inter"/>
              </a:rPr>
              <a:t>.</a:t>
            </a:r>
            <a:endParaRPr b="0" i="0" sz="834" u="none" cap="none" strike="noStrike">
              <a:solidFill>
                <a:schemeClr val="dk1"/>
              </a:solidFill>
              <a:latin typeface="Calibri"/>
              <a:ea typeface="Calibri"/>
              <a:cs typeface="Calibri"/>
              <a:sym typeface="Calibri"/>
            </a:endParaRPr>
          </a:p>
        </p:txBody>
      </p:sp>
      <p:sp>
        <p:nvSpPr>
          <p:cNvPr id="1221" name="Google Shape;1221;p32"/>
          <p:cNvSpPr/>
          <p:nvPr/>
        </p:nvSpPr>
        <p:spPr>
          <a:xfrm>
            <a:off x="6010266" y="1175845"/>
            <a:ext cx="2705081" cy="1771259"/>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2"/>
          <p:cNvSpPr/>
          <p:nvPr/>
        </p:nvSpPr>
        <p:spPr>
          <a:xfrm>
            <a:off x="6095991" y="1261570"/>
            <a:ext cx="137517" cy="228600"/>
          </a:xfrm>
          <a:prstGeom prst="rect">
            <a:avLst/>
          </a:prstGeom>
          <a:noFill/>
          <a:ln>
            <a:noFill/>
          </a:ln>
        </p:spPr>
        <p:txBody>
          <a:bodyPr anchorCtr="0" anchor="t" bIns="0" lIns="0" spcFirstLastPara="1" rIns="0" wrap="square" tIns="0">
            <a:noAutofit/>
          </a:bodyPr>
          <a:lstStyle/>
          <a:p>
            <a:pPr indent="0" lvl="0" marL="0" marR="0" rtl="0" algn="l">
              <a:lnSpc>
                <a:spcPct val="112359"/>
              </a:lnSpc>
              <a:spcBef>
                <a:spcPts val="0"/>
              </a:spcBef>
              <a:spcAft>
                <a:spcPts val="0"/>
              </a:spcAft>
              <a:buClr>
                <a:srgbClr val="E53E3E"/>
              </a:buClr>
              <a:buSzPts val="1602"/>
              <a:buFont typeface="Roboto Mono"/>
              <a:buNone/>
            </a:pPr>
            <a:r>
              <a:rPr b="1" i="0" lang="en-US" sz="1602" u="none" cap="none" strike="noStrike">
                <a:solidFill>
                  <a:srgbClr val="E53E3E"/>
                </a:solidFill>
                <a:latin typeface="Roboto Mono"/>
                <a:ea typeface="Roboto Mono"/>
                <a:cs typeface="Roboto Mono"/>
                <a:sym typeface="Roboto Mono"/>
              </a:rPr>
              <a:t>R</a:t>
            </a:r>
            <a:endParaRPr b="0" i="0" sz="1602" u="none" cap="none" strike="noStrike">
              <a:solidFill>
                <a:schemeClr val="dk1"/>
              </a:solidFill>
              <a:latin typeface="Calibri"/>
              <a:ea typeface="Calibri"/>
              <a:cs typeface="Calibri"/>
              <a:sym typeface="Calibri"/>
            </a:endParaRPr>
          </a:p>
        </p:txBody>
      </p:sp>
      <p:sp>
        <p:nvSpPr>
          <p:cNvPr id="1223" name="Google Shape;1223;p32"/>
          <p:cNvSpPr/>
          <p:nvPr/>
        </p:nvSpPr>
        <p:spPr>
          <a:xfrm>
            <a:off x="6319233" y="1281215"/>
            <a:ext cx="942975"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REPUDIATION</a:t>
            </a:r>
            <a:endParaRPr b="0" i="0" sz="987" u="none" cap="none" strike="noStrike">
              <a:solidFill>
                <a:schemeClr val="dk1"/>
              </a:solidFill>
              <a:latin typeface="Calibri"/>
              <a:ea typeface="Calibri"/>
              <a:cs typeface="Calibri"/>
              <a:sym typeface="Calibri"/>
            </a:endParaRPr>
          </a:p>
        </p:txBody>
      </p:sp>
      <p:sp>
        <p:nvSpPr>
          <p:cNvPr id="1224" name="Google Shape;1224;p32"/>
          <p:cNvSpPr/>
          <p:nvPr/>
        </p:nvSpPr>
        <p:spPr>
          <a:xfrm>
            <a:off x="6095991" y="1611613"/>
            <a:ext cx="2533631"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A0AEC0"/>
              </a:buClr>
              <a:buSzPts val="780"/>
              <a:buFont typeface="Inter"/>
              <a:buNone/>
            </a:pPr>
            <a:r>
              <a:rPr b="0" i="0" lang="en-US" sz="780" u="none" cap="none" strike="noStrike">
                <a:solidFill>
                  <a:srgbClr val="A0AEC0"/>
                </a:solidFill>
                <a:latin typeface="Inter"/>
                <a:ea typeface="Inter"/>
                <a:cs typeface="Inter"/>
                <a:sym typeface="Inter"/>
              </a:rPr>
              <a:t>A user or system denies performing an action, such as requesting or revoking a certificate.</a:t>
            </a:r>
            <a:endParaRPr b="0" i="0" sz="780" u="none" cap="none" strike="noStrike">
              <a:solidFill>
                <a:schemeClr val="dk1"/>
              </a:solidFill>
              <a:latin typeface="Calibri"/>
              <a:ea typeface="Calibri"/>
              <a:cs typeface="Calibri"/>
              <a:sym typeface="Calibri"/>
            </a:endParaRPr>
          </a:p>
        </p:txBody>
      </p:sp>
      <p:sp>
        <p:nvSpPr>
          <p:cNvPr id="1225" name="Google Shape;1225;p32"/>
          <p:cNvSpPr/>
          <p:nvPr/>
        </p:nvSpPr>
        <p:spPr>
          <a:xfrm>
            <a:off x="6095991" y="2068813"/>
            <a:ext cx="2533631" cy="778278"/>
          </a:xfrm>
          <a:prstGeom prst="rect">
            <a:avLst/>
          </a:prstGeom>
          <a:solidFill>
            <a:srgbClr val="00E676">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2"/>
          <p:cNvSpPr/>
          <p:nvPr/>
        </p:nvSpPr>
        <p:spPr>
          <a:xfrm>
            <a:off x="6095991" y="2068813"/>
            <a:ext cx="21431" cy="77827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2"/>
          <p:cNvSpPr/>
          <p:nvPr/>
        </p:nvSpPr>
        <p:spPr>
          <a:xfrm>
            <a:off x="6181716" y="2140251"/>
            <a:ext cx="2362181"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00E676"/>
              </a:buClr>
              <a:buSzPts val="621"/>
              <a:buFont typeface="Roboto Mono"/>
              <a:buNone/>
            </a:pPr>
            <a:r>
              <a:rPr b="0" i="0" lang="en-US" sz="621" u="none" cap="none" strike="noStrike">
                <a:solidFill>
                  <a:srgbClr val="00E676"/>
                </a:solidFill>
                <a:latin typeface="Roboto Mono"/>
                <a:ea typeface="Roboto Mono"/>
                <a:cs typeface="Roboto Mono"/>
                <a:sym typeface="Roboto Mono"/>
              </a:rPr>
              <a:t>MITIGATION</a:t>
            </a:r>
            <a:endParaRPr b="0" i="0" sz="621" u="none" cap="none" strike="noStrike">
              <a:solidFill>
                <a:schemeClr val="dk1"/>
              </a:solidFill>
              <a:latin typeface="Calibri"/>
              <a:ea typeface="Calibri"/>
              <a:cs typeface="Calibri"/>
              <a:sym typeface="Calibri"/>
            </a:endParaRPr>
          </a:p>
        </p:txBody>
      </p:sp>
      <p:sp>
        <p:nvSpPr>
          <p:cNvPr id="1228" name="Google Shape;1228;p32"/>
          <p:cNvSpPr/>
          <p:nvPr/>
        </p:nvSpPr>
        <p:spPr>
          <a:xfrm>
            <a:off x="6181716" y="2295627"/>
            <a:ext cx="2362181" cy="480027"/>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Centralized, immutable audit logging in PostgreSQL. Every CSR and revocation is cryptographically tied to an identity.</a:t>
            </a:r>
            <a:endParaRPr b="0" i="0" sz="834" u="none" cap="none" strike="noStrike">
              <a:solidFill>
                <a:schemeClr val="dk1"/>
              </a:solidFill>
              <a:latin typeface="Calibri"/>
              <a:ea typeface="Calibri"/>
              <a:cs typeface="Calibri"/>
              <a:sym typeface="Calibri"/>
            </a:endParaRPr>
          </a:p>
        </p:txBody>
      </p:sp>
      <p:sp>
        <p:nvSpPr>
          <p:cNvPr id="1229" name="Google Shape;1229;p32"/>
          <p:cNvSpPr/>
          <p:nvPr/>
        </p:nvSpPr>
        <p:spPr>
          <a:xfrm>
            <a:off x="428625" y="3018541"/>
            <a:ext cx="2705081" cy="1771259"/>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2"/>
          <p:cNvSpPr/>
          <p:nvPr/>
        </p:nvSpPr>
        <p:spPr>
          <a:xfrm>
            <a:off x="514350" y="3104266"/>
            <a:ext cx="137517" cy="228600"/>
          </a:xfrm>
          <a:prstGeom prst="rect">
            <a:avLst/>
          </a:prstGeom>
          <a:noFill/>
          <a:ln>
            <a:noFill/>
          </a:ln>
        </p:spPr>
        <p:txBody>
          <a:bodyPr anchorCtr="0" anchor="t" bIns="0" lIns="0" spcFirstLastPara="1" rIns="0" wrap="square" tIns="0">
            <a:noAutofit/>
          </a:bodyPr>
          <a:lstStyle/>
          <a:p>
            <a:pPr indent="0" lvl="0" marL="0" marR="0" rtl="0" algn="l">
              <a:lnSpc>
                <a:spcPct val="112359"/>
              </a:lnSpc>
              <a:spcBef>
                <a:spcPts val="0"/>
              </a:spcBef>
              <a:spcAft>
                <a:spcPts val="0"/>
              </a:spcAft>
              <a:buClr>
                <a:srgbClr val="E53E3E"/>
              </a:buClr>
              <a:buSzPts val="1602"/>
              <a:buFont typeface="Roboto Mono"/>
              <a:buNone/>
            </a:pPr>
            <a:r>
              <a:rPr b="1" i="0" lang="en-US" sz="1602" u="none" cap="none" strike="noStrike">
                <a:solidFill>
                  <a:srgbClr val="E53E3E"/>
                </a:solidFill>
                <a:latin typeface="Roboto Mono"/>
                <a:ea typeface="Roboto Mono"/>
                <a:cs typeface="Roboto Mono"/>
                <a:sym typeface="Roboto Mono"/>
              </a:rPr>
              <a:t>I</a:t>
            </a:r>
            <a:endParaRPr b="0" i="0" sz="1602" u="none" cap="none" strike="noStrike">
              <a:solidFill>
                <a:schemeClr val="dk1"/>
              </a:solidFill>
              <a:latin typeface="Calibri"/>
              <a:ea typeface="Calibri"/>
              <a:cs typeface="Calibri"/>
              <a:sym typeface="Calibri"/>
            </a:endParaRPr>
          </a:p>
        </p:txBody>
      </p:sp>
      <p:sp>
        <p:nvSpPr>
          <p:cNvPr id="1231" name="Google Shape;1231;p32"/>
          <p:cNvSpPr/>
          <p:nvPr/>
        </p:nvSpPr>
        <p:spPr>
          <a:xfrm>
            <a:off x="737592" y="3123912"/>
            <a:ext cx="1285875"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INFO DISCLOSURE</a:t>
            </a:r>
            <a:endParaRPr b="0" i="0" sz="987" u="none" cap="none" strike="noStrike">
              <a:solidFill>
                <a:schemeClr val="dk1"/>
              </a:solidFill>
              <a:latin typeface="Calibri"/>
              <a:ea typeface="Calibri"/>
              <a:cs typeface="Calibri"/>
              <a:sym typeface="Calibri"/>
            </a:endParaRPr>
          </a:p>
        </p:txBody>
      </p:sp>
      <p:sp>
        <p:nvSpPr>
          <p:cNvPr id="1232" name="Google Shape;1232;p32"/>
          <p:cNvSpPr/>
          <p:nvPr/>
        </p:nvSpPr>
        <p:spPr>
          <a:xfrm>
            <a:off x="514350" y="3454310"/>
            <a:ext cx="2533631"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A0AEC0"/>
              </a:buClr>
              <a:buSzPts val="780"/>
              <a:buFont typeface="Inter"/>
              <a:buNone/>
            </a:pPr>
            <a:r>
              <a:rPr b="0" i="0" lang="en-US" sz="780" u="none" cap="none" strike="noStrike">
                <a:solidFill>
                  <a:srgbClr val="A0AEC0"/>
                </a:solidFill>
                <a:latin typeface="Inter"/>
                <a:ea typeface="Inter"/>
                <a:cs typeface="Inter"/>
                <a:sym typeface="Inter"/>
              </a:rPr>
              <a:t>Exposure of sensitive data, specifically private keys or trust anchors.</a:t>
            </a:r>
            <a:endParaRPr b="0" i="0" sz="780" u="none" cap="none" strike="noStrike">
              <a:solidFill>
                <a:schemeClr val="dk1"/>
              </a:solidFill>
              <a:latin typeface="Calibri"/>
              <a:ea typeface="Calibri"/>
              <a:cs typeface="Calibri"/>
              <a:sym typeface="Calibri"/>
            </a:endParaRPr>
          </a:p>
        </p:txBody>
      </p:sp>
      <p:sp>
        <p:nvSpPr>
          <p:cNvPr id="1233" name="Google Shape;1233;p32"/>
          <p:cNvSpPr/>
          <p:nvPr/>
        </p:nvSpPr>
        <p:spPr>
          <a:xfrm>
            <a:off x="514350" y="3911510"/>
            <a:ext cx="2533631" cy="778278"/>
          </a:xfrm>
          <a:prstGeom prst="rect">
            <a:avLst/>
          </a:prstGeom>
          <a:solidFill>
            <a:srgbClr val="00E676">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2"/>
          <p:cNvSpPr/>
          <p:nvPr/>
        </p:nvSpPr>
        <p:spPr>
          <a:xfrm>
            <a:off x="514350" y="3911510"/>
            <a:ext cx="21431" cy="77827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2"/>
          <p:cNvSpPr/>
          <p:nvPr/>
        </p:nvSpPr>
        <p:spPr>
          <a:xfrm>
            <a:off x="600075" y="3982948"/>
            <a:ext cx="2362181"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00E676"/>
              </a:buClr>
              <a:buSzPts val="621"/>
              <a:buFont typeface="Roboto Mono"/>
              <a:buNone/>
            </a:pPr>
            <a:r>
              <a:rPr b="0" i="0" lang="en-US" sz="621" u="none" cap="none" strike="noStrike">
                <a:solidFill>
                  <a:srgbClr val="00E676"/>
                </a:solidFill>
                <a:latin typeface="Roboto Mono"/>
                <a:ea typeface="Roboto Mono"/>
                <a:cs typeface="Roboto Mono"/>
                <a:sym typeface="Roboto Mono"/>
              </a:rPr>
              <a:t>MITIGATION</a:t>
            </a:r>
            <a:endParaRPr b="0" i="0" sz="621" u="none" cap="none" strike="noStrike">
              <a:solidFill>
                <a:schemeClr val="dk1"/>
              </a:solidFill>
              <a:latin typeface="Calibri"/>
              <a:ea typeface="Calibri"/>
              <a:cs typeface="Calibri"/>
              <a:sym typeface="Calibri"/>
            </a:endParaRPr>
          </a:p>
        </p:txBody>
      </p:sp>
      <p:sp>
        <p:nvSpPr>
          <p:cNvPr id="1236" name="Google Shape;1236;p32"/>
          <p:cNvSpPr/>
          <p:nvPr/>
        </p:nvSpPr>
        <p:spPr>
          <a:xfrm>
            <a:off x="600075" y="4138324"/>
            <a:ext cx="2362181" cy="480027"/>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Private keys are generated locally and </a:t>
            </a:r>
            <a:r>
              <a:rPr b="1" i="0" lang="en-US" sz="784" u="none" cap="none" strike="noStrike">
                <a:solidFill>
                  <a:srgbClr val="FFFFFF"/>
                </a:solidFill>
                <a:latin typeface="Inter"/>
                <a:ea typeface="Inter"/>
                <a:cs typeface="Inter"/>
                <a:sym typeface="Inter"/>
              </a:rPr>
              <a:t>never leave the node</a:t>
            </a:r>
            <a:r>
              <a:rPr b="0" i="0" lang="en-US" sz="834" u="none" cap="none" strike="noStrike">
                <a:solidFill>
                  <a:srgbClr val="E0E0E0"/>
                </a:solidFill>
                <a:latin typeface="Inter"/>
                <a:ea typeface="Inter"/>
                <a:cs typeface="Inter"/>
                <a:sym typeface="Inter"/>
              </a:rPr>
              <a:t>. Root keys secured in FIPS 140-3 HSMs.</a:t>
            </a:r>
            <a:endParaRPr b="0" i="0" sz="834" u="none" cap="none" strike="noStrike">
              <a:solidFill>
                <a:schemeClr val="dk1"/>
              </a:solidFill>
              <a:latin typeface="Calibri"/>
              <a:ea typeface="Calibri"/>
              <a:cs typeface="Calibri"/>
              <a:sym typeface="Calibri"/>
            </a:endParaRPr>
          </a:p>
        </p:txBody>
      </p:sp>
      <p:sp>
        <p:nvSpPr>
          <p:cNvPr id="1237" name="Google Shape;1237;p32"/>
          <p:cNvSpPr/>
          <p:nvPr/>
        </p:nvSpPr>
        <p:spPr>
          <a:xfrm>
            <a:off x="3219431" y="3018541"/>
            <a:ext cx="2705109" cy="1771259"/>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2"/>
          <p:cNvSpPr/>
          <p:nvPr/>
        </p:nvSpPr>
        <p:spPr>
          <a:xfrm>
            <a:off x="3305156" y="3104266"/>
            <a:ext cx="137517" cy="228600"/>
          </a:xfrm>
          <a:prstGeom prst="rect">
            <a:avLst/>
          </a:prstGeom>
          <a:noFill/>
          <a:ln>
            <a:noFill/>
          </a:ln>
        </p:spPr>
        <p:txBody>
          <a:bodyPr anchorCtr="0" anchor="t" bIns="0" lIns="0" spcFirstLastPara="1" rIns="0" wrap="square" tIns="0">
            <a:noAutofit/>
          </a:bodyPr>
          <a:lstStyle/>
          <a:p>
            <a:pPr indent="0" lvl="0" marL="0" marR="0" rtl="0" algn="l">
              <a:lnSpc>
                <a:spcPct val="112359"/>
              </a:lnSpc>
              <a:spcBef>
                <a:spcPts val="0"/>
              </a:spcBef>
              <a:spcAft>
                <a:spcPts val="0"/>
              </a:spcAft>
              <a:buClr>
                <a:srgbClr val="E53E3E"/>
              </a:buClr>
              <a:buSzPts val="1602"/>
              <a:buFont typeface="Roboto Mono"/>
              <a:buNone/>
            </a:pPr>
            <a:r>
              <a:rPr b="1" i="0" lang="en-US" sz="1602" u="none" cap="none" strike="noStrike">
                <a:solidFill>
                  <a:srgbClr val="E53E3E"/>
                </a:solidFill>
                <a:latin typeface="Roboto Mono"/>
                <a:ea typeface="Roboto Mono"/>
                <a:cs typeface="Roboto Mono"/>
                <a:sym typeface="Roboto Mono"/>
              </a:rPr>
              <a:t>D</a:t>
            </a:r>
            <a:endParaRPr b="0" i="0" sz="1602" u="none" cap="none" strike="noStrike">
              <a:solidFill>
                <a:schemeClr val="dk1"/>
              </a:solidFill>
              <a:latin typeface="Calibri"/>
              <a:ea typeface="Calibri"/>
              <a:cs typeface="Calibri"/>
              <a:sym typeface="Calibri"/>
            </a:endParaRPr>
          </a:p>
        </p:txBody>
      </p:sp>
      <p:sp>
        <p:nvSpPr>
          <p:cNvPr id="1239" name="Google Shape;1239;p32"/>
          <p:cNvSpPr/>
          <p:nvPr/>
        </p:nvSpPr>
        <p:spPr>
          <a:xfrm>
            <a:off x="3528399" y="3123912"/>
            <a:ext cx="1457325"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DENIAL OF SERVICE</a:t>
            </a:r>
            <a:endParaRPr b="0" i="0" sz="987" u="none" cap="none" strike="noStrike">
              <a:solidFill>
                <a:schemeClr val="dk1"/>
              </a:solidFill>
              <a:latin typeface="Calibri"/>
              <a:ea typeface="Calibri"/>
              <a:cs typeface="Calibri"/>
              <a:sym typeface="Calibri"/>
            </a:endParaRPr>
          </a:p>
        </p:txBody>
      </p:sp>
      <p:sp>
        <p:nvSpPr>
          <p:cNvPr id="1240" name="Google Shape;1240;p32"/>
          <p:cNvSpPr/>
          <p:nvPr/>
        </p:nvSpPr>
        <p:spPr>
          <a:xfrm>
            <a:off x="3305156" y="3454310"/>
            <a:ext cx="2533659"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A0AEC0"/>
              </a:buClr>
              <a:buSzPts val="780"/>
              <a:buFont typeface="Inter"/>
              <a:buNone/>
            </a:pPr>
            <a:r>
              <a:rPr b="0" i="0" lang="en-US" sz="780" u="none" cap="none" strike="noStrike">
                <a:solidFill>
                  <a:srgbClr val="A0AEC0"/>
                </a:solidFill>
                <a:latin typeface="Inter"/>
                <a:ea typeface="Inter"/>
                <a:cs typeface="Inter"/>
                <a:sym typeface="Inter"/>
              </a:rPr>
              <a:t>Overwhelming the PKI infrastructure to prevent legitimate certificate issuance or renewal.</a:t>
            </a:r>
            <a:endParaRPr b="0" i="0" sz="780" u="none" cap="none" strike="noStrike">
              <a:solidFill>
                <a:schemeClr val="dk1"/>
              </a:solidFill>
              <a:latin typeface="Calibri"/>
              <a:ea typeface="Calibri"/>
              <a:cs typeface="Calibri"/>
              <a:sym typeface="Calibri"/>
            </a:endParaRPr>
          </a:p>
        </p:txBody>
      </p:sp>
      <p:sp>
        <p:nvSpPr>
          <p:cNvPr id="1241" name="Google Shape;1241;p32"/>
          <p:cNvSpPr/>
          <p:nvPr/>
        </p:nvSpPr>
        <p:spPr>
          <a:xfrm>
            <a:off x="3305156" y="3911510"/>
            <a:ext cx="2533659" cy="778278"/>
          </a:xfrm>
          <a:prstGeom prst="rect">
            <a:avLst/>
          </a:prstGeom>
          <a:solidFill>
            <a:srgbClr val="00E676">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2"/>
          <p:cNvSpPr/>
          <p:nvPr/>
        </p:nvSpPr>
        <p:spPr>
          <a:xfrm>
            <a:off x="3305156" y="3911510"/>
            <a:ext cx="21431" cy="77827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2"/>
          <p:cNvSpPr/>
          <p:nvPr/>
        </p:nvSpPr>
        <p:spPr>
          <a:xfrm>
            <a:off x="3390881" y="3982948"/>
            <a:ext cx="2362209"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00E676"/>
              </a:buClr>
              <a:buSzPts val="621"/>
              <a:buFont typeface="Roboto Mono"/>
              <a:buNone/>
            </a:pPr>
            <a:r>
              <a:rPr b="0" i="0" lang="en-US" sz="621" u="none" cap="none" strike="noStrike">
                <a:solidFill>
                  <a:srgbClr val="00E676"/>
                </a:solidFill>
                <a:latin typeface="Roboto Mono"/>
                <a:ea typeface="Roboto Mono"/>
                <a:cs typeface="Roboto Mono"/>
                <a:sym typeface="Roboto Mono"/>
              </a:rPr>
              <a:t>MITIGATION</a:t>
            </a:r>
            <a:endParaRPr b="0" i="0" sz="621" u="none" cap="none" strike="noStrike">
              <a:solidFill>
                <a:schemeClr val="dk1"/>
              </a:solidFill>
              <a:latin typeface="Calibri"/>
              <a:ea typeface="Calibri"/>
              <a:cs typeface="Calibri"/>
              <a:sym typeface="Calibri"/>
            </a:endParaRPr>
          </a:p>
        </p:txBody>
      </p:sp>
      <p:sp>
        <p:nvSpPr>
          <p:cNvPr id="1244" name="Google Shape;1244;p32"/>
          <p:cNvSpPr/>
          <p:nvPr/>
        </p:nvSpPr>
        <p:spPr>
          <a:xfrm>
            <a:off x="3390881" y="4138324"/>
            <a:ext cx="2362209" cy="480027"/>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Active-Active HA</a:t>
            </a:r>
            <a:r>
              <a:rPr b="0" i="0" lang="en-US" sz="834" u="none" cap="none" strike="noStrike">
                <a:solidFill>
                  <a:srgbClr val="E0E0E0"/>
                </a:solidFill>
                <a:latin typeface="Inter"/>
                <a:ea typeface="Inter"/>
                <a:cs typeface="Inter"/>
                <a:sym typeface="Inter"/>
              </a:rPr>
              <a:t>, proxy rate limiting, and agent-side caching of certs to survive short outages.</a:t>
            </a:r>
            <a:endParaRPr b="0" i="0" sz="784" u="none" cap="none" strike="noStrike">
              <a:solidFill>
                <a:schemeClr val="dk1"/>
              </a:solidFill>
              <a:latin typeface="Calibri"/>
              <a:ea typeface="Calibri"/>
              <a:cs typeface="Calibri"/>
              <a:sym typeface="Calibri"/>
            </a:endParaRPr>
          </a:p>
        </p:txBody>
      </p:sp>
      <p:sp>
        <p:nvSpPr>
          <p:cNvPr id="1245" name="Google Shape;1245;p32"/>
          <p:cNvSpPr/>
          <p:nvPr/>
        </p:nvSpPr>
        <p:spPr>
          <a:xfrm>
            <a:off x="6010266" y="3018541"/>
            <a:ext cx="2705081" cy="1771259"/>
          </a:xfrm>
          <a:prstGeom prst="rect">
            <a:avLst/>
          </a:prstGeom>
          <a:solidFill>
            <a:srgbClr val="0D1B2A">
              <a:alpha val="80000"/>
            </a:srgbClr>
          </a:solidFill>
          <a:ln cap="flat" cmpd="sng" w="9525">
            <a:solidFill>
              <a:srgbClr val="4A55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2"/>
          <p:cNvSpPr/>
          <p:nvPr/>
        </p:nvSpPr>
        <p:spPr>
          <a:xfrm>
            <a:off x="6095991" y="3104266"/>
            <a:ext cx="137517" cy="228600"/>
          </a:xfrm>
          <a:prstGeom prst="rect">
            <a:avLst/>
          </a:prstGeom>
          <a:noFill/>
          <a:ln>
            <a:noFill/>
          </a:ln>
        </p:spPr>
        <p:txBody>
          <a:bodyPr anchorCtr="0" anchor="t" bIns="0" lIns="0" spcFirstLastPara="1" rIns="0" wrap="square" tIns="0">
            <a:noAutofit/>
          </a:bodyPr>
          <a:lstStyle/>
          <a:p>
            <a:pPr indent="0" lvl="0" marL="0" marR="0" rtl="0" algn="l">
              <a:lnSpc>
                <a:spcPct val="112359"/>
              </a:lnSpc>
              <a:spcBef>
                <a:spcPts val="0"/>
              </a:spcBef>
              <a:spcAft>
                <a:spcPts val="0"/>
              </a:spcAft>
              <a:buClr>
                <a:srgbClr val="E53E3E"/>
              </a:buClr>
              <a:buSzPts val="1602"/>
              <a:buFont typeface="Roboto Mono"/>
              <a:buNone/>
            </a:pPr>
            <a:r>
              <a:rPr b="1" i="0" lang="en-US" sz="1602" u="none" cap="none" strike="noStrike">
                <a:solidFill>
                  <a:srgbClr val="E53E3E"/>
                </a:solidFill>
                <a:latin typeface="Roboto Mono"/>
                <a:ea typeface="Roboto Mono"/>
                <a:cs typeface="Roboto Mono"/>
                <a:sym typeface="Roboto Mono"/>
              </a:rPr>
              <a:t>E</a:t>
            </a:r>
            <a:endParaRPr b="0" i="0" sz="1602" u="none" cap="none" strike="noStrike">
              <a:solidFill>
                <a:schemeClr val="dk1"/>
              </a:solidFill>
              <a:latin typeface="Calibri"/>
              <a:ea typeface="Calibri"/>
              <a:cs typeface="Calibri"/>
              <a:sym typeface="Calibri"/>
            </a:endParaRPr>
          </a:p>
        </p:txBody>
      </p:sp>
      <p:sp>
        <p:nvSpPr>
          <p:cNvPr id="1247" name="Google Shape;1247;p32"/>
          <p:cNvSpPr/>
          <p:nvPr/>
        </p:nvSpPr>
        <p:spPr>
          <a:xfrm>
            <a:off x="6319233" y="3123912"/>
            <a:ext cx="1457325" cy="189309"/>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Roboto Mono"/>
              <a:buNone/>
            </a:pPr>
            <a:r>
              <a:rPr b="1" i="0" lang="en-US" sz="987" u="none" cap="none" strike="noStrike">
                <a:solidFill>
                  <a:srgbClr val="FFFFFF"/>
                </a:solidFill>
                <a:latin typeface="Roboto Mono"/>
                <a:ea typeface="Roboto Mono"/>
                <a:cs typeface="Roboto Mono"/>
                <a:sym typeface="Roboto Mono"/>
              </a:rPr>
              <a:t>ELEVATION OF PRIV</a:t>
            </a:r>
            <a:endParaRPr b="0" i="0" sz="987" u="none" cap="none" strike="noStrike">
              <a:solidFill>
                <a:schemeClr val="dk1"/>
              </a:solidFill>
              <a:latin typeface="Calibri"/>
              <a:ea typeface="Calibri"/>
              <a:cs typeface="Calibri"/>
              <a:sym typeface="Calibri"/>
            </a:endParaRPr>
          </a:p>
        </p:txBody>
      </p:sp>
      <p:sp>
        <p:nvSpPr>
          <p:cNvPr id="1248" name="Google Shape;1248;p32"/>
          <p:cNvSpPr/>
          <p:nvPr/>
        </p:nvSpPr>
        <p:spPr>
          <a:xfrm>
            <a:off x="6095991" y="3454310"/>
            <a:ext cx="2533631"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A0AEC0"/>
              </a:buClr>
              <a:buSzPts val="780"/>
              <a:buFont typeface="Inter"/>
              <a:buNone/>
            </a:pPr>
            <a:r>
              <a:rPr b="0" i="0" lang="en-US" sz="780" u="none" cap="none" strike="noStrike">
                <a:solidFill>
                  <a:srgbClr val="A0AEC0"/>
                </a:solidFill>
                <a:latin typeface="Inter"/>
                <a:ea typeface="Inter"/>
                <a:cs typeface="Inter"/>
                <a:sym typeface="Inter"/>
              </a:rPr>
              <a:t>A compromised workload attempts to request certificates for domains it does not own.</a:t>
            </a:r>
            <a:endParaRPr b="0" i="0" sz="780" u="none" cap="none" strike="noStrike">
              <a:solidFill>
                <a:schemeClr val="dk1"/>
              </a:solidFill>
              <a:latin typeface="Calibri"/>
              <a:ea typeface="Calibri"/>
              <a:cs typeface="Calibri"/>
              <a:sym typeface="Calibri"/>
            </a:endParaRPr>
          </a:p>
        </p:txBody>
      </p:sp>
      <p:sp>
        <p:nvSpPr>
          <p:cNvPr id="1249" name="Google Shape;1249;p32"/>
          <p:cNvSpPr/>
          <p:nvPr/>
        </p:nvSpPr>
        <p:spPr>
          <a:xfrm>
            <a:off x="6095991" y="3911510"/>
            <a:ext cx="2533631" cy="778278"/>
          </a:xfrm>
          <a:prstGeom prst="rect">
            <a:avLst/>
          </a:prstGeom>
          <a:solidFill>
            <a:srgbClr val="00E676">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2"/>
          <p:cNvSpPr/>
          <p:nvPr/>
        </p:nvSpPr>
        <p:spPr>
          <a:xfrm>
            <a:off x="6095991" y="3911510"/>
            <a:ext cx="21431" cy="77827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2"/>
          <p:cNvSpPr/>
          <p:nvPr/>
        </p:nvSpPr>
        <p:spPr>
          <a:xfrm>
            <a:off x="6181716" y="3982948"/>
            <a:ext cx="2362181"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00E676"/>
              </a:buClr>
              <a:buSzPts val="621"/>
              <a:buFont typeface="Roboto Mono"/>
              <a:buNone/>
            </a:pPr>
            <a:r>
              <a:rPr b="0" i="0" lang="en-US" sz="621" u="none" cap="none" strike="noStrike">
                <a:solidFill>
                  <a:srgbClr val="00E676"/>
                </a:solidFill>
                <a:latin typeface="Roboto Mono"/>
                <a:ea typeface="Roboto Mono"/>
                <a:cs typeface="Roboto Mono"/>
                <a:sym typeface="Roboto Mono"/>
              </a:rPr>
              <a:t>MITIGATION</a:t>
            </a:r>
            <a:endParaRPr b="0" i="0" sz="621" u="none" cap="none" strike="noStrike">
              <a:solidFill>
                <a:schemeClr val="dk1"/>
              </a:solidFill>
              <a:latin typeface="Calibri"/>
              <a:ea typeface="Calibri"/>
              <a:cs typeface="Calibri"/>
              <a:sym typeface="Calibri"/>
            </a:endParaRPr>
          </a:p>
        </p:txBody>
      </p:sp>
      <p:sp>
        <p:nvSpPr>
          <p:cNvPr id="1252" name="Google Shape;1252;p32"/>
          <p:cNvSpPr/>
          <p:nvPr/>
        </p:nvSpPr>
        <p:spPr>
          <a:xfrm>
            <a:off x="6181716" y="4138324"/>
            <a:ext cx="2362181" cy="480027"/>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Strict </a:t>
            </a:r>
            <a:r>
              <a:rPr b="1" i="0" lang="en-US" sz="784" u="none" cap="none" strike="noStrike">
                <a:solidFill>
                  <a:srgbClr val="FFFFFF"/>
                </a:solidFill>
                <a:latin typeface="Inter"/>
                <a:ea typeface="Inter"/>
                <a:cs typeface="Inter"/>
                <a:sym typeface="Inter"/>
              </a:rPr>
              <a:t>RBAC</a:t>
            </a:r>
            <a:r>
              <a:rPr b="0" i="0" lang="en-US" sz="834" u="none" cap="none" strike="noStrike">
                <a:solidFill>
                  <a:srgbClr val="E0E0E0"/>
                </a:solidFill>
                <a:latin typeface="Inter"/>
                <a:ea typeface="Inter"/>
                <a:cs typeface="Inter"/>
                <a:sym typeface="Inter"/>
              </a:rPr>
              <a:t> enforced; OpAMP Server validates SANs against registered identity policies.</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