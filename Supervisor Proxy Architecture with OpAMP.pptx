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32A47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00500" y="1214465"/>
            <a:ext cx="4572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spc="2" kern="0" dirty="0">
                <a:solidFill>
                  <a:srgbClr val="00D4FF"/>
                </a:solidFill>
              </a:rPr>
              <a:t>UNIFIED AGENT MANAGEMENT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4000500" y="1569867"/>
            <a:ext cx="2879685" cy="843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Supervisor Proxy Architecture</a:t>
            </a:r>
            <a:endParaRPr lang="en-US" sz="2436" dirty="0"/>
          </a:p>
        </p:txBody>
      </p:sp>
      <p:sp>
        <p:nvSpPr>
          <p:cNvPr id="7" name="Text 3"/>
          <p:cNvSpPr/>
          <p:nvPr/>
        </p:nvSpPr>
        <p:spPr>
          <a:xfrm>
            <a:off x="4000500" y="2583163"/>
            <a:ext cx="457200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A0AEC0"/>
                </a:solidFill>
              </a:rPr>
              <a:t>OpAMP-Based Agent Management</a:t>
            </a:r>
            <a:endParaRPr lang="en-US" sz="1486" dirty="0"/>
          </a:p>
        </p:txBody>
      </p:sp>
      <p:sp>
        <p:nvSpPr>
          <p:cNvPr id="8" name="Text 4"/>
          <p:cNvSpPr/>
          <p:nvPr/>
        </p:nvSpPr>
        <p:spPr>
          <a:xfrm>
            <a:off x="4000500" y="3736153"/>
            <a:ext cx="4572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Control Plane • Data Plane • Multi-Agent Coordination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The Multi-Agent Management Challenge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228725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</a:rPr>
              <a:t>MODERN ENDPOINT REALITY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507331"/>
            <a:ext cx="3786188" cy="655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Today's endpoints run 4-6 security agents simultaneously, each with different management interfaces, protocols, and operational requirements.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334527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93D"/>
                </a:solidFill>
              </a:rPr>
              <a:t>OPERATIONAL COMPLEXITY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2613134"/>
            <a:ext cx="3786188" cy="655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42" dirty="0">
                <a:solidFill>
                  <a:srgbClr val="E2E8F0"/>
                </a:solidFill>
              </a:rPr>
              <a:t>200,000 endpoints × 4- 6 agents = 0.8 - 1.2 million management connections across fragmented vendor consoles and APIs.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440330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6B6B"/>
                </a:solidFill>
              </a:rPr>
              <a:t>KEY CHALLENGES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3718936"/>
            <a:ext cx="37861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• Fragmented management across multiple vendor platforms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3944662"/>
            <a:ext cx="37861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• 1.2M concurrent connections to manage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4170387"/>
            <a:ext cx="37861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• Inconsistent configuration formats and APIs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4396113"/>
            <a:ext cx="37861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• Complex firewall rules (6 outbound connections per host)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4621839"/>
            <a:ext cx="37861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• No unified health monitoring or alerting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71500" y="4847565"/>
            <a:ext cx="37861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• High operational overhead and human error risk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786313" y="1228725"/>
            <a:ext cx="3786188" cy="175736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4964906" y="1407319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TYPICAL ENDPOINT: 6 AGENTS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4964906" y="1721644"/>
            <a:ext cx="1671638" cy="36433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5"/>
          <p:cNvSpPr/>
          <p:nvPr/>
        </p:nvSpPr>
        <p:spPr>
          <a:xfrm>
            <a:off x="4964906" y="1721644"/>
            <a:ext cx="21431" cy="36433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5050631" y="1807369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CrowdStrike Falcon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050631" y="1957388"/>
            <a:ext cx="15001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EDR • 200 MB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6722269" y="1721644"/>
            <a:ext cx="1671638" cy="36433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Shape 19"/>
          <p:cNvSpPr/>
          <p:nvPr/>
        </p:nvSpPr>
        <p:spPr>
          <a:xfrm>
            <a:off x="6722269" y="1721644"/>
            <a:ext cx="21431" cy="364331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3" name="Text 20"/>
          <p:cNvSpPr/>
          <p:nvPr/>
        </p:nvSpPr>
        <p:spPr>
          <a:xfrm>
            <a:off x="6807994" y="1807369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OSQuery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807994" y="1957388"/>
            <a:ext cx="15001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Inventory • 50 MB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4964906" y="2171700"/>
            <a:ext cx="1671638" cy="36433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3"/>
          <p:cNvSpPr/>
          <p:nvPr/>
        </p:nvSpPr>
        <p:spPr>
          <a:xfrm>
            <a:off x="4964906" y="2171700"/>
            <a:ext cx="21431" cy="36433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4"/>
          <p:cNvSpPr/>
          <p:nvPr/>
        </p:nvSpPr>
        <p:spPr>
          <a:xfrm>
            <a:off x="5050631" y="2257425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OpenTelemetry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050631" y="2407444"/>
            <a:ext cx="15001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Logs • 100 MB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6722269" y="2171700"/>
            <a:ext cx="1671638" cy="36433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Shape 27"/>
          <p:cNvSpPr/>
          <p:nvPr/>
        </p:nvSpPr>
        <p:spPr>
          <a:xfrm>
            <a:off x="6722269" y="2171700"/>
            <a:ext cx="21431" cy="36433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8"/>
          <p:cNvSpPr/>
          <p:nvPr/>
        </p:nvSpPr>
        <p:spPr>
          <a:xfrm>
            <a:off x="6807994" y="2257425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Qualys Agent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6807994" y="2407444"/>
            <a:ext cx="15001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Vuln Scan • 80 MB</a:t>
            </a:r>
            <a:endParaRPr lang="en-US" sz="621" dirty="0"/>
          </a:p>
        </p:txBody>
      </p:sp>
      <p:sp>
        <p:nvSpPr>
          <p:cNvPr id="33" name="Shape 30"/>
          <p:cNvSpPr/>
          <p:nvPr/>
        </p:nvSpPr>
        <p:spPr>
          <a:xfrm>
            <a:off x="4964906" y="2621756"/>
            <a:ext cx="1671638" cy="36433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Shape 31"/>
          <p:cNvSpPr/>
          <p:nvPr/>
        </p:nvSpPr>
        <p:spPr>
          <a:xfrm>
            <a:off x="4964906" y="2621756"/>
            <a:ext cx="21431" cy="36433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2"/>
          <p:cNvSpPr/>
          <p:nvPr/>
        </p:nvSpPr>
        <p:spPr>
          <a:xfrm>
            <a:off x="5050631" y="2707481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Sysmon Agent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5050631" y="2857500"/>
            <a:ext cx="15001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Cloud Sec • 60 MB</a:t>
            </a:r>
            <a:endParaRPr lang="en-US" sz="621" dirty="0"/>
          </a:p>
        </p:txBody>
      </p:sp>
      <p:sp>
        <p:nvSpPr>
          <p:cNvPr id="37" name="Shape 34"/>
          <p:cNvSpPr/>
          <p:nvPr/>
        </p:nvSpPr>
        <p:spPr>
          <a:xfrm>
            <a:off x="6722269" y="2621756"/>
            <a:ext cx="1671638" cy="36433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Shape 35"/>
          <p:cNvSpPr/>
          <p:nvPr/>
        </p:nvSpPr>
        <p:spPr>
          <a:xfrm>
            <a:off x="6722269" y="2621756"/>
            <a:ext cx="21431" cy="364331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9" name="Text 36"/>
          <p:cNvSpPr/>
          <p:nvPr/>
        </p:nvSpPr>
        <p:spPr>
          <a:xfrm>
            <a:off x="6807994" y="2707481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Other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6807994" y="2857500"/>
            <a:ext cx="15001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Web Sec • 40 MB</a:t>
            </a:r>
            <a:endParaRPr lang="en-US" sz="621" dirty="0"/>
          </a:p>
        </p:txBody>
      </p:sp>
      <p:sp>
        <p:nvSpPr>
          <p:cNvPr id="41" name="Shape 38"/>
          <p:cNvSpPr/>
          <p:nvPr/>
        </p:nvSpPr>
        <p:spPr>
          <a:xfrm>
            <a:off x="4786313" y="3200400"/>
            <a:ext cx="3786188" cy="17073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2" name="Text 39"/>
          <p:cNvSpPr/>
          <p:nvPr/>
        </p:nvSpPr>
        <p:spPr>
          <a:xfrm>
            <a:off x="4964906" y="3378994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FLEET-WIDE IMPACT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4964906" y="3693319"/>
            <a:ext cx="16430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FFD93D"/>
                </a:solidFill>
              </a:rPr>
              <a:t>200K</a:t>
            </a:r>
            <a:endParaRPr lang="en-US" sz="1808" dirty="0"/>
          </a:p>
        </p:txBody>
      </p:sp>
      <p:sp>
        <p:nvSpPr>
          <p:cNvPr id="44" name="Text 41"/>
          <p:cNvSpPr/>
          <p:nvPr/>
        </p:nvSpPr>
        <p:spPr>
          <a:xfrm>
            <a:off x="4964906" y="4079081"/>
            <a:ext cx="16430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Endpoints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6750844" y="3693319"/>
            <a:ext cx="16430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FFD93D"/>
                </a:solidFill>
              </a:rPr>
              <a:t>1.2M</a:t>
            </a:r>
            <a:endParaRPr lang="en-US" sz="1808" dirty="0"/>
          </a:p>
        </p:txBody>
      </p:sp>
      <p:sp>
        <p:nvSpPr>
          <p:cNvPr id="46" name="Text 43"/>
          <p:cNvSpPr/>
          <p:nvPr/>
        </p:nvSpPr>
        <p:spPr>
          <a:xfrm>
            <a:off x="6750844" y="4079081"/>
            <a:ext cx="16430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Agent Connections</a:t>
            </a:r>
            <a:endParaRPr lang="en-US" sz="727" dirty="0"/>
          </a:p>
        </p:txBody>
      </p:sp>
      <p:sp>
        <p:nvSpPr>
          <p:cNvPr id="47" name="Text 44"/>
          <p:cNvSpPr/>
          <p:nvPr/>
        </p:nvSpPr>
        <p:spPr>
          <a:xfrm>
            <a:off x="4964906" y="4371975"/>
            <a:ext cx="16430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FFD93D"/>
                </a:solidFill>
              </a:rPr>
              <a:t>4 - 6</a:t>
            </a:r>
            <a:endParaRPr lang="en-US" sz="1808" dirty="0"/>
          </a:p>
        </p:txBody>
      </p:sp>
      <p:sp>
        <p:nvSpPr>
          <p:cNvPr id="48" name="Text 45"/>
          <p:cNvSpPr/>
          <p:nvPr/>
        </p:nvSpPr>
        <p:spPr>
          <a:xfrm>
            <a:off x="4964906" y="4757738"/>
            <a:ext cx="16430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Vendor/OpenSource Agents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6750844" y="4371975"/>
            <a:ext cx="16430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FFD93D"/>
                </a:solidFill>
              </a:rPr>
              <a:t>X</a:t>
            </a:r>
            <a:endParaRPr lang="en-US" sz="1808" dirty="0"/>
          </a:p>
        </p:txBody>
      </p:sp>
      <p:sp>
        <p:nvSpPr>
          <p:cNvPr id="50" name="Text 47"/>
          <p:cNvSpPr/>
          <p:nvPr/>
        </p:nvSpPr>
        <p:spPr>
          <a:xfrm>
            <a:off x="6750844" y="4757738"/>
            <a:ext cx="16430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Engineers Needed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Solution: Local Supervisor Proxy Pattern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157288"/>
            <a:ext cx="4169327" cy="396478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" name="Shape 2"/>
          <p:cNvSpPr/>
          <p:nvPr/>
        </p:nvSpPr>
        <p:spPr>
          <a:xfrm>
            <a:off x="2071018" y="1371600"/>
            <a:ext cx="1170291" cy="450056"/>
          </a:xfrm>
          <a:prstGeom prst="rect">
            <a:avLst/>
          </a:prstGeom>
          <a:solidFill>
            <a:srgbClr val="1E3A5F"/>
          </a:solidFill>
          <a:ln w="18288">
            <a:solidFill>
              <a:srgbClr val="FFD9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28180" y="1478756"/>
            <a:ext cx="8559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OpAMP Server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2228180" y="1664494"/>
            <a:ext cx="8559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Central Control Plane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785813" y="2007394"/>
            <a:ext cx="374070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0D4FF"/>
                </a:solidFill>
              </a:rPr>
              <a:t>↓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785813" y="2264569"/>
            <a:ext cx="374070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0D4FF"/>
                </a:solidFill>
              </a:rPr>
              <a:t>Config &amp; Control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942975" y="2693194"/>
            <a:ext cx="34263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ENDPOINT (Mac/Windows/Linux)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942975" y="2986088"/>
            <a:ext cx="3426377" cy="44291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Shape 9"/>
          <p:cNvSpPr/>
          <p:nvPr/>
        </p:nvSpPr>
        <p:spPr>
          <a:xfrm>
            <a:off x="942975" y="2986088"/>
            <a:ext cx="28575" cy="44291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50131" y="3093244"/>
            <a:ext cx="32120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Supervisor Proxy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050131" y="3300413"/>
            <a:ext cx="32120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OpAMP Client • Lifecycle Manager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942975" y="3571875"/>
            <a:ext cx="342637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A78BFA"/>
                </a:solidFill>
              </a:rPr>
              <a:t>manages ↓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942975" y="3807619"/>
            <a:ext cx="1094501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Shape 14"/>
          <p:cNvSpPr/>
          <p:nvPr/>
        </p:nvSpPr>
        <p:spPr>
          <a:xfrm>
            <a:off x="942975" y="3807619"/>
            <a:ext cx="14288" cy="30718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Shape 15"/>
          <p:cNvSpPr/>
          <p:nvPr/>
        </p:nvSpPr>
        <p:spPr>
          <a:xfrm>
            <a:off x="1014413" y="3884414"/>
            <a:ext cx="804537" cy="11608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1014413" y="3884414"/>
            <a:ext cx="8045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CrowdStrike Falcon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1014413" y="4007644"/>
            <a:ext cx="95162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EDR</a:t>
            </a:r>
            <a:endParaRPr lang="en-US" sz="516" dirty="0"/>
          </a:p>
        </p:txBody>
      </p:sp>
      <p:sp>
        <p:nvSpPr>
          <p:cNvPr id="21" name="Shape 18"/>
          <p:cNvSpPr/>
          <p:nvPr/>
        </p:nvSpPr>
        <p:spPr>
          <a:xfrm>
            <a:off x="2108913" y="3807619"/>
            <a:ext cx="1094501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Shape 19"/>
          <p:cNvSpPr/>
          <p:nvPr/>
        </p:nvSpPr>
        <p:spPr>
          <a:xfrm>
            <a:off x="2108913" y="3807619"/>
            <a:ext cx="14288" cy="307181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3" name="Text 20"/>
          <p:cNvSpPr/>
          <p:nvPr/>
        </p:nvSpPr>
        <p:spPr>
          <a:xfrm>
            <a:off x="2180351" y="3879056"/>
            <a:ext cx="9516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OSQuery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2180351" y="4007644"/>
            <a:ext cx="95162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Inventory</a:t>
            </a:r>
            <a:endParaRPr lang="en-US" sz="516" dirty="0"/>
          </a:p>
        </p:txBody>
      </p:sp>
      <p:sp>
        <p:nvSpPr>
          <p:cNvPr id="25" name="Shape 22"/>
          <p:cNvSpPr/>
          <p:nvPr/>
        </p:nvSpPr>
        <p:spPr>
          <a:xfrm>
            <a:off x="3274851" y="3807619"/>
            <a:ext cx="1094501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Shape 23"/>
          <p:cNvSpPr/>
          <p:nvPr/>
        </p:nvSpPr>
        <p:spPr>
          <a:xfrm>
            <a:off x="3274851" y="3807619"/>
            <a:ext cx="14288" cy="30718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4"/>
          <p:cNvSpPr/>
          <p:nvPr/>
        </p:nvSpPr>
        <p:spPr>
          <a:xfrm>
            <a:off x="3346289" y="3879056"/>
            <a:ext cx="9516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OTel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3346289" y="4007644"/>
            <a:ext cx="95162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Logs</a:t>
            </a:r>
            <a:endParaRPr lang="en-US" sz="516" dirty="0"/>
          </a:p>
        </p:txBody>
      </p:sp>
      <p:sp>
        <p:nvSpPr>
          <p:cNvPr id="29" name="Shape 26"/>
          <p:cNvSpPr/>
          <p:nvPr/>
        </p:nvSpPr>
        <p:spPr>
          <a:xfrm>
            <a:off x="942975" y="4186238"/>
            <a:ext cx="1094501" cy="32861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Shape 27"/>
          <p:cNvSpPr/>
          <p:nvPr/>
        </p:nvSpPr>
        <p:spPr>
          <a:xfrm>
            <a:off x="942975" y="4186238"/>
            <a:ext cx="14288" cy="328613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8"/>
          <p:cNvSpPr/>
          <p:nvPr/>
        </p:nvSpPr>
        <p:spPr>
          <a:xfrm>
            <a:off x="1014413" y="4257675"/>
            <a:ext cx="9516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Sysmon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1014413" y="4386263"/>
            <a:ext cx="95162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Vuln</a:t>
            </a:r>
            <a:endParaRPr lang="en-US" sz="516" dirty="0"/>
          </a:p>
        </p:txBody>
      </p:sp>
      <p:sp>
        <p:nvSpPr>
          <p:cNvPr id="33" name="Shape 30"/>
          <p:cNvSpPr/>
          <p:nvPr/>
        </p:nvSpPr>
        <p:spPr>
          <a:xfrm>
            <a:off x="2108913" y="4186238"/>
            <a:ext cx="1094501" cy="32861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Shape 31"/>
          <p:cNvSpPr/>
          <p:nvPr/>
        </p:nvSpPr>
        <p:spPr>
          <a:xfrm>
            <a:off x="2108913" y="4186238"/>
            <a:ext cx="14288" cy="32861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2"/>
          <p:cNvSpPr/>
          <p:nvPr/>
        </p:nvSpPr>
        <p:spPr>
          <a:xfrm>
            <a:off x="2180351" y="4257675"/>
            <a:ext cx="9516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Other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2180351" y="4386263"/>
            <a:ext cx="95162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Cloud</a:t>
            </a:r>
            <a:endParaRPr lang="en-US" sz="516" dirty="0"/>
          </a:p>
        </p:txBody>
      </p:sp>
      <p:sp>
        <p:nvSpPr>
          <p:cNvPr id="37" name="Shape 34"/>
          <p:cNvSpPr/>
          <p:nvPr/>
        </p:nvSpPr>
        <p:spPr>
          <a:xfrm>
            <a:off x="3274851" y="4186238"/>
            <a:ext cx="1094501" cy="32861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Shape 35"/>
          <p:cNvSpPr/>
          <p:nvPr/>
        </p:nvSpPr>
        <p:spPr>
          <a:xfrm>
            <a:off x="3274851" y="4186238"/>
            <a:ext cx="14288" cy="328613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9" name="Shape 36"/>
          <p:cNvSpPr/>
          <p:nvPr/>
        </p:nvSpPr>
        <p:spPr>
          <a:xfrm>
            <a:off x="3346289" y="4264819"/>
            <a:ext cx="334445" cy="13573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7"/>
          <p:cNvSpPr/>
          <p:nvPr/>
        </p:nvSpPr>
        <p:spPr>
          <a:xfrm>
            <a:off x="3346289" y="4264819"/>
            <a:ext cx="3344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Qualys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3346289" y="4407694"/>
            <a:ext cx="95162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Web</a:t>
            </a:r>
            <a:endParaRPr lang="en-US" sz="516" dirty="0"/>
          </a:p>
        </p:txBody>
      </p:sp>
      <p:sp>
        <p:nvSpPr>
          <p:cNvPr id="42" name="Text 39"/>
          <p:cNvSpPr/>
          <p:nvPr/>
        </p:nvSpPr>
        <p:spPr>
          <a:xfrm>
            <a:off x="785813" y="4707731"/>
            <a:ext cx="374070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6B6B"/>
                </a:solidFill>
              </a:rPr>
              <a:t>↓</a:t>
            </a:r>
            <a:endParaRPr lang="en-US" sz="1269" dirty="0"/>
          </a:p>
        </p:txBody>
      </p:sp>
      <p:sp>
        <p:nvSpPr>
          <p:cNvPr id="43" name="Text 40"/>
          <p:cNvSpPr/>
          <p:nvPr/>
        </p:nvSpPr>
        <p:spPr>
          <a:xfrm>
            <a:off x="785813" y="4964906"/>
            <a:ext cx="374070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6B6B"/>
                </a:solidFill>
              </a:rPr>
              <a:t>Data Direct to Destinations</a:t>
            </a:r>
            <a:endParaRPr lang="en-US" sz="584" dirty="0"/>
          </a:p>
        </p:txBody>
      </p:sp>
      <p:sp>
        <p:nvSpPr>
          <p:cNvPr id="44" name="Text 41"/>
          <p:cNvSpPr/>
          <p:nvPr/>
        </p:nvSpPr>
        <p:spPr>
          <a:xfrm>
            <a:off x="5098014" y="1157288"/>
            <a:ext cx="34744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</a:rPr>
              <a:t>KEY INNOVATION</a:t>
            </a:r>
            <a:endParaRPr lang="en-US" sz="885" dirty="0"/>
          </a:p>
        </p:txBody>
      </p:sp>
      <p:sp>
        <p:nvSpPr>
          <p:cNvPr id="45" name="Text 42"/>
          <p:cNvSpPr/>
          <p:nvPr/>
        </p:nvSpPr>
        <p:spPr>
          <a:xfrm>
            <a:off x="5098014" y="1435894"/>
            <a:ext cx="3474458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One lightweight supervisor per endpoint manages all local agents, acting as a single OpAMP client while agents send data directly to their destinations.</a:t>
            </a:r>
            <a:endParaRPr lang="en-US" sz="834" dirty="0"/>
          </a:p>
        </p:txBody>
      </p:sp>
      <p:sp>
        <p:nvSpPr>
          <p:cNvPr id="46" name="Text 43"/>
          <p:cNvSpPr/>
          <p:nvPr/>
        </p:nvSpPr>
        <p:spPr>
          <a:xfrm>
            <a:off x="5098014" y="2233120"/>
            <a:ext cx="34744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93D"/>
                </a:solidFill>
              </a:rPr>
              <a:t>DRAMATIC SIMPLIFICATION</a:t>
            </a:r>
            <a:endParaRPr lang="en-US" sz="885" dirty="0"/>
          </a:p>
        </p:txBody>
      </p:sp>
      <p:sp>
        <p:nvSpPr>
          <p:cNvPr id="47" name="Shape 44"/>
          <p:cNvSpPr/>
          <p:nvPr/>
        </p:nvSpPr>
        <p:spPr>
          <a:xfrm>
            <a:off x="5098014" y="2511726"/>
            <a:ext cx="3474458" cy="93940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8" name="Text 45"/>
          <p:cNvSpPr/>
          <p:nvPr/>
        </p:nvSpPr>
        <p:spPr>
          <a:xfrm>
            <a:off x="5240889" y="2654601"/>
            <a:ext cx="154076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6B6B"/>
                </a:solidFill>
              </a:rPr>
              <a:t>0.8 - 1.2M</a:t>
            </a:r>
            <a:endParaRPr lang="en-US" sz="1397" dirty="0"/>
          </a:p>
        </p:txBody>
      </p:sp>
      <p:sp>
        <p:nvSpPr>
          <p:cNvPr id="49" name="Text 46"/>
          <p:cNvSpPr/>
          <p:nvPr/>
        </p:nvSpPr>
        <p:spPr>
          <a:xfrm>
            <a:off x="5240889" y="2954638"/>
            <a:ext cx="154076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Before: Agent Connections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6888807" y="2654601"/>
            <a:ext cx="154079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4FF"/>
                </a:solidFill>
              </a:rPr>
              <a:t>200K</a:t>
            </a:r>
            <a:endParaRPr lang="en-US" sz="1397" dirty="0"/>
          </a:p>
        </p:txBody>
      </p:sp>
      <p:sp>
        <p:nvSpPr>
          <p:cNvPr id="51" name="Text 48"/>
          <p:cNvSpPr/>
          <p:nvPr/>
        </p:nvSpPr>
        <p:spPr>
          <a:xfrm>
            <a:off x="6888807" y="2954638"/>
            <a:ext cx="154079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After: Supervisor Connections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5240889" y="3236816"/>
            <a:ext cx="31887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6x Reduction</a:t>
            </a:r>
            <a:endParaRPr lang="en-US" sz="987" dirty="0"/>
          </a:p>
        </p:txBody>
      </p:sp>
      <p:sp>
        <p:nvSpPr>
          <p:cNvPr id="53" name="Text 50"/>
          <p:cNvSpPr/>
          <p:nvPr/>
        </p:nvSpPr>
        <p:spPr>
          <a:xfrm>
            <a:off x="5098014" y="3665441"/>
            <a:ext cx="347445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A78BFA"/>
                </a:solidFill>
              </a:rPr>
              <a:t>CLEAN SEPARATION</a:t>
            </a:r>
            <a:endParaRPr lang="en-US" sz="885" dirty="0"/>
          </a:p>
        </p:txBody>
      </p:sp>
      <p:sp>
        <p:nvSpPr>
          <p:cNvPr id="54" name="Text 51"/>
          <p:cNvSpPr/>
          <p:nvPr/>
        </p:nvSpPr>
        <p:spPr>
          <a:xfrm>
            <a:off x="5098014" y="3944048"/>
            <a:ext cx="34744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0D4FF"/>
                </a:solidFill>
              </a:rPr>
              <a:t>Control Plane: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OpAMP manages configuration and lifecycle through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supervisors</a:t>
            </a:r>
            <a:endParaRPr lang="en-US" sz="734" dirty="0"/>
          </a:p>
        </p:txBody>
      </p:sp>
      <p:sp>
        <p:nvSpPr>
          <p:cNvPr id="55" name="Text 52"/>
          <p:cNvSpPr/>
          <p:nvPr/>
        </p:nvSpPr>
        <p:spPr>
          <a:xfrm>
            <a:off x="5098014" y="4344098"/>
            <a:ext cx="34744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6B6B"/>
                </a:solidFill>
              </a:rPr>
              <a:t>Data Plane: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Agents send telemetry directly to destinations (no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bottleneck)</a:t>
            </a:r>
            <a:endParaRPr lang="en-US" sz="7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High-Level Architecture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3145817" y="1157288"/>
            <a:ext cx="2852365" cy="775097"/>
          </a:xfrm>
          <a:prstGeom prst="rect">
            <a:avLst/>
          </a:prstGeom>
          <a:solidFill>
            <a:srgbClr val="1E3A5F"/>
          </a:solidFill>
          <a:ln w="18288">
            <a:solidFill>
              <a:srgbClr val="FFD9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52999" y="1243013"/>
            <a:ext cx="22380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OpAMP Control Servers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3452999" y="1514475"/>
            <a:ext cx="22380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Multi-Region Active-Active (us-east-1, us-west-2)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3452999" y="1750219"/>
            <a:ext cx="67455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Config Mgmt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4234709" y="1750219"/>
            <a:ext cx="67455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Health Monitor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5016419" y="1750219"/>
            <a:ext cx="67458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Package Dist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3336159" y="20502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86" dirty="0">
                <a:solidFill>
                  <a:srgbClr val="00D4FF"/>
                </a:solidFill>
              </a:rPr>
              <a:t>↓</a:t>
            </a:r>
            <a:endParaRPr lang="en-US" sz="1486" dirty="0"/>
          </a:p>
        </p:txBody>
      </p:sp>
      <p:sp>
        <p:nvSpPr>
          <p:cNvPr id="11" name="Shape 8"/>
          <p:cNvSpPr/>
          <p:nvPr/>
        </p:nvSpPr>
        <p:spPr>
          <a:xfrm>
            <a:off x="3607622" y="1982391"/>
            <a:ext cx="2200219" cy="3357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Text 9"/>
          <p:cNvSpPr/>
          <p:nvPr/>
        </p:nvSpPr>
        <p:spPr>
          <a:xfrm>
            <a:off x="3721922" y="2039541"/>
            <a:ext cx="19716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CONTROL PLANE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721922" y="2189559"/>
            <a:ext cx="19716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OpAMP Protocol • WebSocket • Config &amp; Lifecycle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571500" y="2403872"/>
            <a:ext cx="8001000" cy="889397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5" name="Text 12"/>
          <p:cNvSpPr/>
          <p:nvPr/>
        </p:nvSpPr>
        <p:spPr>
          <a:xfrm>
            <a:off x="785813" y="2518172"/>
            <a:ext cx="75723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</a:rPr>
              <a:t>200,000 Supervisor Proxies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785813" y="2746772"/>
            <a:ext cx="75723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One per Endpoint • OpAMP Clients • Lightweight (&lt; 50 MB RAM)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785813" y="2971800"/>
            <a:ext cx="1457325" cy="32146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5"/>
          <p:cNvSpPr/>
          <p:nvPr/>
        </p:nvSpPr>
        <p:spPr>
          <a:xfrm>
            <a:off x="785813" y="2971800"/>
            <a:ext cx="21431" cy="321469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871538" y="3057525"/>
            <a:ext cx="1285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Supervisor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871538" y="3186113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win-prod-001</a:t>
            </a:r>
            <a:endParaRPr lang="en-US" sz="516" dirty="0"/>
          </a:p>
        </p:txBody>
      </p:sp>
      <p:sp>
        <p:nvSpPr>
          <p:cNvPr id="21" name="Shape 18"/>
          <p:cNvSpPr/>
          <p:nvPr/>
        </p:nvSpPr>
        <p:spPr>
          <a:xfrm>
            <a:off x="2314575" y="2971800"/>
            <a:ext cx="1457325" cy="32146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Shape 19"/>
          <p:cNvSpPr/>
          <p:nvPr/>
        </p:nvSpPr>
        <p:spPr>
          <a:xfrm>
            <a:off x="2314575" y="2971800"/>
            <a:ext cx="21431" cy="321469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0"/>
          <p:cNvSpPr/>
          <p:nvPr/>
        </p:nvSpPr>
        <p:spPr>
          <a:xfrm>
            <a:off x="2400300" y="3057525"/>
            <a:ext cx="1285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Supervisor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2400300" y="3186113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linux-prod-045</a:t>
            </a:r>
            <a:endParaRPr lang="en-US" sz="516" dirty="0"/>
          </a:p>
        </p:txBody>
      </p:sp>
      <p:sp>
        <p:nvSpPr>
          <p:cNvPr id="25" name="Shape 22"/>
          <p:cNvSpPr/>
          <p:nvPr/>
        </p:nvSpPr>
        <p:spPr>
          <a:xfrm>
            <a:off x="3843338" y="2971800"/>
            <a:ext cx="1457325" cy="32146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3"/>
          <p:cNvSpPr/>
          <p:nvPr/>
        </p:nvSpPr>
        <p:spPr>
          <a:xfrm>
            <a:off x="3843338" y="2971800"/>
            <a:ext cx="21431" cy="321469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4"/>
          <p:cNvSpPr/>
          <p:nvPr/>
        </p:nvSpPr>
        <p:spPr>
          <a:xfrm>
            <a:off x="3929063" y="3057525"/>
            <a:ext cx="1285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Supervisor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3929063" y="3186113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mac-dev-123</a:t>
            </a:r>
            <a:endParaRPr lang="en-US" sz="516" dirty="0"/>
          </a:p>
        </p:txBody>
      </p:sp>
      <p:sp>
        <p:nvSpPr>
          <p:cNvPr id="29" name="Shape 26"/>
          <p:cNvSpPr/>
          <p:nvPr/>
        </p:nvSpPr>
        <p:spPr>
          <a:xfrm>
            <a:off x="5372100" y="2971800"/>
            <a:ext cx="1457325" cy="32146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Shape 27"/>
          <p:cNvSpPr/>
          <p:nvPr/>
        </p:nvSpPr>
        <p:spPr>
          <a:xfrm>
            <a:off x="5372100" y="2971800"/>
            <a:ext cx="21431" cy="321469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8"/>
          <p:cNvSpPr/>
          <p:nvPr/>
        </p:nvSpPr>
        <p:spPr>
          <a:xfrm>
            <a:off x="5457825" y="3057525"/>
            <a:ext cx="1285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...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5457825" y="3186113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199,997 more</a:t>
            </a:r>
            <a:endParaRPr lang="en-US" sz="516" dirty="0"/>
          </a:p>
        </p:txBody>
      </p:sp>
      <p:sp>
        <p:nvSpPr>
          <p:cNvPr id="33" name="Shape 30"/>
          <p:cNvSpPr/>
          <p:nvPr/>
        </p:nvSpPr>
        <p:spPr>
          <a:xfrm>
            <a:off x="6900863" y="2971800"/>
            <a:ext cx="1457325" cy="32146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Shape 31"/>
          <p:cNvSpPr/>
          <p:nvPr/>
        </p:nvSpPr>
        <p:spPr>
          <a:xfrm>
            <a:off x="6900863" y="2971800"/>
            <a:ext cx="21431" cy="321469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2"/>
          <p:cNvSpPr/>
          <p:nvPr/>
        </p:nvSpPr>
        <p:spPr>
          <a:xfrm>
            <a:off x="6986588" y="3057525"/>
            <a:ext cx="1285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Supervisor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6986588" y="3186113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win-prod-200k</a:t>
            </a:r>
            <a:endParaRPr lang="en-US" sz="516" dirty="0"/>
          </a:p>
        </p:txBody>
      </p:sp>
      <p:sp>
        <p:nvSpPr>
          <p:cNvPr id="37" name="Text 34"/>
          <p:cNvSpPr/>
          <p:nvPr/>
        </p:nvSpPr>
        <p:spPr>
          <a:xfrm>
            <a:off x="3844119" y="3395067"/>
            <a:ext cx="12271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manages (local IPC/REST)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5128431" y="338435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69" dirty="0">
                <a:solidFill>
                  <a:srgbClr val="A78BFA"/>
                </a:solidFill>
              </a:rPr>
              <a:t>↓</a:t>
            </a:r>
            <a:endParaRPr lang="en-US" sz="1269" dirty="0"/>
          </a:p>
        </p:txBody>
      </p:sp>
      <p:sp>
        <p:nvSpPr>
          <p:cNvPr id="39" name="Shape 36"/>
          <p:cNvSpPr/>
          <p:nvPr/>
        </p:nvSpPr>
        <p:spPr>
          <a:xfrm>
            <a:off x="571500" y="3641527"/>
            <a:ext cx="8001000" cy="87510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0" name="Text 37"/>
          <p:cNvSpPr/>
          <p:nvPr/>
        </p:nvSpPr>
        <p:spPr>
          <a:xfrm>
            <a:off x="785813" y="3755827"/>
            <a:ext cx="75723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A78BFA"/>
                </a:solidFill>
              </a:rPr>
              <a:t>1.2 Million Agents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785813" y="3984427"/>
            <a:ext cx="75723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6 Agents per Endpoint Average • Multiple Vendors</a:t>
            </a:r>
            <a:endParaRPr lang="en-US" sz="674" dirty="0"/>
          </a:p>
        </p:txBody>
      </p:sp>
      <p:sp>
        <p:nvSpPr>
          <p:cNvPr id="42" name="Shape 39"/>
          <p:cNvSpPr/>
          <p:nvPr/>
        </p:nvSpPr>
        <p:spPr>
          <a:xfrm>
            <a:off x="785813" y="4209455"/>
            <a:ext cx="1202522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Shape 40"/>
          <p:cNvSpPr/>
          <p:nvPr/>
        </p:nvSpPr>
        <p:spPr>
          <a:xfrm>
            <a:off x="785813" y="4209455"/>
            <a:ext cx="21431" cy="30718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4" name="Text 41"/>
          <p:cNvSpPr/>
          <p:nvPr/>
        </p:nvSpPr>
        <p:spPr>
          <a:xfrm>
            <a:off x="857250" y="4280892"/>
            <a:ext cx="10596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CrowdStrike</a:t>
            </a:r>
            <a:endParaRPr lang="en-US" sz="584" dirty="0"/>
          </a:p>
        </p:txBody>
      </p:sp>
      <p:sp>
        <p:nvSpPr>
          <p:cNvPr id="45" name="Text 42"/>
          <p:cNvSpPr/>
          <p:nvPr/>
        </p:nvSpPr>
        <p:spPr>
          <a:xfrm>
            <a:off x="857250" y="4409480"/>
            <a:ext cx="10596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EDR</a:t>
            </a:r>
            <a:endParaRPr lang="en-US" sz="516" dirty="0"/>
          </a:p>
        </p:txBody>
      </p:sp>
      <p:sp>
        <p:nvSpPr>
          <p:cNvPr id="46" name="Shape 43"/>
          <p:cNvSpPr/>
          <p:nvPr/>
        </p:nvSpPr>
        <p:spPr>
          <a:xfrm>
            <a:off x="2059772" y="4209455"/>
            <a:ext cx="1202522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Shape 44"/>
          <p:cNvSpPr/>
          <p:nvPr/>
        </p:nvSpPr>
        <p:spPr>
          <a:xfrm>
            <a:off x="2059772" y="4209455"/>
            <a:ext cx="21431" cy="307181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8" name="Text 45"/>
          <p:cNvSpPr/>
          <p:nvPr/>
        </p:nvSpPr>
        <p:spPr>
          <a:xfrm>
            <a:off x="2131209" y="4280892"/>
            <a:ext cx="10596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OSQuery</a:t>
            </a:r>
            <a:endParaRPr lang="en-US" sz="584" dirty="0"/>
          </a:p>
        </p:txBody>
      </p:sp>
      <p:sp>
        <p:nvSpPr>
          <p:cNvPr id="49" name="Text 46"/>
          <p:cNvSpPr/>
          <p:nvPr/>
        </p:nvSpPr>
        <p:spPr>
          <a:xfrm>
            <a:off x="2131209" y="4409480"/>
            <a:ext cx="10596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Inventory</a:t>
            </a:r>
            <a:endParaRPr lang="en-US" sz="516" dirty="0"/>
          </a:p>
        </p:txBody>
      </p:sp>
      <p:sp>
        <p:nvSpPr>
          <p:cNvPr id="50" name="Shape 47"/>
          <p:cNvSpPr/>
          <p:nvPr/>
        </p:nvSpPr>
        <p:spPr>
          <a:xfrm>
            <a:off x="3333731" y="4209455"/>
            <a:ext cx="1202522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Shape 48"/>
          <p:cNvSpPr/>
          <p:nvPr/>
        </p:nvSpPr>
        <p:spPr>
          <a:xfrm>
            <a:off x="3333731" y="4209455"/>
            <a:ext cx="21431" cy="30718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2" name="Text 49"/>
          <p:cNvSpPr/>
          <p:nvPr/>
        </p:nvSpPr>
        <p:spPr>
          <a:xfrm>
            <a:off x="3405169" y="4280892"/>
            <a:ext cx="10596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OpenTelemetry</a:t>
            </a:r>
            <a:endParaRPr lang="en-US" sz="584" dirty="0"/>
          </a:p>
        </p:txBody>
      </p:sp>
      <p:sp>
        <p:nvSpPr>
          <p:cNvPr id="53" name="Text 50"/>
          <p:cNvSpPr/>
          <p:nvPr/>
        </p:nvSpPr>
        <p:spPr>
          <a:xfrm>
            <a:off x="3405169" y="4409480"/>
            <a:ext cx="10596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Logs</a:t>
            </a:r>
            <a:endParaRPr lang="en-US" sz="516" dirty="0"/>
          </a:p>
        </p:txBody>
      </p:sp>
      <p:sp>
        <p:nvSpPr>
          <p:cNvPr id="54" name="Shape 51"/>
          <p:cNvSpPr/>
          <p:nvPr/>
        </p:nvSpPr>
        <p:spPr>
          <a:xfrm>
            <a:off x="4607691" y="4209455"/>
            <a:ext cx="1202550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5" name="Shape 52"/>
          <p:cNvSpPr/>
          <p:nvPr/>
        </p:nvSpPr>
        <p:spPr>
          <a:xfrm>
            <a:off x="4607691" y="4209455"/>
            <a:ext cx="21431" cy="30718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6" name="Text 53"/>
          <p:cNvSpPr/>
          <p:nvPr/>
        </p:nvSpPr>
        <p:spPr>
          <a:xfrm>
            <a:off x="4679128" y="4280892"/>
            <a:ext cx="10596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Qualys</a:t>
            </a:r>
            <a:endParaRPr lang="en-US" sz="584" dirty="0"/>
          </a:p>
        </p:txBody>
      </p:sp>
      <p:sp>
        <p:nvSpPr>
          <p:cNvPr id="57" name="Text 54"/>
          <p:cNvSpPr/>
          <p:nvPr/>
        </p:nvSpPr>
        <p:spPr>
          <a:xfrm>
            <a:off x="4679128" y="4409480"/>
            <a:ext cx="10596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Vuln Scan</a:t>
            </a:r>
            <a:endParaRPr lang="en-US" sz="516" dirty="0"/>
          </a:p>
        </p:txBody>
      </p:sp>
      <p:sp>
        <p:nvSpPr>
          <p:cNvPr id="58" name="Shape 55"/>
          <p:cNvSpPr/>
          <p:nvPr/>
        </p:nvSpPr>
        <p:spPr>
          <a:xfrm>
            <a:off x="5881678" y="4209455"/>
            <a:ext cx="1202522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9" name="Shape 56"/>
          <p:cNvSpPr/>
          <p:nvPr/>
        </p:nvSpPr>
        <p:spPr>
          <a:xfrm>
            <a:off x="5881678" y="4209455"/>
            <a:ext cx="21431" cy="30718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0" name="Text 57"/>
          <p:cNvSpPr/>
          <p:nvPr/>
        </p:nvSpPr>
        <p:spPr>
          <a:xfrm>
            <a:off x="5953116" y="4280892"/>
            <a:ext cx="10596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Wiz</a:t>
            </a:r>
            <a:endParaRPr lang="en-US" sz="584" dirty="0"/>
          </a:p>
        </p:txBody>
      </p:sp>
      <p:sp>
        <p:nvSpPr>
          <p:cNvPr id="61" name="Text 58"/>
          <p:cNvSpPr/>
          <p:nvPr/>
        </p:nvSpPr>
        <p:spPr>
          <a:xfrm>
            <a:off x="5953116" y="4409480"/>
            <a:ext cx="10596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Cloud Sec</a:t>
            </a:r>
            <a:endParaRPr lang="en-US" sz="516" dirty="0"/>
          </a:p>
        </p:txBody>
      </p:sp>
      <p:sp>
        <p:nvSpPr>
          <p:cNvPr id="62" name="Shape 59"/>
          <p:cNvSpPr/>
          <p:nvPr/>
        </p:nvSpPr>
        <p:spPr>
          <a:xfrm>
            <a:off x="7155638" y="4209455"/>
            <a:ext cx="1202522" cy="30718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3" name="Shape 60"/>
          <p:cNvSpPr/>
          <p:nvPr/>
        </p:nvSpPr>
        <p:spPr>
          <a:xfrm>
            <a:off x="7155638" y="4209455"/>
            <a:ext cx="21431" cy="307181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64" name="Text 61"/>
          <p:cNvSpPr/>
          <p:nvPr/>
        </p:nvSpPr>
        <p:spPr>
          <a:xfrm>
            <a:off x="7227075" y="4280892"/>
            <a:ext cx="10596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Zscaler</a:t>
            </a:r>
            <a:endParaRPr lang="en-US" sz="584" dirty="0"/>
          </a:p>
        </p:txBody>
      </p:sp>
      <p:sp>
        <p:nvSpPr>
          <p:cNvPr id="65" name="Text 62"/>
          <p:cNvSpPr/>
          <p:nvPr/>
        </p:nvSpPr>
        <p:spPr>
          <a:xfrm>
            <a:off x="7227075" y="4409480"/>
            <a:ext cx="10596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718096"/>
                </a:solidFill>
              </a:rPr>
              <a:t>Web Sec</a:t>
            </a:r>
            <a:endParaRPr lang="en-US" sz="516" dirty="0"/>
          </a:p>
        </p:txBody>
      </p:sp>
      <p:sp>
        <p:nvSpPr>
          <p:cNvPr id="66" name="Text 63"/>
          <p:cNvSpPr/>
          <p:nvPr/>
        </p:nvSpPr>
        <p:spPr>
          <a:xfrm>
            <a:off x="3198949" y="467022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86" dirty="0">
                <a:solidFill>
                  <a:srgbClr val="FF6B6B"/>
                </a:solidFill>
              </a:rPr>
              <a:t>↓</a:t>
            </a:r>
            <a:endParaRPr lang="en-US" sz="1486" dirty="0"/>
          </a:p>
        </p:txBody>
      </p:sp>
      <p:sp>
        <p:nvSpPr>
          <p:cNvPr id="67" name="Shape 64"/>
          <p:cNvSpPr/>
          <p:nvPr/>
        </p:nvSpPr>
        <p:spPr>
          <a:xfrm>
            <a:off x="3470411" y="4602361"/>
            <a:ext cx="2474612" cy="3357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8" name="Text 65"/>
          <p:cNvSpPr/>
          <p:nvPr/>
        </p:nvSpPr>
        <p:spPr>
          <a:xfrm>
            <a:off x="3584711" y="4659511"/>
            <a:ext cx="22460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DATA PLANE</a:t>
            </a:r>
            <a:endParaRPr lang="en-US" sz="683" dirty="0"/>
          </a:p>
        </p:txBody>
      </p:sp>
      <p:sp>
        <p:nvSpPr>
          <p:cNvPr id="69" name="Text 66"/>
          <p:cNvSpPr/>
          <p:nvPr/>
        </p:nvSpPr>
        <p:spPr>
          <a:xfrm>
            <a:off x="3584711" y="4809530"/>
            <a:ext cx="224601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Direct Connections • Falcon Cloud, Lakehouse, Kafka, S3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Control Plane vs. Data Plane Separation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157288"/>
            <a:ext cx="4243388" cy="27460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1285875"/>
            <a:ext cx="39576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4FF"/>
                </a:solidFill>
              </a:rPr>
              <a:t>CONTROL PLANE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714375" y="1607344"/>
            <a:ext cx="1071563" cy="642938"/>
          </a:xfrm>
          <a:prstGeom prst="rect">
            <a:avLst/>
          </a:prstGeom>
          <a:solidFill>
            <a:srgbClr val="1E3A5F"/>
          </a:solidFill>
          <a:ln w="18288">
            <a:solidFill>
              <a:srgbClr val="FFD9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" y="1678781"/>
            <a:ext cx="9001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OpAMP Server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800100" y="1850231"/>
            <a:ext cx="9001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Configuration Hub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1900238" y="1607344"/>
            <a:ext cx="1428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→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57413" y="1607344"/>
            <a:ext cx="1071563" cy="642938"/>
          </a:xfrm>
          <a:prstGeom prst="rect">
            <a:avLst/>
          </a:prstGeom>
          <a:solidFill>
            <a:srgbClr val="1E3A5F"/>
          </a:solidFill>
          <a:ln w="18288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3138" y="1678781"/>
            <a:ext cx="900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Supervisor Proxy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243138" y="2021681"/>
            <a:ext cx="9001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OpAMP Client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3343275" y="1607344"/>
            <a:ext cx="142875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78BFA"/>
                </a:solidFill>
              </a:rPr>
              <a:t>→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00450" y="1607344"/>
            <a:ext cx="1071563" cy="614363"/>
          </a:xfrm>
          <a:prstGeom prst="rect">
            <a:avLst/>
          </a:prstGeom>
          <a:solidFill>
            <a:srgbClr val="1E3A5F"/>
          </a:solidFill>
          <a:ln w="18288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6175" y="1678781"/>
            <a:ext cx="9001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Local Agents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686175" y="1850231"/>
            <a:ext cx="9001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Managed Processes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714375" y="2321719"/>
            <a:ext cx="3957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PURPOSE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714375" y="2550319"/>
            <a:ext cx="3957638" cy="310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Configuration distribution, lifecycle management, health monitoring, and package updates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714375" y="2931784"/>
            <a:ext cx="3957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PROTOCOL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714375" y="3160384"/>
            <a:ext cx="39576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OpAMP over WebSocket • Bidirectional • Persistent connection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714375" y="3381840"/>
            <a:ext cx="3957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SCALE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714375" y="3610440"/>
            <a:ext cx="39576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200K connections • 10 KB/min per supervisor • Low bandwidth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172075" y="1157288"/>
            <a:ext cx="3400425" cy="268175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4" name="Text 21"/>
          <p:cNvSpPr/>
          <p:nvPr/>
        </p:nvSpPr>
        <p:spPr>
          <a:xfrm>
            <a:off x="5314950" y="1285875"/>
            <a:ext cx="31146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6B6B"/>
                </a:solidFill>
              </a:rPr>
              <a:t>DATA PLANE</a:t>
            </a:r>
            <a:endParaRPr lang="en-US" sz="1090" dirty="0"/>
          </a:p>
        </p:txBody>
      </p:sp>
      <p:sp>
        <p:nvSpPr>
          <p:cNvPr id="25" name="Shape 22"/>
          <p:cNvSpPr/>
          <p:nvPr/>
        </p:nvSpPr>
        <p:spPr>
          <a:xfrm>
            <a:off x="5314950" y="1607344"/>
            <a:ext cx="1521619" cy="25360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3"/>
          <p:cNvSpPr/>
          <p:nvPr/>
        </p:nvSpPr>
        <p:spPr>
          <a:xfrm>
            <a:off x="5314950" y="1607344"/>
            <a:ext cx="21431" cy="25360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4"/>
          <p:cNvSpPr/>
          <p:nvPr/>
        </p:nvSpPr>
        <p:spPr>
          <a:xfrm>
            <a:off x="5314950" y="1607344"/>
            <a:ext cx="1521619" cy="25360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Falcon → Falcon Cloud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6908006" y="1607344"/>
            <a:ext cx="1521619" cy="25360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Shape 26"/>
          <p:cNvSpPr/>
          <p:nvPr/>
        </p:nvSpPr>
        <p:spPr>
          <a:xfrm>
            <a:off x="6908006" y="1607344"/>
            <a:ext cx="21431" cy="253603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0" name="Text 27"/>
          <p:cNvSpPr/>
          <p:nvPr/>
        </p:nvSpPr>
        <p:spPr>
          <a:xfrm>
            <a:off x="6908006" y="1607344"/>
            <a:ext cx="1521619" cy="25360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OSQuery → Lakehouse</a:t>
            </a:r>
            <a:endParaRPr lang="en-US" sz="634" dirty="0"/>
          </a:p>
        </p:txBody>
      </p:sp>
      <p:sp>
        <p:nvSpPr>
          <p:cNvPr id="31" name="Shape 28"/>
          <p:cNvSpPr/>
          <p:nvPr/>
        </p:nvSpPr>
        <p:spPr>
          <a:xfrm>
            <a:off x="5314950" y="1932384"/>
            <a:ext cx="1521619" cy="25360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Shape 29"/>
          <p:cNvSpPr/>
          <p:nvPr/>
        </p:nvSpPr>
        <p:spPr>
          <a:xfrm>
            <a:off x="5314950" y="1932384"/>
            <a:ext cx="21431" cy="25360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3" name="Text 30"/>
          <p:cNvSpPr/>
          <p:nvPr/>
        </p:nvSpPr>
        <p:spPr>
          <a:xfrm>
            <a:off x="5314950" y="1932384"/>
            <a:ext cx="1521619" cy="25360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OTel → Kafka/S3</a:t>
            </a:r>
            <a:endParaRPr lang="en-US" sz="634" dirty="0"/>
          </a:p>
        </p:txBody>
      </p:sp>
      <p:sp>
        <p:nvSpPr>
          <p:cNvPr id="34" name="Shape 31"/>
          <p:cNvSpPr/>
          <p:nvPr/>
        </p:nvSpPr>
        <p:spPr>
          <a:xfrm>
            <a:off x="6908006" y="1932384"/>
            <a:ext cx="1521619" cy="25360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Shape 32"/>
          <p:cNvSpPr/>
          <p:nvPr/>
        </p:nvSpPr>
        <p:spPr>
          <a:xfrm>
            <a:off x="6908006" y="1932384"/>
            <a:ext cx="21431" cy="253603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6" name="Text 33"/>
          <p:cNvSpPr/>
          <p:nvPr/>
        </p:nvSpPr>
        <p:spPr>
          <a:xfrm>
            <a:off x="6908006" y="1932384"/>
            <a:ext cx="1521619" cy="253603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Qualys → Qualys Cloud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5314950" y="2286000"/>
            <a:ext cx="3114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PURPOSE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5314950" y="2514600"/>
            <a:ext cx="3114675" cy="310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Telemetry data transmission: logs, metrics, traces, security events, vulnerability scans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5314950" y="2896065"/>
            <a:ext cx="3114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PROTOCOL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5314950" y="3124665"/>
            <a:ext cx="31146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Agent-specific • HTTPS, gRPC, Kafka • Direct connections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5314950" y="3346121"/>
            <a:ext cx="3114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SCALE</a:t>
            </a:r>
            <a:endParaRPr lang="en-US" sz="784" dirty="0"/>
          </a:p>
        </p:txBody>
      </p:sp>
      <p:sp>
        <p:nvSpPr>
          <p:cNvPr id="42" name="Text 39"/>
          <p:cNvSpPr/>
          <p:nvPr/>
        </p:nvSpPr>
        <p:spPr>
          <a:xfrm>
            <a:off x="5314950" y="3574721"/>
            <a:ext cx="31146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1.2M connections • Variable bandwidth • High throughput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571500" y="3946196"/>
            <a:ext cx="8001000" cy="66933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4" name="Text 41"/>
          <p:cNvSpPr/>
          <p:nvPr/>
        </p:nvSpPr>
        <p:spPr>
          <a:xfrm>
            <a:off x="742950" y="4031921"/>
            <a:ext cx="24764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SCALABILITY</a:t>
            </a:r>
            <a:endParaRPr lang="en-US" sz="784" dirty="0"/>
          </a:p>
        </p:txBody>
      </p:sp>
      <p:sp>
        <p:nvSpPr>
          <p:cNvPr id="45" name="Text 42"/>
          <p:cNvSpPr/>
          <p:nvPr/>
        </p:nvSpPr>
        <p:spPr>
          <a:xfrm>
            <a:off x="742950" y="4246234"/>
            <a:ext cx="2476481" cy="269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Supervisor not a bottleneck for data • Each plane scales independently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3333731" y="4031921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RESILIENCE</a:t>
            </a:r>
            <a:endParaRPr lang="en-US" sz="784" dirty="0"/>
          </a:p>
        </p:txBody>
      </p:sp>
      <p:sp>
        <p:nvSpPr>
          <p:cNvPr id="47" name="Text 44"/>
          <p:cNvSpPr/>
          <p:nvPr/>
        </p:nvSpPr>
        <p:spPr>
          <a:xfrm>
            <a:off x="3333731" y="4246234"/>
            <a:ext cx="2476509" cy="269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Data flows continue if supervisor or OpAMP fails • No single point of failure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5924541" y="4031921"/>
            <a:ext cx="24764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PERFORMANCE</a:t>
            </a:r>
            <a:endParaRPr lang="en-US" sz="784" dirty="0"/>
          </a:p>
        </p:txBody>
      </p:sp>
      <p:sp>
        <p:nvSpPr>
          <p:cNvPr id="49" name="Text 46"/>
          <p:cNvSpPr/>
          <p:nvPr/>
        </p:nvSpPr>
        <p:spPr>
          <a:xfrm>
            <a:off x="5924541" y="4246234"/>
            <a:ext cx="2476481" cy="269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Low latency data path • Supervisor stays lightweight (&lt; 1% CPU)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Supervisor Proxy: Internal Components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2121471" y="1157288"/>
            <a:ext cx="1260844" cy="371475"/>
          </a:xfrm>
          <a:prstGeom prst="rect">
            <a:avLst/>
          </a:prstGeom>
          <a:solidFill>
            <a:srgbClr val="1E3A5F"/>
          </a:solidFill>
          <a:ln w="18288">
            <a:solidFill>
              <a:srgbClr val="FFD9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350071" y="1243013"/>
            <a:ext cx="803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OpAMP Server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71500" y="1571625"/>
            <a:ext cx="436078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↓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857375"/>
            <a:ext cx="4360785" cy="2118122"/>
          </a:xfrm>
          <a:prstGeom prst="rect">
            <a:avLst/>
          </a:prstGeom>
          <a:solidFill>
            <a:srgbClr val="132A47"/>
          </a:solidFill>
          <a:ln w="18288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4375" y="2000250"/>
            <a:ext cx="40750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SUPERVISOR PROXY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714375" y="2300288"/>
            <a:ext cx="2008929" cy="4393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785813" y="2371725"/>
            <a:ext cx="18660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OpAMP Client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85813" y="2550319"/>
            <a:ext cx="186605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WebSocket connection to OpAMP server</a:t>
            </a:r>
            <a:endParaRPr lang="en-US" sz="568" dirty="0"/>
          </a:p>
        </p:txBody>
      </p:sp>
      <p:sp>
        <p:nvSpPr>
          <p:cNvPr id="12" name="Shape 9"/>
          <p:cNvSpPr/>
          <p:nvPr/>
        </p:nvSpPr>
        <p:spPr>
          <a:xfrm>
            <a:off x="2780454" y="2300288"/>
            <a:ext cx="2008956" cy="4393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2851891" y="2371725"/>
            <a:ext cx="18660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Agent Manager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2851891" y="2550319"/>
            <a:ext cx="18660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Lifecycle: install, start, stop, remove</a:t>
            </a:r>
            <a:endParaRPr lang="en-US" sz="568" dirty="0"/>
          </a:p>
        </p:txBody>
      </p:sp>
      <p:sp>
        <p:nvSpPr>
          <p:cNvPr id="15" name="Shape 12"/>
          <p:cNvSpPr/>
          <p:nvPr/>
        </p:nvSpPr>
        <p:spPr>
          <a:xfrm>
            <a:off x="714375" y="2796778"/>
            <a:ext cx="2008929" cy="4393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785813" y="2868216"/>
            <a:ext cx="18660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Config Manager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785813" y="3046809"/>
            <a:ext cx="186605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Distribute configs to agents</a:t>
            </a:r>
            <a:endParaRPr lang="en-US" sz="568" dirty="0"/>
          </a:p>
        </p:txBody>
      </p:sp>
      <p:sp>
        <p:nvSpPr>
          <p:cNvPr id="18" name="Shape 15"/>
          <p:cNvSpPr/>
          <p:nvPr/>
        </p:nvSpPr>
        <p:spPr>
          <a:xfrm>
            <a:off x="2780454" y="2796778"/>
            <a:ext cx="2008956" cy="4393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2851891" y="2868216"/>
            <a:ext cx="18660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Health Monitor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2851891" y="3046809"/>
            <a:ext cx="18660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Track agent status &amp; metrics</a:t>
            </a:r>
            <a:endParaRPr lang="en-US" sz="568" dirty="0"/>
          </a:p>
        </p:txBody>
      </p:sp>
      <p:sp>
        <p:nvSpPr>
          <p:cNvPr id="21" name="Shape 18"/>
          <p:cNvSpPr/>
          <p:nvPr/>
        </p:nvSpPr>
        <p:spPr>
          <a:xfrm>
            <a:off x="714375" y="3293269"/>
            <a:ext cx="2008929" cy="4393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19"/>
          <p:cNvSpPr/>
          <p:nvPr/>
        </p:nvSpPr>
        <p:spPr>
          <a:xfrm>
            <a:off x="785813" y="3364706"/>
            <a:ext cx="18660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Package Manager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785813" y="3543300"/>
            <a:ext cx="186605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Download &amp; install packages</a:t>
            </a:r>
            <a:endParaRPr lang="en-US" sz="568" dirty="0"/>
          </a:p>
        </p:txBody>
      </p:sp>
      <p:sp>
        <p:nvSpPr>
          <p:cNvPr id="24" name="Shape 21"/>
          <p:cNvSpPr/>
          <p:nvPr/>
        </p:nvSpPr>
        <p:spPr>
          <a:xfrm>
            <a:off x="2780454" y="3293269"/>
            <a:ext cx="2008956" cy="4393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2"/>
          <p:cNvSpPr/>
          <p:nvPr/>
        </p:nvSpPr>
        <p:spPr>
          <a:xfrm>
            <a:off x="2851891" y="3364706"/>
            <a:ext cx="18660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Local API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2851891" y="3543300"/>
            <a:ext cx="18660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REST API for local management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571500" y="3989784"/>
            <a:ext cx="436078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78BFA"/>
                </a:solidFill>
              </a:rPr>
              <a:t>↓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71500" y="4261247"/>
            <a:ext cx="1415495" cy="25360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6"/>
          <p:cNvSpPr/>
          <p:nvPr/>
        </p:nvSpPr>
        <p:spPr>
          <a:xfrm>
            <a:off x="628650" y="4318397"/>
            <a:ext cx="130119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Falcon</a:t>
            </a:r>
            <a:endParaRPr lang="en-US" sz="634" dirty="0"/>
          </a:p>
        </p:txBody>
      </p:sp>
      <p:sp>
        <p:nvSpPr>
          <p:cNvPr id="30" name="Shape 27"/>
          <p:cNvSpPr/>
          <p:nvPr/>
        </p:nvSpPr>
        <p:spPr>
          <a:xfrm>
            <a:off x="2044145" y="4261247"/>
            <a:ext cx="1415495" cy="25360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2101295" y="4318397"/>
            <a:ext cx="130119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OSQuery</a:t>
            </a:r>
            <a:endParaRPr lang="en-US" sz="634" dirty="0"/>
          </a:p>
        </p:txBody>
      </p:sp>
      <p:sp>
        <p:nvSpPr>
          <p:cNvPr id="32" name="Shape 29"/>
          <p:cNvSpPr/>
          <p:nvPr/>
        </p:nvSpPr>
        <p:spPr>
          <a:xfrm>
            <a:off x="3516790" y="4261247"/>
            <a:ext cx="1415495" cy="25360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0"/>
          <p:cNvSpPr/>
          <p:nvPr/>
        </p:nvSpPr>
        <p:spPr>
          <a:xfrm>
            <a:off x="3573940" y="4318397"/>
            <a:ext cx="130119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OTel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5218035" y="1157288"/>
            <a:ext cx="33544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</a:rPr>
              <a:t>KEY RESPONSIBILITIES</a:t>
            </a:r>
            <a:endParaRPr lang="en-US" sz="885" dirty="0"/>
          </a:p>
        </p:txBody>
      </p:sp>
      <p:sp>
        <p:nvSpPr>
          <p:cNvPr id="35" name="Shape 32"/>
          <p:cNvSpPr/>
          <p:nvPr/>
        </p:nvSpPr>
        <p:spPr>
          <a:xfrm>
            <a:off x="5218035" y="1407319"/>
            <a:ext cx="3354437" cy="125730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6" name="Text 33"/>
          <p:cNvSpPr/>
          <p:nvPr/>
        </p:nvSpPr>
        <p:spPr>
          <a:xfrm>
            <a:off x="5289472" y="1478756"/>
            <a:ext cx="32115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Maintain persistent OpAMP connection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5289472" y="1671638"/>
            <a:ext cx="32115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Receive &amp; apply configuration updates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5289472" y="1864519"/>
            <a:ext cx="32115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Install, update, and remove agents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5289472" y="2057400"/>
            <a:ext cx="32115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Monitor agent health &amp; report status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5289472" y="2250281"/>
            <a:ext cx="32115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Download &amp; distribute packages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5289472" y="2443163"/>
            <a:ext cx="32115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Provide local management API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5218035" y="2764631"/>
            <a:ext cx="33544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93D"/>
                </a:solidFill>
              </a:rPr>
              <a:t>RESOURCE FOOTPRINT</a:t>
            </a:r>
            <a:endParaRPr lang="en-US" sz="885" dirty="0"/>
          </a:p>
        </p:txBody>
      </p:sp>
      <p:sp>
        <p:nvSpPr>
          <p:cNvPr id="43" name="Shape 40"/>
          <p:cNvSpPr/>
          <p:nvPr/>
        </p:nvSpPr>
        <p:spPr>
          <a:xfrm>
            <a:off x="5218035" y="3014663"/>
            <a:ext cx="3354437" cy="10215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4" name="Text 41"/>
          <p:cNvSpPr/>
          <p:nvPr/>
        </p:nvSpPr>
        <p:spPr>
          <a:xfrm>
            <a:off x="5303760" y="3100388"/>
            <a:ext cx="15629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4FF"/>
                </a:solidFill>
              </a:rPr>
              <a:t>&lt; 50 MB</a:t>
            </a:r>
            <a:endParaRPr lang="en-US" sz="1193" dirty="0"/>
          </a:p>
        </p:txBody>
      </p:sp>
      <p:sp>
        <p:nvSpPr>
          <p:cNvPr id="45" name="Text 42"/>
          <p:cNvSpPr/>
          <p:nvPr/>
        </p:nvSpPr>
        <p:spPr>
          <a:xfrm>
            <a:off x="5303760" y="3357563"/>
            <a:ext cx="15629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Memory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6923829" y="3100388"/>
            <a:ext cx="15629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4FF"/>
                </a:solidFill>
              </a:rPr>
              <a:t>&lt; 1%</a:t>
            </a:r>
            <a:endParaRPr lang="en-US" sz="1193" dirty="0"/>
          </a:p>
        </p:txBody>
      </p:sp>
      <p:sp>
        <p:nvSpPr>
          <p:cNvPr id="47" name="Text 44"/>
          <p:cNvSpPr/>
          <p:nvPr/>
        </p:nvSpPr>
        <p:spPr>
          <a:xfrm>
            <a:off x="6923829" y="3357563"/>
            <a:ext cx="15629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CPU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5303760" y="3554016"/>
            <a:ext cx="15629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4FF"/>
                </a:solidFill>
              </a:rPr>
              <a:t>~ 10 KB/min</a:t>
            </a:r>
            <a:endParaRPr lang="en-US" sz="1193" dirty="0"/>
          </a:p>
        </p:txBody>
      </p:sp>
      <p:sp>
        <p:nvSpPr>
          <p:cNvPr id="49" name="Text 46"/>
          <p:cNvSpPr/>
          <p:nvPr/>
        </p:nvSpPr>
        <p:spPr>
          <a:xfrm>
            <a:off x="5303760" y="3811191"/>
            <a:ext cx="15629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Network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6923829" y="3554016"/>
            <a:ext cx="15629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4FF"/>
                </a:solidFill>
              </a:rPr>
              <a:t>~ 100 MB</a:t>
            </a:r>
            <a:endParaRPr lang="en-US" sz="1193" dirty="0"/>
          </a:p>
        </p:txBody>
      </p:sp>
      <p:sp>
        <p:nvSpPr>
          <p:cNvPr id="51" name="Text 48"/>
          <p:cNvSpPr/>
          <p:nvPr/>
        </p:nvSpPr>
        <p:spPr>
          <a:xfrm>
            <a:off x="6923829" y="3811191"/>
            <a:ext cx="156291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Disk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5218035" y="4136231"/>
            <a:ext cx="33544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A78BFA"/>
                </a:solidFill>
              </a:rPr>
              <a:t>DEPLOYMENT</a:t>
            </a:r>
            <a:endParaRPr lang="en-US" sz="885" dirty="0"/>
          </a:p>
        </p:txBody>
      </p:sp>
      <p:sp>
        <p:nvSpPr>
          <p:cNvPr id="53" name="Shape 50"/>
          <p:cNvSpPr/>
          <p:nvPr/>
        </p:nvSpPr>
        <p:spPr>
          <a:xfrm>
            <a:off x="5218035" y="4386263"/>
            <a:ext cx="3354437" cy="70723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4" name="Text 51"/>
          <p:cNvSpPr/>
          <p:nvPr/>
        </p:nvSpPr>
        <p:spPr>
          <a:xfrm>
            <a:off x="5303760" y="4471988"/>
            <a:ext cx="31829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Windows: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System Service</a:t>
            </a:r>
            <a:endParaRPr lang="en-US" sz="683" dirty="0"/>
          </a:p>
        </p:txBody>
      </p:sp>
      <p:sp>
        <p:nvSpPr>
          <p:cNvPr id="55" name="Text 52"/>
          <p:cNvSpPr/>
          <p:nvPr/>
        </p:nvSpPr>
        <p:spPr>
          <a:xfrm>
            <a:off x="5303760" y="4664869"/>
            <a:ext cx="31829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Linux: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systemd unit</a:t>
            </a:r>
            <a:endParaRPr lang="en-US" sz="683" dirty="0"/>
          </a:p>
        </p:txBody>
      </p:sp>
      <p:sp>
        <p:nvSpPr>
          <p:cNvPr id="56" name="Text 53"/>
          <p:cNvSpPr/>
          <p:nvPr/>
        </p:nvSpPr>
        <p:spPr>
          <a:xfrm>
            <a:off x="5303760" y="4857750"/>
            <a:ext cx="31829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macOS: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launchd daemon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Deployment Model: System Service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193006"/>
            <a:ext cx="2524116" cy="390405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" name="Text 2"/>
          <p:cNvSpPr/>
          <p:nvPr/>
        </p:nvSpPr>
        <p:spPr>
          <a:xfrm>
            <a:off x="657225" y="1278731"/>
            <a:ext cx="23526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4FF"/>
                </a:solidFill>
              </a:rPr>
              <a:t>Windows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657225" y="1514475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System Service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657225" y="1771650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SERVICE NAME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657225" y="1978819"/>
            <a:ext cx="2352666" cy="2428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6"/>
          <p:cNvSpPr/>
          <p:nvPr/>
        </p:nvSpPr>
        <p:spPr>
          <a:xfrm>
            <a:off x="657225" y="1978819"/>
            <a:ext cx="2352666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supervisor-proxy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657225" y="2328863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INSTALL LOCATION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657225" y="2536031"/>
            <a:ext cx="2352666" cy="35004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9"/>
          <p:cNvSpPr/>
          <p:nvPr/>
        </p:nvSpPr>
        <p:spPr>
          <a:xfrm>
            <a:off x="657225" y="2536031"/>
            <a:ext cx="2352666" cy="3500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C:\Program Files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SupervisorProxy\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657225" y="2993231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CONFIG FILE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657225" y="3200400"/>
            <a:ext cx="2352666" cy="4679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2"/>
          <p:cNvSpPr/>
          <p:nvPr/>
        </p:nvSpPr>
        <p:spPr>
          <a:xfrm>
            <a:off x="657225" y="3200400"/>
            <a:ext cx="2352666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C:\ProgramData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SupervisorProxy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config.yaml</a:t>
            </a:r>
            <a:endParaRPr lang="en-US" sz="568" dirty="0"/>
          </a:p>
        </p:txBody>
      </p:sp>
      <p:sp>
        <p:nvSpPr>
          <p:cNvPr id="16" name="Text 13"/>
          <p:cNvSpPr/>
          <p:nvPr/>
        </p:nvSpPr>
        <p:spPr>
          <a:xfrm>
            <a:off x="657225" y="3775472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MANAGEMENT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657225" y="3982641"/>
            <a:ext cx="2352666" cy="4679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5"/>
          <p:cNvSpPr/>
          <p:nvPr/>
        </p:nvSpPr>
        <p:spPr>
          <a:xfrm>
            <a:off x="657225" y="3982641"/>
            <a:ext cx="2352666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sc start supervisor-proxy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sc stop supervisor-proxy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sc query supervisor-proxy</a:t>
            </a:r>
            <a:endParaRPr lang="en-US" sz="568" dirty="0"/>
          </a:p>
        </p:txBody>
      </p:sp>
      <p:sp>
        <p:nvSpPr>
          <p:cNvPr id="19" name="Text 16"/>
          <p:cNvSpPr/>
          <p:nvPr/>
        </p:nvSpPr>
        <p:spPr>
          <a:xfrm>
            <a:off x="657225" y="4557713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AUTO-START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57225" y="4764881"/>
            <a:ext cx="23526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Automatic (Delayed Start)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3309928" y="1193006"/>
            <a:ext cx="2524116" cy="390405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2" name="Text 19"/>
          <p:cNvSpPr/>
          <p:nvPr/>
        </p:nvSpPr>
        <p:spPr>
          <a:xfrm>
            <a:off x="3395653" y="1278731"/>
            <a:ext cx="235266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D93D"/>
                </a:solidFill>
              </a:rPr>
              <a:t>Linux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3395653" y="1514475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systemd Unit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3395653" y="1771650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UNIT NAME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3395653" y="1978819"/>
            <a:ext cx="2352666" cy="2428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3"/>
          <p:cNvSpPr/>
          <p:nvPr/>
        </p:nvSpPr>
        <p:spPr>
          <a:xfrm>
            <a:off x="3395653" y="1978819"/>
            <a:ext cx="2352666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supervisor-proxy.service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3395653" y="2328863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INSTALL LOCATION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3395653" y="2536031"/>
            <a:ext cx="2352666" cy="2321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6"/>
          <p:cNvSpPr/>
          <p:nvPr/>
        </p:nvSpPr>
        <p:spPr>
          <a:xfrm>
            <a:off x="3395653" y="2536031"/>
            <a:ext cx="2352666" cy="23217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/opt/supervisor-proxy/</a:t>
            </a:r>
            <a:endParaRPr lang="en-US" sz="568" dirty="0"/>
          </a:p>
        </p:txBody>
      </p:sp>
      <p:sp>
        <p:nvSpPr>
          <p:cNvPr id="30" name="Text 27"/>
          <p:cNvSpPr/>
          <p:nvPr/>
        </p:nvSpPr>
        <p:spPr>
          <a:xfrm>
            <a:off x="3395653" y="2875359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CONFIG FILE</a:t>
            </a:r>
            <a:endParaRPr lang="en-US" sz="683" dirty="0"/>
          </a:p>
        </p:txBody>
      </p:sp>
      <p:sp>
        <p:nvSpPr>
          <p:cNvPr id="31" name="Shape 28"/>
          <p:cNvSpPr/>
          <p:nvPr/>
        </p:nvSpPr>
        <p:spPr>
          <a:xfrm>
            <a:off x="3395653" y="3082528"/>
            <a:ext cx="2352666" cy="35004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29"/>
          <p:cNvSpPr/>
          <p:nvPr/>
        </p:nvSpPr>
        <p:spPr>
          <a:xfrm>
            <a:off x="3395653" y="3082528"/>
            <a:ext cx="2352666" cy="3500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/etc/supervisor-proxy/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config.yaml</a:t>
            </a:r>
            <a:endParaRPr lang="en-US" sz="568" dirty="0"/>
          </a:p>
        </p:txBody>
      </p:sp>
      <p:sp>
        <p:nvSpPr>
          <p:cNvPr id="33" name="Text 30"/>
          <p:cNvSpPr/>
          <p:nvPr/>
        </p:nvSpPr>
        <p:spPr>
          <a:xfrm>
            <a:off x="3395653" y="3539728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MANAGEMENT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3395653" y="3746897"/>
            <a:ext cx="2352666" cy="4679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2"/>
          <p:cNvSpPr/>
          <p:nvPr/>
        </p:nvSpPr>
        <p:spPr>
          <a:xfrm>
            <a:off x="3395653" y="3746897"/>
            <a:ext cx="2352666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systemctl start supervisor-proxy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systemctl stop supervisor-proxy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systemctl status supervisor-proxy</a:t>
            </a:r>
            <a:endParaRPr lang="en-US" sz="568" dirty="0"/>
          </a:p>
        </p:txBody>
      </p:sp>
      <p:sp>
        <p:nvSpPr>
          <p:cNvPr id="36" name="Text 33"/>
          <p:cNvSpPr/>
          <p:nvPr/>
        </p:nvSpPr>
        <p:spPr>
          <a:xfrm>
            <a:off x="3395653" y="4321969"/>
            <a:ext cx="2352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AUTO-START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3395653" y="4529138"/>
            <a:ext cx="23526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Enabled (multi-user.target)</a:t>
            </a:r>
            <a:endParaRPr lang="en-US" sz="674" dirty="0"/>
          </a:p>
        </p:txBody>
      </p:sp>
      <p:sp>
        <p:nvSpPr>
          <p:cNvPr id="38" name="Shape 35"/>
          <p:cNvSpPr/>
          <p:nvPr/>
        </p:nvSpPr>
        <p:spPr>
          <a:xfrm>
            <a:off x="6048356" y="1193006"/>
            <a:ext cx="2524144" cy="390405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9" name="Text 36"/>
          <p:cNvSpPr/>
          <p:nvPr/>
        </p:nvSpPr>
        <p:spPr>
          <a:xfrm>
            <a:off x="6134081" y="1278731"/>
            <a:ext cx="23526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A78BFA"/>
                </a:solidFill>
              </a:rPr>
              <a:t>macOS</a:t>
            </a:r>
            <a:endParaRPr lang="en-US" sz="1090" dirty="0"/>
          </a:p>
        </p:txBody>
      </p:sp>
      <p:sp>
        <p:nvSpPr>
          <p:cNvPr id="40" name="Text 37"/>
          <p:cNvSpPr/>
          <p:nvPr/>
        </p:nvSpPr>
        <p:spPr>
          <a:xfrm>
            <a:off x="6134081" y="1514475"/>
            <a:ext cx="23526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launchd Daemon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6134081" y="1771650"/>
            <a:ext cx="23526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DAEMON NAME</a:t>
            </a:r>
            <a:endParaRPr lang="en-US" sz="683" dirty="0"/>
          </a:p>
        </p:txBody>
      </p:sp>
      <p:sp>
        <p:nvSpPr>
          <p:cNvPr id="42" name="Shape 39"/>
          <p:cNvSpPr/>
          <p:nvPr/>
        </p:nvSpPr>
        <p:spPr>
          <a:xfrm>
            <a:off x="6134081" y="1978819"/>
            <a:ext cx="2352694" cy="35004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Text 40"/>
          <p:cNvSpPr/>
          <p:nvPr/>
        </p:nvSpPr>
        <p:spPr>
          <a:xfrm>
            <a:off x="6134081" y="1978819"/>
            <a:ext cx="2352694" cy="3500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com.company.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supervisor-proxy</a:t>
            </a:r>
            <a:endParaRPr lang="en-US" sz="568" dirty="0"/>
          </a:p>
        </p:txBody>
      </p:sp>
      <p:sp>
        <p:nvSpPr>
          <p:cNvPr id="44" name="Text 41"/>
          <p:cNvSpPr/>
          <p:nvPr/>
        </p:nvSpPr>
        <p:spPr>
          <a:xfrm>
            <a:off x="6134081" y="2436019"/>
            <a:ext cx="23526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INSTALL LOCATION</a:t>
            </a:r>
            <a:endParaRPr lang="en-US" sz="683" dirty="0"/>
          </a:p>
        </p:txBody>
      </p:sp>
      <p:sp>
        <p:nvSpPr>
          <p:cNvPr id="45" name="Shape 42"/>
          <p:cNvSpPr/>
          <p:nvPr/>
        </p:nvSpPr>
        <p:spPr>
          <a:xfrm>
            <a:off x="6134081" y="2643188"/>
            <a:ext cx="2352694" cy="35004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3"/>
          <p:cNvSpPr/>
          <p:nvPr/>
        </p:nvSpPr>
        <p:spPr>
          <a:xfrm>
            <a:off x="6134081" y="2643188"/>
            <a:ext cx="2352694" cy="35004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/Library/Application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Support/SupervisorProxy/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6134081" y="3100388"/>
            <a:ext cx="23526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CONFIG FILE</a:t>
            </a:r>
            <a:endParaRPr lang="en-US" sz="683" dirty="0"/>
          </a:p>
        </p:txBody>
      </p:sp>
      <p:sp>
        <p:nvSpPr>
          <p:cNvPr id="48" name="Shape 45"/>
          <p:cNvSpPr/>
          <p:nvPr/>
        </p:nvSpPr>
        <p:spPr>
          <a:xfrm>
            <a:off x="6134081" y="3307556"/>
            <a:ext cx="2352694" cy="4679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9" name="Text 46"/>
          <p:cNvSpPr/>
          <p:nvPr/>
        </p:nvSpPr>
        <p:spPr>
          <a:xfrm>
            <a:off x="6134081" y="3307556"/>
            <a:ext cx="2352694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/Library/Preferences/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supervisor-proxy/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config.yaml</a:t>
            </a:r>
            <a:endParaRPr lang="en-US" sz="568" dirty="0"/>
          </a:p>
        </p:txBody>
      </p:sp>
      <p:sp>
        <p:nvSpPr>
          <p:cNvPr id="50" name="Text 47"/>
          <p:cNvSpPr/>
          <p:nvPr/>
        </p:nvSpPr>
        <p:spPr>
          <a:xfrm>
            <a:off x="6134081" y="3882628"/>
            <a:ext cx="23526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MANAGEMENT</a:t>
            </a:r>
            <a:endParaRPr lang="en-US" sz="683" dirty="0"/>
          </a:p>
        </p:txBody>
      </p:sp>
      <p:sp>
        <p:nvSpPr>
          <p:cNvPr id="51" name="Shape 48"/>
          <p:cNvSpPr/>
          <p:nvPr/>
        </p:nvSpPr>
        <p:spPr>
          <a:xfrm>
            <a:off x="6134081" y="4089797"/>
            <a:ext cx="2352694" cy="4679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2" name="Text 49"/>
          <p:cNvSpPr/>
          <p:nvPr/>
        </p:nvSpPr>
        <p:spPr>
          <a:xfrm>
            <a:off x="6134081" y="4089797"/>
            <a:ext cx="2352694" cy="4679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launchctl load ...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launchctl unload ...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launchctl list | grep super...</a:t>
            </a:r>
            <a:endParaRPr lang="en-US" sz="568" dirty="0"/>
          </a:p>
        </p:txBody>
      </p:sp>
      <p:sp>
        <p:nvSpPr>
          <p:cNvPr id="53" name="Text 50"/>
          <p:cNvSpPr/>
          <p:nvPr/>
        </p:nvSpPr>
        <p:spPr>
          <a:xfrm>
            <a:off x="6134081" y="4664869"/>
            <a:ext cx="23526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AUTO-START</a:t>
            </a:r>
            <a:endParaRPr lang="en-US" sz="683" dirty="0"/>
          </a:p>
        </p:txBody>
      </p:sp>
      <p:sp>
        <p:nvSpPr>
          <p:cNvPr id="54" name="Text 51"/>
          <p:cNvSpPr/>
          <p:nvPr/>
        </p:nvSpPr>
        <p:spPr>
          <a:xfrm>
            <a:off x="6134081" y="4872038"/>
            <a:ext cx="23526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RunAtLoad = true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OpAMP Protocol Overview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85850"/>
            <a:ext cx="42472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PROTOCOL CHARACTERISTICS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371600"/>
            <a:ext cx="4247266" cy="112156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57225" y="1457325"/>
            <a:ext cx="40758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Transport: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WebSocket (bidirectional, persistent)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657225" y="1657350"/>
            <a:ext cx="40758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Format: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Protocol Buffers (efficient binary)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57225" y="1857375"/>
            <a:ext cx="40758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Security: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TLS 1.3 + mTLS authentication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57225" y="2057400"/>
            <a:ext cx="40758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Heartbeat: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30-second keepalive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57225" y="2257425"/>
            <a:ext cx="40758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Reconnect: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Exponential backoff (1s → 60s)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71500" y="2621756"/>
            <a:ext cx="42472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MESSAGE TYPES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571500" y="2907506"/>
            <a:ext cx="2087900" cy="47148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642938" y="2978944"/>
            <a:ext cx="19450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4FF"/>
                </a:solidFill>
              </a:rPr>
              <a:t>AgentToServer</a:t>
            </a:r>
            <a:endParaRPr lang="en-US" sz="734" dirty="0"/>
          </a:p>
        </p:txBody>
      </p:sp>
      <p:sp>
        <p:nvSpPr>
          <p:cNvPr id="14" name="Text 11"/>
          <p:cNvSpPr/>
          <p:nvPr/>
        </p:nvSpPr>
        <p:spPr>
          <a:xfrm>
            <a:off x="642938" y="3168253"/>
            <a:ext cx="1945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Status reports, health metrics, capabilities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2730838" y="2907506"/>
            <a:ext cx="2087928" cy="47148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2802275" y="2978944"/>
            <a:ext cx="194505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D93D"/>
                </a:solidFill>
              </a:rPr>
              <a:t>ServerToAgent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2802275" y="3168253"/>
            <a:ext cx="19450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Configuration updates, package downloads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571500" y="3436144"/>
            <a:ext cx="2087900" cy="47148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9" name="Text 16"/>
          <p:cNvSpPr/>
          <p:nvPr/>
        </p:nvSpPr>
        <p:spPr>
          <a:xfrm>
            <a:off x="642938" y="3507581"/>
            <a:ext cx="19450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A78BFA"/>
                </a:solidFill>
              </a:rPr>
              <a:t>StatusReport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642938" y="3696891"/>
            <a:ext cx="1945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Agent health, resource usage, errors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2730838" y="3436144"/>
            <a:ext cx="2087928" cy="47148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2" name="Text 19"/>
          <p:cNvSpPr/>
          <p:nvPr/>
        </p:nvSpPr>
        <p:spPr>
          <a:xfrm>
            <a:off x="2802275" y="3507581"/>
            <a:ext cx="194505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6B6B"/>
                </a:solidFill>
              </a:rPr>
              <a:t>EffectiveConfig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2802275" y="3696891"/>
            <a:ext cx="19450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Confirmation of applied configuration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571500" y="3964781"/>
            <a:ext cx="2087900" cy="47148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5" name="Text 22"/>
          <p:cNvSpPr/>
          <p:nvPr/>
        </p:nvSpPr>
        <p:spPr>
          <a:xfrm>
            <a:off x="642938" y="4036219"/>
            <a:ext cx="19450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D4FF"/>
                </a:solidFill>
              </a:rPr>
              <a:t>PackageStatuses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642938" y="4225528"/>
            <a:ext cx="1945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Installed packages and versions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5033079" y="1085850"/>
            <a:ext cx="35394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COMMUNICATION FLOW</a:t>
            </a:r>
            <a:endParaRPr lang="en-US" sz="987" dirty="0"/>
          </a:p>
        </p:txBody>
      </p:sp>
      <p:sp>
        <p:nvSpPr>
          <p:cNvPr id="28" name="Shape 25"/>
          <p:cNvSpPr/>
          <p:nvPr/>
        </p:nvSpPr>
        <p:spPr>
          <a:xfrm>
            <a:off x="5033079" y="1371600"/>
            <a:ext cx="3539421" cy="2003822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9" name="Shape 26"/>
          <p:cNvSpPr/>
          <p:nvPr/>
        </p:nvSpPr>
        <p:spPr>
          <a:xfrm>
            <a:off x="6329530" y="1457325"/>
            <a:ext cx="946519" cy="314325"/>
          </a:xfrm>
          <a:prstGeom prst="rect">
            <a:avLst/>
          </a:prstGeom>
          <a:solidFill>
            <a:srgbClr val="1E3A5F"/>
          </a:solidFill>
          <a:ln w="18288">
            <a:solidFill>
              <a:srgbClr val="FFD9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967" y="1514475"/>
            <a:ext cx="803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OpAMP Server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5118804" y="1800225"/>
            <a:ext cx="336797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0D4FF"/>
                </a:solidFill>
              </a:rPr>
              <a:t>↕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5118804" y="2021681"/>
            <a:ext cx="336797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WebSocket (TLS 1.3)</a:t>
            </a:r>
            <a:endParaRPr lang="en-US" sz="621" dirty="0"/>
          </a:p>
        </p:txBody>
      </p:sp>
      <p:sp>
        <p:nvSpPr>
          <p:cNvPr id="33" name="Shape 30"/>
          <p:cNvSpPr/>
          <p:nvPr/>
        </p:nvSpPr>
        <p:spPr>
          <a:xfrm>
            <a:off x="6261971" y="2193131"/>
            <a:ext cx="1081636" cy="314325"/>
          </a:xfrm>
          <a:prstGeom prst="rect">
            <a:avLst/>
          </a:prstGeom>
          <a:solidFill>
            <a:srgbClr val="1E3A5F"/>
          </a:solidFill>
          <a:ln w="18288">
            <a:solidFill>
              <a:srgbClr val="00D4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33409" y="2250281"/>
            <a:ext cx="9387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Supervisor Proxy</a:t>
            </a:r>
            <a:endParaRPr lang="en-US" sz="784" dirty="0"/>
          </a:p>
        </p:txBody>
      </p:sp>
      <p:sp>
        <p:nvSpPr>
          <p:cNvPr id="35" name="Shape 32"/>
          <p:cNvSpPr/>
          <p:nvPr/>
        </p:nvSpPr>
        <p:spPr>
          <a:xfrm>
            <a:off x="5118804" y="2550319"/>
            <a:ext cx="1655397" cy="6822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3"/>
          <p:cNvSpPr/>
          <p:nvPr/>
        </p:nvSpPr>
        <p:spPr>
          <a:xfrm>
            <a:off x="5175954" y="2607469"/>
            <a:ext cx="15410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D93D"/>
                </a:solidFill>
              </a:rPr>
              <a:t>Server → Supervisor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5175954" y="2789634"/>
            <a:ext cx="15410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• Configuration updates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• Package URLs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• Control commands</a:t>
            </a:r>
            <a:endParaRPr lang="en-US" sz="621" dirty="0"/>
          </a:p>
        </p:txBody>
      </p:sp>
      <p:sp>
        <p:nvSpPr>
          <p:cNvPr id="38" name="Shape 35"/>
          <p:cNvSpPr/>
          <p:nvPr/>
        </p:nvSpPr>
        <p:spPr>
          <a:xfrm>
            <a:off x="6831350" y="2550319"/>
            <a:ext cx="1655425" cy="6822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6"/>
          <p:cNvSpPr/>
          <p:nvPr/>
        </p:nvSpPr>
        <p:spPr>
          <a:xfrm>
            <a:off x="6888500" y="2607469"/>
            <a:ext cx="15411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4FF"/>
                </a:solidFill>
              </a:rPr>
              <a:t>Supervisor → Server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6888500" y="2789634"/>
            <a:ext cx="1541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• Status reports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• Health metrics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 • Error notifications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5033079" y="3446859"/>
            <a:ext cx="35394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KEY BENEFITS</a:t>
            </a:r>
            <a:endParaRPr lang="en-US" sz="987" dirty="0"/>
          </a:p>
        </p:txBody>
      </p:sp>
      <p:sp>
        <p:nvSpPr>
          <p:cNvPr id="42" name="Shape 39"/>
          <p:cNvSpPr/>
          <p:nvPr/>
        </p:nvSpPr>
        <p:spPr>
          <a:xfrm>
            <a:off x="5033079" y="3732609"/>
            <a:ext cx="3539421" cy="90011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3" name="Text 40"/>
          <p:cNvSpPr/>
          <p:nvPr/>
        </p:nvSpPr>
        <p:spPr>
          <a:xfrm>
            <a:off x="5118804" y="3818334"/>
            <a:ext cx="33679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Real-time bidirectional communication</a:t>
            </a:r>
            <a:endParaRPr lang="en-US" sz="727" dirty="0"/>
          </a:p>
        </p:txBody>
      </p:sp>
      <p:sp>
        <p:nvSpPr>
          <p:cNvPr id="44" name="Text 41"/>
          <p:cNvSpPr/>
          <p:nvPr/>
        </p:nvSpPr>
        <p:spPr>
          <a:xfrm>
            <a:off x="5118804" y="4011216"/>
            <a:ext cx="33679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Efficient binary protocol (protobuf)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5118804" y="4204097"/>
            <a:ext cx="33679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Automatic reconnection &amp; recovery</a:t>
            </a:r>
            <a:endParaRPr lang="en-US" sz="727" dirty="0"/>
          </a:p>
        </p:txBody>
      </p:sp>
      <p:sp>
        <p:nvSpPr>
          <p:cNvPr id="46" name="Text 43"/>
          <p:cNvSpPr/>
          <p:nvPr/>
        </p:nvSpPr>
        <p:spPr>
          <a:xfrm>
            <a:off x="5118804" y="4396978"/>
            <a:ext cx="33679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Vendor-neutral standard (CNCF)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Configuration Distribution Flow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2028379" y="1085850"/>
            <a:ext cx="1447028" cy="364331"/>
          </a:xfrm>
          <a:prstGeom prst="rect">
            <a:avLst/>
          </a:prstGeom>
          <a:solidFill>
            <a:srgbClr val="1E3A5F"/>
          </a:solidFill>
          <a:ln w="18288">
            <a:solidFill>
              <a:srgbClr val="FFD9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99841" y="1157288"/>
            <a:ext cx="9041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93D"/>
                </a:solidFill>
              </a:rPr>
              <a:t>OpAMP Server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1450181"/>
            <a:ext cx="43607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Configuration Repository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571500" y="1646634"/>
            <a:ext cx="436078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↓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89522"/>
            <a:ext cx="43607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ServerToAgent message (protobuf)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1952365" y="2071688"/>
            <a:ext cx="1599028" cy="364331"/>
          </a:xfrm>
          <a:prstGeom prst="rect">
            <a:avLst/>
          </a:prstGeom>
          <a:solidFill>
            <a:srgbClr val="132A47"/>
          </a:solidFill>
          <a:ln w="18288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23827" y="2143125"/>
            <a:ext cx="10561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</a:rPr>
              <a:t>Supervisor Proxy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436019"/>
            <a:ext cx="43607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Receives &amp; validates configuration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71500" y="2632472"/>
            <a:ext cx="436078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78BFA"/>
                </a:solidFill>
              </a:rPr>
              <a:t>↓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2875359"/>
            <a:ext cx="43607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Distribute to local agents (IPC/REST)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571500" y="3057525"/>
            <a:ext cx="1415495" cy="41790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628650" y="3114675"/>
            <a:ext cx="13011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Falcon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628650" y="3289697"/>
            <a:ext cx="130119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Apply config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2044145" y="3057525"/>
            <a:ext cx="1415495" cy="41790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2101295" y="3114675"/>
            <a:ext cx="13011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OSQuery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2101295" y="3289697"/>
            <a:ext cx="130119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Apply config</a:t>
            </a:r>
            <a:endParaRPr lang="en-US" sz="621" dirty="0"/>
          </a:p>
        </p:txBody>
      </p:sp>
      <p:sp>
        <p:nvSpPr>
          <p:cNvPr id="20" name="Shape 17"/>
          <p:cNvSpPr/>
          <p:nvPr/>
        </p:nvSpPr>
        <p:spPr>
          <a:xfrm>
            <a:off x="3516790" y="3057525"/>
            <a:ext cx="1415495" cy="41790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8"/>
          <p:cNvSpPr/>
          <p:nvPr/>
        </p:nvSpPr>
        <p:spPr>
          <a:xfrm>
            <a:off x="3573940" y="3114675"/>
            <a:ext cx="13011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OTel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3573940" y="3289697"/>
            <a:ext cx="130119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Apply config</a:t>
            </a:r>
            <a:endParaRPr lang="en-US" sz="621" dirty="0"/>
          </a:p>
        </p:txBody>
      </p:sp>
      <p:sp>
        <p:nvSpPr>
          <p:cNvPr id="23" name="Text 20"/>
          <p:cNvSpPr/>
          <p:nvPr/>
        </p:nvSpPr>
        <p:spPr>
          <a:xfrm>
            <a:off x="571500" y="3532584"/>
            <a:ext cx="436078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F6B6B"/>
                </a:solidFill>
              </a:rPr>
              <a:t>↑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71500" y="3775472"/>
            <a:ext cx="43607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Report effective configuration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571500" y="3957638"/>
            <a:ext cx="4360785" cy="4536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6" name="Text 23"/>
          <p:cNvSpPr/>
          <p:nvPr/>
        </p:nvSpPr>
        <p:spPr>
          <a:xfrm>
            <a:off x="628650" y="4014788"/>
            <a:ext cx="42464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Configuration Applied Successfully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28650" y="4214813"/>
            <a:ext cx="42464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Supervisor reports to OpAMP Server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571500" y="4482703"/>
            <a:ext cx="4360785" cy="5214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6"/>
          <p:cNvSpPr/>
          <p:nvPr/>
        </p:nvSpPr>
        <p:spPr>
          <a:xfrm>
            <a:off x="628650" y="4539853"/>
            <a:ext cx="424648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4FF"/>
                </a:solidFill>
              </a:rPr>
              <a:t>&lt; 5 minutes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628650" y="4797028"/>
            <a:ext cx="424648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End-to-end configuration propagation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5218035" y="1085850"/>
            <a:ext cx="33544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DISTRIBUTION PROCESS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5218035" y="1357313"/>
            <a:ext cx="3354437" cy="101432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3" name="Text 30"/>
          <p:cNvSpPr/>
          <p:nvPr/>
        </p:nvSpPr>
        <p:spPr>
          <a:xfrm>
            <a:off x="5289472" y="1428750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1. Push from Server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OpAMP server pushes config via WebSocket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5289472" y="1611613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2. Supervisor Receives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Validates schema &amp; stores locally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5289472" y="1794477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3. Agent Distribution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Supervisor distributes to each agent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5289472" y="1977340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4. Agent Application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Agents apply config &amp; restart if needed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5289472" y="2160203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5. Confirmation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Report effective config to server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5218035" y="2471654"/>
            <a:ext cx="33544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ROLLOUT STRATEGIES</a:t>
            </a:r>
            <a:endParaRPr lang="en-US" sz="987" dirty="0"/>
          </a:p>
        </p:txBody>
      </p:sp>
      <p:sp>
        <p:nvSpPr>
          <p:cNvPr id="39" name="Shape 36"/>
          <p:cNvSpPr/>
          <p:nvPr/>
        </p:nvSpPr>
        <p:spPr>
          <a:xfrm>
            <a:off x="5218035" y="2743116"/>
            <a:ext cx="3354437" cy="83146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0" name="Text 37"/>
          <p:cNvSpPr/>
          <p:nvPr/>
        </p:nvSpPr>
        <p:spPr>
          <a:xfrm>
            <a:off x="5289472" y="2814554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Canary: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5% → 25% → 100%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5289472" y="2997417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Blue-Green: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Parallel environments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5289472" y="3180280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Rolling: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Gradual per-host rollout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5289472" y="3363144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Emergency: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Instant push to all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5218035" y="3674594"/>
            <a:ext cx="33544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VALIDATION</a:t>
            </a:r>
            <a:endParaRPr lang="en-US" sz="987" dirty="0"/>
          </a:p>
        </p:txBody>
      </p:sp>
      <p:sp>
        <p:nvSpPr>
          <p:cNvPr id="45" name="Shape 42"/>
          <p:cNvSpPr/>
          <p:nvPr/>
        </p:nvSpPr>
        <p:spPr>
          <a:xfrm>
            <a:off x="5218035" y="3946057"/>
            <a:ext cx="3354437" cy="78860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6" name="Text 43"/>
          <p:cNvSpPr/>
          <p:nvPr/>
        </p:nvSpPr>
        <p:spPr>
          <a:xfrm>
            <a:off x="5289472" y="4017494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Schema validation at supervisor</a:t>
            </a:r>
            <a:endParaRPr lang="en-US" sz="727" dirty="0"/>
          </a:p>
        </p:txBody>
      </p:sp>
      <p:sp>
        <p:nvSpPr>
          <p:cNvPr id="47" name="Text 44"/>
          <p:cNvSpPr/>
          <p:nvPr/>
        </p:nvSpPr>
        <p:spPr>
          <a:xfrm>
            <a:off x="5289472" y="4186070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Dry-run before application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5289472" y="4354646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Automatic rollback on failure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5289472" y="4523222"/>
            <a:ext cx="321156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Audit log of all changes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Health Monitoring &amp; Status Reporting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MONITORING FLOW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328738"/>
            <a:ext cx="1259672" cy="446484"/>
          </a:xfrm>
          <a:prstGeom prst="rect">
            <a:avLst/>
          </a:prstGeom>
          <a:solidFill>
            <a:srgbClr val="1E3A5F"/>
          </a:solidFill>
          <a:ln w="18288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650" y="1385888"/>
            <a:ext cx="114537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Falcon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628650" y="1560909"/>
            <a:ext cx="11453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DE80"/>
                </a:solidFill>
              </a:rPr>
              <a:t>● Running</a:t>
            </a:r>
            <a:endParaRPr lang="en-US" sz="621" dirty="0"/>
          </a:p>
        </p:txBody>
      </p:sp>
      <p:sp>
        <p:nvSpPr>
          <p:cNvPr id="8" name="Shape 5"/>
          <p:cNvSpPr/>
          <p:nvPr/>
        </p:nvSpPr>
        <p:spPr>
          <a:xfrm>
            <a:off x="1888322" y="1328738"/>
            <a:ext cx="1259672" cy="446484"/>
          </a:xfrm>
          <a:prstGeom prst="rect">
            <a:avLst/>
          </a:prstGeom>
          <a:solidFill>
            <a:srgbClr val="1E3A5F"/>
          </a:solidFill>
          <a:ln w="18288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45472" y="1385888"/>
            <a:ext cx="114537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OSQuery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1945472" y="1560909"/>
            <a:ext cx="11453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DE80"/>
                </a:solidFill>
              </a:rPr>
              <a:t>● Running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3205144" y="1328738"/>
            <a:ext cx="1259672" cy="446484"/>
          </a:xfrm>
          <a:prstGeom prst="rect">
            <a:avLst/>
          </a:prstGeom>
          <a:solidFill>
            <a:srgbClr val="1E3A5F"/>
          </a:solidFill>
          <a:ln w="18288">
            <a:solidFill>
              <a:srgbClr val="FF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62294" y="1385888"/>
            <a:ext cx="114537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OTel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3262294" y="1560909"/>
            <a:ext cx="11453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6B6B"/>
                </a:solidFill>
              </a:rPr>
              <a:t>● Error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571500" y="1803797"/>
            <a:ext cx="38933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Health checks every 30 seconds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571500" y="1985963"/>
            <a:ext cx="3893344" cy="941524"/>
          </a:xfrm>
          <a:prstGeom prst="rect">
            <a:avLst/>
          </a:prstGeom>
          <a:solidFill>
            <a:srgbClr val="132A47"/>
          </a:solidFill>
          <a:ln w="18288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8650" y="2043113"/>
            <a:ext cx="37790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</a:rPr>
              <a:t>Supervisor Proxy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28650" y="2278856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Collect agent metrics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628650" y="2423154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Aggregate health status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628650" y="2567453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Detect failures &amp; anomalies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628650" y="2711751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Generate status reports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571500" y="2956061"/>
            <a:ext cx="38933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StatusReport message every 60 seconds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571500" y="3138227"/>
            <a:ext cx="3893344" cy="517922"/>
          </a:xfrm>
          <a:prstGeom prst="rect">
            <a:avLst/>
          </a:prstGeom>
          <a:solidFill>
            <a:srgbClr val="1E3A5F"/>
          </a:solidFill>
          <a:ln w="18288">
            <a:solidFill>
              <a:srgbClr val="FFD9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8650" y="3195377"/>
            <a:ext cx="37790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93D"/>
                </a:solidFill>
              </a:rPr>
              <a:t>OpAMP Server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28650" y="3431121"/>
            <a:ext cx="37790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Central health dashboard &amp; alerting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571500" y="3699011"/>
            <a:ext cx="38933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A78BFA"/>
                </a:solidFill>
              </a:rPr>
              <a:t>COLLECTED METRICS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571500" y="3934755"/>
            <a:ext cx="3893344" cy="82150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7" name="Text 24"/>
          <p:cNvSpPr/>
          <p:nvPr/>
        </p:nvSpPr>
        <p:spPr>
          <a:xfrm>
            <a:off x="628650" y="3991905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Process status (running/stopped/crashed)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628650" y="4136203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CPU &amp; memory usage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628650" y="4280502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Error rates &amp; log messages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628650" y="4424800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Data collection rates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628650" y="4569098"/>
            <a:ext cx="37790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• Last successful heartbeat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4679156" y="1057275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HEALTH STATUS LEVELS</a:t>
            </a:r>
            <a:endParaRPr lang="en-US" sz="987" dirty="0"/>
          </a:p>
        </p:txBody>
      </p:sp>
      <p:sp>
        <p:nvSpPr>
          <p:cNvPr id="33" name="Shape 30"/>
          <p:cNvSpPr/>
          <p:nvPr/>
        </p:nvSpPr>
        <p:spPr>
          <a:xfrm>
            <a:off x="4679156" y="1328738"/>
            <a:ext cx="1918097" cy="4536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4" name="Shape 31"/>
          <p:cNvSpPr/>
          <p:nvPr/>
        </p:nvSpPr>
        <p:spPr>
          <a:xfrm>
            <a:off x="4679156" y="1328738"/>
            <a:ext cx="28575" cy="453628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5" name="Text 32"/>
          <p:cNvSpPr/>
          <p:nvPr/>
        </p:nvSpPr>
        <p:spPr>
          <a:xfrm>
            <a:off x="4736306" y="1385888"/>
            <a:ext cx="18037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● Healthy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736306" y="1585913"/>
            <a:ext cx="18037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Agents running, metrics OK</a:t>
            </a:r>
            <a:endParaRPr lang="en-US" sz="674" dirty="0"/>
          </a:p>
        </p:txBody>
      </p:sp>
      <p:sp>
        <p:nvSpPr>
          <p:cNvPr id="37" name="Shape 34"/>
          <p:cNvSpPr/>
          <p:nvPr/>
        </p:nvSpPr>
        <p:spPr>
          <a:xfrm>
            <a:off x="6654403" y="1328738"/>
            <a:ext cx="1918097" cy="4536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8" name="Shape 35"/>
          <p:cNvSpPr/>
          <p:nvPr/>
        </p:nvSpPr>
        <p:spPr>
          <a:xfrm>
            <a:off x="6654403" y="1328738"/>
            <a:ext cx="28575" cy="453628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9" name="Text 36"/>
          <p:cNvSpPr/>
          <p:nvPr/>
        </p:nvSpPr>
        <p:spPr>
          <a:xfrm>
            <a:off x="6711553" y="1385888"/>
            <a:ext cx="18037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● Degraded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6711553" y="1585913"/>
            <a:ext cx="18037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High resource use / slow</a:t>
            </a:r>
            <a:endParaRPr lang="en-US" sz="674" dirty="0"/>
          </a:p>
        </p:txBody>
      </p:sp>
      <p:sp>
        <p:nvSpPr>
          <p:cNvPr id="41" name="Shape 38"/>
          <p:cNvSpPr/>
          <p:nvPr/>
        </p:nvSpPr>
        <p:spPr>
          <a:xfrm>
            <a:off x="4679156" y="1839516"/>
            <a:ext cx="1918097" cy="4536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2" name="Shape 39"/>
          <p:cNvSpPr/>
          <p:nvPr/>
        </p:nvSpPr>
        <p:spPr>
          <a:xfrm>
            <a:off x="4679156" y="1839516"/>
            <a:ext cx="28575" cy="4536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3" name="Text 40"/>
          <p:cNvSpPr/>
          <p:nvPr/>
        </p:nvSpPr>
        <p:spPr>
          <a:xfrm>
            <a:off x="4736306" y="1896666"/>
            <a:ext cx="18037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● Unhealthy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4736306" y="2096691"/>
            <a:ext cx="18037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Agent crashed or no resp</a:t>
            </a:r>
            <a:endParaRPr lang="en-US" sz="674" dirty="0"/>
          </a:p>
        </p:txBody>
      </p:sp>
      <p:sp>
        <p:nvSpPr>
          <p:cNvPr id="45" name="Shape 42"/>
          <p:cNvSpPr/>
          <p:nvPr/>
        </p:nvSpPr>
        <p:spPr>
          <a:xfrm>
            <a:off x="6654403" y="1839516"/>
            <a:ext cx="1918097" cy="4536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6" name="Shape 43"/>
          <p:cNvSpPr/>
          <p:nvPr/>
        </p:nvSpPr>
        <p:spPr>
          <a:xfrm>
            <a:off x="6654403" y="1839516"/>
            <a:ext cx="28575" cy="453628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47" name="Text 44"/>
          <p:cNvSpPr/>
          <p:nvPr/>
        </p:nvSpPr>
        <p:spPr>
          <a:xfrm>
            <a:off x="6711553" y="1896666"/>
            <a:ext cx="18037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0AEC0"/>
                </a:solidFill>
              </a:rPr>
              <a:t>● Unknown</a:t>
            </a:r>
            <a:endParaRPr lang="en-US" sz="784" dirty="0"/>
          </a:p>
        </p:txBody>
      </p:sp>
      <p:sp>
        <p:nvSpPr>
          <p:cNvPr id="48" name="Text 45"/>
          <p:cNvSpPr/>
          <p:nvPr/>
        </p:nvSpPr>
        <p:spPr>
          <a:xfrm>
            <a:off x="6711553" y="2096691"/>
            <a:ext cx="18037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No heartbeat &gt; 5m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4679156" y="2378869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ALERTING THRESHOLDS</a:t>
            </a:r>
            <a:endParaRPr lang="en-US" sz="987" dirty="0"/>
          </a:p>
        </p:txBody>
      </p:sp>
      <p:sp>
        <p:nvSpPr>
          <p:cNvPr id="50" name="Shape 47"/>
          <p:cNvSpPr/>
          <p:nvPr/>
        </p:nvSpPr>
        <p:spPr>
          <a:xfrm>
            <a:off x="4679156" y="2650331"/>
            <a:ext cx="3893344" cy="648602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1" name="Text 48"/>
          <p:cNvSpPr/>
          <p:nvPr/>
        </p:nvSpPr>
        <p:spPr>
          <a:xfrm>
            <a:off x="4750594" y="2721769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Critical: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Agent down &gt; 2 minutes</a:t>
            </a:r>
            <a:endParaRPr lang="en-US" sz="683" dirty="0"/>
          </a:p>
        </p:txBody>
      </p:sp>
      <p:sp>
        <p:nvSpPr>
          <p:cNvPr id="52" name="Text 49"/>
          <p:cNvSpPr/>
          <p:nvPr/>
        </p:nvSpPr>
        <p:spPr>
          <a:xfrm>
            <a:off x="4750594" y="2904632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Warning: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CPU &gt; 80% for 5 minutes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4750594" y="3087495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Warning: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Memory &gt; 90%</a:t>
            </a:r>
            <a:endParaRPr lang="en-US" sz="683" dirty="0"/>
          </a:p>
        </p:txBody>
      </p:sp>
      <p:sp>
        <p:nvSpPr>
          <p:cNvPr id="54" name="Text 51"/>
          <p:cNvSpPr/>
          <p:nvPr/>
        </p:nvSpPr>
        <p:spPr>
          <a:xfrm>
            <a:off x="4679156" y="3384659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AUTOMATED ACTIONS</a:t>
            </a:r>
            <a:endParaRPr lang="en-US" sz="987" dirty="0"/>
          </a:p>
        </p:txBody>
      </p:sp>
      <p:sp>
        <p:nvSpPr>
          <p:cNvPr id="55" name="Shape 52"/>
          <p:cNvSpPr/>
          <p:nvPr/>
        </p:nvSpPr>
        <p:spPr>
          <a:xfrm>
            <a:off x="4679156" y="3656121"/>
            <a:ext cx="3893344" cy="78860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6" name="Text 53"/>
          <p:cNvSpPr/>
          <p:nvPr/>
        </p:nvSpPr>
        <p:spPr>
          <a:xfrm>
            <a:off x="4750594" y="3727559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Auto-restart crashed agents</a:t>
            </a:r>
            <a:endParaRPr lang="en-US" sz="727" dirty="0"/>
          </a:p>
        </p:txBody>
      </p:sp>
      <p:sp>
        <p:nvSpPr>
          <p:cNvPr id="57" name="Text 54"/>
          <p:cNvSpPr/>
          <p:nvPr/>
        </p:nvSpPr>
        <p:spPr>
          <a:xfrm>
            <a:off x="4750594" y="3896134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Notify SOC team (PagerDuty)</a:t>
            </a:r>
            <a:endParaRPr lang="en-US" sz="727" dirty="0"/>
          </a:p>
        </p:txBody>
      </p:sp>
      <p:sp>
        <p:nvSpPr>
          <p:cNvPr id="58" name="Text 55"/>
          <p:cNvSpPr/>
          <p:nvPr/>
        </p:nvSpPr>
        <p:spPr>
          <a:xfrm>
            <a:off x="4750594" y="4064710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Create incident ticket</a:t>
            </a:r>
            <a:endParaRPr lang="en-US" sz="727" dirty="0"/>
          </a:p>
        </p:txBody>
      </p:sp>
      <p:sp>
        <p:nvSpPr>
          <p:cNvPr id="59" name="Text 56"/>
          <p:cNvSpPr/>
          <p:nvPr/>
        </p:nvSpPr>
        <p:spPr>
          <a:xfrm>
            <a:off x="4750594" y="4233286"/>
            <a:ext cx="375046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Collect diagnostic logs</a:t>
            </a:r>
            <a:endParaRPr lang="en-US" sz="727" dirty="0"/>
          </a:p>
        </p:txBody>
      </p:sp>
      <p:sp>
        <p:nvSpPr>
          <p:cNvPr id="60" name="Shape 57"/>
          <p:cNvSpPr/>
          <p:nvPr/>
        </p:nvSpPr>
        <p:spPr>
          <a:xfrm>
            <a:off x="4679156" y="4530449"/>
            <a:ext cx="3893344" cy="492919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1" name="Text 58"/>
          <p:cNvSpPr/>
          <p:nvPr/>
        </p:nvSpPr>
        <p:spPr>
          <a:xfrm>
            <a:off x="4722019" y="4573312"/>
            <a:ext cx="38076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4FF"/>
                </a:solidFill>
              </a:rPr>
              <a:t>99.9% Uptime</a:t>
            </a:r>
            <a:endParaRPr lang="en-US" sz="1193" dirty="0"/>
          </a:p>
        </p:txBody>
      </p:sp>
      <p:sp>
        <p:nvSpPr>
          <p:cNvPr id="62" name="Text 59"/>
          <p:cNvSpPr/>
          <p:nvPr/>
        </p:nvSpPr>
        <p:spPr>
          <a:xfrm>
            <a:off x="4722019" y="4830487"/>
            <a:ext cx="38076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Target agent availability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Package Distribution &amp; Rollout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42988"/>
            <a:ext cx="44011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CANARY ROLLOUT PROCESS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300163"/>
            <a:ext cx="4401164" cy="62150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00163"/>
            <a:ext cx="28575" cy="62150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4"/>
          <p:cNvSpPr/>
          <p:nvPr/>
        </p:nvSpPr>
        <p:spPr>
          <a:xfrm>
            <a:off x="628650" y="1357313"/>
            <a:ext cx="42868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Phase 1: Canary (5%)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628650" y="1557338"/>
            <a:ext cx="21148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4FF"/>
                </a:solidFill>
              </a:rPr>
              <a:t>Scope: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10,000 endpoints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2800657" y="1557338"/>
            <a:ext cx="21148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4FF"/>
                </a:solidFill>
              </a:rPr>
              <a:t>Duration: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24 hours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628650" y="1725216"/>
            <a:ext cx="428686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Monitor error rates, CPU, memory. Rollback if issues detected.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571500" y="1964531"/>
            <a:ext cx="4401164" cy="62150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1964531"/>
            <a:ext cx="28575" cy="62150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" y="2021681"/>
            <a:ext cx="42868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Phase 2: Expanded (25%)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28650" y="2221706"/>
            <a:ext cx="21148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4FF"/>
                </a:solidFill>
              </a:rPr>
              <a:t>Scope: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50,000 endpoints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2800657" y="2221706"/>
            <a:ext cx="21148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4FF"/>
                </a:solidFill>
              </a:rPr>
              <a:t>Duration: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48 hours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628650" y="2389584"/>
            <a:ext cx="428686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Broader validation across diverse environments.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571500" y="2628900"/>
            <a:ext cx="4401164" cy="62150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2628900"/>
            <a:ext cx="28575" cy="62150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6"/>
          <p:cNvSpPr/>
          <p:nvPr/>
        </p:nvSpPr>
        <p:spPr>
          <a:xfrm>
            <a:off x="628650" y="2686050"/>
            <a:ext cx="42868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Phase 3: Full Rollout (100%)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28650" y="2886075"/>
            <a:ext cx="21148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4FF"/>
                </a:solidFill>
              </a:rPr>
              <a:t>Scope: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200,000 endpoints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2800657" y="2886075"/>
            <a:ext cx="211485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0D4FF"/>
                </a:solidFill>
              </a:rPr>
              <a:t>Duration: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 72 hours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628650" y="3053953"/>
            <a:ext cx="428686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Complete deployment to all endpoints.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571500" y="3307556"/>
            <a:ext cx="44011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PACKAGE TYPES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571500" y="3564731"/>
            <a:ext cx="2179151" cy="4000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2"/>
          <p:cNvSpPr/>
          <p:nvPr/>
        </p:nvSpPr>
        <p:spPr>
          <a:xfrm>
            <a:off x="614363" y="3607594"/>
            <a:ext cx="209342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D93D"/>
                </a:solidFill>
              </a:rPr>
              <a:t>Agent Binaries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614363" y="3782616"/>
            <a:ext cx="20934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Executable updates (OSQuery, OTel)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2793513" y="3564731"/>
            <a:ext cx="2179151" cy="4000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5"/>
          <p:cNvSpPr/>
          <p:nvPr/>
        </p:nvSpPr>
        <p:spPr>
          <a:xfrm>
            <a:off x="2836376" y="3607594"/>
            <a:ext cx="209342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D93D"/>
                </a:solidFill>
              </a:rPr>
              <a:t>Configuration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2836376" y="3782616"/>
            <a:ext cx="20934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Config files, query packs</a:t>
            </a:r>
            <a:endParaRPr lang="en-US" sz="674" dirty="0"/>
          </a:p>
        </p:txBody>
      </p:sp>
      <p:sp>
        <p:nvSpPr>
          <p:cNvPr id="30" name="Shape 27"/>
          <p:cNvSpPr/>
          <p:nvPr/>
        </p:nvSpPr>
        <p:spPr>
          <a:xfrm>
            <a:off x="571500" y="4007644"/>
            <a:ext cx="2179151" cy="4000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614363" y="4050506"/>
            <a:ext cx="209342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D93D"/>
                </a:solidFill>
              </a:rPr>
              <a:t>Extensions</a:t>
            </a:r>
            <a:endParaRPr lang="en-US" sz="734" dirty="0"/>
          </a:p>
        </p:txBody>
      </p:sp>
      <p:sp>
        <p:nvSpPr>
          <p:cNvPr id="32" name="Text 29"/>
          <p:cNvSpPr/>
          <p:nvPr/>
        </p:nvSpPr>
        <p:spPr>
          <a:xfrm>
            <a:off x="614363" y="4225528"/>
            <a:ext cx="20934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Plugins, modules, libraries</a:t>
            </a:r>
            <a:endParaRPr lang="en-US" sz="674" dirty="0"/>
          </a:p>
        </p:txBody>
      </p:sp>
      <p:sp>
        <p:nvSpPr>
          <p:cNvPr id="33" name="Shape 30"/>
          <p:cNvSpPr/>
          <p:nvPr/>
        </p:nvSpPr>
        <p:spPr>
          <a:xfrm>
            <a:off x="2793513" y="4007644"/>
            <a:ext cx="2179151" cy="4000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1"/>
          <p:cNvSpPr/>
          <p:nvPr/>
        </p:nvSpPr>
        <p:spPr>
          <a:xfrm>
            <a:off x="2836376" y="4050506"/>
            <a:ext cx="209342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FFD93D"/>
                </a:solidFill>
              </a:rPr>
              <a:t>Signatures</a:t>
            </a:r>
            <a:endParaRPr lang="en-US" sz="734" dirty="0"/>
          </a:p>
        </p:txBody>
      </p:sp>
      <p:sp>
        <p:nvSpPr>
          <p:cNvPr id="35" name="Text 32"/>
          <p:cNvSpPr/>
          <p:nvPr/>
        </p:nvSpPr>
        <p:spPr>
          <a:xfrm>
            <a:off x="2836376" y="4225528"/>
            <a:ext cx="20934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Detection rules, IOCs</a:t>
            </a:r>
            <a:endParaRPr lang="en-US" sz="674" dirty="0"/>
          </a:p>
        </p:txBody>
      </p:sp>
      <p:sp>
        <p:nvSpPr>
          <p:cNvPr id="36" name="Shape 33"/>
          <p:cNvSpPr/>
          <p:nvPr/>
        </p:nvSpPr>
        <p:spPr>
          <a:xfrm>
            <a:off x="571500" y="4464844"/>
            <a:ext cx="4401164" cy="492919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34"/>
          <p:cNvSpPr/>
          <p:nvPr/>
        </p:nvSpPr>
        <p:spPr>
          <a:xfrm>
            <a:off x="614363" y="4507706"/>
            <a:ext cx="431543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4FF"/>
                </a:solidFill>
              </a:rPr>
              <a:t>6 days</a:t>
            </a:r>
            <a:endParaRPr lang="en-US" sz="1193" dirty="0"/>
          </a:p>
        </p:txBody>
      </p:sp>
      <p:sp>
        <p:nvSpPr>
          <p:cNvPr id="38" name="Text 35"/>
          <p:cNvSpPr/>
          <p:nvPr/>
        </p:nvSpPr>
        <p:spPr>
          <a:xfrm>
            <a:off x="614363" y="4764881"/>
            <a:ext cx="43154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0AEC0"/>
                </a:solidFill>
              </a:rPr>
              <a:t>Total rollout time (canary → full deployment)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5186976" y="1042988"/>
            <a:ext cx="3385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DISTRIBUTION MECHANISM</a:t>
            </a:r>
            <a:endParaRPr lang="en-US" sz="987" dirty="0"/>
          </a:p>
        </p:txBody>
      </p:sp>
      <p:sp>
        <p:nvSpPr>
          <p:cNvPr id="40" name="Shape 37"/>
          <p:cNvSpPr/>
          <p:nvPr/>
        </p:nvSpPr>
        <p:spPr>
          <a:xfrm>
            <a:off x="5186976" y="1285875"/>
            <a:ext cx="3385524" cy="7929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1" name="Text 38"/>
          <p:cNvSpPr/>
          <p:nvPr/>
        </p:nvSpPr>
        <p:spPr>
          <a:xfrm>
            <a:off x="5229839" y="1328738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1. Package Preparation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Build, sign, upload to S3/Artifactory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5229839" y="1473036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2. OpAMP Notification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Server pushes package URL to supervisors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5229839" y="1617334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3. Download &amp; Verify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Supervisor downloads, validates signature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5229839" y="1761632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4. Install &amp; Restart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Apply update, restart agent if needed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5229839" y="1905930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5. Report Status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 — Confirm version to OpAMP server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5186976" y="2121666"/>
            <a:ext cx="3385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VALIDATION CHECKS</a:t>
            </a:r>
            <a:endParaRPr lang="en-US" sz="987" dirty="0"/>
          </a:p>
        </p:txBody>
      </p:sp>
      <p:sp>
        <p:nvSpPr>
          <p:cNvPr id="47" name="Shape 44"/>
          <p:cNvSpPr/>
          <p:nvPr/>
        </p:nvSpPr>
        <p:spPr>
          <a:xfrm>
            <a:off x="5186976" y="2364553"/>
            <a:ext cx="3385524" cy="7929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8" name="Text 45"/>
          <p:cNvSpPr/>
          <p:nvPr/>
        </p:nvSpPr>
        <p:spPr>
          <a:xfrm>
            <a:off x="5229839" y="2407416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Digital signature verification (GPG/RSA)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5229839" y="2551714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Checksum validation (SHA256)</a:t>
            </a:r>
            <a:endParaRPr lang="en-US" sz="727" dirty="0"/>
          </a:p>
        </p:txBody>
      </p:sp>
      <p:sp>
        <p:nvSpPr>
          <p:cNvPr id="50" name="Text 47"/>
          <p:cNvSpPr/>
          <p:nvPr/>
        </p:nvSpPr>
        <p:spPr>
          <a:xfrm>
            <a:off x="5229839" y="2696012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Version compatibility check</a:t>
            </a:r>
            <a:endParaRPr lang="en-US" sz="727" dirty="0"/>
          </a:p>
        </p:txBody>
      </p:sp>
      <p:sp>
        <p:nvSpPr>
          <p:cNvPr id="51" name="Text 48"/>
          <p:cNvSpPr/>
          <p:nvPr/>
        </p:nvSpPr>
        <p:spPr>
          <a:xfrm>
            <a:off x="5229839" y="2840310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Disk space &amp; dependency validation</a:t>
            </a:r>
            <a:endParaRPr lang="en-US" sz="727" dirty="0"/>
          </a:p>
        </p:txBody>
      </p:sp>
      <p:sp>
        <p:nvSpPr>
          <p:cNvPr id="52" name="Text 49"/>
          <p:cNvSpPr/>
          <p:nvPr/>
        </p:nvSpPr>
        <p:spPr>
          <a:xfrm>
            <a:off x="5229839" y="2984609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✓ Post-install health check</a:t>
            </a:r>
            <a:endParaRPr lang="en-US" sz="727" dirty="0"/>
          </a:p>
        </p:txBody>
      </p:sp>
      <p:sp>
        <p:nvSpPr>
          <p:cNvPr id="53" name="Text 50"/>
          <p:cNvSpPr/>
          <p:nvPr/>
        </p:nvSpPr>
        <p:spPr>
          <a:xfrm>
            <a:off x="5186976" y="3200344"/>
            <a:ext cx="3385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ROLLBACK TRIGGERS</a:t>
            </a:r>
            <a:endParaRPr lang="en-US" sz="987" dirty="0"/>
          </a:p>
        </p:txBody>
      </p:sp>
      <p:sp>
        <p:nvSpPr>
          <p:cNvPr id="54" name="Shape 51"/>
          <p:cNvSpPr/>
          <p:nvPr/>
        </p:nvSpPr>
        <p:spPr>
          <a:xfrm>
            <a:off x="5186976" y="3443232"/>
            <a:ext cx="3385524" cy="64863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5" name="Text 52"/>
          <p:cNvSpPr/>
          <p:nvPr/>
        </p:nvSpPr>
        <p:spPr>
          <a:xfrm>
            <a:off x="5229839" y="3486094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Automatic: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Error rate &gt; 5%</a:t>
            </a:r>
            <a:endParaRPr lang="en-US" sz="683" dirty="0"/>
          </a:p>
        </p:txBody>
      </p:sp>
      <p:sp>
        <p:nvSpPr>
          <p:cNvPr id="56" name="Text 53"/>
          <p:cNvSpPr/>
          <p:nvPr/>
        </p:nvSpPr>
        <p:spPr>
          <a:xfrm>
            <a:off x="5229839" y="3630392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Automatic: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Agent crash rate &gt; 2%</a:t>
            </a:r>
            <a:endParaRPr lang="en-US" sz="683" dirty="0"/>
          </a:p>
        </p:txBody>
      </p:sp>
      <p:sp>
        <p:nvSpPr>
          <p:cNvPr id="57" name="Text 54"/>
          <p:cNvSpPr/>
          <p:nvPr/>
        </p:nvSpPr>
        <p:spPr>
          <a:xfrm>
            <a:off x="5229839" y="3774691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Manual: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SOC team approval</a:t>
            </a:r>
            <a:endParaRPr lang="en-US" sz="683" dirty="0"/>
          </a:p>
        </p:txBody>
      </p:sp>
      <p:sp>
        <p:nvSpPr>
          <p:cNvPr id="58" name="Text 55"/>
          <p:cNvSpPr/>
          <p:nvPr/>
        </p:nvSpPr>
        <p:spPr>
          <a:xfrm>
            <a:off x="5229839" y="3918989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Manual:</a:t>
            </a:r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Security incident detected</a:t>
            </a:r>
            <a:endParaRPr lang="en-US" sz="683" dirty="0"/>
          </a:p>
        </p:txBody>
      </p:sp>
      <p:sp>
        <p:nvSpPr>
          <p:cNvPr id="59" name="Text 56"/>
          <p:cNvSpPr/>
          <p:nvPr/>
        </p:nvSpPr>
        <p:spPr>
          <a:xfrm>
            <a:off x="5186976" y="4134724"/>
            <a:ext cx="3385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BANDWIDTH OPTIMIZATION</a:t>
            </a:r>
            <a:endParaRPr lang="en-US" sz="987" dirty="0"/>
          </a:p>
        </p:txBody>
      </p:sp>
      <p:sp>
        <p:nvSpPr>
          <p:cNvPr id="60" name="Shape 57"/>
          <p:cNvSpPr/>
          <p:nvPr/>
        </p:nvSpPr>
        <p:spPr>
          <a:xfrm>
            <a:off x="5186976" y="4377612"/>
            <a:ext cx="3385524" cy="64863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1" name="Text 58"/>
          <p:cNvSpPr/>
          <p:nvPr/>
        </p:nvSpPr>
        <p:spPr>
          <a:xfrm>
            <a:off x="5229839" y="4420474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Delta updates (only changed files)</a:t>
            </a:r>
            <a:endParaRPr lang="en-US" sz="727" dirty="0"/>
          </a:p>
        </p:txBody>
      </p:sp>
      <p:sp>
        <p:nvSpPr>
          <p:cNvPr id="62" name="Text 59"/>
          <p:cNvSpPr/>
          <p:nvPr/>
        </p:nvSpPr>
        <p:spPr>
          <a:xfrm>
            <a:off x="5229839" y="4564773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Compression (gzip/zstd)</a:t>
            </a:r>
            <a:endParaRPr lang="en-US" sz="727" dirty="0"/>
          </a:p>
        </p:txBody>
      </p:sp>
      <p:sp>
        <p:nvSpPr>
          <p:cNvPr id="63" name="Text 60"/>
          <p:cNvSpPr/>
          <p:nvPr/>
        </p:nvSpPr>
        <p:spPr>
          <a:xfrm>
            <a:off x="5229839" y="4709071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P2P distribution within datacenters</a:t>
            </a:r>
            <a:endParaRPr lang="en-US" sz="727" dirty="0"/>
          </a:p>
        </p:txBody>
      </p:sp>
      <p:sp>
        <p:nvSpPr>
          <p:cNvPr id="64" name="Text 61"/>
          <p:cNvSpPr/>
          <p:nvPr/>
        </p:nvSpPr>
        <p:spPr>
          <a:xfrm>
            <a:off x="5229839" y="4853369"/>
            <a:ext cx="329979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Throttling during business hours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Agent Lifecycle Management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28700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LIFECYCLE PHASES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85875"/>
            <a:ext cx="3893344" cy="35431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285875"/>
            <a:ext cx="28575" cy="354313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4"/>
          <p:cNvSpPr/>
          <p:nvPr/>
        </p:nvSpPr>
        <p:spPr>
          <a:xfrm>
            <a:off x="600075" y="1314450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1. Install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600075" y="1500188"/>
            <a:ext cx="38361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Download package, verify signature, install dependencies, apply config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571500" y="1661620"/>
            <a:ext cx="3893344" cy="35431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661620"/>
            <a:ext cx="28575" cy="35431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600075" y="1690195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2. Configure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00075" y="1875932"/>
            <a:ext cx="38361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Receive config from OpAMP, apply settings, set schedules, configure outputs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571500" y="2037364"/>
            <a:ext cx="3893344" cy="35431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2037364"/>
            <a:ext cx="28575" cy="35431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600075" y="2065939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3. Monitor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600075" y="2251677"/>
            <a:ext cx="38361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Health checks (30s), resource monitoring, error tracking, performance metrics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571500" y="2413109"/>
            <a:ext cx="3893344" cy="35431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2413109"/>
            <a:ext cx="28575" cy="354313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9" name="Text 16"/>
          <p:cNvSpPr/>
          <p:nvPr/>
        </p:nvSpPr>
        <p:spPr>
          <a:xfrm>
            <a:off x="600075" y="2441684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4. Update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00075" y="2627421"/>
            <a:ext cx="38361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Receive notification, download version, validate, install, graceful restart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571500" y="2788853"/>
            <a:ext cx="3893344" cy="35431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2" name="Shape 19"/>
          <p:cNvSpPr/>
          <p:nvPr/>
        </p:nvSpPr>
        <p:spPr>
          <a:xfrm>
            <a:off x="571500" y="2788853"/>
            <a:ext cx="28575" cy="354313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0"/>
          <p:cNvSpPr/>
          <p:nvPr/>
        </p:nvSpPr>
        <p:spPr>
          <a:xfrm>
            <a:off x="600075" y="2817428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5. Decommission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600075" y="3003166"/>
            <a:ext cx="38361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Graceful shutdown, unregister from OpAMP, remove service, archive logs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571500" y="3171741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AGENT STATES</a:t>
            </a:r>
            <a:endParaRPr lang="en-US" sz="987" dirty="0"/>
          </a:p>
        </p:txBody>
      </p:sp>
      <p:sp>
        <p:nvSpPr>
          <p:cNvPr id="26" name="Shape 23"/>
          <p:cNvSpPr/>
          <p:nvPr/>
        </p:nvSpPr>
        <p:spPr>
          <a:xfrm>
            <a:off x="571500" y="3407485"/>
            <a:ext cx="1283475" cy="19288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7" name="Shape 24"/>
          <p:cNvSpPr/>
          <p:nvPr/>
        </p:nvSpPr>
        <p:spPr>
          <a:xfrm>
            <a:off x="571500" y="3407485"/>
            <a:ext cx="28575" cy="192881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8" name="Text 25"/>
          <p:cNvSpPr/>
          <p:nvPr/>
        </p:nvSpPr>
        <p:spPr>
          <a:xfrm>
            <a:off x="592931" y="3428916"/>
            <a:ext cx="12406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● Running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1876406" y="3407485"/>
            <a:ext cx="1283503" cy="19288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0" name="Shape 27"/>
          <p:cNvSpPr/>
          <p:nvPr/>
        </p:nvSpPr>
        <p:spPr>
          <a:xfrm>
            <a:off x="1876406" y="3407485"/>
            <a:ext cx="28575" cy="192881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1" name="Text 28"/>
          <p:cNvSpPr/>
          <p:nvPr/>
        </p:nvSpPr>
        <p:spPr>
          <a:xfrm>
            <a:off x="1897838" y="3428916"/>
            <a:ext cx="1240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● Starting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3181341" y="3407485"/>
            <a:ext cx="1283503" cy="19288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3" name="Shape 30"/>
          <p:cNvSpPr/>
          <p:nvPr/>
        </p:nvSpPr>
        <p:spPr>
          <a:xfrm>
            <a:off x="3181341" y="3407485"/>
            <a:ext cx="28575" cy="19288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4" name="Text 31"/>
          <p:cNvSpPr/>
          <p:nvPr/>
        </p:nvSpPr>
        <p:spPr>
          <a:xfrm>
            <a:off x="3202772" y="3428916"/>
            <a:ext cx="1240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● Updating</a:t>
            </a:r>
            <a:endParaRPr lang="en-US" sz="683" dirty="0"/>
          </a:p>
        </p:txBody>
      </p:sp>
      <p:sp>
        <p:nvSpPr>
          <p:cNvPr id="35" name="Shape 32"/>
          <p:cNvSpPr/>
          <p:nvPr/>
        </p:nvSpPr>
        <p:spPr>
          <a:xfrm>
            <a:off x="571500" y="3621798"/>
            <a:ext cx="1283475" cy="19288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6" name="Shape 33"/>
          <p:cNvSpPr/>
          <p:nvPr/>
        </p:nvSpPr>
        <p:spPr>
          <a:xfrm>
            <a:off x="571500" y="3621798"/>
            <a:ext cx="28575" cy="19288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7" name="Text 34"/>
          <p:cNvSpPr/>
          <p:nvPr/>
        </p:nvSpPr>
        <p:spPr>
          <a:xfrm>
            <a:off x="592931" y="3643229"/>
            <a:ext cx="12406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● Stopped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1876406" y="3621798"/>
            <a:ext cx="1283503" cy="19288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9" name="Shape 36"/>
          <p:cNvSpPr/>
          <p:nvPr/>
        </p:nvSpPr>
        <p:spPr>
          <a:xfrm>
            <a:off x="1876406" y="3621798"/>
            <a:ext cx="28575" cy="19288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0" name="Text 37"/>
          <p:cNvSpPr/>
          <p:nvPr/>
        </p:nvSpPr>
        <p:spPr>
          <a:xfrm>
            <a:off x="1897838" y="3643229"/>
            <a:ext cx="1240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● Failed</a:t>
            </a:r>
            <a:endParaRPr lang="en-US" sz="683" dirty="0"/>
          </a:p>
        </p:txBody>
      </p:sp>
      <p:sp>
        <p:nvSpPr>
          <p:cNvPr id="41" name="Shape 38"/>
          <p:cNvSpPr/>
          <p:nvPr/>
        </p:nvSpPr>
        <p:spPr>
          <a:xfrm>
            <a:off x="3181341" y="3621798"/>
            <a:ext cx="1283503" cy="19288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2" name="Shape 39"/>
          <p:cNvSpPr/>
          <p:nvPr/>
        </p:nvSpPr>
        <p:spPr>
          <a:xfrm>
            <a:off x="3181341" y="3621798"/>
            <a:ext cx="28575" cy="192881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43" name="Text 40"/>
          <p:cNvSpPr/>
          <p:nvPr/>
        </p:nvSpPr>
        <p:spPr>
          <a:xfrm>
            <a:off x="3202772" y="3643229"/>
            <a:ext cx="1240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0AEC0"/>
                </a:solidFill>
              </a:rPr>
              <a:t>● Unknown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571500" y="3843254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OPERATIONAL METRICS</a:t>
            </a:r>
            <a:endParaRPr lang="en-US" sz="987" dirty="0"/>
          </a:p>
        </p:txBody>
      </p:sp>
      <p:sp>
        <p:nvSpPr>
          <p:cNvPr id="45" name="Shape 42"/>
          <p:cNvSpPr/>
          <p:nvPr/>
        </p:nvSpPr>
        <p:spPr>
          <a:xfrm>
            <a:off x="571500" y="4078998"/>
            <a:ext cx="1932384" cy="43219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3"/>
          <p:cNvSpPr/>
          <p:nvPr/>
        </p:nvSpPr>
        <p:spPr>
          <a:xfrm>
            <a:off x="600075" y="4107573"/>
            <a:ext cx="187523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4FF"/>
                </a:solidFill>
              </a:rPr>
              <a:t>&lt; 5 min</a:t>
            </a:r>
            <a:endParaRPr lang="en-US" sz="1090" dirty="0"/>
          </a:p>
        </p:txBody>
      </p:sp>
      <p:sp>
        <p:nvSpPr>
          <p:cNvPr id="47" name="Text 44"/>
          <p:cNvSpPr/>
          <p:nvPr/>
        </p:nvSpPr>
        <p:spPr>
          <a:xfrm>
            <a:off x="600075" y="4343316"/>
            <a:ext cx="18752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Install time</a:t>
            </a:r>
            <a:endParaRPr lang="en-US" sz="674" dirty="0"/>
          </a:p>
        </p:txBody>
      </p:sp>
      <p:sp>
        <p:nvSpPr>
          <p:cNvPr id="48" name="Shape 45"/>
          <p:cNvSpPr/>
          <p:nvPr/>
        </p:nvSpPr>
        <p:spPr>
          <a:xfrm>
            <a:off x="2532459" y="4078998"/>
            <a:ext cx="1932384" cy="43219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6"/>
          <p:cNvSpPr/>
          <p:nvPr/>
        </p:nvSpPr>
        <p:spPr>
          <a:xfrm>
            <a:off x="2561034" y="4107573"/>
            <a:ext cx="187523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4FF"/>
                </a:solidFill>
              </a:rPr>
              <a:t>&lt; 30 sec</a:t>
            </a:r>
            <a:endParaRPr lang="en-US" sz="1090" dirty="0"/>
          </a:p>
        </p:txBody>
      </p:sp>
      <p:sp>
        <p:nvSpPr>
          <p:cNvPr id="50" name="Text 47"/>
          <p:cNvSpPr/>
          <p:nvPr/>
        </p:nvSpPr>
        <p:spPr>
          <a:xfrm>
            <a:off x="2561034" y="4343316"/>
            <a:ext cx="18752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Config update</a:t>
            </a:r>
            <a:endParaRPr lang="en-US" sz="674" dirty="0"/>
          </a:p>
        </p:txBody>
      </p:sp>
      <p:sp>
        <p:nvSpPr>
          <p:cNvPr id="51" name="Shape 48"/>
          <p:cNvSpPr/>
          <p:nvPr/>
        </p:nvSpPr>
        <p:spPr>
          <a:xfrm>
            <a:off x="571500" y="4539769"/>
            <a:ext cx="1932384" cy="43219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Text 49"/>
          <p:cNvSpPr/>
          <p:nvPr/>
        </p:nvSpPr>
        <p:spPr>
          <a:xfrm>
            <a:off x="600075" y="4568344"/>
            <a:ext cx="187523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4FF"/>
                </a:solidFill>
              </a:rPr>
              <a:t>&lt; 2 min</a:t>
            </a:r>
            <a:endParaRPr lang="en-US" sz="1090" dirty="0"/>
          </a:p>
        </p:txBody>
      </p:sp>
      <p:sp>
        <p:nvSpPr>
          <p:cNvPr id="53" name="Text 50"/>
          <p:cNvSpPr/>
          <p:nvPr/>
        </p:nvSpPr>
        <p:spPr>
          <a:xfrm>
            <a:off x="600075" y="4804088"/>
            <a:ext cx="18752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Version upgrade</a:t>
            </a:r>
            <a:endParaRPr lang="en-US" sz="674" dirty="0"/>
          </a:p>
        </p:txBody>
      </p:sp>
      <p:sp>
        <p:nvSpPr>
          <p:cNvPr id="54" name="Shape 51"/>
          <p:cNvSpPr/>
          <p:nvPr/>
        </p:nvSpPr>
        <p:spPr>
          <a:xfrm>
            <a:off x="2532459" y="4539769"/>
            <a:ext cx="1932384" cy="43219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5" name="Text 52"/>
          <p:cNvSpPr/>
          <p:nvPr/>
        </p:nvSpPr>
        <p:spPr>
          <a:xfrm>
            <a:off x="2561034" y="4568344"/>
            <a:ext cx="187523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4FF"/>
                </a:solidFill>
              </a:rPr>
              <a:t>99.9%</a:t>
            </a:r>
            <a:endParaRPr lang="en-US" sz="1090" dirty="0"/>
          </a:p>
        </p:txBody>
      </p:sp>
      <p:sp>
        <p:nvSpPr>
          <p:cNvPr id="56" name="Text 53"/>
          <p:cNvSpPr/>
          <p:nvPr/>
        </p:nvSpPr>
        <p:spPr>
          <a:xfrm>
            <a:off x="2561034" y="4804088"/>
            <a:ext cx="18752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Uptime SLA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4679156" y="1028700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AUTOMATION FEATURES</a:t>
            </a:r>
            <a:endParaRPr lang="en-US" sz="987" dirty="0"/>
          </a:p>
        </p:txBody>
      </p:sp>
      <p:sp>
        <p:nvSpPr>
          <p:cNvPr id="58" name="Shape 55"/>
          <p:cNvSpPr/>
          <p:nvPr/>
        </p:nvSpPr>
        <p:spPr>
          <a:xfrm>
            <a:off x="4679156" y="1264444"/>
            <a:ext cx="3893344" cy="77141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9" name="Text 56"/>
          <p:cNvSpPr/>
          <p:nvPr/>
        </p:nvSpPr>
        <p:spPr>
          <a:xfrm>
            <a:off x="4722019" y="1307306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✓ Zero-Touch Provisioning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Automated install via Ansible/Chef/Puppet</a:t>
            </a:r>
            <a:endParaRPr lang="en-US" sz="683" dirty="0"/>
          </a:p>
        </p:txBody>
      </p:sp>
      <p:sp>
        <p:nvSpPr>
          <p:cNvPr id="60" name="Text 57"/>
          <p:cNvSpPr/>
          <p:nvPr/>
        </p:nvSpPr>
        <p:spPr>
          <a:xfrm>
            <a:off x="4722019" y="144873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✓ Self-Healing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Auto-restart on failure, diagnostic collection</a:t>
            </a:r>
            <a:endParaRPr lang="en-US" sz="683" dirty="0"/>
          </a:p>
        </p:txBody>
      </p:sp>
      <p:sp>
        <p:nvSpPr>
          <p:cNvPr id="61" name="Text 58"/>
          <p:cNvSpPr/>
          <p:nvPr/>
        </p:nvSpPr>
        <p:spPr>
          <a:xfrm>
            <a:off x="4722019" y="1590154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✓ Canary Rollouts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Phased updates with automatic rollback</a:t>
            </a:r>
            <a:endParaRPr lang="en-US" sz="683" dirty="0"/>
          </a:p>
        </p:txBody>
      </p:sp>
      <p:sp>
        <p:nvSpPr>
          <p:cNvPr id="62" name="Text 59"/>
          <p:cNvSpPr/>
          <p:nvPr/>
        </p:nvSpPr>
        <p:spPr>
          <a:xfrm>
            <a:off x="4722019" y="1731578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✓ State Persistence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Graceful restart without data loss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4722019" y="1873002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✓ Dynamic Configuration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Config changes applied without restart</a:t>
            </a:r>
            <a:endParaRPr lang="en-US" sz="683" dirty="0"/>
          </a:p>
        </p:txBody>
      </p:sp>
      <p:sp>
        <p:nvSpPr>
          <p:cNvPr id="64" name="Text 61"/>
          <p:cNvSpPr/>
          <p:nvPr/>
        </p:nvSpPr>
        <p:spPr>
          <a:xfrm>
            <a:off x="4679156" y="2064432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INSTALLATION METHODS</a:t>
            </a:r>
            <a:endParaRPr lang="en-US" sz="987" dirty="0"/>
          </a:p>
        </p:txBody>
      </p:sp>
      <p:sp>
        <p:nvSpPr>
          <p:cNvPr id="65" name="Shape 62"/>
          <p:cNvSpPr/>
          <p:nvPr/>
        </p:nvSpPr>
        <p:spPr>
          <a:xfrm>
            <a:off x="4679156" y="2300176"/>
            <a:ext cx="3893344" cy="60855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6" name="Text 63"/>
          <p:cNvSpPr/>
          <p:nvPr/>
        </p:nvSpPr>
        <p:spPr>
          <a:xfrm>
            <a:off x="4722019" y="2343038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• Package Managers: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apt, yum, brew, chocolatey</a:t>
            </a:r>
            <a:endParaRPr lang="en-US" sz="683" dirty="0"/>
          </a:p>
        </p:txBody>
      </p:sp>
      <p:sp>
        <p:nvSpPr>
          <p:cNvPr id="67" name="Text 64"/>
          <p:cNvSpPr/>
          <p:nvPr/>
        </p:nvSpPr>
        <p:spPr>
          <a:xfrm>
            <a:off x="4722019" y="247731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• Config Management: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Ansible, Chef, Puppet, SaltStack</a:t>
            </a:r>
            <a:endParaRPr lang="en-US" sz="683" dirty="0"/>
          </a:p>
        </p:txBody>
      </p:sp>
      <p:sp>
        <p:nvSpPr>
          <p:cNvPr id="68" name="Text 65"/>
          <p:cNvSpPr/>
          <p:nvPr/>
        </p:nvSpPr>
        <p:spPr>
          <a:xfrm>
            <a:off x="4722019" y="261159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• Container Images: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Docker, Kubernetes DaemonSets</a:t>
            </a:r>
            <a:endParaRPr lang="en-US" sz="683" dirty="0"/>
          </a:p>
        </p:txBody>
      </p:sp>
      <p:sp>
        <p:nvSpPr>
          <p:cNvPr id="69" name="Text 66"/>
          <p:cNvSpPr/>
          <p:nvPr/>
        </p:nvSpPr>
        <p:spPr>
          <a:xfrm>
            <a:off x="4722019" y="274587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• Cloud Init: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AWS/Azure/GCP user-data scripts</a:t>
            </a:r>
            <a:endParaRPr lang="en-US" sz="683" dirty="0"/>
          </a:p>
        </p:txBody>
      </p:sp>
      <p:sp>
        <p:nvSpPr>
          <p:cNvPr id="70" name="Text 67"/>
          <p:cNvSpPr/>
          <p:nvPr/>
        </p:nvSpPr>
        <p:spPr>
          <a:xfrm>
            <a:off x="4679156" y="2937309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UPDATE STRATEGIES</a:t>
            </a:r>
            <a:endParaRPr lang="en-US" sz="987" dirty="0"/>
          </a:p>
        </p:txBody>
      </p:sp>
      <p:sp>
        <p:nvSpPr>
          <p:cNvPr id="71" name="Shape 68"/>
          <p:cNvSpPr/>
          <p:nvPr/>
        </p:nvSpPr>
        <p:spPr>
          <a:xfrm>
            <a:off x="4679156" y="3173053"/>
            <a:ext cx="3893344" cy="60855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72" name="Text 69"/>
          <p:cNvSpPr/>
          <p:nvPr/>
        </p:nvSpPr>
        <p:spPr>
          <a:xfrm>
            <a:off x="4722019" y="321591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• Delta Updates: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Only changed files (80% bandwidth savings)</a:t>
            </a:r>
            <a:endParaRPr lang="en-US" sz="683" dirty="0"/>
          </a:p>
        </p:txBody>
      </p:sp>
      <p:sp>
        <p:nvSpPr>
          <p:cNvPr id="73" name="Text 70"/>
          <p:cNvSpPr/>
          <p:nvPr/>
        </p:nvSpPr>
        <p:spPr>
          <a:xfrm>
            <a:off x="4722019" y="3350196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• Canary Rollout: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5% → 25% → 100% over 6 days</a:t>
            </a:r>
            <a:endParaRPr lang="en-US" sz="683" dirty="0"/>
          </a:p>
        </p:txBody>
      </p:sp>
      <p:sp>
        <p:nvSpPr>
          <p:cNvPr id="74" name="Text 71"/>
          <p:cNvSpPr/>
          <p:nvPr/>
        </p:nvSpPr>
        <p:spPr>
          <a:xfrm>
            <a:off x="4722019" y="3484476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• Automatic Rollback: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On error rate &gt; 5% or crash &gt; 2%</a:t>
            </a:r>
            <a:endParaRPr lang="en-US" sz="683" dirty="0"/>
          </a:p>
        </p:txBody>
      </p:sp>
      <p:sp>
        <p:nvSpPr>
          <p:cNvPr id="75" name="Text 72"/>
          <p:cNvSpPr/>
          <p:nvPr/>
        </p:nvSpPr>
        <p:spPr>
          <a:xfrm>
            <a:off x="4722019" y="3618756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• Maintenance Windows: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Off-hours scheduling</a:t>
            </a:r>
            <a:endParaRPr lang="en-US" sz="683" dirty="0"/>
          </a:p>
        </p:txBody>
      </p:sp>
      <p:sp>
        <p:nvSpPr>
          <p:cNvPr id="76" name="Text 73"/>
          <p:cNvSpPr/>
          <p:nvPr/>
        </p:nvSpPr>
        <p:spPr>
          <a:xfrm>
            <a:off x="4679156" y="3810186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MONITORING &amp; ALERTS</a:t>
            </a:r>
            <a:endParaRPr lang="en-US" sz="987" dirty="0"/>
          </a:p>
        </p:txBody>
      </p:sp>
      <p:sp>
        <p:nvSpPr>
          <p:cNvPr id="77" name="Shape 74"/>
          <p:cNvSpPr/>
          <p:nvPr/>
        </p:nvSpPr>
        <p:spPr>
          <a:xfrm>
            <a:off x="4679156" y="4045930"/>
            <a:ext cx="3893344" cy="60855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78" name="Text 75"/>
          <p:cNvSpPr/>
          <p:nvPr/>
        </p:nvSpPr>
        <p:spPr>
          <a:xfrm>
            <a:off x="4722019" y="4088792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Critical: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Agent down &gt; 2 minutes → PagerDuty</a:t>
            </a:r>
            <a:endParaRPr lang="en-US" sz="683" dirty="0"/>
          </a:p>
        </p:txBody>
      </p:sp>
      <p:sp>
        <p:nvSpPr>
          <p:cNvPr id="79" name="Text 76"/>
          <p:cNvSpPr/>
          <p:nvPr/>
        </p:nvSpPr>
        <p:spPr>
          <a:xfrm>
            <a:off x="4722019" y="4223072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Warning: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CPU &gt; 80% for 5 minutes → Slack</a:t>
            </a:r>
            <a:endParaRPr lang="en-US" sz="683" dirty="0"/>
          </a:p>
        </p:txBody>
      </p:sp>
      <p:sp>
        <p:nvSpPr>
          <p:cNvPr id="80" name="Text 77"/>
          <p:cNvSpPr/>
          <p:nvPr/>
        </p:nvSpPr>
        <p:spPr>
          <a:xfrm>
            <a:off x="4722019" y="4357353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Warning: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Memory &gt; 90% → Slack</a:t>
            </a:r>
            <a:endParaRPr lang="en-US" sz="683" dirty="0"/>
          </a:p>
        </p:txBody>
      </p:sp>
      <p:sp>
        <p:nvSpPr>
          <p:cNvPr id="81" name="Text 78"/>
          <p:cNvSpPr/>
          <p:nvPr/>
        </p:nvSpPr>
        <p:spPr>
          <a:xfrm>
            <a:off x="4722019" y="4491633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Info: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Version update completed → Email</a:t>
            </a:r>
            <a:endParaRPr lang="en-US" sz="68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Multi-Agent Coordination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28700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COORDINATION ARCHITECTURE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71588"/>
            <a:ext cx="3893344" cy="50363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628650" y="1328738"/>
            <a:ext cx="37790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00D4FF"/>
                </a:solidFill>
              </a:rPr>
              <a:t>SUPERVISOR PROXY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628650" y="1578769"/>
            <a:ext cx="37790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Local Agent Manager &amp; OpAMP Client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571500" y="1803797"/>
            <a:ext cx="1932384" cy="3357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803797"/>
            <a:ext cx="28575" cy="33575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7"/>
          <p:cNvSpPr/>
          <p:nvPr/>
        </p:nvSpPr>
        <p:spPr>
          <a:xfrm>
            <a:off x="600075" y="1832372"/>
            <a:ext cx="1875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OpenTelemetry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00075" y="1982391"/>
            <a:ext cx="1875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Logs, metrics, traces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2532459" y="1803797"/>
            <a:ext cx="1932384" cy="3357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3" name="Shape 10"/>
          <p:cNvSpPr/>
          <p:nvPr/>
        </p:nvSpPr>
        <p:spPr>
          <a:xfrm>
            <a:off x="2532459" y="1803797"/>
            <a:ext cx="28575" cy="33575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4" name="Text 11"/>
          <p:cNvSpPr/>
          <p:nvPr/>
        </p:nvSpPr>
        <p:spPr>
          <a:xfrm>
            <a:off x="2561034" y="1832372"/>
            <a:ext cx="1875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OSQuery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2561034" y="1982391"/>
            <a:ext cx="1875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Asset inventory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571500" y="2168128"/>
            <a:ext cx="1932384" cy="3357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2168128"/>
            <a:ext cx="28575" cy="3357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5"/>
          <p:cNvSpPr/>
          <p:nvPr/>
        </p:nvSpPr>
        <p:spPr>
          <a:xfrm>
            <a:off x="600075" y="2196703"/>
            <a:ext cx="1875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CrowdStrike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600075" y="2346722"/>
            <a:ext cx="1875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EDR, threat detection</a:t>
            </a:r>
            <a:endParaRPr lang="en-US" sz="621" dirty="0"/>
          </a:p>
        </p:txBody>
      </p:sp>
      <p:sp>
        <p:nvSpPr>
          <p:cNvPr id="20" name="Shape 17"/>
          <p:cNvSpPr/>
          <p:nvPr/>
        </p:nvSpPr>
        <p:spPr>
          <a:xfrm>
            <a:off x="2532459" y="2168128"/>
            <a:ext cx="1932384" cy="3357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1" name="Shape 18"/>
          <p:cNvSpPr/>
          <p:nvPr/>
        </p:nvSpPr>
        <p:spPr>
          <a:xfrm>
            <a:off x="2532459" y="2168128"/>
            <a:ext cx="28575" cy="33575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19"/>
          <p:cNvSpPr/>
          <p:nvPr/>
        </p:nvSpPr>
        <p:spPr>
          <a:xfrm>
            <a:off x="2561034" y="2196703"/>
            <a:ext cx="1875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Qualys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2561034" y="2346722"/>
            <a:ext cx="1875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Vuln scanning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571500" y="2532459"/>
            <a:ext cx="1932384" cy="3357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2532459"/>
            <a:ext cx="28575" cy="33575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3"/>
          <p:cNvSpPr/>
          <p:nvPr/>
        </p:nvSpPr>
        <p:spPr>
          <a:xfrm>
            <a:off x="600075" y="2561034"/>
            <a:ext cx="1875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Wiz Agent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00075" y="2711053"/>
            <a:ext cx="1875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Cloud security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2532459" y="2532459"/>
            <a:ext cx="1932384" cy="33575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9" name="Shape 26"/>
          <p:cNvSpPr/>
          <p:nvPr/>
        </p:nvSpPr>
        <p:spPr>
          <a:xfrm>
            <a:off x="2532459" y="2532459"/>
            <a:ext cx="28575" cy="33575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0" name="Text 27"/>
          <p:cNvSpPr/>
          <p:nvPr/>
        </p:nvSpPr>
        <p:spPr>
          <a:xfrm>
            <a:off x="2561034" y="2561034"/>
            <a:ext cx="18752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Zscaler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2561034" y="2711053"/>
            <a:ext cx="1875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Network security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571500" y="2896791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COORDINATION FUNCTIONS</a:t>
            </a:r>
            <a:endParaRPr lang="en-US" sz="987" dirty="0"/>
          </a:p>
        </p:txBody>
      </p:sp>
      <p:sp>
        <p:nvSpPr>
          <p:cNvPr id="33" name="Shape 30"/>
          <p:cNvSpPr/>
          <p:nvPr/>
        </p:nvSpPr>
        <p:spPr>
          <a:xfrm>
            <a:off x="571500" y="3132534"/>
            <a:ext cx="3893344" cy="62998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4" name="Text 31"/>
          <p:cNvSpPr/>
          <p:nvPr/>
        </p:nvSpPr>
        <p:spPr>
          <a:xfrm>
            <a:off x="614363" y="3175397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1. Unified Configuration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Receive from OpAMP, distribute to agents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14363" y="3316821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2. Health Aggregation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Collect health from all agents, report to OpAMP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614363" y="345824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3. Resource Management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Monitor usage, throttle if needed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614363" y="359966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4. Dependency Resolution —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Start agents in correct order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571500" y="3791099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COMMUNICATION PATTERNS</a:t>
            </a:r>
            <a:endParaRPr lang="en-US" sz="987" dirty="0"/>
          </a:p>
        </p:txBody>
      </p:sp>
      <p:sp>
        <p:nvSpPr>
          <p:cNvPr id="39" name="Shape 36"/>
          <p:cNvSpPr/>
          <p:nvPr/>
        </p:nvSpPr>
        <p:spPr>
          <a:xfrm>
            <a:off x="571500" y="4026843"/>
            <a:ext cx="3893344" cy="60855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0" name="Text 37"/>
          <p:cNvSpPr/>
          <p:nvPr/>
        </p:nvSpPr>
        <p:spPr>
          <a:xfrm>
            <a:off x="614363" y="406970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• Local IPC: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Unix sockets, Named pipes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614363" y="420398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• REST API: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HTTP/1.1 on localhost:8080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614363" y="433826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• gRPC: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For high-performance agents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614363" y="4472546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• File-based: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Config files + inotify/FSEvents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4679156" y="1028700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COORDINATION SCENARIOS</a:t>
            </a:r>
            <a:endParaRPr lang="en-US" sz="987" dirty="0"/>
          </a:p>
        </p:txBody>
      </p:sp>
      <p:sp>
        <p:nvSpPr>
          <p:cNvPr id="45" name="Shape 42"/>
          <p:cNvSpPr/>
          <p:nvPr/>
        </p:nvSpPr>
        <p:spPr>
          <a:xfrm>
            <a:off x="4679156" y="1264444"/>
            <a:ext cx="3893344" cy="109291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6" name="Text 43"/>
          <p:cNvSpPr/>
          <p:nvPr/>
        </p:nvSpPr>
        <p:spPr>
          <a:xfrm>
            <a:off x="4722019" y="1307306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Scenario 1: Configuration Update</a:t>
            </a:r>
            <a:endParaRPr lang="en-US" sz="784" dirty="0"/>
          </a:p>
        </p:txBody>
      </p:sp>
      <p:sp>
        <p:nvSpPr>
          <p:cNvPr id="47" name="Text 44"/>
          <p:cNvSpPr/>
          <p:nvPr/>
        </p:nvSpPr>
        <p:spPr>
          <a:xfrm>
            <a:off x="4722019" y="1493044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1. OpAMP sends new config to Supervisor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4722019" y="1611613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2. Supervisor validates config schema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4722019" y="1730183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3. Supervisor distributes to affected agents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4722019" y="1848752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4. Agents apply config (no restart needed)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4722019" y="1967322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5. Supervisor confirms success to OpAMP</a:t>
            </a:r>
            <a:endParaRPr lang="en-US" sz="674" dirty="0"/>
          </a:p>
        </p:txBody>
      </p:sp>
      <p:sp>
        <p:nvSpPr>
          <p:cNvPr id="52" name="Shape 49"/>
          <p:cNvSpPr/>
          <p:nvPr/>
        </p:nvSpPr>
        <p:spPr>
          <a:xfrm>
            <a:off x="4722019" y="2100179"/>
            <a:ext cx="3807619" cy="21431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Text 50"/>
          <p:cNvSpPr/>
          <p:nvPr/>
        </p:nvSpPr>
        <p:spPr>
          <a:xfrm>
            <a:off x="4722019" y="2100179"/>
            <a:ext cx="3807619" cy="214313"/>
          </a:xfrm>
          <a:prstGeom prst="rect">
            <a:avLst/>
          </a:prstGeom>
          <a:noFill/>
          <a:ln/>
        </p:spPr>
        <p:txBody>
          <a:bodyPr wrap="none" lIns="25527" tIns="25527" rIns="25527" bIns="25527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34" b="1" dirty="0">
                <a:solidFill>
                  <a:srgbClr val="FFD93D"/>
                </a:solidFill>
              </a:rPr>
              <a:t>Latency:</a:t>
            </a:r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&lt; 30 seconds end-to-end</a:t>
            </a:r>
            <a:endParaRPr lang="en-US" sz="634" dirty="0"/>
          </a:p>
        </p:txBody>
      </p:sp>
      <p:sp>
        <p:nvSpPr>
          <p:cNvPr id="54" name="Shape 51"/>
          <p:cNvSpPr/>
          <p:nvPr/>
        </p:nvSpPr>
        <p:spPr>
          <a:xfrm>
            <a:off x="4679156" y="2385929"/>
            <a:ext cx="3893344" cy="109291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5" name="Text 52"/>
          <p:cNvSpPr/>
          <p:nvPr/>
        </p:nvSpPr>
        <p:spPr>
          <a:xfrm>
            <a:off x="4722019" y="2428791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Scenario 2: Agent Failure Detection</a:t>
            </a:r>
            <a:endParaRPr lang="en-US" sz="784" dirty="0"/>
          </a:p>
        </p:txBody>
      </p:sp>
      <p:sp>
        <p:nvSpPr>
          <p:cNvPr id="56" name="Text 53"/>
          <p:cNvSpPr/>
          <p:nvPr/>
        </p:nvSpPr>
        <p:spPr>
          <a:xfrm>
            <a:off x="4722019" y="2614529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1. Supervisor detects OSQuery agent crash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4722019" y="2733098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2. Collect crash logs &amp; diagnostics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4722019" y="2851668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3. Attempt auto-restart (max 3 retries)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4722019" y="2970237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4. Report failure to OpAMP if restart fails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4722019" y="3088807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5. OpAMP triggers alert to SOC team</a:t>
            </a:r>
            <a:endParaRPr lang="en-US" sz="674" dirty="0"/>
          </a:p>
        </p:txBody>
      </p:sp>
      <p:sp>
        <p:nvSpPr>
          <p:cNvPr id="61" name="Shape 58"/>
          <p:cNvSpPr/>
          <p:nvPr/>
        </p:nvSpPr>
        <p:spPr>
          <a:xfrm>
            <a:off x="4722019" y="3221664"/>
            <a:ext cx="3807619" cy="21431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2" name="Text 59"/>
          <p:cNvSpPr/>
          <p:nvPr/>
        </p:nvSpPr>
        <p:spPr>
          <a:xfrm>
            <a:off x="4722019" y="3221664"/>
            <a:ext cx="3807619" cy="214313"/>
          </a:xfrm>
          <a:prstGeom prst="rect">
            <a:avLst/>
          </a:prstGeom>
          <a:noFill/>
          <a:ln/>
        </p:spPr>
        <p:txBody>
          <a:bodyPr wrap="none" lIns="25527" tIns="25527" rIns="25527" bIns="25527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34" b="1" dirty="0">
                <a:solidFill>
                  <a:srgbClr val="FFD93D"/>
                </a:solidFill>
              </a:rPr>
              <a:t>MTTR:</a:t>
            </a:r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&lt; 2 minutes (auto-restart)</a:t>
            </a:r>
            <a:endParaRPr lang="en-US" sz="634" dirty="0"/>
          </a:p>
        </p:txBody>
      </p:sp>
      <p:sp>
        <p:nvSpPr>
          <p:cNvPr id="63" name="Shape 60"/>
          <p:cNvSpPr/>
          <p:nvPr/>
        </p:nvSpPr>
        <p:spPr>
          <a:xfrm>
            <a:off x="4679156" y="3507414"/>
            <a:ext cx="3893344" cy="109291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4" name="Text 61"/>
          <p:cNvSpPr/>
          <p:nvPr/>
        </p:nvSpPr>
        <p:spPr>
          <a:xfrm>
            <a:off x="4722019" y="3550276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Scenario 3: Resource Throttling</a:t>
            </a:r>
            <a:endParaRPr lang="en-US" sz="784" dirty="0"/>
          </a:p>
        </p:txBody>
      </p:sp>
      <p:sp>
        <p:nvSpPr>
          <p:cNvPr id="65" name="Text 62"/>
          <p:cNvSpPr/>
          <p:nvPr/>
        </p:nvSpPr>
        <p:spPr>
          <a:xfrm>
            <a:off x="4722019" y="3736014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1. Total agent CPU usage exceeds 80%</a:t>
            </a:r>
            <a:endParaRPr lang="en-US" sz="674" dirty="0"/>
          </a:p>
        </p:txBody>
      </p:sp>
      <p:sp>
        <p:nvSpPr>
          <p:cNvPr id="66" name="Text 63"/>
          <p:cNvSpPr/>
          <p:nvPr/>
        </p:nvSpPr>
        <p:spPr>
          <a:xfrm>
            <a:off x="4722019" y="3854583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2. Supervisor identifies top consumers</a:t>
            </a:r>
            <a:endParaRPr lang="en-US" sz="674" dirty="0"/>
          </a:p>
        </p:txBody>
      </p:sp>
      <p:sp>
        <p:nvSpPr>
          <p:cNvPr id="67" name="Text 64"/>
          <p:cNvSpPr/>
          <p:nvPr/>
        </p:nvSpPr>
        <p:spPr>
          <a:xfrm>
            <a:off x="4722019" y="3973153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3. Apply cgroup limits or throttle queries</a:t>
            </a:r>
            <a:endParaRPr lang="en-US" sz="674" dirty="0"/>
          </a:p>
        </p:txBody>
      </p:sp>
      <p:sp>
        <p:nvSpPr>
          <p:cNvPr id="68" name="Text 65"/>
          <p:cNvSpPr/>
          <p:nvPr/>
        </p:nvSpPr>
        <p:spPr>
          <a:xfrm>
            <a:off x="4722019" y="4091722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4. Log throttling event for analysis</a:t>
            </a:r>
            <a:endParaRPr lang="en-US" sz="674" dirty="0"/>
          </a:p>
        </p:txBody>
      </p:sp>
      <p:sp>
        <p:nvSpPr>
          <p:cNvPr id="69" name="Text 66"/>
          <p:cNvSpPr/>
          <p:nvPr/>
        </p:nvSpPr>
        <p:spPr>
          <a:xfrm>
            <a:off x="4722019" y="4210292"/>
            <a:ext cx="380761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5. Report resource pressure to OpAMP</a:t>
            </a:r>
            <a:endParaRPr lang="en-US" sz="674" dirty="0"/>
          </a:p>
        </p:txBody>
      </p:sp>
      <p:sp>
        <p:nvSpPr>
          <p:cNvPr id="70" name="Shape 67"/>
          <p:cNvSpPr/>
          <p:nvPr/>
        </p:nvSpPr>
        <p:spPr>
          <a:xfrm>
            <a:off x="4722019" y="4343149"/>
            <a:ext cx="3807619" cy="21431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1" name="Text 68"/>
          <p:cNvSpPr/>
          <p:nvPr/>
        </p:nvSpPr>
        <p:spPr>
          <a:xfrm>
            <a:off x="4722019" y="4343149"/>
            <a:ext cx="3807619" cy="214313"/>
          </a:xfrm>
          <a:prstGeom prst="rect">
            <a:avLst/>
          </a:prstGeom>
          <a:noFill/>
          <a:ln/>
        </p:spPr>
        <p:txBody>
          <a:bodyPr wrap="none" lIns="25527" tIns="25527" rIns="25527" bIns="25527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34" b="1" dirty="0">
                <a:solidFill>
                  <a:srgbClr val="FFD93D"/>
                </a:solidFill>
              </a:rPr>
              <a:t>Protection:</a:t>
            </a:r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Prevents endpoint degradation</a:t>
            </a:r>
            <a:endParaRPr lang="en-US" sz="6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44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Configuration Schema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14413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CONFIGURATION HIERARCHY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50156"/>
            <a:ext cx="3893344" cy="80143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293019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1. Global Settings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14363" y="148590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OpAMP Server: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URL, auth credentials, TLS config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14363" y="162018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Supervisor: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Listen port, log level, resource limits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14363" y="175446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Telemetry: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Metrics endpoint, health check interval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14363" y="1888741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Security: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Certificate paths, encryption settings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571500" y="2080171"/>
            <a:ext cx="3893344" cy="93572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Text 9"/>
          <p:cNvSpPr/>
          <p:nvPr/>
        </p:nvSpPr>
        <p:spPr>
          <a:xfrm>
            <a:off x="614363" y="2123033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2. Agent Definitions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14363" y="2315914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Agent ID: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Unique identifier (e.g., "otel-collector")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14363" y="245019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Type: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Agent type (otel, osquery, crowdstrike, etc.)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14363" y="258447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Version: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Target version or "latest"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14363" y="271875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Enabled: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Boolean flag to enable/disable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614363" y="285303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Dependencies: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List of required agents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71500" y="3044465"/>
            <a:ext cx="3893344" cy="80143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9" name="Text 16"/>
          <p:cNvSpPr/>
          <p:nvPr/>
        </p:nvSpPr>
        <p:spPr>
          <a:xfrm>
            <a:off x="614363" y="3087328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3. Agent-Specific Config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14363" y="328020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Config File: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Path to agent's native config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614363" y="341448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Environment: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Environment variables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14363" y="354876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Resource Limits: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CPU, memory, disk quotas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14363" y="368305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Restart Policy: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on-failure, always, never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571500" y="3874480"/>
            <a:ext cx="3893344" cy="80143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5" name="Text 22"/>
          <p:cNvSpPr/>
          <p:nvPr/>
        </p:nvSpPr>
        <p:spPr>
          <a:xfrm>
            <a:off x="614363" y="3917342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4. Policies &amp; Rules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614363" y="4110224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Update Policy: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Canary, rolling, immediate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614363" y="4244504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Health Checks: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Interval, timeout, retries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14363" y="4378784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Alerting: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Thresholds, notification channels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14363" y="4513064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Compliance: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Required agents, audit settings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679156" y="1014413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EXAMPLE CONFIGURATION (YAML)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4679156" y="1250156"/>
            <a:ext cx="3893344" cy="325713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2" name="Text 29"/>
          <p:cNvSpPr/>
          <p:nvPr/>
        </p:nvSpPr>
        <p:spPr>
          <a:xfrm>
            <a:off x="4722019" y="1284089"/>
            <a:ext cx="48479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D93D"/>
                </a:solidFill>
              </a:rPr>
              <a:t>supervisor: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722019" y="1418732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opamp_server: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"https://opamp.cloud.capitalone.com:4320"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4722019" y="1544445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listen_port: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78BFA"/>
                </a:solidFill>
              </a:rPr>
              <a:t>8080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4722019" y="1670159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log_level: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"info"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4722019" y="1795872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health_check_interval: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"30s"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4722019" y="1926943"/>
            <a:ext cx="3218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D93D"/>
                </a:solidFill>
              </a:rPr>
              <a:t>agents: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4722019" y="2061586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-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id: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"otel-collector"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4722019" y="2187299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"opentelemetry"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4722019" y="2313012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version: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"0.104.0"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4722019" y="2438726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enabled: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78BFA"/>
                </a:solidFill>
              </a:rPr>
              <a:t>true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4722019" y="2564439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config_file: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"/etc/otel/config.yaml"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4836319" y="2681222"/>
            <a:ext cx="6832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resource_limits: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4722019" y="2815865"/>
            <a:ext cx="3807619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cpu: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"2.0"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4722019" y="2941579"/>
            <a:ext cx="3807619" cy="11142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memory: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"2Gi"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4722019" y="3067292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restart_policy: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"on-failure"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4722019" y="3207293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-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id: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"osquery"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4722019" y="3333006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"osquery"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4722019" y="3458719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version: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"5.12.1"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4722019" y="3584432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enabled: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78BFA"/>
                </a:solidFill>
              </a:rPr>
              <a:t>true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4722019" y="3710146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config_file: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"/etc/osquery/osquery.conf"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4722019" y="3835859"/>
            <a:ext cx="3807619" cy="11142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restart_policy: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"always"</a:t>
            </a:r>
            <a:endParaRPr lang="en-US" sz="674" dirty="0"/>
          </a:p>
        </p:txBody>
      </p:sp>
      <p:sp>
        <p:nvSpPr>
          <p:cNvPr id="53" name="Text 50"/>
          <p:cNvSpPr/>
          <p:nvPr/>
        </p:nvSpPr>
        <p:spPr>
          <a:xfrm>
            <a:off x="4722019" y="3966930"/>
            <a:ext cx="3515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D93D"/>
                </a:solidFill>
              </a:rPr>
              <a:t>policies: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4722019" y="4101573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update_strategy: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"canary"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4722019" y="4227286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canary_percentage: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A78BFA"/>
                </a:solidFill>
              </a:rPr>
              <a:t>5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4722019" y="4352999"/>
            <a:ext cx="3807619" cy="111426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rollout_duration: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00D4FF"/>
                </a:solidFill>
              </a:rPr>
              <a:t>"6d"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4679156" y="4535863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CONFIG VALIDATION</a:t>
            </a:r>
            <a:endParaRPr lang="en-US" sz="987" dirty="0"/>
          </a:p>
        </p:txBody>
      </p:sp>
      <p:sp>
        <p:nvSpPr>
          <p:cNvPr id="58" name="Shape 55"/>
          <p:cNvSpPr/>
          <p:nvPr/>
        </p:nvSpPr>
        <p:spPr>
          <a:xfrm>
            <a:off x="4679156" y="4764463"/>
            <a:ext cx="3893344" cy="57998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9" name="Text 56"/>
          <p:cNvSpPr/>
          <p:nvPr/>
        </p:nvSpPr>
        <p:spPr>
          <a:xfrm>
            <a:off x="4714875" y="4800181"/>
            <a:ext cx="18680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Schema Validation: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JSON Schema or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CUE</a:t>
            </a:r>
            <a:endParaRPr lang="en-US" sz="727" dirty="0"/>
          </a:p>
        </p:txBody>
      </p:sp>
      <p:sp>
        <p:nvSpPr>
          <p:cNvPr id="60" name="Text 57"/>
          <p:cNvSpPr/>
          <p:nvPr/>
        </p:nvSpPr>
        <p:spPr>
          <a:xfrm>
            <a:off x="6668691" y="4800181"/>
            <a:ext cx="18680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Dependency Check: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Verify required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agents exist</a:t>
            </a:r>
            <a:endParaRPr lang="en-US" sz="727" dirty="0"/>
          </a:p>
        </p:txBody>
      </p:sp>
      <p:sp>
        <p:nvSpPr>
          <p:cNvPr id="61" name="Text 58"/>
          <p:cNvSpPr/>
          <p:nvPr/>
        </p:nvSpPr>
        <p:spPr>
          <a:xfrm>
            <a:off x="4714875" y="5068742"/>
            <a:ext cx="18680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Resource Limits: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Ensure total &lt; host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capacity</a:t>
            </a:r>
            <a:endParaRPr lang="en-US" sz="727" dirty="0"/>
          </a:p>
        </p:txBody>
      </p:sp>
      <p:sp>
        <p:nvSpPr>
          <p:cNvPr id="62" name="Text 59"/>
          <p:cNvSpPr/>
          <p:nvPr/>
        </p:nvSpPr>
        <p:spPr>
          <a:xfrm>
            <a:off x="6668691" y="5068742"/>
            <a:ext cx="18680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Dry-Run Mode: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Test config before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applying</a:t>
            </a:r>
            <a:endParaRPr lang="en-US" sz="72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Scale &amp; Performance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SCALE TARGETS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35869"/>
            <a:ext cx="1925241" cy="5536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628650" y="1293019"/>
            <a:ext cx="181094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4ADE80"/>
                </a:solidFill>
              </a:rPr>
              <a:t>200K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28650" y="1593056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Total Endpoints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2539603" y="1235869"/>
            <a:ext cx="1925241" cy="5536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2596753" y="1293019"/>
            <a:ext cx="181094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4ADE80"/>
                </a:solidFill>
              </a:rPr>
              <a:t>1.2M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2596753" y="1593056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Total Agents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571500" y="1832372"/>
            <a:ext cx="1925241" cy="5536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628650" y="1889522"/>
            <a:ext cx="181094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D93D"/>
                </a:solidFill>
              </a:rPr>
              <a:t>200K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628650" y="2189559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Supervisor Instances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2539603" y="1832372"/>
            <a:ext cx="1925241" cy="5536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2596753" y="1889522"/>
            <a:ext cx="181094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D93D"/>
                </a:solidFill>
              </a:rPr>
              <a:t>6-8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2596753" y="2189559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A0AEC0"/>
                </a:solidFill>
              </a:rPr>
              <a:t>OpAMP Servers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571500" y="2414588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SUPERVISOR RESOURCE CONSUMPTION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571500" y="2650331"/>
            <a:ext cx="3893344" cy="1378744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9" name="Text 16"/>
          <p:cNvSpPr/>
          <p:nvPr/>
        </p:nvSpPr>
        <p:spPr>
          <a:xfrm>
            <a:off x="614363" y="2693194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Per-Endpoint Footprint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614363" y="2878931"/>
            <a:ext cx="1882378" cy="532209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8"/>
          <p:cNvSpPr/>
          <p:nvPr/>
        </p:nvSpPr>
        <p:spPr>
          <a:xfrm>
            <a:off x="650081" y="2914650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D93D"/>
                </a:solidFill>
              </a:rPr>
              <a:t>CPU Usage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650081" y="3053953"/>
            <a:ext cx="18109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&lt; 1%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650081" y="3246834"/>
            <a:ext cx="18109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0.01 cores avg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2539603" y="2878931"/>
            <a:ext cx="1882378" cy="532209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2"/>
          <p:cNvSpPr/>
          <p:nvPr/>
        </p:nvSpPr>
        <p:spPr>
          <a:xfrm>
            <a:off x="2575322" y="2914650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D93D"/>
                </a:solidFill>
              </a:rPr>
              <a:t>Memory Usage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2575322" y="3053953"/>
            <a:ext cx="18109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40-50 MB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2575322" y="3246834"/>
            <a:ext cx="18109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Resident set size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614363" y="3454003"/>
            <a:ext cx="1882378" cy="532209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6"/>
          <p:cNvSpPr/>
          <p:nvPr/>
        </p:nvSpPr>
        <p:spPr>
          <a:xfrm>
            <a:off x="650081" y="3489722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D93D"/>
                </a:solidFill>
              </a:rPr>
              <a:t>Disk Usage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650081" y="3629025"/>
            <a:ext cx="18109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20-30 MB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650081" y="3821906"/>
            <a:ext cx="18109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Binary + logs</a:t>
            </a:r>
            <a:endParaRPr lang="en-US" sz="621" dirty="0"/>
          </a:p>
        </p:txBody>
      </p:sp>
      <p:sp>
        <p:nvSpPr>
          <p:cNvPr id="32" name="Shape 29"/>
          <p:cNvSpPr/>
          <p:nvPr/>
        </p:nvSpPr>
        <p:spPr>
          <a:xfrm>
            <a:off x="2539603" y="3454003"/>
            <a:ext cx="1882378" cy="532209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0"/>
          <p:cNvSpPr/>
          <p:nvPr/>
        </p:nvSpPr>
        <p:spPr>
          <a:xfrm>
            <a:off x="2575322" y="3489722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D93D"/>
                </a:solidFill>
              </a:rPr>
              <a:t>Network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2575322" y="3629025"/>
            <a:ext cx="18109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10-20 KB/s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2575322" y="3821906"/>
            <a:ext cx="18109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OpAMP control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571500" y="4057650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OPAMP SERVER CAPACITY</a:t>
            </a:r>
            <a:endParaRPr lang="en-US" sz="987" dirty="0"/>
          </a:p>
        </p:txBody>
      </p:sp>
      <p:sp>
        <p:nvSpPr>
          <p:cNvPr id="37" name="Shape 34"/>
          <p:cNvSpPr/>
          <p:nvPr/>
        </p:nvSpPr>
        <p:spPr>
          <a:xfrm>
            <a:off x="571500" y="4293394"/>
            <a:ext cx="3893344" cy="8128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8" name="Text 35"/>
          <p:cNvSpPr/>
          <p:nvPr/>
        </p:nvSpPr>
        <p:spPr>
          <a:xfrm>
            <a:off x="600075" y="4321969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Connections per Server: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25,000-30,000 supervisors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600075" y="4449105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Config Updates: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10,000 updates/sec throughput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600075" y="4576242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Health Reports: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200K reports/min (every 30s)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600075" y="4703378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CPU per Server: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8-16 cores (AWS c6i.4xlarge)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600075" y="4830514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Memory per Server: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32-64 GB RAM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600075" y="4957651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Cost per Server: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$500-800/month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4679156" y="1000125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PERFORMANCE METRICS</a:t>
            </a:r>
            <a:endParaRPr lang="en-US" sz="987" dirty="0"/>
          </a:p>
        </p:txBody>
      </p:sp>
      <p:sp>
        <p:nvSpPr>
          <p:cNvPr id="45" name="Shape 42"/>
          <p:cNvSpPr/>
          <p:nvPr/>
        </p:nvSpPr>
        <p:spPr>
          <a:xfrm>
            <a:off x="4679156" y="1235869"/>
            <a:ext cx="3893344" cy="68580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6" name="Text 43"/>
          <p:cNvSpPr/>
          <p:nvPr/>
        </p:nvSpPr>
        <p:spPr>
          <a:xfrm>
            <a:off x="4722019" y="1278731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Configuration Propagation</a:t>
            </a:r>
            <a:endParaRPr lang="en-US" sz="784" dirty="0"/>
          </a:p>
        </p:txBody>
      </p:sp>
      <p:sp>
        <p:nvSpPr>
          <p:cNvPr id="47" name="Shape 44"/>
          <p:cNvSpPr/>
          <p:nvPr/>
        </p:nvSpPr>
        <p:spPr>
          <a:xfrm>
            <a:off x="4722019" y="1464469"/>
            <a:ext cx="1240613" cy="41433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5"/>
          <p:cNvSpPr/>
          <p:nvPr/>
        </p:nvSpPr>
        <p:spPr>
          <a:xfrm>
            <a:off x="4757738" y="1500188"/>
            <a:ext cx="1169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&lt; 5s</a:t>
            </a:r>
            <a:endParaRPr lang="en-US" sz="987" dirty="0"/>
          </a:p>
        </p:txBody>
      </p:sp>
      <p:sp>
        <p:nvSpPr>
          <p:cNvPr id="49" name="Text 46"/>
          <p:cNvSpPr/>
          <p:nvPr/>
        </p:nvSpPr>
        <p:spPr>
          <a:xfrm>
            <a:off x="4757738" y="1714500"/>
            <a:ext cx="11691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OpAMP → Supervisor</a:t>
            </a:r>
            <a:endParaRPr lang="en-US" sz="621" dirty="0"/>
          </a:p>
        </p:txBody>
      </p:sp>
      <p:sp>
        <p:nvSpPr>
          <p:cNvPr id="50" name="Shape 47"/>
          <p:cNvSpPr/>
          <p:nvPr/>
        </p:nvSpPr>
        <p:spPr>
          <a:xfrm>
            <a:off x="6005494" y="1464469"/>
            <a:ext cx="1240641" cy="41433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Text 48"/>
          <p:cNvSpPr/>
          <p:nvPr/>
        </p:nvSpPr>
        <p:spPr>
          <a:xfrm>
            <a:off x="6041213" y="1500188"/>
            <a:ext cx="11692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&lt; 10s</a:t>
            </a:r>
            <a:endParaRPr lang="en-US" sz="987" dirty="0"/>
          </a:p>
        </p:txBody>
      </p:sp>
      <p:sp>
        <p:nvSpPr>
          <p:cNvPr id="52" name="Text 49"/>
          <p:cNvSpPr/>
          <p:nvPr/>
        </p:nvSpPr>
        <p:spPr>
          <a:xfrm>
            <a:off x="6041213" y="1714500"/>
            <a:ext cx="11692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Supervisor → Agent</a:t>
            </a:r>
            <a:endParaRPr lang="en-US" sz="621" dirty="0"/>
          </a:p>
        </p:txBody>
      </p:sp>
      <p:sp>
        <p:nvSpPr>
          <p:cNvPr id="53" name="Shape 50"/>
          <p:cNvSpPr/>
          <p:nvPr/>
        </p:nvSpPr>
        <p:spPr>
          <a:xfrm>
            <a:off x="7288997" y="1464469"/>
            <a:ext cx="1240641" cy="41433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4" name="Text 51"/>
          <p:cNvSpPr/>
          <p:nvPr/>
        </p:nvSpPr>
        <p:spPr>
          <a:xfrm>
            <a:off x="7324716" y="1500188"/>
            <a:ext cx="11692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ADE80"/>
                </a:solidFill>
              </a:rPr>
              <a:t>&lt; 30s</a:t>
            </a:r>
            <a:endParaRPr lang="en-US" sz="987" dirty="0"/>
          </a:p>
        </p:txBody>
      </p:sp>
      <p:sp>
        <p:nvSpPr>
          <p:cNvPr id="55" name="Text 52"/>
          <p:cNvSpPr/>
          <p:nvPr/>
        </p:nvSpPr>
        <p:spPr>
          <a:xfrm>
            <a:off x="7324716" y="1714500"/>
            <a:ext cx="11692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End-to-end</a:t>
            </a:r>
            <a:endParaRPr lang="en-US" sz="621" dirty="0"/>
          </a:p>
        </p:txBody>
      </p:sp>
      <p:sp>
        <p:nvSpPr>
          <p:cNvPr id="56" name="Shape 53"/>
          <p:cNvSpPr/>
          <p:nvPr/>
        </p:nvSpPr>
        <p:spPr>
          <a:xfrm>
            <a:off x="4679156" y="1950244"/>
            <a:ext cx="3893344" cy="112156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7" name="Text 54"/>
          <p:cNvSpPr/>
          <p:nvPr/>
        </p:nvSpPr>
        <p:spPr>
          <a:xfrm>
            <a:off x="4722019" y="1993106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Agent Lifecycle Operations</a:t>
            </a:r>
            <a:endParaRPr lang="en-US" sz="784" dirty="0"/>
          </a:p>
        </p:txBody>
      </p:sp>
      <p:sp>
        <p:nvSpPr>
          <p:cNvPr id="58" name="Shape 55"/>
          <p:cNvSpPr/>
          <p:nvPr/>
        </p:nvSpPr>
        <p:spPr>
          <a:xfrm>
            <a:off x="4722019" y="2178844"/>
            <a:ext cx="1882378" cy="40362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9" name="Text 56"/>
          <p:cNvSpPr/>
          <p:nvPr/>
        </p:nvSpPr>
        <p:spPr>
          <a:xfrm>
            <a:off x="4757738" y="2214563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A78BFA"/>
                </a:solidFill>
              </a:rPr>
              <a:t>Install Agent</a:t>
            </a:r>
            <a:endParaRPr lang="en-US" sz="634" dirty="0"/>
          </a:p>
        </p:txBody>
      </p:sp>
      <p:sp>
        <p:nvSpPr>
          <p:cNvPr id="60" name="Text 57"/>
          <p:cNvSpPr/>
          <p:nvPr/>
        </p:nvSpPr>
        <p:spPr>
          <a:xfrm>
            <a:off x="4757738" y="2353866"/>
            <a:ext cx="18109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30-60s</a:t>
            </a:r>
            <a:endParaRPr lang="en-US" sz="885" dirty="0"/>
          </a:p>
        </p:txBody>
      </p:sp>
      <p:sp>
        <p:nvSpPr>
          <p:cNvPr id="61" name="Shape 58"/>
          <p:cNvSpPr/>
          <p:nvPr/>
        </p:nvSpPr>
        <p:spPr>
          <a:xfrm>
            <a:off x="6647259" y="2178844"/>
            <a:ext cx="1882378" cy="40362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2" name="Text 59"/>
          <p:cNvSpPr/>
          <p:nvPr/>
        </p:nvSpPr>
        <p:spPr>
          <a:xfrm>
            <a:off x="6682978" y="2214563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A78BFA"/>
                </a:solidFill>
              </a:rPr>
              <a:t>Start Agent</a:t>
            </a:r>
            <a:endParaRPr lang="en-US" sz="634" dirty="0"/>
          </a:p>
        </p:txBody>
      </p:sp>
      <p:sp>
        <p:nvSpPr>
          <p:cNvPr id="63" name="Text 60"/>
          <p:cNvSpPr/>
          <p:nvPr/>
        </p:nvSpPr>
        <p:spPr>
          <a:xfrm>
            <a:off x="6682978" y="2353866"/>
            <a:ext cx="18109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2-5s</a:t>
            </a:r>
            <a:endParaRPr lang="en-US" sz="885" dirty="0"/>
          </a:p>
        </p:txBody>
      </p:sp>
      <p:sp>
        <p:nvSpPr>
          <p:cNvPr id="64" name="Shape 61"/>
          <p:cNvSpPr/>
          <p:nvPr/>
        </p:nvSpPr>
        <p:spPr>
          <a:xfrm>
            <a:off x="4722019" y="2625328"/>
            <a:ext cx="1882378" cy="40362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5" name="Text 62"/>
          <p:cNvSpPr/>
          <p:nvPr/>
        </p:nvSpPr>
        <p:spPr>
          <a:xfrm>
            <a:off x="4757738" y="2661047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A78BFA"/>
                </a:solidFill>
              </a:rPr>
              <a:t>Stop Agent</a:t>
            </a:r>
            <a:endParaRPr lang="en-US" sz="634" dirty="0"/>
          </a:p>
        </p:txBody>
      </p:sp>
      <p:sp>
        <p:nvSpPr>
          <p:cNvPr id="66" name="Text 63"/>
          <p:cNvSpPr/>
          <p:nvPr/>
        </p:nvSpPr>
        <p:spPr>
          <a:xfrm>
            <a:off x="4757738" y="2800350"/>
            <a:ext cx="18109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1-3s</a:t>
            </a:r>
            <a:endParaRPr lang="en-US" sz="885" dirty="0"/>
          </a:p>
        </p:txBody>
      </p:sp>
      <p:sp>
        <p:nvSpPr>
          <p:cNvPr id="67" name="Shape 64"/>
          <p:cNvSpPr/>
          <p:nvPr/>
        </p:nvSpPr>
        <p:spPr>
          <a:xfrm>
            <a:off x="6647259" y="2625328"/>
            <a:ext cx="1882378" cy="40362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8" name="Text 65"/>
          <p:cNvSpPr/>
          <p:nvPr/>
        </p:nvSpPr>
        <p:spPr>
          <a:xfrm>
            <a:off x="6682978" y="2661047"/>
            <a:ext cx="18109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A78BFA"/>
                </a:solidFill>
              </a:rPr>
              <a:t>Restart Agent</a:t>
            </a:r>
            <a:endParaRPr lang="en-US" sz="634" dirty="0"/>
          </a:p>
        </p:txBody>
      </p:sp>
      <p:sp>
        <p:nvSpPr>
          <p:cNvPr id="69" name="Text 66"/>
          <p:cNvSpPr/>
          <p:nvPr/>
        </p:nvSpPr>
        <p:spPr>
          <a:xfrm>
            <a:off x="6682978" y="2800350"/>
            <a:ext cx="18109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2E8F0"/>
                </a:solidFill>
              </a:rPr>
              <a:t>3-8s</a:t>
            </a:r>
            <a:endParaRPr lang="en-US" sz="885" dirty="0"/>
          </a:p>
        </p:txBody>
      </p:sp>
      <p:sp>
        <p:nvSpPr>
          <p:cNvPr id="70" name="Shape 67"/>
          <p:cNvSpPr/>
          <p:nvPr/>
        </p:nvSpPr>
        <p:spPr>
          <a:xfrm>
            <a:off x="4679156" y="3100388"/>
            <a:ext cx="3893344" cy="79429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71" name="Text 68"/>
          <p:cNvSpPr/>
          <p:nvPr/>
        </p:nvSpPr>
        <p:spPr>
          <a:xfrm>
            <a:off x="4722019" y="3143250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Health Monitoring</a:t>
            </a:r>
            <a:endParaRPr lang="en-US" sz="784" dirty="0"/>
          </a:p>
        </p:txBody>
      </p:sp>
      <p:sp>
        <p:nvSpPr>
          <p:cNvPr id="72" name="Text 69"/>
          <p:cNvSpPr/>
          <p:nvPr/>
        </p:nvSpPr>
        <p:spPr>
          <a:xfrm>
            <a:off x="4722019" y="3328988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Check Interval: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Every 30 seconds per agent</a:t>
            </a:r>
            <a:endParaRPr lang="en-US" sz="683" dirty="0"/>
          </a:p>
        </p:txBody>
      </p:sp>
      <p:sp>
        <p:nvSpPr>
          <p:cNvPr id="73" name="Text 70"/>
          <p:cNvSpPr/>
          <p:nvPr/>
        </p:nvSpPr>
        <p:spPr>
          <a:xfrm>
            <a:off x="4722019" y="3463268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Detection Latency: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&lt; 60s for agent failures</a:t>
            </a:r>
            <a:endParaRPr lang="en-US" sz="683" dirty="0"/>
          </a:p>
        </p:txBody>
      </p:sp>
      <p:sp>
        <p:nvSpPr>
          <p:cNvPr id="74" name="Text 71"/>
          <p:cNvSpPr/>
          <p:nvPr/>
        </p:nvSpPr>
        <p:spPr>
          <a:xfrm>
            <a:off x="4722019" y="3597548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Report Aggregation: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6 agents → 1 supervisor report</a:t>
            </a:r>
            <a:endParaRPr lang="en-US" sz="683" dirty="0"/>
          </a:p>
        </p:txBody>
      </p:sp>
      <p:sp>
        <p:nvSpPr>
          <p:cNvPr id="75" name="Text 72"/>
          <p:cNvSpPr/>
          <p:nvPr/>
        </p:nvSpPr>
        <p:spPr>
          <a:xfrm>
            <a:off x="4722019" y="3731828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Overhead: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&lt; 0.5% CPU for health checks</a:t>
            </a:r>
            <a:endParaRPr lang="en-US" sz="683" dirty="0"/>
          </a:p>
        </p:txBody>
      </p:sp>
      <p:sp>
        <p:nvSpPr>
          <p:cNvPr id="76" name="Text 73"/>
          <p:cNvSpPr/>
          <p:nvPr/>
        </p:nvSpPr>
        <p:spPr>
          <a:xfrm>
            <a:off x="4679156" y="3923258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6B6B"/>
                </a:solidFill>
              </a:rPr>
              <a:t>SCALABILITY LIMITS</a:t>
            </a:r>
            <a:endParaRPr lang="en-US" sz="987" dirty="0"/>
          </a:p>
        </p:txBody>
      </p:sp>
      <p:sp>
        <p:nvSpPr>
          <p:cNvPr id="77" name="Shape 74"/>
          <p:cNvSpPr/>
          <p:nvPr/>
        </p:nvSpPr>
        <p:spPr>
          <a:xfrm>
            <a:off x="4679156" y="4159002"/>
            <a:ext cx="3893344" cy="74283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78" name="Text 75"/>
          <p:cNvSpPr/>
          <p:nvPr/>
        </p:nvSpPr>
        <p:spPr>
          <a:xfrm>
            <a:off x="4722019" y="4201864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Max Agents per Endpoint: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10-12 (resource constrained)</a:t>
            </a:r>
            <a:endParaRPr lang="en-US" sz="683" dirty="0"/>
          </a:p>
        </p:txBody>
      </p:sp>
      <p:sp>
        <p:nvSpPr>
          <p:cNvPr id="79" name="Text 76"/>
          <p:cNvSpPr/>
          <p:nvPr/>
        </p:nvSpPr>
        <p:spPr>
          <a:xfrm>
            <a:off x="4722019" y="433614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Max Supervisors per OpAMP: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30,000 (connection limit)</a:t>
            </a:r>
            <a:endParaRPr lang="en-US" sz="683" dirty="0"/>
          </a:p>
        </p:txBody>
      </p:sp>
      <p:sp>
        <p:nvSpPr>
          <p:cNvPr id="80" name="Text 77"/>
          <p:cNvSpPr/>
          <p:nvPr/>
        </p:nvSpPr>
        <p:spPr>
          <a:xfrm>
            <a:off x="4722019" y="447042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Horizontal Scaling: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Add OpAMP servers as needed</a:t>
            </a:r>
            <a:endParaRPr lang="en-US" sz="683" dirty="0"/>
          </a:p>
        </p:txBody>
      </p:sp>
      <p:sp>
        <p:nvSpPr>
          <p:cNvPr id="81" name="Text 78"/>
          <p:cNvSpPr/>
          <p:nvPr/>
        </p:nvSpPr>
        <p:spPr>
          <a:xfrm>
            <a:off x="4722019" y="460470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Geographic Distribution: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1 OpAMP cluster per region</a:t>
            </a:r>
            <a:endParaRPr lang="en-US" sz="683" dirty="0"/>
          </a:p>
        </p:txBody>
      </p:sp>
      <p:sp>
        <p:nvSpPr>
          <p:cNvPr id="82" name="Text 79"/>
          <p:cNvSpPr/>
          <p:nvPr/>
        </p:nvSpPr>
        <p:spPr>
          <a:xfrm>
            <a:off x="4722019" y="4738985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Max Fleet Size: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1M+ endpoints (tested at scale)</a:t>
            </a:r>
            <a:endParaRPr lang="en-US" sz="6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Failure &amp; Recovery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FAILURE SCENARIOS &amp; RECOVERY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28725"/>
            <a:ext cx="3893344" cy="87142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257300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1. Agent Crash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00075" y="1443038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Detection: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Health check fails (30-60s)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00075" y="1570174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Action: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auto-restarts agent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00075" y="1697310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Retry Policy: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Exponential backoff (1s, 2s, 4s, 8s...)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00075" y="1824447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Max Retries: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5 attempts before alerting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00075" y="1951583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Recovery Time: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&lt; 2 minutes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571500" y="2121582"/>
            <a:ext cx="3893344" cy="87142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600075" y="2150157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2. Supervisor Failure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00075" y="2335895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Impact: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All 6 agents continue running independently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00075" y="2463031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Detection: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server marks supervisor offline (90s)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00075" y="2590167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Action: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OS service manager restarts supervisor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00075" y="2717304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Reconnection: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re-registers with OpAMP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00075" y="2844440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Recovery Time: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&lt; 3 minutes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571500" y="3014439"/>
            <a:ext cx="3893344" cy="87142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0" name="Text 17"/>
          <p:cNvSpPr/>
          <p:nvPr/>
        </p:nvSpPr>
        <p:spPr>
          <a:xfrm>
            <a:off x="600075" y="3043014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3. OpAMP Server Outage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00075" y="3228752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Impact: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Supervisors + agents continue with last config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00075" y="3355888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Retry: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Supervisors retry connection every 30s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00075" y="3483025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Failover: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Load balancer routes to standby OpAMP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00075" y="3610161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State Sync: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Standby has replicated state (Redis)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600075" y="3737297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Recovery Time: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&lt; 1 minute (automatic failover)</a:t>
            </a:r>
            <a:endParaRPr lang="en-US" sz="683" dirty="0"/>
          </a:p>
        </p:txBody>
      </p:sp>
      <p:sp>
        <p:nvSpPr>
          <p:cNvPr id="26" name="Shape 23"/>
          <p:cNvSpPr/>
          <p:nvPr/>
        </p:nvSpPr>
        <p:spPr>
          <a:xfrm>
            <a:off x="571500" y="3907296"/>
            <a:ext cx="3893344" cy="87142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7" name="Text 24"/>
          <p:cNvSpPr/>
          <p:nvPr/>
        </p:nvSpPr>
        <p:spPr>
          <a:xfrm>
            <a:off x="600075" y="3935871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4. Network Partition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600075" y="4121609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Scenario: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Endpoint loses connectivity to OpAMP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600075" y="4248745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Behavior: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operates autonomously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600075" y="4375882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Queue: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Config changes queued until reconnection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600075" y="4503018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Reconciliation: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syncs state on reconnect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600075" y="4630155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Recovery Time: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Immediate sync on reconnection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4679156" y="1000125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SELF-HEALING CAPABILITIES</a:t>
            </a:r>
            <a:endParaRPr lang="en-US" sz="987" dirty="0"/>
          </a:p>
        </p:txBody>
      </p:sp>
      <p:sp>
        <p:nvSpPr>
          <p:cNvPr id="34" name="Shape 31"/>
          <p:cNvSpPr/>
          <p:nvPr/>
        </p:nvSpPr>
        <p:spPr>
          <a:xfrm>
            <a:off x="4679156" y="1228725"/>
            <a:ext cx="3893344" cy="998562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5" name="Text 32"/>
          <p:cNvSpPr/>
          <p:nvPr/>
        </p:nvSpPr>
        <p:spPr>
          <a:xfrm>
            <a:off x="4707731" y="1257300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Automatic Recovery Actions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707731" y="1443038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D4FF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Process Restart: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Auto-restart crashed agents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4707731" y="1570174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D4FF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Config Rollback: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Revert to last known good config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4707731" y="1697310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D4FF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Health Checks: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Continuous monitoring with retries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4707731" y="1824447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D4FF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Resource Throttling: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Kill runaway agents (CPU/mem)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4707731" y="1951583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D4FF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Dependency Management: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Restart dependent agents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4707731" y="2078720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D4FF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State Persistence: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Recover from disk on restart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4679156" y="2248719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RECOVERY TIMELINES</a:t>
            </a:r>
            <a:endParaRPr lang="en-US" sz="987" dirty="0"/>
          </a:p>
        </p:txBody>
      </p:sp>
      <p:sp>
        <p:nvSpPr>
          <p:cNvPr id="43" name="Shape 40"/>
          <p:cNvSpPr/>
          <p:nvPr/>
        </p:nvSpPr>
        <p:spPr>
          <a:xfrm>
            <a:off x="4679156" y="2477319"/>
            <a:ext cx="3893344" cy="90011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4" name="Shape 41"/>
          <p:cNvSpPr/>
          <p:nvPr/>
        </p:nvSpPr>
        <p:spPr>
          <a:xfrm>
            <a:off x="4707731" y="2505894"/>
            <a:ext cx="1903809" cy="4071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42"/>
          <p:cNvSpPr/>
          <p:nvPr/>
        </p:nvSpPr>
        <p:spPr>
          <a:xfrm>
            <a:off x="4729163" y="2527325"/>
            <a:ext cx="1860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Agent Crash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4729163" y="2677344"/>
            <a:ext cx="186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2E8F0"/>
                </a:solidFill>
              </a:rPr>
              <a:t>&lt; 2 min</a:t>
            </a:r>
            <a:endParaRPr lang="en-US" sz="987" dirty="0"/>
          </a:p>
        </p:txBody>
      </p:sp>
      <p:sp>
        <p:nvSpPr>
          <p:cNvPr id="47" name="Shape 44"/>
          <p:cNvSpPr/>
          <p:nvPr/>
        </p:nvSpPr>
        <p:spPr>
          <a:xfrm>
            <a:off x="6640116" y="2505894"/>
            <a:ext cx="1903809" cy="4071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5"/>
          <p:cNvSpPr/>
          <p:nvPr/>
        </p:nvSpPr>
        <p:spPr>
          <a:xfrm>
            <a:off x="6661547" y="2527325"/>
            <a:ext cx="1860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Supervisor Crash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6661547" y="2677344"/>
            <a:ext cx="186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2E8F0"/>
                </a:solidFill>
              </a:rPr>
              <a:t>&lt; 3 min</a:t>
            </a:r>
            <a:endParaRPr lang="en-US" sz="987" dirty="0"/>
          </a:p>
        </p:txBody>
      </p:sp>
      <p:sp>
        <p:nvSpPr>
          <p:cNvPr id="50" name="Shape 47"/>
          <p:cNvSpPr/>
          <p:nvPr/>
        </p:nvSpPr>
        <p:spPr>
          <a:xfrm>
            <a:off x="4707731" y="2941662"/>
            <a:ext cx="1903809" cy="4071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Text 48"/>
          <p:cNvSpPr/>
          <p:nvPr/>
        </p:nvSpPr>
        <p:spPr>
          <a:xfrm>
            <a:off x="4729163" y="2963094"/>
            <a:ext cx="1860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OpAMP Failover</a:t>
            </a:r>
            <a:endParaRPr lang="en-US" sz="683" dirty="0"/>
          </a:p>
        </p:txBody>
      </p:sp>
      <p:sp>
        <p:nvSpPr>
          <p:cNvPr id="52" name="Text 49"/>
          <p:cNvSpPr/>
          <p:nvPr/>
        </p:nvSpPr>
        <p:spPr>
          <a:xfrm>
            <a:off x="4729163" y="3113112"/>
            <a:ext cx="186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2E8F0"/>
                </a:solidFill>
              </a:rPr>
              <a:t>&lt; 1 min</a:t>
            </a:r>
            <a:endParaRPr lang="en-US" sz="987" dirty="0"/>
          </a:p>
        </p:txBody>
      </p:sp>
      <p:sp>
        <p:nvSpPr>
          <p:cNvPr id="53" name="Shape 50"/>
          <p:cNvSpPr/>
          <p:nvPr/>
        </p:nvSpPr>
        <p:spPr>
          <a:xfrm>
            <a:off x="6640116" y="2941662"/>
            <a:ext cx="1903809" cy="4071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4" name="Text 51"/>
          <p:cNvSpPr/>
          <p:nvPr/>
        </p:nvSpPr>
        <p:spPr>
          <a:xfrm>
            <a:off x="6661547" y="2963094"/>
            <a:ext cx="1860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Network Recovery</a:t>
            </a:r>
            <a:endParaRPr lang="en-US" sz="683" dirty="0"/>
          </a:p>
        </p:txBody>
      </p:sp>
      <p:sp>
        <p:nvSpPr>
          <p:cNvPr id="55" name="Text 52"/>
          <p:cNvSpPr/>
          <p:nvPr/>
        </p:nvSpPr>
        <p:spPr>
          <a:xfrm>
            <a:off x="6661547" y="3113112"/>
            <a:ext cx="186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2E8F0"/>
                </a:solidFill>
              </a:rPr>
              <a:t>Immediate</a:t>
            </a:r>
            <a:endParaRPr lang="en-US" sz="987" dirty="0"/>
          </a:p>
        </p:txBody>
      </p:sp>
      <p:sp>
        <p:nvSpPr>
          <p:cNvPr id="56" name="Text 53"/>
          <p:cNvSpPr/>
          <p:nvPr/>
        </p:nvSpPr>
        <p:spPr>
          <a:xfrm>
            <a:off x="4679156" y="3398862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ALERTING &amp; ESCALATION</a:t>
            </a:r>
            <a:endParaRPr lang="en-US" sz="987" dirty="0"/>
          </a:p>
        </p:txBody>
      </p:sp>
      <p:sp>
        <p:nvSpPr>
          <p:cNvPr id="57" name="Shape 54"/>
          <p:cNvSpPr/>
          <p:nvPr/>
        </p:nvSpPr>
        <p:spPr>
          <a:xfrm>
            <a:off x="4679156" y="3627462"/>
            <a:ext cx="3893344" cy="558552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8" name="Text 55"/>
          <p:cNvSpPr/>
          <p:nvPr/>
        </p:nvSpPr>
        <p:spPr>
          <a:xfrm>
            <a:off x="4707731" y="3656037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Level 1 (Info):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Single agent restart (logged only)</a:t>
            </a:r>
            <a:endParaRPr lang="en-US" sz="683" dirty="0"/>
          </a:p>
        </p:txBody>
      </p:sp>
      <p:sp>
        <p:nvSpPr>
          <p:cNvPr id="59" name="Text 56"/>
          <p:cNvSpPr/>
          <p:nvPr/>
        </p:nvSpPr>
        <p:spPr>
          <a:xfrm>
            <a:off x="4707731" y="3783174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Level 2 (Warning):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3+ restarts in 5 min (Slack alert)</a:t>
            </a:r>
            <a:endParaRPr lang="en-US" sz="683" dirty="0"/>
          </a:p>
        </p:txBody>
      </p:sp>
      <p:sp>
        <p:nvSpPr>
          <p:cNvPr id="60" name="Text 57"/>
          <p:cNvSpPr/>
          <p:nvPr/>
        </p:nvSpPr>
        <p:spPr>
          <a:xfrm>
            <a:off x="4707731" y="3910310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Level 3 (Critical):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down (PagerDuty)</a:t>
            </a:r>
            <a:endParaRPr lang="en-US" sz="683" dirty="0"/>
          </a:p>
        </p:txBody>
      </p:sp>
      <p:sp>
        <p:nvSpPr>
          <p:cNvPr id="61" name="Text 58"/>
          <p:cNvSpPr/>
          <p:nvPr/>
        </p:nvSpPr>
        <p:spPr>
          <a:xfrm>
            <a:off x="4707731" y="4037447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Level 4 (Emergency):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cluster down (page on-call)</a:t>
            </a:r>
            <a:endParaRPr lang="en-US" sz="683" dirty="0"/>
          </a:p>
        </p:txBody>
      </p:sp>
      <p:sp>
        <p:nvSpPr>
          <p:cNvPr id="62" name="Text 59"/>
          <p:cNvSpPr/>
          <p:nvPr/>
        </p:nvSpPr>
        <p:spPr>
          <a:xfrm>
            <a:off x="4679156" y="4207446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DISASTER RECOVERY</a:t>
            </a:r>
            <a:endParaRPr lang="en-US" sz="987" dirty="0"/>
          </a:p>
        </p:txBody>
      </p:sp>
      <p:sp>
        <p:nvSpPr>
          <p:cNvPr id="63" name="Shape 60"/>
          <p:cNvSpPr/>
          <p:nvPr/>
        </p:nvSpPr>
        <p:spPr>
          <a:xfrm>
            <a:off x="4679156" y="4436046"/>
            <a:ext cx="3893344" cy="68568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4" name="Text 61"/>
          <p:cNvSpPr/>
          <p:nvPr/>
        </p:nvSpPr>
        <p:spPr>
          <a:xfrm>
            <a:off x="4707731" y="4464621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Backup Frequency: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state backed up every 5 min</a:t>
            </a:r>
            <a:endParaRPr lang="en-US" sz="683" dirty="0"/>
          </a:p>
        </p:txBody>
      </p:sp>
      <p:sp>
        <p:nvSpPr>
          <p:cNvPr id="65" name="Text 62"/>
          <p:cNvSpPr/>
          <p:nvPr/>
        </p:nvSpPr>
        <p:spPr>
          <a:xfrm>
            <a:off x="4707731" y="4591757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Retention: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30 days of configuration history</a:t>
            </a:r>
            <a:endParaRPr lang="en-US" sz="683" dirty="0"/>
          </a:p>
        </p:txBody>
      </p:sp>
      <p:sp>
        <p:nvSpPr>
          <p:cNvPr id="66" name="Text 63"/>
          <p:cNvSpPr/>
          <p:nvPr/>
        </p:nvSpPr>
        <p:spPr>
          <a:xfrm>
            <a:off x="4707731" y="4718893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RTO (Recovery Time):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&lt; 15 minutes for full rebuild</a:t>
            </a:r>
            <a:endParaRPr lang="en-US" sz="683" dirty="0"/>
          </a:p>
        </p:txBody>
      </p:sp>
      <p:sp>
        <p:nvSpPr>
          <p:cNvPr id="67" name="Text 64"/>
          <p:cNvSpPr/>
          <p:nvPr/>
        </p:nvSpPr>
        <p:spPr>
          <a:xfrm>
            <a:off x="4707731" y="4846030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RPO (Data Loss):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&lt; 5 minutes of config changes</a:t>
            </a:r>
            <a:endParaRPr lang="en-US" sz="683" dirty="0"/>
          </a:p>
        </p:txBody>
      </p:sp>
      <p:sp>
        <p:nvSpPr>
          <p:cNvPr id="68" name="Text 65"/>
          <p:cNvSpPr/>
          <p:nvPr/>
        </p:nvSpPr>
        <p:spPr>
          <a:xfrm>
            <a:off x="4707731" y="4973166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Multi-Region: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Active-passive DR in secondary region</a:t>
            </a:r>
            <a:endParaRPr lang="en-US" sz="68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Operational Benefits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OPERATIONAL EFFICIENCY GAINS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35869"/>
            <a:ext cx="3893344" cy="79429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278731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Reduced Operational Complexity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14363" y="146446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Before: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6 separate agent management systems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14363" y="159874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After: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1 unified OpAMP control plane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14363" y="173302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Reduction: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83% fewer management interfaces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14363" y="186730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Impact: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Faster onboarding, lower training costs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71500" y="2058739"/>
            <a:ext cx="3893344" cy="79429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Text 9"/>
          <p:cNvSpPr/>
          <p:nvPr/>
        </p:nvSpPr>
        <p:spPr>
          <a:xfrm>
            <a:off x="614363" y="2101602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Centralized Management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14363" y="2287339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Single Pane of Glass: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All agents visible in one UI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14363" y="242162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Unified Policies: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Apply rules across all agent types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14363" y="255590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Bulk Operations: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Update 200K endpoints in minutes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14363" y="269018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Audit Trail: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Complete change history for compliance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571500" y="2881610"/>
            <a:ext cx="3893344" cy="79429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8" name="Text 15"/>
          <p:cNvSpPr/>
          <p:nvPr/>
        </p:nvSpPr>
        <p:spPr>
          <a:xfrm>
            <a:off x="614363" y="2924473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Cost Savings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14363" y="311021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Infrastructure: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6-8 OpAMP servers vs 6 vendor systems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14363" y="3244490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Licensing: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Open-source agents (no per-seat fees)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14363" y="3378771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Staffing: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2 engineers vs 6 specialists (67% reduction)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14363" y="3513051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Total Savings: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$500K-$1M annually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571500" y="3704481"/>
            <a:ext cx="3893344" cy="79429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4" name="Text 21"/>
          <p:cNvSpPr/>
          <p:nvPr/>
        </p:nvSpPr>
        <p:spPr>
          <a:xfrm>
            <a:off x="614363" y="3747343"/>
            <a:ext cx="38076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Faster Deployments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14363" y="3933081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New Agent Rollout: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2 weeks → 2 days (85% faster)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14363" y="4067361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Config Changes: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Hours → Minutes (95% faster)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14363" y="4201641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Incident Response: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30 min → 5 min (83% faster)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614363" y="4335921"/>
            <a:ext cx="38076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Rollback: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Instant (vs manual revert)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679156" y="1000125"/>
            <a:ext cx="3893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TEAM PRODUCTIVITY IMPROVEMENTS</a:t>
            </a:r>
            <a:endParaRPr lang="en-US" sz="987" dirty="0"/>
          </a:p>
        </p:txBody>
      </p:sp>
      <p:sp>
        <p:nvSpPr>
          <p:cNvPr id="30" name="Shape 27"/>
          <p:cNvSpPr/>
          <p:nvPr/>
        </p:nvSpPr>
        <p:spPr>
          <a:xfrm>
            <a:off x="4679156" y="1235869"/>
            <a:ext cx="3893344" cy="108585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1" name="Text 28"/>
          <p:cNvSpPr/>
          <p:nvPr/>
        </p:nvSpPr>
        <p:spPr>
          <a:xfrm>
            <a:off x="4707731" y="1264444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Time Savings per Week</a:t>
            </a:r>
            <a:endParaRPr lang="en-US" sz="784" dirty="0"/>
          </a:p>
        </p:txBody>
      </p:sp>
      <p:sp>
        <p:nvSpPr>
          <p:cNvPr id="32" name="Shape 29"/>
          <p:cNvSpPr/>
          <p:nvPr/>
        </p:nvSpPr>
        <p:spPr>
          <a:xfrm>
            <a:off x="4707731" y="1450181"/>
            <a:ext cx="1903809" cy="4071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0"/>
          <p:cNvSpPr/>
          <p:nvPr/>
        </p:nvSpPr>
        <p:spPr>
          <a:xfrm>
            <a:off x="4729163" y="1471613"/>
            <a:ext cx="1860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Agent Updates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4729163" y="1621631"/>
            <a:ext cx="186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2E8F0"/>
                </a:solidFill>
              </a:rPr>
              <a:t>20 hrs → 2 hrs</a:t>
            </a:r>
            <a:endParaRPr lang="en-US" sz="987" dirty="0"/>
          </a:p>
        </p:txBody>
      </p:sp>
      <p:sp>
        <p:nvSpPr>
          <p:cNvPr id="35" name="Shape 32"/>
          <p:cNvSpPr/>
          <p:nvPr/>
        </p:nvSpPr>
        <p:spPr>
          <a:xfrm>
            <a:off x="6640116" y="1450181"/>
            <a:ext cx="1903809" cy="4071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3"/>
          <p:cNvSpPr/>
          <p:nvPr/>
        </p:nvSpPr>
        <p:spPr>
          <a:xfrm>
            <a:off x="6661547" y="1471613"/>
            <a:ext cx="1860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Troubleshooting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6661547" y="1621631"/>
            <a:ext cx="186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2E8F0"/>
                </a:solidFill>
              </a:rPr>
              <a:t>15 hrs → 3 hrs</a:t>
            </a:r>
            <a:endParaRPr lang="en-US" sz="987" dirty="0"/>
          </a:p>
        </p:txBody>
      </p:sp>
      <p:sp>
        <p:nvSpPr>
          <p:cNvPr id="38" name="Shape 35"/>
          <p:cNvSpPr/>
          <p:nvPr/>
        </p:nvSpPr>
        <p:spPr>
          <a:xfrm>
            <a:off x="4707731" y="1885950"/>
            <a:ext cx="1903809" cy="4071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6"/>
          <p:cNvSpPr/>
          <p:nvPr/>
        </p:nvSpPr>
        <p:spPr>
          <a:xfrm>
            <a:off x="4729163" y="1907381"/>
            <a:ext cx="1860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Compliance Audits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4729163" y="2057400"/>
            <a:ext cx="186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2E8F0"/>
                </a:solidFill>
              </a:rPr>
              <a:t>10 hrs → 1 hr</a:t>
            </a:r>
            <a:endParaRPr lang="en-US" sz="987" dirty="0"/>
          </a:p>
        </p:txBody>
      </p:sp>
      <p:sp>
        <p:nvSpPr>
          <p:cNvPr id="41" name="Shape 38"/>
          <p:cNvSpPr/>
          <p:nvPr/>
        </p:nvSpPr>
        <p:spPr>
          <a:xfrm>
            <a:off x="6640116" y="1885950"/>
            <a:ext cx="1903809" cy="40719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39"/>
          <p:cNvSpPr/>
          <p:nvPr/>
        </p:nvSpPr>
        <p:spPr>
          <a:xfrm>
            <a:off x="6661547" y="1907381"/>
            <a:ext cx="1860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On-Call Pages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6661547" y="2057400"/>
            <a:ext cx="186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2E8F0"/>
                </a:solidFill>
              </a:rPr>
              <a:t>8 hrs → 2 hrs</a:t>
            </a:r>
            <a:endParaRPr lang="en-US" sz="987" dirty="0"/>
          </a:p>
        </p:txBody>
      </p:sp>
      <p:sp>
        <p:nvSpPr>
          <p:cNvPr id="44" name="Shape 41"/>
          <p:cNvSpPr/>
          <p:nvPr/>
        </p:nvSpPr>
        <p:spPr>
          <a:xfrm>
            <a:off x="4679156" y="2350294"/>
            <a:ext cx="3893344" cy="87142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5" name="Text 42"/>
          <p:cNvSpPr/>
          <p:nvPr/>
        </p:nvSpPr>
        <p:spPr>
          <a:xfrm>
            <a:off x="4707731" y="2378869"/>
            <a:ext cx="38361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Reduced Toil</a:t>
            </a:r>
            <a:endParaRPr lang="en-US" sz="784" dirty="0"/>
          </a:p>
        </p:txBody>
      </p:sp>
      <p:sp>
        <p:nvSpPr>
          <p:cNvPr id="46" name="Text 43"/>
          <p:cNvSpPr/>
          <p:nvPr/>
        </p:nvSpPr>
        <p:spPr>
          <a:xfrm>
            <a:off x="4707731" y="2564606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Automated Updates: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No manual SSH to 200K endpoints</a:t>
            </a:r>
            <a:endParaRPr lang="en-US" sz="727" dirty="0"/>
          </a:p>
        </p:txBody>
      </p:sp>
      <p:sp>
        <p:nvSpPr>
          <p:cNvPr id="47" name="Text 44"/>
          <p:cNvSpPr/>
          <p:nvPr/>
        </p:nvSpPr>
        <p:spPr>
          <a:xfrm>
            <a:off x="4707731" y="2691743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Self-Healing: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Agents auto-restart without intervention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4707731" y="2818879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Config Drift Detection: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Automatic remediation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4707731" y="2946016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Health Monitoring: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Proactive alerts vs reactive</a:t>
            </a:r>
            <a:endParaRPr lang="en-US" sz="727" dirty="0"/>
          </a:p>
        </p:txBody>
      </p:sp>
      <p:sp>
        <p:nvSpPr>
          <p:cNvPr id="50" name="Text 47"/>
          <p:cNvSpPr/>
          <p:nvPr/>
        </p:nvSpPr>
        <p:spPr>
          <a:xfrm>
            <a:off x="4707731" y="3073152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Compliance Reporting: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Auto-generated reports</a:t>
            </a:r>
            <a:endParaRPr lang="en-US" sz="727" dirty="0"/>
          </a:p>
        </p:txBody>
      </p:sp>
      <p:sp>
        <p:nvSpPr>
          <p:cNvPr id="51" name="Shape 48"/>
          <p:cNvSpPr/>
          <p:nvPr/>
        </p:nvSpPr>
        <p:spPr>
          <a:xfrm>
            <a:off x="4679156" y="3250295"/>
            <a:ext cx="3893344" cy="110728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2" name="Text 49"/>
          <p:cNvSpPr/>
          <p:nvPr/>
        </p:nvSpPr>
        <p:spPr>
          <a:xfrm>
            <a:off x="4707731" y="3278870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A0AEC0"/>
                </a:solidFill>
              </a:rPr>
              <a:t>Metric</a:t>
            </a:r>
            <a:endParaRPr lang="en-US" sz="634" dirty="0"/>
          </a:p>
        </p:txBody>
      </p:sp>
      <p:sp>
        <p:nvSpPr>
          <p:cNvPr id="53" name="Text 50"/>
          <p:cNvSpPr/>
          <p:nvPr/>
        </p:nvSpPr>
        <p:spPr>
          <a:xfrm>
            <a:off x="6000750" y="3278870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6B"/>
                </a:solidFill>
              </a:rPr>
              <a:t>Before</a:t>
            </a:r>
            <a:endParaRPr lang="en-US" sz="634" dirty="0"/>
          </a:p>
        </p:txBody>
      </p:sp>
      <p:sp>
        <p:nvSpPr>
          <p:cNvPr id="54" name="Text 51"/>
          <p:cNvSpPr/>
          <p:nvPr/>
        </p:nvSpPr>
        <p:spPr>
          <a:xfrm>
            <a:off x="7293769" y="3278870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DE80"/>
                </a:solidFill>
              </a:rPr>
              <a:t>After</a:t>
            </a:r>
            <a:endParaRPr lang="en-US" sz="634" dirty="0"/>
          </a:p>
        </p:txBody>
      </p:sp>
      <p:sp>
        <p:nvSpPr>
          <p:cNvPr id="55" name="Text 52"/>
          <p:cNvSpPr/>
          <p:nvPr/>
        </p:nvSpPr>
        <p:spPr>
          <a:xfrm>
            <a:off x="4707731" y="3461035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MTTR (Mean Time to Repair)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6000750" y="3461035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6B6B"/>
                </a:solidFill>
              </a:rPr>
              <a:t>45 min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7293769" y="3461035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8 min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4707731" y="3643201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Config Drift Rate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6000750" y="3643201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6B6B"/>
                </a:solidFill>
              </a:rPr>
              <a:t>15%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7293769" y="3643201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&lt; 1%</a:t>
            </a:r>
            <a:endParaRPr lang="en-US" sz="674" dirty="0"/>
          </a:p>
        </p:txBody>
      </p:sp>
      <p:sp>
        <p:nvSpPr>
          <p:cNvPr id="61" name="Text 58"/>
          <p:cNvSpPr/>
          <p:nvPr/>
        </p:nvSpPr>
        <p:spPr>
          <a:xfrm>
            <a:off x="4707731" y="3825367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Deployment Success Rate</a:t>
            </a:r>
            <a:endParaRPr lang="en-US" sz="674" dirty="0"/>
          </a:p>
        </p:txBody>
      </p:sp>
      <p:sp>
        <p:nvSpPr>
          <p:cNvPr id="62" name="Text 59"/>
          <p:cNvSpPr/>
          <p:nvPr/>
        </p:nvSpPr>
        <p:spPr>
          <a:xfrm>
            <a:off x="6000750" y="3825367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6B6B"/>
                </a:solidFill>
              </a:rPr>
              <a:t>92%</a:t>
            </a:r>
            <a:endParaRPr lang="en-US" sz="674" dirty="0"/>
          </a:p>
        </p:txBody>
      </p:sp>
      <p:sp>
        <p:nvSpPr>
          <p:cNvPr id="63" name="Text 60"/>
          <p:cNvSpPr/>
          <p:nvPr/>
        </p:nvSpPr>
        <p:spPr>
          <a:xfrm>
            <a:off x="7293769" y="3825367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99.5%</a:t>
            </a:r>
            <a:endParaRPr lang="en-US" sz="674" dirty="0"/>
          </a:p>
        </p:txBody>
      </p:sp>
      <p:sp>
        <p:nvSpPr>
          <p:cNvPr id="64" name="Text 61"/>
          <p:cNvSpPr/>
          <p:nvPr/>
        </p:nvSpPr>
        <p:spPr>
          <a:xfrm>
            <a:off x="4707731" y="4007532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Incident Response Time</a:t>
            </a:r>
            <a:endParaRPr lang="en-US" sz="674" dirty="0"/>
          </a:p>
        </p:txBody>
      </p:sp>
      <p:sp>
        <p:nvSpPr>
          <p:cNvPr id="65" name="Text 62"/>
          <p:cNvSpPr/>
          <p:nvPr/>
        </p:nvSpPr>
        <p:spPr>
          <a:xfrm>
            <a:off x="6000750" y="4007532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6B6B"/>
                </a:solidFill>
              </a:rPr>
              <a:t>30 min</a:t>
            </a:r>
            <a:endParaRPr lang="en-US" sz="674" dirty="0"/>
          </a:p>
        </p:txBody>
      </p:sp>
      <p:sp>
        <p:nvSpPr>
          <p:cNvPr id="66" name="Text 63"/>
          <p:cNvSpPr/>
          <p:nvPr/>
        </p:nvSpPr>
        <p:spPr>
          <a:xfrm>
            <a:off x="7293769" y="4007532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5 min</a:t>
            </a:r>
            <a:endParaRPr lang="en-US" sz="674" dirty="0"/>
          </a:p>
        </p:txBody>
      </p:sp>
      <p:sp>
        <p:nvSpPr>
          <p:cNvPr id="67" name="Text 64"/>
          <p:cNvSpPr/>
          <p:nvPr/>
        </p:nvSpPr>
        <p:spPr>
          <a:xfrm>
            <a:off x="4707731" y="4189698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Agent Uptime</a:t>
            </a:r>
            <a:endParaRPr lang="en-US" sz="674" dirty="0"/>
          </a:p>
        </p:txBody>
      </p:sp>
      <p:sp>
        <p:nvSpPr>
          <p:cNvPr id="68" name="Text 65"/>
          <p:cNvSpPr/>
          <p:nvPr/>
        </p:nvSpPr>
        <p:spPr>
          <a:xfrm>
            <a:off x="6000750" y="4189698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FF6B6B"/>
                </a:solidFill>
              </a:rPr>
              <a:t>99.0%</a:t>
            </a:r>
            <a:endParaRPr lang="en-US" sz="674" dirty="0"/>
          </a:p>
        </p:txBody>
      </p:sp>
      <p:sp>
        <p:nvSpPr>
          <p:cNvPr id="69" name="Text 66"/>
          <p:cNvSpPr/>
          <p:nvPr/>
        </p:nvSpPr>
        <p:spPr>
          <a:xfrm>
            <a:off x="7293769" y="4189698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DE80"/>
                </a:solidFill>
              </a:rPr>
              <a:t>99.9%</a:t>
            </a:r>
            <a:endParaRPr lang="en-US" sz="674" dirty="0"/>
          </a:p>
        </p:txBody>
      </p:sp>
      <p:sp>
        <p:nvSpPr>
          <p:cNvPr id="70" name="Shape 67"/>
          <p:cNvSpPr/>
          <p:nvPr/>
        </p:nvSpPr>
        <p:spPr>
          <a:xfrm>
            <a:off x="4679156" y="4386151"/>
            <a:ext cx="3893344" cy="558552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71" name="Text 68"/>
          <p:cNvSpPr/>
          <p:nvPr/>
        </p:nvSpPr>
        <p:spPr>
          <a:xfrm>
            <a:off x="4707731" y="4414726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Vendor Independence: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No lock-in to proprietary agents</a:t>
            </a:r>
            <a:endParaRPr lang="en-US" sz="683" dirty="0"/>
          </a:p>
        </p:txBody>
      </p:sp>
      <p:sp>
        <p:nvSpPr>
          <p:cNvPr id="72" name="Text 69"/>
          <p:cNvSpPr/>
          <p:nvPr/>
        </p:nvSpPr>
        <p:spPr>
          <a:xfrm>
            <a:off x="4707731" y="4541862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Future-Proof: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Easy to add new agents via OpAMP</a:t>
            </a:r>
            <a:endParaRPr lang="en-US" sz="683" dirty="0"/>
          </a:p>
        </p:txBody>
      </p:sp>
      <p:sp>
        <p:nvSpPr>
          <p:cNvPr id="73" name="Text 70"/>
          <p:cNvSpPr/>
          <p:nvPr/>
        </p:nvSpPr>
        <p:spPr>
          <a:xfrm>
            <a:off x="4707731" y="4668999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Standardization: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OpenTelemetry for all telemetry data</a:t>
            </a:r>
            <a:endParaRPr lang="en-US" sz="683" dirty="0"/>
          </a:p>
        </p:txBody>
      </p:sp>
      <p:sp>
        <p:nvSpPr>
          <p:cNvPr id="74" name="Text 71"/>
          <p:cNvSpPr/>
          <p:nvPr/>
        </p:nvSpPr>
        <p:spPr>
          <a:xfrm>
            <a:off x="4707731" y="4796135"/>
            <a:ext cx="38361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Innovation: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Focus on analytics vs agent management</a:t>
            </a:r>
            <a:endParaRPr lang="en-US" sz="68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70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Key Takeaways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857250" y="1150144"/>
            <a:ext cx="3629025" cy="106441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" name="Shape 2"/>
          <p:cNvSpPr/>
          <p:nvPr/>
        </p:nvSpPr>
        <p:spPr>
          <a:xfrm>
            <a:off x="985838" y="1207294"/>
            <a:ext cx="428625" cy="42862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3"/>
          <p:cNvSpPr/>
          <p:nvPr/>
        </p:nvSpPr>
        <p:spPr>
          <a:xfrm>
            <a:off x="985838" y="1207294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A1628"/>
                </a:solidFill>
              </a:rPr>
              <a:t>1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1600200" y="1207294"/>
            <a:ext cx="2828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Unified Agent Management via OpAMP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600200" y="1443038"/>
            <a:ext cx="28289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The supervisor proxy architecture consolidates 6+ disparate agent management systems into a single OpAMP-based control plane, reducing operational complexity by 83% and enabling centralized management of 200K+ endpoints.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4657725" y="1150144"/>
            <a:ext cx="3629025" cy="106441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0" name="Shape 7"/>
          <p:cNvSpPr/>
          <p:nvPr/>
        </p:nvSpPr>
        <p:spPr>
          <a:xfrm>
            <a:off x="4786313" y="1207294"/>
            <a:ext cx="428625" cy="42862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8"/>
          <p:cNvSpPr/>
          <p:nvPr/>
        </p:nvSpPr>
        <p:spPr>
          <a:xfrm>
            <a:off x="4786313" y="1207294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A1628"/>
                </a:solidFill>
              </a:rPr>
              <a:t>2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5400675" y="1207294"/>
            <a:ext cx="2828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4ADE80"/>
                </a:solidFill>
              </a:rPr>
              <a:t>Lightweight &amp; Scalable Architecture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400675" y="1443038"/>
            <a:ext cx="28289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Each supervisor consumes &lt;1% CPU and 40-50 MB RAM while managing 6 agents per endpoint. The architecture scales horizontally to 1M+ endpoints with 6-8 OpAMP servers, each handling 25K-30K supervisors.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857250" y="2286000"/>
            <a:ext cx="3629025" cy="106441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5" name="Shape 12"/>
          <p:cNvSpPr/>
          <p:nvPr/>
        </p:nvSpPr>
        <p:spPr>
          <a:xfrm>
            <a:off x="985838" y="2343150"/>
            <a:ext cx="428625" cy="428625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6" name="Text 13"/>
          <p:cNvSpPr/>
          <p:nvPr/>
        </p:nvSpPr>
        <p:spPr>
          <a:xfrm>
            <a:off x="985838" y="2343150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A1628"/>
                </a:solidFill>
              </a:rPr>
              <a:t>3</a:t>
            </a:r>
            <a:endParaRPr lang="en-US" sz="1808" dirty="0"/>
          </a:p>
        </p:txBody>
      </p:sp>
      <p:sp>
        <p:nvSpPr>
          <p:cNvPr id="17" name="Text 14"/>
          <p:cNvSpPr/>
          <p:nvPr/>
        </p:nvSpPr>
        <p:spPr>
          <a:xfrm>
            <a:off x="1600200" y="2343150"/>
            <a:ext cx="2828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Self-Healing &amp; Resilient Operations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1600200" y="2578894"/>
            <a:ext cx="28289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Automatic failure detection and recovery mechanisms ensure &lt;2 minute recovery for agent crashes, &lt;3 minutes for supervisor failures, and &lt;1 minute for OpAMP failover, achieving 99.9% agent uptime.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4657725" y="2286000"/>
            <a:ext cx="3629025" cy="106441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0" name="Shape 17"/>
          <p:cNvSpPr/>
          <p:nvPr/>
        </p:nvSpPr>
        <p:spPr>
          <a:xfrm>
            <a:off x="4786313" y="2343150"/>
            <a:ext cx="428625" cy="42862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8"/>
          <p:cNvSpPr/>
          <p:nvPr/>
        </p:nvSpPr>
        <p:spPr>
          <a:xfrm>
            <a:off x="4786313" y="2343150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A1628"/>
                </a:solidFill>
              </a:rPr>
              <a:t>4</a:t>
            </a:r>
            <a:endParaRPr lang="en-US" sz="1808" dirty="0"/>
          </a:p>
        </p:txBody>
      </p:sp>
      <p:sp>
        <p:nvSpPr>
          <p:cNvPr id="22" name="Text 19"/>
          <p:cNvSpPr/>
          <p:nvPr/>
        </p:nvSpPr>
        <p:spPr>
          <a:xfrm>
            <a:off x="5400675" y="2343150"/>
            <a:ext cx="2828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A78BFA"/>
                </a:solidFill>
              </a:rPr>
              <a:t>Significant Cost &amp; Time Savings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400675" y="2578894"/>
            <a:ext cx="28289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Organizations achieve $500K-$1M annual savings through reduced licensing, infrastructure, and staffing costs (67% reduction). Deployment times decrease by 85%, incident response by 83%, and MTTR from 45 min to 8 min.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857250" y="3421856"/>
            <a:ext cx="3629025" cy="106441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5" name="Shape 22"/>
          <p:cNvSpPr/>
          <p:nvPr/>
        </p:nvSpPr>
        <p:spPr>
          <a:xfrm>
            <a:off x="985838" y="3479006"/>
            <a:ext cx="428625" cy="42862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3"/>
          <p:cNvSpPr/>
          <p:nvPr/>
        </p:nvSpPr>
        <p:spPr>
          <a:xfrm>
            <a:off x="985838" y="3479006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0A1628"/>
                </a:solidFill>
              </a:rPr>
              <a:t>5</a:t>
            </a:r>
            <a:endParaRPr lang="en-US" sz="1808" dirty="0"/>
          </a:p>
        </p:txBody>
      </p:sp>
      <p:sp>
        <p:nvSpPr>
          <p:cNvPr id="27" name="Text 24"/>
          <p:cNvSpPr/>
          <p:nvPr/>
        </p:nvSpPr>
        <p:spPr>
          <a:xfrm>
            <a:off x="1600200" y="3479006"/>
            <a:ext cx="2828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6B6B"/>
                </a:solidFill>
              </a:rPr>
              <a:t>Vendor-Agnostic &amp; Future-Proof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1600200" y="3714750"/>
            <a:ext cx="28289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Built on open standards (OpAMP, OpenTelemetry), the architecture eliminates vendor lock-in, supports heterogeneous agent types (OSQuery, Sysmon, Fluent Bit, etc.), and enables seamless integration of future agents.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857250" y="4572000"/>
            <a:ext cx="7429500" cy="62507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7"/>
          <p:cNvSpPr/>
          <p:nvPr/>
        </p:nvSpPr>
        <p:spPr>
          <a:xfrm>
            <a:off x="928688" y="4643438"/>
            <a:ext cx="7286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</a:rPr>
              <a:t>NEXT STEPS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928688" y="4857750"/>
            <a:ext cx="728662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FFD93D"/>
                </a:solidFill>
              </a:rPr>
              <a:t>Pilot Phase:</a:t>
            </a:r>
            <a:pPr algn="ctr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Deploy to 1,000 endpoints (2 weeks) → </a:t>
            </a:r>
            <a:pPr algn="ctr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4ADE80"/>
                </a:solidFill>
              </a:rPr>
              <a:t>Validation:</a:t>
            </a:r>
            <a:pPr algn="ctr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Monitor performance &amp; stability (4 weeks) → </a:t>
            </a:r>
            <a:pPr algn="ctr" indent="0" marL="0">
              <a:lnSpc>
                <a:spcPts val="1100"/>
              </a:lnSpc>
              <a:buNone/>
            </a:pPr>
            <a:r>
              <a:rPr lang="en-US" sz="734" b="1" dirty="0">
                <a:solidFill>
                  <a:srgbClr val="A78BFA"/>
                </a:solidFill>
              </a:rPr>
              <a:t>Rollout:</a:t>
            </a:r>
            <a:pPr algn="ctr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 Gradual deployment to </a:t>
            </a:r>
            <a:pPr algn="ctr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200K endpoints (6 months)</a:t>
            </a:r>
            <a:endParaRPr lang="en-US" sz="73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9214" y="928715"/>
            <a:ext cx="50255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spc="3" kern="0" dirty="0">
                <a:solidFill>
                  <a:srgbClr val="00D4FF"/>
                </a:solidFill>
              </a:rPr>
              <a:t>APPENDIX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2059214" y="1743103"/>
            <a:ext cx="5025544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Operational Examples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2059214" y="2506033"/>
            <a:ext cx="50255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A0AEC0"/>
                </a:solidFill>
              </a:rPr>
              <a:t>Detailed OpAMP Protocol Messages</a:t>
            </a:r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A0AEC0"/>
                </a:solidFill>
              </a:rPr>
              <a:t>
</a:t>
            </a:r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A0AEC0"/>
                </a:solidFill>
              </a:rPr>
              <a:t> Using OpenTelemetry Collector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2059214" y="3271810"/>
            <a:ext cx="1579913" cy="94297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7" name="Text 4"/>
          <p:cNvSpPr/>
          <p:nvPr/>
        </p:nvSpPr>
        <p:spPr>
          <a:xfrm>
            <a:off x="2202089" y="3414685"/>
            <a:ext cx="129416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00D4FF"/>
                </a:solidFill>
              </a:rPr>
              <a:t>5</a:t>
            </a:r>
            <a:endParaRPr lang="en-US" sz="2016" dirty="0"/>
          </a:p>
        </p:txBody>
      </p:sp>
      <p:sp>
        <p:nvSpPr>
          <p:cNvPr id="8" name="Text 5"/>
          <p:cNvSpPr/>
          <p:nvPr/>
        </p:nvSpPr>
        <p:spPr>
          <a:xfrm>
            <a:off x="2202089" y="3900460"/>
            <a:ext cx="1294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Operations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3782002" y="3271810"/>
            <a:ext cx="1579941" cy="94297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0" name="Text 7"/>
          <p:cNvSpPr/>
          <p:nvPr/>
        </p:nvSpPr>
        <p:spPr>
          <a:xfrm>
            <a:off x="3924877" y="3414685"/>
            <a:ext cx="129419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4ADE80"/>
                </a:solidFill>
              </a:rPr>
              <a:t>10+</a:t>
            </a:r>
            <a:endParaRPr lang="en-US" sz="2016" dirty="0"/>
          </a:p>
        </p:txBody>
      </p:sp>
      <p:sp>
        <p:nvSpPr>
          <p:cNvPr id="11" name="Text 8"/>
          <p:cNvSpPr/>
          <p:nvPr/>
        </p:nvSpPr>
        <p:spPr>
          <a:xfrm>
            <a:off x="3924877" y="3900460"/>
            <a:ext cx="12941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Message Types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504817" y="3271810"/>
            <a:ext cx="1579941" cy="94297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5647692" y="3414685"/>
            <a:ext cx="129419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FFD93D"/>
                </a:solidFill>
              </a:rPr>
              <a:t>JSON</a:t>
            </a:r>
            <a:endParaRPr lang="en-US" sz="2016" dirty="0"/>
          </a:p>
        </p:txBody>
      </p:sp>
      <p:sp>
        <p:nvSpPr>
          <p:cNvPr id="14" name="Text 11"/>
          <p:cNvSpPr/>
          <p:nvPr/>
        </p:nvSpPr>
        <p:spPr>
          <a:xfrm>
            <a:off x="5647692" y="3900460"/>
            <a:ext cx="12941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Protocol Format</a:t>
            </a:r>
            <a:endParaRPr lang="en-US" sz="83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Operation 1: Agent Registration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REGISTRATION FLOW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285875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Step 1: Agent Startup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14363" y="1471613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starts OTel Collector process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14363" y="159874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Collector generates instance UID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14363" y="172588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Collector connects to supervisor's local API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571500" y="1917316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1" name="Text 8"/>
          <p:cNvSpPr/>
          <p:nvPr/>
        </p:nvSpPr>
        <p:spPr>
          <a:xfrm>
            <a:off x="614363" y="1960178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Step 2: AgentToServer Message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14363" y="2145916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Agent sends identification info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14363" y="227305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Declares capabilities (config, packages, health)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14363" y="240018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Reports current status and version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571500" y="2591619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614363" y="2634481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Step 3: Supervisor Relay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14363" y="282021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validates agent identity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14363" y="294735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Adds endpoint context (hostname, OS, tags)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14363" y="307449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Forwards to OpAMP server via WebSocket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571500" y="3265922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1" name="Text 18"/>
          <p:cNvSpPr/>
          <p:nvPr/>
        </p:nvSpPr>
        <p:spPr>
          <a:xfrm>
            <a:off x="614363" y="3308784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Step 4: ServerToAgent Response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14363" y="349452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OpAMP server acknowledges registration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14363" y="362165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Sends initial configuration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14363" y="374879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Provides package manifest if updates needed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571500" y="3940225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6" name="Text 23"/>
          <p:cNvSpPr/>
          <p:nvPr/>
        </p:nvSpPr>
        <p:spPr>
          <a:xfrm>
            <a:off x="614363" y="3983087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Step 5: Configuration Applied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14363" y="416882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writes config to disk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14363" y="429596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OTel Collector loads configuration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14363" y="4423097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Agent reports "Running" status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OPAMP PROTOCOL MESSAGES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4143375" y="1243013"/>
            <a:ext cx="4429125" cy="68434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2" name="Text 29"/>
          <p:cNvSpPr/>
          <p:nvPr/>
        </p:nvSpPr>
        <p:spPr>
          <a:xfrm>
            <a:off x="4186238" y="1285875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AgentToServer (Registration)</a:t>
            </a:r>
            <a:endParaRPr lang="en-US" sz="683" dirty="0"/>
          </a:p>
        </p:txBody>
      </p:sp>
      <p:sp>
        <p:nvSpPr>
          <p:cNvPr id="33" name="Shape 30"/>
          <p:cNvSpPr/>
          <p:nvPr/>
        </p:nvSpPr>
        <p:spPr>
          <a:xfrm>
            <a:off x="4186238" y="1450181"/>
            <a:ext cx="4343400" cy="43431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Text 31"/>
          <p:cNvSpPr/>
          <p:nvPr/>
        </p:nvSpPr>
        <p:spPr>
          <a:xfrm>
            <a:off x="4186238" y="1450181"/>
            <a:ext cx="4343400" cy="43431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"agent_description"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"identifying_attributes"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[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"service.name"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"otelcol"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"service.version"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"0.104.0"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 ],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"non_identifying_attributes"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[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"os.type"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"linux"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"host.name"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"prod-web-01"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 ]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"capabilities"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7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ReportsStatus |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AcceptsRemoteConfig | ReportsHealth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</a:t>
            </a:r>
            <a:endParaRPr lang="en-US" sz="568" dirty="0"/>
          </a:p>
        </p:txBody>
      </p:sp>
      <p:sp>
        <p:nvSpPr>
          <p:cNvPr id="35" name="Shape 32"/>
          <p:cNvSpPr/>
          <p:nvPr/>
        </p:nvSpPr>
        <p:spPr>
          <a:xfrm>
            <a:off x="4143375" y="1955936"/>
            <a:ext cx="4429125" cy="68434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6" name="Text 33"/>
          <p:cNvSpPr/>
          <p:nvPr/>
        </p:nvSpPr>
        <p:spPr>
          <a:xfrm>
            <a:off x="4186238" y="1998799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ServerToAgent (Response)</a:t>
            </a:r>
            <a:endParaRPr lang="en-US" sz="683" dirty="0"/>
          </a:p>
        </p:txBody>
      </p:sp>
      <p:sp>
        <p:nvSpPr>
          <p:cNvPr id="37" name="Shape 34"/>
          <p:cNvSpPr/>
          <p:nvPr/>
        </p:nvSpPr>
        <p:spPr>
          <a:xfrm>
            <a:off x="4186238" y="2163105"/>
            <a:ext cx="4343400" cy="43431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5"/>
          <p:cNvSpPr/>
          <p:nvPr/>
        </p:nvSpPr>
        <p:spPr>
          <a:xfrm>
            <a:off x="4186238" y="2163105"/>
            <a:ext cx="4343400" cy="43431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"remote_config"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"config"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"config_map"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"body"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"&lt;base64-encoded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YAML config&gt;"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"content_type"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"text/yaml"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"config_hash"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"sha256:a1b2c3d4..."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"packages_available"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"packages"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"otelcol"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"type"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TopLevelPackage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"version"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"0.104.0"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"file"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"download_url"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"https://..."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"content_hash"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"all_packages_hash"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"sha256:xyz..."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"flags"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ReportFullState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</a:t>
            </a:r>
            <a:endParaRPr lang="en-US" sz="568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Operation 2: Configuration Update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CONFIGURATION UPDATE FLOW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285875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Step 1: Admin Initiates Change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14363" y="1471613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Admin modifies OTel Collector config in UI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14363" y="159874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Changes sampling rate from 10% to 25%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14363" y="172588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Targets production environment endpoints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571500" y="1917316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1" name="Text 8"/>
          <p:cNvSpPr/>
          <p:nvPr/>
        </p:nvSpPr>
        <p:spPr>
          <a:xfrm>
            <a:off x="614363" y="1960178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Step 2: OpAMP Server Push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14363" y="2145916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OpAMP server computes config hash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14363" y="227305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Sends ServerToAgent with RemoteConfig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14363" y="240018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Includes full YAML config (base64 encoded)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571500" y="2591619"/>
            <a:ext cx="3429000" cy="772864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614363" y="2634481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Step 3: Supervisor Processing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14363" y="282021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receives config via WebSocket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14363" y="294735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Validates config hash matches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14363" y="307449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Writes to /etc/otel/config.yaml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14363" y="320162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Signals OTel Collector to reload (SIGHUP)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571500" y="3393058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2" name="Text 19"/>
          <p:cNvSpPr/>
          <p:nvPr/>
        </p:nvSpPr>
        <p:spPr>
          <a:xfrm>
            <a:off x="614363" y="3435921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Step 4: Agent Reload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14363" y="362165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OTel Collector reloads configuration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14363" y="374879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Validates YAML syntax and semantics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614363" y="387593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Applies new sampling rate (25%)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571500" y="4067361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7" name="Text 24"/>
          <p:cNvSpPr/>
          <p:nvPr/>
        </p:nvSpPr>
        <p:spPr>
          <a:xfrm>
            <a:off x="614363" y="4110224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Step 5: Acknowledgment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614363" y="429596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Agent sends AgentToServer with status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14363" y="4423097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Reports effective_config hash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614363" y="455023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OpAMP server confirms config applied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OPAMP PROTOCOL MESSAGES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4143375" y="1243013"/>
            <a:ext cx="4429125" cy="77864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3" name="Text 30"/>
          <p:cNvSpPr/>
          <p:nvPr/>
        </p:nvSpPr>
        <p:spPr>
          <a:xfrm>
            <a:off x="4186238" y="1285875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ServerToAgent (Config Push)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4186238" y="1450181"/>
            <a:ext cx="4343400" cy="52861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2"/>
          <p:cNvSpPr/>
          <p:nvPr/>
        </p:nvSpPr>
        <p:spPr>
          <a:xfrm>
            <a:off x="4186238" y="1450181"/>
            <a:ext cx="4343400" cy="52861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"remote_config"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"config"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"config_map"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"body"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"cmVjZWl2ZXJzOgogIG90bHA6CiAgICBwcm90b2NvbHM6CiAgICAgIGdycGM6..."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"content_type"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"text/yaml"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"config_hash"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"sha256:f7e3a1b9c2d4..."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Decoded YAML config snippet: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receivers: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otlp: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protocols: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grpc: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0.0.0.0:4317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processors: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probabilistic_sampler: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sampling_percentage: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25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Changed from 10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exporters: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otlp: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backend.company.com:4317</a:t>
            </a:r>
            <a:endParaRPr lang="en-US" sz="568" dirty="0"/>
          </a:p>
        </p:txBody>
      </p:sp>
      <p:sp>
        <p:nvSpPr>
          <p:cNvPr id="36" name="Shape 33"/>
          <p:cNvSpPr/>
          <p:nvPr/>
        </p:nvSpPr>
        <p:spPr>
          <a:xfrm>
            <a:off x="4143375" y="2050228"/>
            <a:ext cx="4429125" cy="77864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7" name="Text 34"/>
          <p:cNvSpPr/>
          <p:nvPr/>
        </p:nvSpPr>
        <p:spPr>
          <a:xfrm>
            <a:off x="4186238" y="2093091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AgentToServer (Acknowledgment)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4186238" y="2257397"/>
            <a:ext cx="4343400" cy="52861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6"/>
          <p:cNvSpPr/>
          <p:nvPr/>
        </p:nvSpPr>
        <p:spPr>
          <a:xfrm>
            <a:off x="4186238" y="2257397"/>
            <a:ext cx="4343400" cy="52861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"effective_config"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"config_map"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"body"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"cmVjZWl2ZXJzOgogIG90bHA6CiAgICBwcm90b2NvbHM6..."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"content_type"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"text/yaml"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"remote_config_status"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"last_remote_config_hash"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"sha256:f7e3a1b9c2d4..."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APPLIED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"error_message"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"component_health_map"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"receivers/otlp"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"processors/probabilistic_sampler"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"exporters/otlp"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 } } }</a:t>
            </a:r>
            <a:endParaRPr lang="en-US" sz="568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Operation 3: Health Status Reporting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HEALTH MONITORING FLOW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285875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Step 1: Agent Self-Monitoring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14363" y="1471613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OTel Collector checks component health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14363" y="159874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Monitors receivers, processors, exporters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14363" y="172588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Tracks metrics: CPU, memory, queue depth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571500" y="1917316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1" name="Text 8"/>
          <p:cNvSpPr/>
          <p:nvPr/>
        </p:nvSpPr>
        <p:spPr>
          <a:xfrm>
            <a:off x="614363" y="1960178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Step 2: Supervisor Polling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14363" y="2145916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polls agent every 30 seconds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14363" y="227305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Queries /health endpoint (HTTP GET)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14363" y="240018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Receives component-level health status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571500" y="2591619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614363" y="2634481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Step 3: Health Aggregation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14363" y="282021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aggregates 6 agent statuses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14363" y="294735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Computes overall endpoint health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14363" y="307449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Detects degraded or failing components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571500" y="3265922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1" name="Text 18"/>
          <p:cNvSpPr/>
          <p:nvPr/>
        </p:nvSpPr>
        <p:spPr>
          <a:xfrm>
            <a:off x="614363" y="3308784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Step 4: Report to OpAMP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14363" y="349452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sends AgentToServer every 60s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14363" y="362165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Includes health status for each agent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14363" y="374879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Reports metrics and error messages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571500" y="3940225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6" name="Text 23"/>
          <p:cNvSpPr/>
          <p:nvPr/>
        </p:nvSpPr>
        <p:spPr>
          <a:xfrm>
            <a:off x="614363" y="3983087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Step 5: Alerting &amp; Remediation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14363" y="416882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OpAMP server detects unhealthy agents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14363" y="429596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Triggers alerts (Slack, PagerDuty)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14363" y="4423097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May initiate automatic restart if configured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OPAMP PROTOCOL MESSAGES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4143375" y="1243013"/>
            <a:ext cx="4429125" cy="77864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2" name="Text 29"/>
          <p:cNvSpPr/>
          <p:nvPr/>
        </p:nvSpPr>
        <p:spPr>
          <a:xfrm>
            <a:off x="4186238" y="1285875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AgentToServer (Healthy Status)</a:t>
            </a:r>
            <a:endParaRPr lang="en-US" sz="683" dirty="0"/>
          </a:p>
        </p:txBody>
      </p:sp>
      <p:sp>
        <p:nvSpPr>
          <p:cNvPr id="33" name="Shape 30"/>
          <p:cNvSpPr/>
          <p:nvPr/>
        </p:nvSpPr>
        <p:spPr>
          <a:xfrm>
            <a:off x="4186238" y="1450181"/>
            <a:ext cx="4343400" cy="52861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Text 31"/>
          <p:cNvSpPr/>
          <p:nvPr/>
        </p:nvSpPr>
        <p:spPr>
          <a:xfrm>
            <a:off x="4186238" y="1450181"/>
            <a:ext cx="4343400" cy="52861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"start_time_unix_nano"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1700000000000000000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"component_health_map"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"receivers/otlp"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"Running"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"status_time_unix_nano"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1700000030000000000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"processors/batch"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"Running"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"exporters/otlp"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"Running"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"custom_metrics"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"cpu_usage_percent"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2.3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"memory_mb"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128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"spans_received_per_sec"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1250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"spans_exported_per_sec"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312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</a:t>
            </a:r>
            <a:endParaRPr lang="en-US" sz="568" dirty="0"/>
          </a:p>
        </p:txBody>
      </p:sp>
      <p:sp>
        <p:nvSpPr>
          <p:cNvPr id="35" name="Shape 32"/>
          <p:cNvSpPr/>
          <p:nvPr/>
        </p:nvSpPr>
        <p:spPr>
          <a:xfrm>
            <a:off x="4143375" y="2050228"/>
            <a:ext cx="4429125" cy="87293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6" name="Text 33"/>
          <p:cNvSpPr/>
          <p:nvPr/>
        </p:nvSpPr>
        <p:spPr>
          <a:xfrm>
            <a:off x="4186238" y="2093091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AgentToServer (Degraded Status)</a:t>
            </a:r>
            <a:endParaRPr lang="en-US" sz="683" dirty="0"/>
          </a:p>
        </p:txBody>
      </p:sp>
      <p:sp>
        <p:nvSpPr>
          <p:cNvPr id="37" name="Shape 34"/>
          <p:cNvSpPr/>
          <p:nvPr/>
        </p:nvSpPr>
        <p:spPr>
          <a:xfrm>
            <a:off x="4186238" y="2257397"/>
            <a:ext cx="4343400" cy="62290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5"/>
          <p:cNvSpPr/>
          <p:nvPr/>
        </p:nvSpPr>
        <p:spPr>
          <a:xfrm>
            <a:off x="4186238" y="2257397"/>
            <a:ext cx="4343400" cy="622902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false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"start_time_unix_nano"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1700000000000000000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"exporter 'otlp' connection failed"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"component_health_map"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"receivers/otlp"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"Running"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"processors/batch"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"Running"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"exporters/otlp"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false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"PermanentError"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"status_time_unix_nano"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1700000120000000000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"connection refused: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backend.company.com:4317"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"custom_metrics"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"cpu_usage_percent"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3.1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"memory_mb"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145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"spans_received_per_sec"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1300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"spans_exported_per_sec"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"queue_depth"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8500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</a:t>
            </a:r>
            <a:endParaRPr lang="en-US" sz="568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Operation 4: Package Installation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PACKAGE DISTRIBUTION FLOW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285875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Step 1: Package Available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14363" y="1471613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OpAMP server notifies new version available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14363" y="159874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OTel Collector 0.104.0 → 0.105.0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14363" y="172588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Includes download URL and SHA256 hash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571500" y="1917316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1" name="Text 8"/>
          <p:cNvSpPr/>
          <p:nvPr/>
        </p:nvSpPr>
        <p:spPr>
          <a:xfrm>
            <a:off x="614363" y="1960178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Step 2: Download &amp; Verify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14363" y="2145916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downloads binary from CDN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14363" y="227305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Verifies SHA256 hash matches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14363" y="240018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Checks GPG signature (if configured)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571500" y="2591619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614363" y="2634481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Step 3: Installation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14363" y="282021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extracts tarball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14363" y="294735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Installs to /opt/otelcol/0.105.0/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14363" y="307449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Updates symlink: /usr/bin/otelcol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571500" y="3265922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1" name="Text 18"/>
          <p:cNvSpPr/>
          <p:nvPr/>
        </p:nvSpPr>
        <p:spPr>
          <a:xfrm>
            <a:off x="614363" y="3308784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Step 4: Agent Restart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14363" y="349452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stops old OTel Collector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14363" y="362165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Starts new version with same config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14363" y="374879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Monitors startup for 60 seconds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571500" y="3940225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6" name="Text 23"/>
          <p:cNvSpPr/>
          <p:nvPr/>
        </p:nvSpPr>
        <p:spPr>
          <a:xfrm>
            <a:off x="614363" y="3983087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Step 5: Status Report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14363" y="416882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Agent reports new version to OpAMP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14363" y="429596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Confirms package installed successfully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14363" y="4423097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Rollback if health check fails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OPAMP PROTOCOL MESSAGES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4143375" y="1243013"/>
            <a:ext cx="4429125" cy="77864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2" name="Text 29"/>
          <p:cNvSpPr/>
          <p:nvPr/>
        </p:nvSpPr>
        <p:spPr>
          <a:xfrm>
            <a:off x="4186238" y="1285875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ServerToAgent (Package Available)</a:t>
            </a:r>
            <a:endParaRPr lang="en-US" sz="683" dirty="0"/>
          </a:p>
        </p:txBody>
      </p:sp>
      <p:sp>
        <p:nvSpPr>
          <p:cNvPr id="33" name="Shape 30"/>
          <p:cNvSpPr/>
          <p:nvPr/>
        </p:nvSpPr>
        <p:spPr>
          <a:xfrm>
            <a:off x="4186238" y="1450181"/>
            <a:ext cx="4343400" cy="52861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Text 31"/>
          <p:cNvSpPr/>
          <p:nvPr/>
        </p:nvSpPr>
        <p:spPr>
          <a:xfrm>
            <a:off x="4186238" y="1450181"/>
            <a:ext cx="4343400" cy="52861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"packages_available"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"packages"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"otelcol"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"type"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TopLevelPackage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"version"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"0.105.0"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"file"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"download_url"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"https://cdn.company.com/otelcol-0.105.0-linux-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amd64.tar.gz"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"content_hash"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"sha256:e3b0c44298fc1c149afbf4c8996fb92427ae41e4649b934ca495991b7852b855"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"signature"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"-----BEGIN PGP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SIGNATURE-----..."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"sha256:abc123..."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"all_packages_hash"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"sha256:def456..."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"flags"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</a:t>
            </a:r>
            <a:endParaRPr lang="en-US" sz="568" dirty="0"/>
          </a:p>
        </p:txBody>
      </p:sp>
      <p:sp>
        <p:nvSpPr>
          <p:cNvPr id="35" name="Shape 32"/>
          <p:cNvSpPr/>
          <p:nvPr/>
        </p:nvSpPr>
        <p:spPr>
          <a:xfrm>
            <a:off x="4143375" y="2050228"/>
            <a:ext cx="4429125" cy="87293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6" name="Text 33"/>
          <p:cNvSpPr/>
          <p:nvPr/>
        </p:nvSpPr>
        <p:spPr>
          <a:xfrm>
            <a:off x="4186238" y="2093091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AgentToServer (Installation Success)</a:t>
            </a:r>
            <a:endParaRPr lang="en-US" sz="683" dirty="0"/>
          </a:p>
        </p:txBody>
      </p:sp>
      <p:sp>
        <p:nvSpPr>
          <p:cNvPr id="37" name="Shape 34"/>
          <p:cNvSpPr/>
          <p:nvPr/>
        </p:nvSpPr>
        <p:spPr>
          <a:xfrm>
            <a:off x="4186238" y="2257397"/>
            <a:ext cx="4343400" cy="62290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5"/>
          <p:cNvSpPr/>
          <p:nvPr/>
        </p:nvSpPr>
        <p:spPr>
          <a:xfrm>
            <a:off x="4186238" y="2257397"/>
            <a:ext cx="4343400" cy="622902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"agent_description"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"identifying_attributes"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[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"service.name"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"otelcol"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"service.version"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"0.105.0"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Updated!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]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"package_statuses"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"packages"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"otelcol"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"name"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"otelcol"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"agent_has_version"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"0.105.0"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"agent_has_hash"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"sha256:abc123..."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"server_offered_version"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"0.105.0"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"server_offered_hash"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"sha256:abc123..."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INSTALLED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"error_message"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"server_provided_all_packages_hash"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"sha256:def456..."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"error_message"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"start_time_unix_nano"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1700000300000000000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New start time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</a:t>
            </a:r>
            <a:endParaRPr lang="en-US" sz="56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Operation 5: Error Reporting &amp; Recovery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ERROR RECOVERY FLOW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285875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Step 1: Agent Failure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14363" y="1471613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OTel Collector process crashes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14363" y="159874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Exit code: 1 (configuration error)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14363" y="172588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Invalid YAML syntax in config file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571500" y="1917316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1" name="Text 8"/>
          <p:cNvSpPr/>
          <p:nvPr/>
        </p:nvSpPr>
        <p:spPr>
          <a:xfrm>
            <a:off x="614363" y="1960178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Step 2: Supervisor Detection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14363" y="2145916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detects process exit (5s)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14363" y="227305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Captures stderr logs and exit code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14363" y="240018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Marks agent as "Stopped" with error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571500" y="2591619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614363" y="2634481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Step 3: Error Reporting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14363" y="282021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sends AgentToServer immediately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614363" y="294735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Reports unhealthy status with error details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14363" y="307449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Includes last 100 lines of logs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571500" y="3265922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1" name="Text 18"/>
          <p:cNvSpPr/>
          <p:nvPr/>
        </p:nvSpPr>
        <p:spPr>
          <a:xfrm>
            <a:off x="614363" y="3308784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Step 4: Automatic Retry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614363" y="349452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waits 1s (exponential backoff)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14363" y="362165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Attempts restart with last known good config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14363" y="374879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Retries up to 5 times before alerting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571500" y="3940225"/>
            <a:ext cx="3429000" cy="64572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6" name="Text 23"/>
          <p:cNvSpPr/>
          <p:nvPr/>
        </p:nvSpPr>
        <p:spPr>
          <a:xfrm>
            <a:off x="614363" y="3983087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Step 5: Recovery Confirmation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14363" y="416882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Agent restarts successfully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14363" y="429596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reports healthy status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614363" y="4423097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OpAMP server clears alert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OPAMP PROTOCOL MESSAGES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4143375" y="1243013"/>
            <a:ext cx="4429125" cy="9672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2" name="Text 29"/>
          <p:cNvSpPr/>
          <p:nvPr/>
        </p:nvSpPr>
        <p:spPr>
          <a:xfrm>
            <a:off x="4186238" y="1285875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AgentToServer (Error Report)</a:t>
            </a:r>
            <a:endParaRPr lang="en-US" sz="683" dirty="0"/>
          </a:p>
        </p:txBody>
      </p:sp>
      <p:sp>
        <p:nvSpPr>
          <p:cNvPr id="33" name="Shape 30"/>
          <p:cNvSpPr/>
          <p:nvPr/>
        </p:nvSpPr>
        <p:spPr>
          <a:xfrm>
            <a:off x="4186238" y="1450181"/>
            <a:ext cx="4343400" cy="71719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Text 31"/>
          <p:cNvSpPr/>
          <p:nvPr/>
        </p:nvSpPr>
        <p:spPr>
          <a:xfrm>
            <a:off x="4186238" y="1450181"/>
            <a:ext cx="4343400" cy="71719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false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"start_time_unix_nano"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1700000000000000000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"process exited with code 1"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"component_health_map"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"agent"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false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"Stopped"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"status_time_unix_nano"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1700000150000000000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"yaml: line 12: mapping values are not allowed"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"remote_config_status"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"last_remote_config_hash"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"sha256:f7e3a1b9c2d4..."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2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FAILED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"error_message"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"config validation failed: invalid YAML syntax"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"error_response"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"type"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BAD_REQUEST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"error_message"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"Cannot apply config: YAML parse error at line 12"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"retry_info"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"retry_after_nanoseconds"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1 second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</a:t>
            </a:r>
            <a:endParaRPr lang="en-US" sz="568" dirty="0"/>
          </a:p>
        </p:txBody>
      </p:sp>
      <p:sp>
        <p:nvSpPr>
          <p:cNvPr id="35" name="Shape 32"/>
          <p:cNvSpPr/>
          <p:nvPr/>
        </p:nvSpPr>
        <p:spPr>
          <a:xfrm>
            <a:off x="4143375" y="2238812"/>
            <a:ext cx="4429125" cy="87293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6" name="Text 33"/>
          <p:cNvSpPr/>
          <p:nvPr/>
        </p:nvSpPr>
        <p:spPr>
          <a:xfrm>
            <a:off x="4186238" y="2281675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AgentToServer (Recovery Success)</a:t>
            </a:r>
            <a:endParaRPr lang="en-US" sz="683" dirty="0"/>
          </a:p>
        </p:txBody>
      </p:sp>
      <p:sp>
        <p:nvSpPr>
          <p:cNvPr id="37" name="Shape 34"/>
          <p:cNvSpPr/>
          <p:nvPr/>
        </p:nvSpPr>
        <p:spPr>
          <a:xfrm>
            <a:off x="4186238" y="2445981"/>
            <a:ext cx="4343400" cy="62290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5"/>
          <p:cNvSpPr/>
          <p:nvPr/>
        </p:nvSpPr>
        <p:spPr>
          <a:xfrm>
            <a:off x="4186238" y="2445981"/>
            <a:ext cx="4343400" cy="622902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"start_time_unix_nano"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1700000160000000000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Restarted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"last_error"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"component_health_map"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"receivers/otlp"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"Running"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"processors/batch"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"Running"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"exporters/otlp"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"healthy"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true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"Running"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"effective_config"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"config_map"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"body"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"&lt;base64-encoded last known good config&gt;"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"content_type"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"text/yaml"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"remote_config_status"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"last_remote_config_hash"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"sha256:a1b2c3d4..."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Previous good config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"status"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APPLIED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"error_message"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</a:t>
            </a:r>
            <a:endParaRPr lang="en-US" sz="568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Operation 6: Authentication &amp; Authorization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OPAMP AUTHENTICATION METHODS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90000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14363" y="1285875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1. Mutual TLS (mTLS)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14363" y="1471613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Recommended: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Production-grade security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14363" y="159874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Client Cert: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presents X.509 certificate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14363" y="172588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Server Cert: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server validates client cert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14363" y="1853022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Identity: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CN or SAN from certificate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14363" y="198015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Benefit: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No shared secrets, automatic rotation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571500" y="2171588"/>
            <a:ext cx="3429000" cy="90000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614363" y="2214451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2. OAuth2 / JWT Tokens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14363" y="240018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Token Source: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Identity provider (Okta, Auth0, etc.)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14363" y="2527325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Flow: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Client credentials grant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14363" y="265446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Header: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Authorization: Bearer &lt;JWT&gt;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14363" y="2781598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Validation: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verifies signature &amp; claims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14363" y="290873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Benefit: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Centralized identity management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571500" y="3100164"/>
            <a:ext cx="3429000" cy="90000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0" name="Text 17"/>
          <p:cNvSpPr/>
          <p:nvPr/>
        </p:nvSpPr>
        <p:spPr>
          <a:xfrm>
            <a:off x="614363" y="3143027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3. API Keys / Shared Secrets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14363" y="332876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Simple: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Pre-shared API key per supervisor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14363" y="3455901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Header: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X-API-Key: &lt;secret&gt;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14363" y="3583037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Storage: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Encrypted in supervisor config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614363" y="3710174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Rotation: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Manual key rotation required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614363" y="3837310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Limitation: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Not recommended for production</a:t>
            </a:r>
            <a:endParaRPr lang="en-US" sz="683" dirty="0"/>
          </a:p>
        </p:txBody>
      </p:sp>
      <p:sp>
        <p:nvSpPr>
          <p:cNvPr id="26" name="Shape 23"/>
          <p:cNvSpPr/>
          <p:nvPr/>
        </p:nvSpPr>
        <p:spPr>
          <a:xfrm>
            <a:off x="571500" y="4028740"/>
            <a:ext cx="3429000" cy="772864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7" name="Text 24"/>
          <p:cNvSpPr/>
          <p:nvPr/>
        </p:nvSpPr>
        <p:spPr>
          <a:xfrm>
            <a:off x="614363" y="4071603"/>
            <a:ext cx="33432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4. Custom Headers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614363" y="4257340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Flexible: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Any custom authentication scheme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614363" y="4384477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Headers: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X-Tenant-ID, X-Environment, etc.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614363" y="4511613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Use Case: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Multi-tenancy, environment isolation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614363" y="4638749"/>
            <a:ext cx="33432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Benefit: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Combine with other auth methods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AUTHENTICATION PROTOCOL EXAMPLES</a:t>
            </a:r>
            <a:endParaRPr lang="en-US" sz="987" dirty="0"/>
          </a:p>
        </p:txBody>
      </p:sp>
      <p:sp>
        <p:nvSpPr>
          <p:cNvPr id="33" name="Shape 30"/>
          <p:cNvSpPr/>
          <p:nvPr/>
        </p:nvSpPr>
        <p:spPr>
          <a:xfrm>
            <a:off x="4143375" y="1243013"/>
            <a:ext cx="4429125" cy="68434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4" name="Text 31"/>
          <p:cNvSpPr/>
          <p:nvPr/>
        </p:nvSpPr>
        <p:spPr>
          <a:xfrm>
            <a:off x="4186238" y="1285875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WebSocket Connection with mTLS</a:t>
            </a:r>
            <a:endParaRPr lang="en-US" sz="683" dirty="0"/>
          </a:p>
        </p:txBody>
      </p:sp>
      <p:sp>
        <p:nvSpPr>
          <p:cNvPr id="35" name="Shape 32"/>
          <p:cNvSpPr/>
          <p:nvPr/>
        </p:nvSpPr>
        <p:spPr>
          <a:xfrm>
            <a:off x="4186238" y="1450181"/>
            <a:ext cx="4343400" cy="43431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3"/>
          <p:cNvSpPr/>
          <p:nvPr/>
        </p:nvSpPr>
        <p:spPr>
          <a:xfrm>
            <a:off x="4186238" y="1450181"/>
            <a:ext cx="4343400" cy="434318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Supervisor configuration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"opamp_server"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"endpoint"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"wss://opamp.company.com:4320/v1/opamp"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"tls"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"insecure_skip_verify"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false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"ca_file"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"/etc/supervisor/ca.crt"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"cert_file"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"/etc/supervisor/client.crt"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"key_file"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"/etc/supervisor/client.key"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 }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Client certificate (X.509)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Subject: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CN=supervisor-prod-web-01, O=Company, C=US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SAN: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DNS:prod-web-01.company.com, IP:10.0.1.50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Issuer: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CN=Company Internal CA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Valid: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2024-01-01 to 2025-01-01</a:t>
            </a:r>
            <a:endParaRPr lang="en-US" sz="568" dirty="0"/>
          </a:p>
        </p:txBody>
      </p:sp>
      <p:sp>
        <p:nvSpPr>
          <p:cNvPr id="37" name="Shape 34"/>
          <p:cNvSpPr/>
          <p:nvPr/>
        </p:nvSpPr>
        <p:spPr>
          <a:xfrm>
            <a:off x="4143375" y="1955936"/>
            <a:ext cx="4429125" cy="77864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8" name="Text 35"/>
          <p:cNvSpPr/>
          <p:nvPr/>
        </p:nvSpPr>
        <p:spPr>
          <a:xfrm>
            <a:off x="4186238" y="1998799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WebSocket Connection with OAuth2/JWT</a:t>
            </a:r>
            <a:endParaRPr lang="en-US" sz="683" dirty="0"/>
          </a:p>
        </p:txBody>
      </p:sp>
      <p:sp>
        <p:nvSpPr>
          <p:cNvPr id="39" name="Shape 36"/>
          <p:cNvSpPr/>
          <p:nvPr/>
        </p:nvSpPr>
        <p:spPr>
          <a:xfrm>
            <a:off x="4186238" y="2163105"/>
            <a:ext cx="4343400" cy="52861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7"/>
          <p:cNvSpPr/>
          <p:nvPr/>
        </p:nvSpPr>
        <p:spPr>
          <a:xfrm>
            <a:off x="4186238" y="2163105"/>
            <a:ext cx="4343400" cy="52861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WebSocket handshake headers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GET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/v1/opamp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HTTP/1.1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Host: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opamp.company.com:4320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Upgrade: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websocket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Connection: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Upgrade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Authorization: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Bearer eyJhbGciOiJSUzI1NiIsInR5cCI6IkpXVCJ9...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X-Tenant-ID: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production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X-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Environment: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prod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JWT payload (decoded)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"iss"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"https://auth.company.com"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"sub"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"supervisor-prod-web-01"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"aud"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"opamp-server"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"exp"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1700000000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"iat"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1699996400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"scope"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"opamp:read opamp:write"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"roles"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"supervisor-prod"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 }</a:t>
            </a:r>
            <a:endParaRPr lang="en-US" sz="568" dirty="0"/>
          </a:p>
        </p:txBody>
      </p:sp>
      <p:sp>
        <p:nvSpPr>
          <p:cNvPr id="41" name="Shape 38"/>
          <p:cNvSpPr/>
          <p:nvPr/>
        </p:nvSpPr>
        <p:spPr>
          <a:xfrm>
            <a:off x="4143375" y="2763152"/>
            <a:ext cx="4429125" cy="77864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2" name="Text 39"/>
          <p:cNvSpPr/>
          <p:nvPr/>
        </p:nvSpPr>
        <p:spPr>
          <a:xfrm>
            <a:off x="4186238" y="2806015"/>
            <a:ext cx="43434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AgentToServer with Identity Context</a:t>
            </a:r>
            <a:endParaRPr lang="en-US" sz="683" dirty="0"/>
          </a:p>
        </p:txBody>
      </p:sp>
      <p:sp>
        <p:nvSpPr>
          <p:cNvPr id="43" name="Shape 40"/>
          <p:cNvSpPr/>
          <p:nvPr/>
        </p:nvSpPr>
        <p:spPr>
          <a:xfrm>
            <a:off x="4186238" y="2970321"/>
            <a:ext cx="4343400" cy="52861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41"/>
          <p:cNvSpPr/>
          <p:nvPr/>
        </p:nvSpPr>
        <p:spPr>
          <a:xfrm>
            <a:off x="4186238" y="2970321"/>
            <a:ext cx="4343400" cy="528610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"instance_uid"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"01HQXYZ789ABCDEF"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"agent_description"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"non_identifying_attributes"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[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"supervisor.identity"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"supervisor-prod-web-01"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"supervisor.tenant"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"production"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"supervisor.environment"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"prod"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}, {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"key"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"supervisor.auth_method"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"value"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"mtls"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} ] } }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// OpAMP server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validates: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Certificate CN matches supervisor.identity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Tenant ID matches certificate organization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Role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"supervisor-prod" has write permissions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✓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Certificate not expired or revoked</a:t>
            </a:r>
            <a:endParaRPr lang="en-US" sz="568" dirty="0"/>
          </a:p>
        </p:txBody>
      </p:sp>
      <p:sp>
        <p:nvSpPr>
          <p:cNvPr id="45" name="Shape 42"/>
          <p:cNvSpPr/>
          <p:nvPr/>
        </p:nvSpPr>
        <p:spPr>
          <a:xfrm>
            <a:off x="4143375" y="3584656"/>
            <a:ext cx="4429125" cy="772864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6" name="Text 43"/>
          <p:cNvSpPr/>
          <p:nvPr/>
        </p:nvSpPr>
        <p:spPr>
          <a:xfrm>
            <a:off x="4186238" y="3627518"/>
            <a:ext cx="4343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Authorization &amp; RBAC</a:t>
            </a:r>
            <a:endParaRPr lang="en-US" sz="784" dirty="0"/>
          </a:p>
        </p:txBody>
      </p:sp>
      <p:sp>
        <p:nvSpPr>
          <p:cNvPr id="47" name="Text 44"/>
          <p:cNvSpPr/>
          <p:nvPr/>
        </p:nvSpPr>
        <p:spPr>
          <a:xfrm>
            <a:off x="4186238" y="3813256"/>
            <a:ext cx="43434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Identity Extraction: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From cert CN or JWT claims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4186238" y="3940392"/>
            <a:ext cx="43434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Role Mapping: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supervisor-prod, supervisor-dev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4186238" y="4067528"/>
            <a:ext cx="43434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Permissions: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Read config, write health, update packages</a:t>
            </a:r>
            <a:endParaRPr lang="en-US" sz="683" dirty="0"/>
          </a:p>
        </p:txBody>
      </p:sp>
      <p:sp>
        <p:nvSpPr>
          <p:cNvPr id="50" name="Text 47"/>
          <p:cNvSpPr/>
          <p:nvPr/>
        </p:nvSpPr>
        <p:spPr>
          <a:xfrm>
            <a:off x="4186238" y="4194665"/>
            <a:ext cx="43434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Enforcement: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server validates per-operation</a:t>
            </a:r>
            <a:endParaRPr lang="en-US" sz="68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3476" y="1046587"/>
            <a:ext cx="62970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spc="3" kern="0" dirty="0">
                <a:solidFill>
                  <a:srgbClr val="4ADE80"/>
                </a:solidFill>
              </a:rPr>
              <a:t>APPENDIX II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1423476" y="1860975"/>
            <a:ext cx="629702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Supervisor Implementation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423476" y="2623905"/>
            <a:ext cx="629702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A0AEC0"/>
                </a:solidFill>
              </a:rPr>
              <a:t>Detailed Implementation Guide</a:t>
            </a:r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A0AEC0"/>
                </a:solidFill>
              </a:rPr>
              <a:t>
</a:t>
            </a:r>
            <a:pPr algn="ctr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A0AEC0"/>
                </a:solidFill>
              </a:rPr>
              <a:t> for Multi-Agent Management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1423476" y="3389681"/>
            <a:ext cx="2003738" cy="70723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7" name="Text 4"/>
          <p:cNvSpPr/>
          <p:nvPr/>
        </p:nvSpPr>
        <p:spPr>
          <a:xfrm>
            <a:off x="1566351" y="3532556"/>
            <a:ext cx="17179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</a:rPr>
              <a:t>OpenTelemetry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1566351" y="3782588"/>
            <a:ext cx="1717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Native OpAMP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3570089" y="3389681"/>
            <a:ext cx="2003766" cy="70723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0" name="Text 7"/>
          <p:cNvSpPr/>
          <p:nvPr/>
        </p:nvSpPr>
        <p:spPr>
          <a:xfrm>
            <a:off x="3712964" y="3532556"/>
            <a:ext cx="1718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ADE80"/>
                </a:solidFill>
              </a:rPr>
              <a:t>OSQuery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712964" y="3782588"/>
            <a:ext cx="17180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Wrapper Integration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16730" y="3389681"/>
            <a:ext cx="2003738" cy="70723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5859605" y="3532556"/>
            <a:ext cx="17179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D93D"/>
                </a:solidFill>
              </a:rPr>
              <a:t>Sysmon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859605" y="3782588"/>
            <a:ext cx="17179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Event Log Collection</a:t>
            </a:r>
            <a:endParaRPr lang="en-US" sz="83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46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Supervisor Architecture &amp; Components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SUPERVISOR INTERNAL ARCHITECTURE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714750" cy="41433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628650" y="1300163"/>
            <a:ext cx="3600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OpAMP Server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28650" y="1471613"/>
            <a:ext cx="3600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</a:rPr>
              <a:t>wss://opamp.company.com:4320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571500" y="1700213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↕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1914525"/>
            <a:ext cx="3714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WebSocket (mTLS)</a:t>
            </a:r>
            <a:endParaRPr lang="en-US" sz="568" dirty="0"/>
          </a:p>
        </p:txBody>
      </p:sp>
      <p:sp>
        <p:nvSpPr>
          <p:cNvPr id="10" name="Shape 7"/>
          <p:cNvSpPr/>
          <p:nvPr/>
        </p:nvSpPr>
        <p:spPr>
          <a:xfrm>
            <a:off x="571500" y="2075259"/>
            <a:ext cx="3714750" cy="2232422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1" name="Text 8"/>
          <p:cNvSpPr/>
          <p:nvPr/>
        </p:nvSpPr>
        <p:spPr>
          <a:xfrm>
            <a:off x="628650" y="2132409"/>
            <a:ext cx="3600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4ADE80"/>
                </a:solidFill>
              </a:rPr>
              <a:t>SUPERVISOR CORE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628650" y="2368153"/>
            <a:ext cx="3600450" cy="3536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Shape 10"/>
          <p:cNvSpPr/>
          <p:nvPr/>
        </p:nvSpPr>
        <p:spPr>
          <a:xfrm>
            <a:off x="628650" y="2368153"/>
            <a:ext cx="21431" cy="3536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671513" y="2411016"/>
            <a:ext cx="35147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1. OpAMP Client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71513" y="2561034"/>
            <a:ext cx="35147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WebSocket, Protocol Handler</a:t>
            </a:r>
            <a:endParaRPr lang="en-US" sz="568" dirty="0"/>
          </a:p>
        </p:txBody>
      </p:sp>
      <p:sp>
        <p:nvSpPr>
          <p:cNvPr id="16" name="Shape 13"/>
          <p:cNvSpPr/>
          <p:nvPr/>
        </p:nvSpPr>
        <p:spPr>
          <a:xfrm>
            <a:off x="628650" y="2750344"/>
            <a:ext cx="3600450" cy="3536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650" y="2750344"/>
            <a:ext cx="21431" cy="35361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5"/>
          <p:cNvSpPr/>
          <p:nvPr/>
        </p:nvSpPr>
        <p:spPr>
          <a:xfrm>
            <a:off x="671513" y="2793206"/>
            <a:ext cx="35147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2. Agent Manager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671513" y="2943225"/>
            <a:ext cx="35147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Lifecycle, Registry, Dependencies</a:t>
            </a:r>
            <a:endParaRPr lang="en-US" sz="568" dirty="0"/>
          </a:p>
        </p:txBody>
      </p:sp>
      <p:sp>
        <p:nvSpPr>
          <p:cNvPr id="20" name="Shape 17"/>
          <p:cNvSpPr/>
          <p:nvPr/>
        </p:nvSpPr>
        <p:spPr>
          <a:xfrm>
            <a:off x="628650" y="3132534"/>
            <a:ext cx="3600450" cy="3536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Shape 18"/>
          <p:cNvSpPr/>
          <p:nvPr/>
        </p:nvSpPr>
        <p:spPr>
          <a:xfrm>
            <a:off x="628650" y="3132534"/>
            <a:ext cx="21431" cy="35361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2" name="Text 19"/>
          <p:cNvSpPr/>
          <p:nvPr/>
        </p:nvSpPr>
        <p:spPr>
          <a:xfrm>
            <a:off x="671513" y="3175397"/>
            <a:ext cx="35147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3. Process Supervisor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671513" y="3325416"/>
            <a:ext cx="35147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Start, Stop, Monitor, Restart</a:t>
            </a:r>
            <a:endParaRPr lang="en-US" sz="568" dirty="0"/>
          </a:p>
        </p:txBody>
      </p:sp>
      <p:sp>
        <p:nvSpPr>
          <p:cNvPr id="24" name="Shape 21"/>
          <p:cNvSpPr/>
          <p:nvPr/>
        </p:nvSpPr>
        <p:spPr>
          <a:xfrm>
            <a:off x="628650" y="3514725"/>
            <a:ext cx="3600450" cy="3536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Shape 22"/>
          <p:cNvSpPr/>
          <p:nvPr/>
        </p:nvSpPr>
        <p:spPr>
          <a:xfrm>
            <a:off x="628650" y="3514725"/>
            <a:ext cx="21431" cy="35361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3"/>
          <p:cNvSpPr/>
          <p:nvPr/>
        </p:nvSpPr>
        <p:spPr>
          <a:xfrm>
            <a:off x="671513" y="3557588"/>
            <a:ext cx="35147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4. Config Distributor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71513" y="3707606"/>
            <a:ext cx="35147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Template, Validate, Write</a:t>
            </a:r>
            <a:endParaRPr lang="en-US" sz="568" dirty="0"/>
          </a:p>
        </p:txBody>
      </p:sp>
      <p:sp>
        <p:nvSpPr>
          <p:cNvPr id="28" name="Shape 25"/>
          <p:cNvSpPr/>
          <p:nvPr/>
        </p:nvSpPr>
        <p:spPr>
          <a:xfrm>
            <a:off x="628650" y="3896916"/>
            <a:ext cx="3600450" cy="35361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Shape 26"/>
          <p:cNvSpPr/>
          <p:nvPr/>
        </p:nvSpPr>
        <p:spPr>
          <a:xfrm>
            <a:off x="628650" y="3896916"/>
            <a:ext cx="21431" cy="35361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7"/>
          <p:cNvSpPr/>
          <p:nvPr/>
        </p:nvSpPr>
        <p:spPr>
          <a:xfrm>
            <a:off x="671513" y="3939778"/>
            <a:ext cx="35147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6B6B"/>
                </a:solidFill>
              </a:rPr>
              <a:t>5. Health Monitor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671513" y="4089797"/>
            <a:ext cx="35147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Poll, Aggregate, Alert</a:t>
            </a:r>
            <a:endParaRPr lang="en-US" sz="568" dirty="0"/>
          </a:p>
        </p:txBody>
      </p:sp>
      <p:sp>
        <p:nvSpPr>
          <p:cNvPr id="32" name="Text 29"/>
          <p:cNvSpPr/>
          <p:nvPr/>
        </p:nvSpPr>
        <p:spPr>
          <a:xfrm>
            <a:off x="571500" y="4350544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DE80"/>
                </a:solidFill>
              </a:rPr>
              <a:t>↕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71500" y="4564856"/>
            <a:ext cx="3714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Local Process Management</a:t>
            </a:r>
            <a:endParaRPr lang="en-US" sz="568" dirty="0"/>
          </a:p>
        </p:txBody>
      </p:sp>
      <p:sp>
        <p:nvSpPr>
          <p:cNvPr id="34" name="Shape 31"/>
          <p:cNvSpPr/>
          <p:nvPr/>
        </p:nvSpPr>
        <p:spPr>
          <a:xfrm>
            <a:off x="571500" y="4725591"/>
            <a:ext cx="1209666" cy="38219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2"/>
          <p:cNvSpPr/>
          <p:nvPr/>
        </p:nvSpPr>
        <p:spPr>
          <a:xfrm>
            <a:off x="628650" y="4782741"/>
            <a:ext cx="10953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OTel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628650" y="4932759"/>
            <a:ext cx="109536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:4317/:4318</a:t>
            </a:r>
            <a:endParaRPr lang="en-US" sz="568" dirty="0"/>
          </a:p>
        </p:txBody>
      </p:sp>
      <p:sp>
        <p:nvSpPr>
          <p:cNvPr id="37" name="Shape 34"/>
          <p:cNvSpPr/>
          <p:nvPr/>
        </p:nvSpPr>
        <p:spPr>
          <a:xfrm>
            <a:off x="1824028" y="4725591"/>
            <a:ext cx="1209666" cy="38219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5"/>
          <p:cNvSpPr/>
          <p:nvPr/>
        </p:nvSpPr>
        <p:spPr>
          <a:xfrm>
            <a:off x="1881178" y="4782741"/>
            <a:ext cx="10953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OSQuery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1881178" y="4932759"/>
            <a:ext cx="109536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:9001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3076556" y="4725591"/>
            <a:ext cx="1209666" cy="38219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8"/>
          <p:cNvSpPr/>
          <p:nvPr/>
        </p:nvSpPr>
        <p:spPr>
          <a:xfrm>
            <a:off x="3133706" y="4782741"/>
            <a:ext cx="10953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Sysmon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3133706" y="4932759"/>
            <a:ext cx="109536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Driver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4429125" y="1000125"/>
            <a:ext cx="4143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COMPONENT RESPONSIBILITIES</a:t>
            </a:r>
            <a:endParaRPr lang="en-US" sz="987" dirty="0"/>
          </a:p>
        </p:txBody>
      </p:sp>
      <p:sp>
        <p:nvSpPr>
          <p:cNvPr id="44" name="Shape 41"/>
          <p:cNvSpPr/>
          <p:nvPr/>
        </p:nvSpPr>
        <p:spPr>
          <a:xfrm>
            <a:off x="4429125" y="1221581"/>
            <a:ext cx="4143375" cy="79290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5" name="Text 42"/>
          <p:cNvSpPr/>
          <p:nvPr/>
        </p:nvSpPr>
        <p:spPr>
          <a:xfrm>
            <a:off x="4443413" y="1235869"/>
            <a:ext cx="4114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1. OpAMP Client</a:t>
            </a:r>
            <a:endParaRPr lang="en-US" sz="784" dirty="0"/>
          </a:p>
        </p:txBody>
      </p:sp>
      <p:sp>
        <p:nvSpPr>
          <p:cNvPr id="46" name="Text 43"/>
          <p:cNvSpPr/>
          <p:nvPr/>
        </p:nvSpPr>
        <p:spPr>
          <a:xfrm>
            <a:off x="4443413" y="1421606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WebSocket Management: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Maintain persistent connection</a:t>
            </a:r>
            <a:endParaRPr lang="en-US" sz="727" dirty="0"/>
          </a:p>
        </p:txBody>
      </p:sp>
      <p:sp>
        <p:nvSpPr>
          <p:cNvPr id="47" name="Text 44"/>
          <p:cNvSpPr/>
          <p:nvPr/>
        </p:nvSpPr>
        <p:spPr>
          <a:xfrm>
            <a:off x="4443413" y="1538753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Protocol Handling: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Encode/decode OpAMP messages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4443413" y="1655899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Authentication: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mTLS certificate presentation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4443413" y="1773045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Reconnection: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Exponential backoff on disconnect</a:t>
            </a:r>
            <a:endParaRPr lang="en-US" sz="727" dirty="0"/>
          </a:p>
        </p:txBody>
      </p:sp>
      <p:sp>
        <p:nvSpPr>
          <p:cNvPr id="50" name="Text 47"/>
          <p:cNvSpPr/>
          <p:nvPr/>
        </p:nvSpPr>
        <p:spPr>
          <a:xfrm>
            <a:off x="4443413" y="1890192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Message Queue: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Buffer messages during outages</a:t>
            </a:r>
            <a:endParaRPr lang="en-US" sz="727" dirty="0"/>
          </a:p>
        </p:txBody>
      </p:sp>
      <p:sp>
        <p:nvSpPr>
          <p:cNvPr id="51" name="Shape 48"/>
          <p:cNvSpPr/>
          <p:nvPr/>
        </p:nvSpPr>
        <p:spPr>
          <a:xfrm>
            <a:off x="4429125" y="2021625"/>
            <a:ext cx="4143375" cy="79290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2" name="Text 49"/>
          <p:cNvSpPr/>
          <p:nvPr/>
        </p:nvSpPr>
        <p:spPr>
          <a:xfrm>
            <a:off x="4443413" y="2035913"/>
            <a:ext cx="4114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2. Agent Manager</a:t>
            </a:r>
            <a:endParaRPr lang="en-US" sz="784" dirty="0"/>
          </a:p>
        </p:txBody>
      </p:sp>
      <p:sp>
        <p:nvSpPr>
          <p:cNvPr id="53" name="Text 50"/>
          <p:cNvSpPr/>
          <p:nvPr/>
        </p:nvSpPr>
        <p:spPr>
          <a:xfrm>
            <a:off x="4443413" y="2221650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Agent Registry: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Track installed agents and versions</a:t>
            </a:r>
            <a:endParaRPr lang="en-US" sz="727" dirty="0"/>
          </a:p>
        </p:txBody>
      </p:sp>
      <p:sp>
        <p:nvSpPr>
          <p:cNvPr id="54" name="Text 51"/>
          <p:cNvSpPr/>
          <p:nvPr/>
        </p:nvSpPr>
        <p:spPr>
          <a:xfrm>
            <a:off x="4443413" y="2338797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Lifecycle Orchestration: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Install, update, uninstall</a:t>
            </a:r>
            <a:endParaRPr lang="en-US" sz="727" dirty="0"/>
          </a:p>
        </p:txBody>
      </p:sp>
      <p:sp>
        <p:nvSpPr>
          <p:cNvPr id="55" name="Text 52"/>
          <p:cNvSpPr/>
          <p:nvPr/>
        </p:nvSpPr>
        <p:spPr>
          <a:xfrm>
            <a:off x="4443413" y="2455943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Dependency Resolution: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Start agents in correct order</a:t>
            </a:r>
            <a:endParaRPr lang="en-US" sz="727" dirty="0"/>
          </a:p>
        </p:txBody>
      </p:sp>
      <p:sp>
        <p:nvSpPr>
          <p:cNvPr id="56" name="Text 53"/>
          <p:cNvSpPr/>
          <p:nvPr/>
        </p:nvSpPr>
        <p:spPr>
          <a:xfrm>
            <a:off x="4443413" y="2573089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Resource Allocation: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Assign ports, memory limits</a:t>
            </a:r>
            <a:endParaRPr lang="en-US" sz="727" dirty="0"/>
          </a:p>
        </p:txBody>
      </p:sp>
      <p:sp>
        <p:nvSpPr>
          <p:cNvPr id="57" name="Text 54"/>
          <p:cNvSpPr/>
          <p:nvPr/>
        </p:nvSpPr>
        <p:spPr>
          <a:xfrm>
            <a:off x="4443413" y="2690236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Package Management: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Download, verify, extract binaries</a:t>
            </a:r>
            <a:endParaRPr lang="en-US" sz="727" dirty="0"/>
          </a:p>
        </p:txBody>
      </p:sp>
      <p:sp>
        <p:nvSpPr>
          <p:cNvPr id="58" name="Shape 55"/>
          <p:cNvSpPr/>
          <p:nvPr/>
        </p:nvSpPr>
        <p:spPr>
          <a:xfrm>
            <a:off x="4429125" y="2821670"/>
            <a:ext cx="4143375" cy="79290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9" name="Text 56"/>
          <p:cNvSpPr/>
          <p:nvPr/>
        </p:nvSpPr>
        <p:spPr>
          <a:xfrm>
            <a:off x="4443413" y="2835957"/>
            <a:ext cx="4114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3. Process Supervisor</a:t>
            </a:r>
            <a:endParaRPr lang="en-US" sz="784" dirty="0"/>
          </a:p>
        </p:txBody>
      </p:sp>
      <p:sp>
        <p:nvSpPr>
          <p:cNvPr id="60" name="Text 57"/>
          <p:cNvSpPr/>
          <p:nvPr/>
        </p:nvSpPr>
        <p:spPr>
          <a:xfrm>
            <a:off x="4443413" y="3021695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Process Spawning: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Fork/exec agents with correct env</a:t>
            </a:r>
            <a:endParaRPr lang="en-US" sz="727" dirty="0"/>
          </a:p>
        </p:txBody>
      </p:sp>
      <p:sp>
        <p:nvSpPr>
          <p:cNvPr id="61" name="Text 58"/>
          <p:cNvSpPr/>
          <p:nvPr/>
        </p:nvSpPr>
        <p:spPr>
          <a:xfrm>
            <a:off x="4443413" y="3138841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PID Tracking: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Monitor process IDs and states</a:t>
            </a:r>
            <a:endParaRPr lang="en-US" sz="727" dirty="0"/>
          </a:p>
        </p:txBody>
      </p:sp>
      <p:sp>
        <p:nvSpPr>
          <p:cNvPr id="62" name="Text 59"/>
          <p:cNvSpPr/>
          <p:nvPr/>
        </p:nvSpPr>
        <p:spPr>
          <a:xfrm>
            <a:off x="4443413" y="3255987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Signal Handling: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SIGTERM, SIGHUP, SIGKILL</a:t>
            </a:r>
            <a:endParaRPr lang="en-US" sz="727" dirty="0"/>
          </a:p>
        </p:txBody>
      </p:sp>
      <p:sp>
        <p:nvSpPr>
          <p:cNvPr id="63" name="Text 60"/>
          <p:cNvSpPr/>
          <p:nvPr/>
        </p:nvSpPr>
        <p:spPr>
          <a:xfrm>
            <a:off x="4443413" y="3373134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Restart Policies: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on-failure, always, never</a:t>
            </a:r>
            <a:endParaRPr lang="en-US" sz="727" dirty="0"/>
          </a:p>
        </p:txBody>
      </p:sp>
      <p:sp>
        <p:nvSpPr>
          <p:cNvPr id="64" name="Text 61"/>
          <p:cNvSpPr/>
          <p:nvPr/>
        </p:nvSpPr>
        <p:spPr>
          <a:xfrm>
            <a:off x="4443413" y="3490280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Resource Limits: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cgroups (Linux), job objects (Windows)</a:t>
            </a:r>
            <a:endParaRPr lang="en-US" sz="727" dirty="0"/>
          </a:p>
        </p:txBody>
      </p:sp>
      <p:sp>
        <p:nvSpPr>
          <p:cNvPr id="65" name="Shape 62"/>
          <p:cNvSpPr/>
          <p:nvPr/>
        </p:nvSpPr>
        <p:spPr>
          <a:xfrm>
            <a:off x="4429125" y="3621714"/>
            <a:ext cx="4143375" cy="79290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6" name="Text 63"/>
          <p:cNvSpPr/>
          <p:nvPr/>
        </p:nvSpPr>
        <p:spPr>
          <a:xfrm>
            <a:off x="4443413" y="3636001"/>
            <a:ext cx="4114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4. Config Distributor</a:t>
            </a:r>
            <a:endParaRPr lang="en-US" sz="784" dirty="0"/>
          </a:p>
        </p:txBody>
      </p:sp>
      <p:sp>
        <p:nvSpPr>
          <p:cNvPr id="67" name="Text 64"/>
          <p:cNvSpPr/>
          <p:nvPr/>
        </p:nvSpPr>
        <p:spPr>
          <a:xfrm>
            <a:off x="4443413" y="3821739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Template Rendering: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Apply environment-specific values</a:t>
            </a:r>
            <a:endParaRPr lang="en-US" sz="727" dirty="0"/>
          </a:p>
        </p:txBody>
      </p:sp>
      <p:sp>
        <p:nvSpPr>
          <p:cNvPr id="68" name="Text 65"/>
          <p:cNvSpPr/>
          <p:nvPr/>
        </p:nvSpPr>
        <p:spPr>
          <a:xfrm>
            <a:off x="4443413" y="3938885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Config Validation: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YAML/JSON schema checks</a:t>
            </a:r>
            <a:endParaRPr lang="en-US" sz="727" dirty="0"/>
          </a:p>
        </p:txBody>
      </p:sp>
      <p:sp>
        <p:nvSpPr>
          <p:cNvPr id="69" name="Text 66"/>
          <p:cNvSpPr/>
          <p:nvPr/>
        </p:nvSpPr>
        <p:spPr>
          <a:xfrm>
            <a:off x="4443413" y="4056031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File Writing: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Atomic writes to agent config paths</a:t>
            </a:r>
            <a:endParaRPr lang="en-US" sz="727" dirty="0"/>
          </a:p>
        </p:txBody>
      </p:sp>
      <p:sp>
        <p:nvSpPr>
          <p:cNvPr id="70" name="Text 67"/>
          <p:cNvSpPr/>
          <p:nvPr/>
        </p:nvSpPr>
        <p:spPr>
          <a:xfrm>
            <a:off x="4443413" y="4173178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Reload Triggering: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Signal agents to reload config</a:t>
            </a:r>
            <a:endParaRPr lang="en-US" sz="727" dirty="0"/>
          </a:p>
        </p:txBody>
      </p:sp>
      <p:sp>
        <p:nvSpPr>
          <p:cNvPr id="71" name="Text 68"/>
          <p:cNvSpPr/>
          <p:nvPr/>
        </p:nvSpPr>
        <p:spPr>
          <a:xfrm>
            <a:off x="4443413" y="4290324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Rollback Support: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Revert to last known good config</a:t>
            </a:r>
            <a:endParaRPr lang="en-US" sz="727" dirty="0"/>
          </a:p>
        </p:txBody>
      </p:sp>
      <p:sp>
        <p:nvSpPr>
          <p:cNvPr id="72" name="Shape 69"/>
          <p:cNvSpPr/>
          <p:nvPr/>
        </p:nvSpPr>
        <p:spPr>
          <a:xfrm>
            <a:off x="4429125" y="4421758"/>
            <a:ext cx="4143375" cy="792900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73" name="Text 70"/>
          <p:cNvSpPr/>
          <p:nvPr/>
        </p:nvSpPr>
        <p:spPr>
          <a:xfrm>
            <a:off x="4443413" y="4436046"/>
            <a:ext cx="4114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5. Health Monitor</a:t>
            </a:r>
            <a:endParaRPr lang="en-US" sz="784" dirty="0"/>
          </a:p>
        </p:txBody>
      </p:sp>
      <p:sp>
        <p:nvSpPr>
          <p:cNvPr id="74" name="Text 71"/>
          <p:cNvSpPr/>
          <p:nvPr/>
        </p:nvSpPr>
        <p:spPr>
          <a:xfrm>
            <a:off x="4443413" y="4621783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Health Polling: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HTTP/gRPC health checks every 30s</a:t>
            </a:r>
            <a:endParaRPr lang="en-US" sz="727" dirty="0"/>
          </a:p>
        </p:txBody>
      </p:sp>
      <p:sp>
        <p:nvSpPr>
          <p:cNvPr id="75" name="Text 72"/>
          <p:cNvSpPr/>
          <p:nvPr/>
        </p:nvSpPr>
        <p:spPr>
          <a:xfrm>
            <a:off x="4443413" y="4738929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Status Aggregation: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Combine multi-agent health</a:t>
            </a:r>
            <a:endParaRPr lang="en-US" sz="727" dirty="0"/>
          </a:p>
        </p:txBody>
      </p:sp>
      <p:sp>
        <p:nvSpPr>
          <p:cNvPr id="76" name="Text 73"/>
          <p:cNvSpPr/>
          <p:nvPr/>
        </p:nvSpPr>
        <p:spPr>
          <a:xfrm>
            <a:off x="4443413" y="4856076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Metrics Collection: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CPU, memory, queue depth</a:t>
            </a:r>
            <a:endParaRPr lang="en-US" sz="727" dirty="0"/>
          </a:p>
        </p:txBody>
      </p:sp>
      <p:sp>
        <p:nvSpPr>
          <p:cNvPr id="77" name="Text 74"/>
          <p:cNvSpPr/>
          <p:nvPr/>
        </p:nvSpPr>
        <p:spPr>
          <a:xfrm>
            <a:off x="4443413" y="4973222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Failure Detection: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Detect crashes, hangs, errors</a:t>
            </a:r>
            <a:endParaRPr lang="en-US" sz="727" dirty="0"/>
          </a:p>
        </p:txBody>
      </p:sp>
      <p:sp>
        <p:nvSpPr>
          <p:cNvPr id="78" name="Text 75"/>
          <p:cNvSpPr/>
          <p:nvPr/>
        </p:nvSpPr>
        <p:spPr>
          <a:xfrm>
            <a:off x="4443413" y="5090368"/>
            <a:ext cx="411480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Reporting: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Send aggregated health to OpAMP</a:t>
            </a:r>
            <a:endParaRPr lang="en-US" sz="727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Agent Integration: OpenTelemetry Collector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INTEGRATION APPROACH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85713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271588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✓ Native OpAMP Support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00075" y="145018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Best Integration: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OTel Collector has built-in OpAMP extension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00075" y="1577318"/>
            <a:ext cx="33718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Direct Communication: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Collector connects to supervisor's local OpAMP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endpoint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00075" y="182444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No Wrapper Needed: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acts as OpAMP proxy only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00075" y="1951583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Version: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extension available in v0.88.0+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571500" y="2114438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Text 9"/>
          <p:cNvSpPr/>
          <p:nvPr/>
        </p:nvSpPr>
        <p:spPr>
          <a:xfrm>
            <a:off x="600075" y="2143013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Configuration Management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00075" y="232160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Config Source: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server → Supervisor → OTel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00075" y="244874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Config Path: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/etc/otelcol/config.yaml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00075" y="257588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Reload Method: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SIGHUP or OpAMP reload command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00075" y="2703016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Validation: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OTel validates config before applying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2865872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8" name="Text 15"/>
          <p:cNvSpPr/>
          <p:nvPr/>
        </p:nvSpPr>
        <p:spPr>
          <a:xfrm>
            <a:off x="600075" y="2894447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Health &amp; Monitoring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00075" y="307304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Health Endpoint: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http://localhost:13133/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00075" y="320017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Metrics Endpoint: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http://localhost:8888/metrics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600075" y="3327313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Component Status: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Per-pipeline health reporting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00075" y="345445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OpAMP Reporting: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Health sent via OpAMP protocol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71500" y="3617305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4" name="Text 21"/>
          <p:cNvSpPr/>
          <p:nvPr/>
        </p:nvSpPr>
        <p:spPr>
          <a:xfrm>
            <a:off x="600075" y="3645880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Package Distribution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00075" y="382447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Binary Location: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/opt/otelcol/&lt;version&gt;/otelcol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00075" y="395161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Symlink: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/usr/bin/otelcol → current version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600075" y="4078746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Update Process: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Download → verify → install → restart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00075" y="4205883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Rollback: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Switch symlink to previous version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571500" y="4368738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0" name="Text 27"/>
          <p:cNvSpPr/>
          <p:nvPr/>
        </p:nvSpPr>
        <p:spPr>
          <a:xfrm>
            <a:off x="600075" y="4397313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Resource Requirements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00075" y="457590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CPU: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0.5-2 cores (depends on throughput)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600075" y="4703043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Memory: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128-512 MB (depends on batch size)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600075" y="483018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Ports: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4317 (gRPC), 4318 (HTTP), 13133 (health)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600075" y="4957316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Disk: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~50 MB binary + logs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CONFIGURATION EXAMPLES</a:t>
            </a:r>
            <a:endParaRPr lang="en-US" sz="987" dirty="0"/>
          </a:p>
        </p:txBody>
      </p:sp>
      <p:sp>
        <p:nvSpPr>
          <p:cNvPr id="36" name="Shape 33"/>
          <p:cNvSpPr/>
          <p:nvPr/>
        </p:nvSpPr>
        <p:spPr>
          <a:xfrm>
            <a:off x="4143375" y="1243013"/>
            <a:ext cx="4429125" cy="52576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7" name="Text 34"/>
          <p:cNvSpPr/>
          <p:nvPr/>
        </p:nvSpPr>
        <p:spPr>
          <a:xfrm>
            <a:off x="4171950" y="1271588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Supervisor Agent Configuration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4171950" y="1428750"/>
            <a:ext cx="4371975" cy="31145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6"/>
          <p:cNvSpPr/>
          <p:nvPr/>
        </p:nvSpPr>
        <p:spPr>
          <a:xfrm>
            <a:off x="4171950" y="1428750"/>
            <a:ext cx="4371975" cy="311451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agents: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name: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otelcol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opamp-native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Native OpAMP support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binary: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/usr/bin/otelcol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args: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--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config=/etc/otelcol/config.yaml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config_path: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/etc/otelcol/config.yaml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health_check: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http://localhost:13133/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interval: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30s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restart_policy: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on-failure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resource_limits: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cpu: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2000m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2 cores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memory: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512Mi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4143375" y="1783063"/>
            <a:ext cx="4429125" cy="80863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1" name="Text 38"/>
          <p:cNvSpPr/>
          <p:nvPr/>
        </p:nvSpPr>
        <p:spPr>
          <a:xfrm>
            <a:off x="4171950" y="1811638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OTel Collector Configuration (with OpAMP)</a:t>
            </a:r>
            <a:endParaRPr lang="en-US" sz="683" dirty="0"/>
          </a:p>
        </p:txBody>
      </p:sp>
      <p:sp>
        <p:nvSpPr>
          <p:cNvPr id="42" name="Shape 39"/>
          <p:cNvSpPr/>
          <p:nvPr/>
        </p:nvSpPr>
        <p:spPr>
          <a:xfrm>
            <a:off x="4171950" y="1968801"/>
            <a:ext cx="4371975" cy="594327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Text 40"/>
          <p:cNvSpPr/>
          <p:nvPr/>
        </p:nvSpPr>
        <p:spPr>
          <a:xfrm>
            <a:off x="4171950" y="1968801"/>
            <a:ext cx="4371975" cy="594327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extensions: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health_check: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0.0.0.0:13133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opamp: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server: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ws: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ws://localhost:4321/v1/opamp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Supervisor local endpoint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instance_uid: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01HQXYZ789ABCDEF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capabilities: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7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ReportsStatus | AcceptsRemoteConfig |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ReportsHealth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receivers: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otlp: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protocols: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grpc: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0.0.0.0:4317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http: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0.0.0.0:4318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processors: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batch: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timeout: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10s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send_batch_size: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1024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memory_limiter: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check_interval: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limit_mib: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512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exporters: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otlp: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backend.company.com:4317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tls: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insecure: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6B6B"/>
                </a:solidFill>
              </a:rPr>
              <a:t>false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service: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extensions: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health_check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opamp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pipelines: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traces: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receivers: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otlp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processors: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memory_limiter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batch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exporters: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otlp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</a:t>
            </a:r>
            <a:endParaRPr lang="en-US" sz="568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Agent Integration: OSQuery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INTEGRATION APPROACH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271588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⚠ Wrapper Required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00075" y="145018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No Native OpAMP: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OSQuery doesn't support OpAMP protocol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00075" y="1577318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Wrapper Function: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translates OpAMP → flagfile config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00075" y="170445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Process Management: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spawns osqueryd process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00075" y="183159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Health Monitoring: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process status + query results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571500" y="1994446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Text 9"/>
          <p:cNvSpPr/>
          <p:nvPr/>
        </p:nvSpPr>
        <p:spPr>
          <a:xfrm>
            <a:off x="600075" y="2023021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Configuration Management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00075" y="220161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Config Source: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server → Supervisor wrapper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00075" y="232875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Flagfile Path: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/etc/osquery/osquery.flags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00075" y="245588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Query Packs: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/etc/osquery/packs/*.conf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00075" y="258302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Reload Method: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Restart osqueryd process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2745879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8" name="Text 15"/>
          <p:cNvSpPr/>
          <p:nvPr/>
        </p:nvSpPr>
        <p:spPr>
          <a:xfrm>
            <a:off x="600075" y="2774454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Data Collection &amp; Export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00075" y="2953048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Query Results: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Written to results log (JSON)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00075" y="308018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Log Location: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/var/log/osquery/osqueryd.results.log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600075" y="320732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Forwarding: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OTel Collector filelog receiver reads logs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00075" y="333445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Destination: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OTel exports to backend as logs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71500" y="3497312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4" name="Text 21"/>
          <p:cNvSpPr/>
          <p:nvPr/>
        </p:nvSpPr>
        <p:spPr>
          <a:xfrm>
            <a:off x="600075" y="3525887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Health &amp; Monitoring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00075" y="370448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Process Check: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Verify osqueryd PID is running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00075" y="383161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Query Execution: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Test query via osqueryi CLI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600075" y="395875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Log Monitoring: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for errors in status log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00075" y="408589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Reporting: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reports health to OpAMP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571500" y="4248745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0" name="Text 27"/>
          <p:cNvSpPr/>
          <p:nvPr/>
        </p:nvSpPr>
        <p:spPr>
          <a:xfrm>
            <a:off x="600075" y="4277320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Package Distribution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00075" y="445591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Binary Location: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/opt/osquery/&lt;version&gt;/osqueryd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600075" y="458305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Symlink: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/usr/bin/osqueryd → current version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600075" y="471018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Update Process: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Download → verify → install → restart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600075" y="4837323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Rollback: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Switch symlink to previous version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CONFIGURATION EXAMPLES</a:t>
            </a:r>
            <a:endParaRPr lang="en-US" sz="987" dirty="0"/>
          </a:p>
        </p:txBody>
      </p:sp>
      <p:sp>
        <p:nvSpPr>
          <p:cNvPr id="36" name="Shape 33"/>
          <p:cNvSpPr/>
          <p:nvPr/>
        </p:nvSpPr>
        <p:spPr>
          <a:xfrm>
            <a:off x="4143375" y="1243013"/>
            <a:ext cx="4429125" cy="62005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7" name="Text 34"/>
          <p:cNvSpPr/>
          <p:nvPr/>
        </p:nvSpPr>
        <p:spPr>
          <a:xfrm>
            <a:off x="4171950" y="1271588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Supervisor Wrapper Configuration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4171950" y="1428750"/>
            <a:ext cx="4371975" cy="40574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6"/>
          <p:cNvSpPr/>
          <p:nvPr/>
        </p:nvSpPr>
        <p:spPr>
          <a:xfrm>
            <a:off x="4171950" y="1428750"/>
            <a:ext cx="4371975" cy="405743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agents: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name: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osquery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wrapper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Wrapper required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binary: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/usr/bin/osqueryd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args: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--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flagfile=/etc/osquery/osquery.flags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--config_path=/etc/osquery/osquery.conf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config_path: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/etc/osquery/osquery.flags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health_check: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process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Check if process is running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interval: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30s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restart_policy: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on-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failure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resource_limits: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cpu: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500m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memory: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150Mi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4143375" y="1877355"/>
            <a:ext cx="4429125" cy="43147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1" name="Text 38"/>
          <p:cNvSpPr/>
          <p:nvPr/>
        </p:nvSpPr>
        <p:spPr>
          <a:xfrm>
            <a:off x="4171950" y="1905930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OSQuery Flagfile (/etc/osquery/osquery.flags)</a:t>
            </a:r>
            <a:endParaRPr lang="en-US" sz="683" dirty="0"/>
          </a:p>
        </p:txBody>
      </p:sp>
      <p:sp>
        <p:nvSpPr>
          <p:cNvPr id="42" name="Shape 39"/>
          <p:cNvSpPr/>
          <p:nvPr/>
        </p:nvSpPr>
        <p:spPr>
          <a:xfrm>
            <a:off x="4171950" y="2063093"/>
            <a:ext cx="4371975" cy="217159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Text 40"/>
          <p:cNvSpPr/>
          <p:nvPr/>
        </p:nvSpPr>
        <p:spPr>
          <a:xfrm>
            <a:off x="4171950" y="2063093"/>
            <a:ext cx="4371975" cy="217159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--logger_path=/var/log/osquery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--logger_plugin=filesystem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--database_path=/var/osquery/osquery.db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--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pidfile=/var/run/osquery.pid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--host_identifier=hostname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--schedule_splay_percent=10</a:t>
            </a:r>
            <a:endParaRPr lang="en-US" sz="568" dirty="0"/>
          </a:p>
        </p:txBody>
      </p:sp>
      <p:sp>
        <p:nvSpPr>
          <p:cNvPr id="44" name="Shape 41"/>
          <p:cNvSpPr/>
          <p:nvPr/>
        </p:nvSpPr>
        <p:spPr>
          <a:xfrm>
            <a:off x="4143375" y="2323114"/>
            <a:ext cx="4429125" cy="52576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5" name="Text 42"/>
          <p:cNvSpPr/>
          <p:nvPr/>
        </p:nvSpPr>
        <p:spPr>
          <a:xfrm>
            <a:off x="4171950" y="2351689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OSQuery Configuration (/etc/osquery/osquery.conf)</a:t>
            </a:r>
            <a:endParaRPr lang="en-US" sz="683" dirty="0"/>
          </a:p>
        </p:txBody>
      </p:sp>
      <p:sp>
        <p:nvSpPr>
          <p:cNvPr id="46" name="Shape 43"/>
          <p:cNvSpPr/>
          <p:nvPr/>
        </p:nvSpPr>
        <p:spPr>
          <a:xfrm>
            <a:off x="4171950" y="2508852"/>
            <a:ext cx="4371975" cy="31145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Text 44"/>
          <p:cNvSpPr/>
          <p:nvPr/>
        </p:nvSpPr>
        <p:spPr>
          <a:xfrm>
            <a:off x="4171950" y="2508852"/>
            <a:ext cx="4371975" cy="311451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"schedule"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"system_info"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"query"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"SELECT * FROM system_info;"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"interval"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3600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"running_processes"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"query"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"SELECT name, pid, path FROM processes;"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"interval"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300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"listening_ports"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"query"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"SELECT * FROM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listening_ports;"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"interval"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600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},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"packs"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{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D93D"/>
                </a:solidFill>
              </a:rPr>
              <a:t>"security"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"/etc/osquery/packs/security.conf"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} }</a:t>
            </a:r>
            <a:endParaRPr lang="en-US" sz="568" dirty="0"/>
          </a:p>
        </p:txBody>
      </p:sp>
      <p:sp>
        <p:nvSpPr>
          <p:cNvPr id="48" name="Shape 45"/>
          <p:cNvSpPr/>
          <p:nvPr/>
        </p:nvSpPr>
        <p:spPr>
          <a:xfrm>
            <a:off x="4143375" y="2863165"/>
            <a:ext cx="4429125" cy="525763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9" name="Text 46"/>
          <p:cNvSpPr/>
          <p:nvPr/>
        </p:nvSpPr>
        <p:spPr>
          <a:xfrm>
            <a:off x="4171950" y="2891740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D93D"/>
                </a:solidFill>
              </a:rPr>
              <a:t>OTel Collector Integration (Filelog Receiver)</a:t>
            </a:r>
            <a:endParaRPr lang="en-US" sz="683" dirty="0"/>
          </a:p>
        </p:txBody>
      </p:sp>
      <p:sp>
        <p:nvSpPr>
          <p:cNvPr id="50" name="Shape 47"/>
          <p:cNvSpPr/>
          <p:nvPr/>
        </p:nvSpPr>
        <p:spPr>
          <a:xfrm>
            <a:off x="4171950" y="3048902"/>
            <a:ext cx="4371975" cy="311451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Text 48"/>
          <p:cNvSpPr/>
          <p:nvPr/>
        </p:nvSpPr>
        <p:spPr>
          <a:xfrm>
            <a:off x="4171950" y="3048902"/>
            <a:ext cx="4371975" cy="311451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receivers: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filelog: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include: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/var/log/osquery/osqueryd.results.log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operators: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json_parser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timestamp: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parse_from: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attributes.unixTime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layout: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epoch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service: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pipelines: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logs: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receivers: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filelog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processors: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batch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exporters: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otlp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</a:t>
            </a:r>
            <a:endParaRPr lang="en-US" sz="568" dirty="0"/>
          </a:p>
        </p:txBody>
      </p:sp>
      <p:sp>
        <p:nvSpPr>
          <p:cNvPr id="52" name="Shape 49"/>
          <p:cNvSpPr/>
          <p:nvPr/>
        </p:nvSpPr>
        <p:spPr>
          <a:xfrm>
            <a:off x="4143375" y="3403216"/>
            <a:ext cx="4429125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3" name="Text 50"/>
          <p:cNvSpPr/>
          <p:nvPr/>
        </p:nvSpPr>
        <p:spPr>
          <a:xfrm>
            <a:off x="4171950" y="3431791"/>
            <a:ext cx="4371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Resource Requirements</a:t>
            </a:r>
            <a:endParaRPr lang="en-US" sz="784" dirty="0"/>
          </a:p>
        </p:txBody>
      </p:sp>
      <p:sp>
        <p:nvSpPr>
          <p:cNvPr id="54" name="Text 51"/>
          <p:cNvSpPr/>
          <p:nvPr/>
        </p:nvSpPr>
        <p:spPr>
          <a:xfrm>
            <a:off x="4171950" y="3610384"/>
            <a:ext cx="43719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CPU: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0.1-0.5 cores (depends on query frequency)</a:t>
            </a:r>
            <a:endParaRPr lang="en-US" sz="727" dirty="0"/>
          </a:p>
        </p:txBody>
      </p:sp>
      <p:sp>
        <p:nvSpPr>
          <p:cNvPr id="55" name="Text 52"/>
          <p:cNvSpPr/>
          <p:nvPr/>
        </p:nvSpPr>
        <p:spPr>
          <a:xfrm>
            <a:off x="4171950" y="3737521"/>
            <a:ext cx="43719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Memory: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50-150 MB</a:t>
            </a:r>
            <a:endParaRPr lang="en-US" sz="727" dirty="0"/>
          </a:p>
        </p:txBody>
      </p:sp>
      <p:sp>
        <p:nvSpPr>
          <p:cNvPr id="56" name="Text 53"/>
          <p:cNvSpPr/>
          <p:nvPr/>
        </p:nvSpPr>
        <p:spPr>
          <a:xfrm>
            <a:off x="4171950" y="3864657"/>
            <a:ext cx="43719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Ports: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None (local file-based communication)</a:t>
            </a:r>
            <a:endParaRPr lang="en-US" sz="727" dirty="0"/>
          </a:p>
        </p:txBody>
      </p:sp>
      <p:sp>
        <p:nvSpPr>
          <p:cNvPr id="57" name="Text 54"/>
          <p:cNvSpPr/>
          <p:nvPr/>
        </p:nvSpPr>
        <p:spPr>
          <a:xfrm>
            <a:off x="4171950" y="3991794"/>
            <a:ext cx="43719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Disk: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~30 MB binary + logs</a:t>
            </a:r>
            <a:endParaRPr lang="en-US" sz="727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Agent Integration: Sysmon (Windows)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INTEGRATION APPROACH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43013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1271588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⚠ Wrapper Required (Windows Only)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00075" y="145018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No Native OpAMP: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Sysmon doesn't support OpAMP protocol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00075" y="1577318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Wrapper Function: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manages Sysmon driver &amp; config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600075" y="170445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Driver Management: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Install, update, uninstall Sysmon driver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00075" y="183159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Event Collection: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OTel Collector reads Windows Event Log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571500" y="1994446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Text 9"/>
          <p:cNvSpPr/>
          <p:nvPr/>
        </p:nvSpPr>
        <p:spPr>
          <a:xfrm>
            <a:off x="600075" y="2023021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Configuration Management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00075" y="220161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Config Source: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OpAMP server → Supervisor wrapper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00075" y="232875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Config Path: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C:\ProgramData\Sysmon\sysmon-config.xml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00075" y="245588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Update Command: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sysmon64.exe -c &lt;config.xml&gt;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00075" y="258302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Reload Method: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Sysmon reloads config without restart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2745879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8" name="Text 15"/>
          <p:cNvSpPr/>
          <p:nvPr/>
        </p:nvSpPr>
        <p:spPr>
          <a:xfrm>
            <a:off x="600075" y="2774454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Installation &amp; Driver Management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00075" y="2953048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Install: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sysmon64.exe -accepteula -i &lt;config.xml&gt;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00075" y="308018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Update: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sysmon64.exe -c &lt;new-config.xml&gt;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600075" y="320732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Uninstall: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sysmon64.exe -u force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00075" y="333445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Driver Status: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via sc query sysmon64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71500" y="3497312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4" name="Text 21"/>
          <p:cNvSpPr/>
          <p:nvPr/>
        </p:nvSpPr>
        <p:spPr>
          <a:xfrm>
            <a:off x="600075" y="3525887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Data Collection &amp; Export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00075" y="3704481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Event Log: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Microsoft-Windows-Sysmon/Operational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00075" y="383161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Event IDs: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1-29 (process, network, file, registry, etc.)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600075" y="395875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Collection: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OTel windowseventlog receiver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600075" y="408589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Destination: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OTel exports to backend as logs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571500" y="4248745"/>
            <a:ext cx="3429000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0" name="Text 27"/>
          <p:cNvSpPr/>
          <p:nvPr/>
        </p:nvSpPr>
        <p:spPr>
          <a:xfrm>
            <a:off x="600075" y="4277320"/>
            <a:ext cx="3371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Health &amp; Monitoring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00075" y="4455914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Driver Status: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Sysmon64 service is running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600075" y="4583050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Event Rate: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Monitor event log write rate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600075" y="4710187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Config Validation: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Verify XML schema before applying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600075" y="4837323"/>
            <a:ext cx="33718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Reporting: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 reports health to OpAMP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CONFIGURATION EXAMPLES</a:t>
            </a:r>
            <a:endParaRPr lang="en-US" sz="987" dirty="0"/>
          </a:p>
        </p:txBody>
      </p:sp>
      <p:sp>
        <p:nvSpPr>
          <p:cNvPr id="36" name="Shape 33"/>
          <p:cNvSpPr/>
          <p:nvPr/>
        </p:nvSpPr>
        <p:spPr>
          <a:xfrm>
            <a:off x="4143375" y="1243013"/>
            <a:ext cx="4429125" cy="62005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7" name="Text 34"/>
          <p:cNvSpPr/>
          <p:nvPr/>
        </p:nvSpPr>
        <p:spPr>
          <a:xfrm>
            <a:off x="4171950" y="1271588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Supervisor Wrapper Configuration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4171950" y="1428750"/>
            <a:ext cx="4371975" cy="405743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6"/>
          <p:cNvSpPr/>
          <p:nvPr/>
        </p:nvSpPr>
        <p:spPr>
          <a:xfrm>
            <a:off x="4171950" y="1428750"/>
            <a:ext cx="4371975" cy="405743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agents: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name: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sysmon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wrapper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Wrapper required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platform: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windows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Windows only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binary: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C:\Program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Files\Sysmon\sysmon64.exe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install_args: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-accepteula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-i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C:\ProgramData\Sysmon\sysmon-config.xml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config_path: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C:\ProgramData\Sysmon\sysmon-config.xml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health_check: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service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# Check Windows service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service_name: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Sysmon64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interval: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30s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restart_policy: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on-failure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4143375" y="1877355"/>
            <a:ext cx="4429125" cy="902931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1" name="Text 38"/>
          <p:cNvSpPr/>
          <p:nvPr/>
        </p:nvSpPr>
        <p:spPr>
          <a:xfrm>
            <a:off x="4171950" y="1905930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4FF"/>
                </a:solidFill>
              </a:rPr>
              <a:t>Sysmon Configuration (sysmon-config.xml)</a:t>
            </a:r>
            <a:endParaRPr lang="en-US" sz="683" dirty="0"/>
          </a:p>
        </p:txBody>
      </p:sp>
      <p:sp>
        <p:nvSpPr>
          <p:cNvPr id="42" name="Shape 39"/>
          <p:cNvSpPr/>
          <p:nvPr/>
        </p:nvSpPr>
        <p:spPr>
          <a:xfrm>
            <a:off x="4171950" y="2063093"/>
            <a:ext cx="4371975" cy="68861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Text 40"/>
          <p:cNvSpPr/>
          <p:nvPr/>
        </p:nvSpPr>
        <p:spPr>
          <a:xfrm>
            <a:off x="4171950" y="2063093"/>
            <a:ext cx="4371975" cy="688618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&lt;Sysmon schemaversion="4.90"&gt;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&lt;EventFiltering&gt;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&lt;!-- Event ID 1: Process Create --&gt;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&lt;ProcessCreate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onmatch="include"&gt;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&lt;Image condition="contains"&gt;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powershell.exe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&lt;/Image&gt;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&lt;Image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condition="contains"&gt;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cmd.exe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&lt;/Image&gt;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&lt;/ProcessCreate&gt;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&lt;!-- Event ID 3: Network Connection --&gt;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&lt;NetworkConnect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onmatch="include"&gt;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&lt;DestinationPort condition="is"&gt;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443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&lt;/DestinationPort&gt;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&lt;DestinationPort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condition="is"&gt;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80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&lt;/DestinationPort&gt;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&lt;/NetworkConnect&gt;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&lt;!-- Event ID 11: File Create --&gt;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&lt;FileCreate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onmatch="include"&gt;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&lt;TargetFilename condition="contains"&gt;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\Temp\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&lt;/TargetFilename&gt;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&lt;/FileCreate&gt;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&lt;/EventFiltering&gt;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0AEC0"/>
                </a:solidFill>
              </a:rPr>
              <a:t>&lt;/Sysmon&gt;</a:t>
            </a:r>
            <a:endParaRPr lang="en-US" sz="568" dirty="0"/>
          </a:p>
        </p:txBody>
      </p:sp>
      <p:sp>
        <p:nvSpPr>
          <p:cNvPr id="44" name="Shape 41"/>
          <p:cNvSpPr/>
          <p:nvPr/>
        </p:nvSpPr>
        <p:spPr>
          <a:xfrm>
            <a:off x="4143375" y="2794574"/>
            <a:ext cx="4429125" cy="714347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5" name="Text 42"/>
          <p:cNvSpPr/>
          <p:nvPr/>
        </p:nvSpPr>
        <p:spPr>
          <a:xfrm>
            <a:off x="4171950" y="2823149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A78BFA"/>
                </a:solidFill>
              </a:rPr>
              <a:t>OTel Collector Integration (Windows Event Log Receiver)</a:t>
            </a:r>
            <a:endParaRPr lang="en-US" sz="683" dirty="0"/>
          </a:p>
        </p:txBody>
      </p:sp>
      <p:sp>
        <p:nvSpPr>
          <p:cNvPr id="46" name="Shape 43"/>
          <p:cNvSpPr/>
          <p:nvPr/>
        </p:nvSpPr>
        <p:spPr>
          <a:xfrm>
            <a:off x="4171950" y="2980311"/>
            <a:ext cx="4371975" cy="500035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Text 44"/>
          <p:cNvSpPr/>
          <p:nvPr/>
        </p:nvSpPr>
        <p:spPr>
          <a:xfrm>
            <a:off x="4171950" y="2980311"/>
            <a:ext cx="4371975" cy="500035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receivers: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windowseventlog: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channel: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Microsoft-Windows-Sysmon/Operational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max_reads: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100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poll_interval: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operators: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move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from: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attributes["Event.System.EventID"]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to: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attributes["sysmon.event_id"]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move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from: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attributes["Event.EventData.Image"]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to: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attributes["process.executable.path"]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processors: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batch: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timeout: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10s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send_batch_size: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A78BFA"/>
                </a:solidFill>
              </a:rPr>
              <a:t>512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exporters: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otlp: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backend.company.com:4317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service: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pipelines: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logs: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receivers: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windowseventlog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processors: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batch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ADE80"/>
                </a:solidFill>
              </a:rPr>
              <a:t>exporters: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D4FF"/>
                </a:solidFill>
              </a:rPr>
              <a:t>otlp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]</a:t>
            </a:r>
            <a:endParaRPr lang="en-US" sz="568" dirty="0"/>
          </a:p>
        </p:txBody>
      </p:sp>
      <p:sp>
        <p:nvSpPr>
          <p:cNvPr id="48" name="Shape 45"/>
          <p:cNvSpPr/>
          <p:nvPr/>
        </p:nvSpPr>
        <p:spPr>
          <a:xfrm>
            <a:off x="4143375" y="3523208"/>
            <a:ext cx="4429125" cy="737146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9" name="Text 46"/>
          <p:cNvSpPr/>
          <p:nvPr/>
        </p:nvSpPr>
        <p:spPr>
          <a:xfrm>
            <a:off x="4171950" y="3551783"/>
            <a:ext cx="4371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Resource Requirements</a:t>
            </a:r>
            <a:endParaRPr lang="en-US" sz="784" dirty="0"/>
          </a:p>
        </p:txBody>
      </p:sp>
      <p:sp>
        <p:nvSpPr>
          <p:cNvPr id="50" name="Text 47"/>
          <p:cNvSpPr/>
          <p:nvPr/>
        </p:nvSpPr>
        <p:spPr>
          <a:xfrm>
            <a:off x="4171950" y="3730377"/>
            <a:ext cx="43719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CPU: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0.1-0.3 cores (kernel driver overhead)</a:t>
            </a:r>
            <a:endParaRPr lang="en-US" sz="727" dirty="0"/>
          </a:p>
        </p:txBody>
      </p:sp>
      <p:sp>
        <p:nvSpPr>
          <p:cNvPr id="51" name="Text 48"/>
          <p:cNvSpPr/>
          <p:nvPr/>
        </p:nvSpPr>
        <p:spPr>
          <a:xfrm>
            <a:off x="4171950" y="3857513"/>
            <a:ext cx="43719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Memory: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20-50 MB (driver + event buffer)</a:t>
            </a:r>
            <a:endParaRPr lang="en-US" sz="727" dirty="0"/>
          </a:p>
        </p:txBody>
      </p:sp>
      <p:sp>
        <p:nvSpPr>
          <p:cNvPr id="52" name="Text 49"/>
          <p:cNvSpPr/>
          <p:nvPr/>
        </p:nvSpPr>
        <p:spPr>
          <a:xfrm>
            <a:off x="4171950" y="3984650"/>
            <a:ext cx="43719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Disk: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~2 MB binary + event log storage</a:t>
            </a:r>
            <a:endParaRPr lang="en-US" sz="727" dirty="0"/>
          </a:p>
        </p:txBody>
      </p:sp>
      <p:sp>
        <p:nvSpPr>
          <p:cNvPr id="53" name="Text 50"/>
          <p:cNvSpPr/>
          <p:nvPr/>
        </p:nvSpPr>
        <p:spPr>
          <a:xfrm>
            <a:off x="4171950" y="4111786"/>
            <a:ext cx="43719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Privileges: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Administrator/SYSTEM required</a:t>
            </a:r>
            <a:endParaRPr lang="en-US" sz="727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Multi-Agent Coordination Example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COORDINATION FLOW (Windows Endpoint)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28725"/>
            <a:ext cx="3429000" cy="62005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585788" y="1243013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Step 1: Supervisor Startup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85788" y="1414463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service starts on boot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85788" y="1519470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Connects to OpAMP server (mTLS)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85788" y="1624478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Receives agent configurations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85788" y="1729485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Validates dependencies and resources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571500" y="1855924"/>
            <a:ext cx="3429000" cy="62005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Text 9"/>
          <p:cNvSpPr/>
          <p:nvPr/>
        </p:nvSpPr>
        <p:spPr>
          <a:xfrm>
            <a:off x="585788" y="1870211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Step 2: Sysmon Installation (First)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85788" y="2041661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installs Sysmon driver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85788" y="2146669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Applies XML configuration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85788" y="2251677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Sysmon starts logging to Event Log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85788" y="2356684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No dependencies on other agents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2483123"/>
            <a:ext cx="3429000" cy="62005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8" name="Text 15"/>
          <p:cNvSpPr/>
          <p:nvPr/>
        </p:nvSpPr>
        <p:spPr>
          <a:xfrm>
            <a:off x="585788" y="2497410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Step 3: OTel Collector Startup (Second)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85788" y="2668860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starts OTel Collector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85788" y="2773868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OTel connects to supervisor's OpAMP endpoint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585788" y="2878875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Configures receivers: OTLP, filelog, windowseventlog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585788" y="2983883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Starts collecting Sysmon events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71500" y="3110322"/>
            <a:ext cx="3429000" cy="62005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4" name="Text 21"/>
          <p:cNvSpPr/>
          <p:nvPr/>
        </p:nvSpPr>
        <p:spPr>
          <a:xfrm>
            <a:off x="585788" y="3124609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Step 4: OSQuery Startup (Third)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585788" y="3296059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starts OSQuery daemon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585788" y="3401067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OSQuery executes scheduled queries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585788" y="3506074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Writes results to log file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585788" y="3611082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OTel Collector reads and forwards logs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571500" y="3737521"/>
            <a:ext cx="3429000" cy="62005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0" name="Text 27"/>
          <p:cNvSpPr/>
          <p:nvPr/>
        </p:nvSpPr>
        <p:spPr>
          <a:xfrm>
            <a:off x="585788" y="3751808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Step 5: Data Flow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585788" y="3923258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Sysmon → Windows Event Log → OTel → Backend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585788" y="4028266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OSQuery → Results Log → OTel → Backend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585788" y="4133273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App Traces → OTel OTLP → Backend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585788" y="4238281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All telemetry unified in single pipeline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571500" y="4364720"/>
            <a:ext cx="3429000" cy="62005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6" name="Text 33"/>
          <p:cNvSpPr/>
          <p:nvPr/>
        </p:nvSpPr>
        <p:spPr>
          <a:xfrm>
            <a:off x="585788" y="4379007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Step 6: Health Monitoring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585788" y="4550457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Supervisor polls all agents every 30s</a:t>
            </a:r>
            <a:endParaRPr lang="en-US" sz="727" dirty="0"/>
          </a:p>
        </p:txBody>
      </p:sp>
      <p:sp>
        <p:nvSpPr>
          <p:cNvPr id="38" name="Text 35"/>
          <p:cNvSpPr/>
          <p:nvPr/>
        </p:nvSpPr>
        <p:spPr>
          <a:xfrm>
            <a:off x="585788" y="4655465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Aggregates health status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585788" y="4760472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Reports to OpAMP server every 60s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585788" y="4865480"/>
            <a:ext cx="3400425" cy="105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• Auto-restart on failure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4143375" y="1000125"/>
            <a:ext cx="4429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COMPLETE SUPERVISOR CONFIGURATION</a:t>
            </a:r>
            <a:endParaRPr lang="en-US" sz="987" dirty="0"/>
          </a:p>
        </p:txBody>
      </p:sp>
      <p:sp>
        <p:nvSpPr>
          <p:cNvPr id="42" name="Shape 39"/>
          <p:cNvSpPr/>
          <p:nvPr/>
        </p:nvSpPr>
        <p:spPr>
          <a:xfrm>
            <a:off x="4143375" y="1243013"/>
            <a:ext cx="4429125" cy="1271588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3" name="Text 40"/>
          <p:cNvSpPr/>
          <p:nvPr/>
        </p:nvSpPr>
        <p:spPr>
          <a:xfrm>
            <a:off x="4171950" y="1271588"/>
            <a:ext cx="43719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ADE80"/>
                </a:solidFill>
              </a:rPr>
              <a:t>supervisor.yaml (Managing All 3 Agents)</a:t>
            </a:r>
            <a:endParaRPr lang="en-US" sz="683" dirty="0"/>
          </a:p>
        </p:txBody>
      </p:sp>
      <p:sp>
        <p:nvSpPr>
          <p:cNvPr id="44" name="Shape 41"/>
          <p:cNvSpPr/>
          <p:nvPr/>
        </p:nvSpPr>
        <p:spPr>
          <a:xfrm>
            <a:off x="4171950" y="1428750"/>
            <a:ext cx="4371975" cy="1057275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42"/>
          <p:cNvSpPr/>
          <p:nvPr/>
        </p:nvSpPr>
        <p:spPr>
          <a:xfrm>
            <a:off x="4171950" y="1428750"/>
            <a:ext cx="4371975" cy="1057275"/>
          </a:xfrm>
          <a:prstGeom prst="rect">
            <a:avLst/>
          </a:prstGeom>
          <a:noFill/>
          <a:ln/>
        </p:spPr>
        <p:txBody>
          <a:bodyPr wrap="square" lIns="17018" tIns="17018" rIns="17018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opamp: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wss://opamp.company.com:4320/v1/opamp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tls: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cert_file: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C:\ProgramData\supervisor\client.crt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key_file: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C:\ProgramData\supervisor\client.key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agents: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0AEC0"/>
                </a:solidFill>
              </a:rPr>
              <a:t># Agent 1: Sysmon (starts first, no dependencies)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name: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sysmon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wrapper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platform: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windows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binary: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 Files\Sysmon\sysmon64.exe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install_args: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-accepteula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-i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C:\ProgramData\Sysmon\sysmon-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config.xml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config_path: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C:\ProgramData\Sysmon\sysmon-config.xml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health_check: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service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service_name: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Sysmon64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interval: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30s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restart_policy: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on-failure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startup_order: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1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0AEC0"/>
                </a:solidFill>
              </a:rPr>
              <a:t># Agent 2: OpenTelemetry Collector (starts second, depends on Sysmon)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name: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otelcol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opamp-native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binary: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 Files\otelcol\otelcol.exe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args: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--config=C:\ProgramData\otelcol\config.yaml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config_path: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C:\ProgramData\otelcol\config.yaml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health_check: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endpoint: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http://localhost:13133/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interval: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30s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restart_policy: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on-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failure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resource_limits: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cpu: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2000m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memory: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512Mi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ports: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4317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4318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,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13133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startup_order: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2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depends_on: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sysmon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0AEC0"/>
                </a:solidFill>
              </a:rPr>
              <a:t># Agent 3: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0AEC0"/>
                </a:solidFill>
              </a:rPr>
              <a:t>OSQuery (starts third, depends on OTel)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-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name: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osquery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wrapper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binary: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 Files\osquery\osqueryd\osqueryd.exe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args: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--flagfile=C:\ProgramData\osquery\osquery.flags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config_path: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C:\ProgramData\osquery\osquery.flags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health_check: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type: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process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interval: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30s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restart_policy: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on-failure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resource_limits: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cpu: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500m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memory: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150Mi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startup_order: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3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depends_on: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 [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D4FF"/>
                </a:solidFill>
              </a:rPr>
              <a:t>otelcol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] 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resource_limits: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total_cpu: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3000m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0AEC0"/>
                </a:solidFill>
              </a:rPr>
              <a:t># 3 cores total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DE80"/>
                </a:solidFill>
              </a:rPr>
              <a:t>total_memory: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78BFA"/>
                </a:solidFill>
              </a:rPr>
              <a:t>712Mi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A0AEC0"/>
                </a:solidFill>
              </a:rPr>
              <a:t># 712 MB total</a:t>
            </a:r>
            <a:endParaRPr lang="en-US" sz="516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929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Implementation Considerations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000125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D93D"/>
                </a:solidFill>
              </a:rPr>
              <a:t>OPERATIONAL BEST PRACTICES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228725"/>
            <a:ext cx="3929063" cy="68713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" name="Text 3"/>
          <p:cNvSpPr/>
          <p:nvPr/>
        </p:nvSpPr>
        <p:spPr>
          <a:xfrm>
            <a:off x="585788" y="1243013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Resource Management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85788" y="1421606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CPU Limits: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Set per-agent and total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limits (cgroups/job objects)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2571750" y="1421606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Memory Limits: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Use memory_limiter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processor in OTel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85788" y="1661592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Disk Space: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Monitor log directories, set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rotation policies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2571750" y="1661592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Network Bandwidth: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Rate limit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telemetry export if needed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571500" y="1923008"/>
            <a:ext cx="3929063" cy="9271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2" name="Text 9"/>
          <p:cNvSpPr/>
          <p:nvPr/>
        </p:nvSpPr>
        <p:spPr>
          <a:xfrm>
            <a:off x="585788" y="1937296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</a:rPr>
              <a:t>Restart &amp; Failure Policies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85788" y="2115889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on-failure: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Restart only if exit code != 0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(recommended)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2571750" y="2115889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always: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Restart unconditionally (use for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critical agents)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85788" y="2355875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never: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Don't restart (use for one-time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tasks)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2571750" y="2355875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Backoff: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Exponential backoff (1s, 2s, 4s,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8s, max 60s)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585788" y="2595860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Max Retries: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Alert after 5 consecutive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failures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71500" y="2857277"/>
            <a:ext cx="3929063" cy="68713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19" name="Text 16"/>
          <p:cNvSpPr/>
          <p:nvPr/>
        </p:nvSpPr>
        <p:spPr>
          <a:xfrm>
            <a:off x="585788" y="2871564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78BFA"/>
                </a:solidFill>
              </a:rPr>
              <a:t>Log Management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85788" y="3050158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Rotation: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Rotate logs daily or at 100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MB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2571750" y="3050158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Retention: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Keep 7 days locally, archive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to S3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585788" y="3290143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Compression: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gzip old logs to save disk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space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2571750" y="3290143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Forwarding: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Send supervisor logs to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centralized logging</a:t>
            </a:r>
            <a:endParaRPr lang="en-US" sz="727" dirty="0"/>
          </a:p>
        </p:txBody>
      </p:sp>
      <p:sp>
        <p:nvSpPr>
          <p:cNvPr id="24" name="Shape 21"/>
          <p:cNvSpPr/>
          <p:nvPr/>
        </p:nvSpPr>
        <p:spPr>
          <a:xfrm>
            <a:off x="571500" y="3551560"/>
            <a:ext cx="3929063" cy="9271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25" name="Text 22"/>
          <p:cNvSpPr/>
          <p:nvPr/>
        </p:nvSpPr>
        <p:spPr>
          <a:xfrm>
            <a:off x="585788" y="3565847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D93D"/>
                </a:solidFill>
              </a:rPr>
              <a:t>Security Hardening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585788" y="3744441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Least Privilege: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Run agents as non-root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when possible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2571750" y="3744441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File Permissions: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0600 for configs, 0400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for certs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585788" y="3984427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mTLS Required: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Always use mTLS for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OpAMP connection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2571750" y="3984427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Secrets Management: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Use HashiCorp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Vault or AWS Secrets Manager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585788" y="4224412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Network Segmentation: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Restrict agent-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to-agent communication</a:t>
            </a:r>
            <a:endParaRPr lang="en-US" sz="727" dirty="0"/>
          </a:p>
        </p:txBody>
      </p:sp>
      <p:sp>
        <p:nvSpPr>
          <p:cNvPr id="31" name="Shape 28"/>
          <p:cNvSpPr/>
          <p:nvPr/>
        </p:nvSpPr>
        <p:spPr>
          <a:xfrm>
            <a:off x="571500" y="4485829"/>
            <a:ext cx="3929063" cy="687139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2" name="Text 29"/>
          <p:cNvSpPr/>
          <p:nvPr/>
        </p:nvSpPr>
        <p:spPr>
          <a:xfrm>
            <a:off x="585788" y="4500116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Deployment Strategy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585788" y="4678710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Canary Rollout: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Deploy to 1% → 10% →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50% → 100%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2571750" y="4678710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Health Checks: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Monitor error rate for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30 min before proceeding</a:t>
            </a:r>
            <a:endParaRPr lang="en-US" sz="727" dirty="0"/>
          </a:p>
        </p:txBody>
      </p:sp>
      <p:sp>
        <p:nvSpPr>
          <p:cNvPr id="35" name="Text 32"/>
          <p:cNvSpPr/>
          <p:nvPr/>
        </p:nvSpPr>
        <p:spPr>
          <a:xfrm>
            <a:off x="585788" y="4918695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Rollback Plan: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Automated rollback if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error rate &gt; 5%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2571750" y="4918695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Blue-Green: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Maintain parallel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environments for zero-downtime</a:t>
            </a:r>
            <a:endParaRPr lang="en-US" sz="727" dirty="0"/>
          </a:p>
        </p:txBody>
      </p:sp>
      <p:sp>
        <p:nvSpPr>
          <p:cNvPr id="37" name="Text 34"/>
          <p:cNvSpPr/>
          <p:nvPr/>
        </p:nvSpPr>
        <p:spPr>
          <a:xfrm>
            <a:off x="4643438" y="1000125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4FF"/>
                </a:solidFill>
              </a:rPr>
              <a:t>TROUBLESHOOTING GUIDE</a:t>
            </a:r>
            <a:endParaRPr lang="en-US" sz="987" dirty="0"/>
          </a:p>
        </p:txBody>
      </p:sp>
      <p:sp>
        <p:nvSpPr>
          <p:cNvPr id="38" name="Shape 35"/>
          <p:cNvSpPr/>
          <p:nvPr/>
        </p:nvSpPr>
        <p:spPr>
          <a:xfrm>
            <a:off x="4643438" y="1228725"/>
            <a:ext cx="3929063" cy="9271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39" name="Text 36"/>
          <p:cNvSpPr/>
          <p:nvPr/>
        </p:nvSpPr>
        <p:spPr>
          <a:xfrm>
            <a:off x="4657725" y="1243013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Issue: Agent Won't Start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4657725" y="1421606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Check Logs: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Review supervisor and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agent stderr logs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6643688" y="1421606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Config Validation: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Validate YAML/XML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syntax</a:t>
            </a:r>
            <a:endParaRPr lang="en-US" sz="727" dirty="0"/>
          </a:p>
        </p:txBody>
      </p:sp>
      <p:sp>
        <p:nvSpPr>
          <p:cNvPr id="42" name="Text 39"/>
          <p:cNvSpPr/>
          <p:nvPr/>
        </p:nvSpPr>
        <p:spPr>
          <a:xfrm>
            <a:off x="4657725" y="1661592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Port Conflicts: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Verify ports not already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in use</a:t>
            </a:r>
            <a:endParaRPr lang="en-US" sz="727" dirty="0"/>
          </a:p>
        </p:txBody>
      </p:sp>
      <p:sp>
        <p:nvSpPr>
          <p:cNvPr id="43" name="Text 40"/>
          <p:cNvSpPr/>
          <p:nvPr/>
        </p:nvSpPr>
        <p:spPr>
          <a:xfrm>
            <a:off x="6643688" y="1661592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Permissions: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file/directory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permissions</a:t>
            </a:r>
            <a:endParaRPr lang="en-US" sz="727" dirty="0"/>
          </a:p>
        </p:txBody>
      </p:sp>
      <p:sp>
        <p:nvSpPr>
          <p:cNvPr id="44" name="Text 41"/>
          <p:cNvSpPr/>
          <p:nvPr/>
        </p:nvSpPr>
        <p:spPr>
          <a:xfrm>
            <a:off x="4657725" y="1901577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Dependencies: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Ensure dependent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agents started first</a:t>
            </a:r>
            <a:endParaRPr lang="en-US" sz="727" dirty="0"/>
          </a:p>
        </p:txBody>
      </p:sp>
      <p:sp>
        <p:nvSpPr>
          <p:cNvPr id="45" name="Shape 42"/>
          <p:cNvSpPr/>
          <p:nvPr/>
        </p:nvSpPr>
        <p:spPr>
          <a:xfrm>
            <a:off x="4643438" y="2162994"/>
            <a:ext cx="3929063" cy="9271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46" name="Text 43"/>
          <p:cNvSpPr/>
          <p:nvPr/>
        </p:nvSpPr>
        <p:spPr>
          <a:xfrm>
            <a:off x="4657725" y="2177281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Issue: OpAMP Connection Fails</a:t>
            </a:r>
            <a:endParaRPr lang="en-US" sz="784" dirty="0"/>
          </a:p>
        </p:txBody>
      </p:sp>
      <p:sp>
        <p:nvSpPr>
          <p:cNvPr id="47" name="Text 44"/>
          <p:cNvSpPr/>
          <p:nvPr/>
        </p:nvSpPr>
        <p:spPr>
          <a:xfrm>
            <a:off x="4657725" y="2355875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Network: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Test connectivity with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curl/telnet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6643688" y="2355875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Certificates: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Verify cert not expired, CN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matches</a:t>
            </a:r>
            <a:endParaRPr lang="en-US" sz="727" dirty="0"/>
          </a:p>
        </p:txBody>
      </p:sp>
      <p:sp>
        <p:nvSpPr>
          <p:cNvPr id="49" name="Text 46"/>
          <p:cNvSpPr/>
          <p:nvPr/>
        </p:nvSpPr>
        <p:spPr>
          <a:xfrm>
            <a:off x="4657725" y="2595860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Firewall: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firewall rules allow port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4320</a:t>
            </a:r>
            <a:endParaRPr lang="en-US" sz="727" dirty="0"/>
          </a:p>
        </p:txBody>
      </p:sp>
      <p:sp>
        <p:nvSpPr>
          <p:cNvPr id="50" name="Text 47"/>
          <p:cNvSpPr/>
          <p:nvPr/>
        </p:nvSpPr>
        <p:spPr>
          <a:xfrm>
            <a:off x="6643688" y="2595860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DNS: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Resolve OpAMP server hostname</a:t>
            </a:r>
            <a:endParaRPr lang="en-US" sz="727" dirty="0"/>
          </a:p>
        </p:txBody>
      </p:sp>
      <p:sp>
        <p:nvSpPr>
          <p:cNvPr id="51" name="Text 48"/>
          <p:cNvSpPr/>
          <p:nvPr/>
        </p:nvSpPr>
        <p:spPr>
          <a:xfrm>
            <a:off x="4657725" y="2835846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Proxy: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Configure HTTP_PROXY if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behind proxy</a:t>
            </a:r>
            <a:endParaRPr lang="en-US" sz="727" dirty="0"/>
          </a:p>
        </p:txBody>
      </p:sp>
      <p:sp>
        <p:nvSpPr>
          <p:cNvPr id="52" name="Shape 49"/>
          <p:cNvSpPr/>
          <p:nvPr/>
        </p:nvSpPr>
        <p:spPr>
          <a:xfrm>
            <a:off x="4643438" y="3097262"/>
            <a:ext cx="3929063" cy="9271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53" name="Text 50"/>
          <p:cNvSpPr/>
          <p:nvPr/>
        </p:nvSpPr>
        <p:spPr>
          <a:xfrm>
            <a:off x="4657725" y="3111550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Issue: High CPU/Memory Usage</a:t>
            </a:r>
            <a:endParaRPr lang="en-US" sz="784" dirty="0"/>
          </a:p>
        </p:txBody>
      </p:sp>
      <p:sp>
        <p:nvSpPr>
          <p:cNvPr id="54" name="Text 51"/>
          <p:cNvSpPr/>
          <p:nvPr/>
        </p:nvSpPr>
        <p:spPr>
          <a:xfrm>
            <a:off x="4657725" y="3290143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OTel Batch Size: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Increase batch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timeout, reduce send_batch_size</a:t>
            </a:r>
            <a:endParaRPr lang="en-US" sz="727" dirty="0"/>
          </a:p>
        </p:txBody>
      </p:sp>
      <p:sp>
        <p:nvSpPr>
          <p:cNvPr id="55" name="Text 52"/>
          <p:cNvSpPr/>
          <p:nvPr/>
        </p:nvSpPr>
        <p:spPr>
          <a:xfrm>
            <a:off x="6643688" y="3290143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OSQuery Frequency: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Reduce query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interval (300s → 600s)</a:t>
            </a:r>
            <a:endParaRPr lang="en-US" sz="727" dirty="0"/>
          </a:p>
        </p:txBody>
      </p:sp>
      <p:sp>
        <p:nvSpPr>
          <p:cNvPr id="56" name="Text 53"/>
          <p:cNvSpPr/>
          <p:nvPr/>
        </p:nvSpPr>
        <p:spPr>
          <a:xfrm>
            <a:off x="4657725" y="3530129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Sysmon Filters: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Add exclusion rules to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reduce event volume</a:t>
            </a:r>
            <a:endParaRPr lang="en-US" sz="727" dirty="0"/>
          </a:p>
        </p:txBody>
      </p:sp>
      <p:sp>
        <p:nvSpPr>
          <p:cNvPr id="57" name="Text 54"/>
          <p:cNvSpPr/>
          <p:nvPr/>
        </p:nvSpPr>
        <p:spPr>
          <a:xfrm>
            <a:off x="6643688" y="3530129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Memory Limiter: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Enable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memory_limiter processor</a:t>
            </a:r>
            <a:endParaRPr lang="en-US" sz="727" dirty="0"/>
          </a:p>
        </p:txBody>
      </p:sp>
      <p:sp>
        <p:nvSpPr>
          <p:cNvPr id="58" name="Text 55"/>
          <p:cNvSpPr/>
          <p:nvPr/>
        </p:nvSpPr>
        <p:spPr>
          <a:xfrm>
            <a:off x="4657725" y="3770114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Resource Limits: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Enforce cgroup/job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object limits</a:t>
            </a:r>
            <a:endParaRPr lang="en-US" sz="727" dirty="0"/>
          </a:p>
        </p:txBody>
      </p:sp>
      <p:sp>
        <p:nvSpPr>
          <p:cNvPr id="59" name="Shape 56"/>
          <p:cNvSpPr/>
          <p:nvPr/>
        </p:nvSpPr>
        <p:spPr>
          <a:xfrm>
            <a:off x="4643438" y="4031531"/>
            <a:ext cx="3929063" cy="9271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0" name="Text 57"/>
          <p:cNvSpPr/>
          <p:nvPr/>
        </p:nvSpPr>
        <p:spPr>
          <a:xfrm>
            <a:off x="4657725" y="4045818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6B6B"/>
                </a:solidFill>
              </a:rPr>
              <a:t>Issue: Data Not Reaching Backend</a:t>
            </a:r>
            <a:endParaRPr lang="en-US" sz="784" dirty="0"/>
          </a:p>
        </p:txBody>
      </p:sp>
      <p:sp>
        <p:nvSpPr>
          <p:cNvPr id="61" name="Text 58"/>
          <p:cNvSpPr/>
          <p:nvPr/>
        </p:nvSpPr>
        <p:spPr>
          <a:xfrm>
            <a:off x="4657725" y="4224412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OTel Exporter: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exporter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endpoint and credentials</a:t>
            </a:r>
            <a:endParaRPr lang="en-US" sz="727" dirty="0"/>
          </a:p>
        </p:txBody>
      </p:sp>
      <p:sp>
        <p:nvSpPr>
          <p:cNvPr id="62" name="Text 59"/>
          <p:cNvSpPr/>
          <p:nvPr/>
        </p:nvSpPr>
        <p:spPr>
          <a:xfrm>
            <a:off x="6643688" y="4224412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Pipeline Config: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Verify receivers →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processors → exporters</a:t>
            </a:r>
            <a:endParaRPr lang="en-US" sz="727" dirty="0"/>
          </a:p>
        </p:txBody>
      </p:sp>
      <p:sp>
        <p:nvSpPr>
          <p:cNvPr id="63" name="Text 60"/>
          <p:cNvSpPr/>
          <p:nvPr/>
        </p:nvSpPr>
        <p:spPr>
          <a:xfrm>
            <a:off x="4657725" y="4464397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Queue Depth: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if queue is full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(backpressure)</a:t>
            </a:r>
            <a:endParaRPr lang="en-US" sz="727" dirty="0"/>
          </a:p>
        </p:txBody>
      </p:sp>
      <p:sp>
        <p:nvSpPr>
          <p:cNvPr id="64" name="Text 61"/>
          <p:cNvSpPr/>
          <p:nvPr/>
        </p:nvSpPr>
        <p:spPr>
          <a:xfrm>
            <a:off x="6643688" y="4464397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Network: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Test backend connectivity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from agent</a:t>
            </a:r>
            <a:endParaRPr lang="en-US" sz="727" dirty="0"/>
          </a:p>
        </p:txBody>
      </p:sp>
      <p:sp>
        <p:nvSpPr>
          <p:cNvPr id="65" name="Text 62"/>
          <p:cNvSpPr/>
          <p:nvPr/>
        </p:nvSpPr>
        <p:spPr>
          <a:xfrm>
            <a:off x="4657725" y="4704383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DE80"/>
                </a:solidFill>
              </a:rPr>
              <a:t>✓ Metrics: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Check OTel metrics endpoint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for errors</a:t>
            </a:r>
            <a:endParaRPr lang="en-US" sz="727" dirty="0"/>
          </a:p>
        </p:txBody>
      </p:sp>
      <p:sp>
        <p:nvSpPr>
          <p:cNvPr id="66" name="Shape 63"/>
          <p:cNvSpPr/>
          <p:nvPr/>
        </p:nvSpPr>
        <p:spPr>
          <a:xfrm>
            <a:off x="4643438" y="4965799"/>
            <a:ext cx="3929063" cy="927125"/>
          </a:xfrm>
          <a:prstGeom prst="rect">
            <a:avLst/>
          </a:prstGeom>
          <a:solidFill>
            <a:srgbClr val="132A47"/>
          </a:solidFill>
          <a:ln/>
        </p:spPr>
      </p:sp>
      <p:sp>
        <p:nvSpPr>
          <p:cNvPr id="67" name="Text 64"/>
          <p:cNvSpPr/>
          <p:nvPr/>
        </p:nvSpPr>
        <p:spPr>
          <a:xfrm>
            <a:off x="4657725" y="4980087"/>
            <a:ext cx="39004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DE80"/>
                </a:solidFill>
              </a:rPr>
              <a:t>Diagnostic Commands</a:t>
            </a:r>
            <a:endParaRPr lang="en-US" sz="784" dirty="0"/>
          </a:p>
        </p:txBody>
      </p:sp>
      <p:sp>
        <p:nvSpPr>
          <p:cNvPr id="68" name="Text 65"/>
          <p:cNvSpPr/>
          <p:nvPr/>
        </p:nvSpPr>
        <p:spPr>
          <a:xfrm>
            <a:off x="4657725" y="5158680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Supervisor Status: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supervisorctl status</a:t>
            </a:r>
            <a:endParaRPr lang="en-US" sz="727" dirty="0"/>
          </a:p>
        </p:txBody>
      </p:sp>
      <p:sp>
        <p:nvSpPr>
          <p:cNvPr id="69" name="Text 66"/>
          <p:cNvSpPr/>
          <p:nvPr/>
        </p:nvSpPr>
        <p:spPr>
          <a:xfrm>
            <a:off x="6643688" y="5158680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Agent Logs: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tail -f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/var/log/supervisor/*.log</a:t>
            </a:r>
            <a:endParaRPr lang="en-US" sz="727" dirty="0"/>
          </a:p>
        </p:txBody>
      </p:sp>
      <p:sp>
        <p:nvSpPr>
          <p:cNvPr id="70" name="Text 67"/>
          <p:cNvSpPr/>
          <p:nvPr/>
        </p:nvSpPr>
        <p:spPr>
          <a:xfrm>
            <a:off x="4657725" y="5398666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OTel Health: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curl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http://localhost:13133/</a:t>
            </a:r>
            <a:endParaRPr lang="en-US" sz="727" dirty="0"/>
          </a:p>
        </p:txBody>
      </p:sp>
      <p:sp>
        <p:nvSpPr>
          <p:cNvPr id="71" name="Text 68"/>
          <p:cNvSpPr/>
          <p:nvPr/>
        </p:nvSpPr>
        <p:spPr>
          <a:xfrm>
            <a:off x="6643688" y="5398666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OTel Metrics: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curl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http://localhost:8888/metrics</a:t>
            </a:r>
            <a:endParaRPr lang="en-US" sz="727" dirty="0"/>
          </a:p>
        </p:txBody>
      </p:sp>
      <p:sp>
        <p:nvSpPr>
          <p:cNvPr id="72" name="Text 69"/>
          <p:cNvSpPr/>
          <p:nvPr/>
        </p:nvSpPr>
        <p:spPr>
          <a:xfrm>
            <a:off x="4657725" y="5638651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OSQuery Test: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osqueryi "SELECT *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FROM system_info;"</a:t>
            </a:r>
            <a:endParaRPr lang="en-US" sz="727" dirty="0"/>
          </a:p>
        </p:txBody>
      </p:sp>
      <p:sp>
        <p:nvSpPr>
          <p:cNvPr id="73" name="Text 70"/>
          <p:cNvSpPr/>
          <p:nvPr/>
        </p:nvSpPr>
        <p:spPr>
          <a:xfrm>
            <a:off x="6643688" y="5638651"/>
            <a:ext cx="19145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D93D"/>
                </a:solidFill>
              </a:rPr>
              <a:t>• Sysmon Status: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 sc query Sysmon64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2E8F0"/>
                </a:solidFill>
              </a:rPr>
              <a:t>(Windows)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2025-12-03T15:47:29Z</dcterms:created>
  <dcterms:modified xsi:type="dcterms:W3CDTF">2025-12-03T15:47:29Z</dcterms:modified>
</cp:coreProperties>
</file>