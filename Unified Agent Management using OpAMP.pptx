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114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023360" y="1005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UNIFIED AGENT MANAGEMENT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23360" y="1371600"/>
            <a:ext cx="457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Platform to Manage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 Agent, Everywhere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023360" y="24688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Workstations  |  Cloud Infrastructure  |  On-Prem Servers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23360" y="2926080"/>
            <a:ext cx="457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Windows  |  macOS  |  Linux  |  AWS  |  GCE  |  Azure</a:t>
            </a:r>
            <a:b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rgbClr val="718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Kishore Mooli, </a:t>
            </a:r>
            <a:r>
              <a:rPr lang="en-US" sz="9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Cyber Architecture Team 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344975" y="2107900"/>
            <a:ext cx="3381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48640" y="320040"/>
            <a:ext cx="804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200K Endpoints x 6 - 10 Agents = Unmanageable Complexity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95790" y="777215"/>
            <a:ext cx="393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MODERN ENDPOINT REALITY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48640" y="1234440"/>
            <a:ext cx="3931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Today's endpoints run 6+ security agents simultaneously — EDR, vulnerability scanning, observability, cloud security. Each has its own console, API, and update mechanism.</a:t>
            </a:r>
            <a:endParaRPr sz="1500"/>
          </a:p>
        </p:txBody>
      </p:sp>
      <p:sp>
        <p:nvSpPr>
          <p:cNvPr id="99" name="Google Shape;99;p14"/>
          <p:cNvSpPr txBox="1"/>
          <p:nvPr/>
        </p:nvSpPr>
        <p:spPr>
          <a:xfrm>
            <a:off x="548640" y="178308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OPERATIONAL COMPLEXITY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48640" y="2011680"/>
            <a:ext cx="393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200,000 endpoints × 6 -10 agents = 6-10 separate management planes. No single view of endpoint health. Configuration drift undetected until incident.</a:t>
            </a:r>
            <a:endParaRPr sz="1500"/>
          </a:p>
        </p:txBody>
      </p:sp>
      <p:sp>
        <p:nvSpPr>
          <p:cNvPr id="101" name="Google Shape;101;p14"/>
          <p:cNvSpPr txBox="1"/>
          <p:nvPr/>
        </p:nvSpPr>
        <p:spPr>
          <a:xfrm>
            <a:off x="548640" y="256032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KEY CHALLENGES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48640" y="2788920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Fragmented management across 6+ vendor platforms</a:t>
            </a:r>
            <a:endParaRPr sz="1500"/>
          </a:p>
        </p:txBody>
      </p:sp>
      <p:sp>
        <p:nvSpPr>
          <p:cNvPr id="103" name="Google Shape;103;p14"/>
          <p:cNvSpPr txBox="1"/>
          <p:nvPr/>
        </p:nvSpPr>
        <p:spPr>
          <a:xfrm>
            <a:off x="548640" y="2944368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No unified health monitoring or alerting</a:t>
            </a:r>
            <a:endParaRPr sz="1500"/>
          </a:p>
        </p:txBody>
      </p:sp>
      <p:sp>
        <p:nvSpPr>
          <p:cNvPr id="104" name="Google Shape;104;p14"/>
          <p:cNvSpPr txBox="1"/>
          <p:nvPr/>
        </p:nvSpPr>
        <p:spPr>
          <a:xfrm>
            <a:off x="548640" y="3099815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Inconsistent configuration formats and APIs</a:t>
            </a:r>
            <a:endParaRPr sz="1500"/>
          </a:p>
        </p:txBody>
      </p:sp>
      <p:sp>
        <p:nvSpPr>
          <p:cNvPr id="105" name="Google Shape;105;p14"/>
          <p:cNvSpPr txBox="1"/>
          <p:nvPr/>
        </p:nvSpPr>
        <p:spPr>
          <a:xfrm>
            <a:off x="548640" y="3255263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Different tools for cloud vs workstation agents</a:t>
            </a:r>
            <a:endParaRPr sz="1500"/>
          </a:p>
        </p:txBody>
      </p:sp>
      <p:sp>
        <p:nvSpPr>
          <p:cNvPr id="106" name="Google Shape;106;p14"/>
          <p:cNvSpPr txBox="1"/>
          <p:nvPr/>
        </p:nvSpPr>
        <p:spPr>
          <a:xfrm>
            <a:off x="548640" y="3410712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Manual troubleshooting — SSH into boxes one at a time</a:t>
            </a:r>
            <a:endParaRPr sz="1500"/>
          </a:p>
        </p:txBody>
      </p:sp>
      <p:sp>
        <p:nvSpPr>
          <p:cNvPr id="107" name="Google Shape;107;p14"/>
          <p:cNvSpPr txBox="1"/>
          <p:nvPr/>
        </p:nvSpPr>
        <p:spPr>
          <a:xfrm>
            <a:off x="548640" y="3566160"/>
            <a:ext cx="3931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Config drift invisible until post-incident RCA</a:t>
            </a:r>
            <a:endParaRPr sz="1600"/>
          </a:p>
        </p:txBody>
      </p:sp>
      <p:sp>
        <p:nvSpPr>
          <p:cNvPr id="108" name="Google Shape;108;p14"/>
          <p:cNvSpPr txBox="1"/>
          <p:nvPr/>
        </p:nvSpPr>
        <p:spPr>
          <a:xfrm>
            <a:off x="4846320" y="1005840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TYPICAL ENDPOINT: </a:t>
            </a:r>
            <a:r>
              <a:rPr b="1" lang="en-US" sz="8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+ AGENTS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4846320" y="1234440"/>
            <a:ext cx="1783080" cy="320040"/>
          </a:xfrm>
          <a:prstGeom prst="roundRect">
            <a:avLst>
              <a:gd fmla="val 16667" name="adj"/>
            </a:avLst>
          </a:prstGeom>
          <a:solidFill>
            <a:srgbClr val="23293A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846320" y="1234440"/>
            <a:ext cx="5080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983480" y="1261872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CrowdStrike Falcon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983480" y="1399032"/>
            <a:ext cx="1554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EDR • 200 MB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702551" y="1234440"/>
            <a:ext cx="1783080" cy="320040"/>
          </a:xfrm>
          <a:prstGeom prst="roundRect">
            <a:avLst>
              <a:gd fmla="val 16667" name="adj"/>
            </a:avLst>
          </a:prstGeom>
          <a:solidFill>
            <a:srgbClr val="23293A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702551" y="1234440"/>
            <a:ext cx="5080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839711" y="1261872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OSQuery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39711" y="1399032"/>
            <a:ext cx="1554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Inventory • 50 MB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4846320" y="1627632"/>
            <a:ext cx="1783080" cy="320040"/>
          </a:xfrm>
          <a:prstGeom prst="roundRect">
            <a:avLst>
              <a:gd fmla="val 16667" name="adj"/>
            </a:avLst>
          </a:prstGeom>
          <a:solidFill>
            <a:srgbClr val="23293A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846320" y="1627632"/>
            <a:ext cx="5080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4983480" y="165506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OpenTelemetry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983480" y="1792224"/>
            <a:ext cx="1554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Logs • 100 MB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6702551" y="1627632"/>
            <a:ext cx="1783080" cy="320040"/>
          </a:xfrm>
          <a:prstGeom prst="roundRect">
            <a:avLst>
              <a:gd fmla="val 16667" name="adj"/>
            </a:avLst>
          </a:prstGeom>
          <a:solidFill>
            <a:srgbClr val="23293A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702551" y="1627632"/>
            <a:ext cx="5080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6839711" y="165506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Qualys Agent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839711" y="1792224"/>
            <a:ext cx="1554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Vuln Scan • 80 MB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4846320" y="2020824"/>
            <a:ext cx="1783080" cy="320040"/>
          </a:xfrm>
          <a:prstGeom prst="roundRect">
            <a:avLst>
              <a:gd fmla="val 16667" name="adj"/>
            </a:avLst>
          </a:prstGeom>
          <a:solidFill>
            <a:srgbClr val="23293A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4846320" y="2020824"/>
            <a:ext cx="5080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4983480" y="2048256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Wiz Agent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4983480" y="2185416"/>
            <a:ext cx="1554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Cloud Sec • 60 MB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6702551" y="2020824"/>
            <a:ext cx="1783080" cy="320040"/>
          </a:xfrm>
          <a:prstGeom prst="roundRect">
            <a:avLst>
              <a:gd fmla="val 16667" name="adj"/>
            </a:avLst>
          </a:prstGeom>
          <a:solidFill>
            <a:srgbClr val="23293A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6702551" y="2020824"/>
            <a:ext cx="5080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6839711" y="2048256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Zscaler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839711" y="2185416"/>
            <a:ext cx="1554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Web Sec • 40 MB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4846320" y="2514600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FLEET-WIDE IMPACT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4846320" y="274320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200K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4846320" y="3063240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5779008" y="2743200"/>
            <a:ext cx="86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lang="en-US" sz="1600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5779008" y="3063240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Vendor Consoles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6711696" y="2743200"/>
            <a:ext cx="86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4-</a:t>
            </a:r>
            <a:r>
              <a:rPr b="1" lang="en-US" sz="1600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711696" y="3063240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Agents/Host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7644384" y="274320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7644384" y="3063240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Engineers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 — Unified Management Without Disrupting Vendor Data Flows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13465" y="775150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500"/>
          </a:p>
        </p:txBody>
      </p:sp>
      <p:sp>
        <p:nvSpPr>
          <p:cNvPr id="149" name="Google Shape;149;p15"/>
          <p:cNvSpPr/>
          <p:nvPr/>
        </p:nvSpPr>
        <p:spPr>
          <a:xfrm>
            <a:off x="1097280" y="1188720"/>
            <a:ext cx="2194560" cy="45720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188720" y="1216152"/>
            <a:ext cx="201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 Control Plane</a:t>
            </a:r>
            <a:endParaRPr sz="1500"/>
          </a:p>
        </p:txBody>
      </p:sp>
      <p:sp>
        <p:nvSpPr>
          <p:cNvPr id="151" name="Google Shape;151;p15"/>
          <p:cNvSpPr txBox="1"/>
          <p:nvPr/>
        </p:nvSpPr>
        <p:spPr>
          <a:xfrm>
            <a:off x="1188720" y="1399032"/>
            <a:ext cx="2011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Config | Policy | Health</a:t>
            </a:r>
            <a:endParaRPr sz="1500"/>
          </a:p>
        </p:txBody>
      </p:sp>
      <p:sp>
        <p:nvSpPr>
          <p:cNvPr id="152" name="Google Shape;152;p15"/>
          <p:cNvSpPr txBox="1"/>
          <p:nvPr/>
        </p:nvSpPr>
        <p:spPr>
          <a:xfrm>
            <a:off x="2011680" y="1664208"/>
            <a:ext cx="45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500"/>
          </a:p>
        </p:txBody>
      </p:sp>
      <p:sp>
        <p:nvSpPr>
          <p:cNvPr id="153" name="Google Shape;153;p15"/>
          <p:cNvSpPr txBox="1"/>
          <p:nvPr/>
        </p:nvSpPr>
        <p:spPr>
          <a:xfrm>
            <a:off x="1097280" y="1828800"/>
            <a:ext cx="2194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OpAMP Protocol (1 conn/endpoint)</a:t>
            </a:r>
            <a:endParaRPr sz="1500"/>
          </a:p>
        </p:txBody>
      </p:sp>
      <p:sp>
        <p:nvSpPr>
          <p:cNvPr id="154" name="Google Shape;154;p15"/>
          <p:cNvSpPr/>
          <p:nvPr/>
        </p:nvSpPr>
        <p:spPr>
          <a:xfrm>
            <a:off x="594435" y="2011618"/>
            <a:ext cx="1051500" cy="1097400"/>
          </a:xfrm>
          <a:prstGeom prst="roundRect">
            <a:avLst>
              <a:gd fmla="val 16667" name="adj"/>
            </a:avLst>
          </a:prstGeom>
          <a:solidFill>
            <a:srgbClr val="23293A"/>
          </a:solidFill>
          <a:ln cap="flat" cmpd="sng" w="1270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640080" y="2039112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Workstation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85800" y="2331720"/>
            <a:ext cx="868680" cy="228600"/>
          </a:xfrm>
          <a:prstGeom prst="roundRect">
            <a:avLst>
              <a:gd fmla="val 16667" name="adj"/>
            </a:avLst>
          </a:prstGeom>
          <a:solidFill>
            <a:srgbClr val="1E2535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704088" y="2350008"/>
            <a:ext cx="82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sz="1500"/>
          </a:p>
        </p:txBody>
      </p:sp>
      <p:sp>
        <p:nvSpPr>
          <p:cNvPr id="158" name="Google Shape;158;p15"/>
          <p:cNvSpPr txBox="1"/>
          <p:nvPr/>
        </p:nvSpPr>
        <p:spPr>
          <a:xfrm>
            <a:off x="685800" y="2606040"/>
            <a:ext cx="86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[CS] [OQ] [OT]</a:t>
            </a:r>
            <a:endParaRPr sz="1500"/>
          </a:p>
        </p:txBody>
      </p:sp>
      <p:sp>
        <p:nvSpPr>
          <p:cNvPr id="159" name="Google Shape;159;p15"/>
          <p:cNvSpPr txBox="1"/>
          <p:nvPr/>
        </p:nvSpPr>
        <p:spPr>
          <a:xfrm>
            <a:off x="685800" y="2761488"/>
            <a:ext cx="868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▼ Vendor Clouds</a:t>
            </a:r>
            <a:endParaRPr sz="1500"/>
          </a:p>
        </p:txBody>
      </p:sp>
      <p:sp>
        <p:nvSpPr>
          <p:cNvPr id="160" name="Google Shape;160;p15"/>
          <p:cNvSpPr/>
          <p:nvPr/>
        </p:nvSpPr>
        <p:spPr>
          <a:xfrm>
            <a:off x="1783080" y="2011680"/>
            <a:ext cx="1051560" cy="1097280"/>
          </a:xfrm>
          <a:prstGeom prst="roundRect">
            <a:avLst>
              <a:gd fmla="val 16667" name="adj"/>
            </a:avLst>
          </a:prstGeom>
          <a:solidFill>
            <a:srgbClr val="23293A"/>
          </a:solidFill>
          <a:ln cap="flat" cmpd="sng" w="1270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1828800" y="2039112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</a:t>
            </a: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874520" y="2331720"/>
            <a:ext cx="868680" cy="228600"/>
          </a:xfrm>
          <a:prstGeom prst="roundRect">
            <a:avLst>
              <a:gd fmla="val 16667" name="adj"/>
            </a:avLst>
          </a:prstGeom>
          <a:solidFill>
            <a:srgbClr val="1E2535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1892808" y="2350008"/>
            <a:ext cx="82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sz="1500"/>
          </a:p>
        </p:txBody>
      </p:sp>
      <p:sp>
        <p:nvSpPr>
          <p:cNvPr id="164" name="Google Shape;164;p15"/>
          <p:cNvSpPr txBox="1"/>
          <p:nvPr/>
        </p:nvSpPr>
        <p:spPr>
          <a:xfrm>
            <a:off x="1874520" y="2606040"/>
            <a:ext cx="86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[CS] [OQ] [OT]</a:t>
            </a:r>
            <a:endParaRPr sz="1500"/>
          </a:p>
        </p:txBody>
      </p:sp>
      <p:sp>
        <p:nvSpPr>
          <p:cNvPr id="165" name="Google Shape;165;p15"/>
          <p:cNvSpPr txBox="1"/>
          <p:nvPr/>
        </p:nvSpPr>
        <p:spPr>
          <a:xfrm>
            <a:off x="1874520" y="2761488"/>
            <a:ext cx="868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▼ Vendor Clouds</a:t>
            </a:r>
            <a:endParaRPr sz="1500"/>
          </a:p>
        </p:txBody>
      </p:sp>
      <p:sp>
        <p:nvSpPr>
          <p:cNvPr id="166" name="Google Shape;166;p15"/>
          <p:cNvSpPr/>
          <p:nvPr/>
        </p:nvSpPr>
        <p:spPr>
          <a:xfrm>
            <a:off x="2971800" y="2011680"/>
            <a:ext cx="1051560" cy="1097280"/>
          </a:xfrm>
          <a:prstGeom prst="roundRect">
            <a:avLst>
              <a:gd fmla="val 16667" name="adj"/>
            </a:avLst>
          </a:prstGeom>
          <a:solidFill>
            <a:srgbClr val="23293A"/>
          </a:solidFill>
          <a:ln cap="flat" cmpd="sng" w="1270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2971800" y="2039100"/>
            <a:ext cx="1097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Laptops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3063240" y="2331720"/>
            <a:ext cx="868680" cy="228600"/>
          </a:xfrm>
          <a:prstGeom prst="roundRect">
            <a:avLst>
              <a:gd fmla="val 16667" name="adj"/>
            </a:avLst>
          </a:prstGeom>
          <a:solidFill>
            <a:srgbClr val="1E2535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3081528" y="2350008"/>
            <a:ext cx="82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sz="1500"/>
          </a:p>
        </p:txBody>
      </p:sp>
      <p:sp>
        <p:nvSpPr>
          <p:cNvPr id="170" name="Google Shape;170;p15"/>
          <p:cNvSpPr txBox="1"/>
          <p:nvPr/>
        </p:nvSpPr>
        <p:spPr>
          <a:xfrm>
            <a:off x="3063240" y="2606040"/>
            <a:ext cx="86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[CS] [OQ] [OT]</a:t>
            </a:r>
            <a:endParaRPr sz="1500"/>
          </a:p>
        </p:txBody>
      </p:sp>
      <p:sp>
        <p:nvSpPr>
          <p:cNvPr id="171" name="Google Shape;171;p15"/>
          <p:cNvSpPr txBox="1"/>
          <p:nvPr/>
        </p:nvSpPr>
        <p:spPr>
          <a:xfrm>
            <a:off x="3063240" y="2761488"/>
            <a:ext cx="868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▼ Vendor Clouds</a:t>
            </a:r>
            <a:endParaRPr sz="1500"/>
          </a:p>
        </p:txBody>
      </p:sp>
      <p:sp>
        <p:nvSpPr>
          <p:cNvPr id="172" name="Google Shape;172;p15"/>
          <p:cNvSpPr txBox="1"/>
          <p:nvPr/>
        </p:nvSpPr>
        <p:spPr>
          <a:xfrm>
            <a:off x="548640" y="3200400"/>
            <a:ext cx="3931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Also: AWS EC2 | GCE VMs | Azure VMs | K8s | ECS</a:t>
            </a:r>
            <a:endParaRPr sz="1500"/>
          </a:p>
        </p:txBody>
      </p:sp>
      <p:sp>
        <p:nvSpPr>
          <p:cNvPr id="173" name="Google Shape;173;p15"/>
          <p:cNvSpPr txBox="1"/>
          <p:nvPr/>
        </p:nvSpPr>
        <p:spPr>
          <a:xfrm>
            <a:off x="4846320" y="914400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ONE PLATFORM, EVERY SURFACE</a:t>
            </a:r>
            <a:endParaRPr sz="1500"/>
          </a:p>
        </p:txBody>
      </p:sp>
      <p:sp>
        <p:nvSpPr>
          <p:cNvPr id="174" name="Google Shape;174;p15"/>
          <p:cNvSpPr txBox="1"/>
          <p:nvPr/>
        </p:nvSpPr>
        <p:spPr>
          <a:xfrm>
            <a:off x="4846320" y="1188720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Workstations</a:t>
            </a:r>
            <a:endParaRPr sz="1500"/>
          </a:p>
        </p:txBody>
      </p:sp>
      <p:sp>
        <p:nvSpPr>
          <p:cNvPr id="175" name="Google Shape;175;p15"/>
          <p:cNvSpPr txBox="1"/>
          <p:nvPr/>
        </p:nvSpPr>
        <p:spPr>
          <a:xfrm>
            <a:off x="6263640" y="1188720"/>
            <a:ext cx="246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Windows desktops, macOS laptops</a:t>
            </a:r>
            <a:endParaRPr sz="1500"/>
          </a:p>
        </p:txBody>
      </p:sp>
      <p:sp>
        <p:nvSpPr>
          <p:cNvPr id="176" name="Google Shape;176;p15"/>
          <p:cNvSpPr txBox="1"/>
          <p:nvPr/>
        </p:nvSpPr>
        <p:spPr>
          <a:xfrm>
            <a:off x="4846320" y="1371600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Cloud Compute</a:t>
            </a:r>
            <a:endParaRPr sz="1500"/>
          </a:p>
        </p:txBody>
      </p:sp>
      <p:sp>
        <p:nvSpPr>
          <p:cNvPr id="177" name="Google Shape;177;p15"/>
          <p:cNvSpPr txBox="1"/>
          <p:nvPr/>
        </p:nvSpPr>
        <p:spPr>
          <a:xfrm>
            <a:off x="6263640" y="1371600"/>
            <a:ext cx="246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AWS EC2, GCE VMs, Azure VMs</a:t>
            </a:r>
            <a:endParaRPr sz="1500"/>
          </a:p>
        </p:txBody>
      </p:sp>
      <p:sp>
        <p:nvSpPr>
          <p:cNvPr id="178" name="Google Shape;178;p15"/>
          <p:cNvSpPr txBox="1"/>
          <p:nvPr/>
        </p:nvSpPr>
        <p:spPr>
          <a:xfrm>
            <a:off x="4846320" y="1554480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On-Prem Servers</a:t>
            </a:r>
            <a:endParaRPr sz="1500"/>
          </a:p>
        </p:txBody>
      </p:sp>
      <p:sp>
        <p:nvSpPr>
          <p:cNvPr id="179" name="Google Shape;179;p15"/>
          <p:cNvSpPr txBox="1"/>
          <p:nvPr/>
        </p:nvSpPr>
        <p:spPr>
          <a:xfrm>
            <a:off x="6263640" y="1554480"/>
            <a:ext cx="246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Linux (systemd), Windows (services)</a:t>
            </a:r>
            <a:endParaRPr sz="1500"/>
          </a:p>
        </p:txBody>
      </p:sp>
      <p:sp>
        <p:nvSpPr>
          <p:cNvPr id="180" name="Google Shape;180;p15"/>
          <p:cNvSpPr txBox="1"/>
          <p:nvPr/>
        </p:nvSpPr>
        <p:spPr>
          <a:xfrm>
            <a:off x="4846320" y="1737360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Containers</a:t>
            </a:r>
            <a:endParaRPr sz="1500"/>
          </a:p>
        </p:txBody>
      </p:sp>
      <p:sp>
        <p:nvSpPr>
          <p:cNvPr id="181" name="Google Shape;181;p15"/>
          <p:cNvSpPr txBox="1"/>
          <p:nvPr/>
        </p:nvSpPr>
        <p:spPr>
          <a:xfrm>
            <a:off x="6263640" y="1737360"/>
            <a:ext cx="246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Kubernetes DaemonSets, ECS tasks</a:t>
            </a:r>
            <a:endParaRPr sz="1500"/>
          </a:p>
        </p:txBody>
      </p:sp>
      <p:sp>
        <p:nvSpPr>
          <p:cNvPr id="182" name="Google Shape;182;p15"/>
          <p:cNvSpPr txBox="1"/>
          <p:nvPr/>
        </p:nvSpPr>
        <p:spPr>
          <a:xfrm>
            <a:off x="4846320" y="2011680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WHAT CHANGES</a:t>
            </a:r>
            <a:endParaRPr sz="1500"/>
          </a:p>
        </p:txBody>
      </p:sp>
      <p:sp>
        <p:nvSpPr>
          <p:cNvPr id="183" name="Google Shape;183;p15"/>
          <p:cNvSpPr txBox="1"/>
          <p:nvPr/>
        </p:nvSpPr>
        <p:spPr>
          <a:xfrm>
            <a:off x="4846320" y="2240280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One supervisor manages all local agents</a:t>
            </a:r>
            <a:endParaRPr sz="1500"/>
          </a:p>
        </p:txBody>
      </p:sp>
      <p:sp>
        <p:nvSpPr>
          <p:cNvPr id="184" name="Google Shape;184;p15"/>
          <p:cNvSpPr txBox="1"/>
          <p:nvPr/>
        </p:nvSpPr>
        <p:spPr>
          <a:xfrm>
            <a:off x="4846320" y="2404872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Lifecycle, config, health from one platform</a:t>
            </a:r>
            <a:endParaRPr sz="1500"/>
          </a:p>
        </p:txBody>
      </p:sp>
      <p:sp>
        <p:nvSpPr>
          <p:cNvPr id="185" name="Google Shape;185;p15"/>
          <p:cNvSpPr txBox="1"/>
          <p:nvPr/>
        </p:nvSpPr>
        <p:spPr>
          <a:xfrm>
            <a:off x="4846320" y="2569464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Standardized telemetry in one destination</a:t>
            </a:r>
            <a:endParaRPr sz="1500"/>
          </a:p>
        </p:txBody>
      </p:sp>
      <p:sp>
        <p:nvSpPr>
          <p:cNvPr id="186" name="Google Shape;186;p15"/>
          <p:cNvSpPr txBox="1"/>
          <p:nvPr/>
        </p:nvSpPr>
        <p:spPr>
          <a:xfrm>
            <a:off x="4846320" y="2734056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Identical across all OS — on-prem or cloud</a:t>
            </a:r>
            <a:endParaRPr sz="1500"/>
          </a:p>
        </p:txBody>
      </p:sp>
      <p:sp>
        <p:nvSpPr>
          <p:cNvPr id="187" name="Google Shape;187;p15"/>
          <p:cNvSpPr txBox="1"/>
          <p:nvPr/>
        </p:nvSpPr>
        <p:spPr>
          <a:xfrm>
            <a:off x="4846320" y="2971800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WHAT DOESN'T CHANGE</a:t>
            </a:r>
            <a:endParaRPr sz="1500"/>
          </a:p>
        </p:txBody>
      </p:sp>
      <p:sp>
        <p:nvSpPr>
          <p:cNvPr id="188" name="Google Shape;188;p15"/>
          <p:cNvSpPr txBox="1"/>
          <p:nvPr/>
        </p:nvSpPr>
        <p:spPr>
          <a:xfrm>
            <a:off x="4846320" y="3200400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Agents still send data to vendor backends</a:t>
            </a:r>
            <a:endParaRPr sz="1500"/>
          </a:p>
        </p:txBody>
      </p:sp>
      <p:sp>
        <p:nvSpPr>
          <p:cNvPr id="189" name="Google Shape;189;p15"/>
          <p:cNvSpPr txBox="1"/>
          <p:nvPr/>
        </p:nvSpPr>
        <p:spPr>
          <a:xfrm>
            <a:off x="4846320" y="3364992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No disruption to data flows or contracts</a:t>
            </a:r>
            <a:endParaRPr sz="1500"/>
          </a:p>
        </p:txBody>
      </p:sp>
      <p:sp>
        <p:nvSpPr>
          <p:cNvPr id="190" name="Google Shape;190;p15"/>
          <p:cNvSpPr txBox="1"/>
          <p:nvPr/>
        </p:nvSpPr>
        <p:spPr>
          <a:xfrm>
            <a:off x="4846320" y="3529584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Vendor-specific functionality preserved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Manage the Agents — Vendors Keep Their Data</a:t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411482" y="800102"/>
            <a:ext cx="3657600" cy="15546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685800" y="1051560"/>
            <a:ext cx="338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CONTROL PLANE (OpAmp owns this)</a:t>
            </a:r>
            <a:endParaRPr sz="1500"/>
          </a:p>
        </p:txBody>
      </p:sp>
      <p:sp>
        <p:nvSpPr>
          <p:cNvPr id="199" name="Google Shape;199;p16"/>
          <p:cNvSpPr txBox="1"/>
          <p:nvPr/>
        </p:nvSpPr>
        <p:spPr>
          <a:xfrm>
            <a:off x="731520" y="1325880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OpAMP Server → Supervisors → Agents</a:t>
            </a:r>
            <a:endParaRPr sz="1500"/>
          </a:p>
        </p:txBody>
      </p:sp>
      <p:sp>
        <p:nvSpPr>
          <p:cNvPr id="200" name="Google Shape;200;p16"/>
          <p:cNvSpPr txBox="1"/>
          <p:nvPr/>
        </p:nvSpPr>
        <p:spPr>
          <a:xfrm>
            <a:off x="731520" y="1499616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Config distribution, lifecycle, health</a:t>
            </a:r>
            <a:endParaRPr sz="1500"/>
          </a:p>
        </p:txBody>
      </p:sp>
      <p:sp>
        <p:nvSpPr>
          <p:cNvPr id="201" name="Google Shape;201;p16"/>
          <p:cNvSpPr txBox="1"/>
          <p:nvPr/>
        </p:nvSpPr>
        <p:spPr>
          <a:xfrm>
            <a:off x="731520" y="1673352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 200K connections (1 per endpoint)</a:t>
            </a:r>
            <a:endParaRPr sz="1500"/>
          </a:p>
        </p:txBody>
      </p:sp>
      <p:sp>
        <p:nvSpPr>
          <p:cNvPr id="202" name="Google Shape;202;p16"/>
          <p:cNvSpPr txBox="1"/>
          <p:nvPr/>
        </p:nvSpPr>
        <p:spPr>
          <a:xfrm>
            <a:off x="731520" y="1847088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Low bandwidth (~10 KB/min per supervisor)</a:t>
            </a:r>
            <a:endParaRPr sz="1500"/>
          </a:p>
        </p:txBody>
      </p:sp>
      <p:sp>
        <p:nvSpPr>
          <p:cNvPr id="203" name="Google Shape;203;p16"/>
          <p:cNvSpPr txBox="1"/>
          <p:nvPr/>
        </p:nvSpPr>
        <p:spPr>
          <a:xfrm>
            <a:off x="731520" y="2020824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Bidirectional: push config, report health</a:t>
            </a:r>
            <a:endParaRPr sz="1500"/>
          </a:p>
        </p:txBody>
      </p:sp>
      <p:sp>
        <p:nvSpPr>
          <p:cNvPr id="204" name="Google Shape;204;p16"/>
          <p:cNvSpPr/>
          <p:nvPr/>
        </p:nvSpPr>
        <p:spPr>
          <a:xfrm>
            <a:off x="4663445" y="800102"/>
            <a:ext cx="3657600" cy="15546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4983480" y="1051560"/>
            <a:ext cx="338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DATA PLANE (Unchanged)</a:t>
            </a:r>
            <a:endParaRPr sz="1500"/>
          </a:p>
        </p:txBody>
      </p:sp>
      <p:sp>
        <p:nvSpPr>
          <p:cNvPr id="206" name="Google Shape;206;p16"/>
          <p:cNvSpPr txBox="1"/>
          <p:nvPr/>
        </p:nvSpPr>
        <p:spPr>
          <a:xfrm>
            <a:off x="5029200" y="1325880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Agents → Vendor Clouds (direct)</a:t>
            </a:r>
            <a:endParaRPr sz="1500"/>
          </a:p>
        </p:txBody>
      </p:sp>
      <p:sp>
        <p:nvSpPr>
          <p:cNvPr id="207" name="Google Shape;207;p16"/>
          <p:cNvSpPr txBox="1"/>
          <p:nvPr/>
        </p:nvSpPr>
        <p:spPr>
          <a:xfrm>
            <a:off x="5029200" y="1499616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Telemetry: logs, metrics, events, scans</a:t>
            </a:r>
            <a:endParaRPr sz="1500"/>
          </a:p>
        </p:txBody>
      </p:sp>
      <p:sp>
        <p:nvSpPr>
          <p:cNvPr id="208" name="Google Shape;208;p16"/>
          <p:cNvSpPr txBox="1"/>
          <p:nvPr/>
        </p:nvSpPr>
        <p:spPr>
          <a:xfrm>
            <a:off x="5029200" y="1673352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Existing connections preserved</a:t>
            </a:r>
            <a:endParaRPr sz="1500"/>
          </a:p>
        </p:txBody>
      </p:sp>
      <p:sp>
        <p:nvSpPr>
          <p:cNvPr id="209" name="Google Shape;209;p16"/>
          <p:cNvSpPr txBox="1"/>
          <p:nvPr/>
        </p:nvSpPr>
        <p:spPr>
          <a:xfrm>
            <a:off x="5029200" y="1847088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High throughput, vendor-specific protocols</a:t>
            </a:r>
            <a:endParaRPr sz="1500"/>
          </a:p>
        </p:txBody>
      </p:sp>
      <p:sp>
        <p:nvSpPr>
          <p:cNvPr id="210" name="Google Shape;210;p16"/>
          <p:cNvSpPr txBox="1"/>
          <p:nvPr/>
        </p:nvSpPr>
        <p:spPr>
          <a:xfrm>
            <a:off x="5029200" y="2020824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 No OpAmp involvement in data path</a:t>
            </a:r>
            <a:endParaRPr sz="1500"/>
          </a:p>
        </p:txBody>
      </p:sp>
      <p:sp>
        <p:nvSpPr>
          <p:cNvPr id="211" name="Google Shape;211;p16"/>
          <p:cNvSpPr txBox="1"/>
          <p:nvPr/>
        </p:nvSpPr>
        <p:spPr>
          <a:xfrm>
            <a:off x="548640" y="2594613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ADDITIONALLY: STANDARDIZED TELEMETRY OUTPUT</a:t>
            </a:r>
            <a:endParaRPr sz="1500"/>
          </a:p>
        </p:txBody>
      </p:sp>
      <p:sp>
        <p:nvSpPr>
          <p:cNvPr id="212" name="Google Shape;212;p16"/>
          <p:cNvSpPr/>
          <p:nvPr/>
        </p:nvSpPr>
        <p:spPr>
          <a:xfrm>
            <a:off x="411463" y="3012832"/>
            <a:ext cx="3657600" cy="5487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685800" y="3044952"/>
            <a:ext cx="3383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FROM ALL AGENTS</a:t>
            </a:r>
            <a:endParaRPr sz="1500"/>
          </a:p>
        </p:txBody>
      </p:sp>
      <p:sp>
        <p:nvSpPr>
          <p:cNvPr id="214" name="Google Shape;214;p16"/>
          <p:cNvSpPr txBox="1"/>
          <p:nvPr/>
        </p:nvSpPr>
        <p:spPr>
          <a:xfrm>
            <a:off x="685800" y="3246120"/>
            <a:ext cx="338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Supervisor collects and normalizes health, status, resource usage across all agent types</a:t>
            </a:r>
            <a:endParaRPr sz="1500"/>
          </a:p>
        </p:txBody>
      </p:sp>
      <p:sp>
        <p:nvSpPr>
          <p:cNvPr id="215" name="Google Shape;215;p16"/>
          <p:cNvSpPr/>
          <p:nvPr/>
        </p:nvSpPr>
        <p:spPr>
          <a:xfrm>
            <a:off x="4709835" y="3017520"/>
            <a:ext cx="3657600" cy="5487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4983480" y="3044952"/>
            <a:ext cx="3383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TO YOUR STACK</a:t>
            </a:r>
            <a:endParaRPr sz="1500"/>
          </a:p>
        </p:txBody>
      </p:sp>
      <p:sp>
        <p:nvSpPr>
          <p:cNvPr id="217" name="Google Shape;217;p16"/>
          <p:cNvSpPr txBox="1"/>
          <p:nvPr/>
        </p:nvSpPr>
        <p:spPr>
          <a:xfrm>
            <a:off x="4983480" y="3246120"/>
            <a:ext cx="338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One destination, one format. OpenTelemetry-compatible. Feed your existing observability tools.</a:t>
            </a:r>
            <a:endParaRPr sz="1500"/>
          </a:p>
        </p:txBody>
      </p:sp>
      <p:sp>
        <p:nvSpPr>
          <p:cNvPr id="218" name="Google Shape;218;p16"/>
          <p:cNvSpPr/>
          <p:nvPr/>
        </p:nvSpPr>
        <p:spPr>
          <a:xfrm>
            <a:off x="548640" y="3749039"/>
            <a:ext cx="2560320" cy="50292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640080" y="3776472"/>
            <a:ext cx="23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ZERO DISRUPTION</a:t>
            </a:r>
            <a:endParaRPr sz="1500"/>
          </a:p>
        </p:txBody>
      </p:sp>
      <p:sp>
        <p:nvSpPr>
          <p:cNvPr id="220" name="Google Shape;220;p16"/>
          <p:cNvSpPr txBox="1"/>
          <p:nvPr/>
        </p:nvSpPr>
        <p:spPr>
          <a:xfrm>
            <a:off x="640080" y="3931920"/>
            <a:ext cx="237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Vendor data flows unchanged</a:t>
            </a:r>
            <a:endParaRPr sz="1500"/>
          </a:p>
        </p:txBody>
      </p:sp>
      <p:sp>
        <p:nvSpPr>
          <p:cNvPr id="221" name="Google Shape;221;p16"/>
          <p:cNvSpPr/>
          <p:nvPr/>
        </p:nvSpPr>
        <p:spPr>
          <a:xfrm>
            <a:off x="3218688" y="3749039"/>
            <a:ext cx="2560320" cy="50292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3310128" y="3776472"/>
            <a:ext cx="23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INDEPENDENT SCALING</a:t>
            </a:r>
            <a:endParaRPr sz="1500"/>
          </a:p>
        </p:txBody>
      </p:sp>
      <p:sp>
        <p:nvSpPr>
          <p:cNvPr id="223" name="Google Shape;223;p16"/>
          <p:cNvSpPr txBox="1"/>
          <p:nvPr/>
        </p:nvSpPr>
        <p:spPr>
          <a:xfrm>
            <a:off x="3310128" y="3931920"/>
            <a:ext cx="237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Planes scale independently</a:t>
            </a:r>
            <a:endParaRPr sz="1500"/>
          </a:p>
        </p:txBody>
      </p:sp>
      <p:sp>
        <p:nvSpPr>
          <p:cNvPr id="224" name="Google Shape;224;p16"/>
          <p:cNvSpPr/>
          <p:nvPr/>
        </p:nvSpPr>
        <p:spPr>
          <a:xfrm>
            <a:off x="5888736" y="3749039"/>
            <a:ext cx="2560320" cy="50292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5980176" y="3776472"/>
            <a:ext cx="23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STANDARDIZED OBSERVABILITY</a:t>
            </a:r>
            <a:endParaRPr sz="1500"/>
          </a:p>
        </p:txBody>
      </p:sp>
      <p:sp>
        <p:nvSpPr>
          <p:cNvPr id="226" name="Google Shape;226;p16"/>
          <p:cNvSpPr txBox="1"/>
          <p:nvPr/>
        </p:nvSpPr>
        <p:spPr>
          <a:xfrm>
            <a:off x="5980176" y="3931920"/>
            <a:ext cx="237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One format, one destination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0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Production Capabilities — Built, Integrated, Demonstrated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548640" y="960120"/>
            <a:ext cx="50700" cy="30180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612140" y="960120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652496" y="930775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Fleet Inventory &amp; Topology</a:t>
            </a:r>
            <a:endParaRPr sz="1600"/>
          </a:p>
        </p:txBody>
      </p:sp>
      <p:sp>
        <p:nvSpPr>
          <p:cNvPr id="236" name="Google Shape;236;p17"/>
          <p:cNvSpPr txBox="1"/>
          <p:nvPr/>
        </p:nvSpPr>
        <p:spPr>
          <a:xfrm>
            <a:off x="652496" y="1077066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Real-time node/agent discovery, health, multi-agent per node</a:t>
            </a:r>
            <a:endParaRPr sz="1600"/>
          </a:p>
        </p:txBody>
      </p:sp>
      <p:sp>
        <p:nvSpPr>
          <p:cNvPr id="237" name="Google Shape;237;p17"/>
          <p:cNvSpPr/>
          <p:nvPr/>
        </p:nvSpPr>
        <p:spPr>
          <a:xfrm>
            <a:off x="548640" y="1353312"/>
            <a:ext cx="50700" cy="301800"/>
          </a:xfrm>
          <a:prstGeom prst="rect">
            <a:avLst/>
          </a:prstGeom>
          <a:solidFill>
            <a:srgbClr val="48BB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612140" y="1353312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652496" y="1323967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Agent Lifecycle Management</a:t>
            </a:r>
            <a:endParaRPr sz="1600"/>
          </a:p>
        </p:txBody>
      </p:sp>
      <p:sp>
        <p:nvSpPr>
          <p:cNvPr id="240" name="Google Shape;240;p17"/>
          <p:cNvSpPr txBox="1"/>
          <p:nvPr/>
        </p:nvSpPr>
        <p:spPr>
          <a:xfrm>
            <a:off x="652496" y="1470258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Install, upgrade, restart, decommission via state machine</a:t>
            </a:r>
            <a:endParaRPr sz="1600"/>
          </a:p>
        </p:txBody>
      </p:sp>
      <p:sp>
        <p:nvSpPr>
          <p:cNvPr id="241" name="Google Shape;241;p17"/>
          <p:cNvSpPr/>
          <p:nvPr/>
        </p:nvSpPr>
        <p:spPr>
          <a:xfrm>
            <a:off x="548640" y="1746504"/>
            <a:ext cx="50700" cy="3018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612140" y="1746504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658368" y="1717159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Binary &amp; Config Versioning</a:t>
            </a:r>
            <a:endParaRPr sz="1600"/>
          </a:p>
        </p:txBody>
      </p:sp>
      <p:sp>
        <p:nvSpPr>
          <p:cNvPr id="244" name="Google Shape;244;p17"/>
          <p:cNvSpPr txBox="1"/>
          <p:nvPr/>
        </p:nvSpPr>
        <p:spPr>
          <a:xfrm>
            <a:off x="658368" y="1863450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Version and distribute with platform/architecture matrix</a:t>
            </a:r>
            <a:endParaRPr sz="1600"/>
          </a:p>
        </p:txBody>
      </p:sp>
      <p:sp>
        <p:nvSpPr>
          <p:cNvPr id="245" name="Google Shape;245;p17"/>
          <p:cNvSpPr/>
          <p:nvPr/>
        </p:nvSpPr>
        <p:spPr>
          <a:xfrm>
            <a:off x="548640" y="2139696"/>
            <a:ext cx="50700" cy="3018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612140" y="2139696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652496" y="2110351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Package Management</a:t>
            </a:r>
            <a:endParaRPr sz="1600"/>
          </a:p>
        </p:txBody>
      </p:sp>
      <p:sp>
        <p:nvSpPr>
          <p:cNvPr id="248" name="Google Shape;248;p17"/>
          <p:cNvSpPr txBox="1"/>
          <p:nvPr/>
        </p:nvSpPr>
        <p:spPr>
          <a:xfrm>
            <a:off x="652496" y="2256642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Binary groups + agent packages with approval workflows</a:t>
            </a:r>
            <a:endParaRPr sz="1600"/>
          </a:p>
        </p:txBody>
      </p:sp>
      <p:sp>
        <p:nvSpPr>
          <p:cNvPr id="249" name="Google Shape;249;p17"/>
          <p:cNvSpPr/>
          <p:nvPr/>
        </p:nvSpPr>
        <p:spPr>
          <a:xfrm>
            <a:off x="548640" y="2532888"/>
            <a:ext cx="50700" cy="30180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612140" y="2532888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652496" y="2503543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Policy Engine</a:t>
            </a:r>
            <a:endParaRPr sz="1600"/>
          </a:p>
        </p:txBody>
      </p:sp>
      <p:sp>
        <p:nvSpPr>
          <p:cNvPr id="252" name="Google Shape;252;p17"/>
          <p:cNvSpPr txBox="1"/>
          <p:nvPr/>
        </p:nvSpPr>
        <p:spPr>
          <a:xfrm>
            <a:off x="652496" y="2649834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Hierarchical overrides per node, group, environment</a:t>
            </a:r>
            <a:endParaRPr sz="1600"/>
          </a:p>
        </p:txBody>
      </p:sp>
      <p:sp>
        <p:nvSpPr>
          <p:cNvPr id="253" name="Google Shape;253;p17"/>
          <p:cNvSpPr/>
          <p:nvPr/>
        </p:nvSpPr>
        <p:spPr>
          <a:xfrm>
            <a:off x="548640" y="2926080"/>
            <a:ext cx="50700" cy="301800"/>
          </a:xfrm>
          <a:prstGeom prst="rect">
            <a:avLst/>
          </a:prstGeom>
          <a:solidFill>
            <a:srgbClr val="48BB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612140" y="2926080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652496" y="2896735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Canary Rollouts</a:t>
            </a:r>
            <a:endParaRPr sz="1600"/>
          </a:p>
        </p:txBody>
      </p:sp>
      <p:sp>
        <p:nvSpPr>
          <p:cNvPr id="256" name="Google Shape;256;p17"/>
          <p:cNvSpPr txBox="1"/>
          <p:nvPr/>
        </p:nvSpPr>
        <p:spPr>
          <a:xfrm>
            <a:off x="652496" y="3043026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Staged rollouts, progression gates, automatic rollback</a:t>
            </a:r>
            <a:endParaRPr sz="1600"/>
          </a:p>
        </p:txBody>
      </p:sp>
      <p:sp>
        <p:nvSpPr>
          <p:cNvPr id="257" name="Google Shape;257;p17"/>
          <p:cNvSpPr/>
          <p:nvPr/>
        </p:nvSpPr>
        <p:spPr>
          <a:xfrm>
            <a:off x="4846320" y="960120"/>
            <a:ext cx="50700" cy="3018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909820" y="960120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4956048" y="925564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Drift Detection &amp; Remediation</a:t>
            </a:r>
            <a:endParaRPr sz="1600"/>
          </a:p>
        </p:txBody>
      </p:sp>
      <p:sp>
        <p:nvSpPr>
          <p:cNvPr id="260" name="Google Shape;260;p17"/>
          <p:cNvSpPr txBox="1"/>
          <p:nvPr/>
        </p:nvSpPr>
        <p:spPr>
          <a:xfrm>
            <a:off x="4956048" y="1053580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Continuous actual-vs-desired, auto-corrective actions</a:t>
            </a:r>
            <a:endParaRPr sz="1600"/>
          </a:p>
        </p:txBody>
      </p:sp>
      <p:sp>
        <p:nvSpPr>
          <p:cNvPr id="261" name="Google Shape;261;p17"/>
          <p:cNvSpPr/>
          <p:nvPr/>
        </p:nvSpPr>
        <p:spPr>
          <a:xfrm>
            <a:off x="4846320" y="1353312"/>
            <a:ext cx="50700" cy="3018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4909820" y="1353312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4956048" y="1318756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Config Overrides</a:t>
            </a:r>
            <a:endParaRPr sz="1600"/>
          </a:p>
        </p:txBody>
      </p:sp>
      <p:sp>
        <p:nvSpPr>
          <p:cNvPr id="264" name="Google Shape;264;p17"/>
          <p:cNvSpPr txBox="1"/>
          <p:nvPr/>
        </p:nvSpPr>
        <p:spPr>
          <a:xfrm>
            <a:off x="4956048" y="1446772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Targeted overrides without modifying base policies</a:t>
            </a:r>
            <a:endParaRPr sz="1600"/>
          </a:p>
        </p:txBody>
      </p:sp>
      <p:sp>
        <p:nvSpPr>
          <p:cNvPr id="265" name="Google Shape;265;p17"/>
          <p:cNvSpPr/>
          <p:nvPr/>
        </p:nvSpPr>
        <p:spPr>
          <a:xfrm>
            <a:off x="4846320" y="1746504"/>
            <a:ext cx="50700" cy="301800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4909820" y="1746504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4956048" y="1711948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Attestation &amp; Trust</a:t>
            </a:r>
            <a:endParaRPr sz="1600"/>
          </a:p>
        </p:txBody>
      </p:sp>
      <p:sp>
        <p:nvSpPr>
          <p:cNvPr id="268" name="Google Shape;268;p17"/>
          <p:cNvSpPr txBox="1"/>
          <p:nvPr/>
        </p:nvSpPr>
        <p:spPr>
          <a:xfrm>
            <a:off x="4956048" y="1839964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Agent identity verification before management access</a:t>
            </a:r>
            <a:endParaRPr sz="1600"/>
          </a:p>
        </p:txBody>
      </p:sp>
      <p:sp>
        <p:nvSpPr>
          <p:cNvPr id="269" name="Google Shape;269;p17"/>
          <p:cNvSpPr/>
          <p:nvPr/>
        </p:nvSpPr>
        <p:spPr>
          <a:xfrm>
            <a:off x="4846320" y="2139696"/>
            <a:ext cx="50700" cy="30180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4909820" y="2139696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4956048" y="2105140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Agent Logs &amp; Observability</a:t>
            </a:r>
            <a:endParaRPr sz="1600"/>
          </a:p>
        </p:txBody>
      </p:sp>
      <p:sp>
        <p:nvSpPr>
          <p:cNvPr id="272" name="Google Shape;272;p17"/>
          <p:cNvSpPr txBox="1"/>
          <p:nvPr/>
        </p:nvSpPr>
        <p:spPr>
          <a:xfrm>
            <a:off x="4956048" y="2233156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Centralized viewer, per-agent filtering, standardized output</a:t>
            </a:r>
            <a:endParaRPr sz="1600"/>
          </a:p>
        </p:txBody>
      </p:sp>
      <p:sp>
        <p:nvSpPr>
          <p:cNvPr id="273" name="Google Shape;273;p17"/>
          <p:cNvSpPr/>
          <p:nvPr/>
        </p:nvSpPr>
        <p:spPr>
          <a:xfrm>
            <a:off x="4846320" y="2532888"/>
            <a:ext cx="50700" cy="301800"/>
          </a:xfrm>
          <a:prstGeom prst="rect">
            <a:avLst/>
          </a:prstGeom>
          <a:solidFill>
            <a:srgbClr val="48BB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4909820" y="2532888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4956048" y="2498332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Artifact Management</a:t>
            </a:r>
            <a:endParaRPr sz="1600"/>
          </a:p>
        </p:txBody>
      </p:sp>
      <p:sp>
        <p:nvSpPr>
          <p:cNvPr id="276" name="Google Shape;276;p17"/>
          <p:cNvSpPr txBox="1"/>
          <p:nvPr/>
        </p:nvSpPr>
        <p:spPr>
          <a:xfrm>
            <a:off x="4956048" y="2626348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Unified store for binaries, plugins, packages</a:t>
            </a:r>
            <a:endParaRPr sz="1600"/>
          </a:p>
        </p:txBody>
      </p:sp>
      <p:sp>
        <p:nvSpPr>
          <p:cNvPr id="277" name="Google Shape;277;p17"/>
          <p:cNvSpPr/>
          <p:nvPr/>
        </p:nvSpPr>
        <p:spPr>
          <a:xfrm>
            <a:off x="4846320" y="2926080"/>
            <a:ext cx="50700" cy="3018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4909820" y="2926080"/>
            <a:ext cx="3840600" cy="3018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4956048" y="2873249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Scheduler &amp; Job Control</a:t>
            </a:r>
            <a:endParaRPr sz="1600"/>
          </a:p>
        </p:txBody>
      </p:sp>
      <p:sp>
        <p:nvSpPr>
          <p:cNvPr id="280" name="Google Shape;280;p17"/>
          <p:cNvSpPr txBox="1"/>
          <p:nvPr/>
        </p:nvSpPr>
        <p:spPr>
          <a:xfrm>
            <a:off x="4956048" y="3019540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Scheduled/on-demand ops with execution history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8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Node in Sync — Drift Detection &amp; Auto-Remediation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493090" y="747694"/>
            <a:ext cx="393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HOW DRIFT DETECTION WORKS</a:t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640080" y="1188720"/>
            <a:ext cx="1463040" cy="32004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685800" y="1216152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Desired State</a:t>
            </a:r>
            <a:endParaRPr sz="1500"/>
          </a:p>
        </p:txBody>
      </p:sp>
      <p:sp>
        <p:nvSpPr>
          <p:cNvPr id="290" name="Google Shape;290;p18"/>
          <p:cNvSpPr txBox="1"/>
          <p:nvPr/>
        </p:nvSpPr>
        <p:spPr>
          <a:xfrm>
            <a:off x="685800" y="1353312"/>
            <a:ext cx="137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(from policy)</a:t>
            </a:r>
            <a:endParaRPr sz="1500"/>
          </a:p>
        </p:txBody>
      </p:sp>
      <p:sp>
        <p:nvSpPr>
          <p:cNvPr id="291" name="Google Shape;291;p18"/>
          <p:cNvSpPr txBox="1"/>
          <p:nvPr/>
        </p:nvSpPr>
        <p:spPr>
          <a:xfrm>
            <a:off x="2171318" y="1243575"/>
            <a:ext cx="27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1500"/>
          </a:p>
        </p:txBody>
      </p:sp>
      <p:sp>
        <p:nvSpPr>
          <p:cNvPr id="292" name="Google Shape;292;p18"/>
          <p:cNvSpPr/>
          <p:nvPr/>
        </p:nvSpPr>
        <p:spPr>
          <a:xfrm>
            <a:off x="2560320" y="1188720"/>
            <a:ext cx="1463040" cy="32004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2606040" y="1216152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Actual State</a:t>
            </a:r>
            <a:endParaRPr sz="1500"/>
          </a:p>
        </p:txBody>
      </p:sp>
      <p:sp>
        <p:nvSpPr>
          <p:cNvPr id="294" name="Google Shape;294;p18"/>
          <p:cNvSpPr txBox="1"/>
          <p:nvPr/>
        </p:nvSpPr>
        <p:spPr>
          <a:xfrm>
            <a:off x="2606040" y="1353312"/>
            <a:ext cx="137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(from supervisor)</a:t>
            </a:r>
            <a:endParaRPr sz="1500"/>
          </a:p>
        </p:txBody>
      </p:sp>
      <p:sp>
        <p:nvSpPr>
          <p:cNvPr id="295" name="Google Shape;295;p18"/>
          <p:cNvSpPr txBox="1"/>
          <p:nvPr/>
        </p:nvSpPr>
        <p:spPr>
          <a:xfrm>
            <a:off x="1846224" y="1536192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500"/>
          </a:p>
        </p:txBody>
      </p:sp>
      <p:sp>
        <p:nvSpPr>
          <p:cNvPr id="296" name="Google Shape;296;p18"/>
          <p:cNvSpPr/>
          <p:nvPr/>
        </p:nvSpPr>
        <p:spPr>
          <a:xfrm>
            <a:off x="1188720" y="1719072"/>
            <a:ext cx="2286000" cy="27432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 txBox="1"/>
          <p:nvPr/>
        </p:nvSpPr>
        <p:spPr>
          <a:xfrm>
            <a:off x="1234440" y="1737360"/>
            <a:ext cx="2194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Reconciliation Engine (continuous)</a:t>
            </a:r>
            <a:endParaRPr sz="1500"/>
          </a:p>
        </p:txBody>
      </p:sp>
      <p:sp>
        <p:nvSpPr>
          <p:cNvPr id="298" name="Google Shape;298;p18"/>
          <p:cNvSpPr txBox="1"/>
          <p:nvPr/>
        </p:nvSpPr>
        <p:spPr>
          <a:xfrm>
            <a:off x="1463040" y="2011680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500"/>
          </a:p>
        </p:txBody>
      </p:sp>
      <p:sp>
        <p:nvSpPr>
          <p:cNvPr id="299" name="Google Shape;299;p18"/>
          <p:cNvSpPr txBox="1"/>
          <p:nvPr/>
        </p:nvSpPr>
        <p:spPr>
          <a:xfrm>
            <a:off x="2743200" y="2011680"/>
            <a:ext cx="45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500"/>
          </a:p>
        </p:txBody>
      </p:sp>
      <p:sp>
        <p:nvSpPr>
          <p:cNvPr id="300" name="Google Shape;300;p18"/>
          <p:cNvSpPr/>
          <p:nvPr/>
        </p:nvSpPr>
        <p:spPr>
          <a:xfrm>
            <a:off x="640080" y="2176272"/>
            <a:ext cx="1463040" cy="27432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685800" y="2212848"/>
            <a:ext cx="1371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In Sync</a:t>
            </a:r>
            <a:endParaRPr sz="1500"/>
          </a:p>
        </p:txBody>
      </p:sp>
      <p:sp>
        <p:nvSpPr>
          <p:cNvPr id="302" name="Google Shape;302;p18"/>
          <p:cNvSpPr/>
          <p:nvPr/>
        </p:nvSpPr>
        <p:spPr>
          <a:xfrm>
            <a:off x="2560320" y="2176272"/>
            <a:ext cx="1463040" cy="27432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2606040" y="2212848"/>
            <a:ext cx="1371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Drift Detected</a:t>
            </a:r>
            <a:endParaRPr sz="1500"/>
          </a:p>
        </p:txBody>
      </p:sp>
      <p:sp>
        <p:nvSpPr>
          <p:cNvPr id="304" name="Google Shape;304;p18"/>
          <p:cNvSpPr txBox="1"/>
          <p:nvPr/>
        </p:nvSpPr>
        <p:spPr>
          <a:xfrm>
            <a:off x="548640" y="2606040"/>
            <a:ext cx="393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WHAT WE DETECT</a:t>
            </a:r>
            <a:endParaRPr sz="1500"/>
          </a:p>
        </p:txBody>
      </p:sp>
      <p:sp>
        <p:nvSpPr>
          <p:cNvPr id="305" name="Google Shape;305;p18"/>
          <p:cNvSpPr txBox="1"/>
          <p:nvPr/>
        </p:nvSpPr>
        <p:spPr>
          <a:xfrm>
            <a:off x="548640" y="2834640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Binary drift — wrong agent version</a:t>
            </a:r>
            <a:endParaRPr sz="1500"/>
          </a:p>
        </p:txBody>
      </p:sp>
      <p:sp>
        <p:nvSpPr>
          <p:cNvPr id="306" name="Google Shape;306;p18"/>
          <p:cNvSpPr txBox="1"/>
          <p:nvPr/>
        </p:nvSpPr>
        <p:spPr>
          <a:xfrm>
            <a:off x="548640" y="2980944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Configuration drift — config diverged</a:t>
            </a:r>
            <a:endParaRPr sz="1500"/>
          </a:p>
        </p:txBody>
      </p:sp>
      <p:sp>
        <p:nvSpPr>
          <p:cNvPr id="307" name="Google Shape;307;p18"/>
          <p:cNvSpPr txBox="1"/>
          <p:nvPr/>
        </p:nvSpPr>
        <p:spPr>
          <a:xfrm>
            <a:off x="548640" y="3127248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Plugin drift — extensions out of sync</a:t>
            </a:r>
            <a:endParaRPr sz="1500"/>
          </a:p>
        </p:txBody>
      </p:sp>
      <p:sp>
        <p:nvSpPr>
          <p:cNvPr id="308" name="Google Shape;308;p18"/>
          <p:cNvSpPr txBox="1"/>
          <p:nvPr/>
        </p:nvSpPr>
        <p:spPr>
          <a:xfrm>
            <a:off x="548640" y="3273552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Unmanaged agents — not in policy</a:t>
            </a:r>
            <a:endParaRPr sz="1500"/>
          </a:p>
        </p:txBody>
      </p:sp>
      <p:sp>
        <p:nvSpPr>
          <p:cNvPr id="309" name="Google Shape;309;p18"/>
          <p:cNvSpPr txBox="1"/>
          <p:nvPr/>
        </p:nvSpPr>
        <p:spPr>
          <a:xfrm>
            <a:off x="4846320" y="91440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POLICY GOVERNANCE</a:t>
            </a:r>
            <a:endParaRPr/>
          </a:p>
        </p:txBody>
      </p:sp>
      <p:sp>
        <p:nvSpPr>
          <p:cNvPr id="310" name="Google Shape;310;p18"/>
          <p:cNvSpPr/>
          <p:nvPr/>
        </p:nvSpPr>
        <p:spPr>
          <a:xfrm>
            <a:off x="4846320" y="1188720"/>
            <a:ext cx="5080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4909820" y="1188720"/>
            <a:ext cx="3868420" cy="32004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4956048" y="1207008"/>
            <a:ext cx="3200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Base Policy</a:t>
            </a:r>
            <a:endParaRPr sz="1500"/>
          </a:p>
        </p:txBody>
      </p:sp>
      <p:sp>
        <p:nvSpPr>
          <p:cNvPr id="313" name="Google Shape;313;p18"/>
          <p:cNvSpPr txBox="1"/>
          <p:nvPr/>
        </p:nvSpPr>
        <p:spPr>
          <a:xfrm>
            <a:off x="4956048" y="1344168"/>
            <a:ext cx="320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All prod nodes run OTel v0.104</a:t>
            </a:r>
            <a:endParaRPr sz="1500"/>
          </a:p>
        </p:txBody>
      </p:sp>
      <p:sp>
        <p:nvSpPr>
          <p:cNvPr id="314" name="Google Shape;314;p18"/>
          <p:cNvSpPr/>
          <p:nvPr/>
        </p:nvSpPr>
        <p:spPr>
          <a:xfrm>
            <a:off x="4846320" y="1581912"/>
            <a:ext cx="50800" cy="32004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909820" y="1581912"/>
            <a:ext cx="3868420" cy="32004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4956048" y="1600200"/>
            <a:ext cx="3200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Group Override</a:t>
            </a:r>
            <a:endParaRPr sz="1500"/>
          </a:p>
        </p:txBody>
      </p:sp>
      <p:sp>
        <p:nvSpPr>
          <p:cNvPr id="317" name="Google Shape;317;p18"/>
          <p:cNvSpPr txBox="1"/>
          <p:nvPr/>
        </p:nvSpPr>
        <p:spPr>
          <a:xfrm>
            <a:off x="4956048" y="1737360"/>
            <a:ext cx="320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GPU nodes get additional metrics</a:t>
            </a:r>
            <a:endParaRPr sz="1500"/>
          </a:p>
        </p:txBody>
      </p:sp>
      <p:sp>
        <p:nvSpPr>
          <p:cNvPr id="318" name="Google Shape;318;p18"/>
          <p:cNvSpPr/>
          <p:nvPr/>
        </p:nvSpPr>
        <p:spPr>
          <a:xfrm>
            <a:off x="4846320" y="1975104"/>
            <a:ext cx="50800" cy="3200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4909820" y="1975104"/>
            <a:ext cx="3868420" cy="32004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4956048" y="1993392"/>
            <a:ext cx="3200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Node Override</a:t>
            </a:r>
            <a:endParaRPr sz="1500"/>
          </a:p>
        </p:txBody>
      </p:sp>
      <p:sp>
        <p:nvSpPr>
          <p:cNvPr id="321" name="Google Shape;321;p18"/>
          <p:cNvSpPr txBox="1"/>
          <p:nvPr/>
        </p:nvSpPr>
        <p:spPr>
          <a:xfrm>
            <a:off x="4956048" y="2130552"/>
            <a:ext cx="320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Canary node runs OTel v0.105</a:t>
            </a:r>
            <a:endParaRPr sz="1500"/>
          </a:p>
        </p:txBody>
      </p:sp>
      <p:sp>
        <p:nvSpPr>
          <p:cNvPr id="322" name="Google Shape;322;p18"/>
          <p:cNvSpPr txBox="1"/>
          <p:nvPr/>
        </p:nvSpPr>
        <p:spPr>
          <a:xfrm>
            <a:off x="4846320" y="2423160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APPROVAL WORKFLOWS</a:t>
            </a:r>
            <a:endParaRPr sz="1500"/>
          </a:p>
        </p:txBody>
      </p:sp>
      <p:sp>
        <p:nvSpPr>
          <p:cNvPr id="323" name="Google Shape;323;p18"/>
          <p:cNvSpPr txBox="1"/>
          <p:nvPr/>
        </p:nvSpPr>
        <p:spPr>
          <a:xfrm>
            <a:off x="4846320" y="2651760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Binaries require approval before policy reference</a:t>
            </a:r>
            <a:endParaRPr sz="1500"/>
          </a:p>
        </p:txBody>
      </p:sp>
      <p:sp>
        <p:nvSpPr>
          <p:cNvPr id="324" name="Google Shape;324;p18"/>
          <p:cNvSpPr txBox="1"/>
          <p:nvPr/>
        </p:nvSpPr>
        <p:spPr>
          <a:xfrm>
            <a:off x="4846320" y="2798064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Config versions gated before fleet-wide push</a:t>
            </a:r>
            <a:endParaRPr sz="1500"/>
          </a:p>
        </p:txBody>
      </p:sp>
      <p:sp>
        <p:nvSpPr>
          <p:cNvPr id="325" name="Google Shape;325;p18"/>
          <p:cNvSpPr txBox="1"/>
          <p:nvPr/>
        </p:nvSpPr>
        <p:spPr>
          <a:xfrm>
            <a:off x="4846320" y="2944368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Package promotions blocked without review</a:t>
            </a:r>
            <a:endParaRPr sz="1500"/>
          </a:p>
        </p:txBody>
      </p:sp>
      <p:sp>
        <p:nvSpPr>
          <p:cNvPr id="326" name="Google Shape;326;p18"/>
          <p:cNvSpPr txBox="1"/>
          <p:nvPr/>
        </p:nvSpPr>
        <p:spPr>
          <a:xfrm>
            <a:off x="4846320" y="3090672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Full audit trail: who, what, when, why</a:t>
            </a:r>
            <a:endParaRPr sz="1500"/>
          </a:p>
        </p:txBody>
      </p:sp>
      <p:sp>
        <p:nvSpPr>
          <p:cNvPr id="327" name="Google Shape;327;p18"/>
          <p:cNvSpPr/>
          <p:nvPr/>
        </p:nvSpPr>
        <p:spPr>
          <a:xfrm>
            <a:off x="4846320" y="3344684"/>
            <a:ext cx="3931800" cy="4572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4956048" y="3319272"/>
            <a:ext cx="365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sz="1500"/>
          </a:p>
        </p:txBody>
      </p:sp>
      <p:sp>
        <p:nvSpPr>
          <p:cNvPr id="329" name="Google Shape;329;p18"/>
          <p:cNvSpPr txBox="1"/>
          <p:nvPr/>
        </p:nvSpPr>
        <p:spPr>
          <a:xfrm>
            <a:off x="4956048" y="3474720"/>
            <a:ext cx="365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CrowdStrike July 2024: bad push bricked 8.5M machines. Our canary + approval gates prevent this.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9"/>
          <p:cNvSpPr txBox="1"/>
          <p:nvPr/>
        </p:nvSpPr>
        <p:spPr>
          <a:xfrm>
            <a:off x="548640" y="320040"/>
            <a:ext cx="804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Dashboard Replaces All </a:t>
            </a: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Specific</a:t>
            </a: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Vendor Consoles</a:t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548640" y="914400"/>
            <a:ext cx="3840480" cy="3657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 txBox="1"/>
          <p:nvPr/>
        </p:nvSpPr>
        <p:spPr>
          <a:xfrm>
            <a:off x="640080" y="941832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Fleet Health</a:t>
            </a:r>
            <a:endParaRPr sz="1600"/>
          </a:p>
        </p:txBody>
      </p:sp>
      <p:sp>
        <p:nvSpPr>
          <p:cNvPr id="338" name="Google Shape;338;p19"/>
          <p:cNvSpPr txBox="1"/>
          <p:nvPr/>
        </p:nvSpPr>
        <p:spPr>
          <a:xfrm>
            <a:off x="640080" y="1097280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Healthy: 198,450 | Degraded: 1,200 | Unhealthy: 312</a:t>
            </a:r>
            <a:endParaRPr sz="1600"/>
          </a:p>
        </p:txBody>
      </p:sp>
      <p:sp>
        <p:nvSpPr>
          <p:cNvPr id="339" name="Google Shape;339;p19"/>
          <p:cNvSpPr/>
          <p:nvPr/>
        </p:nvSpPr>
        <p:spPr>
          <a:xfrm>
            <a:off x="4846320" y="914400"/>
            <a:ext cx="3840480" cy="3657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4937760" y="941832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Active Rollouts</a:t>
            </a:r>
            <a:endParaRPr sz="1600"/>
          </a:p>
        </p:txBody>
      </p:sp>
      <p:sp>
        <p:nvSpPr>
          <p:cNvPr id="341" name="Google Shape;341;p19"/>
          <p:cNvSpPr txBox="1"/>
          <p:nvPr/>
        </p:nvSpPr>
        <p:spPr>
          <a:xfrm>
            <a:off x="4937760" y="1097280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OTel v0.105: Canary 5% | Qualys v8.2: Rolling 67%</a:t>
            </a:r>
            <a:endParaRPr sz="1600"/>
          </a:p>
        </p:txBody>
      </p:sp>
      <p:sp>
        <p:nvSpPr>
          <p:cNvPr id="342" name="Google Shape;342;p19"/>
          <p:cNvSpPr/>
          <p:nvPr/>
        </p:nvSpPr>
        <p:spPr>
          <a:xfrm>
            <a:off x="548640" y="1353312"/>
            <a:ext cx="3840480" cy="3657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640080" y="1380744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Drift Alerts</a:t>
            </a:r>
            <a:endParaRPr sz="1600"/>
          </a:p>
        </p:txBody>
      </p:sp>
      <p:sp>
        <p:nvSpPr>
          <p:cNvPr id="344" name="Google Shape;344;p19"/>
          <p:cNvSpPr txBox="1"/>
          <p:nvPr/>
        </p:nvSpPr>
        <p:spPr>
          <a:xfrm>
            <a:off x="640080" y="1536192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47 binary drift | 12 config drift | 3 plugin drift</a:t>
            </a:r>
            <a:endParaRPr sz="1600"/>
          </a:p>
        </p:txBody>
      </p:sp>
      <p:sp>
        <p:nvSpPr>
          <p:cNvPr id="345" name="Google Shape;345;p19"/>
          <p:cNvSpPr/>
          <p:nvPr/>
        </p:nvSpPr>
        <p:spPr>
          <a:xfrm>
            <a:off x="4846320" y="1353312"/>
            <a:ext cx="3840480" cy="3657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4937760" y="1380744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Pending Approvals</a:t>
            </a:r>
            <a:endParaRPr sz="1600"/>
          </a:p>
        </p:txBody>
      </p:sp>
      <p:sp>
        <p:nvSpPr>
          <p:cNvPr id="347" name="Google Shape;347;p19"/>
          <p:cNvSpPr txBox="1"/>
          <p:nvPr/>
        </p:nvSpPr>
        <p:spPr>
          <a:xfrm>
            <a:off x="4937760" y="1536192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 binaries | 1 config | 1 package awaiting review</a:t>
            </a:r>
            <a:endParaRPr sz="1600"/>
          </a:p>
        </p:txBody>
      </p:sp>
      <p:sp>
        <p:nvSpPr>
          <p:cNvPr id="348" name="Google Shape;348;p19"/>
          <p:cNvSpPr/>
          <p:nvPr/>
        </p:nvSpPr>
        <p:spPr>
          <a:xfrm>
            <a:off x="548640" y="1792224"/>
            <a:ext cx="3840480" cy="3657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640080" y="1819656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Agent Types</a:t>
            </a:r>
            <a:endParaRPr sz="1600"/>
          </a:p>
        </p:txBody>
      </p:sp>
      <p:sp>
        <p:nvSpPr>
          <p:cNvPr id="350" name="Google Shape;350;p19"/>
          <p:cNvSpPr txBox="1"/>
          <p:nvPr/>
        </p:nvSpPr>
        <p:spPr>
          <a:xfrm>
            <a:off x="640080" y="1975104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OTel: 195K | CrowdStrike: 200K | OSQuery: 180K</a:t>
            </a:r>
            <a:endParaRPr sz="1600"/>
          </a:p>
        </p:txBody>
      </p:sp>
      <p:sp>
        <p:nvSpPr>
          <p:cNvPr id="351" name="Google Shape;351;p19"/>
          <p:cNvSpPr/>
          <p:nvPr/>
        </p:nvSpPr>
        <p:spPr>
          <a:xfrm>
            <a:off x="4846320" y="1792224"/>
            <a:ext cx="3840480" cy="3657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4937760" y="1819656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Recent Events</a:t>
            </a:r>
            <a:endParaRPr sz="1600"/>
          </a:p>
        </p:txBody>
      </p:sp>
      <p:sp>
        <p:nvSpPr>
          <p:cNvPr id="353" name="Google Shape;353;p19"/>
          <p:cNvSpPr txBox="1"/>
          <p:nvPr/>
        </p:nvSpPr>
        <p:spPr>
          <a:xfrm>
            <a:off x="4937760" y="1975104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Policy applied (2m) | Drift fixed (5m) | Approved (12m)</a:t>
            </a:r>
            <a:endParaRPr sz="1600"/>
          </a:p>
        </p:txBody>
      </p:sp>
      <p:sp>
        <p:nvSpPr>
          <p:cNvPr id="354" name="Google Shape;354;p19"/>
          <p:cNvSpPr txBox="1"/>
          <p:nvPr/>
        </p:nvSpPr>
        <p:spPr>
          <a:xfrm>
            <a:off x="548640" y="2331720"/>
            <a:ext cx="7772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KEY WORKFLOWS — ONE CONSOLE</a:t>
            </a:r>
            <a:endParaRPr sz="1600"/>
          </a:p>
        </p:txBody>
      </p:sp>
      <p:sp>
        <p:nvSpPr>
          <p:cNvPr id="355" name="Google Shape;355;p19"/>
          <p:cNvSpPr txBox="1"/>
          <p:nvPr/>
        </p:nvSpPr>
        <p:spPr>
          <a:xfrm>
            <a:off x="548640" y="2560320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 Login to 6 vendor consoles</a:t>
            </a:r>
            <a:endParaRPr sz="1600"/>
          </a:p>
        </p:txBody>
      </p:sp>
      <p:sp>
        <p:nvSpPr>
          <p:cNvPr id="356" name="Google Shape;356;p19"/>
          <p:cNvSpPr txBox="1"/>
          <p:nvPr/>
        </p:nvSpPr>
        <p:spPr>
          <a:xfrm>
            <a:off x="4846320" y="2560320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 All agent health in one fleet view</a:t>
            </a:r>
            <a:endParaRPr sz="1600"/>
          </a:p>
        </p:txBody>
      </p:sp>
      <p:sp>
        <p:nvSpPr>
          <p:cNvPr id="357" name="Google Shape;357;p19"/>
          <p:cNvSpPr txBox="1"/>
          <p:nvPr/>
        </p:nvSpPr>
        <p:spPr>
          <a:xfrm>
            <a:off x="548640" y="2715768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 SSH into box, check 6 processes</a:t>
            </a:r>
            <a:endParaRPr sz="1600"/>
          </a:p>
        </p:txBody>
      </p:sp>
      <p:sp>
        <p:nvSpPr>
          <p:cNvPr id="358" name="Google Shape;358;p19"/>
          <p:cNvSpPr txBox="1"/>
          <p:nvPr/>
        </p:nvSpPr>
        <p:spPr>
          <a:xfrm>
            <a:off x="4846320" y="2715768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 Node detail: every agent, config, drift</a:t>
            </a:r>
            <a:endParaRPr sz="1600"/>
          </a:p>
        </p:txBody>
      </p:sp>
      <p:sp>
        <p:nvSpPr>
          <p:cNvPr id="359" name="Google Shape;359;p19"/>
          <p:cNvSpPr txBox="1"/>
          <p:nvPr/>
        </p:nvSpPr>
        <p:spPr>
          <a:xfrm>
            <a:off x="548640" y="2871215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 Coordinate updates across vendors</a:t>
            </a:r>
            <a:endParaRPr sz="1600"/>
          </a:p>
        </p:txBody>
      </p:sp>
      <p:sp>
        <p:nvSpPr>
          <p:cNvPr id="360" name="Google Shape;360;p19"/>
          <p:cNvSpPr txBox="1"/>
          <p:nvPr/>
        </p:nvSpPr>
        <p:spPr>
          <a:xfrm>
            <a:off x="4846320" y="2871215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 One policy rollout with canary stages</a:t>
            </a:r>
            <a:endParaRPr sz="1600"/>
          </a:p>
        </p:txBody>
      </p:sp>
      <p:sp>
        <p:nvSpPr>
          <p:cNvPr id="361" name="Google Shape;361;p19"/>
          <p:cNvSpPr txBox="1"/>
          <p:nvPr/>
        </p:nvSpPr>
        <p:spPr>
          <a:xfrm>
            <a:off x="548640" y="3026663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 No idea if configs drifted</a:t>
            </a:r>
            <a:endParaRPr sz="1600"/>
          </a:p>
        </p:txBody>
      </p:sp>
      <p:sp>
        <p:nvSpPr>
          <p:cNvPr id="362" name="Google Shape;362;p19"/>
          <p:cNvSpPr txBox="1"/>
          <p:nvPr/>
        </p:nvSpPr>
        <p:spPr>
          <a:xfrm>
            <a:off x="4846320" y="3026663"/>
            <a:ext cx="3657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 Continuous drift detection with alerts</a:t>
            </a:r>
            <a:endParaRPr sz="1600"/>
          </a:p>
        </p:txBody>
      </p:sp>
      <p:sp>
        <p:nvSpPr>
          <p:cNvPr id="363" name="Google Shape;363;p19"/>
          <p:cNvSpPr txBox="1"/>
          <p:nvPr/>
        </p:nvSpPr>
        <p:spPr>
          <a:xfrm>
            <a:off x="548640" y="3246120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SUPPORT IMPACT</a:t>
            </a:r>
            <a:endParaRPr sz="1600"/>
          </a:p>
        </p:txBody>
      </p:sp>
      <p:sp>
        <p:nvSpPr>
          <p:cNvPr id="364" name="Google Shape;364;p19"/>
          <p:cNvSpPr txBox="1"/>
          <p:nvPr/>
        </p:nvSpPr>
        <p:spPr>
          <a:xfrm>
            <a:off x="548640" y="3474720"/>
            <a:ext cx="365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L1:</a:t>
            </a:r>
            <a:endParaRPr sz="1600"/>
          </a:p>
        </p:txBody>
      </p:sp>
      <p:sp>
        <p:nvSpPr>
          <p:cNvPr id="365" name="Google Shape;365;p19"/>
          <p:cNvSpPr txBox="1"/>
          <p:nvPr/>
        </p:nvSpPr>
        <p:spPr>
          <a:xfrm>
            <a:off x="734736" y="3481277"/>
            <a:ext cx="164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One dashboard vs 6 portals</a:t>
            </a:r>
            <a:endParaRPr sz="1600"/>
          </a:p>
        </p:txBody>
      </p:sp>
      <p:sp>
        <p:nvSpPr>
          <p:cNvPr id="366" name="Google Shape;366;p19"/>
          <p:cNvSpPr txBox="1"/>
          <p:nvPr/>
        </p:nvSpPr>
        <p:spPr>
          <a:xfrm>
            <a:off x="2553252" y="3486463"/>
            <a:ext cx="365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L2:</a:t>
            </a:r>
            <a:endParaRPr sz="1600"/>
          </a:p>
        </p:txBody>
      </p:sp>
      <p:sp>
        <p:nvSpPr>
          <p:cNvPr id="367" name="Google Shape;367;p19"/>
          <p:cNvSpPr txBox="1"/>
          <p:nvPr/>
        </p:nvSpPr>
        <p:spPr>
          <a:xfrm>
            <a:off x="2739360" y="3492335"/>
            <a:ext cx="1863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Correlated logs across all agents</a:t>
            </a:r>
            <a:endParaRPr sz="1600"/>
          </a:p>
        </p:txBody>
      </p:sp>
      <p:sp>
        <p:nvSpPr>
          <p:cNvPr id="368" name="Google Shape;368;p19"/>
          <p:cNvSpPr txBox="1"/>
          <p:nvPr/>
        </p:nvSpPr>
        <p:spPr>
          <a:xfrm>
            <a:off x="4642459" y="3493020"/>
            <a:ext cx="365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L3:</a:t>
            </a:r>
            <a:endParaRPr sz="1600"/>
          </a:p>
        </p:txBody>
      </p:sp>
      <p:sp>
        <p:nvSpPr>
          <p:cNvPr id="369" name="Google Shape;369;p19"/>
          <p:cNvSpPr txBox="1"/>
          <p:nvPr/>
        </p:nvSpPr>
        <p:spPr>
          <a:xfrm>
            <a:off x="4843715" y="3493020"/>
            <a:ext cx="164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Push fix from same console</a:t>
            </a:r>
            <a:endParaRPr sz="1600"/>
          </a:p>
        </p:txBody>
      </p:sp>
      <p:sp>
        <p:nvSpPr>
          <p:cNvPr id="370" name="Google Shape;370;p19"/>
          <p:cNvSpPr txBox="1"/>
          <p:nvPr/>
        </p:nvSpPr>
        <p:spPr>
          <a:xfrm>
            <a:off x="6533068" y="3474720"/>
            <a:ext cx="53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Audit:</a:t>
            </a:r>
            <a:endParaRPr sz="1600"/>
          </a:p>
        </p:txBody>
      </p:sp>
      <p:sp>
        <p:nvSpPr>
          <p:cNvPr id="371" name="Google Shape;371;p19"/>
          <p:cNvSpPr txBox="1"/>
          <p:nvPr/>
        </p:nvSpPr>
        <p:spPr>
          <a:xfrm>
            <a:off x="6903720" y="3474720"/>
            <a:ext cx="164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Complete change history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6" name="Google Shape;3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0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More "Push and Pray" — Canary Rollouts with Auto-Rollback</a:t>
            </a:r>
            <a:endParaRPr/>
          </a:p>
        </p:txBody>
      </p:sp>
      <p:sp>
        <p:nvSpPr>
          <p:cNvPr id="378" name="Google Shape;378;p20"/>
          <p:cNvSpPr txBox="1"/>
          <p:nvPr/>
        </p:nvSpPr>
        <p:spPr>
          <a:xfrm>
            <a:off x="487490" y="777250"/>
            <a:ext cx="393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CANARY ROLLOUT STAGES</a:t>
            </a: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548640" y="1188720"/>
            <a:ext cx="50800" cy="457200"/>
          </a:xfrm>
          <a:prstGeom prst="rect">
            <a:avLst/>
          </a:prstGeom>
          <a:solidFill>
            <a:srgbClr val="48BB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612140" y="1188720"/>
            <a:ext cx="3868420" cy="4572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658368" y="1216152"/>
            <a:ext cx="228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Phase 1: Canary (5%)</a:t>
            </a:r>
            <a:endParaRPr sz="1500"/>
          </a:p>
        </p:txBody>
      </p:sp>
      <p:sp>
        <p:nvSpPr>
          <p:cNvPr id="382" name="Google Shape;382;p20"/>
          <p:cNvSpPr txBox="1"/>
          <p:nvPr/>
        </p:nvSpPr>
        <p:spPr>
          <a:xfrm>
            <a:off x="658368" y="1371600"/>
            <a:ext cx="228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Duration: 24 hours</a:t>
            </a:r>
            <a:endParaRPr sz="1500"/>
          </a:p>
        </p:txBody>
      </p:sp>
      <p:sp>
        <p:nvSpPr>
          <p:cNvPr id="383" name="Google Shape;383;p20"/>
          <p:cNvSpPr txBox="1"/>
          <p:nvPr/>
        </p:nvSpPr>
        <p:spPr>
          <a:xfrm>
            <a:off x="658368" y="1499616"/>
            <a:ext cx="320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Gate: error rate, CPU, memory</a:t>
            </a:r>
            <a:endParaRPr sz="1500"/>
          </a:p>
        </p:txBody>
      </p:sp>
      <p:sp>
        <p:nvSpPr>
          <p:cNvPr id="384" name="Google Shape;384;p20"/>
          <p:cNvSpPr/>
          <p:nvPr/>
        </p:nvSpPr>
        <p:spPr>
          <a:xfrm>
            <a:off x="548640" y="1719072"/>
            <a:ext cx="50800" cy="4572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612140" y="1719072"/>
            <a:ext cx="3868420" cy="4572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 txBox="1"/>
          <p:nvPr/>
        </p:nvSpPr>
        <p:spPr>
          <a:xfrm>
            <a:off x="658368" y="1746504"/>
            <a:ext cx="228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Phase 2: Expanded (25%)</a:t>
            </a:r>
            <a:endParaRPr sz="1500"/>
          </a:p>
        </p:txBody>
      </p:sp>
      <p:sp>
        <p:nvSpPr>
          <p:cNvPr id="387" name="Google Shape;387;p20"/>
          <p:cNvSpPr txBox="1"/>
          <p:nvPr/>
        </p:nvSpPr>
        <p:spPr>
          <a:xfrm>
            <a:off x="658368" y="1901952"/>
            <a:ext cx="228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Duration: 48 hours</a:t>
            </a:r>
            <a:endParaRPr sz="1500"/>
          </a:p>
        </p:txBody>
      </p:sp>
      <p:sp>
        <p:nvSpPr>
          <p:cNvPr id="388" name="Google Shape;388;p20"/>
          <p:cNvSpPr txBox="1"/>
          <p:nvPr/>
        </p:nvSpPr>
        <p:spPr>
          <a:xfrm>
            <a:off x="658368" y="2029968"/>
            <a:ext cx="320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Gate: broader validation</a:t>
            </a:r>
            <a:endParaRPr sz="1500"/>
          </a:p>
        </p:txBody>
      </p:sp>
      <p:sp>
        <p:nvSpPr>
          <p:cNvPr id="389" name="Google Shape;389;p20"/>
          <p:cNvSpPr/>
          <p:nvPr/>
        </p:nvSpPr>
        <p:spPr>
          <a:xfrm>
            <a:off x="548640" y="2249424"/>
            <a:ext cx="50800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612140" y="2249424"/>
            <a:ext cx="3868420" cy="4572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658368" y="2276856"/>
            <a:ext cx="228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Phase 3: Full (100%)</a:t>
            </a:r>
            <a:endParaRPr sz="1500"/>
          </a:p>
        </p:txBody>
      </p:sp>
      <p:sp>
        <p:nvSpPr>
          <p:cNvPr id="392" name="Google Shape;392;p20"/>
          <p:cNvSpPr txBox="1"/>
          <p:nvPr/>
        </p:nvSpPr>
        <p:spPr>
          <a:xfrm>
            <a:off x="658368" y="2432304"/>
            <a:ext cx="228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Duration: 72 hours</a:t>
            </a:r>
            <a:endParaRPr sz="1500"/>
          </a:p>
        </p:txBody>
      </p:sp>
      <p:sp>
        <p:nvSpPr>
          <p:cNvPr id="393" name="Google Shape;393;p20"/>
          <p:cNvSpPr txBox="1"/>
          <p:nvPr/>
        </p:nvSpPr>
        <p:spPr>
          <a:xfrm>
            <a:off x="658368" y="2560320"/>
            <a:ext cx="320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Complete deployment</a:t>
            </a:r>
            <a:endParaRPr sz="1500"/>
          </a:p>
        </p:txBody>
      </p:sp>
      <p:sp>
        <p:nvSpPr>
          <p:cNvPr id="394" name="Google Shape;394;p20"/>
          <p:cNvSpPr txBox="1"/>
          <p:nvPr/>
        </p:nvSpPr>
        <p:spPr>
          <a:xfrm>
            <a:off x="548640" y="2834640"/>
            <a:ext cx="393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AUTOMATIC ROLLBACK</a:t>
            </a:r>
            <a:endParaRPr sz="1500"/>
          </a:p>
        </p:txBody>
      </p:sp>
      <p:sp>
        <p:nvSpPr>
          <p:cNvPr id="395" name="Google Shape;395;p20"/>
          <p:cNvSpPr txBox="1"/>
          <p:nvPr/>
        </p:nvSpPr>
        <p:spPr>
          <a:xfrm>
            <a:off x="548640" y="3063240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Error rate exceeds threshold</a:t>
            </a:r>
            <a:endParaRPr sz="1500"/>
          </a:p>
        </p:txBody>
      </p:sp>
      <p:sp>
        <p:nvSpPr>
          <p:cNvPr id="396" name="Google Shape;396;p20"/>
          <p:cNvSpPr txBox="1"/>
          <p:nvPr/>
        </p:nvSpPr>
        <p:spPr>
          <a:xfrm>
            <a:off x="548640" y="3209544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Agent crash rate exceeds threshold</a:t>
            </a:r>
            <a:endParaRPr sz="1500"/>
          </a:p>
        </p:txBody>
      </p:sp>
      <p:sp>
        <p:nvSpPr>
          <p:cNvPr id="397" name="Google Shape;397;p20"/>
          <p:cNvSpPr txBox="1"/>
          <p:nvPr/>
        </p:nvSpPr>
        <p:spPr>
          <a:xfrm>
            <a:off x="548640" y="3355848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Health check failures</a:t>
            </a:r>
            <a:endParaRPr sz="1500"/>
          </a:p>
        </p:txBody>
      </p:sp>
      <p:sp>
        <p:nvSpPr>
          <p:cNvPr id="398" name="Google Shape;398;p20"/>
          <p:cNvSpPr txBox="1"/>
          <p:nvPr/>
        </p:nvSpPr>
        <p:spPr>
          <a:xfrm>
            <a:off x="548640" y="3502152"/>
            <a:ext cx="39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Manual SOC override</a:t>
            </a:r>
            <a:endParaRPr sz="1500"/>
          </a:p>
        </p:txBody>
      </p:sp>
      <p:sp>
        <p:nvSpPr>
          <p:cNvPr id="399" name="Google Shape;399;p20"/>
          <p:cNvSpPr txBox="1"/>
          <p:nvPr/>
        </p:nvSpPr>
        <p:spPr>
          <a:xfrm>
            <a:off x="4846320" y="91440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WHAT CAN BE ROLLED OUT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4846320" y="1188720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Agent binary upgrades (OTel, OSQuery, etc.)</a:t>
            </a:r>
            <a:endParaRPr sz="1500"/>
          </a:p>
        </p:txBody>
      </p:sp>
      <p:sp>
        <p:nvSpPr>
          <p:cNvPr id="401" name="Google Shape;401;p20"/>
          <p:cNvSpPr txBox="1"/>
          <p:nvPr/>
        </p:nvSpPr>
        <p:spPr>
          <a:xfrm>
            <a:off x="4846320" y="1353312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Configuration changes (query packs, thresholds)</a:t>
            </a:r>
            <a:endParaRPr sz="1500"/>
          </a:p>
        </p:txBody>
      </p:sp>
      <p:sp>
        <p:nvSpPr>
          <p:cNvPr id="402" name="Google Shape;402;p20"/>
          <p:cNvSpPr txBox="1"/>
          <p:nvPr/>
        </p:nvSpPr>
        <p:spPr>
          <a:xfrm>
            <a:off x="4846320" y="1517904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Plugin/extension updates</a:t>
            </a:r>
            <a:endParaRPr sz="1500"/>
          </a:p>
        </p:txBody>
      </p:sp>
      <p:sp>
        <p:nvSpPr>
          <p:cNvPr id="403" name="Google Shape;403;p20"/>
          <p:cNvSpPr txBox="1"/>
          <p:nvPr/>
        </p:nvSpPr>
        <p:spPr>
          <a:xfrm>
            <a:off x="4846320" y="1682496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• Policy changes (resource limits, cadence)</a:t>
            </a:r>
            <a:endParaRPr sz="1500"/>
          </a:p>
        </p:txBody>
      </p:sp>
      <p:sp>
        <p:nvSpPr>
          <p:cNvPr id="404" name="Google Shape;404;p20"/>
          <p:cNvSpPr txBox="1"/>
          <p:nvPr/>
        </p:nvSpPr>
        <p:spPr>
          <a:xfrm>
            <a:off x="4846320" y="1920240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VALIDATION AT EVERY STAGE</a:t>
            </a:r>
            <a:endParaRPr sz="1500"/>
          </a:p>
        </p:txBody>
      </p:sp>
      <p:sp>
        <p:nvSpPr>
          <p:cNvPr id="405" name="Google Shape;405;p20"/>
          <p:cNvSpPr txBox="1"/>
          <p:nvPr/>
        </p:nvSpPr>
        <p:spPr>
          <a:xfrm>
            <a:off x="4846320" y="2148840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Schema validation before distribution</a:t>
            </a:r>
            <a:endParaRPr sz="1500"/>
          </a:p>
        </p:txBody>
      </p:sp>
      <p:sp>
        <p:nvSpPr>
          <p:cNvPr id="406" name="Google Shape;406;p20"/>
          <p:cNvSpPr txBox="1"/>
          <p:nvPr/>
        </p:nvSpPr>
        <p:spPr>
          <a:xfrm>
            <a:off x="4846320" y="2313432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Digital signature verification (SHA256)</a:t>
            </a:r>
            <a:endParaRPr sz="1500"/>
          </a:p>
        </p:txBody>
      </p:sp>
      <p:sp>
        <p:nvSpPr>
          <p:cNvPr id="407" name="Google Shape;407;p20"/>
          <p:cNvSpPr txBox="1"/>
          <p:nvPr/>
        </p:nvSpPr>
        <p:spPr>
          <a:xfrm>
            <a:off x="4846320" y="2478024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Post-apply health check confirmation</a:t>
            </a:r>
            <a:endParaRPr sz="1500"/>
          </a:p>
        </p:txBody>
      </p:sp>
      <p:sp>
        <p:nvSpPr>
          <p:cNvPr id="408" name="Google Shape;408;p20"/>
          <p:cNvSpPr txBox="1"/>
          <p:nvPr/>
        </p:nvSpPr>
        <p:spPr>
          <a:xfrm>
            <a:off x="4846320" y="2642616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Effective config reported and compared</a:t>
            </a:r>
            <a:endParaRPr sz="1500"/>
          </a:p>
        </p:txBody>
      </p:sp>
      <p:sp>
        <p:nvSpPr>
          <p:cNvPr id="409" name="Google Shape;409;p20"/>
          <p:cNvSpPr txBox="1"/>
          <p:nvPr/>
        </p:nvSpPr>
        <p:spPr>
          <a:xfrm>
            <a:off x="4846320" y="2834640"/>
            <a:ext cx="393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ROLLOUT LIFECYCLE</a:t>
            </a:r>
            <a:endParaRPr sz="1500"/>
          </a:p>
        </p:txBody>
      </p:sp>
      <p:sp>
        <p:nvSpPr>
          <p:cNvPr id="410" name="Google Shape;410;p20"/>
          <p:cNvSpPr/>
          <p:nvPr/>
        </p:nvSpPr>
        <p:spPr>
          <a:xfrm>
            <a:off x="4846320" y="3108960"/>
            <a:ext cx="640080" cy="27432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4864608" y="3127248"/>
            <a:ext cx="60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sz="1600"/>
          </a:p>
        </p:txBody>
      </p:sp>
      <p:sp>
        <p:nvSpPr>
          <p:cNvPr id="412" name="Google Shape;412;p20"/>
          <p:cNvSpPr txBox="1"/>
          <p:nvPr/>
        </p:nvSpPr>
        <p:spPr>
          <a:xfrm>
            <a:off x="5504688" y="3154680"/>
            <a:ext cx="109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/>
          </a:p>
        </p:txBody>
      </p:sp>
      <p:sp>
        <p:nvSpPr>
          <p:cNvPr id="413" name="Google Shape;413;p20"/>
          <p:cNvSpPr/>
          <p:nvPr/>
        </p:nvSpPr>
        <p:spPr>
          <a:xfrm>
            <a:off x="5623560" y="3108960"/>
            <a:ext cx="640080" cy="27432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5641848" y="3127248"/>
            <a:ext cx="60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canary</a:t>
            </a:r>
            <a:endParaRPr sz="1600"/>
          </a:p>
        </p:txBody>
      </p:sp>
      <p:sp>
        <p:nvSpPr>
          <p:cNvPr id="415" name="Google Shape;415;p20"/>
          <p:cNvSpPr txBox="1"/>
          <p:nvPr/>
        </p:nvSpPr>
        <p:spPr>
          <a:xfrm>
            <a:off x="6281928" y="3154680"/>
            <a:ext cx="109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/>
          </a:p>
        </p:txBody>
      </p:sp>
      <p:sp>
        <p:nvSpPr>
          <p:cNvPr id="416" name="Google Shape;416;p20"/>
          <p:cNvSpPr/>
          <p:nvPr/>
        </p:nvSpPr>
        <p:spPr>
          <a:xfrm>
            <a:off x="6400800" y="3108960"/>
            <a:ext cx="640080" cy="27432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6419088" y="3127248"/>
            <a:ext cx="60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 sz="1600"/>
          </a:p>
        </p:txBody>
      </p:sp>
      <p:sp>
        <p:nvSpPr>
          <p:cNvPr id="418" name="Google Shape;418;p20"/>
          <p:cNvSpPr txBox="1"/>
          <p:nvPr/>
        </p:nvSpPr>
        <p:spPr>
          <a:xfrm>
            <a:off x="7059168" y="3154680"/>
            <a:ext cx="109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/>
          </a:p>
        </p:txBody>
      </p:sp>
      <p:sp>
        <p:nvSpPr>
          <p:cNvPr id="419" name="Google Shape;419;p20"/>
          <p:cNvSpPr/>
          <p:nvPr/>
        </p:nvSpPr>
        <p:spPr>
          <a:xfrm>
            <a:off x="7178040" y="3108960"/>
            <a:ext cx="640080" cy="27432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7196328" y="3127248"/>
            <a:ext cx="60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rolling</a:t>
            </a:r>
            <a:endParaRPr sz="1600"/>
          </a:p>
        </p:txBody>
      </p:sp>
      <p:sp>
        <p:nvSpPr>
          <p:cNvPr id="421" name="Google Shape;421;p20"/>
          <p:cNvSpPr txBox="1"/>
          <p:nvPr/>
        </p:nvSpPr>
        <p:spPr>
          <a:xfrm>
            <a:off x="7836408" y="3154680"/>
            <a:ext cx="109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/>
          </a:p>
        </p:txBody>
      </p:sp>
      <p:sp>
        <p:nvSpPr>
          <p:cNvPr id="422" name="Google Shape;422;p20"/>
          <p:cNvSpPr/>
          <p:nvPr/>
        </p:nvSpPr>
        <p:spPr>
          <a:xfrm>
            <a:off x="7955280" y="3108960"/>
            <a:ext cx="640080" cy="274320"/>
          </a:xfrm>
          <a:prstGeom prst="rect">
            <a:avLst/>
          </a:prstGeom>
          <a:solidFill>
            <a:srgbClr val="23293A"/>
          </a:solidFill>
          <a:ln cap="flat" cmpd="sng" w="1905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7973568" y="3127248"/>
            <a:ext cx="60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sz="1600"/>
          </a:p>
        </p:txBody>
      </p:sp>
      <p:sp>
        <p:nvSpPr>
          <p:cNvPr id="424" name="Google Shape;424;p20"/>
          <p:cNvSpPr/>
          <p:nvPr/>
        </p:nvSpPr>
        <p:spPr>
          <a:xfrm>
            <a:off x="5943600" y="3474720"/>
            <a:ext cx="1645920" cy="20116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 txBox="1"/>
          <p:nvPr/>
        </p:nvSpPr>
        <p:spPr>
          <a:xfrm>
            <a:off x="5989320" y="3493008"/>
            <a:ext cx="155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↑ rolled_back (on failure)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0" name="Google Shape;4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1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Matters — From Months to Hours</a:t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548640" y="960120"/>
            <a:ext cx="50800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612140" y="960120"/>
            <a:ext cx="2468880" cy="64008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658368" y="1005840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REDUCE COST</a:t>
            </a:r>
            <a:endParaRPr/>
          </a:p>
        </p:txBody>
      </p:sp>
      <p:sp>
        <p:nvSpPr>
          <p:cNvPr id="435" name="Google Shape;435;p21"/>
          <p:cNvSpPr txBox="1"/>
          <p:nvPr/>
        </p:nvSpPr>
        <p:spPr>
          <a:xfrm>
            <a:off x="658375" y="1188725"/>
            <a:ext cx="237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Eliminate per-vendor tooling.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team, one platform.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3172968" y="960120"/>
            <a:ext cx="50800" cy="640080"/>
          </a:xfrm>
          <a:prstGeom prst="rect">
            <a:avLst/>
          </a:prstGeom>
          <a:solidFill>
            <a:srgbClr val="48BB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3236468" y="960120"/>
            <a:ext cx="2468880" cy="64008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3282696" y="1005840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FASTER MTTR</a:t>
            </a:r>
            <a:endParaRPr/>
          </a:p>
        </p:txBody>
      </p:sp>
      <p:sp>
        <p:nvSpPr>
          <p:cNvPr id="439" name="Google Shape;439;p21"/>
          <p:cNvSpPr txBox="1"/>
          <p:nvPr/>
        </p:nvSpPr>
        <p:spPr>
          <a:xfrm>
            <a:off x="3249348" y="1188725"/>
            <a:ext cx="246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Fleet </a:t>
            </a:r>
            <a:r>
              <a:rPr lang="en-US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r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 seconds.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search, not six consoles.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5797296" y="960120"/>
            <a:ext cx="50800" cy="64008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5860796" y="960120"/>
            <a:ext cx="2468880" cy="64008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5907024" y="1005840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SAFE ROLLOUTS</a:t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5806969" y="1188725"/>
            <a:ext cx="265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Canary + auto-rollback.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Prevents fleet-wide incidents.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548640" y="1709928"/>
            <a:ext cx="50800" cy="64008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612140" y="1709928"/>
            <a:ext cx="2468880" cy="64008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 txBox="1"/>
          <p:nvPr/>
        </p:nvSpPr>
        <p:spPr>
          <a:xfrm>
            <a:off x="658368" y="1755648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DRIFT MANAGEMENT</a:t>
            </a:r>
            <a:endParaRPr/>
          </a:p>
        </p:txBody>
      </p:sp>
      <p:sp>
        <p:nvSpPr>
          <p:cNvPr id="447" name="Google Shape;447;p21"/>
          <p:cNvSpPr txBox="1"/>
          <p:nvPr/>
        </p:nvSpPr>
        <p:spPr>
          <a:xfrm>
            <a:off x="658368" y="1938528"/>
            <a:ext cx="22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Continuous reconciliation.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Auto-remediation.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3172968" y="1709928"/>
            <a:ext cx="50800" cy="640080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3236468" y="1709928"/>
            <a:ext cx="2468880" cy="64008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3282696" y="1755648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CONFIG: MONTHS → HOURS</a:t>
            </a:r>
            <a:endParaRPr/>
          </a:p>
        </p:txBody>
      </p:sp>
      <p:sp>
        <p:nvSpPr>
          <p:cNvPr id="451" name="Google Shape;451;p21"/>
          <p:cNvSpPr txBox="1"/>
          <p:nvPr/>
        </p:nvSpPr>
        <p:spPr>
          <a:xfrm>
            <a:off x="3282696" y="1938528"/>
            <a:ext cx="22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Policy, canary, approve, done.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vendor coordination.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5797296" y="1709928"/>
            <a:ext cx="50800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5860796" y="1709928"/>
            <a:ext cx="2468880" cy="64008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5907024" y="1755648"/>
            <a:ext cx="2286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AGENTS: MONTHS → DAYS</a:t>
            </a:r>
            <a:endParaRPr/>
          </a:p>
        </p:txBody>
      </p:sp>
      <p:sp>
        <p:nvSpPr>
          <p:cNvPr id="455" name="Google Shape;455;p21"/>
          <p:cNvSpPr txBox="1"/>
          <p:nvPr/>
        </p:nvSpPr>
        <p:spPr>
          <a:xfrm>
            <a:off x="5907024" y="1938528"/>
            <a:ext cx="22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Upload binary, create policy.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Platform handles rest.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548640" y="251460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TRANSFORMATION METRICS</a:t>
            </a: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548640" y="2743200"/>
            <a:ext cx="1920240" cy="5943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594360" y="2770632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Config Changes</a:t>
            </a:r>
            <a:endParaRPr/>
          </a:p>
        </p:txBody>
      </p:sp>
      <p:sp>
        <p:nvSpPr>
          <p:cNvPr id="459" name="Google Shape;459;p21"/>
          <p:cNvSpPr txBox="1"/>
          <p:nvPr/>
        </p:nvSpPr>
        <p:spPr>
          <a:xfrm>
            <a:off x="594360" y="292608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MONTHS</a:t>
            </a:r>
            <a:endParaRPr/>
          </a:p>
        </p:txBody>
      </p:sp>
      <p:sp>
        <p:nvSpPr>
          <p:cNvPr id="460" name="Google Shape;460;p21"/>
          <p:cNvSpPr txBox="1"/>
          <p:nvPr/>
        </p:nvSpPr>
        <p:spPr>
          <a:xfrm>
            <a:off x="1280160" y="2924154"/>
            <a:ext cx="274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61" name="Google Shape;461;p21"/>
          <p:cNvSpPr txBox="1"/>
          <p:nvPr/>
        </p:nvSpPr>
        <p:spPr>
          <a:xfrm>
            <a:off x="1554480" y="292608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HOURS</a:t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2578608" y="2743200"/>
            <a:ext cx="1920240" cy="5943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2624328" y="2770632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New Agents</a:t>
            </a:r>
            <a:endParaRPr/>
          </a:p>
        </p:txBody>
      </p:sp>
      <p:sp>
        <p:nvSpPr>
          <p:cNvPr id="464" name="Google Shape;464;p21"/>
          <p:cNvSpPr txBox="1"/>
          <p:nvPr/>
        </p:nvSpPr>
        <p:spPr>
          <a:xfrm>
            <a:off x="2624328" y="292608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MONTHS</a:t>
            </a:r>
            <a:endParaRPr/>
          </a:p>
        </p:txBody>
      </p:sp>
      <p:sp>
        <p:nvSpPr>
          <p:cNvPr id="465" name="Google Shape;465;p21"/>
          <p:cNvSpPr txBox="1"/>
          <p:nvPr/>
        </p:nvSpPr>
        <p:spPr>
          <a:xfrm>
            <a:off x="3310128" y="2924154"/>
            <a:ext cx="274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66" name="Google Shape;466;p21"/>
          <p:cNvSpPr txBox="1"/>
          <p:nvPr/>
        </p:nvSpPr>
        <p:spPr>
          <a:xfrm>
            <a:off x="3584448" y="292608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DAYS</a:t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4608576" y="2743200"/>
            <a:ext cx="1920240" cy="5943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4654296" y="2770632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MTTR</a:t>
            </a:r>
            <a:endParaRPr/>
          </a:p>
        </p:txBody>
      </p:sp>
      <p:sp>
        <p:nvSpPr>
          <p:cNvPr id="469" name="Google Shape;469;p21"/>
          <p:cNvSpPr txBox="1"/>
          <p:nvPr/>
        </p:nvSpPr>
        <p:spPr>
          <a:xfrm>
            <a:off x="4654296" y="292608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HOURS</a:t>
            </a:r>
            <a:endParaRPr/>
          </a:p>
        </p:txBody>
      </p:sp>
      <p:sp>
        <p:nvSpPr>
          <p:cNvPr id="470" name="Google Shape;470;p21"/>
          <p:cNvSpPr txBox="1"/>
          <p:nvPr/>
        </p:nvSpPr>
        <p:spPr>
          <a:xfrm>
            <a:off x="5340096" y="2924154"/>
            <a:ext cx="274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71" name="Google Shape;471;p21"/>
          <p:cNvSpPr txBox="1"/>
          <p:nvPr/>
        </p:nvSpPr>
        <p:spPr>
          <a:xfrm>
            <a:off x="5614416" y="292608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MINUTES</a:t>
            </a:r>
            <a:endParaRPr/>
          </a:p>
        </p:txBody>
      </p:sp>
      <p:sp>
        <p:nvSpPr>
          <p:cNvPr id="472" name="Google Shape;472;p21"/>
          <p:cNvSpPr/>
          <p:nvPr/>
        </p:nvSpPr>
        <p:spPr>
          <a:xfrm>
            <a:off x="6638544" y="2743200"/>
            <a:ext cx="1920240" cy="59436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6684264" y="2770632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Drift Discovery</a:t>
            </a:r>
            <a:endParaRPr/>
          </a:p>
        </p:txBody>
      </p:sp>
      <p:sp>
        <p:nvSpPr>
          <p:cNvPr id="474" name="Google Shape;474;p21"/>
          <p:cNvSpPr txBox="1"/>
          <p:nvPr/>
        </p:nvSpPr>
        <p:spPr>
          <a:xfrm>
            <a:off x="6638550" y="2930918"/>
            <a:ext cx="938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POST-INCIDENT</a:t>
            </a:r>
            <a:endParaRPr/>
          </a:p>
        </p:txBody>
      </p:sp>
      <p:sp>
        <p:nvSpPr>
          <p:cNvPr id="475" name="Google Shape;475;p21"/>
          <p:cNvSpPr txBox="1"/>
          <p:nvPr/>
        </p:nvSpPr>
        <p:spPr>
          <a:xfrm>
            <a:off x="7475679" y="2923118"/>
            <a:ext cx="274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76" name="Google Shape;476;p21"/>
          <p:cNvSpPr txBox="1"/>
          <p:nvPr/>
        </p:nvSpPr>
        <p:spPr>
          <a:xfrm>
            <a:off x="7749999" y="2930918"/>
            <a:ext cx="777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REAL-TIME</a:t>
            </a:r>
            <a:endParaRPr/>
          </a:p>
        </p:txBody>
      </p:sp>
      <p:sp>
        <p:nvSpPr>
          <p:cNvPr id="477" name="Google Shape;477;p21"/>
          <p:cNvSpPr txBox="1"/>
          <p:nvPr/>
        </p:nvSpPr>
        <p:spPr>
          <a:xfrm>
            <a:off x="548640" y="3520440"/>
            <a:ext cx="7772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Supervisor:  &lt; 50 MB RAM  |  &lt; 1% CPU  |  ~10 KB/min  |  ~100 MB Disk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2" name="Google Shape;4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2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Today's Reality vs What OpAmp Delivers</a:t>
            </a:r>
            <a:endParaRPr/>
          </a:p>
        </p:txBody>
      </p:sp>
      <p:sp>
        <p:nvSpPr>
          <p:cNvPr id="484" name="Google Shape;484;p22"/>
          <p:cNvSpPr txBox="1"/>
          <p:nvPr/>
        </p:nvSpPr>
        <p:spPr>
          <a:xfrm>
            <a:off x="2286000" y="822960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/>
          </a:p>
        </p:txBody>
      </p:sp>
      <p:sp>
        <p:nvSpPr>
          <p:cNvPr id="485" name="Google Shape;485;p22"/>
          <p:cNvSpPr txBox="1"/>
          <p:nvPr/>
        </p:nvSpPr>
        <p:spPr>
          <a:xfrm>
            <a:off x="5486400" y="8229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WITH OPAMP</a:t>
            </a:r>
            <a:endParaRPr/>
          </a:p>
        </p:txBody>
      </p:sp>
      <p:sp>
        <p:nvSpPr>
          <p:cNvPr id="486" name="Google Shape;486;p22"/>
          <p:cNvSpPr txBox="1"/>
          <p:nvPr/>
        </p:nvSpPr>
        <p:spPr>
          <a:xfrm>
            <a:off x="548640" y="1097280"/>
            <a:ext cx="164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Check health</a:t>
            </a:r>
            <a:endParaRPr sz="1600"/>
          </a:p>
        </p:txBody>
      </p:sp>
      <p:sp>
        <p:nvSpPr>
          <p:cNvPr id="487" name="Google Shape;487;p22"/>
          <p:cNvSpPr/>
          <p:nvPr/>
        </p:nvSpPr>
        <p:spPr>
          <a:xfrm>
            <a:off x="2286000" y="1051560"/>
            <a:ext cx="301752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 txBox="1"/>
          <p:nvPr/>
        </p:nvSpPr>
        <p:spPr>
          <a:xfrm>
            <a:off x="2388305" y="1047481"/>
            <a:ext cx="28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SSH. Check 6 processes.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Repeat x 200K.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5486400" y="1051560"/>
            <a:ext cx="320040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 txBox="1"/>
          <p:nvPr/>
        </p:nvSpPr>
        <p:spPr>
          <a:xfrm>
            <a:off x="5542992" y="1047481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Fleet dashboard.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Filter, click. Seconds.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91" name="Google Shape;491;p22"/>
          <p:cNvSpPr txBox="1"/>
          <p:nvPr/>
        </p:nvSpPr>
        <p:spPr>
          <a:xfrm>
            <a:off x="548640" y="1472179"/>
            <a:ext cx="164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Push config</a:t>
            </a:r>
            <a:endParaRPr sz="1600"/>
          </a:p>
        </p:txBody>
      </p:sp>
      <p:sp>
        <p:nvSpPr>
          <p:cNvPr id="492" name="Google Shape;492;p22"/>
          <p:cNvSpPr/>
          <p:nvPr/>
        </p:nvSpPr>
        <p:spPr>
          <a:xfrm>
            <a:off x="2286000" y="1472184"/>
            <a:ext cx="301752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 txBox="1"/>
          <p:nvPr/>
        </p:nvSpPr>
        <p:spPr>
          <a:xfrm>
            <a:off x="2388305" y="1468105"/>
            <a:ext cx="28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Coordinate per vendor.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rollback. Months.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5486400" y="1472184"/>
            <a:ext cx="320040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 txBox="1"/>
          <p:nvPr/>
        </p:nvSpPr>
        <p:spPr>
          <a:xfrm>
            <a:off x="5542992" y="1468105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Policy → canary → approve.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Hours.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96" name="Google Shape;496;p22"/>
          <p:cNvSpPr txBox="1"/>
          <p:nvPr/>
        </p:nvSpPr>
        <p:spPr>
          <a:xfrm>
            <a:off x="548640" y="1892802"/>
            <a:ext cx="164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Track versions</a:t>
            </a:r>
            <a:endParaRPr sz="1600"/>
          </a:p>
        </p:txBody>
      </p:sp>
      <p:sp>
        <p:nvSpPr>
          <p:cNvPr id="497" name="Google Shape;497;p22"/>
          <p:cNvSpPr/>
          <p:nvPr/>
        </p:nvSpPr>
        <p:spPr>
          <a:xfrm>
            <a:off x="2286000" y="1892807"/>
            <a:ext cx="301752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 txBox="1"/>
          <p:nvPr/>
        </p:nvSpPr>
        <p:spPr>
          <a:xfrm>
            <a:off x="2388305" y="1888728"/>
            <a:ext cx="28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Spreadsheets</a:t>
            </a:r>
            <a:r>
              <a:rPr b="0" i="0" lang="en-US" sz="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2-hour investigation.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5486400" y="1892807"/>
            <a:ext cx="320040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5542992" y="1888728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eal-time inventory.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search.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548640" y="2313427"/>
            <a:ext cx="164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New agent</a:t>
            </a:r>
            <a:endParaRPr sz="1600"/>
          </a:p>
        </p:txBody>
      </p:sp>
      <p:sp>
        <p:nvSpPr>
          <p:cNvPr id="502" name="Google Shape;502;p22"/>
          <p:cNvSpPr/>
          <p:nvPr/>
        </p:nvSpPr>
        <p:spPr>
          <a:xfrm>
            <a:off x="2286000" y="2313432"/>
            <a:ext cx="301752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2388305" y="2309353"/>
            <a:ext cx="28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Build custom tooling.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Months.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5486400" y="2313432"/>
            <a:ext cx="320040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 txBox="1"/>
          <p:nvPr/>
        </p:nvSpPr>
        <p:spPr>
          <a:xfrm>
            <a:off x="5542992" y="2309353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Upload binary, policy.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Days.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06" name="Google Shape;506;p22"/>
          <p:cNvSpPr txBox="1"/>
          <p:nvPr/>
        </p:nvSpPr>
        <p:spPr>
          <a:xfrm>
            <a:off x="548640" y="2734051"/>
            <a:ext cx="164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Detect drift</a:t>
            </a:r>
            <a:endParaRPr sz="1600"/>
          </a:p>
        </p:txBody>
      </p:sp>
      <p:sp>
        <p:nvSpPr>
          <p:cNvPr id="507" name="Google Shape;507;p22"/>
          <p:cNvSpPr/>
          <p:nvPr/>
        </p:nvSpPr>
        <p:spPr>
          <a:xfrm>
            <a:off x="2286000" y="2734056"/>
            <a:ext cx="301752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 txBox="1"/>
          <p:nvPr/>
        </p:nvSpPr>
        <p:spPr>
          <a:xfrm>
            <a:off x="2388305" y="2729977"/>
            <a:ext cx="28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Post-incident RCA.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Weeks later.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5486400" y="2734056"/>
            <a:ext cx="320040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5542992" y="2729977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Continuous reconciliation.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Real-time.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548640" y="3154675"/>
            <a:ext cx="164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Roll out update</a:t>
            </a:r>
            <a:endParaRPr sz="1600"/>
          </a:p>
        </p:txBody>
      </p:sp>
      <p:sp>
        <p:nvSpPr>
          <p:cNvPr id="512" name="Google Shape;512;p22"/>
          <p:cNvSpPr/>
          <p:nvPr/>
        </p:nvSpPr>
        <p:spPr>
          <a:xfrm>
            <a:off x="2286000" y="3154680"/>
            <a:ext cx="301752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2388305" y="3150601"/>
            <a:ext cx="28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Push to 200K. War room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3 AM.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5486400" y="3154680"/>
            <a:ext cx="320040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5542992" y="3150601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Canary + auto-rollback.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war rooms.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548640" y="3575299"/>
            <a:ext cx="164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Investigate</a:t>
            </a:r>
            <a:endParaRPr sz="1600"/>
          </a:p>
        </p:txBody>
      </p:sp>
      <p:sp>
        <p:nvSpPr>
          <p:cNvPr id="517" name="Google Shape;517;p22"/>
          <p:cNvSpPr/>
          <p:nvPr/>
        </p:nvSpPr>
        <p:spPr>
          <a:xfrm>
            <a:off x="2286000" y="3575304"/>
            <a:ext cx="301752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 txBox="1"/>
          <p:nvPr/>
        </p:nvSpPr>
        <p:spPr>
          <a:xfrm>
            <a:off x="2388305" y="3571225"/>
            <a:ext cx="28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 consoles. Correlate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anual.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5486400" y="3575304"/>
            <a:ext cx="3200400" cy="384048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>
            <a:off x="5542992" y="3571225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Unified audit trail.</a:t>
            </a:r>
            <a:b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search.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21" name="Google Shape;521;p22"/>
          <p:cNvSpPr txBox="1"/>
          <p:nvPr/>
        </p:nvSpPr>
        <p:spPr>
          <a:xfrm>
            <a:off x="548640" y="402336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Every row is a real workflow. OpAmp eliminates the manual version of each one.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6" name="Google Shape;5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3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Management is Pillar One — The Broader Platform</a:t>
            </a:r>
            <a:endParaRPr/>
          </a:p>
        </p:txBody>
      </p:sp>
      <p:sp>
        <p:nvSpPr>
          <p:cNvPr id="528" name="Google Shape;528;p23"/>
          <p:cNvSpPr/>
          <p:nvPr/>
        </p:nvSpPr>
        <p:spPr>
          <a:xfrm>
            <a:off x="548640" y="1005840"/>
            <a:ext cx="1874519" cy="2011680"/>
          </a:xfrm>
          <a:prstGeom prst="rect">
            <a:avLst/>
          </a:prstGeom>
          <a:solidFill>
            <a:srgbClr val="2D3348"/>
          </a:solidFill>
          <a:ln cap="flat" cmpd="sng" w="317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621792" y="1051560"/>
            <a:ext cx="172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br>
              <a:rPr b="0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>
              <a:solidFill>
                <a:srgbClr val="00D4FF"/>
              </a:solidFill>
            </a:endParaRPr>
          </a:p>
        </p:txBody>
      </p:sp>
      <p:sp>
        <p:nvSpPr>
          <p:cNvPr id="530" name="Google Shape;530;p23"/>
          <p:cNvSpPr txBox="1"/>
          <p:nvPr/>
        </p:nvSpPr>
        <p:spPr>
          <a:xfrm>
            <a:off x="679744" y="1527671"/>
            <a:ext cx="1728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Fleet</a:t>
            </a: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Mgmt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Lifecycle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Drift detect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Canary rollout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Policy engine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2542032" y="1005840"/>
            <a:ext cx="1874519" cy="2011680"/>
          </a:xfrm>
          <a:prstGeom prst="rect">
            <a:avLst/>
          </a:prstGeom>
          <a:solidFill>
            <a:srgbClr val="2D3348"/>
          </a:solidFill>
          <a:ln cap="flat" cmpd="sng" w="12700">
            <a:solidFill>
              <a:srgbClr val="48BB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2615184" y="1051560"/>
            <a:ext cx="172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br>
              <a:rPr b="0" i="0" lang="en-US" sz="18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>
              <a:solidFill>
                <a:srgbClr val="48BB78"/>
              </a:solidFill>
            </a:endParaRPr>
          </a:p>
        </p:txBody>
      </p:sp>
      <p:sp>
        <p:nvSpPr>
          <p:cNvPr id="533" name="Google Shape;533;p23"/>
          <p:cNvSpPr txBox="1"/>
          <p:nvPr/>
        </p:nvSpPr>
        <p:spPr>
          <a:xfrm>
            <a:off x="2673136" y="1527671"/>
            <a:ext cx="1728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X.509 / SSH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Auto-renewal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ACME/EST/SCEP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PQC migration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Cert policies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34" name="Google Shape;534;p23"/>
          <p:cNvSpPr/>
          <p:nvPr/>
        </p:nvSpPr>
        <p:spPr>
          <a:xfrm>
            <a:off x="4535424" y="1005840"/>
            <a:ext cx="1874519" cy="2011680"/>
          </a:xfrm>
          <a:prstGeom prst="rect">
            <a:avLst/>
          </a:prstGeom>
          <a:solidFill>
            <a:srgbClr val="2D3348"/>
          </a:solidFill>
          <a:ln cap="flat" cmpd="sng" w="12700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 txBox="1"/>
          <p:nvPr/>
        </p:nvSpPr>
        <p:spPr>
          <a:xfrm>
            <a:off x="4608576" y="1051560"/>
            <a:ext cx="172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Secrets</a:t>
            </a:r>
            <a:br>
              <a:rPr b="0" i="0" lang="en-US" sz="18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>
              <a:solidFill>
                <a:srgbClr val="FFD93D"/>
              </a:solidFill>
            </a:endParaRPr>
          </a:p>
        </p:txBody>
      </p:sp>
      <p:sp>
        <p:nvSpPr>
          <p:cNvPr id="536" name="Google Shape;536;p23"/>
          <p:cNvSpPr txBox="1"/>
          <p:nvPr/>
        </p:nvSpPr>
        <p:spPr>
          <a:xfrm>
            <a:off x="4666528" y="1527671"/>
            <a:ext cx="1728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Vault-backed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Rotation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HSM providers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 credentials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mgmt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6528816" y="1005840"/>
            <a:ext cx="1874519" cy="2011680"/>
          </a:xfrm>
          <a:prstGeom prst="rect">
            <a:avLst/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6601968" y="1051560"/>
            <a:ext cx="172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Zero trust</a:t>
            </a:r>
            <a:br>
              <a:rPr b="0" i="0" lang="en-US" sz="18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Workflows</a:t>
            </a:r>
            <a:endParaRPr>
              <a:solidFill>
                <a:srgbClr val="A78BFA"/>
              </a:solidFill>
            </a:endParaRPr>
          </a:p>
        </p:txBody>
      </p:sp>
      <p:sp>
        <p:nvSpPr>
          <p:cNvPr id="539" name="Google Shape;539;p23"/>
          <p:cNvSpPr txBox="1"/>
          <p:nvPr/>
        </p:nvSpPr>
        <p:spPr>
          <a:xfrm>
            <a:off x="6601725" y="1544450"/>
            <a:ext cx="1728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Workload Identity </a:t>
            </a: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Attestation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ssh on demand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Forensic audit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Emergency revoke</a:t>
            </a:r>
            <a:b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ic workflows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548640" y="3075599"/>
            <a:ext cx="7772400" cy="502800"/>
          </a:xfrm>
          <a:prstGeom prst="rect">
            <a:avLst/>
          </a:prstGeom>
          <a:solidFill>
            <a:srgbClr val="2D3348"/>
          </a:solidFill>
          <a:ln cap="flat" cmpd="sng" w="1905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640080" y="3126263"/>
            <a:ext cx="758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SHARED INFRASTRUCTURE</a:t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640080" y="3327431"/>
            <a:ext cx="758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Supervisor  |  OpAMP  |  Policy Engine  |  Scheduler  |  Artifacts  |  Audit  |  Telemetry  |  Athenz</a:t>
            </a:r>
            <a:endParaRPr sz="1500"/>
          </a:p>
        </p:txBody>
      </p:sp>
      <p:sp>
        <p:nvSpPr>
          <p:cNvPr id="543" name="Google Shape;543;p23"/>
          <p:cNvSpPr/>
          <p:nvPr/>
        </p:nvSpPr>
        <p:spPr>
          <a:xfrm>
            <a:off x="548640" y="3657600"/>
            <a:ext cx="7772400" cy="41148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685800" y="3703320"/>
            <a:ext cx="749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PLATFORM LEVERAGE</a:t>
            </a:r>
            <a:endParaRPr/>
          </a:p>
        </p:txBody>
      </p:sp>
      <p:sp>
        <p:nvSpPr>
          <p:cNvPr id="545" name="Google Shape;545;p23"/>
          <p:cNvSpPr txBox="1"/>
          <p:nvPr/>
        </p:nvSpPr>
        <p:spPr>
          <a:xfrm>
            <a:off x="685800" y="3858768"/>
            <a:ext cx="749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One investment, four domains. Same infrastructure powers all pillars. Every domain multiplies value.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0" name="Google Shape;5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4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We've Built It — Let Us Show You</a:t>
            </a:r>
            <a:endParaRPr/>
          </a:p>
        </p:txBody>
      </p:sp>
      <p:sp>
        <p:nvSpPr>
          <p:cNvPr id="552" name="Google Shape;552;p24"/>
          <p:cNvSpPr txBox="1"/>
          <p:nvPr/>
        </p:nvSpPr>
        <p:spPr>
          <a:xfrm>
            <a:off x="509740" y="759525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WE'VE BUILT THE PLATFORM</a:t>
            </a:r>
            <a:endParaRPr/>
          </a:p>
        </p:txBody>
      </p:sp>
      <p:sp>
        <p:nvSpPr>
          <p:cNvPr id="553" name="Google Shape;553;p24"/>
          <p:cNvSpPr txBox="1"/>
          <p:nvPr/>
        </p:nvSpPr>
        <p:spPr>
          <a:xfrm>
            <a:off x="640080" y="1188720"/>
            <a:ext cx="7589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 12 production capabilities — built, integrated, demonstrated end-to-end</a:t>
            </a:r>
            <a:endParaRPr/>
          </a:p>
        </p:txBody>
      </p:sp>
      <p:sp>
        <p:nvSpPr>
          <p:cNvPr id="554" name="Google Shape;554;p24"/>
          <p:cNvSpPr txBox="1"/>
          <p:nvPr/>
        </p:nvSpPr>
        <p:spPr>
          <a:xfrm>
            <a:off x="640080" y="1371600"/>
            <a:ext cx="7589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 Cross-platform: Windows, macOS, Linux — workstations and cloud</a:t>
            </a:r>
            <a:endParaRPr/>
          </a:p>
        </p:txBody>
      </p:sp>
      <p:sp>
        <p:nvSpPr>
          <p:cNvPr id="555" name="Google Shape;555;p24"/>
          <p:cNvSpPr txBox="1"/>
          <p:nvPr/>
        </p:nvSpPr>
        <p:spPr>
          <a:xfrm>
            <a:off x="640080" y="1554480"/>
            <a:ext cx="7589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 Unified dashboard with real-time fleet visibility + standardized telemetry</a:t>
            </a:r>
            <a:endParaRPr/>
          </a:p>
        </p:txBody>
      </p:sp>
      <p:sp>
        <p:nvSpPr>
          <p:cNvPr id="556" name="Google Shape;556;p24"/>
          <p:cNvSpPr txBox="1"/>
          <p:nvPr/>
        </p:nvSpPr>
        <p:spPr>
          <a:xfrm>
            <a:off x="640080" y="1737360"/>
            <a:ext cx="7589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✓  Three additional domains (certificates, secrets, zero-trust) on same platform</a:t>
            </a:r>
            <a:endParaRPr/>
          </a:p>
        </p:txBody>
      </p:sp>
      <p:sp>
        <p:nvSpPr>
          <p:cNvPr id="557" name="Google Shape;557;p24"/>
          <p:cNvSpPr txBox="1"/>
          <p:nvPr/>
        </p:nvSpPr>
        <p:spPr>
          <a:xfrm>
            <a:off x="548640" y="201168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WHAT WE'RE ASKING FOR</a:t>
            </a:r>
            <a:endParaRPr/>
          </a:p>
        </p:txBody>
      </p:sp>
      <p:sp>
        <p:nvSpPr>
          <p:cNvPr id="558" name="Google Shape;558;p24"/>
          <p:cNvSpPr/>
          <p:nvPr/>
        </p:nvSpPr>
        <p:spPr>
          <a:xfrm>
            <a:off x="548640" y="2286000"/>
            <a:ext cx="50800" cy="2286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 txBox="1"/>
          <p:nvPr/>
        </p:nvSpPr>
        <p:spPr>
          <a:xfrm>
            <a:off x="658368" y="23042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30-minute live demo</a:t>
            </a:r>
            <a:endParaRPr/>
          </a:p>
        </p:txBody>
      </p:sp>
      <p:sp>
        <p:nvSpPr>
          <p:cNvPr id="560" name="Google Shape;560;p24"/>
          <p:cNvSpPr txBox="1"/>
          <p:nvPr/>
        </p:nvSpPr>
        <p:spPr>
          <a:xfrm>
            <a:off x="2743200" y="23042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See the full platform with real agents</a:t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548640" y="2560320"/>
            <a:ext cx="50800" cy="2286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4"/>
          <p:cNvSpPr txBox="1"/>
          <p:nvPr/>
        </p:nvSpPr>
        <p:spPr>
          <a:xfrm>
            <a:off x="658368" y="257860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[Headcount / budget]</a:t>
            </a:r>
            <a:endParaRPr/>
          </a:p>
        </p:txBody>
      </p:sp>
      <p:sp>
        <p:nvSpPr>
          <p:cNvPr id="563" name="Google Shape;563;p24"/>
          <p:cNvSpPr txBox="1"/>
          <p:nvPr/>
        </p:nvSpPr>
        <p:spPr>
          <a:xfrm>
            <a:off x="2743200" y="257860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Operationalize across production fleet</a:t>
            </a:r>
            <a:endParaRPr/>
          </a:p>
        </p:txBody>
      </p:sp>
      <p:sp>
        <p:nvSpPr>
          <p:cNvPr id="564" name="Google Shape;564;p24"/>
          <p:cNvSpPr/>
          <p:nvPr/>
        </p:nvSpPr>
        <p:spPr>
          <a:xfrm>
            <a:off x="548640" y="2834640"/>
            <a:ext cx="50800" cy="2286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 txBox="1"/>
          <p:nvPr/>
        </p:nvSpPr>
        <p:spPr>
          <a:xfrm>
            <a:off x="658368" y="28529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[Timeline]</a:t>
            </a:r>
            <a:endParaRPr/>
          </a:p>
        </p:txBody>
      </p:sp>
      <p:sp>
        <p:nvSpPr>
          <p:cNvPr id="566" name="Google Shape;566;p24"/>
          <p:cNvSpPr txBox="1"/>
          <p:nvPr/>
        </p:nvSpPr>
        <p:spPr>
          <a:xfrm>
            <a:off x="2743200" y="28529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Phased rollout starting with [target env]</a:t>
            </a:r>
            <a:endParaRPr/>
          </a:p>
        </p:txBody>
      </p:sp>
      <p:sp>
        <p:nvSpPr>
          <p:cNvPr id="567" name="Google Shape;567;p24"/>
          <p:cNvSpPr txBox="1"/>
          <p:nvPr/>
        </p:nvSpPr>
        <p:spPr>
          <a:xfrm>
            <a:off x="548640" y="320040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WHAT SUCCESS LOOKS LIKE</a:t>
            </a:r>
            <a:endParaRPr/>
          </a:p>
        </p:txBody>
      </p:sp>
      <p:sp>
        <p:nvSpPr>
          <p:cNvPr id="568" name="Google Shape;568;p24"/>
          <p:cNvSpPr/>
          <p:nvPr/>
        </p:nvSpPr>
        <p:spPr>
          <a:xfrm>
            <a:off x="548650" y="3474725"/>
            <a:ext cx="1508700" cy="7497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4"/>
          <p:cNvSpPr txBox="1"/>
          <p:nvPr/>
        </p:nvSpPr>
        <p:spPr>
          <a:xfrm>
            <a:off x="594360" y="350215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570" name="Google Shape;570;p24"/>
          <p:cNvSpPr txBox="1"/>
          <p:nvPr/>
        </p:nvSpPr>
        <p:spPr>
          <a:xfrm>
            <a:off x="594360" y="3749039"/>
            <a:ext cx="1417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Fleet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endParaRPr sz="1500"/>
          </a:p>
        </p:txBody>
      </p:sp>
      <p:sp>
        <p:nvSpPr>
          <p:cNvPr id="571" name="Google Shape;571;p24"/>
          <p:cNvSpPr/>
          <p:nvPr/>
        </p:nvSpPr>
        <p:spPr>
          <a:xfrm>
            <a:off x="2148850" y="3474727"/>
            <a:ext cx="1559400" cy="7497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 txBox="1"/>
          <p:nvPr/>
        </p:nvSpPr>
        <p:spPr>
          <a:xfrm>
            <a:off x="2194560" y="350215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4 hrs</a:t>
            </a:r>
            <a:endParaRPr/>
          </a:p>
        </p:txBody>
      </p:sp>
      <p:sp>
        <p:nvSpPr>
          <p:cNvPr id="573" name="Google Shape;573;p24"/>
          <p:cNvSpPr txBox="1"/>
          <p:nvPr/>
        </p:nvSpPr>
        <p:spPr>
          <a:xfrm>
            <a:off x="2194560" y="3749039"/>
            <a:ext cx="1417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</a:t>
            </a:r>
            <a:endParaRPr sz="1500"/>
          </a:p>
        </p:txBody>
      </p:sp>
      <p:sp>
        <p:nvSpPr>
          <p:cNvPr id="574" name="Google Shape;574;p24"/>
          <p:cNvSpPr/>
          <p:nvPr/>
        </p:nvSpPr>
        <p:spPr>
          <a:xfrm>
            <a:off x="3749050" y="3474727"/>
            <a:ext cx="1559400" cy="7497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4"/>
          <p:cNvSpPr txBox="1"/>
          <p:nvPr/>
        </p:nvSpPr>
        <p:spPr>
          <a:xfrm>
            <a:off x="3794760" y="350215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1 week</a:t>
            </a:r>
            <a:endParaRPr/>
          </a:p>
        </p:txBody>
      </p:sp>
      <p:sp>
        <p:nvSpPr>
          <p:cNvPr id="576" name="Google Shape;576;p24"/>
          <p:cNvSpPr txBox="1"/>
          <p:nvPr/>
        </p:nvSpPr>
        <p:spPr>
          <a:xfrm>
            <a:off x="3794760" y="3749039"/>
            <a:ext cx="1417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New agent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onboarding</a:t>
            </a:r>
            <a:endParaRPr sz="1500"/>
          </a:p>
        </p:txBody>
      </p:sp>
      <p:sp>
        <p:nvSpPr>
          <p:cNvPr id="577" name="Google Shape;577;p24"/>
          <p:cNvSpPr/>
          <p:nvPr/>
        </p:nvSpPr>
        <p:spPr>
          <a:xfrm>
            <a:off x="5349250" y="3474727"/>
            <a:ext cx="1545900" cy="7497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 txBox="1"/>
          <p:nvPr/>
        </p:nvSpPr>
        <p:spPr>
          <a:xfrm>
            <a:off x="5394960" y="350215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579" name="Google Shape;579;p24"/>
          <p:cNvSpPr txBox="1"/>
          <p:nvPr/>
        </p:nvSpPr>
        <p:spPr>
          <a:xfrm>
            <a:off x="5394960" y="3749039"/>
            <a:ext cx="1417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Drift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sz="1500"/>
          </a:p>
        </p:txBody>
      </p:sp>
      <p:sp>
        <p:nvSpPr>
          <p:cNvPr id="580" name="Google Shape;580;p24"/>
          <p:cNvSpPr/>
          <p:nvPr/>
        </p:nvSpPr>
        <p:spPr>
          <a:xfrm>
            <a:off x="6949450" y="3474725"/>
            <a:ext cx="1588800" cy="749700"/>
          </a:xfrm>
          <a:prstGeom prst="roundRect">
            <a:avLst>
              <a:gd fmla="val 16667" name="adj"/>
            </a:avLst>
          </a:prstGeom>
          <a:solidFill>
            <a:srgbClr val="2D3348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4"/>
          <p:cNvSpPr txBox="1"/>
          <p:nvPr/>
        </p:nvSpPr>
        <p:spPr>
          <a:xfrm>
            <a:off x="6995160" y="350215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/>
          </a:p>
        </p:txBody>
      </p:sp>
      <p:sp>
        <p:nvSpPr>
          <p:cNvPr id="582" name="Google Shape;582;p24"/>
          <p:cNvSpPr txBox="1"/>
          <p:nvPr/>
        </p:nvSpPr>
        <p:spPr>
          <a:xfrm>
            <a:off x="6995160" y="3749039"/>
            <a:ext cx="1417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Unvalidated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pushes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