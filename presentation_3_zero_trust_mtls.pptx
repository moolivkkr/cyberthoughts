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3" name="Google Shape;94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1" name="Google Shape;9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7" name="Google Shape;112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1" name="Google Shape;126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5" name="Google Shape;142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8" name="Google Shape;146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5" name="Google Shape;162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2" name="Google Shape;166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1" name="Google Shape;171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0" name="Google Shape;17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2" name="Google Shape;182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1" name="Google Shape;194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5" name="Google Shape;199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9" name="Google Shape;209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5" name="Google Shape;214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7" name="Google Shape;218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9" name="Google Shape;222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2" name="Google Shape;228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1" name="Google Shape;233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5" name="Google Shape;236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4" name="Google Shape;238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7" name="Google Shape;2397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8" name="Google Shape;243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4" name="Google Shape;248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8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5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4.png"/><Relationship Id="rId13" Type="http://schemas.openxmlformats.org/officeDocument/2006/relationships/image" Target="../media/image12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5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9.png"/><Relationship Id="rId4" Type="http://schemas.openxmlformats.org/officeDocument/2006/relationships/image" Target="../media/image7.png"/><Relationship Id="rId9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1.png"/><Relationship Id="rId13" Type="http://schemas.openxmlformats.org/officeDocument/2006/relationships/image" Target="../media/image25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8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Relationship Id="rId1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0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Relationship Id="rId8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4.png"/><Relationship Id="rId4" Type="http://schemas.openxmlformats.org/officeDocument/2006/relationships/image" Target="../media/image49.png"/><Relationship Id="rId5" Type="http://schemas.openxmlformats.org/officeDocument/2006/relationships/image" Target="../media/image34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5.png"/><Relationship Id="rId4" Type="http://schemas.openxmlformats.org/officeDocument/2006/relationships/image" Target="../media/image56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44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4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57.png"/><Relationship Id="rId8" Type="http://schemas.openxmlformats.org/officeDocument/2006/relationships/image" Target="../media/image6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1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58.png"/><Relationship Id="rId8" Type="http://schemas.openxmlformats.org/officeDocument/2006/relationships/image" Target="../media/image6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75.png"/><Relationship Id="rId13" Type="http://schemas.openxmlformats.org/officeDocument/2006/relationships/image" Target="../media/image78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2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Relationship Id="rId15" Type="http://schemas.openxmlformats.org/officeDocument/2006/relationships/image" Target="../media/image84.png"/><Relationship Id="rId14" Type="http://schemas.openxmlformats.org/officeDocument/2006/relationships/image" Target="../media/image77.png"/><Relationship Id="rId17" Type="http://schemas.openxmlformats.org/officeDocument/2006/relationships/image" Target="../media/image74.png"/><Relationship Id="rId16" Type="http://schemas.openxmlformats.org/officeDocument/2006/relationships/image" Target="../media/image73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18" Type="http://schemas.openxmlformats.org/officeDocument/2006/relationships/image" Target="../media/image76.png"/><Relationship Id="rId7" Type="http://schemas.openxmlformats.org/officeDocument/2006/relationships/image" Target="../media/image70.png"/><Relationship Id="rId8" Type="http://schemas.openxmlformats.org/officeDocument/2006/relationships/image" Target="../media/image8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9.png"/><Relationship Id="rId4" Type="http://schemas.openxmlformats.org/officeDocument/2006/relationships/image" Target="../media/image83.png"/><Relationship Id="rId5" Type="http://schemas.openxmlformats.org/officeDocument/2006/relationships/image" Target="../media/image80.png"/><Relationship Id="rId6" Type="http://schemas.openxmlformats.org/officeDocument/2006/relationships/image" Target="../media/image82.png"/><Relationship Id="rId7" Type="http://schemas.openxmlformats.org/officeDocument/2006/relationships/image" Target="../media/image85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9.png"/><Relationship Id="rId10" Type="http://schemas.openxmlformats.org/officeDocument/2006/relationships/image" Target="../media/image91.png"/><Relationship Id="rId13" Type="http://schemas.openxmlformats.org/officeDocument/2006/relationships/image" Target="../media/image103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6.png"/><Relationship Id="rId4" Type="http://schemas.openxmlformats.org/officeDocument/2006/relationships/image" Target="../media/image86.png"/><Relationship Id="rId9" Type="http://schemas.openxmlformats.org/officeDocument/2006/relationships/image" Target="../media/image93.png"/><Relationship Id="rId14" Type="http://schemas.openxmlformats.org/officeDocument/2006/relationships/image" Target="../media/image97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94.png"/><Relationship Id="rId8" Type="http://schemas.openxmlformats.org/officeDocument/2006/relationships/image" Target="../media/image90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4.png"/><Relationship Id="rId22" Type="http://schemas.openxmlformats.org/officeDocument/2006/relationships/image" Target="../media/image115.png"/><Relationship Id="rId21" Type="http://schemas.openxmlformats.org/officeDocument/2006/relationships/image" Target="../media/image113.png"/><Relationship Id="rId24" Type="http://schemas.openxmlformats.org/officeDocument/2006/relationships/image" Target="../media/image120.png"/><Relationship Id="rId23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1.png"/><Relationship Id="rId4" Type="http://schemas.openxmlformats.org/officeDocument/2006/relationships/image" Target="../media/image96.png"/><Relationship Id="rId9" Type="http://schemas.openxmlformats.org/officeDocument/2006/relationships/image" Target="../media/image99.png"/><Relationship Id="rId26" Type="http://schemas.openxmlformats.org/officeDocument/2006/relationships/image" Target="../media/image118.png"/><Relationship Id="rId25" Type="http://schemas.openxmlformats.org/officeDocument/2006/relationships/image" Target="../media/image119.png"/><Relationship Id="rId27" Type="http://schemas.openxmlformats.org/officeDocument/2006/relationships/image" Target="../media/image117.png"/><Relationship Id="rId5" Type="http://schemas.openxmlformats.org/officeDocument/2006/relationships/image" Target="../media/image95.png"/><Relationship Id="rId6" Type="http://schemas.openxmlformats.org/officeDocument/2006/relationships/image" Target="../media/image98.png"/><Relationship Id="rId7" Type="http://schemas.openxmlformats.org/officeDocument/2006/relationships/image" Target="../media/image102.png"/><Relationship Id="rId8" Type="http://schemas.openxmlformats.org/officeDocument/2006/relationships/image" Target="../media/image101.png"/><Relationship Id="rId11" Type="http://schemas.openxmlformats.org/officeDocument/2006/relationships/image" Target="../media/image104.png"/><Relationship Id="rId10" Type="http://schemas.openxmlformats.org/officeDocument/2006/relationships/image" Target="../media/image100.png"/><Relationship Id="rId13" Type="http://schemas.openxmlformats.org/officeDocument/2006/relationships/image" Target="../media/image105.png"/><Relationship Id="rId12" Type="http://schemas.openxmlformats.org/officeDocument/2006/relationships/image" Target="../media/image106.png"/><Relationship Id="rId15" Type="http://schemas.openxmlformats.org/officeDocument/2006/relationships/image" Target="../media/image107.png"/><Relationship Id="rId14" Type="http://schemas.openxmlformats.org/officeDocument/2006/relationships/image" Target="../media/image108.png"/><Relationship Id="rId17" Type="http://schemas.openxmlformats.org/officeDocument/2006/relationships/image" Target="../media/image112.png"/><Relationship Id="rId16" Type="http://schemas.openxmlformats.org/officeDocument/2006/relationships/image" Target="../media/image109.png"/><Relationship Id="rId19" Type="http://schemas.openxmlformats.org/officeDocument/2006/relationships/image" Target="../media/image110.png"/><Relationship Id="rId18" Type="http://schemas.openxmlformats.org/officeDocument/2006/relationships/image" Target="../media/image111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7.png"/><Relationship Id="rId4" Type="http://schemas.openxmlformats.org/officeDocument/2006/relationships/image" Target="../media/image121.png"/><Relationship Id="rId9" Type="http://schemas.openxmlformats.org/officeDocument/2006/relationships/image" Target="../media/image128.png"/><Relationship Id="rId5" Type="http://schemas.openxmlformats.org/officeDocument/2006/relationships/image" Target="../media/image127.png"/><Relationship Id="rId6" Type="http://schemas.openxmlformats.org/officeDocument/2006/relationships/image" Target="../media/image124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11" Type="http://schemas.openxmlformats.org/officeDocument/2006/relationships/image" Target="../media/image125.png"/><Relationship Id="rId10" Type="http://schemas.openxmlformats.org/officeDocument/2006/relationships/image" Target="../media/image129.png"/><Relationship Id="rId13" Type="http://schemas.openxmlformats.org/officeDocument/2006/relationships/image" Target="../media/image130.png"/><Relationship Id="rId12" Type="http://schemas.openxmlformats.org/officeDocument/2006/relationships/image" Target="../media/image126.png"/><Relationship Id="rId15" Type="http://schemas.openxmlformats.org/officeDocument/2006/relationships/image" Target="../media/image137.png"/><Relationship Id="rId14" Type="http://schemas.openxmlformats.org/officeDocument/2006/relationships/image" Target="../media/image134.png"/><Relationship Id="rId17" Type="http://schemas.openxmlformats.org/officeDocument/2006/relationships/image" Target="../media/image132.png"/><Relationship Id="rId16" Type="http://schemas.openxmlformats.org/officeDocument/2006/relationships/image" Target="../media/image131.png"/><Relationship Id="rId19" Type="http://schemas.openxmlformats.org/officeDocument/2006/relationships/image" Target="../media/image138.png"/><Relationship Id="rId18" Type="http://schemas.openxmlformats.org/officeDocument/2006/relationships/image" Target="../media/image1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5.png"/><Relationship Id="rId4" Type="http://schemas.openxmlformats.org/officeDocument/2006/relationships/image" Target="../media/image140.png"/><Relationship Id="rId5" Type="http://schemas.openxmlformats.org/officeDocument/2006/relationships/image" Target="../media/image149.png"/><Relationship Id="rId6" Type="http://schemas.openxmlformats.org/officeDocument/2006/relationships/image" Target="../media/image139.png"/><Relationship Id="rId7" Type="http://schemas.openxmlformats.org/officeDocument/2006/relationships/image" Target="../media/image1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8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0.png"/><Relationship Id="rId4" Type="http://schemas.openxmlformats.org/officeDocument/2006/relationships/image" Target="../media/image146.png"/><Relationship Id="rId9" Type="http://schemas.openxmlformats.org/officeDocument/2006/relationships/image" Target="../media/image154.png"/><Relationship Id="rId5" Type="http://schemas.openxmlformats.org/officeDocument/2006/relationships/image" Target="../media/image147.png"/><Relationship Id="rId6" Type="http://schemas.openxmlformats.org/officeDocument/2006/relationships/image" Target="../media/image150.png"/><Relationship Id="rId7" Type="http://schemas.openxmlformats.org/officeDocument/2006/relationships/image" Target="../media/image148.png"/><Relationship Id="rId8" Type="http://schemas.openxmlformats.org/officeDocument/2006/relationships/image" Target="../media/image152.png"/><Relationship Id="rId11" Type="http://schemas.openxmlformats.org/officeDocument/2006/relationships/image" Target="../media/image155.png"/><Relationship Id="rId10" Type="http://schemas.openxmlformats.org/officeDocument/2006/relationships/image" Target="../media/image153.png"/><Relationship Id="rId12" Type="http://schemas.openxmlformats.org/officeDocument/2006/relationships/image" Target="../media/image15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0.png"/><Relationship Id="rId4" Type="http://schemas.openxmlformats.org/officeDocument/2006/relationships/image" Target="../media/image156.png"/><Relationship Id="rId9" Type="http://schemas.openxmlformats.org/officeDocument/2006/relationships/image" Target="../media/image162.png"/><Relationship Id="rId5" Type="http://schemas.openxmlformats.org/officeDocument/2006/relationships/image" Target="../media/image158.png"/><Relationship Id="rId6" Type="http://schemas.openxmlformats.org/officeDocument/2006/relationships/image" Target="../media/image150.png"/><Relationship Id="rId7" Type="http://schemas.openxmlformats.org/officeDocument/2006/relationships/image" Target="../media/image159.png"/><Relationship Id="rId8" Type="http://schemas.openxmlformats.org/officeDocument/2006/relationships/image" Target="../media/image1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7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5" Type="http://schemas.openxmlformats.org/officeDocument/2006/relationships/image" Target="../media/image164.png"/><Relationship Id="rId6" Type="http://schemas.openxmlformats.org/officeDocument/2006/relationships/image" Target="../media/image150.png"/><Relationship Id="rId7" Type="http://schemas.openxmlformats.org/officeDocument/2006/relationships/image" Target="../media/image167.png"/><Relationship Id="rId8" Type="http://schemas.openxmlformats.org/officeDocument/2006/relationships/image" Target="../media/image152.png"/><Relationship Id="rId10" Type="http://schemas.openxmlformats.org/officeDocument/2006/relationships/image" Target="../media/image1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3.png"/><Relationship Id="rId4" Type="http://schemas.openxmlformats.org/officeDocument/2006/relationships/image" Target="../media/image177.png"/><Relationship Id="rId9" Type="http://schemas.openxmlformats.org/officeDocument/2006/relationships/image" Target="../media/image175.png"/><Relationship Id="rId5" Type="http://schemas.openxmlformats.org/officeDocument/2006/relationships/image" Target="../media/image173.png"/><Relationship Id="rId6" Type="http://schemas.openxmlformats.org/officeDocument/2006/relationships/image" Target="../media/image150.png"/><Relationship Id="rId7" Type="http://schemas.openxmlformats.org/officeDocument/2006/relationships/image" Target="../media/image176.png"/><Relationship Id="rId8" Type="http://schemas.openxmlformats.org/officeDocument/2006/relationships/image" Target="../media/image1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9.png"/><Relationship Id="rId4" Type="http://schemas.openxmlformats.org/officeDocument/2006/relationships/image" Target="../media/image178.png"/><Relationship Id="rId9" Type="http://schemas.openxmlformats.org/officeDocument/2006/relationships/image" Target="../media/image184.png"/><Relationship Id="rId5" Type="http://schemas.openxmlformats.org/officeDocument/2006/relationships/image" Target="../media/image181.png"/><Relationship Id="rId6" Type="http://schemas.openxmlformats.org/officeDocument/2006/relationships/image" Target="../media/image150.png"/><Relationship Id="rId7" Type="http://schemas.openxmlformats.org/officeDocument/2006/relationships/image" Target="../media/image183.png"/><Relationship Id="rId8" Type="http://schemas.openxmlformats.org/officeDocument/2006/relationships/image" Target="../media/image152.png"/><Relationship Id="rId10" Type="http://schemas.openxmlformats.org/officeDocument/2006/relationships/image" Target="../media/image19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4.png"/><Relationship Id="rId4" Type="http://schemas.openxmlformats.org/officeDocument/2006/relationships/image" Target="../media/image185.png"/><Relationship Id="rId9" Type="http://schemas.openxmlformats.org/officeDocument/2006/relationships/image" Target="../media/image191.png"/><Relationship Id="rId5" Type="http://schemas.openxmlformats.org/officeDocument/2006/relationships/image" Target="../media/image187.png"/><Relationship Id="rId6" Type="http://schemas.openxmlformats.org/officeDocument/2006/relationships/image" Target="../media/image150.png"/><Relationship Id="rId7" Type="http://schemas.openxmlformats.org/officeDocument/2006/relationships/image" Target="../media/image192.png"/><Relationship Id="rId8" Type="http://schemas.openxmlformats.org/officeDocument/2006/relationships/image" Target="../media/image152.png"/><Relationship Id="rId10" Type="http://schemas.openxmlformats.org/officeDocument/2006/relationships/image" Target="../media/image19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4.png"/><Relationship Id="rId4" Type="http://schemas.openxmlformats.org/officeDocument/2006/relationships/image" Target="../media/image194.png"/><Relationship Id="rId5" Type="http://schemas.openxmlformats.org/officeDocument/2006/relationships/image" Target="../media/image19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9.png"/><Relationship Id="rId4" Type="http://schemas.openxmlformats.org/officeDocument/2006/relationships/image" Target="../media/image199.png"/><Relationship Id="rId9" Type="http://schemas.openxmlformats.org/officeDocument/2006/relationships/image" Target="../media/image200.png"/><Relationship Id="rId5" Type="http://schemas.openxmlformats.org/officeDocument/2006/relationships/image" Target="../media/image197.png"/><Relationship Id="rId6" Type="http://schemas.openxmlformats.org/officeDocument/2006/relationships/image" Target="../media/image205.png"/><Relationship Id="rId7" Type="http://schemas.openxmlformats.org/officeDocument/2006/relationships/image" Target="../media/image203.png"/><Relationship Id="rId8" Type="http://schemas.openxmlformats.org/officeDocument/2006/relationships/image" Target="../media/image198.png"/><Relationship Id="rId11" Type="http://schemas.openxmlformats.org/officeDocument/2006/relationships/image" Target="../media/image202.png"/><Relationship Id="rId10" Type="http://schemas.openxmlformats.org/officeDocument/2006/relationships/image" Target="../media/image201.png"/><Relationship Id="rId12" Type="http://schemas.openxmlformats.org/officeDocument/2006/relationships/image" Target="../media/image20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4.png"/><Relationship Id="rId4" Type="http://schemas.openxmlformats.org/officeDocument/2006/relationships/image" Target="../media/image204.png"/><Relationship Id="rId9" Type="http://schemas.openxmlformats.org/officeDocument/2006/relationships/image" Target="../media/image210.png"/><Relationship Id="rId5" Type="http://schemas.openxmlformats.org/officeDocument/2006/relationships/image" Target="../media/image206.png"/><Relationship Id="rId6" Type="http://schemas.openxmlformats.org/officeDocument/2006/relationships/image" Target="../media/image209.png"/><Relationship Id="rId7" Type="http://schemas.openxmlformats.org/officeDocument/2006/relationships/image" Target="../media/image212.png"/><Relationship Id="rId8" Type="http://schemas.openxmlformats.org/officeDocument/2006/relationships/image" Target="../media/image211.png"/><Relationship Id="rId10" Type="http://schemas.openxmlformats.org/officeDocument/2006/relationships/image" Target="../media/image2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3.png"/><Relationship Id="rId4" Type="http://schemas.openxmlformats.org/officeDocument/2006/relationships/image" Target="../media/image216.png"/><Relationship Id="rId9" Type="http://schemas.openxmlformats.org/officeDocument/2006/relationships/image" Target="../media/image223.png"/><Relationship Id="rId5" Type="http://schemas.openxmlformats.org/officeDocument/2006/relationships/image" Target="../media/image215.png"/><Relationship Id="rId6" Type="http://schemas.openxmlformats.org/officeDocument/2006/relationships/image" Target="../media/image150.png"/><Relationship Id="rId7" Type="http://schemas.openxmlformats.org/officeDocument/2006/relationships/image" Target="../media/image218.png"/><Relationship Id="rId8" Type="http://schemas.openxmlformats.org/officeDocument/2006/relationships/image" Target="../media/image152.png"/><Relationship Id="rId10" Type="http://schemas.openxmlformats.org/officeDocument/2006/relationships/image" Target="../media/image2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7.png"/><Relationship Id="rId4" Type="http://schemas.openxmlformats.org/officeDocument/2006/relationships/image" Target="../media/image221.png"/><Relationship Id="rId5" Type="http://schemas.openxmlformats.org/officeDocument/2006/relationships/image" Target="../media/image226.png"/><Relationship Id="rId6" Type="http://schemas.openxmlformats.org/officeDocument/2006/relationships/image" Target="../media/image224.png"/><Relationship Id="rId7" Type="http://schemas.openxmlformats.org/officeDocument/2006/relationships/image" Target="../media/image2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3.png"/><Relationship Id="rId4" Type="http://schemas.openxmlformats.org/officeDocument/2006/relationships/image" Target="../media/image227.png"/><Relationship Id="rId5" Type="http://schemas.openxmlformats.org/officeDocument/2006/relationships/image" Target="../media/image233.png"/><Relationship Id="rId6" Type="http://schemas.openxmlformats.org/officeDocument/2006/relationships/image" Target="../media/image229.png"/><Relationship Id="rId7" Type="http://schemas.openxmlformats.org/officeDocument/2006/relationships/image" Target="../media/image2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6.png"/><Relationship Id="rId4" Type="http://schemas.openxmlformats.org/officeDocument/2006/relationships/image" Target="../media/image230.png"/><Relationship Id="rId9" Type="http://schemas.openxmlformats.org/officeDocument/2006/relationships/image" Target="../media/image241.png"/><Relationship Id="rId5" Type="http://schemas.openxmlformats.org/officeDocument/2006/relationships/image" Target="../media/image232.png"/><Relationship Id="rId6" Type="http://schemas.openxmlformats.org/officeDocument/2006/relationships/image" Target="../media/image234.png"/><Relationship Id="rId7" Type="http://schemas.openxmlformats.org/officeDocument/2006/relationships/image" Target="../media/image235.png"/><Relationship Id="rId8" Type="http://schemas.openxmlformats.org/officeDocument/2006/relationships/image" Target="../media/image237.png"/><Relationship Id="rId11" Type="http://schemas.openxmlformats.org/officeDocument/2006/relationships/image" Target="../media/image240.png"/><Relationship Id="rId10" Type="http://schemas.openxmlformats.org/officeDocument/2006/relationships/image" Target="../media/image238.png"/><Relationship Id="rId13" Type="http://schemas.openxmlformats.org/officeDocument/2006/relationships/image" Target="../media/image244.png"/><Relationship Id="rId12" Type="http://schemas.openxmlformats.org/officeDocument/2006/relationships/image" Target="../media/image2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5.png"/><Relationship Id="rId4" Type="http://schemas.openxmlformats.org/officeDocument/2006/relationships/image" Target="../media/image246.png"/><Relationship Id="rId9" Type="http://schemas.openxmlformats.org/officeDocument/2006/relationships/image" Target="../media/image250.png"/><Relationship Id="rId5" Type="http://schemas.openxmlformats.org/officeDocument/2006/relationships/image" Target="../media/image243.png"/><Relationship Id="rId6" Type="http://schemas.openxmlformats.org/officeDocument/2006/relationships/image" Target="../media/image248.png"/><Relationship Id="rId7" Type="http://schemas.openxmlformats.org/officeDocument/2006/relationships/image" Target="../media/image251.png"/><Relationship Id="rId8" Type="http://schemas.openxmlformats.org/officeDocument/2006/relationships/image" Target="../media/image245.png"/><Relationship Id="rId11" Type="http://schemas.openxmlformats.org/officeDocument/2006/relationships/image" Target="../media/image249.png"/><Relationship Id="rId10" Type="http://schemas.openxmlformats.org/officeDocument/2006/relationships/image" Target="../media/image247.png"/><Relationship Id="rId13" Type="http://schemas.openxmlformats.org/officeDocument/2006/relationships/image" Target="../media/image252.png"/><Relationship Id="rId12" Type="http://schemas.openxmlformats.org/officeDocument/2006/relationships/image" Target="../media/image25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5.png"/><Relationship Id="rId4" Type="http://schemas.openxmlformats.org/officeDocument/2006/relationships/image" Target="../media/image253.png"/><Relationship Id="rId5" Type="http://schemas.openxmlformats.org/officeDocument/2006/relationships/image" Target="../media/image257.png"/><Relationship Id="rId6" Type="http://schemas.openxmlformats.org/officeDocument/2006/relationships/image" Target="../media/image256.png"/><Relationship Id="rId7" Type="http://schemas.openxmlformats.org/officeDocument/2006/relationships/image" Target="../media/image25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8.png"/><Relationship Id="rId4" Type="http://schemas.openxmlformats.org/officeDocument/2006/relationships/image" Target="../media/image263.png"/><Relationship Id="rId9" Type="http://schemas.openxmlformats.org/officeDocument/2006/relationships/image" Target="../media/image266.png"/><Relationship Id="rId5" Type="http://schemas.openxmlformats.org/officeDocument/2006/relationships/image" Target="../media/image262.png"/><Relationship Id="rId6" Type="http://schemas.openxmlformats.org/officeDocument/2006/relationships/image" Target="../media/image268.png"/><Relationship Id="rId7" Type="http://schemas.openxmlformats.org/officeDocument/2006/relationships/image" Target="../media/image260.png"/><Relationship Id="rId8" Type="http://schemas.openxmlformats.org/officeDocument/2006/relationships/image" Target="../media/image250.png"/><Relationship Id="rId11" Type="http://schemas.openxmlformats.org/officeDocument/2006/relationships/image" Target="../media/image269.png"/><Relationship Id="rId10" Type="http://schemas.openxmlformats.org/officeDocument/2006/relationships/image" Target="../media/image249.png"/><Relationship Id="rId12" Type="http://schemas.openxmlformats.org/officeDocument/2006/relationships/image" Target="../media/image26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4.png"/><Relationship Id="rId4" Type="http://schemas.openxmlformats.org/officeDocument/2006/relationships/image" Target="../media/image271.png"/><Relationship Id="rId9" Type="http://schemas.openxmlformats.org/officeDocument/2006/relationships/image" Target="../media/image274.png"/><Relationship Id="rId5" Type="http://schemas.openxmlformats.org/officeDocument/2006/relationships/image" Target="../media/image270.png"/><Relationship Id="rId6" Type="http://schemas.openxmlformats.org/officeDocument/2006/relationships/image" Target="../media/image277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Relationship Id="rId11" Type="http://schemas.openxmlformats.org/officeDocument/2006/relationships/image" Target="../media/image276.png"/><Relationship Id="rId10" Type="http://schemas.openxmlformats.org/officeDocument/2006/relationships/image" Target="../media/image2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5.png"/><Relationship Id="rId4" Type="http://schemas.openxmlformats.org/officeDocument/2006/relationships/image" Target="../media/image282.png"/><Relationship Id="rId5" Type="http://schemas.openxmlformats.org/officeDocument/2006/relationships/image" Target="../media/image285.png"/><Relationship Id="rId6" Type="http://schemas.openxmlformats.org/officeDocument/2006/relationships/image" Target="../media/image279.png"/><Relationship Id="rId7" Type="http://schemas.openxmlformats.org/officeDocument/2006/relationships/image" Target="../media/image280.png"/><Relationship Id="rId8" Type="http://schemas.openxmlformats.org/officeDocument/2006/relationships/image" Target="../media/image28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7.png"/><Relationship Id="rId4" Type="http://schemas.openxmlformats.org/officeDocument/2006/relationships/image" Target="../media/image288.png"/><Relationship Id="rId5" Type="http://schemas.openxmlformats.org/officeDocument/2006/relationships/image" Target="../media/image287.png"/><Relationship Id="rId6" Type="http://schemas.openxmlformats.org/officeDocument/2006/relationships/image" Target="../media/image291.png"/><Relationship Id="rId7" Type="http://schemas.openxmlformats.org/officeDocument/2006/relationships/image" Target="../media/image294.png"/><Relationship Id="rId8" Type="http://schemas.openxmlformats.org/officeDocument/2006/relationships/image" Target="../media/image28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5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6.png"/><Relationship Id="rId7" Type="http://schemas.openxmlformats.org/officeDocument/2006/relationships/image" Target="../media/image29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0.png"/><Relationship Id="rId4" Type="http://schemas.openxmlformats.org/officeDocument/2006/relationships/image" Target="../media/image297.png"/><Relationship Id="rId9" Type="http://schemas.openxmlformats.org/officeDocument/2006/relationships/image" Target="../media/image305.png"/><Relationship Id="rId5" Type="http://schemas.openxmlformats.org/officeDocument/2006/relationships/image" Target="../media/image298.png"/><Relationship Id="rId6" Type="http://schemas.openxmlformats.org/officeDocument/2006/relationships/image" Target="../media/image300.png"/><Relationship Id="rId7" Type="http://schemas.openxmlformats.org/officeDocument/2006/relationships/image" Target="../media/image299.png"/><Relationship Id="rId8" Type="http://schemas.openxmlformats.org/officeDocument/2006/relationships/image" Target="../media/image312.png"/><Relationship Id="rId11" Type="http://schemas.openxmlformats.org/officeDocument/2006/relationships/image" Target="../media/image304.png"/><Relationship Id="rId10" Type="http://schemas.openxmlformats.org/officeDocument/2006/relationships/image" Target="../media/image302.png"/><Relationship Id="rId13" Type="http://schemas.openxmlformats.org/officeDocument/2006/relationships/image" Target="../media/image308.png"/><Relationship Id="rId12" Type="http://schemas.openxmlformats.org/officeDocument/2006/relationships/image" Target="../media/image306.png"/><Relationship Id="rId15" Type="http://schemas.openxmlformats.org/officeDocument/2006/relationships/image" Target="../media/image322.png"/><Relationship Id="rId14" Type="http://schemas.openxmlformats.org/officeDocument/2006/relationships/image" Target="../media/image309.png"/><Relationship Id="rId17" Type="http://schemas.openxmlformats.org/officeDocument/2006/relationships/image" Target="../media/image310.png"/><Relationship Id="rId16" Type="http://schemas.openxmlformats.org/officeDocument/2006/relationships/image" Target="../media/image3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5.png"/><Relationship Id="rId4" Type="http://schemas.openxmlformats.org/officeDocument/2006/relationships/image" Target="../media/image311.png"/><Relationship Id="rId9" Type="http://schemas.openxmlformats.org/officeDocument/2006/relationships/image" Target="../media/image323.png"/><Relationship Id="rId5" Type="http://schemas.openxmlformats.org/officeDocument/2006/relationships/image" Target="../media/image316.png"/><Relationship Id="rId6" Type="http://schemas.openxmlformats.org/officeDocument/2006/relationships/image" Target="../media/image315.png"/><Relationship Id="rId7" Type="http://schemas.openxmlformats.org/officeDocument/2006/relationships/image" Target="../media/image314.png"/><Relationship Id="rId8" Type="http://schemas.openxmlformats.org/officeDocument/2006/relationships/image" Target="../media/image317.png"/><Relationship Id="rId11" Type="http://schemas.openxmlformats.org/officeDocument/2006/relationships/image" Target="../media/image319.png"/><Relationship Id="rId10" Type="http://schemas.openxmlformats.org/officeDocument/2006/relationships/image" Target="../media/image3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3.png"/><Relationship Id="rId4" Type="http://schemas.openxmlformats.org/officeDocument/2006/relationships/image" Target="../media/image321.png"/><Relationship Id="rId9" Type="http://schemas.openxmlformats.org/officeDocument/2006/relationships/image" Target="../media/image329.png"/><Relationship Id="rId5" Type="http://schemas.openxmlformats.org/officeDocument/2006/relationships/image" Target="../media/image338.png"/><Relationship Id="rId6" Type="http://schemas.openxmlformats.org/officeDocument/2006/relationships/image" Target="../media/image331.png"/><Relationship Id="rId7" Type="http://schemas.openxmlformats.org/officeDocument/2006/relationships/image" Target="../media/image328.png"/><Relationship Id="rId8" Type="http://schemas.openxmlformats.org/officeDocument/2006/relationships/image" Target="../media/image324.png"/><Relationship Id="rId11" Type="http://schemas.openxmlformats.org/officeDocument/2006/relationships/image" Target="../media/image326.png"/><Relationship Id="rId10" Type="http://schemas.openxmlformats.org/officeDocument/2006/relationships/image" Target="../media/image3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8.png"/><Relationship Id="rId4" Type="http://schemas.openxmlformats.org/officeDocument/2006/relationships/image" Target="../media/image350.png"/><Relationship Id="rId5" Type="http://schemas.openxmlformats.org/officeDocument/2006/relationships/image" Target="../media/image332.png"/><Relationship Id="rId6" Type="http://schemas.openxmlformats.org/officeDocument/2006/relationships/image" Target="../media/image3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5.png"/><Relationship Id="rId4" Type="http://schemas.openxmlformats.org/officeDocument/2006/relationships/image" Target="../media/image334.png"/><Relationship Id="rId9" Type="http://schemas.openxmlformats.org/officeDocument/2006/relationships/image" Target="../media/image340.png"/><Relationship Id="rId5" Type="http://schemas.openxmlformats.org/officeDocument/2006/relationships/image" Target="../media/image336.png"/><Relationship Id="rId6" Type="http://schemas.openxmlformats.org/officeDocument/2006/relationships/image" Target="../media/image333.png"/><Relationship Id="rId7" Type="http://schemas.openxmlformats.org/officeDocument/2006/relationships/image" Target="../media/image335.png"/><Relationship Id="rId8" Type="http://schemas.openxmlformats.org/officeDocument/2006/relationships/image" Target="../media/image3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8.png"/><Relationship Id="rId4" Type="http://schemas.openxmlformats.org/officeDocument/2006/relationships/image" Target="../media/image341.png"/><Relationship Id="rId5" Type="http://schemas.openxmlformats.org/officeDocument/2006/relationships/image" Target="../media/image3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5.png"/><Relationship Id="rId4" Type="http://schemas.openxmlformats.org/officeDocument/2006/relationships/image" Target="../media/image346.png"/><Relationship Id="rId5" Type="http://schemas.openxmlformats.org/officeDocument/2006/relationships/image" Target="../media/image352.png"/><Relationship Id="rId6" Type="http://schemas.openxmlformats.org/officeDocument/2006/relationships/image" Target="../media/image197.png"/><Relationship Id="rId7" Type="http://schemas.openxmlformats.org/officeDocument/2006/relationships/image" Target="../media/image3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5.png"/><Relationship Id="rId4" Type="http://schemas.openxmlformats.org/officeDocument/2006/relationships/image" Target="../media/image349.png"/><Relationship Id="rId5" Type="http://schemas.openxmlformats.org/officeDocument/2006/relationships/image" Target="../media/image351.png"/><Relationship Id="rId6" Type="http://schemas.openxmlformats.org/officeDocument/2006/relationships/image" Target="../media/image353.png"/><Relationship Id="rId7" Type="http://schemas.openxmlformats.org/officeDocument/2006/relationships/image" Target="../media/image3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5.png"/><Relationship Id="rId4" Type="http://schemas.openxmlformats.org/officeDocument/2006/relationships/image" Target="../media/image356.png"/><Relationship Id="rId5" Type="http://schemas.openxmlformats.org/officeDocument/2006/relationships/image" Target="../media/image358.png"/><Relationship Id="rId6" Type="http://schemas.openxmlformats.org/officeDocument/2006/relationships/image" Target="../media/image35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5.png"/><Relationship Id="rId4" Type="http://schemas.openxmlformats.org/officeDocument/2006/relationships/image" Target="../media/image3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5.png"/><Relationship Id="rId4" Type="http://schemas.openxmlformats.org/officeDocument/2006/relationships/image" Target="../media/image372.png"/><Relationship Id="rId9" Type="http://schemas.openxmlformats.org/officeDocument/2006/relationships/image" Target="../media/image368.png"/><Relationship Id="rId5" Type="http://schemas.openxmlformats.org/officeDocument/2006/relationships/image" Target="../media/image363.png"/><Relationship Id="rId6" Type="http://schemas.openxmlformats.org/officeDocument/2006/relationships/image" Target="../media/image362.png"/><Relationship Id="rId7" Type="http://schemas.openxmlformats.org/officeDocument/2006/relationships/image" Target="../media/image364.png"/><Relationship Id="rId8" Type="http://schemas.openxmlformats.org/officeDocument/2006/relationships/image" Target="../media/image36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5.png"/><Relationship Id="rId4" Type="http://schemas.openxmlformats.org/officeDocument/2006/relationships/image" Target="../media/image371.png"/><Relationship Id="rId5" Type="http://schemas.openxmlformats.org/officeDocument/2006/relationships/image" Target="../media/image373.png"/><Relationship Id="rId6" Type="http://schemas.openxmlformats.org/officeDocument/2006/relationships/image" Target="../media/image370.png"/><Relationship Id="rId7" Type="http://schemas.openxmlformats.org/officeDocument/2006/relationships/image" Target="../media/image36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7.png"/><Relationship Id="rId4" Type="http://schemas.openxmlformats.org/officeDocument/2006/relationships/image" Target="../media/image3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3688" y="1678781"/>
            <a:ext cx="1785938" cy="178593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71500" y="894224"/>
            <a:ext cx="3375506" cy="283964"/>
          </a:xfrm>
          <a:prstGeom prst="rect">
            <a:avLst/>
          </a:prstGeom>
          <a:solidFill>
            <a:srgbClr val="FFD700">
              <a:alpha val="4705"/>
            </a:srgbClr>
          </a:solidFill>
          <a:ln cap="flat" cmpd="sng" w="9525">
            <a:solidFill>
              <a:srgbClr val="FFD7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71500" y="894224"/>
            <a:ext cx="3375506" cy="283964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Unified Agent Management Series | Part 3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71500" y="1313920"/>
            <a:ext cx="6429375" cy="113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1"/>
              <a:buFont typeface="Calibri"/>
              <a:buNone/>
            </a:pPr>
            <a:r>
              <a:rPr b="1" i="0" lang="en-US" sz="37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Trust Architecture</a:t>
            </a:r>
            <a:br>
              <a:rPr b="1" i="0" lang="en-US" sz="37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mTLS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71500" y="2659791"/>
            <a:ext cx="6429375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0">
            <a:noAutofit/>
          </a:bodyPr>
          <a:lstStyle/>
          <a:p>
            <a:pPr indent="0" lvl="0" marL="0" marR="0" rtl="0" algn="l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704"/>
              <a:buFont typeface="Calibri"/>
              <a:buNone/>
            </a:pPr>
            <a:r>
              <a:rPr b="0" i="0" lang="en-US" sz="170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Comprehensive PKI Infrastructure &amp;</a:t>
            </a:r>
            <a:br>
              <a:rPr b="0" i="0" lang="en-US" sz="170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Identity Framework</a:t>
            </a:r>
            <a:endParaRPr b="0" i="0" sz="17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71500" y="3934951"/>
            <a:ext cx="145447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Security Model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71500" y="4086755"/>
            <a:ext cx="145447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Trust, Always Verify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11729" y="3934951"/>
            <a:ext cx="102482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Core Technology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311729" y="4086755"/>
            <a:ext cx="102482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Mutual TLS (mTLS)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622300" y="3934951"/>
            <a:ext cx="168377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622300" y="4086755"/>
            <a:ext cx="16837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Multi-Region Active-Active PKI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2487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71500" y="428625"/>
            <a:ext cx="342361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Trust Principles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71500" y="1466255"/>
            <a:ext cx="2476481" cy="331570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71500" y="1466255"/>
            <a:ext cx="2476481" cy="4286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452553" y="1752005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1147" y="1966317"/>
            <a:ext cx="35718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785813" y="2661047"/>
            <a:ext cx="975820" cy="467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Trust,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761632" y="2661047"/>
            <a:ext cx="1072037" cy="467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Always Verify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85813" y="3252192"/>
            <a:ext cx="2047856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No implicit trust based on network location. Every request must be authenticated and authorized, regardless of origin.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224344" y="4240820"/>
            <a:ext cx="1170766" cy="255389"/>
          </a:xfrm>
          <a:prstGeom prst="rect">
            <a:avLst/>
          </a:prstGeom>
          <a:solidFill>
            <a:srgbClr val="000000">
              <a:alpha val="2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224344" y="4240820"/>
            <a:ext cx="1170766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Identity-First Security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333731" y="1466255"/>
            <a:ext cx="2476509" cy="331570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333731" y="1466255"/>
            <a:ext cx="2476509" cy="4286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214785" y="1752005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097" y="196631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3660279" y="2778026"/>
            <a:ext cx="1257077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Least Privilege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917356" y="2778026"/>
            <a:ext cx="56631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548044" y="3252192"/>
            <a:ext cx="2047884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Grant only the minimum permissions required for the specific task and time. Limit the blast radius of any compromise.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033261" y="4197958"/>
            <a:ext cx="1077423" cy="255389"/>
          </a:xfrm>
          <a:prstGeom prst="rect">
            <a:avLst/>
          </a:prstGeom>
          <a:solidFill>
            <a:srgbClr val="000000">
              <a:alpha val="2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033261" y="4197958"/>
            <a:ext cx="1077423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Just-In-Time Access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095991" y="1466255"/>
            <a:ext cx="2476481" cy="325855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095991" y="1466255"/>
            <a:ext cx="2476481" cy="42863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977044" y="1752005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1356" y="196631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6701061" y="2778026"/>
            <a:ext cx="67106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Assume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372127" y="2778026"/>
            <a:ext cx="59527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Breach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310303" y="3252192"/>
            <a:ext cx="2047856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Design systems assuming the network is already compromised. Encrypt everything end-to-end.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712669" y="4183670"/>
            <a:ext cx="1243096" cy="255389"/>
          </a:xfrm>
          <a:prstGeom prst="rect">
            <a:avLst/>
          </a:prstGeom>
          <a:solidFill>
            <a:srgbClr val="000000">
              <a:alpha val="2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712669" y="4183670"/>
            <a:ext cx="1243096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Encryption Everywhere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559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71500" y="428625"/>
            <a:ext cx="407051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Mutual TLS (mTLS)?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71500" y="1323380"/>
            <a:ext cx="3857625" cy="2141339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68946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1050131" y="1537692"/>
            <a:ext cx="126600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TLS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688" y="212526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936975" y="2425303"/>
            <a:ext cx="26914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321594" y="2336006"/>
            <a:ext cx="2334890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2310152" y="2402086"/>
            <a:ext cx="357774" cy="12680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310152" y="2402086"/>
            <a:ext cx="35777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Cert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99917" y="21252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3763640" y="2425303"/>
            <a:ext cx="3011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85813" y="2914650"/>
            <a:ext cx="3421856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Server proves identity to Client. Client is anonymous or uses weak passwords/tokens. Vulnerable to credential theft.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707731" y="1323380"/>
            <a:ext cx="3864769" cy="2141339"/>
          </a:xfrm>
          <a:prstGeom prst="rect">
            <a:avLst/>
          </a:prstGeom>
          <a:solidFill>
            <a:srgbClr val="00BFFF">
              <a:alpha val="4705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9188" y="156894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5150644" y="1537692"/>
            <a:ext cx="952407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Mutual TLS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72063" y="212526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5080350" y="2425303"/>
            <a:ext cx="26914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64969" y="2336006"/>
            <a:ext cx="2342034" cy="1428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517542" y="2157413"/>
            <a:ext cx="236888" cy="12680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517542" y="2157413"/>
            <a:ext cx="2368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Cert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517542" y="2402086"/>
            <a:ext cx="236888" cy="12680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517542" y="2402086"/>
            <a:ext cx="23688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Cert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0436" y="21252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7914159" y="2425303"/>
            <a:ext cx="3011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929188" y="2914650"/>
            <a:ext cx="3429000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Bidirectional Authentication.</a:t>
            </a:r>
            <a:r>
              <a:rPr b="0" i="0" lang="en-US" sz="78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Both parties prove identity using cryptographic certificates. Zero Trust native.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71500" y="3736181"/>
            <a:ext cx="1893094" cy="95221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71500" y="3736181"/>
            <a:ext cx="28575" cy="95221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75" y="3902273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882253" y="3879056"/>
            <a:ext cx="97727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Identity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14375" y="4125516"/>
            <a:ext cx="160734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Cryptographic proof of identity for every agent, service, and user.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607469" y="3736181"/>
            <a:ext cx="1893094" cy="95221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2607469" y="3736181"/>
            <a:ext cx="28575" cy="95221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50344" y="3902273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2918222" y="3879056"/>
            <a:ext cx="69464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750344" y="4125516"/>
            <a:ext cx="1607344" cy="4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End-to-end encryption of all traffic, protecting against eavesdropping.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643438" y="3736181"/>
            <a:ext cx="1893094" cy="95221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643438" y="3736181"/>
            <a:ext cx="28575" cy="95221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86313" y="390227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4986338" y="3879056"/>
            <a:ext cx="57429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86313" y="4125516"/>
            <a:ext cx="160734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Guarantee that data hasn't been tampered with in transit.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679406" y="3736181"/>
            <a:ext cx="1893094" cy="952212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679406" y="3736181"/>
            <a:ext cx="28575" cy="95221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22281" y="3902273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990159" y="3879056"/>
            <a:ext cx="63049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822281" y="4125516"/>
            <a:ext cx="160734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Auth happens at transport layer, simplifying app logic.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71500" y="428625"/>
            <a:ext cx="509120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Multi-Region Active-Active PKI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367804" y="1251942"/>
            <a:ext cx="2408393" cy="471488"/>
          </a:xfrm>
          <a:prstGeom prst="rect">
            <a:avLst/>
          </a:prstGeom>
          <a:solidFill>
            <a:srgbClr val="112240"/>
          </a:solidFill>
          <a:ln cap="flat" cmpd="sng" w="18275">
            <a:solidFill>
              <a:srgbClr val="FFD7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841" y="1359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4039316" y="1385888"/>
            <a:ext cx="106536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 (Offline)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7559" y="1359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3667841" y="1166217"/>
            <a:ext cx="1028728" cy="116086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667841" y="1166217"/>
            <a:ext cx="102872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AIR-GAPPED / OFFLINE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71500" y="1980605"/>
            <a:ext cx="3857625" cy="273427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714375" y="2123480"/>
            <a:ext cx="16179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Region A (Primary)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866052" y="2134195"/>
            <a:ext cx="413054" cy="173236"/>
          </a:xfrm>
          <a:prstGeom prst="rect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866052" y="2134195"/>
            <a:ext cx="4130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27488" y="2611041"/>
            <a:ext cx="1000125" cy="85010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7538" y="2725341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095645" y="3032522"/>
            <a:ext cx="66381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EJBCA Cluster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229032" y="3239691"/>
            <a:ext cx="39700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PKI Engine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065813" y="2611041"/>
            <a:ext cx="1000125" cy="85010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5863" y="271819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3267066" y="3025378"/>
            <a:ext cx="5975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HSM Cluster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320755" y="3232547"/>
            <a:ext cx="49021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FIPS 140-2 L3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996678" y="3721894"/>
            <a:ext cx="1000125" cy="85010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09230" y="3843338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2266550" y="4150519"/>
            <a:ext cx="4603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203931" y="4357688"/>
            <a:ext cx="58559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Certificate State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707731" y="1980605"/>
            <a:ext cx="3864769" cy="273427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857750" y="2123480"/>
            <a:ext cx="183496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Region B (Secondary)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016571" y="2134195"/>
            <a:ext cx="413054" cy="173236"/>
          </a:xfrm>
          <a:prstGeom prst="rect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016571" y="2134195"/>
            <a:ext cx="4130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72063" y="2611041"/>
            <a:ext cx="1000125" cy="85010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2113" y="2725341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5240220" y="3032522"/>
            <a:ext cx="66381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EJBCA Cluster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373607" y="3239691"/>
            <a:ext cx="39700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PKI Engine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215188" y="2611041"/>
            <a:ext cx="1000125" cy="85010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15238" y="271819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7416440" y="3025378"/>
            <a:ext cx="5975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HSM Cluster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470130" y="3232547"/>
            <a:ext cx="49021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FIPS 140-2 L3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143625" y="3721894"/>
            <a:ext cx="1000125" cy="85010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6177" y="3843338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6413497" y="4150519"/>
            <a:ext cx="4603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350877" y="4357688"/>
            <a:ext cx="58559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Certificate State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979850" y="4321076"/>
            <a:ext cx="1184272" cy="116086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1288" y="4335363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4137013" y="4321076"/>
            <a:ext cx="95567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GLOBAL REPLICATION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299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71500" y="428625"/>
            <a:ext cx="493789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 Intermediate CAs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770923" y="1251942"/>
            <a:ext cx="1602153" cy="950119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7700" y="13590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4233509" y="1659136"/>
            <a:ext cx="67695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070961" y="1910953"/>
            <a:ext cx="1002078" cy="155377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8111" y="1953816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4190619" y="1939528"/>
            <a:ext cx="825271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Offline / Air-Gapped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71500" y="2830711"/>
            <a:ext cx="1050299" cy="1140098"/>
          </a:xfrm>
          <a:prstGeom prst="rect">
            <a:avLst/>
          </a:prstGeom>
          <a:solidFill>
            <a:srgbClr val="00BFFF">
              <a:alpha val="4705"/>
            </a:srgbClr>
          </a:solidFill>
          <a:ln cap="flat" cmpd="sng" w="9525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912335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773" y="303073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42938" y="3427940"/>
            <a:ext cx="49216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135103" y="3367943"/>
            <a:ext cx="403845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85338" y="3645098"/>
            <a:ext cx="611209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Laptops, Servers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IoT Devices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681823" y="2830711"/>
            <a:ext cx="1053173" cy="11400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026927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9796" y="303073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1756107" y="3427940"/>
            <a:ext cx="340947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097053" y="3367943"/>
            <a:ext cx="5579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911344" y="3645098"/>
            <a:ext cx="588355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EC2, Azure VMs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Cloud Instances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797839" y="2830711"/>
            <a:ext cx="1214326" cy="1140098"/>
          </a:xfrm>
          <a:prstGeom prst="rect">
            <a:avLst/>
          </a:prstGeom>
          <a:solidFill>
            <a:srgbClr val="00BFFF">
              <a:alpha val="4705"/>
            </a:srgbClr>
          </a:solidFill>
          <a:ln cap="flat" cmpd="sng" w="9525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225012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07166" y="3030736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2875025" y="3427940"/>
            <a:ext cx="576997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Kubernetes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452022" y="3367943"/>
            <a:ext cx="480166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Workload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91597" y="3645098"/>
            <a:ext cx="624018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Pods, Containers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Microservices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075063" y="2830711"/>
            <a:ext cx="1058894" cy="11400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425888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08041" y="3030736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4221621" y="3427940"/>
            <a:ext cx="170724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392346" y="3427940"/>
            <a:ext cx="59499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Gateway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323587" y="3645098"/>
            <a:ext cx="561789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Ingress/Egress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Load Balancers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199645" y="2830711"/>
            <a:ext cx="1061740" cy="1140098"/>
          </a:xfrm>
          <a:prstGeom prst="rect">
            <a:avLst/>
          </a:prstGeom>
          <a:solidFill>
            <a:srgbClr val="00BFFF">
              <a:alpha val="4705"/>
            </a:srgbClr>
          </a:solidFill>
          <a:ln cap="flat" cmpd="sng" w="9525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554740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36893" y="3030736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5340762" y="3427940"/>
            <a:ext cx="357550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698313" y="3427940"/>
            <a:ext cx="42756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Mesh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500715" y="3645098"/>
            <a:ext cx="465209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Istio/Linkerd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mTLS Mesh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329921" y="2830711"/>
            <a:ext cx="1106500" cy="11400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708930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412855" y="3427940"/>
            <a:ext cx="510080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922936" y="3367943"/>
            <a:ext cx="439257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91114" y="3645098"/>
            <a:ext cx="592820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Lambda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Cloud Functions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505067" y="2830711"/>
            <a:ext cx="1067460" cy="1140098"/>
          </a:xfrm>
          <a:prstGeom prst="rect">
            <a:avLst/>
          </a:prstGeom>
          <a:solidFill>
            <a:srgbClr val="00BFFF">
              <a:alpha val="4705"/>
            </a:srgbClr>
          </a:solidFill>
          <a:ln cap="flat" cmpd="sng" w="9525">
            <a:solidFill>
              <a:srgbClr val="00B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7865855" y="2937867"/>
            <a:ext cx="357188" cy="357188"/>
          </a:xfrm>
          <a:prstGeom prst="ellipse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37292" y="303073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/>
          <p:nvPr/>
        </p:nvSpPr>
        <p:spPr>
          <a:xfrm>
            <a:off x="7666890" y="3427940"/>
            <a:ext cx="366564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033454" y="3427940"/>
            <a:ext cx="388553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845400" y="3645098"/>
            <a:ext cx="398097" cy="20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845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b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Admins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71500" y="4170834"/>
            <a:ext cx="8001000" cy="72330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71500" y="4170834"/>
            <a:ext cx="28575" cy="72330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4375" y="4432474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/>
          <p:nvPr/>
        </p:nvSpPr>
        <p:spPr>
          <a:xfrm>
            <a:off x="1021556" y="4313709"/>
            <a:ext cx="21216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Blast Radius Containment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021556" y="4497660"/>
            <a:ext cx="21216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Compromise of one CA (e.g., K8s) does not affect others (e.g., Hardware).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57563" y="4432474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3689747" y="4313709"/>
            <a:ext cx="20966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Independent Scaling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689747" y="4497660"/>
            <a:ext cx="209669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Scale high-volume CAs (Containers) separately from low-volume ones (Hardware).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00750" y="4432474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6307931" y="4313709"/>
            <a:ext cx="21216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Tailored Policies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307931" y="4497660"/>
            <a:ext cx="21216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Distinct validity periods and key usages per form factor.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571500" y="428625"/>
            <a:ext cx="8001000" cy="55185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71500" y="966192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71500" y="428625"/>
            <a:ext cx="357120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Taxonomy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71500" y="1109067"/>
            <a:ext cx="8001000" cy="3605808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71500" y="1109067"/>
            <a:ext cx="2000250" cy="310753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71500" y="1405533"/>
            <a:ext cx="2000250" cy="14288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571500" y="1109067"/>
            <a:ext cx="2000250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571750" y="1109067"/>
            <a:ext cx="1600200" cy="310753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2571750" y="1405533"/>
            <a:ext cx="1600200" cy="14288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2571750" y="1109067"/>
            <a:ext cx="1600200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171950" y="1109067"/>
            <a:ext cx="1600200" cy="310753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171950" y="1405533"/>
            <a:ext cx="1600200" cy="14288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171950" y="1109067"/>
            <a:ext cx="1600200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Key Usage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5772150" y="1109067"/>
            <a:ext cx="2800350" cy="310753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772150" y="1405533"/>
            <a:ext cx="2800350" cy="14288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5772150" y="1109067"/>
            <a:ext cx="2800350" cy="310753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Bootstrap Method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00088" y="1498402"/>
            <a:ext cx="200025" cy="2000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663" y="1541264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985838" y="1520726"/>
            <a:ext cx="94629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Device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2700338" y="1506438"/>
            <a:ext cx="497105" cy="183952"/>
          </a:xfrm>
          <a:prstGeom prst="rect">
            <a:avLst/>
          </a:prstGeom>
          <a:solidFill>
            <a:srgbClr val="00B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2700338" y="1506438"/>
            <a:ext cx="49710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85075" spcFirstLastPara="1" rIns="85075" wrap="square" tIns="34025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4171950" y="1412677"/>
            <a:ext cx="1600200" cy="375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 Auth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772150" y="1412677"/>
            <a:ext cx="2800350" cy="375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MDM / TPM Attestation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00088" y="1877020"/>
            <a:ext cx="200025" cy="2000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91988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985838" y="1899345"/>
            <a:ext cx="8812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Machine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00338" y="1885057"/>
            <a:ext cx="497105" cy="183952"/>
          </a:xfrm>
          <a:prstGeom prst="rect">
            <a:avLst/>
          </a:prstGeom>
          <a:solidFill>
            <a:srgbClr val="00B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2700338" y="1885057"/>
            <a:ext cx="49710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85075" spcFirstLastPara="1" rIns="85075" wrap="square" tIns="34025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171950" y="1787723"/>
            <a:ext cx="160020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 Auth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772150" y="1787723"/>
            <a:ext cx="280035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AWS Instance 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700088" y="2255639"/>
            <a:ext cx="200025" cy="2000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94" y="2298502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/>
          <p:nvPr/>
        </p:nvSpPr>
        <p:spPr>
          <a:xfrm>
            <a:off x="985838" y="2277963"/>
            <a:ext cx="55255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700338" y="2263676"/>
            <a:ext cx="451870" cy="183952"/>
          </a:xfrm>
          <a:prstGeom prst="rect">
            <a:avLst/>
          </a:prstGeom>
          <a:solidFill>
            <a:srgbClr val="FFD70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2700338" y="2263676"/>
            <a:ext cx="451870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85075" spcFirstLastPara="1" rIns="85075" wrap="square" tIns="34025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171950" y="2166342"/>
            <a:ext cx="160020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Client/Server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772150" y="2166342"/>
            <a:ext cx="280035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SPIFFE / K8s Token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00088" y="2634258"/>
            <a:ext cx="200025" cy="2000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238" y="2677120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/>
          <p:cNvSpPr/>
          <p:nvPr/>
        </p:nvSpPr>
        <p:spPr>
          <a:xfrm>
            <a:off x="985838" y="2656582"/>
            <a:ext cx="56968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Serverless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700338" y="2642295"/>
            <a:ext cx="496351" cy="183952"/>
          </a:xfrm>
          <a:prstGeom prst="rect">
            <a:avLst/>
          </a:prstGeom>
          <a:solidFill>
            <a:srgbClr val="FF5F5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2700338" y="2642295"/>
            <a:ext cx="496351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85075" spcFirstLastPara="1" rIns="85075" wrap="square" tIns="34025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FF5F56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FF5F56"/>
                </a:solidFill>
                <a:latin typeface="Calibri"/>
                <a:ea typeface="Calibri"/>
                <a:cs typeface="Calibri"/>
                <a:sym typeface="Calibri"/>
              </a:rPr>
              <a:t>15 Mins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171950" y="2544961"/>
            <a:ext cx="160020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 Auth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772150" y="2544961"/>
            <a:ext cx="280035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Cloud IAM 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00088" y="3012877"/>
            <a:ext cx="200025" cy="2000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663" y="3055739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985838" y="3035201"/>
            <a:ext cx="7047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700338" y="3020913"/>
            <a:ext cx="497105" cy="183952"/>
          </a:xfrm>
          <a:prstGeom prst="rect">
            <a:avLst/>
          </a:prstGeom>
          <a:solidFill>
            <a:srgbClr val="00B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2700338" y="3020913"/>
            <a:ext cx="497105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85075" spcFirstLastPara="1" rIns="85075" wrap="square" tIns="34025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171950" y="2923580"/>
            <a:ext cx="160020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Server Auth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772150" y="2923580"/>
            <a:ext cx="2800350" cy="378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ACME Protocol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00088" y="3391495"/>
            <a:ext cx="200025" cy="2000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0094" y="3434358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/>
          <p:nvPr/>
        </p:nvSpPr>
        <p:spPr>
          <a:xfrm>
            <a:off x="985838" y="3413820"/>
            <a:ext cx="69827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User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700338" y="3399532"/>
            <a:ext cx="550208" cy="18395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2700338" y="3399532"/>
            <a:ext cx="550208" cy="183952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85075" spcFirstLastPara="1" rIns="85075" wrap="square" tIns="34025">
            <a:noAutofit/>
          </a:bodyPr>
          <a:lstStyle/>
          <a:p>
            <a:pPr indent="0" lvl="0" marL="0" marR="0" rtl="0" algn="l">
              <a:lnSpc>
                <a:spcPct val="14195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34"/>
              <a:buFont typeface="Calibri"/>
              <a:buNone/>
            </a:pPr>
            <a:r>
              <a:rPr b="1" i="0" lang="en-US" sz="6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365 Days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171950" y="3302198"/>
            <a:ext cx="1600200" cy="375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 Auth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772150" y="3302198"/>
            <a:ext cx="2800350" cy="375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53025" spcFirstLastPara="1" rIns="153025" wrap="square" tIns="1021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IDP / SSO Flow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3" name="Google Shape;3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71500" y="428625"/>
            <a:ext cx="342121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External Certificates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571500" y="1323380"/>
            <a:ext cx="3893344" cy="7979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71500" y="1323380"/>
            <a:ext cx="28575" cy="797923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714375" y="1466255"/>
            <a:ext cx="359330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714375" y="1698427"/>
            <a:ext cx="3593306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Internal PKI (EJBCA) is trusted by employees but not by the public internet. Public services need publicly trusted certs.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664869" y="1323380"/>
            <a:ext cx="3907631" cy="7979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664869" y="1323380"/>
            <a:ext cx="28575" cy="79792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822031" y="1466255"/>
            <a:ext cx="360759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822031" y="1698427"/>
            <a:ext cx="360759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 a "Broker" pattern to abstract the public CA provider. OpAMP requests certs identically, regardless of source.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71500" y="2335616"/>
            <a:ext cx="8001000" cy="1625594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857250" y="2478491"/>
            <a:ext cx="95698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455536" y="2478491"/>
            <a:ext cx="83121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Public Internet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035844" y="2726931"/>
            <a:ext cx="500063" cy="500063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28626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"/>
          <p:cNvSpPr/>
          <p:nvPr/>
        </p:nvSpPr>
        <p:spPr>
          <a:xfrm>
            <a:off x="1088082" y="3298431"/>
            <a:ext cx="39555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b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785938" y="2998394"/>
            <a:ext cx="1190634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2295516" y="2819800"/>
            <a:ext cx="171450" cy="171450"/>
          </a:xfrm>
          <a:prstGeom prst="ellipse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2295516" y="2819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226603" y="2726931"/>
            <a:ext cx="500063" cy="500063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8047" y="286266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9"/>
          <p:cNvSpPr/>
          <p:nvPr/>
        </p:nvSpPr>
        <p:spPr>
          <a:xfrm>
            <a:off x="3264303" y="3298431"/>
            <a:ext cx="424662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</a:t>
            </a:r>
            <a:b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976697" y="2998394"/>
            <a:ext cx="1190634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4486275" y="2819800"/>
            <a:ext cx="171450" cy="171450"/>
          </a:xfrm>
          <a:prstGeom prst="ellipse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486275" y="2819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000500" y="2434037"/>
            <a:ext cx="1143000" cy="1428750"/>
          </a:xfrm>
          <a:prstGeom prst="rect">
            <a:avLst/>
          </a:prstGeom>
          <a:solidFill>
            <a:srgbClr val="FFD700">
              <a:alpha val="4705"/>
            </a:srgbClr>
          </a:solidFill>
          <a:ln cap="flat" cmpd="sng" w="18275">
            <a:solidFill>
              <a:srgbClr val="FFD7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4270400" y="3523459"/>
            <a:ext cx="603172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Abstraction</a:t>
            </a:r>
            <a:br>
              <a:rPr b="1" i="0" lang="en-US" sz="5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417362" y="2726931"/>
            <a:ext cx="500063" cy="500063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3094" y="28626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9"/>
          <p:cNvSpPr/>
          <p:nvPr/>
        </p:nvSpPr>
        <p:spPr>
          <a:xfrm>
            <a:off x="5467508" y="3298431"/>
            <a:ext cx="39977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DigiCert</a:t>
            </a:r>
            <a:b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Broker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167456" y="2998394"/>
            <a:ext cx="1190634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677034" y="2819800"/>
            <a:ext cx="171450" cy="171450"/>
          </a:xfrm>
          <a:prstGeom prst="ellipse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677034" y="2819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7608122" y="2726931"/>
            <a:ext cx="500063" cy="500063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43853" y="28626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9"/>
          <p:cNvSpPr/>
          <p:nvPr/>
        </p:nvSpPr>
        <p:spPr>
          <a:xfrm>
            <a:off x="7631702" y="3298431"/>
            <a:ext cx="45287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DigiCert</a:t>
            </a:r>
            <a:b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71500" y="4175522"/>
            <a:ext cx="8001000" cy="539353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4366617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9"/>
          <p:cNvSpPr/>
          <p:nvPr/>
        </p:nvSpPr>
        <p:spPr>
          <a:xfrm>
            <a:off x="1007269" y="4296966"/>
            <a:ext cx="7422356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Advantage:</a:t>
            </a: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No Vendor Lock-in.</a:t>
            </a:r>
            <a:r>
              <a:rPr b="0" i="0" lang="en-US" sz="8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We can swap DigiCert for another provider at the Broker level without changing a single agent configuration.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9" name="Google Shape;3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/>
          <p:nvPr/>
        </p:nvSpPr>
        <p:spPr>
          <a:xfrm>
            <a:off x="571500" y="428625"/>
            <a:ext cx="8001000" cy="55185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71500" y="966192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571500" y="428625"/>
            <a:ext cx="5228862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Factor: Hardware Devices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71500" y="1109067"/>
            <a:ext cx="3748515" cy="389155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1798913" y="1323380"/>
            <a:ext cx="1285875" cy="1285875"/>
          </a:xfrm>
          <a:prstGeom prst="rect">
            <a:avLst/>
          </a:prstGeom>
          <a:solidFill>
            <a:srgbClr val="112240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6101" y="168056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2140502" y="2494955"/>
            <a:ext cx="602670" cy="221456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2140502" y="2494955"/>
            <a:ext cx="60267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127500" spcFirstLastPara="1" rIns="127500" wrap="square" tIns="42525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TPM 2.0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785813" y="2716411"/>
            <a:ext cx="3312105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857250" y="2787848"/>
            <a:ext cx="285750" cy="285750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688" y="2873573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0"/>
          <p:cNvSpPr/>
          <p:nvPr/>
        </p:nvSpPr>
        <p:spPr>
          <a:xfrm>
            <a:off x="1250156" y="2853035"/>
            <a:ext cx="10380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Corporate Laptops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85813" y="3230761"/>
            <a:ext cx="3312105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857250" y="3302198"/>
            <a:ext cx="285750" cy="285750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4" name="Google Shape;36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338792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0"/>
          <p:cNvSpPr/>
          <p:nvPr/>
        </p:nvSpPr>
        <p:spPr>
          <a:xfrm>
            <a:off x="1250156" y="3367385"/>
            <a:ext cx="89693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Servers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785813" y="3745111"/>
            <a:ext cx="3312105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857250" y="3816548"/>
            <a:ext cx="285750" cy="285750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8688" y="3902273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1250156" y="3881735"/>
            <a:ext cx="74867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IoT Gateways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697992" y="1671861"/>
            <a:ext cx="14288" cy="276594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4597980" y="1528986"/>
            <a:ext cx="214313" cy="214313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2274" y="1593279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0"/>
          <p:cNvSpPr/>
          <p:nvPr/>
        </p:nvSpPr>
        <p:spPr>
          <a:xfrm>
            <a:off x="4883730" y="1528986"/>
            <a:ext cx="3688770" cy="69076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4883730" y="1528986"/>
            <a:ext cx="28575" cy="690767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4983742" y="1628998"/>
            <a:ext cx="154589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Bootstrap Attestation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8171055" y="1628998"/>
            <a:ext cx="301433" cy="17502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8171055" y="1628998"/>
            <a:ext cx="30143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0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983742" y="1839739"/>
            <a:ext cx="348874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Device proves identity using hardware TPM or MDM token. Private key generated in Secure Enclave.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597980" y="2362628"/>
            <a:ext cx="214313" cy="214313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56916" y="2426922"/>
            <a:ext cx="96441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0"/>
          <p:cNvSpPr/>
          <p:nvPr/>
        </p:nvSpPr>
        <p:spPr>
          <a:xfrm>
            <a:off x="4883730" y="2362628"/>
            <a:ext cx="3688770" cy="550766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4883730" y="2362628"/>
            <a:ext cx="28575" cy="55076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4983742" y="2462640"/>
            <a:ext cx="156582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Certificate Enrollment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087032" y="2462640"/>
            <a:ext cx="385456" cy="17502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8087032" y="2462640"/>
            <a:ext cx="3854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983742" y="2673381"/>
            <a:ext cx="348874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CSR sent to Hardware Device CA. Certificate issued and stored securely.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4597980" y="3056269"/>
            <a:ext cx="214313" cy="214313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62274" y="3120563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0"/>
          <p:cNvSpPr/>
          <p:nvPr/>
        </p:nvSpPr>
        <p:spPr>
          <a:xfrm>
            <a:off x="4883730" y="3056269"/>
            <a:ext cx="3688770" cy="69076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4883730" y="3056269"/>
            <a:ext cx="28575" cy="690767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4983742" y="3156282"/>
            <a:ext cx="103938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Auto-Renewal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8126099" y="3156282"/>
            <a:ext cx="346388" cy="17502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8126099" y="3156282"/>
            <a:ext cx="34638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60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983742" y="3367022"/>
            <a:ext cx="348874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Automatic renewal 30 days before expiry. Zero-touch rotation. Buffer for offline devices.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597980" y="3889911"/>
            <a:ext cx="214313" cy="214313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62274" y="3954205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0"/>
          <p:cNvSpPr/>
          <p:nvPr/>
        </p:nvSpPr>
        <p:spPr>
          <a:xfrm>
            <a:off x="4883730" y="3889911"/>
            <a:ext cx="3688770" cy="69076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4883730" y="3889911"/>
            <a:ext cx="28575" cy="690767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4983742" y="3989924"/>
            <a:ext cx="85755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Revocation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8098194" y="3989924"/>
            <a:ext cx="374293" cy="175022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8098194" y="3989924"/>
            <a:ext cx="37429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983742" y="4200665"/>
            <a:ext cx="348874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Lost/Stolen devices revoked via API. OCSP Stapling ensures immediate rejection.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8" name="Google Shape;4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571500" y="428625"/>
            <a:ext cx="404567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Factor: Containers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71500" y="1323380"/>
            <a:ext cx="4643438" cy="339149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785813" y="1537692"/>
            <a:ext cx="4208869" cy="1076920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18275">
            <a:solidFill>
              <a:srgbClr val="FFFFFF">
                <a:alpha val="2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928688" y="1451967"/>
            <a:ext cx="847455" cy="116086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928688" y="1451967"/>
            <a:ext cx="8474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Kubernetes Node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928688" y="1680567"/>
            <a:ext cx="857250" cy="762595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3013" y="179486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/>
          <p:nvPr/>
        </p:nvSpPr>
        <p:spPr>
          <a:xfrm>
            <a:off x="1152460" y="2094905"/>
            <a:ext cx="40967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Pod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196522" y="2230636"/>
            <a:ext cx="321552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Workload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2000250" y="2054721"/>
            <a:ext cx="1779994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3994556" y="1680567"/>
            <a:ext cx="857250" cy="762595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3169" y="178772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1"/>
          <p:cNvSpPr/>
          <p:nvPr/>
        </p:nvSpPr>
        <p:spPr>
          <a:xfrm>
            <a:off x="4120493" y="2087761"/>
            <a:ext cx="60537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SPIRE Agent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4227175" y="2223492"/>
            <a:ext cx="391985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DaemonSet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 rot="5400000">
            <a:off x="2711639" y="2857500"/>
            <a:ext cx="357188" cy="737592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2461608" y="3737967"/>
            <a:ext cx="857250" cy="762595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7" name="Google Shape;4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5933" y="38594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1"/>
          <p:cNvSpPr/>
          <p:nvPr/>
        </p:nvSpPr>
        <p:spPr>
          <a:xfrm>
            <a:off x="2577275" y="4159448"/>
            <a:ext cx="62588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SPIRE Server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2733656" y="4295180"/>
            <a:ext cx="313125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 rot="600000">
            <a:off x="3351619" y="1609130"/>
            <a:ext cx="5715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600000">
            <a:off x="3585688" y="1732190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/>
          <p:nvPr/>
        </p:nvSpPr>
        <p:spPr>
          <a:xfrm rot="600000">
            <a:off x="3560638" y="1907989"/>
            <a:ext cx="146949" cy="1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6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1"/>
              <a:buFont typeface="Calibri"/>
              <a:buNone/>
            </a:pPr>
            <a:r>
              <a:rPr b="0" i="0" lang="en-US" sz="41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SVID</a:t>
            </a:r>
            <a:br>
              <a:rPr b="0" i="0" lang="en-US" sz="41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1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X.509</a:t>
            </a:r>
            <a:endParaRPr b="0" i="0" sz="4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 rot="600000">
            <a:off x="3497042" y="2094787"/>
            <a:ext cx="216740" cy="10537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 rot="600000">
            <a:off x="3497042" y="2094787"/>
            <a:ext cx="216740" cy="105370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34025" spcFirstLastPara="1" rIns="34025" wrap="square" tIns="17000">
            <a:noAutofit/>
          </a:bodyPr>
          <a:lstStyle/>
          <a:p>
            <a:pPr indent="0" lvl="0" marL="0" marR="0" rtl="0" algn="l">
              <a:lnSpc>
                <a:spcPct val="1216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1"/>
              <a:buFont typeface="Calibri"/>
              <a:buNone/>
            </a:pPr>
            <a:r>
              <a:rPr b="0" i="0" lang="en-US" sz="41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4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2189308" y="4121944"/>
            <a:ext cx="1401849" cy="116086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2189308" y="4121944"/>
            <a:ext cx="140184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Node &amp; Workload Attestation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566181" y="1323380"/>
            <a:ext cx="3006319" cy="83224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5566181" y="1323380"/>
            <a:ext cx="28575" cy="832247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9" name="Google Shape;43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09056" y="146804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1"/>
          <p:cNvSpPr/>
          <p:nvPr/>
        </p:nvSpPr>
        <p:spPr>
          <a:xfrm>
            <a:off x="6009094" y="1466255"/>
            <a:ext cx="89330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SPIFFE / SPIRE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709056" y="1712714"/>
            <a:ext cx="272056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Secure Production Identity Framework for Everyone. Industry standard for workload identity.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5566181" y="2334220"/>
            <a:ext cx="3006319" cy="1132284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5566181" y="2334220"/>
            <a:ext cx="28575" cy="113228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09056" y="247888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1"/>
          <p:cNvSpPr/>
          <p:nvPr/>
        </p:nvSpPr>
        <p:spPr>
          <a:xfrm>
            <a:off x="5987662" y="2477095"/>
            <a:ext cx="109480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Attestation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5709056" y="2723555"/>
            <a:ext cx="272056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Identity based on runtime properties, not secrets. </a:t>
            </a:r>
            <a:b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Checks: </a:t>
            </a:r>
            <a:r>
              <a:rPr b="0" i="0" lang="en-US" sz="621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k8s_namespace</a:t>
            </a: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621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service_account</a:t>
            </a: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621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image_hash</a:t>
            </a: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621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5566181" y="3645098"/>
            <a:ext cx="3006319" cy="98226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5566181" y="3645098"/>
            <a:ext cx="28575" cy="982266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09056" y="3789759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1"/>
          <p:cNvSpPr/>
          <p:nvPr/>
        </p:nvSpPr>
        <p:spPr>
          <a:xfrm>
            <a:off x="5944800" y="3787973"/>
            <a:ext cx="112991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Short-Lived SVIDs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5709056" y="4034433"/>
            <a:ext cx="2720569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Certificates valid for only </a:t>
            </a:r>
            <a:r>
              <a:rPr b="1" i="0" lang="en-US" sz="683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Automatically rotated every </a:t>
            </a:r>
            <a:r>
              <a:rPr b="1" i="0" lang="en-US" sz="683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30 Minutes</a:t>
            </a: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Minimizes impact of credential theft.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7" name="Google Shape;4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571500" y="428625"/>
            <a:ext cx="392395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Factor: Serverless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71500" y="1323380"/>
            <a:ext cx="3893344" cy="71437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571500" y="1323380"/>
            <a:ext cx="28575" cy="7143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714375" y="1466255"/>
            <a:ext cx="428625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6626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2"/>
          <p:cNvSpPr/>
          <p:nvPr/>
        </p:nvSpPr>
        <p:spPr>
          <a:xfrm>
            <a:off x="1285875" y="1507331"/>
            <a:ext cx="258874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1285875" y="1718072"/>
            <a:ext cx="25887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AWS Lambda, Google Cloud Functions, Azure Functions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664869" y="1323380"/>
            <a:ext cx="3907631" cy="71437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4664869" y="1323380"/>
            <a:ext cx="28575" cy="71437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822031" y="1466255"/>
            <a:ext cx="428625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0619" y="156626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2"/>
          <p:cNvSpPr/>
          <p:nvPr/>
        </p:nvSpPr>
        <p:spPr>
          <a:xfrm>
            <a:off x="5393531" y="1507331"/>
            <a:ext cx="253622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393531" y="1718072"/>
            <a:ext cx="253622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Ephemeral (ms to mins), No persistent agent possible.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71500" y="2323505"/>
            <a:ext cx="8001000" cy="2391370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1035844" y="2988766"/>
            <a:ext cx="642938" cy="642938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5" name="Google Shape;47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8719" y="3167360"/>
            <a:ext cx="35718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2"/>
          <p:cNvSpPr/>
          <p:nvPr/>
        </p:nvSpPr>
        <p:spPr>
          <a:xfrm>
            <a:off x="1516317" y="2917329"/>
            <a:ext cx="233902" cy="12680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1516317" y="2917329"/>
            <a:ext cx="23390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ctr">
              <a:lnSpc>
                <a:spcPct val="1443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"/>
              <a:buFont typeface="Calibri"/>
              <a:buNone/>
            </a:pPr>
            <a:r>
              <a:rPr b="1" i="0" lang="en-US" sz="48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IAM</a:t>
            </a:r>
            <a:endParaRPr b="0" i="0" sz="4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1106305" y="3738860"/>
            <a:ext cx="502016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b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633560" y="3122712"/>
            <a:ext cx="662164" cy="150019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2633560" y="3122712"/>
            <a:ext cx="662164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68050" spcFirstLastPara="1" rIns="68050" wrap="square" tIns="1700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1. Auth (SigV4)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857375" y="3301305"/>
            <a:ext cx="2214563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1857375" y="3422749"/>
            <a:ext cx="2214563" cy="1428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71788" y="3337024"/>
            <a:ext cx="1857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2"/>
          <p:cNvSpPr/>
          <p:nvPr/>
        </p:nvSpPr>
        <p:spPr>
          <a:xfrm>
            <a:off x="2640760" y="3472755"/>
            <a:ext cx="647793" cy="150019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2640760" y="3472755"/>
            <a:ext cx="64779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68050" spcFirstLastPara="1" rIns="68050" wrap="square" tIns="1700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2. 15-min Cert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4250531" y="2988766"/>
            <a:ext cx="642938" cy="642938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9125" y="316736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2"/>
          <p:cNvSpPr/>
          <p:nvPr/>
        </p:nvSpPr>
        <p:spPr>
          <a:xfrm>
            <a:off x="4338656" y="3738860"/>
            <a:ext cx="466688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</a:t>
            </a:r>
            <a:b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 API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5750300" y="3237012"/>
            <a:ext cx="858059" cy="150019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5750300" y="3237012"/>
            <a:ext cx="85805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68050" spcFirstLastPara="1" rIns="68050" wrap="square" tIns="1700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3. mTLS Connection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5072063" y="3415605"/>
            <a:ext cx="2214563" cy="14288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5072063" y="3494187"/>
            <a:ext cx="2214563" cy="14288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7465219" y="2988766"/>
            <a:ext cx="642938" cy="642938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4" name="Google Shape;494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61672" y="3167360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2"/>
          <p:cNvSpPr/>
          <p:nvPr/>
        </p:nvSpPr>
        <p:spPr>
          <a:xfrm>
            <a:off x="7541456" y="3738860"/>
            <a:ext cx="490463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b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6933288" y="4220170"/>
            <a:ext cx="1496337" cy="351830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7090451" y="4345186"/>
            <a:ext cx="63121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Issuance Time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7793106" y="4305895"/>
            <a:ext cx="4936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&lt; 50ms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4" name="Google Shape;5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3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571500" y="428625"/>
            <a:ext cx="441436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 Interaction Patterns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571500" y="1323380"/>
            <a:ext cx="2524116" cy="16441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571500" y="1323380"/>
            <a:ext cx="2524116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3088472" y="1323380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571500" y="2960359"/>
            <a:ext cx="2524116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571500" y="1323380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750094" y="1519833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164842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3"/>
          <p:cNvSpPr/>
          <p:nvPr/>
        </p:nvSpPr>
        <p:spPr>
          <a:xfrm>
            <a:off x="826722" y="2019895"/>
            <a:ext cx="2753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6" name="Google Shape;51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8889" y="1713607"/>
            <a:ext cx="1893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3"/>
          <p:cNvSpPr/>
          <p:nvPr/>
        </p:nvSpPr>
        <p:spPr>
          <a:xfrm>
            <a:off x="2488397" y="1519833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8" name="Google Shape;51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984" y="164842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3"/>
          <p:cNvSpPr/>
          <p:nvPr/>
        </p:nvSpPr>
        <p:spPr>
          <a:xfrm>
            <a:off x="2520711" y="2019895"/>
            <a:ext cx="36399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750094" y="2278856"/>
            <a:ext cx="216692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Device-to-Service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750094" y="2511028"/>
            <a:ext cx="2166928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Proxy uses 90-day cert to authenticate with OpAMP Gateway.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3309928" y="1323380"/>
            <a:ext cx="2524116" cy="16441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3309928" y="1323380"/>
            <a:ext cx="2524116" cy="2857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5826900" y="1323380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3309928" y="2960359"/>
            <a:ext cx="2524116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3309928" y="1323380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3488522" y="1519833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95678" y="164842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3"/>
          <p:cNvSpPr/>
          <p:nvPr/>
        </p:nvSpPr>
        <p:spPr>
          <a:xfrm>
            <a:off x="3513553" y="2019895"/>
            <a:ext cx="3785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Service A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0" name="Google Shape;53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7317" y="1713607"/>
            <a:ext cx="1893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3"/>
          <p:cNvSpPr/>
          <p:nvPr/>
        </p:nvSpPr>
        <p:spPr>
          <a:xfrm>
            <a:off x="5226825" y="1519833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3981" y="164842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3"/>
          <p:cNvSpPr/>
          <p:nvPr/>
        </p:nvSpPr>
        <p:spPr>
          <a:xfrm>
            <a:off x="5252135" y="2019895"/>
            <a:ext cx="37797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Service B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3488522" y="2278856"/>
            <a:ext cx="216692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Service-to-Service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488522" y="2511028"/>
            <a:ext cx="2166928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Microservices communicate via Service Mesh sidecars with 24h certs.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6048356" y="1323380"/>
            <a:ext cx="2524144" cy="16441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6048356" y="1323380"/>
            <a:ext cx="2524144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8565356" y="1323380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6048356" y="2960359"/>
            <a:ext cx="2524144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6048356" y="1323380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6226950" y="1519833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2" name="Google Shape;54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55538" y="164842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3"/>
          <p:cNvSpPr/>
          <p:nvPr/>
        </p:nvSpPr>
        <p:spPr>
          <a:xfrm>
            <a:off x="6321661" y="2019895"/>
            <a:ext cx="23917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Pod A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4" name="Google Shape;54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15774" y="1713607"/>
            <a:ext cx="1893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3"/>
          <p:cNvSpPr/>
          <p:nvPr/>
        </p:nvSpPr>
        <p:spPr>
          <a:xfrm>
            <a:off x="7965281" y="1519833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6" name="Google Shape;54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3869" y="164842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3"/>
          <p:cNvSpPr/>
          <p:nvPr/>
        </p:nvSpPr>
        <p:spPr>
          <a:xfrm>
            <a:off x="8060299" y="2019895"/>
            <a:ext cx="23859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Pod B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6226950" y="2278856"/>
            <a:ext cx="216695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Container-to-Container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6226950" y="2511028"/>
            <a:ext cx="2166956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Direct pod communication using SPIFFE SVIDs rotated every 30 mins.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1707356" y="3181815"/>
            <a:ext cx="2757488" cy="16441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1707356" y="3181815"/>
            <a:ext cx="2757488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4457700" y="3181815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1707356" y="4818794"/>
            <a:ext cx="2757488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1707356" y="3181815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1885950" y="3378268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6" name="Google Shape;55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35969" y="3506856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/>
          <p:nvPr/>
        </p:nvSpPr>
        <p:spPr>
          <a:xfrm>
            <a:off x="1931296" y="3878331"/>
            <a:ext cx="33793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Lambda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8" name="Google Shape;558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91445" y="3572042"/>
            <a:ext cx="1893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3"/>
          <p:cNvSpPr/>
          <p:nvPr/>
        </p:nvSpPr>
        <p:spPr>
          <a:xfrm>
            <a:off x="3857625" y="3378268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0" name="Google Shape;560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96928" y="350685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3"/>
          <p:cNvSpPr/>
          <p:nvPr/>
        </p:nvSpPr>
        <p:spPr>
          <a:xfrm>
            <a:off x="3923705" y="3878331"/>
            <a:ext cx="29643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DB/API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1885950" y="4137292"/>
            <a:ext cx="24003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Serverless-to-Service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1885950" y="4369464"/>
            <a:ext cx="2400300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Ephemeral functions bootstrap identity to access persistent backends.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4679156" y="3181815"/>
            <a:ext cx="2757488" cy="16441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4679156" y="3181815"/>
            <a:ext cx="2757488" cy="28575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7429500" y="3181815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4679156" y="4818794"/>
            <a:ext cx="2757488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4679156" y="3181815"/>
            <a:ext cx="7144" cy="16441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4857750" y="3324690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0" name="Google Shape;570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997053" y="345327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4975315" y="3824753"/>
            <a:ext cx="19349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2" name="Google Shape;572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14467" y="3518464"/>
            <a:ext cx="1893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/>
          <p:nvPr/>
        </p:nvSpPr>
        <p:spPr>
          <a:xfrm>
            <a:off x="6780647" y="3324690"/>
            <a:ext cx="428625" cy="42862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4" name="Google Shape;574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909234" y="345327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3"/>
          <p:cNvSpPr/>
          <p:nvPr/>
        </p:nvSpPr>
        <p:spPr>
          <a:xfrm>
            <a:off x="6731868" y="3824753"/>
            <a:ext cx="52618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Internal App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3"/>
          <p:cNvSpPr/>
          <p:nvPr/>
        </p:nvSpPr>
        <p:spPr>
          <a:xfrm>
            <a:off x="4857750" y="4083714"/>
            <a:ext cx="24003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Human-to-Service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4857750" y="4315885"/>
            <a:ext cx="2400300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 Trust Network Access (ZTNA) replacing VPNs for internal tools.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3" name="Google Shape;5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571500" y="428625"/>
            <a:ext cx="586328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Post-Quantum Cryptography (PQC)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7035310" y="142875"/>
            <a:ext cx="1965815" cy="244673"/>
          </a:xfrm>
          <a:prstGeom prst="rect">
            <a:avLst/>
          </a:prstGeom>
          <a:solidFill>
            <a:srgbClr val="FF5F56">
              <a:alpha val="9803"/>
            </a:srgbClr>
          </a:solidFill>
          <a:ln cap="flat" cmpd="sng" w="9525">
            <a:solidFill>
              <a:srgbClr val="FF5F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8" name="Google Shape;5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6754" y="20091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4"/>
          <p:cNvSpPr/>
          <p:nvPr/>
        </p:nvSpPr>
        <p:spPr>
          <a:xfrm>
            <a:off x="7342491" y="200025"/>
            <a:ext cx="155147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5F56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5F56"/>
                </a:solidFill>
                <a:latin typeface="Calibri"/>
                <a:ea typeface="Calibri"/>
                <a:cs typeface="Calibri"/>
                <a:sym typeface="Calibri"/>
              </a:rPr>
              <a:t>THREAT: Harvest Now, Decrypt Later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571500" y="1109067"/>
            <a:ext cx="3893344" cy="2003822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1" name="Google Shape;5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249263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4"/>
          <p:cNvSpPr/>
          <p:nvPr/>
        </p:nvSpPr>
        <p:spPr>
          <a:xfrm>
            <a:off x="935831" y="1223367"/>
            <a:ext cx="142305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PQC Standards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4"/>
          <p:cNvSpPr/>
          <p:nvPr/>
        </p:nvSpPr>
        <p:spPr>
          <a:xfrm>
            <a:off x="685800" y="1503759"/>
            <a:ext cx="3664744" cy="29825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685800" y="1503759"/>
            <a:ext cx="21431" cy="298252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757238" y="1575197"/>
            <a:ext cx="8968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ML-KEM (Kyber)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3061711" y="1594842"/>
            <a:ext cx="121739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Encapsulation Mechanism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685800" y="1873448"/>
            <a:ext cx="3664744" cy="29825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685800" y="1873448"/>
            <a:ext cx="21431" cy="298252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757238" y="1944886"/>
            <a:ext cx="107890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ML-DSA (Dilithium)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3268126" y="1964531"/>
            <a:ext cx="101098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Primary Digital 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685800" y="2243138"/>
            <a:ext cx="3664744" cy="29825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>
            <a:off x="685800" y="2243138"/>
            <a:ext cx="21431" cy="298252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757238" y="2314575"/>
            <a:ext cx="11462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SLH-DSA (SPHINCS+)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3011398" y="2334220"/>
            <a:ext cx="12677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Stateless Hash-based 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4679156" y="1109067"/>
            <a:ext cx="3893344" cy="2003822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6" name="Google Shape;6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3456" y="1249263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4"/>
          <p:cNvSpPr/>
          <p:nvPr/>
        </p:nvSpPr>
        <p:spPr>
          <a:xfrm>
            <a:off x="5007769" y="1223367"/>
            <a:ext cx="191240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Certificate Strategy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4793456" y="1503759"/>
            <a:ext cx="3664744" cy="1480542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9" name="Google Shape;6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8709" y="163949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4"/>
          <p:cNvSpPr/>
          <p:nvPr/>
        </p:nvSpPr>
        <p:spPr>
          <a:xfrm>
            <a:off x="6173009" y="1618059"/>
            <a:ext cx="101991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X.509 Hybrid Cert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4907756" y="1930598"/>
            <a:ext cx="1675209" cy="550069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4964906" y="1987748"/>
            <a:ext cx="15537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Classic Key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4964906" y="2139553"/>
            <a:ext cx="155376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RSA/ECC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4964906" y="2311003"/>
            <a:ext cx="1553766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Current Compatibility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6661547" y="1930598"/>
            <a:ext cx="1682353" cy="550069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9D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4"/>
          <p:cNvSpPr/>
          <p:nvPr/>
        </p:nvSpPr>
        <p:spPr>
          <a:xfrm>
            <a:off x="6725841" y="1987748"/>
            <a:ext cx="15609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PQC Key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6725841" y="2139553"/>
            <a:ext cx="156090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Dilithium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6725841" y="2311003"/>
            <a:ext cx="1560909" cy="98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658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16"/>
              <a:buFont typeface="Calibri"/>
              <a:buNone/>
            </a:pPr>
            <a:r>
              <a:rPr b="0" i="0" lang="en-US" sz="516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Future Proofing</a:t>
            </a:r>
            <a:endParaRPr b="0" i="0" sz="5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4907756" y="2609255"/>
            <a:ext cx="3436144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Dual-signature support allows legacy clients to verify Classic Key while PQC-aware clients verify PQC Key.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571500" y="3212902"/>
            <a:ext cx="8001000" cy="1264779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685800" y="3327202"/>
            <a:ext cx="77724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Migration Roadmap (2025-2030)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685800" y="3716536"/>
            <a:ext cx="7772400" cy="28575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1332254" y="3930848"/>
            <a:ext cx="2615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D00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D00FF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1203136" y="4121944"/>
            <a:ext cx="519792" cy="24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Inventory &amp;</a:t>
            </a:r>
            <a:b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2886717" y="3930848"/>
            <a:ext cx="2615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D00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D00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2767561" y="4121944"/>
            <a:ext cx="499839" cy="24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Cert</a:t>
            </a:r>
            <a:b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Pilot Phase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4441180" y="3930848"/>
            <a:ext cx="2615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D00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D00FF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4265070" y="4121944"/>
            <a:ext cx="613776" cy="24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 Upgrade</a:t>
            </a:r>
            <a:b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(TLS 1.3 Only)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5995643" y="3930848"/>
            <a:ext cx="2615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D00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D00FF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5761937" y="4121944"/>
            <a:ext cx="728942" cy="24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PQC Default</a:t>
            </a:r>
            <a:b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New Systems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7550107" y="3930848"/>
            <a:ext cx="2615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D00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D00FF"/>
                </a:solidFill>
                <a:latin typeface="Calibri"/>
                <a:ea typeface="Calibri"/>
                <a:cs typeface="Calibri"/>
                <a:sym typeface="Calibri"/>
              </a:rPr>
              <a:t>2030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7372071" y="4121944"/>
            <a:ext cx="617600" cy="241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Legacy Crypto</a:t>
            </a:r>
            <a:b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Deprecation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8" name="Google Shape;6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571500" y="428625"/>
            <a:ext cx="610818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&amp; Regulatory Alignment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2" name="Google Shape;6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5463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5"/>
          <p:cNvSpPr/>
          <p:nvPr/>
        </p:nvSpPr>
        <p:spPr>
          <a:xfrm>
            <a:off x="814388" y="1323380"/>
            <a:ext cx="197717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NIST CSF 2.0 Alignment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571500" y="1771650"/>
            <a:ext cx="3786188" cy="7121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714375" y="1942012"/>
            <a:ext cx="357188" cy="357188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244" y="203488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5"/>
          <p:cNvSpPr/>
          <p:nvPr/>
        </p:nvSpPr>
        <p:spPr>
          <a:xfrm>
            <a:off x="1214438" y="1878806"/>
            <a:ext cx="30003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1214438" y="2082403"/>
            <a:ext cx="300037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Comprehensive inventory of 200K+ endpoints, 1.2M agents, and all certificates.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571500" y="2612436"/>
            <a:ext cx="3786188" cy="7121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714375" y="2782798"/>
            <a:ext cx="357188" cy="357188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1" name="Google Shape;6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959" y="287566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15"/>
          <p:cNvSpPr/>
          <p:nvPr/>
        </p:nvSpPr>
        <p:spPr>
          <a:xfrm>
            <a:off x="1214438" y="2719592"/>
            <a:ext cx="30003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PROTECT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1214438" y="2923189"/>
            <a:ext cx="300037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 Trust mTLS, Least Privilege Access, Automated Certificate Rotation.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/>
          <p:nvPr/>
        </p:nvSpPr>
        <p:spPr>
          <a:xfrm>
            <a:off x="571500" y="3453222"/>
            <a:ext cx="3786188" cy="7121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714375" y="3623583"/>
            <a:ext cx="357188" cy="357188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6" name="Google Shape;65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528" y="3716452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5"/>
          <p:cNvSpPr/>
          <p:nvPr/>
        </p:nvSpPr>
        <p:spPr>
          <a:xfrm>
            <a:off x="1214438" y="3560378"/>
            <a:ext cx="30003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1214438" y="3763975"/>
            <a:ext cx="300037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Real-time monitoring of agent health, certificate expiry, and anomaly detection.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571500" y="4294008"/>
            <a:ext cx="3786188" cy="71219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714375" y="4464369"/>
            <a:ext cx="357188" cy="357188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1" name="Google Shape;66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7244" y="455723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15"/>
          <p:cNvSpPr/>
          <p:nvPr/>
        </p:nvSpPr>
        <p:spPr>
          <a:xfrm>
            <a:off x="1214438" y="4401164"/>
            <a:ext cx="30003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 &amp; RECOVER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1214438" y="4604761"/>
            <a:ext cx="3000375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revocation, &lt; 15 min incident containment, resilient PKI.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4" name="Google Shape;66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86313" y="1354634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5"/>
          <p:cNvSpPr/>
          <p:nvPr/>
        </p:nvSpPr>
        <p:spPr>
          <a:xfrm>
            <a:off x="4986338" y="1323380"/>
            <a:ext cx="205260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Regulatory Frameworks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4786313" y="1771650"/>
            <a:ext cx="1821656" cy="106977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4786313" y="1771650"/>
            <a:ext cx="1821656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4929188" y="1914525"/>
            <a:ext cx="78132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PCI-DSS v4.0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15"/>
          <p:cNvPicPr preferRelativeResize="0"/>
          <p:nvPr/>
        </p:nvPicPr>
        <p:blipFill rotWithShape="1">
          <a:blip r:embed="rId10">
            <a:alphaModFix amt="80000"/>
          </a:blip>
          <a:srcRect b="0" l="0" r="0" t="0"/>
          <a:stretch/>
        </p:blipFill>
        <p:spPr>
          <a:xfrm>
            <a:off x="6304359" y="1930598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5"/>
          <p:cNvSpPr/>
          <p:nvPr/>
        </p:nvSpPr>
        <p:spPr>
          <a:xfrm>
            <a:off x="4929188" y="2160984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Req 4: Encrypt transmission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4929188" y="2330648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Req 7: Least privilege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4929188" y="2500313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Req 8: Strong auth (mTLS)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6750844" y="1771650"/>
            <a:ext cx="1821656" cy="106977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6750844" y="1771650"/>
            <a:ext cx="1821656" cy="2857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6893719" y="1914525"/>
            <a:ext cx="40019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HIPAA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6" name="Google Shape;676;p15"/>
          <p:cNvPicPr preferRelativeResize="0"/>
          <p:nvPr/>
        </p:nvPicPr>
        <p:blipFill rotWithShape="1">
          <a:blip r:embed="rId11">
            <a:alphaModFix amt="80000"/>
          </a:blip>
          <a:srcRect b="0" l="0" r="0" t="0"/>
          <a:stretch/>
        </p:blipFill>
        <p:spPr>
          <a:xfrm>
            <a:off x="8251031" y="193059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15"/>
          <p:cNvSpPr/>
          <p:nvPr/>
        </p:nvSpPr>
        <p:spPr>
          <a:xfrm>
            <a:off x="6893719" y="2160984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Access Control (Technical)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6893719" y="2330648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Audit Controls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6893719" y="2500313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Transmission Security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5"/>
          <p:cNvSpPr/>
          <p:nvPr/>
        </p:nvSpPr>
        <p:spPr>
          <a:xfrm>
            <a:off x="4786313" y="2955727"/>
            <a:ext cx="1821656" cy="106977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4786313" y="2955727"/>
            <a:ext cx="1821656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4929188" y="3098602"/>
            <a:ext cx="83146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 2 Type II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3" name="Google Shape;683;p15"/>
          <p:cNvPicPr preferRelativeResize="0"/>
          <p:nvPr/>
        </p:nvPicPr>
        <p:blipFill rotWithShape="1">
          <a:blip r:embed="rId12">
            <a:alphaModFix amt="80000"/>
          </a:blip>
          <a:srcRect b="0" l="0" r="0" t="0"/>
          <a:stretch/>
        </p:blipFill>
        <p:spPr>
          <a:xfrm>
            <a:off x="6322219" y="311467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15"/>
          <p:cNvSpPr/>
          <p:nvPr/>
        </p:nvSpPr>
        <p:spPr>
          <a:xfrm>
            <a:off x="4929188" y="3345061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CC6.1: Logical Access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4929188" y="3514725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CC6.7: Transmission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4929188" y="3684389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A1.2: Availability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6750844" y="2955727"/>
            <a:ext cx="1821656" cy="106977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6750844" y="2955727"/>
            <a:ext cx="1821656" cy="28575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6893719" y="3098602"/>
            <a:ext cx="94049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FedRAMP High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0" name="Google Shape;690;p15"/>
          <p:cNvPicPr preferRelativeResize="0"/>
          <p:nvPr/>
        </p:nvPicPr>
        <p:blipFill rotWithShape="1">
          <a:blip r:embed="rId13">
            <a:alphaModFix amt="80000"/>
          </a:blip>
          <a:srcRect b="0" l="0" r="0" t="0"/>
          <a:stretch/>
        </p:blipFill>
        <p:spPr>
          <a:xfrm>
            <a:off x="8268891" y="3114675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15"/>
          <p:cNvSpPr/>
          <p:nvPr/>
        </p:nvSpPr>
        <p:spPr>
          <a:xfrm>
            <a:off x="6893719" y="3345061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SC-8: Transmission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6893719" y="3514725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IA-2: Identification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6893719" y="3684389"/>
            <a:ext cx="153590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FIPS 140-2 Validated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5"/>
          <p:cNvSpPr/>
          <p:nvPr/>
        </p:nvSpPr>
        <p:spPr>
          <a:xfrm>
            <a:off x="4786313" y="4457923"/>
            <a:ext cx="3786188" cy="533995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5" name="Google Shape;695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929188" y="467580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5"/>
          <p:cNvSpPr/>
          <p:nvPr/>
        </p:nvSpPr>
        <p:spPr>
          <a:xfrm>
            <a:off x="5114925" y="4654376"/>
            <a:ext cx="192116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Preparation Time Reduction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8078995" y="4615086"/>
            <a:ext cx="35063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3" name="Google Shape;7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66717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1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571500" y="428625"/>
            <a:ext cx="387727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Workflows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571500" y="1251942"/>
            <a:ext cx="2547947" cy="185737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571500" y="1251942"/>
            <a:ext cx="2547947" cy="2857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3112303" y="1251942"/>
            <a:ext cx="7144" cy="185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571500" y="3102173"/>
            <a:ext cx="2547947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571500" y="1251942"/>
            <a:ext cx="7144" cy="185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714375" y="1394817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3" name="Google Shape;7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953" y="1466255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16"/>
          <p:cNvSpPr/>
          <p:nvPr/>
        </p:nvSpPr>
        <p:spPr>
          <a:xfrm>
            <a:off x="1085850" y="1450181"/>
            <a:ext cx="71289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Enrollment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714375" y="1833265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6"/>
          <p:cNvSpPr/>
          <p:nvPr/>
        </p:nvSpPr>
        <p:spPr>
          <a:xfrm>
            <a:off x="875723" y="1823442"/>
            <a:ext cx="54727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Auth / Attest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7" name="Google Shape;7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4520" y="1851124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16"/>
          <p:cNvSpPr/>
          <p:nvPr/>
        </p:nvSpPr>
        <p:spPr>
          <a:xfrm>
            <a:off x="714375" y="2031504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875723" y="2021681"/>
            <a:ext cx="58377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Generate Key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0" name="Google Shape;7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04520" y="2049363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16"/>
          <p:cNvSpPr/>
          <p:nvPr/>
        </p:nvSpPr>
        <p:spPr>
          <a:xfrm>
            <a:off x="714375" y="2229743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875723" y="2219920"/>
            <a:ext cx="38104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Sign CSR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3" name="Google Shape;7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04520" y="2247602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16"/>
          <p:cNvSpPr/>
          <p:nvPr/>
        </p:nvSpPr>
        <p:spPr>
          <a:xfrm>
            <a:off x="714375" y="2427982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875723" y="2418159"/>
            <a:ext cx="47402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Install Cert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714375" y="2687836"/>
            <a:ext cx="2252653" cy="278606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785813" y="2773561"/>
            <a:ext cx="543706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Time to Issue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6"/>
          <p:cNvSpPr/>
          <p:nvPr/>
        </p:nvSpPr>
        <p:spPr>
          <a:xfrm>
            <a:off x="2322919" y="2759273"/>
            <a:ext cx="5726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&lt; 2 Seconds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6"/>
          <p:cNvSpPr/>
          <p:nvPr/>
        </p:nvSpPr>
        <p:spPr>
          <a:xfrm>
            <a:off x="3288497" y="1251942"/>
            <a:ext cx="2552691" cy="185737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6"/>
          <p:cNvSpPr/>
          <p:nvPr/>
        </p:nvSpPr>
        <p:spPr>
          <a:xfrm>
            <a:off x="3288497" y="1251942"/>
            <a:ext cx="2552691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5834044" y="1251942"/>
            <a:ext cx="7144" cy="185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6"/>
          <p:cNvSpPr/>
          <p:nvPr/>
        </p:nvSpPr>
        <p:spPr>
          <a:xfrm>
            <a:off x="3288497" y="3102173"/>
            <a:ext cx="2552691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3288497" y="1251942"/>
            <a:ext cx="7144" cy="185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3436144" y="1394817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5" name="Google Shape;7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07581" y="146625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6"/>
          <p:cNvSpPr/>
          <p:nvPr/>
        </p:nvSpPr>
        <p:spPr>
          <a:xfrm>
            <a:off x="3807619" y="1450181"/>
            <a:ext cx="54574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3436144" y="1833265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6"/>
          <p:cNvSpPr/>
          <p:nvPr/>
        </p:nvSpPr>
        <p:spPr>
          <a:xfrm>
            <a:off x="3597492" y="1823442"/>
            <a:ext cx="57755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Trigger (66%)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9" name="Google Shape;7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31061" y="1851124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6"/>
          <p:cNvSpPr/>
          <p:nvPr/>
        </p:nvSpPr>
        <p:spPr>
          <a:xfrm>
            <a:off x="3436144" y="2031504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3597492" y="2021681"/>
            <a:ext cx="56837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New Key Pair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2" name="Google Shape;7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31061" y="2049363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6"/>
          <p:cNvSpPr/>
          <p:nvPr/>
        </p:nvSpPr>
        <p:spPr>
          <a:xfrm>
            <a:off x="3436144" y="2229743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3597492" y="2219920"/>
            <a:ext cx="72419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Auth w/ Old Cert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5" name="Google Shape;74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31061" y="2247602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16"/>
          <p:cNvSpPr/>
          <p:nvPr/>
        </p:nvSpPr>
        <p:spPr>
          <a:xfrm>
            <a:off x="3436144" y="2427982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3597492" y="2418159"/>
            <a:ext cx="561789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Atomic Swap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3436144" y="2687836"/>
            <a:ext cx="2257425" cy="278606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3507581" y="2773561"/>
            <a:ext cx="49303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Availability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4857331" y="2759273"/>
            <a:ext cx="7648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Zero Downtime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6"/>
          <p:cNvSpPr/>
          <p:nvPr/>
        </p:nvSpPr>
        <p:spPr>
          <a:xfrm>
            <a:off x="6015038" y="1251942"/>
            <a:ext cx="2557463" cy="185737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6"/>
          <p:cNvSpPr/>
          <p:nvPr/>
        </p:nvSpPr>
        <p:spPr>
          <a:xfrm>
            <a:off x="6015038" y="1251942"/>
            <a:ext cx="2557463" cy="2857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8565356" y="1251942"/>
            <a:ext cx="7144" cy="185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6015038" y="3102173"/>
            <a:ext cx="2557463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6"/>
          <p:cNvSpPr/>
          <p:nvPr/>
        </p:nvSpPr>
        <p:spPr>
          <a:xfrm>
            <a:off x="6015038" y="1251942"/>
            <a:ext cx="7144" cy="1857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6"/>
          <p:cNvSpPr/>
          <p:nvPr/>
        </p:nvSpPr>
        <p:spPr>
          <a:xfrm>
            <a:off x="6167456" y="1394817"/>
            <a:ext cx="285750" cy="285750"/>
          </a:xfrm>
          <a:prstGeom prst="rect">
            <a:avLst/>
          </a:prstGeom>
          <a:solidFill>
            <a:srgbClr val="FF5F5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7" name="Google Shape;75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38894" y="146625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6"/>
          <p:cNvSpPr/>
          <p:nvPr/>
        </p:nvSpPr>
        <p:spPr>
          <a:xfrm>
            <a:off x="6538931" y="1450181"/>
            <a:ext cx="71392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Revocation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6167456" y="1833265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6328804" y="1823442"/>
            <a:ext cx="48544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API Trigger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1" name="Google Shape;76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67145" y="1851124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16"/>
          <p:cNvSpPr/>
          <p:nvPr/>
        </p:nvSpPr>
        <p:spPr>
          <a:xfrm>
            <a:off x="6167456" y="2031504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6"/>
          <p:cNvSpPr/>
          <p:nvPr/>
        </p:nvSpPr>
        <p:spPr>
          <a:xfrm>
            <a:off x="6328804" y="2021681"/>
            <a:ext cx="58266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Update OCSP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4" name="Google Shape;76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67145" y="2049363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16"/>
          <p:cNvSpPr/>
          <p:nvPr/>
        </p:nvSpPr>
        <p:spPr>
          <a:xfrm>
            <a:off x="6167456" y="2229743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6"/>
          <p:cNvSpPr/>
          <p:nvPr/>
        </p:nvSpPr>
        <p:spPr>
          <a:xfrm>
            <a:off x="6328804" y="2219920"/>
            <a:ext cx="40473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Push CRL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7" name="Google Shape;767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67145" y="2247602"/>
            <a:ext cx="62508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16"/>
          <p:cNvSpPr/>
          <p:nvPr/>
        </p:nvSpPr>
        <p:spPr>
          <a:xfrm>
            <a:off x="6167456" y="2427982"/>
            <a:ext cx="8991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6328804" y="2418159"/>
            <a:ext cx="69587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Terminate Conn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/>
          <p:nvPr/>
        </p:nvSpPr>
        <p:spPr>
          <a:xfrm>
            <a:off x="6167456" y="2687836"/>
            <a:ext cx="2262197" cy="278606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6238894" y="2773561"/>
            <a:ext cx="54339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7728310" y="2759273"/>
            <a:ext cx="6299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5F5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5F56"/>
                </a:solidFill>
                <a:latin typeface="Calibri"/>
                <a:ea typeface="Calibri"/>
                <a:cs typeface="Calibri"/>
                <a:sym typeface="Calibri"/>
              </a:rPr>
              <a:t>&lt; 10 Seconds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6"/>
          <p:cNvSpPr/>
          <p:nvPr/>
        </p:nvSpPr>
        <p:spPr>
          <a:xfrm>
            <a:off x="571500" y="3152180"/>
            <a:ext cx="3911203" cy="15716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6"/>
          <p:cNvSpPr/>
          <p:nvPr/>
        </p:nvSpPr>
        <p:spPr>
          <a:xfrm>
            <a:off x="571500" y="3152180"/>
            <a:ext cx="3911203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6"/>
          <p:cNvSpPr/>
          <p:nvPr/>
        </p:nvSpPr>
        <p:spPr>
          <a:xfrm>
            <a:off x="4475559" y="3152180"/>
            <a:ext cx="7144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6"/>
          <p:cNvSpPr/>
          <p:nvPr/>
        </p:nvSpPr>
        <p:spPr>
          <a:xfrm>
            <a:off x="571500" y="4716661"/>
            <a:ext cx="3911203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6"/>
          <p:cNvSpPr/>
          <p:nvPr/>
        </p:nvSpPr>
        <p:spPr>
          <a:xfrm>
            <a:off x="571500" y="3152180"/>
            <a:ext cx="7144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6"/>
          <p:cNvSpPr/>
          <p:nvPr/>
        </p:nvSpPr>
        <p:spPr>
          <a:xfrm>
            <a:off x="714375" y="3295055"/>
            <a:ext cx="285750" cy="285750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9" name="Google Shape;779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6883" y="3366492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16"/>
          <p:cNvSpPr/>
          <p:nvPr/>
        </p:nvSpPr>
        <p:spPr>
          <a:xfrm>
            <a:off x="1085850" y="3350419"/>
            <a:ext cx="174765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 &amp; Observability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714375" y="3723680"/>
            <a:ext cx="913870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2" name="Google Shape;782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00100" y="3790652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16"/>
          <p:cNvSpPr/>
          <p:nvPr/>
        </p:nvSpPr>
        <p:spPr>
          <a:xfrm>
            <a:off x="964406" y="3773686"/>
            <a:ext cx="56382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Expiry Watch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1685395" y="3723680"/>
            <a:ext cx="954249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5" name="Google Shape;785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771120" y="3790652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16"/>
          <p:cNvSpPr/>
          <p:nvPr/>
        </p:nvSpPr>
        <p:spPr>
          <a:xfrm>
            <a:off x="1935426" y="3773686"/>
            <a:ext cx="60420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Issuance Rate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2696794" y="3723680"/>
            <a:ext cx="1043518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8" name="Google Shape;788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782519" y="3783509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6"/>
          <p:cNvSpPr/>
          <p:nvPr/>
        </p:nvSpPr>
        <p:spPr>
          <a:xfrm>
            <a:off x="2946825" y="3766542"/>
            <a:ext cx="69347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Failed Renewals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6"/>
          <p:cNvSpPr/>
          <p:nvPr/>
        </p:nvSpPr>
        <p:spPr>
          <a:xfrm>
            <a:off x="714375" y="4007644"/>
            <a:ext cx="1142051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1" name="Google Shape;791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0100" y="4074616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16"/>
          <p:cNvSpPr/>
          <p:nvPr/>
        </p:nvSpPr>
        <p:spPr>
          <a:xfrm>
            <a:off x="964406" y="4057650"/>
            <a:ext cx="79200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Anomalous Usage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1913576" y="4007644"/>
            <a:ext cx="780399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4" name="Google Shape;794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999301" y="4067473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16"/>
          <p:cNvSpPr/>
          <p:nvPr/>
        </p:nvSpPr>
        <p:spPr>
          <a:xfrm>
            <a:off x="2163607" y="4050506"/>
            <a:ext cx="43035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 Health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714375" y="4302323"/>
            <a:ext cx="3618309" cy="278606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6"/>
          <p:cNvSpPr/>
          <p:nvPr/>
        </p:nvSpPr>
        <p:spPr>
          <a:xfrm>
            <a:off x="785813" y="4388048"/>
            <a:ext cx="377279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3163900" y="4373761"/>
            <a:ext cx="10973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Real-time Dashboards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4654153" y="3152180"/>
            <a:ext cx="3918347" cy="15716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6"/>
          <p:cNvSpPr/>
          <p:nvPr/>
        </p:nvSpPr>
        <p:spPr>
          <a:xfrm>
            <a:off x="4654153" y="3152180"/>
            <a:ext cx="3918347" cy="28575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6"/>
          <p:cNvSpPr/>
          <p:nvPr/>
        </p:nvSpPr>
        <p:spPr>
          <a:xfrm>
            <a:off x="8565356" y="3152180"/>
            <a:ext cx="7144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6"/>
          <p:cNvSpPr/>
          <p:nvPr/>
        </p:nvSpPr>
        <p:spPr>
          <a:xfrm>
            <a:off x="4654153" y="4716661"/>
            <a:ext cx="3918347" cy="7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6"/>
          <p:cNvSpPr/>
          <p:nvPr/>
        </p:nvSpPr>
        <p:spPr>
          <a:xfrm>
            <a:off x="4654153" y="3152180"/>
            <a:ext cx="7144" cy="1571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4804172" y="3295055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5" name="Google Shape;805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875609" y="33664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6"/>
          <p:cNvSpPr/>
          <p:nvPr/>
        </p:nvSpPr>
        <p:spPr>
          <a:xfrm>
            <a:off x="5175647" y="3350419"/>
            <a:ext cx="105300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Troubleshooting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4804172" y="3723680"/>
            <a:ext cx="1159213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8" name="Google Shape;808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889897" y="3790652"/>
            <a:ext cx="69652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6"/>
          <p:cNvSpPr/>
          <p:nvPr/>
        </p:nvSpPr>
        <p:spPr>
          <a:xfrm>
            <a:off x="5030986" y="3773686"/>
            <a:ext cx="83238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Distributed Tracing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6020535" y="3723680"/>
            <a:ext cx="1015640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1" name="Google Shape;811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106260" y="3790652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16"/>
          <p:cNvSpPr/>
          <p:nvPr/>
        </p:nvSpPr>
        <p:spPr>
          <a:xfrm>
            <a:off x="6270566" y="3773686"/>
            <a:ext cx="66559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 Inspection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6"/>
          <p:cNvSpPr/>
          <p:nvPr/>
        </p:nvSpPr>
        <p:spPr>
          <a:xfrm>
            <a:off x="7093325" y="3723680"/>
            <a:ext cx="1070614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4" name="Google Shape;814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179050" y="3783509"/>
            <a:ext cx="116086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16"/>
          <p:cNvSpPr/>
          <p:nvPr/>
        </p:nvSpPr>
        <p:spPr>
          <a:xfrm>
            <a:off x="7366574" y="3766542"/>
            <a:ext cx="69735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Connection Test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4804172" y="4007644"/>
            <a:ext cx="811988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7" name="Google Shape;817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889897" y="4074616"/>
            <a:ext cx="92869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6"/>
          <p:cNvSpPr/>
          <p:nvPr/>
        </p:nvSpPr>
        <p:spPr>
          <a:xfrm>
            <a:off x="5054203" y="4057650"/>
            <a:ext cx="46194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Audit Logs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5673310" y="4007644"/>
            <a:ext cx="1163203" cy="226814"/>
          </a:xfrm>
          <a:prstGeom prst="roundRect">
            <a:avLst>
              <a:gd fmla="val 16667" name="adj"/>
            </a:avLst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0" name="Google Shape;820;p1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759035" y="4067473"/>
            <a:ext cx="116086" cy="92869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16"/>
          <p:cNvSpPr/>
          <p:nvPr/>
        </p:nvSpPr>
        <p:spPr>
          <a:xfrm>
            <a:off x="5946558" y="4050506"/>
            <a:ext cx="789942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Auto-Remediation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6"/>
          <p:cNvSpPr/>
          <p:nvPr/>
        </p:nvSpPr>
        <p:spPr>
          <a:xfrm>
            <a:off x="4804172" y="4302323"/>
            <a:ext cx="3625453" cy="278606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6"/>
          <p:cNvSpPr/>
          <p:nvPr/>
        </p:nvSpPr>
        <p:spPr>
          <a:xfrm>
            <a:off x="4875609" y="4388048"/>
            <a:ext cx="486361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Resolution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6"/>
          <p:cNvSpPr/>
          <p:nvPr/>
        </p:nvSpPr>
        <p:spPr>
          <a:xfrm>
            <a:off x="7329739" y="4373761"/>
            <a:ext cx="102844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Self-Healing Capable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0" name="Google Shape;8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17"/>
          <p:cNvSpPr/>
          <p:nvPr/>
        </p:nvSpPr>
        <p:spPr>
          <a:xfrm>
            <a:off x="571500" y="428625"/>
            <a:ext cx="8001000" cy="56614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7"/>
          <p:cNvSpPr/>
          <p:nvPr/>
        </p:nvSpPr>
        <p:spPr>
          <a:xfrm>
            <a:off x="571500" y="98048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7"/>
          <p:cNvSpPr/>
          <p:nvPr/>
        </p:nvSpPr>
        <p:spPr>
          <a:xfrm>
            <a:off x="571500" y="428625"/>
            <a:ext cx="45734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Key Takeaways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7"/>
          <p:cNvSpPr/>
          <p:nvPr/>
        </p:nvSpPr>
        <p:spPr>
          <a:xfrm>
            <a:off x="571500" y="1066205"/>
            <a:ext cx="3957638" cy="169842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"/>
          <p:cNvSpPr/>
          <p:nvPr/>
        </p:nvSpPr>
        <p:spPr>
          <a:xfrm>
            <a:off x="571500" y="1066205"/>
            <a:ext cx="28575" cy="167699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7"/>
          <p:cNvSpPr/>
          <p:nvPr/>
        </p:nvSpPr>
        <p:spPr>
          <a:xfrm>
            <a:off x="685800" y="1180505"/>
            <a:ext cx="357188" cy="357188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7" name="Google Shape;8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669" y="127337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17"/>
          <p:cNvSpPr/>
          <p:nvPr/>
        </p:nvSpPr>
        <p:spPr>
          <a:xfrm>
            <a:off x="1100138" y="1242120"/>
            <a:ext cx="192454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Identity Fabric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9" name="Google Shape;839;p17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685800" y="168056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17"/>
          <p:cNvSpPr/>
          <p:nvPr/>
        </p:nvSpPr>
        <p:spPr>
          <a:xfrm>
            <a:off x="842963" y="1651992"/>
            <a:ext cx="2886773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Single root of trust for Devices, Workloads, and Users.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1" name="Google Shape;841;p17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685800" y="1897726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17"/>
          <p:cNvSpPr/>
          <p:nvPr/>
        </p:nvSpPr>
        <p:spPr>
          <a:xfrm>
            <a:off x="842963" y="1869151"/>
            <a:ext cx="295156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Consistent mTLS authentication across all form factors.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3" name="Google Shape;843;p17"/>
          <p:cNvPicPr preferRelativeResize="0"/>
          <p:nvPr/>
        </p:nvPicPr>
        <p:blipFill rotWithShape="1">
          <a:blip r:embed="rId7">
            <a:alphaModFix amt="70000"/>
          </a:blip>
          <a:srcRect b="0" l="0" r="0" t="0"/>
          <a:stretch/>
        </p:blipFill>
        <p:spPr>
          <a:xfrm>
            <a:off x="685800" y="2114885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17"/>
          <p:cNvSpPr/>
          <p:nvPr/>
        </p:nvSpPr>
        <p:spPr>
          <a:xfrm>
            <a:off x="842963" y="2086310"/>
            <a:ext cx="274984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Elimination of static credentials and shared secrets.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7"/>
          <p:cNvSpPr/>
          <p:nvPr/>
        </p:nvSpPr>
        <p:spPr>
          <a:xfrm>
            <a:off x="4614863" y="1066205"/>
            <a:ext cx="3957638" cy="169842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7"/>
          <p:cNvSpPr/>
          <p:nvPr/>
        </p:nvSpPr>
        <p:spPr>
          <a:xfrm>
            <a:off x="4614863" y="1066205"/>
            <a:ext cx="28575" cy="167699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4729163" y="1180505"/>
            <a:ext cx="357188" cy="357188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8" name="Google Shape;8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2031" y="127337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17"/>
          <p:cNvSpPr/>
          <p:nvPr/>
        </p:nvSpPr>
        <p:spPr>
          <a:xfrm>
            <a:off x="5143500" y="1242120"/>
            <a:ext cx="193584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Zero-Touch Operations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0" name="Google Shape;850;p17"/>
          <p:cNvPicPr preferRelativeResize="0"/>
          <p:nvPr/>
        </p:nvPicPr>
        <p:blipFill rotWithShape="1">
          <a:blip r:embed="rId9">
            <a:alphaModFix amt="70000"/>
          </a:blip>
          <a:srcRect b="0" l="0" r="0" t="0"/>
          <a:stretch/>
        </p:blipFill>
        <p:spPr>
          <a:xfrm>
            <a:off x="4729163" y="1680567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17"/>
          <p:cNvSpPr/>
          <p:nvPr/>
        </p:nvSpPr>
        <p:spPr>
          <a:xfrm>
            <a:off x="4886325" y="1651992"/>
            <a:ext cx="3224538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100% automated certificate lifecycle (Enroll, Renew, Revoke).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2" name="Google Shape;852;p17"/>
          <p:cNvPicPr preferRelativeResize="0"/>
          <p:nvPr/>
        </p:nvPicPr>
        <p:blipFill rotWithShape="1">
          <a:blip r:embed="rId10">
            <a:alphaModFix amt="70000"/>
          </a:blip>
          <a:srcRect b="0" l="0" r="0" t="0"/>
          <a:stretch/>
        </p:blipFill>
        <p:spPr>
          <a:xfrm>
            <a:off x="4729163" y="1897726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7"/>
          <p:cNvSpPr/>
          <p:nvPr/>
        </p:nvSpPr>
        <p:spPr>
          <a:xfrm>
            <a:off x="4886325" y="1869151"/>
            <a:ext cx="2648796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99.96% renewal success rate with zero downtime.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4" name="Google Shape;854;p17"/>
          <p:cNvPicPr preferRelativeResize="0"/>
          <p:nvPr/>
        </p:nvPicPr>
        <p:blipFill rotWithShape="1">
          <a:blip r:embed="rId11">
            <a:alphaModFix amt="70000"/>
          </a:blip>
          <a:srcRect b="0" l="0" r="0" t="0"/>
          <a:stretch/>
        </p:blipFill>
        <p:spPr>
          <a:xfrm>
            <a:off x="4729163" y="2114885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17"/>
          <p:cNvSpPr/>
          <p:nvPr/>
        </p:nvSpPr>
        <p:spPr>
          <a:xfrm>
            <a:off x="4886325" y="2086310"/>
            <a:ext cx="3462737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Massive reduction in operational toil (83% complexity reduction).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7"/>
          <p:cNvSpPr/>
          <p:nvPr/>
        </p:nvSpPr>
        <p:spPr>
          <a:xfrm>
            <a:off x="571500" y="2850356"/>
            <a:ext cx="3957638" cy="169842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7"/>
          <p:cNvSpPr/>
          <p:nvPr/>
        </p:nvSpPr>
        <p:spPr>
          <a:xfrm>
            <a:off x="571500" y="2850356"/>
            <a:ext cx="28575" cy="167699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7"/>
          <p:cNvSpPr/>
          <p:nvPr/>
        </p:nvSpPr>
        <p:spPr>
          <a:xfrm>
            <a:off x="685800" y="2964656"/>
            <a:ext cx="357188" cy="357188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9" name="Google Shape;85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8669" y="30575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17"/>
          <p:cNvSpPr/>
          <p:nvPr/>
        </p:nvSpPr>
        <p:spPr>
          <a:xfrm>
            <a:off x="1100138" y="3026271"/>
            <a:ext cx="186195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Resilient Architecture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1" name="Google Shape;861;p17"/>
          <p:cNvPicPr preferRelativeResize="0"/>
          <p:nvPr/>
        </p:nvPicPr>
        <p:blipFill rotWithShape="1">
          <a:blip r:embed="rId13">
            <a:alphaModFix amt="70000"/>
          </a:blip>
          <a:srcRect b="0" l="0" r="0" t="0"/>
          <a:stretch/>
        </p:blipFill>
        <p:spPr>
          <a:xfrm>
            <a:off x="685800" y="3464719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17"/>
          <p:cNvSpPr/>
          <p:nvPr/>
        </p:nvSpPr>
        <p:spPr>
          <a:xfrm>
            <a:off x="842963" y="3436144"/>
            <a:ext cx="314645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Multi-region active-active deployment (99.99% Availability).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3" name="Google Shape;863;p17"/>
          <p:cNvPicPr preferRelativeResize="0"/>
          <p:nvPr/>
        </p:nvPicPr>
        <p:blipFill rotWithShape="1">
          <a:blip r:embed="rId14">
            <a:alphaModFix amt="70000"/>
          </a:blip>
          <a:srcRect b="0" l="0" r="0" t="0"/>
          <a:stretch/>
        </p:blipFill>
        <p:spPr>
          <a:xfrm>
            <a:off x="685800" y="3681878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17"/>
          <p:cNvSpPr/>
          <p:nvPr/>
        </p:nvSpPr>
        <p:spPr>
          <a:xfrm>
            <a:off x="842963" y="3653303"/>
            <a:ext cx="3148050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Distributed Intermediate CAs for blast radius containment.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5" name="Google Shape;865;p17"/>
          <p:cNvPicPr preferRelativeResize="0"/>
          <p:nvPr/>
        </p:nvPicPr>
        <p:blipFill rotWithShape="1">
          <a:blip r:embed="rId15">
            <a:alphaModFix amt="70000"/>
          </a:blip>
          <a:srcRect b="0" l="0" r="0" t="0"/>
          <a:stretch/>
        </p:blipFill>
        <p:spPr>
          <a:xfrm>
            <a:off x="685800" y="3899036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17"/>
          <p:cNvSpPr/>
          <p:nvPr/>
        </p:nvSpPr>
        <p:spPr>
          <a:xfrm>
            <a:off x="842963" y="3870461"/>
            <a:ext cx="265828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Independent scaling for different workload types.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7"/>
          <p:cNvSpPr/>
          <p:nvPr/>
        </p:nvSpPr>
        <p:spPr>
          <a:xfrm>
            <a:off x="4614863" y="2850356"/>
            <a:ext cx="3957638" cy="169842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7"/>
          <p:cNvSpPr/>
          <p:nvPr/>
        </p:nvSpPr>
        <p:spPr>
          <a:xfrm>
            <a:off x="4614863" y="2850356"/>
            <a:ext cx="28575" cy="1676995"/>
          </a:xfrm>
          <a:prstGeom prst="rect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7"/>
          <p:cNvSpPr/>
          <p:nvPr/>
        </p:nvSpPr>
        <p:spPr>
          <a:xfrm>
            <a:off x="4729163" y="2964656"/>
            <a:ext cx="357188" cy="357188"/>
          </a:xfrm>
          <a:prstGeom prst="rect">
            <a:avLst/>
          </a:prstGeom>
          <a:solidFill>
            <a:srgbClr val="FF5F5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0" name="Google Shape;870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22031" y="30575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17"/>
          <p:cNvSpPr/>
          <p:nvPr/>
        </p:nvSpPr>
        <p:spPr>
          <a:xfrm>
            <a:off x="5143500" y="3026271"/>
            <a:ext cx="219062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Future-Proof &amp; Compliant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2" name="Google Shape;872;p17"/>
          <p:cNvPicPr preferRelativeResize="0"/>
          <p:nvPr/>
        </p:nvPicPr>
        <p:blipFill rotWithShape="1">
          <a:blip r:embed="rId17">
            <a:alphaModFix amt="70000"/>
          </a:blip>
          <a:srcRect b="0" l="0" r="0" t="0"/>
          <a:stretch/>
        </p:blipFill>
        <p:spPr>
          <a:xfrm>
            <a:off x="4729163" y="3464719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17"/>
          <p:cNvSpPr/>
          <p:nvPr/>
        </p:nvSpPr>
        <p:spPr>
          <a:xfrm>
            <a:off x="4886325" y="3436144"/>
            <a:ext cx="304814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Built-in alignment with NIST CSF 2.0, SOC 2, and PCI-DSS.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4" name="Google Shape;874;p17"/>
          <p:cNvPicPr preferRelativeResize="0"/>
          <p:nvPr/>
        </p:nvPicPr>
        <p:blipFill rotWithShape="1">
          <a:blip r:embed="rId18">
            <a:alphaModFix amt="70000"/>
          </a:blip>
          <a:srcRect b="0" l="0" r="0" t="0"/>
          <a:stretch/>
        </p:blipFill>
        <p:spPr>
          <a:xfrm>
            <a:off x="4729163" y="3681878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17"/>
          <p:cNvSpPr/>
          <p:nvPr/>
        </p:nvSpPr>
        <p:spPr>
          <a:xfrm>
            <a:off x="4886325" y="3653303"/>
            <a:ext cx="3255262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Quantum Readiness via crypto-agility and hybrid certificates.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6" name="Google Shape;876;p17"/>
          <p:cNvPicPr preferRelativeResize="0"/>
          <p:nvPr/>
        </p:nvPicPr>
        <p:blipFill rotWithShape="1">
          <a:blip r:embed="rId19">
            <a:alphaModFix amt="70000"/>
          </a:blip>
          <a:srcRect b="0" l="0" r="0" t="0"/>
          <a:stretch/>
        </p:blipFill>
        <p:spPr>
          <a:xfrm>
            <a:off x="4729163" y="3899036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17"/>
          <p:cNvSpPr/>
          <p:nvPr/>
        </p:nvSpPr>
        <p:spPr>
          <a:xfrm>
            <a:off x="4886325" y="3870461"/>
            <a:ext cx="2777830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evidence collection for simplified audits.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7"/>
          <p:cNvSpPr/>
          <p:nvPr/>
        </p:nvSpPr>
        <p:spPr>
          <a:xfrm>
            <a:off x="571500" y="4634508"/>
            <a:ext cx="8001000" cy="380405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9" name="Google Shape;879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14375" y="476756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17"/>
          <p:cNvSpPr/>
          <p:nvPr/>
        </p:nvSpPr>
        <p:spPr>
          <a:xfrm>
            <a:off x="914400" y="4744343"/>
            <a:ext cx="358013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Impact: Risk Reduction + Operational Efficiency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7"/>
          <p:cNvSpPr/>
          <p:nvPr/>
        </p:nvSpPr>
        <p:spPr>
          <a:xfrm>
            <a:off x="7143750" y="4734520"/>
            <a:ext cx="1285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ROI: 371% (Year 1)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7" name="Google Shape;8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1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8"/>
          <p:cNvSpPr/>
          <p:nvPr/>
        </p:nvSpPr>
        <p:spPr>
          <a:xfrm>
            <a:off x="571500" y="428625"/>
            <a:ext cx="499116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Factors &amp; Requirements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8"/>
          <p:cNvSpPr/>
          <p:nvPr/>
        </p:nvSpPr>
        <p:spPr>
          <a:xfrm>
            <a:off x="571500" y="1323380"/>
            <a:ext cx="3312105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8"/>
          <p:cNvSpPr/>
          <p:nvPr/>
        </p:nvSpPr>
        <p:spPr>
          <a:xfrm>
            <a:off x="571500" y="1323380"/>
            <a:ext cx="28575" cy="64293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8"/>
          <p:cNvSpPr/>
          <p:nvPr/>
        </p:nvSpPr>
        <p:spPr>
          <a:xfrm>
            <a:off x="714375" y="1466255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4" name="Google Shape;8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244" y="155912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18"/>
          <p:cNvSpPr/>
          <p:nvPr/>
        </p:nvSpPr>
        <p:spPr>
          <a:xfrm>
            <a:off x="1214438" y="1471613"/>
            <a:ext cx="252629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Devices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8"/>
          <p:cNvSpPr/>
          <p:nvPr/>
        </p:nvSpPr>
        <p:spPr>
          <a:xfrm>
            <a:off x="1214438" y="1682353"/>
            <a:ext cx="25262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Laptops, servers, IoT devices. Long-lived identity.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8"/>
          <p:cNvSpPr/>
          <p:nvPr/>
        </p:nvSpPr>
        <p:spPr>
          <a:xfrm>
            <a:off x="571500" y="2109192"/>
            <a:ext cx="3312105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8"/>
          <p:cNvSpPr/>
          <p:nvPr/>
        </p:nvSpPr>
        <p:spPr>
          <a:xfrm>
            <a:off x="571500" y="2109192"/>
            <a:ext cx="28575" cy="64293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8"/>
          <p:cNvSpPr/>
          <p:nvPr/>
        </p:nvSpPr>
        <p:spPr>
          <a:xfrm>
            <a:off x="714375" y="2252067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0" name="Google Shape;9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244" y="234493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18"/>
          <p:cNvSpPr/>
          <p:nvPr/>
        </p:nvSpPr>
        <p:spPr>
          <a:xfrm>
            <a:off x="1214438" y="2257425"/>
            <a:ext cx="252629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Machines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8"/>
          <p:cNvSpPr/>
          <p:nvPr/>
        </p:nvSpPr>
        <p:spPr>
          <a:xfrm>
            <a:off x="1214438" y="2468166"/>
            <a:ext cx="25262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EC2, GCE instances. Ephemeral but stateful.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8"/>
          <p:cNvSpPr/>
          <p:nvPr/>
        </p:nvSpPr>
        <p:spPr>
          <a:xfrm>
            <a:off x="571500" y="2895005"/>
            <a:ext cx="3312105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8"/>
          <p:cNvSpPr/>
          <p:nvPr/>
        </p:nvSpPr>
        <p:spPr>
          <a:xfrm>
            <a:off x="571500" y="2895005"/>
            <a:ext cx="28575" cy="642938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8"/>
          <p:cNvSpPr/>
          <p:nvPr/>
        </p:nvSpPr>
        <p:spPr>
          <a:xfrm>
            <a:off x="714375" y="3037880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6" name="Google Shape;90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528" y="3130748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18"/>
          <p:cNvSpPr/>
          <p:nvPr/>
        </p:nvSpPr>
        <p:spPr>
          <a:xfrm>
            <a:off x="1214438" y="3043238"/>
            <a:ext cx="252629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8"/>
          <p:cNvSpPr/>
          <p:nvPr/>
        </p:nvSpPr>
        <p:spPr>
          <a:xfrm>
            <a:off x="1214438" y="3253978"/>
            <a:ext cx="25262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Kubernetes pods. Highly ephemeral and dynamic.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8"/>
          <p:cNvSpPr/>
          <p:nvPr/>
        </p:nvSpPr>
        <p:spPr>
          <a:xfrm>
            <a:off x="571500" y="3680817"/>
            <a:ext cx="3312105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8"/>
          <p:cNvSpPr/>
          <p:nvPr/>
        </p:nvSpPr>
        <p:spPr>
          <a:xfrm>
            <a:off x="571500" y="3680817"/>
            <a:ext cx="28575" cy="642938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8"/>
          <p:cNvSpPr/>
          <p:nvPr/>
        </p:nvSpPr>
        <p:spPr>
          <a:xfrm>
            <a:off x="714375" y="3823692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2" name="Google Shape;91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7959" y="3916561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18"/>
          <p:cNvSpPr/>
          <p:nvPr/>
        </p:nvSpPr>
        <p:spPr>
          <a:xfrm>
            <a:off x="1214438" y="3829050"/>
            <a:ext cx="252629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Users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8"/>
          <p:cNvSpPr/>
          <p:nvPr/>
        </p:nvSpPr>
        <p:spPr>
          <a:xfrm>
            <a:off x="1214438" y="4039791"/>
            <a:ext cx="252629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Employees, contractors. Tied to IAM identity.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8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8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Requirements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8"/>
          <p:cNvSpPr/>
          <p:nvPr/>
        </p:nvSpPr>
        <p:spPr>
          <a:xfrm>
            <a:off x="4383667" y="1946672"/>
            <a:ext cx="842432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8"/>
          <p:cNvSpPr/>
          <p:nvPr/>
        </p:nvSpPr>
        <p:spPr>
          <a:xfrm>
            <a:off x="5226100" y="1946672"/>
            <a:ext cx="790528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6016628" y="1946672"/>
            <a:ext cx="1303651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Enrollment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8"/>
          <p:cNvSpPr/>
          <p:nvPr/>
        </p:nvSpPr>
        <p:spPr>
          <a:xfrm>
            <a:off x="7320279" y="1946672"/>
            <a:ext cx="1037909" cy="226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8"/>
          <p:cNvSpPr/>
          <p:nvPr/>
        </p:nvSpPr>
        <p:spPr>
          <a:xfrm>
            <a:off x="4383667" y="2173486"/>
            <a:ext cx="842432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8"/>
          <p:cNvSpPr/>
          <p:nvPr/>
        </p:nvSpPr>
        <p:spPr>
          <a:xfrm>
            <a:off x="5226100" y="2271713"/>
            <a:ext cx="430132" cy="17323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8"/>
          <p:cNvSpPr/>
          <p:nvPr/>
        </p:nvSpPr>
        <p:spPr>
          <a:xfrm>
            <a:off x="5226100" y="2271713"/>
            <a:ext cx="4301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8"/>
          <p:cNvSpPr/>
          <p:nvPr/>
        </p:nvSpPr>
        <p:spPr>
          <a:xfrm>
            <a:off x="6016628" y="2173486"/>
            <a:ext cx="130365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Bootstrap Token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8"/>
          <p:cNvSpPr/>
          <p:nvPr/>
        </p:nvSpPr>
        <p:spPr>
          <a:xfrm>
            <a:off x="7320279" y="2173486"/>
            <a:ext cx="1037909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@ 60d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8"/>
          <p:cNvSpPr/>
          <p:nvPr/>
        </p:nvSpPr>
        <p:spPr>
          <a:xfrm>
            <a:off x="4383667" y="2530673"/>
            <a:ext cx="842432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VMs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8"/>
          <p:cNvSpPr/>
          <p:nvPr/>
        </p:nvSpPr>
        <p:spPr>
          <a:xfrm>
            <a:off x="5226100" y="2628900"/>
            <a:ext cx="430132" cy="17323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8"/>
          <p:cNvSpPr/>
          <p:nvPr/>
        </p:nvSpPr>
        <p:spPr>
          <a:xfrm>
            <a:off x="5226100" y="2628900"/>
            <a:ext cx="430132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8"/>
          <p:cNvSpPr/>
          <p:nvPr/>
        </p:nvSpPr>
        <p:spPr>
          <a:xfrm>
            <a:off x="6016628" y="2530673"/>
            <a:ext cx="130365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Instance 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8"/>
          <p:cNvSpPr/>
          <p:nvPr/>
        </p:nvSpPr>
        <p:spPr>
          <a:xfrm>
            <a:off x="7320279" y="2530673"/>
            <a:ext cx="1037909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@ 20d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8"/>
          <p:cNvSpPr/>
          <p:nvPr/>
        </p:nvSpPr>
        <p:spPr>
          <a:xfrm>
            <a:off x="4383667" y="2887861"/>
            <a:ext cx="842432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8"/>
          <p:cNvSpPr/>
          <p:nvPr/>
        </p:nvSpPr>
        <p:spPr>
          <a:xfrm>
            <a:off x="5226100" y="2986088"/>
            <a:ext cx="389418" cy="17323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8"/>
          <p:cNvSpPr/>
          <p:nvPr/>
        </p:nvSpPr>
        <p:spPr>
          <a:xfrm>
            <a:off x="5226100" y="2986088"/>
            <a:ext cx="389418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8"/>
          <p:cNvSpPr/>
          <p:nvPr/>
        </p:nvSpPr>
        <p:spPr>
          <a:xfrm>
            <a:off x="6016628" y="2887861"/>
            <a:ext cx="130365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K8s SA Token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8"/>
          <p:cNvSpPr/>
          <p:nvPr/>
        </p:nvSpPr>
        <p:spPr>
          <a:xfrm>
            <a:off x="7320279" y="2887861"/>
            <a:ext cx="1037909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 @ 30m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8"/>
          <p:cNvSpPr/>
          <p:nvPr/>
        </p:nvSpPr>
        <p:spPr>
          <a:xfrm>
            <a:off x="4383667" y="3245048"/>
            <a:ext cx="842432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8"/>
          <p:cNvSpPr/>
          <p:nvPr/>
        </p:nvSpPr>
        <p:spPr>
          <a:xfrm>
            <a:off x="5226100" y="3343275"/>
            <a:ext cx="479496" cy="17323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8"/>
          <p:cNvSpPr/>
          <p:nvPr/>
        </p:nvSpPr>
        <p:spPr>
          <a:xfrm>
            <a:off x="5226100" y="3343275"/>
            <a:ext cx="47949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Hours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8"/>
          <p:cNvSpPr/>
          <p:nvPr/>
        </p:nvSpPr>
        <p:spPr>
          <a:xfrm>
            <a:off x="6016628" y="3245048"/>
            <a:ext cx="130365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SSO / MFA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8"/>
          <p:cNvSpPr/>
          <p:nvPr/>
        </p:nvSpPr>
        <p:spPr>
          <a:xfrm>
            <a:off x="7320279" y="3245048"/>
            <a:ext cx="1037909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/ SSO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6" name="Google Shape;9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23867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1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19"/>
          <p:cNvSpPr/>
          <p:nvPr/>
        </p:nvSpPr>
        <p:spPr>
          <a:xfrm>
            <a:off x="571500" y="428625"/>
            <a:ext cx="301798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Devices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9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9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2" name="Google Shape;9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19"/>
          <p:cNvSpPr/>
          <p:nvPr/>
        </p:nvSpPr>
        <p:spPr>
          <a:xfrm>
            <a:off x="1000125" y="1501973"/>
            <a:ext cx="97428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Device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9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9"/>
          <p:cNvSpPr/>
          <p:nvPr/>
        </p:nvSpPr>
        <p:spPr>
          <a:xfrm>
            <a:off x="2898409" y="1803797"/>
            <a:ext cx="8066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Laptops, Servers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9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9"/>
          <p:cNvSpPr/>
          <p:nvPr/>
        </p:nvSpPr>
        <p:spPr>
          <a:xfrm>
            <a:off x="3276637" y="2089547"/>
            <a:ext cx="42837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9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9"/>
          <p:cNvSpPr/>
          <p:nvPr/>
        </p:nvSpPr>
        <p:spPr>
          <a:xfrm>
            <a:off x="3328457" y="2375297"/>
            <a:ext cx="3765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9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9"/>
          <p:cNvSpPr/>
          <p:nvPr/>
        </p:nvSpPr>
        <p:spPr>
          <a:xfrm>
            <a:off x="3232435" y="2661047"/>
            <a:ext cx="47257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ECC P-256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19"/>
          <p:cNvSpPr/>
          <p:nvPr/>
        </p:nvSpPr>
        <p:spPr>
          <a:xfrm>
            <a:off x="750094" y="2946797"/>
            <a:ext cx="36486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19"/>
          <p:cNvSpPr/>
          <p:nvPr/>
        </p:nvSpPr>
        <p:spPr>
          <a:xfrm>
            <a:off x="2509242" y="2946797"/>
            <a:ext cx="11957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TPM 2.0 / Secure Enclave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9"/>
          <p:cNvSpPr/>
          <p:nvPr/>
        </p:nvSpPr>
        <p:spPr>
          <a:xfrm>
            <a:off x="4169355" y="1323380"/>
            <a:ext cx="4403145" cy="374332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9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Bootstrap Enrollment Flow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9"/>
          <p:cNvSpPr/>
          <p:nvPr/>
        </p:nvSpPr>
        <p:spPr>
          <a:xfrm>
            <a:off x="4383667" y="1946672"/>
            <a:ext cx="285750" cy="285750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9"/>
          <p:cNvSpPr/>
          <p:nvPr/>
        </p:nvSpPr>
        <p:spPr>
          <a:xfrm>
            <a:off x="4383667" y="1946672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9"/>
          <p:cNvSpPr/>
          <p:nvPr/>
        </p:nvSpPr>
        <p:spPr>
          <a:xfrm>
            <a:off x="4812292" y="1946672"/>
            <a:ext cx="3545895" cy="53220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>
            <a:off x="4919449" y="2053828"/>
            <a:ext cx="33315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Provisioning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9"/>
          <p:cNvSpPr/>
          <p:nvPr/>
        </p:nvSpPr>
        <p:spPr>
          <a:xfrm>
            <a:off x="4919449" y="2244923"/>
            <a:ext cx="333158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MDM pushes bootstrap token and OpAMP agent to device.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9"/>
          <p:cNvSpPr/>
          <p:nvPr/>
        </p:nvSpPr>
        <p:spPr>
          <a:xfrm>
            <a:off x="4383667" y="2586038"/>
            <a:ext cx="285750" cy="285750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>
            <a:off x="4383667" y="258603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9"/>
          <p:cNvSpPr/>
          <p:nvPr/>
        </p:nvSpPr>
        <p:spPr>
          <a:xfrm>
            <a:off x="4812292" y="2586038"/>
            <a:ext cx="3545895" cy="53220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9"/>
          <p:cNvSpPr/>
          <p:nvPr/>
        </p:nvSpPr>
        <p:spPr>
          <a:xfrm>
            <a:off x="4919449" y="2693194"/>
            <a:ext cx="33315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Generation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9"/>
          <p:cNvSpPr/>
          <p:nvPr/>
        </p:nvSpPr>
        <p:spPr>
          <a:xfrm>
            <a:off x="4919449" y="2884289"/>
            <a:ext cx="333158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generates key pair inside TPM. Private key never leaves hardware.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9"/>
          <p:cNvSpPr/>
          <p:nvPr/>
        </p:nvSpPr>
        <p:spPr>
          <a:xfrm>
            <a:off x="4383667" y="3225403"/>
            <a:ext cx="285750" cy="285750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9"/>
          <p:cNvSpPr/>
          <p:nvPr/>
        </p:nvSpPr>
        <p:spPr>
          <a:xfrm>
            <a:off x="4383667" y="322540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9"/>
          <p:cNvSpPr/>
          <p:nvPr/>
        </p:nvSpPr>
        <p:spPr>
          <a:xfrm>
            <a:off x="4812292" y="3225403"/>
            <a:ext cx="3545895" cy="53220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9"/>
          <p:cNvSpPr/>
          <p:nvPr/>
        </p:nvSpPr>
        <p:spPr>
          <a:xfrm>
            <a:off x="4919449" y="3332559"/>
            <a:ext cx="33315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Attestation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9"/>
          <p:cNvSpPr/>
          <p:nvPr/>
        </p:nvSpPr>
        <p:spPr>
          <a:xfrm>
            <a:off x="4919449" y="3523655"/>
            <a:ext cx="333158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sends CSR + Bootstrap Token + TPM Attestation to CA.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9"/>
          <p:cNvSpPr/>
          <p:nvPr/>
        </p:nvSpPr>
        <p:spPr>
          <a:xfrm>
            <a:off x="4383667" y="3864769"/>
            <a:ext cx="285750" cy="285750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9"/>
          <p:cNvSpPr/>
          <p:nvPr/>
        </p:nvSpPr>
        <p:spPr>
          <a:xfrm>
            <a:off x="4383667" y="3864769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9"/>
          <p:cNvSpPr/>
          <p:nvPr/>
        </p:nvSpPr>
        <p:spPr>
          <a:xfrm>
            <a:off x="4812292" y="3864769"/>
            <a:ext cx="3545895" cy="53220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9"/>
          <p:cNvSpPr/>
          <p:nvPr/>
        </p:nvSpPr>
        <p:spPr>
          <a:xfrm>
            <a:off x="4919449" y="3971925"/>
            <a:ext cx="333158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9"/>
          <p:cNvSpPr/>
          <p:nvPr/>
        </p:nvSpPr>
        <p:spPr>
          <a:xfrm>
            <a:off x="4919449" y="4163020"/>
            <a:ext cx="3331583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 validates token and issues 90-day device certificate.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9"/>
          <p:cNvSpPr/>
          <p:nvPr/>
        </p:nvSpPr>
        <p:spPr>
          <a:xfrm>
            <a:off x="4383667" y="4539853"/>
            <a:ext cx="3974520" cy="312539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7" name="Google Shape;9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7976" y="4632722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19"/>
          <p:cNvSpPr/>
          <p:nvPr/>
        </p:nvSpPr>
        <p:spPr>
          <a:xfrm>
            <a:off x="5377988" y="4611291"/>
            <a:ext cx="208586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Hardware-Backed Security (TPM 2.0)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4" name="Google Shape;9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2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20"/>
          <p:cNvSpPr/>
          <p:nvPr/>
        </p:nvSpPr>
        <p:spPr>
          <a:xfrm>
            <a:off x="571500" y="428625"/>
            <a:ext cx="2835901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 Machines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0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0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0" name="Google Shape;10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20"/>
          <p:cNvSpPr/>
          <p:nvPr/>
        </p:nvSpPr>
        <p:spPr>
          <a:xfrm>
            <a:off x="964406" y="1501973"/>
            <a:ext cx="73181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VM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0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0"/>
          <p:cNvSpPr/>
          <p:nvPr/>
        </p:nvSpPr>
        <p:spPr>
          <a:xfrm>
            <a:off x="2718281" y="1803797"/>
            <a:ext cx="98673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EC2, GCE, Azure VMs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0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0"/>
          <p:cNvSpPr/>
          <p:nvPr/>
        </p:nvSpPr>
        <p:spPr>
          <a:xfrm>
            <a:off x="3333843" y="2089547"/>
            <a:ext cx="3711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0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0"/>
          <p:cNvSpPr/>
          <p:nvPr/>
        </p:nvSpPr>
        <p:spPr>
          <a:xfrm>
            <a:off x="3328457" y="2375297"/>
            <a:ext cx="3765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0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0"/>
          <p:cNvSpPr/>
          <p:nvPr/>
        </p:nvSpPr>
        <p:spPr>
          <a:xfrm>
            <a:off x="3257243" y="2661047"/>
            <a:ext cx="4477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RSA-2048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0"/>
          <p:cNvSpPr/>
          <p:nvPr/>
        </p:nvSpPr>
        <p:spPr>
          <a:xfrm>
            <a:off x="750094" y="2946797"/>
            <a:ext cx="36265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0"/>
          <p:cNvSpPr/>
          <p:nvPr/>
        </p:nvSpPr>
        <p:spPr>
          <a:xfrm>
            <a:off x="2785672" y="2946797"/>
            <a:ext cx="91933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Instance Metadata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0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0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Cloud-Native Bootstrap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0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0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6" name="Google Shape;10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3331" y="2208312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20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Instance Launch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0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VM starts up and queries local metadata service for Identity Document (IID).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9" name="Google Shape;10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20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0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2" name="Google Shape;102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3331" y="306734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20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Signed Request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0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signs CSR with IID (cryptographically signed by AWS/GCP/Azure).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5" name="Google Shape;102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20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0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8" name="Google Shape;102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9405" y="392638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20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Validation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0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 validates IID signature against cloud provider public keys.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0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2" name="Google Shape;103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75613" y="4580930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3" name="Google Shape;103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48207" y="4580930"/>
            <a:ext cx="108942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4" name="Google Shape;103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86869" y="4580930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20"/>
          <p:cNvSpPr/>
          <p:nvPr/>
        </p:nvSpPr>
        <p:spPr>
          <a:xfrm>
            <a:off x="5986881" y="4559498"/>
            <a:ext cx="117936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Multi-Cloud Support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1" name="Google Shape;10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2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2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1"/>
          <p:cNvSpPr/>
          <p:nvPr/>
        </p:nvSpPr>
        <p:spPr>
          <a:xfrm>
            <a:off x="571500" y="428625"/>
            <a:ext cx="420206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Containers &amp; Kubernetes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1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1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7" name="Google Shape;10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21"/>
          <p:cNvSpPr/>
          <p:nvPr/>
        </p:nvSpPr>
        <p:spPr>
          <a:xfrm>
            <a:off x="982266" y="1501973"/>
            <a:ext cx="121259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Container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1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1"/>
          <p:cNvSpPr/>
          <p:nvPr/>
        </p:nvSpPr>
        <p:spPr>
          <a:xfrm>
            <a:off x="2880494" y="1803797"/>
            <a:ext cx="8245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Kubernetes Pods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1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1"/>
          <p:cNvSpPr/>
          <p:nvPr/>
        </p:nvSpPr>
        <p:spPr>
          <a:xfrm>
            <a:off x="3276637" y="2089547"/>
            <a:ext cx="42837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1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21"/>
          <p:cNvSpPr/>
          <p:nvPr/>
        </p:nvSpPr>
        <p:spPr>
          <a:xfrm>
            <a:off x="3376650" y="2375297"/>
            <a:ext cx="32836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1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1"/>
          <p:cNvSpPr/>
          <p:nvPr/>
        </p:nvSpPr>
        <p:spPr>
          <a:xfrm>
            <a:off x="3232435" y="2661047"/>
            <a:ext cx="47257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ECC P-256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1"/>
          <p:cNvSpPr/>
          <p:nvPr/>
        </p:nvSpPr>
        <p:spPr>
          <a:xfrm>
            <a:off x="750094" y="2946797"/>
            <a:ext cx="36265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1"/>
          <p:cNvSpPr/>
          <p:nvPr/>
        </p:nvSpPr>
        <p:spPr>
          <a:xfrm>
            <a:off x="3251048" y="2946797"/>
            <a:ext cx="4539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SPIFFE ID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1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1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Workload Identity (SPIFFE/SPIRE)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1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1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3" name="Google Shape;10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9405" y="220831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21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Attestation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1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SPIRE Agent proves node identity to SPIRE Server via K8s Token.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6" name="Google Shape;10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21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1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9" name="Google Shape;106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3331" y="306734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21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Workload Attestation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1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validates pod selectors (namespace, SA, image, labels).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2" name="Google Shape;107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21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1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5" name="Google Shape;107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1368" y="3926384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21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SVID Issuance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1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issues short-lived X.509 SVID to workload via Unix Socket.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1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1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spiffe://trust-domain/ns/default/sa/frontend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5" name="Google Shape;10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2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2"/>
          <p:cNvSpPr/>
          <p:nvPr/>
        </p:nvSpPr>
        <p:spPr>
          <a:xfrm>
            <a:off x="571500" y="428625"/>
            <a:ext cx="226501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Users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2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2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1" name="Google Shape;10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22"/>
          <p:cNvSpPr/>
          <p:nvPr/>
        </p:nvSpPr>
        <p:spPr>
          <a:xfrm>
            <a:off x="1000125" y="1501973"/>
            <a:ext cx="83255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User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2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2"/>
          <p:cNvSpPr/>
          <p:nvPr/>
        </p:nvSpPr>
        <p:spPr>
          <a:xfrm>
            <a:off x="2552747" y="1803797"/>
            <a:ext cx="11522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Employees, Contractors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2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2"/>
          <p:cNvSpPr/>
          <p:nvPr/>
        </p:nvSpPr>
        <p:spPr>
          <a:xfrm>
            <a:off x="3333843" y="2089547"/>
            <a:ext cx="3711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2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22"/>
          <p:cNvSpPr/>
          <p:nvPr/>
        </p:nvSpPr>
        <p:spPr>
          <a:xfrm>
            <a:off x="3270442" y="2375297"/>
            <a:ext cx="4345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Hours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2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2"/>
          <p:cNvSpPr/>
          <p:nvPr/>
        </p:nvSpPr>
        <p:spPr>
          <a:xfrm>
            <a:off x="3257243" y="2661047"/>
            <a:ext cx="4477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RSA-2048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22"/>
          <p:cNvSpPr/>
          <p:nvPr/>
        </p:nvSpPr>
        <p:spPr>
          <a:xfrm>
            <a:off x="750094" y="2946797"/>
            <a:ext cx="36265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2"/>
          <p:cNvSpPr/>
          <p:nvPr/>
        </p:nvSpPr>
        <p:spPr>
          <a:xfrm>
            <a:off x="3090007" y="2946797"/>
            <a:ext cx="61500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OIDC / SAML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2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2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SSO-Backed Enrollment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2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2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7" name="Google Shape;11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9405" y="220831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22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2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User logs in via Ping SSO with MFA (FIDO2/YubiKey).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0" name="Google Shape;11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22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2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3" name="Google Shape;111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1368" y="3067348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22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 Exchange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2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 exchanges OIDC ID Token for short-lived certificate.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6" name="Google Shape;111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22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22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9" name="Google Shape;111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9405" y="392638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22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Injection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2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Certificate injected into browser/OS store for mTLS access.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2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DA70D6">
              <a:alpha val="9803"/>
            </a:srgbClr>
          </a:solidFill>
          <a:ln cap="flat" cmpd="sng" w="952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3" name="Google Shape;1123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74987" y="4580930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22"/>
          <p:cNvSpPr/>
          <p:nvPr/>
        </p:nvSpPr>
        <p:spPr>
          <a:xfrm>
            <a:off x="5560712" y="4559498"/>
            <a:ext cx="17061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Integrated with Ping Identity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0" name="Google Shape;1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23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3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3"/>
          <p:cNvSpPr/>
          <p:nvPr/>
        </p:nvSpPr>
        <p:spPr>
          <a:xfrm>
            <a:off x="571500" y="428625"/>
            <a:ext cx="344295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Serverless Functions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3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3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6" name="Google Shape;11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23"/>
          <p:cNvSpPr/>
          <p:nvPr/>
        </p:nvSpPr>
        <p:spPr>
          <a:xfrm>
            <a:off x="928688" y="1501973"/>
            <a:ext cx="113172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Function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3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3"/>
          <p:cNvSpPr/>
          <p:nvPr/>
        </p:nvSpPr>
        <p:spPr>
          <a:xfrm>
            <a:off x="2517949" y="1803797"/>
            <a:ext cx="118706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Lambda, Cloud Run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3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3"/>
          <p:cNvSpPr/>
          <p:nvPr/>
        </p:nvSpPr>
        <p:spPr>
          <a:xfrm>
            <a:off x="3276637" y="2089547"/>
            <a:ext cx="42837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3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3"/>
          <p:cNvSpPr/>
          <p:nvPr/>
        </p:nvSpPr>
        <p:spPr>
          <a:xfrm>
            <a:off x="3166830" y="2375297"/>
            <a:ext cx="5381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Minutes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3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3"/>
          <p:cNvSpPr/>
          <p:nvPr/>
        </p:nvSpPr>
        <p:spPr>
          <a:xfrm>
            <a:off x="3232435" y="2661047"/>
            <a:ext cx="47257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ECC P-256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23"/>
          <p:cNvSpPr/>
          <p:nvPr/>
        </p:nvSpPr>
        <p:spPr>
          <a:xfrm>
            <a:off x="750094" y="2946797"/>
            <a:ext cx="36265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3"/>
          <p:cNvSpPr/>
          <p:nvPr/>
        </p:nvSpPr>
        <p:spPr>
          <a:xfrm>
            <a:off x="2989018" y="2946797"/>
            <a:ext cx="7159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 Role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3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23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Lambda Extension Architecture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23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23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2" name="Google Shape;11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9405" y="220831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23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Cold Start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3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Lambda Extension initializes before function handler.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5" name="Google Shape;115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23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3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8" name="Google Shape;11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5478" y="3067348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23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Fetch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3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Extension grabs AWS credentials from runtime environment.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1" name="Google Shape;116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23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3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3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 Injection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3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Extension gets cert from CA and writes to /tmp for handler use.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3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7" name="Google Shape;116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28735" y="458093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23"/>
          <p:cNvSpPr/>
          <p:nvPr/>
        </p:nvSpPr>
        <p:spPr>
          <a:xfrm>
            <a:off x="5471610" y="4559498"/>
            <a:ext cx="194150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Zero-Latency Certificate Injection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4" name="Google Shape;1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2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2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24"/>
          <p:cNvSpPr/>
          <p:nvPr/>
        </p:nvSpPr>
        <p:spPr>
          <a:xfrm>
            <a:off x="571500" y="428625"/>
            <a:ext cx="229777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4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4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0" name="Google Shape;11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24"/>
          <p:cNvSpPr/>
          <p:nvPr/>
        </p:nvSpPr>
        <p:spPr>
          <a:xfrm>
            <a:off x="1000125" y="1501973"/>
            <a:ext cx="112742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9370DB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9370DB"/>
                </a:solidFill>
                <a:latin typeface="Calibri"/>
                <a:ea typeface="Calibri"/>
                <a:cs typeface="Calibri"/>
                <a:sym typeface="Calibri"/>
              </a:rPr>
              <a:t>Gateway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4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4"/>
          <p:cNvSpPr/>
          <p:nvPr/>
        </p:nvSpPr>
        <p:spPr>
          <a:xfrm>
            <a:off x="2675167" y="1803797"/>
            <a:ext cx="102984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Kong, NGINX, Apigee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24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4"/>
          <p:cNvSpPr/>
          <p:nvPr/>
        </p:nvSpPr>
        <p:spPr>
          <a:xfrm>
            <a:off x="3333843" y="2089547"/>
            <a:ext cx="3711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4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4"/>
          <p:cNvSpPr/>
          <p:nvPr/>
        </p:nvSpPr>
        <p:spPr>
          <a:xfrm>
            <a:off x="3328457" y="2375297"/>
            <a:ext cx="3765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Days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4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4"/>
          <p:cNvSpPr/>
          <p:nvPr/>
        </p:nvSpPr>
        <p:spPr>
          <a:xfrm>
            <a:off x="3257243" y="2661047"/>
            <a:ext cx="4477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RSA-2048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4"/>
          <p:cNvSpPr/>
          <p:nvPr/>
        </p:nvSpPr>
        <p:spPr>
          <a:xfrm>
            <a:off x="750094" y="2946797"/>
            <a:ext cx="39126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4"/>
          <p:cNvSpPr/>
          <p:nvPr/>
        </p:nvSpPr>
        <p:spPr>
          <a:xfrm>
            <a:off x="2900083" y="2946797"/>
            <a:ext cx="80492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ACME (RFC 8555)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4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4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ACME Automation Flow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4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4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9370D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6" name="Google Shape;119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3331" y="2208312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24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Creation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4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Gateway requests certificate for 'api.internal.corp'.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9" name="Google Shape;11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24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4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9370D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2" name="Google Shape;120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9405" y="3067348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24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 Validation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4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 verifies domain ownership via DNS-01 or HTTP-01 challenge.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5" name="Google Shape;120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24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4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9370D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8" name="Google Shape;120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9405" y="392638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24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Retrieval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4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Gateway downloads certificate and reloads configuration.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24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9370DB">
              <a:alpha val="9803"/>
            </a:srgbClr>
          </a:solidFill>
          <a:ln cap="flat" cmpd="sng" w="9525">
            <a:solidFill>
              <a:srgbClr val="9370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2" name="Google Shape;1212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53487" y="458093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24"/>
          <p:cNvSpPr/>
          <p:nvPr/>
        </p:nvSpPr>
        <p:spPr>
          <a:xfrm>
            <a:off x="5496362" y="4559498"/>
            <a:ext cx="189200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9370DB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9370DB"/>
                </a:solidFill>
                <a:latin typeface="Calibri"/>
                <a:ea typeface="Calibri"/>
                <a:cs typeface="Calibri"/>
                <a:sym typeface="Calibri"/>
              </a:rPr>
              <a:t>Standard ACME Protocol Support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9" name="Google Shape;1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2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5"/>
          <p:cNvSpPr/>
          <p:nvPr/>
        </p:nvSpPr>
        <p:spPr>
          <a:xfrm>
            <a:off x="571500" y="428625"/>
            <a:ext cx="219388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Mesh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5"/>
          <p:cNvSpPr/>
          <p:nvPr/>
        </p:nvSpPr>
        <p:spPr>
          <a:xfrm>
            <a:off x="571500" y="1323380"/>
            <a:ext cx="3312105" cy="200203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5"/>
          <p:cNvSpPr/>
          <p:nvPr/>
        </p:nvSpPr>
        <p:spPr>
          <a:xfrm>
            <a:off x="571500" y="1323380"/>
            <a:ext cx="28575" cy="2002036"/>
          </a:xfrm>
          <a:prstGeom prst="rect">
            <a:avLst/>
          </a:prstGeom>
          <a:solidFill>
            <a:srgbClr val="FF14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5" name="Google Shape;12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25"/>
          <p:cNvSpPr/>
          <p:nvPr/>
        </p:nvSpPr>
        <p:spPr>
          <a:xfrm>
            <a:off x="982266" y="1501973"/>
            <a:ext cx="88828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149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Mesh Profile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5"/>
          <p:cNvSpPr/>
          <p:nvPr/>
        </p:nvSpPr>
        <p:spPr>
          <a:xfrm>
            <a:off x="750094" y="1803797"/>
            <a:ext cx="29805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5"/>
          <p:cNvSpPr/>
          <p:nvPr/>
        </p:nvSpPr>
        <p:spPr>
          <a:xfrm>
            <a:off x="3065004" y="1803797"/>
            <a:ext cx="64000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Istio, Linkerd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5"/>
          <p:cNvSpPr/>
          <p:nvPr/>
        </p:nvSpPr>
        <p:spPr>
          <a:xfrm>
            <a:off x="750094" y="2089547"/>
            <a:ext cx="35607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5"/>
          <p:cNvSpPr/>
          <p:nvPr/>
        </p:nvSpPr>
        <p:spPr>
          <a:xfrm>
            <a:off x="3333843" y="2089547"/>
            <a:ext cx="3711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50,000+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5"/>
          <p:cNvSpPr/>
          <p:nvPr/>
        </p:nvSpPr>
        <p:spPr>
          <a:xfrm>
            <a:off x="750094" y="2375297"/>
            <a:ext cx="34016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5"/>
          <p:cNvSpPr/>
          <p:nvPr/>
        </p:nvSpPr>
        <p:spPr>
          <a:xfrm>
            <a:off x="3270442" y="2375297"/>
            <a:ext cx="4345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 Hours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5"/>
          <p:cNvSpPr/>
          <p:nvPr/>
        </p:nvSpPr>
        <p:spPr>
          <a:xfrm>
            <a:off x="750094" y="2661047"/>
            <a:ext cx="41587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Type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5"/>
          <p:cNvSpPr/>
          <p:nvPr/>
        </p:nvSpPr>
        <p:spPr>
          <a:xfrm>
            <a:off x="3232435" y="2661047"/>
            <a:ext cx="47257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ECC P-256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5"/>
          <p:cNvSpPr/>
          <p:nvPr/>
        </p:nvSpPr>
        <p:spPr>
          <a:xfrm>
            <a:off x="750094" y="2946797"/>
            <a:ext cx="52939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5"/>
          <p:cNvSpPr/>
          <p:nvPr/>
        </p:nvSpPr>
        <p:spPr>
          <a:xfrm>
            <a:off x="2901200" y="2946797"/>
            <a:ext cx="80381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Intermediate CA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5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25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Istio CA Integration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5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5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FF149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1" name="Google Shape;124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9405" y="220831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25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 Bootstrap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5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Istiod requests Intermediate CA certificate from EJBCA.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4" name="Google Shape;124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25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FF149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7" name="Google Shape;124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9405" y="3067348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25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Workload Issuance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25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Istiod issues short-lived certs to Envoy sidecars via SDS.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0" name="Google Shape;125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25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5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FF149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3" name="Google Shape;125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9405" y="392638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25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Automatic Rotation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5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Envoy rotates certificates automatically before expiry.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5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FF1493">
              <a:alpha val="9803"/>
            </a:srgbClr>
          </a:solidFill>
          <a:ln cap="flat" cmpd="sng" w="9525">
            <a:solidFill>
              <a:srgbClr val="FF14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7" name="Google Shape;1257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97491" y="4580930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25"/>
          <p:cNvSpPr/>
          <p:nvPr/>
        </p:nvSpPr>
        <p:spPr>
          <a:xfrm>
            <a:off x="5726078" y="4559498"/>
            <a:ext cx="14182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1493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1493"/>
                </a:solidFill>
                <a:latin typeface="Calibri"/>
                <a:ea typeface="Calibri"/>
                <a:cs typeface="Calibri"/>
                <a:sym typeface="Calibri"/>
              </a:rPr>
              <a:t>Istio / Envoy Integration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4" name="Google Shape;1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2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6"/>
          <p:cNvSpPr/>
          <p:nvPr/>
        </p:nvSpPr>
        <p:spPr>
          <a:xfrm>
            <a:off x="571500" y="428625"/>
            <a:ext cx="4374542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 Handshake Protocol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6"/>
          <p:cNvSpPr/>
          <p:nvPr/>
        </p:nvSpPr>
        <p:spPr>
          <a:xfrm>
            <a:off x="571500" y="1323380"/>
            <a:ext cx="8001000" cy="318432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26"/>
          <p:cNvSpPr/>
          <p:nvPr/>
        </p:nvSpPr>
        <p:spPr>
          <a:xfrm>
            <a:off x="7814230" y="1466255"/>
            <a:ext cx="615395" cy="269677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6"/>
          <p:cNvSpPr/>
          <p:nvPr/>
        </p:nvSpPr>
        <p:spPr>
          <a:xfrm>
            <a:off x="7814230" y="1466255"/>
            <a:ext cx="615395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A192F"/>
                </a:solidFill>
                <a:latin typeface="Calibri"/>
                <a:ea typeface="Calibri"/>
                <a:cs typeface="Calibri"/>
                <a:sym typeface="Calibri"/>
              </a:rPr>
              <a:t>TLS 1.3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6"/>
          <p:cNvSpPr/>
          <p:nvPr/>
        </p:nvSpPr>
        <p:spPr>
          <a:xfrm>
            <a:off x="1571625" y="2488704"/>
            <a:ext cx="571500" cy="571500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2" name="Google Shape;12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266015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26"/>
          <p:cNvSpPr/>
          <p:nvPr/>
        </p:nvSpPr>
        <p:spPr>
          <a:xfrm>
            <a:off x="1669042" y="3167360"/>
            <a:ext cx="37663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26"/>
          <p:cNvSpPr/>
          <p:nvPr/>
        </p:nvSpPr>
        <p:spPr>
          <a:xfrm>
            <a:off x="2428875" y="2204740"/>
            <a:ext cx="3358930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26"/>
          <p:cNvSpPr/>
          <p:nvPr/>
        </p:nvSpPr>
        <p:spPr>
          <a:xfrm>
            <a:off x="5894961" y="2089547"/>
            <a:ext cx="820164" cy="244673"/>
          </a:xfrm>
          <a:prstGeom prst="roundRect">
            <a:avLst>
              <a:gd fmla="val 16667" name="adj"/>
            </a:avLst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6"/>
          <p:cNvSpPr/>
          <p:nvPr/>
        </p:nvSpPr>
        <p:spPr>
          <a:xfrm>
            <a:off x="5894961" y="2089547"/>
            <a:ext cx="820164" cy="244673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1. Client Hello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6"/>
          <p:cNvSpPr/>
          <p:nvPr/>
        </p:nvSpPr>
        <p:spPr>
          <a:xfrm>
            <a:off x="2428875" y="2434233"/>
            <a:ext cx="1116016" cy="244673"/>
          </a:xfrm>
          <a:prstGeom prst="roundRect">
            <a:avLst>
              <a:gd fmla="val 16667" name="adj"/>
            </a:avLst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6"/>
          <p:cNvSpPr/>
          <p:nvPr/>
        </p:nvSpPr>
        <p:spPr>
          <a:xfrm>
            <a:off x="2428875" y="2434233"/>
            <a:ext cx="1116016" cy="244673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2. Server Hello + Cert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6"/>
          <p:cNvSpPr/>
          <p:nvPr/>
        </p:nvSpPr>
        <p:spPr>
          <a:xfrm>
            <a:off x="3637759" y="2549426"/>
            <a:ext cx="3077366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6"/>
          <p:cNvSpPr/>
          <p:nvPr/>
        </p:nvSpPr>
        <p:spPr>
          <a:xfrm>
            <a:off x="2428875" y="2894112"/>
            <a:ext cx="3035898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6"/>
          <p:cNvSpPr/>
          <p:nvPr/>
        </p:nvSpPr>
        <p:spPr>
          <a:xfrm>
            <a:off x="5571930" y="2778919"/>
            <a:ext cx="1143195" cy="244673"/>
          </a:xfrm>
          <a:prstGeom prst="roundRect">
            <a:avLst>
              <a:gd fmla="val 16667" name="adj"/>
            </a:avLst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6"/>
          <p:cNvSpPr/>
          <p:nvPr/>
        </p:nvSpPr>
        <p:spPr>
          <a:xfrm>
            <a:off x="5571930" y="2778919"/>
            <a:ext cx="1143195" cy="244673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3. Client Cert Request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6"/>
          <p:cNvSpPr/>
          <p:nvPr/>
        </p:nvSpPr>
        <p:spPr>
          <a:xfrm>
            <a:off x="2428875" y="3123605"/>
            <a:ext cx="1117132" cy="244673"/>
          </a:xfrm>
          <a:prstGeom prst="roundRect">
            <a:avLst>
              <a:gd fmla="val 16667" name="adj"/>
            </a:avLst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6"/>
          <p:cNvSpPr/>
          <p:nvPr/>
        </p:nvSpPr>
        <p:spPr>
          <a:xfrm>
            <a:off x="2428875" y="3123605"/>
            <a:ext cx="1117132" cy="244673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4. Client Cert + Verify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6"/>
          <p:cNvSpPr/>
          <p:nvPr/>
        </p:nvSpPr>
        <p:spPr>
          <a:xfrm>
            <a:off x="3638876" y="3238798"/>
            <a:ext cx="3076249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26"/>
          <p:cNvSpPr/>
          <p:nvPr/>
        </p:nvSpPr>
        <p:spPr>
          <a:xfrm>
            <a:off x="2428875" y="3583484"/>
            <a:ext cx="2989966" cy="14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26"/>
          <p:cNvSpPr/>
          <p:nvPr/>
        </p:nvSpPr>
        <p:spPr>
          <a:xfrm>
            <a:off x="5525998" y="3468291"/>
            <a:ext cx="1189127" cy="244673"/>
          </a:xfrm>
          <a:prstGeom prst="roundRect">
            <a:avLst>
              <a:gd fmla="val 16667" name="adj"/>
            </a:avLst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26"/>
          <p:cNvSpPr/>
          <p:nvPr/>
        </p:nvSpPr>
        <p:spPr>
          <a:xfrm>
            <a:off x="5525998" y="3468291"/>
            <a:ext cx="1189127" cy="244673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5. Finished (Encrypted)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6"/>
          <p:cNvSpPr/>
          <p:nvPr/>
        </p:nvSpPr>
        <p:spPr>
          <a:xfrm>
            <a:off x="7000875" y="2488704"/>
            <a:ext cx="571500" cy="571500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0" name="Google Shape;12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2325" y="26601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26"/>
          <p:cNvSpPr/>
          <p:nvPr/>
        </p:nvSpPr>
        <p:spPr>
          <a:xfrm>
            <a:off x="7080238" y="3167360"/>
            <a:ext cx="4127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26"/>
          <p:cNvSpPr/>
          <p:nvPr/>
        </p:nvSpPr>
        <p:spPr>
          <a:xfrm>
            <a:off x="2859732" y="4864894"/>
            <a:ext cx="105043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Mutual Authentication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6"/>
          <p:cNvSpPr/>
          <p:nvPr/>
        </p:nvSpPr>
        <p:spPr>
          <a:xfrm>
            <a:off x="4267358" y="4864894"/>
            <a:ext cx="76932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Forward Secrecy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6"/>
          <p:cNvSpPr/>
          <p:nvPr/>
        </p:nvSpPr>
        <p:spPr>
          <a:xfrm>
            <a:off x="5393866" y="4864894"/>
            <a:ext cx="103324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 Trust Verification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0" name="Google Shape;13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2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2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7"/>
          <p:cNvSpPr/>
          <p:nvPr/>
        </p:nvSpPr>
        <p:spPr>
          <a:xfrm>
            <a:off x="571500" y="428625"/>
            <a:ext cx="3425121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 Patterns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7"/>
          <p:cNvSpPr/>
          <p:nvPr/>
        </p:nvSpPr>
        <p:spPr>
          <a:xfrm>
            <a:off x="571500" y="1323380"/>
            <a:ext cx="2914650" cy="72509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7"/>
          <p:cNvSpPr/>
          <p:nvPr/>
        </p:nvSpPr>
        <p:spPr>
          <a:xfrm>
            <a:off x="571500" y="1323380"/>
            <a:ext cx="28575" cy="725091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27"/>
          <p:cNvSpPr/>
          <p:nvPr/>
        </p:nvSpPr>
        <p:spPr>
          <a:xfrm>
            <a:off x="714375" y="1543050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7" name="Google Shape;13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883" y="1621631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27"/>
          <p:cNvSpPr/>
          <p:nvPr/>
        </p:nvSpPr>
        <p:spPr>
          <a:xfrm>
            <a:off x="1107281" y="1466255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Device-to-Service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7"/>
          <p:cNvSpPr/>
          <p:nvPr/>
        </p:nvSpPr>
        <p:spPr>
          <a:xfrm>
            <a:off x="1107281" y="1643063"/>
            <a:ext cx="2235994" cy="262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Proxy → OpAMP Gateway (Long-lived certs).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7"/>
          <p:cNvSpPr/>
          <p:nvPr/>
        </p:nvSpPr>
        <p:spPr>
          <a:xfrm>
            <a:off x="571500" y="2191345"/>
            <a:ext cx="2914650" cy="59828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7"/>
          <p:cNvSpPr/>
          <p:nvPr/>
        </p:nvSpPr>
        <p:spPr>
          <a:xfrm>
            <a:off x="571500" y="2191345"/>
            <a:ext cx="28575" cy="598289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7"/>
          <p:cNvSpPr/>
          <p:nvPr/>
        </p:nvSpPr>
        <p:spPr>
          <a:xfrm>
            <a:off x="714375" y="2347615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3" name="Google Shape;13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42619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27"/>
          <p:cNvSpPr/>
          <p:nvPr/>
        </p:nvSpPr>
        <p:spPr>
          <a:xfrm>
            <a:off x="1107281" y="2334220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Service-to-Service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7"/>
          <p:cNvSpPr/>
          <p:nvPr/>
        </p:nvSpPr>
        <p:spPr>
          <a:xfrm>
            <a:off x="1107281" y="2511028"/>
            <a:ext cx="22359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Microservice A → Microservice B (Mesh certs).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7"/>
          <p:cNvSpPr/>
          <p:nvPr/>
        </p:nvSpPr>
        <p:spPr>
          <a:xfrm>
            <a:off x="571500" y="2932509"/>
            <a:ext cx="2914650" cy="59828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7"/>
          <p:cNvSpPr/>
          <p:nvPr/>
        </p:nvSpPr>
        <p:spPr>
          <a:xfrm>
            <a:off x="571500" y="2932509"/>
            <a:ext cx="28575" cy="598289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7"/>
          <p:cNvSpPr/>
          <p:nvPr/>
        </p:nvSpPr>
        <p:spPr>
          <a:xfrm>
            <a:off x="714375" y="3088779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9" name="Google Shape;13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920" y="3167360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27"/>
          <p:cNvSpPr/>
          <p:nvPr/>
        </p:nvSpPr>
        <p:spPr>
          <a:xfrm>
            <a:off x="1107281" y="3075384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Container-to-Container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27"/>
          <p:cNvSpPr/>
          <p:nvPr/>
        </p:nvSpPr>
        <p:spPr>
          <a:xfrm>
            <a:off x="1107281" y="3252192"/>
            <a:ext cx="22359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Pod A → Pod B (SPIFFE SVIDs).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7"/>
          <p:cNvSpPr/>
          <p:nvPr/>
        </p:nvSpPr>
        <p:spPr>
          <a:xfrm>
            <a:off x="571500" y="3673673"/>
            <a:ext cx="2914650" cy="59828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7"/>
          <p:cNvSpPr/>
          <p:nvPr/>
        </p:nvSpPr>
        <p:spPr>
          <a:xfrm>
            <a:off x="571500" y="3673673"/>
            <a:ext cx="28575" cy="598289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27"/>
          <p:cNvSpPr/>
          <p:nvPr/>
        </p:nvSpPr>
        <p:spPr>
          <a:xfrm>
            <a:off x="714375" y="3829943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5" name="Google Shape;132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993" y="3908524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27"/>
          <p:cNvSpPr/>
          <p:nvPr/>
        </p:nvSpPr>
        <p:spPr>
          <a:xfrm>
            <a:off x="1107281" y="3816548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Human-to-Service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7"/>
          <p:cNvSpPr/>
          <p:nvPr/>
        </p:nvSpPr>
        <p:spPr>
          <a:xfrm>
            <a:off x="1107281" y="3993356"/>
            <a:ext cx="223599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Engineer → Admin Console (Short-lived certs).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27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7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Trust Fabric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7"/>
          <p:cNvSpPr/>
          <p:nvPr/>
        </p:nvSpPr>
        <p:spPr>
          <a:xfrm>
            <a:off x="4129088" y="2089547"/>
            <a:ext cx="857250" cy="628650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1" name="Google Shape;133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50556" y="222885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27"/>
          <p:cNvSpPr/>
          <p:nvPr/>
        </p:nvSpPr>
        <p:spPr>
          <a:xfrm>
            <a:off x="4416679" y="2466380"/>
            <a:ext cx="28203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Device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27"/>
          <p:cNvSpPr/>
          <p:nvPr/>
        </p:nvSpPr>
        <p:spPr>
          <a:xfrm>
            <a:off x="4129088" y="4014788"/>
            <a:ext cx="857250" cy="628650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4" name="Google Shape;133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2703" y="418266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27"/>
          <p:cNvSpPr/>
          <p:nvPr/>
        </p:nvSpPr>
        <p:spPr>
          <a:xfrm>
            <a:off x="4400606" y="4420195"/>
            <a:ext cx="31418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7"/>
          <p:cNvSpPr/>
          <p:nvPr/>
        </p:nvSpPr>
        <p:spPr>
          <a:xfrm>
            <a:off x="5672138" y="2866430"/>
            <a:ext cx="1000125" cy="1000125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7" name="Google Shape;1337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65044" y="320575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27"/>
          <p:cNvSpPr/>
          <p:nvPr/>
        </p:nvSpPr>
        <p:spPr>
          <a:xfrm>
            <a:off x="5985207" y="3443288"/>
            <a:ext cx="37395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7"/>
          <p:cNvSpPr/>
          <p:nvPr/>
        </p:nvSpPr>
        <p:spPr>
          <a:xfrm>
            <a:off x="7358063" y="2089547"/>
            <a:ext cx="857250" cy="628650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0" name="Google Shape;1340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79531" y="2228850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27"/>
          <p:cNvSpPr/>
          <p:nvPr/>
        </p:nvSpPr>
        <p:spPr>
          <a:xfrm>
            <a:off x="7633432" y="2466380"/>
            <a:ext cx="30648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7"/>
          <p:cNvSpPr/>
          <p:nvPr/>
        </p:nvSpPr>
        <p:spPr>
          <a:xfrm>
            <a:off x="7358063" y="4014788"/>
            <a:ext cx="857250" cy="628650"/>
          </a:xfrm>
          <a:prstGeom prst="rect">
            <a:avLst/>
          </a:prstGeom>
          <a:solidFill>
            <a:srgbClr val="0A192F"/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3" name="Google Shape;1343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11678" y="4182666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27"/>
          <p:cNvSpPr/>
          <p:nvPr/>
        </p:nvSpPr>
        <p:spPr>
          <a:xfrm>
            <a:off x="7584932" y="4420195"/>
            <a:ext cx="4035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0" name="Google Shape;13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2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28"/>
          <p:cNvSpPr/>
          <p:nvPr/>
        </p:nvSpPr>
        <p:spPr>
          <a:xfrm>
            <a:off x="571500" y="428625"/>
            <a:ext cx="453884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Trust Implementation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8"/>
          <p:cNvSpPr/>
          <p:nvPr/>
        </p:nvSpPr>
        <p:spPr>
          <a:xfrm>
            <a:off x="571500" y="1323380"/>
            <a:ext cx="3312105" cy="92333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28"/>
          <p:cNvSpPr/>
          <p:nvPr/>
        </p:nvSpPr>
        <p:spPr>
          <a:xfrm>
            <a:off x="571500" y="1323380"/>
            <a:ext cx="28575" cy="92333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6" name="Google Shape;135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28"/>
          <p:cNvSpPr/>
          <p:nvPr/>
        </p:nvSpPr>
        <p:spPr>
          <a:xfrm>
            <a:off x="964406" y="1501973"/>
            <a:ext cx="187037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Never Trust, Always Verify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28"/>
          <p:cNvSpPr/>
          <p:nvPr/>
        </p:nvSpPr>
        <p:spPr>
          <a:xfrm>
            <a:off x="750094" y="1768078"/>
            <a:ext cx="295491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Every request is authenticated and authorized, regardless of origin (internal or external). No implicit trust zones.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8"/>
          <p:cNvSpPr/>
          <p:nvPr/>
        </p:nvSpPr>
        <p:spPr>
          <a:xfrm>
            <a:off x="571500" y="2389584"/>
            <a:ext cx="3312105" cy="92333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8"/>
          <p:cNvSpPr/>
          <p:nvPr/>
        </p:nvSpPr>
        <p:spPr>
          <a:xfrm>
            <a:off x="571500" y="2389584"/>
            <a:ext cx="28575" cy="92333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1" name="Google Shape;13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94" y="2594074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28"/>
          <p:cNvSpPr/>
          <p:nvPr/>
        </p:nvSpPr>
        <p:spPr>
          <a:xfrm>
            <a:off x="1000125" y="2568178"/>
            <a:ext cx="155664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Least Privilege Access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8"/>
          <p:cNvSpPr/>
          <p:nvPr/>
        </p:nvSpPr>
        <p:spPr>
          <a:xfrm>
            <a:off x="750094" y="2834283"/>
            <a:ext cx="295491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Entities are granted only the minimum permissions required to perform their function, for the shortest time necessary.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28"/>
          <p:cNvSpPr/>
          <p:nvPr/>
        </p:nvSpPr>
        <p:spPr>
          <a:xfrm>
            <a:off x="571500" y="3455789"/>
            <a:ext cx="3312105" cy="107334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28"/>
          <p:cNvSpPr/>
          <p:nvPr/>
        </p:nvSpPr>
        <p:spPr>
          <a:xfrm>
            <a:off x="571500" y="3455789"/>
            <a:ext cx="28575" cy="107334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6" name="Google Shape;136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94" y="3660279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28"/>
          <p:cNvSpPr/>
          <p:nvPr/>
        </p:nvSpPr>
        <p:spPr>
          <a:xfrm>
            <a:off x="982266" y="3634383"/>
            <a:ext cx="109243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Assume Breach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8"/>
          <p:cNvSpPr/>
          <p:nvPr/>
        </p:nvSpPr>
        <p:spPr>
          <a:xfrm>
            <a:off x="750094" y="3900488"/>
            <a:ext cx="2954917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Design systems assuming the network is already compromised. Minimize blast radius and enforce micro-segmentation.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8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8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Controls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8"/>
          <p:cNvSpPr/>
          <p:nvPr/>
        </p:nvSpPr>
        <p:spPr>
          <a:xfrm>
            <a:off x="4383667" y="1946672"/>
            <a:ext cx="3974520" cy="676870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2" name="Google Shape;137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0824" y="2094905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28"/>
          <p:cNvSpPr/>
          <p:nvPr/>
        </p:nvSpPr>
        <p:spPr>
          <a:xfrm>
            <a:off x="4758714" y="2053828"/>
            <a:ext cx="349231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Identity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8"/>
          <p:cNvSpPr/>
          <p:nvPr/>
        </p:nvSpPr>
        <p:spPr>
          <a:xfrm>
            <a:off x="4758714" y="2244923"/>
            <a:ext cx="349231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Cryptographic identity (X.509) for every entity (device, workload, user). No shared secrets.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8"/>
          <p:cNvSpPr/>
          <p:nvPr/>
        </p:nvSpPr>
        <p:spPr>
          <a:xfrm>
            <a:off x="4383667" y="2730698"/>
            <a:ext cx="3974520" cy="676870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6" name="Google Shape;137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0824" y="2878931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28"/>
          <p:cNvSpPr/>
          <p:nvPr/>
        </p:nvSpPr>
        <p:spPr>
          <a:xfrm>
            <a:off x="4776574" y="2837855"/>
            <a:ext cx="34744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Mutual Authentication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8"/>
          <p:cNvSpPr/>
          <p:nvPr/>
        </p:nvSpPr>
        <p:spPr>
          <a:xfrm>
            <a:off x="4776574" y="3028950"/>
            <a:ext cx="347445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mTLS enforced for all communications. Both client and server verify each other's identity.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8"/>
          <p:cNvSpPr/>
          <p:nvPr/>
        </p:nvSpPr>
        <p:spPr>
          <a:xfrm>
            <a:off x="4383667" y="3514725"/>
            <a:ext cx="3974520" cy="676870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0" name="Google Shape;1380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0824" y="3662958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28"/>
          <p:cNvSpPr/>
          <p:nvPr/>
        </p:nvSpPr>
        <p:spPr>
          <a:xfrm>
            <a:off x="4776574" y="3621881"/>
            <a:ext cx="34744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Micro-Segmentation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28"/>
          <p:cNvSpPr/>
          <p:nvPr/>
        </p:nvSpPr>
        <p:spPr>
          <a:xfrm>
            <a:off x="4776574" y="3812977"/>
            <a:ext cx="347445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Network policies restrict traffic based on identity, not IP address. Default deny posture.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8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00FFFF">
              <a:alpha val="9803"/>
            </a:srgbClr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4" name="Google Shape;1384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03391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28"/>
          <p:cNvSpPr/>
          <p:nvPr/>
        </p:nvSpPr>
        <p:spPr>
          <a:xfrm>
            <a:off x="5817691" y="4559498"/>
            <a:ext cx="122074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NIST 800-207 Aligned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1" name="Google Shape;139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2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2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29"/>
          <p:cNvSpPr/>
          <p:nvPr/>
        </p:nvSpPr>
        <p:spPr>
          <a:xfrm>
            <a:off x="571500" y="428625"/>
            <a:ext cx="4345242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 Authorization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29"/>
          <p:cNvSpPr/>
          <p:nvPr/>
        </p:nvSpPr>
        <p:spPr>
          <a:xfrm>
            <a:off x="571500" y="1323380"/>
            <a:ext cx="3312105" cy="215562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29"/>
          <p:cNvSpPr/>
          <p:nvPr/>
        </p:nvSpPr>
        <p:spPr>
          <a:xfrm>
            <a:off x="571500" y="1323380"/>
            <a:ext cx="28575" cy="2155627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7" name="Google Shape;13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29"/>
          <p:cNvSpPr/>
          <p:nvPr/>
        </p:nvSpPr>
        <p:spPr>
          <a:xfrm>
            <a:off x="1000125" y="1501973"/>
            <a:ext cx="143491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Policy as Code (OPA)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29"/>
          <p:cNvSpPr/>
          <p:nvPr/>
        </p:nvSpPr>
        <p:spPr>
          <a:xfrm>
            <a:off x="750094" y="1803797"/>
            <a:ext cx="2954917" cy="149661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2CD32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9"/>
          <p:cNvSpPr/>
          <p:nvPr/>
        </p:nvSpPr>
        <p:spPr>
          <a:xfrm>
            <a:off x="750094" y="1803797"/>
            <a:ext cx="2954917" cy="149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79C6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79C6"/>
                </a:solidFill>
                <a:latin typeface="Calibri"/>
                <a:ea typeface="Calibri"/>
                <a:cs typeface="Calibri"/>
                <a:sym typeface="Calibri"/>
              </a:rPr>
              <a:t>package</a:t>
            </a: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authz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FF79C6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allow = </a:t>
            </a:r>
            <a:r>
              <a:rPr b="0" i="0" lang="en-US" sz="674" u="none" cap="none" strike="noStrike">
                <a:solidFill>
                  <a:srgbClr val="BD93F9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allow {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input.method == </a:t>
            </a:r>
            <a:r>
              <a:rPr b="0" i="0" lang="en-US" sz="674" u="none" cap="none" strike="noStrike">
                <a:solidFill>
                  <a:srgbClr val="F1FA8C"/>
                </a:solidFill>
                <a:latin typeface="Calibri"/>
                <a:ea typeface="Calibri"/>
                <a:cs typeface="Calibri"/>
                <a:sym typeface="Calibri"/>
              </a:rPr>
              <a:t>"POST"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input.path == </a:t>
            </a:r>
            <a:r>
              <a:rPr b="0" i="0" lang="en-US" sz="674" u="none" cap="none" strike="noStrike">
                <a:solidFill>
                  <a:srgbClr val="F1FA8C"/>
                </a:solidFill>
                <a:latin typeface="Calibri"/>
                <a:ea typeface="Calibri"/>
                <a:cs typeface="Calibri"/>
                <a:sym typeface="Calibri"/>
              </a:rPr>
              <a:t>"/api/v1/config"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input.subject.role == </a:t>
            </a:r>
            <a:r>
              <a:rPr b="0" i="0" lang="en-US" sz="674" u="none" cap="none" strike="noStrike">
                <a:solidFill>
                  <a:srgbClr val="F1FA8C"/>
                </a:solidFill>
                <a:latin typeface="Calibri"/>
                <a:ea typeface="Calibri"/>
                <a:cs typeface="Calibri"/>
                <a:sym typeface="Calibri"/>
              </a:rPr>
              <a:t>"ConfigAdmin"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input.subject.org == input.resource.org</a:t>
            </a:r>
            <a:b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74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 }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29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29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Authorization Flow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29"/>
          <p:cNvSpPr/>
          <p:nvPr/>
        </p:nvSpPr>
        <p:spPr>
          <a:xfrm>
            <a:off x="4383667" y="2018109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29"/>
          <p:cNvSpPr/>
          <p:nvPr/>
        </p:nvSpPr>
        <p:spPr>
          <a:xfrm>
            <a:off x="4490824" y="2129730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5" name="Google Shape;140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5478" y="2208312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29"/>
          <p:cNvSpPr/>
          <p:nvPr/>
        </p:nvSpPr>
        <p:spPr>
          <a:xfrm>
            <a:off x="4883730" y="2125266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 Extraction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29"/>
          <p:cNvSpPr/>
          <p:nvPr/>
        </p:nvSpPr>
        <p:spPr>
          <a:xfrm>
            <a:off x="4883730" y="2293144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Gateway extracts identity (SPIFFE ID, Role) from mTLS cert.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8" name="Google Shape;140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3409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29"/>
          <p:cNvSpPr/>
          <p:nvPr/>
        </p:nvSpPr>
        <p:spPr>
          <a:xfrm>
            <a:off x="4383667" y="2877145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29"/>
          <p:cNvSpPr/>
          <p:nvPr/>
        </p:nvSpPr>
        <p:spPr>
          <a:xfrm>
            <a:off x="4490824" y="2988766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1" name="Google Shape;141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3331" y="306734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29"/>
          <p:cNvSpPr/>
          <p:nvPr/>
        </p:nvSpPr>
        <p:spPr>
          <a:xfrm>
            <a:off x="4883730" y="2984302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 Evaluation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29"/>
          <p:cNvSpPr/>
          <p:nvPr/>
        </p:nvSpPr>
        <p:spPr>
          <a:xfrm>
            <a:off x="4883730" y="3152180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OPA evaluates request context against Rego policies.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4" name="Google Shape;141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3409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29"/>
          <p:cNvSpPr/>
          <p:nvPr/>
        </p:nvSpPr>
        <p:spPr>
          <a:xfrm>
            <a:off x="4383667" y="3736181"/>
            <a:ext cx="3974520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29"/>
          <p:cNvSpPr/>
          <p:nvPr/>
        </p:nvSpPr>
        <p:spPr>
          <a:xfrm>
            <a:off x="4490824" y="3847802"/>
            <a:ext cx="285750" cy="285750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7" name="Google Shape;141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515" y="3926384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29"/>
          <p:cNvSpPr/>
          <p:nvPr/>
        </p:nvSpPr>
        <p:spPr>
          <a:xfrm>
            <a:off x="4883730" y="3843338"/>
            <a:ext cx="336730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Enforcement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29"/>
          <p:cNvSpPr/>
          <p:nvPr/>
        </p:nvSpPr>
        <p:spPr>
          <a:xfrm>
            <a:off x="4883730" y="4011216"/>
            <a:ext cx="336730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Request is allowed or denied (403 Forbidden) instantly.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29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1" name="Google Shape;1421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32571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29"/>
          <p:cNvSpPr/>
          <p:nvPr/>
        </p:nvSpPr>
        <p:spPr>
          <a:xfrm>
            <a:off x="5546871" y="4559498"/>
            <a:ext cx="17624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Open Policy Agent Integration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8" name="Google Shape;14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3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3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0"/>
          <p:cNvSpPr/>
          <p:nvPr/>
        </p:nvSpPr>
        <p:spPr>
          <a:xfrm>
            <a:off x="571500" y="428625"/>
            <a:ext cx="4567507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&amp; Monitoring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0"/>
          <p:cNvSpPr/>
          <p:nvPr/>
        </p:nvSpPr>
        <p:spPr>
          <a:xfrm>
            <a:off x="571500" y="1323380"/>
            <a:ext cx="2966079" cy="66972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30"/>
          <p:cNvSpPr/>
          <p:nvPr/>
        </p:nvSpPr>
        <p:spPr>
          <a:xfrm>
            <a:off x="571500" y="1323380"/>
            <a:ext cx="28575" cy="669727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0"/>
          <p:cNvSpPr/>
          <p:nvPr/>
        </p:nvSpPr>
        <p:spPr>
          <a:xfrm>
            <a:off x="714375" y="1479649"/>
            <a:ext cx="357188" cy="357188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5" name="Google Shape;143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531" y="158680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30"/>
          <p:cNvSpPr/>
          <p:nvPr/>
        </p:nvSpPr>
        <p:spPr>
          <a:xfrm>
            <a:off x="1178719" y="1466255"/>
            <a:ext cx="221598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2,777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0"/>
          <p:cNvSpPr/>
          <p:nvPr/>
        </p:nvSpPr>
        <p:spPr>
          <a:xfrm>
            <a:off x="1178719" y="1714500"/>
            <a:ext cx="221598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Daily Renewals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0"/>
          <p:cNvSpPr/>
          <p:nvPr/>
        </p:nvSpPr>
        <p:spPr>
          <a:xfrm>
            <a:off x="571500" y="2135981"/>
            <a:ext cx="2966079" cy="66972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0"/>
          <p:cNvSpPr/>
          <p:nvPr/>
        </p:nvSpPr>
        <p:spPr>
          <a:xfrm>
            <a:off x="571500" y="2135981"/>
            <a:ext cx="28575" cy="669727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0"/>
          <p:cNvSpPr/>
          <p:nvPr/>
        </p:nvSpPr>
        <p:spPr>
          <a:xfrm>
            <a:off x="714375" y="2292251"/>
            <a:ext cx="357188" cy="357188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1" name="Google Shape;144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531" y="239940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30"/>
          <p:cNvSpPr/>
          <p:nvPr/>
        </p:nvSpPr>
        <p:spPr>
          <a:xfrm>
            <a:off x="1178719" y="2278856"/>
            <a:ext cx="221598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0.04%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30"/>
          <p:cNvSpPr/>
          <p:nvPr/>
        </p:nvSpPr>
        <p:spPr>
          <a:xfrm>
            <a:off x="1178719" y="2527102"/>
            <a:ext cx="221598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Failure Rate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30"/>
          <p:cNvSpPr/>
          <p:nvPr/>
        </p:nvSpPr>
        <p:spPr>
          <a:xfrm>
            <a:off x="571500" y="2948583"/>
            <a:ext cx="2966079" cy="66972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0"/>
          <p:cNvSpPr/>
          <p:nvPr/>
        </p:nvSpPr>
        <p:spPr>
          <a:xfrm>
            <a:off x="571500" y="2948583"/>
            <a:ext cx="28575" cy="669727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0"/>
          <p:cNvSpPr/>
          <p:nvPr/>
        </p:nvSpPr>
        <p:spPr>
          <a:xfrm>
            <a:off x="714375" y="3104852"/>
            <a:ext cx="357188" cy="357188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7" name="Google Shape;144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461" y="3212009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30"/>
          <p:cNvSpPr/>
          <p:nvPr/>
        </p:nvSpPr>
        <p:spPr>
          <a:xfrm>
            <a:off x="1178719" y="3091458"/>
            <a:ext cx="221598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1 min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0"/>
          <p:cNvSpPr/>
          <p:nvPr/>
        </p:nvSpPr>
        <p:spPr>
          <a:xfrm>
            <a:off x="1178719" y="3339703"/>
            <a:ext cx="221598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Issuance Latency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30"/>
          <p:cNvSpPr/>
          <p:nvPr/>
        </p:nvSpPr>
        <p:spPr>
          <a:xfrm>
            <a:off x="571500" y="3761184"/>
            <a:ext cx="2966079" cy="66972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30"/>
          <p:cNvSpPr/>
          <p:nvPr/>
        </p:nvSpPr>
        <p:spPr>
          <a:xfrm>
            <a:off x="571500" y="3761184"/>
            <a:ext cx="28575" cy="669727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0"/>
          <p:cNvSpPr/>
          <p:nvPr/>
        </p:nvSpPr>
        <p:spPr>
          <a:xfrm>
            <a:off x="714375" y="3917454"/>
            <a:ext cx="357188" cy="357188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3" name="Google Shape;145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531" y="402461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30"/>
          <p:cNvSpPr/>
          <p:nvPr/>
        </p:nvSpPr>
        <p:spPr>
          <a:xfrm>
            <a:off x="1178719" y="3904059"/>
            <a:ext cx="221598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0"/>
          <p:cNvSpPr/>
          <p:nvPr/>
        </p:nvSpPr>
        <p:spPr>
          <a:xfrm>
            <a:off x="1178719" y="4152305"/>
            <a:ext cx="221598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mTLS Enforcement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30"/>
          <p:cNvSpPr/>
          <p:nvPr/>
        </p:nvSpPr>
        <p:spPr>
          <a:xfrm>
            <a:off x="3823329" y="1323380"/>
            <a:ext cx="4749171" cy="3677245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30"/>
          <p:cNvSpPr/>
          <p:nvPr/>
        </p:nvSpPr>
        <p:spPr>
          <a:xfrm>
            <a:off x="3971925" y="1466255"/>
            <a:ext cx="127273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PKI Operations Center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0"/>
          <p:cNvSpPr/>
          <p:nvPr/>
        </p:nvSpPr>
        <p:spPr>
          <a:xfrm>
            <a:off x="7562413" y="1485900"/>
            <a:ext cx="86721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Systems Operational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0"/>
          <p:cNvSpPr/>
          <p:nvPr/>
        </p:nvSpPr>
        <p:spPr>
          <a:xfrm>
            <a:off x="3971925" y="1807369"/>
            <a:ext cx="4457700" cy="208597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30"/>
          <p:cNvSpPr/>
          <p:nvPr/>
        </p:nvSpPr>
        <p:spPr>
          <a:xfrm>
            <a:off x="3971925" y="4000500"/>
            <a:ext cx="4457700" cy="8572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30"/>
          <p:cNvSpPr/>
          <p:nvPr/>
        </p:nvSpPr>
        <p:spPr>
          <a:xfrm>
            <a:off x="4043363" y="4071938"/>
            <a:ext cx="431482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10:42:01</a:t>
            </a:r>
            <a:r>
              <a:rPr b="0" i="0" lang="en-US" sz="568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Cert issued: device-abc-123 (90 days)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0"/>
          <p:cNvSpPr/>
          <p:nvPr/>
        </p:nvSpPr>
        <p:spPr>
          <a:xfrm>
            <a:off x="4043363" y="4207669"/>
            <a:ext cx="431482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10:42:05</a:t>
            </a:r>
            <a:r>
              <a:rPr b="0" i="0" lang="en-US" sz="568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Cert renewed: svc-payment-v1 (24 hours)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0"/>
          <p:cNvSpPr/>
          <p:nvPr/>
        </p:nvSpPr>
        <p:spPr>
          <a:xfrm>
            <a:off x="4043363" y="4343400"/>
            <a:ext cx="431482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10:42:12</a:t>
            </a:r>
            <a:r>
              <a:rPr b="0" i="0" lang="en-US" sz="568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WARN</a:t>
            </a: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Authz denied: user-bob -&gt; svc-admin (403)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30"/>
          <p:cNvSpPr/>
          <p:nvPr/>
        </p:nvSpPr>
        <p:spPr>
          <a:xfrm>
            <a:off x="4043363" y="4479131"/>
            <a:ext cx="431482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10:42:15</a:t>
            </a:r>
            <a:r>
              <a:rPr b="0" i="0" lang="en-US" sz="568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CRL updated: 15 entries revoked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0"/>
          <p:cNvSpPr/>
          <p:nvPr/>
        </p:nvSpPr>
        <p:spPr>
          <a:xfrm>
            <a:off x="4043363" y="4614863"/>
            <a:ext cx="431482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10:42:18</a:t>
            </a:r>
            <a:r>
              <a:rPr b="0" i="0" lang="en-US" sz="568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CA Health Check: Healthy (2ms)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1" name="Google Shape;14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3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1"/>
          <p:cNvSpPr/>
          <p:nvPr/>
        </p:nvSpPr>
        <p:spPr>
          <a:xfrm>
            <a:off x="571500" y="428625"/>
            <a:ext cx="308883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 Response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1"/>
          <p:cNvSpPr/>
          <p:nvPr/>
        </p:nvSpPr>
        <p:spPr>
          <a:xfrm>
            <a:off x="571500" y="2115443"/>
            <a:ext cx="2971800" cy="6447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1"/>
          <p:cNvSpPr/>
          <p:nvPr/>
        </p:nvSpPr>
        <p:spPr>
          <a:xfrm>
            <a:off x="571500" y="2115443"/>
            <a:ext cx="28575" cy="64472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31"/>
          <p:cNvSpPr/>
          <p:nvPr/>
        </p:nvSpPr>
        <p:spPr>
          <a:xfrm>
            <a:off x="678656" y="2294930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8" name="Google Shape;147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8" y="237351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31"/>
          <p:cNvSpPr/>
          <p:nvPr/>
        </p:nvSpPr>
        <p:spPr>
          <a:xfrm>
            <a:off x="1071563" y="2222599"/>
            <a:ext cx="236458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1"/>
          <p:cNvSpPr/>
          <p:nvPr/>
        </p:nvSpPr>
        <p:spPr>
          <a:xfrm>
            <a:off x="1071563" y="2399407"/>
            <a:ext cx="236458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Real-time alerts for compromise indicators (e.g., key misuse).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1"/>
          <p:cNvSpPr/>
          <p:nvPr/>
        </p:nvSpPr>
        <p:spPr>
          <a:xfrm>
            <a:off x="571500" y="2867323"/>
            <a:ext cx="2971800" cy="64472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31"/>
          <p:cNvSpPr/>
          <p:nvPr/>
        </p:nvSpPr>
        <p:spPr>
          <a:xfrm>
            <a:off x="571500" y="2867323"/>
            <a:ext cx="28575" cy="644723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31"/>
          <p:cNvSpPr/>
          <p:nvPr/>
        </p:nvSpPr>
        <p:spPr>
          <a:xfrm>
            <a:off x="678656" y="3046809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4" name="Google Shape;148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7238" y="312539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31"/>
          <p:cNvSpPr/>
          <p:nvPr/>
        </p:nvSpPr>
        <p:spPr>
          <a:xfrm>
            <a:off x="1071563" y="2974479"/>
            <a:ext cx="236458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1"/>
          <p:cNvSpPr/>
          <p:nvPr/>
        </p:nvSpPr>
        <p:spPr>
          <a:xfrm>
            <a:off x="1071563" y="3151287"/>
            <a:ext cx="2364581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Immediate revocation and identity lockout via OCSP/CRL.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1"/>
          <p:cNvSpPr/>
          <p:nvPr/>
        </p:nvSpPr>
        <p:spPr>
          <a:xfrm>
            <a:off x="571500" y="3619202"/>
            <a:ext cx="2971800" cy="51792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31"/>
          <p:cNvSpPr/>
          <p:nvPr/>
        </p:nvSpPr>
        <p:spPr>
          <a:xfrm>
            <a:off x="571500" y="3619202"/>
            <a:ext cx="28575" cy="51792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1"/>
          <p:cNvSpPr/>
          <p:nvPr/>
        </p:nvSpPr>
        <p:spPr>
          <a:xfrm>
            <a:off x="678656" y="3735288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0" name="Google Shape;149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238" y="381387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31"/>
          <p:cNvSpPr/>
          <p:nvPr/>
        </p:nvSpPr>
        <p:spPr>
          <a:xfrm>
            <a:off x="1071563" y="3726359"/>
            <a:ext cx="236458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Remediation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1"/>
          <p:cNvSpPr/>
          <p:nvPr/>
        </p:nvSpPr>
        <p:spPr>
          <a:xfrm>
            <a:off x="1071563" y="3903166"/>
            <a:ext cx="236458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re-keying and certificate re-issuance.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31"/>
          <p:cNvSpPr/>
          <p:nvPr/>
        </p:nvSpPr>
        <p:spPr>
          <a:xfrm>
            <a:off x="3829050" y="1251942"/>
            <a:ext cx="4743450" cy="3748683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31"/>
          <p:cNvSpPr/>
          <p:nvPr/>
        </p:nvSpPr>
        <p:spPr>
          <a:xfrm>
            <a:off x="3971925" y="1394817"/>
            <a:ext cx="44577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Compromise Response Timeline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1"/>
          <p:cNvSpPr/>
          <p:nvPr/>
        </p:nvSpPr>
        <p:spPr>
          <a:xfrm>
            <a:off x="4200525" y="1732359"/>
            <a:ext cx="42291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1"/>
          <p:cNvSpPr/>
          <p:nvPr/>
        </p:nvSpPr>
        <p:spPr>
          <a:xfrm>
            <a:off x="4200525" y="1869877"/>
            <a:ext cx="4229100" cy="24110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1"/>
          <p:cNvSpPr/>
          <p:nvPr/>
        </p:nvSpPr>
        <p:spPr>
          <a:xfrm>
            <a:off x="4200525" y="1869877"/>
            <a:ext cx="21431" cy="241102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1"/>
          <p:cNvSpPr/>
          <p:nvPr/>
        </p:nvSpPr>
        <p:spPr>
          <a:xfrm>
            <a:off x="4200525" y="1869877"/>
            <a:ext cx="4229100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Detected: Key usage from unknown IP.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31"/>
          <p:cNvSpPr/>
          <p:nvPr/>
        </p:nvSpPr>
        <p:spPr>
          <a:xfrm>
            <a:off x="4200525" y="2326184"/>
            <a:ext cx="42291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1"/>
          <p:cNvSpPr/>
          <p:nvPr/>
        </p:nvSpPr>
        <p:spPr>
          <a:xfrm>
            <a:off x="4200525" y="2463701"/>
            <a:ext cx="4229100" cy="24110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1"/>
          <p:cNvSpPr/>
          <p:nvPr/>
        </p:nvSpPr>
        <p:spPr>
          <a:xfrm>
            <a:off x="4200525" y="2463701"/>
            <a:ext cx="21431" cy="24110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31"/>
          <p:cNvSpPr/>
          <p:nvPr/>
        </p:nvSpPr>
        <p:spPr>
          <a:xfrm>
            <a:off x="4200525" y="2463701"/>
            <a:ext cx="4229100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SOAR Playbook Triggered: "Cert Compromise".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1"/>
          <p:cNvSpPr/>
          <p:nvPr/>
        </p:nvSpPr>
        <p:spPr>
          <a:xfrm>
            <a:off x="4200525" y="2920008"/>
            <a:ext cx="42291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1"/>
          <p:cNvSpPr/>
          <p:nvPr/>
        </p:nvSpPr>
        <p:spPr>
          <a:xfrm>
            <a:off x="4200525" y="3057525"/>
            <a:ext cx="4229100" cy="24110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1"/>
          <p:cNvSpPr/>
          <p:nvPr/>
        </p:nvSpPr>
        <p:spPr>
          <a:xfrm>
            <a:off x="4200525" y="3057525"/>
            <a:ext cx="21431" cy="24110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1"/>
          <p:cNvSpPr/>
          <p:nvPr/>
        </p:nvSpPr>
        <p:spPr>
          <a:xfrm>
            <a:off x="4200525" y="3057525"/>
            <a:ext cx="4229100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Revoked (OCSP Updated).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1"/>
          <p:cNvSpPr/>
          <p:nvPr/>
        </p:nvSpPr>
        <p:spPr>
          <a:xfrm>
            <a:off x="4200525" y="3513832"/>
            <a:ext cx="42291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1"/>
          <p:cNvSpPr/>
          <p:nvPr/>
        </p:nvSpPr>
        <p:spPr>
          <a:xfrm>
            <a:off x="4200525" y="3651349"/>
            <a:ext cx="4229100" cy="24110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1"/>
          <p:cNvSpPr/>
          <p:nvPr/>
        </p:nvSpPr>
        <p:spPr>
          <a:xfrm>
            <a:off x="4200525" y="3651349"/>
            <a:ext cx="4229100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Notification Sent via Slack/PagerDuty.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1"/>
          <p:cNvSpPr/>
          <p:nvPr/>
        </p:nvSpPr>
        <p:spPr>
          <a:xfrm>
            <a:off x="4200525" y="4107656"/>
            <a:ext cx="42291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T+00:10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1"/>
          <p:cNvSpPr/>
          <p:nvPr/>
        </p:nvSpPr>
        <p:spPr>
          <a:xfrm>
            <a:off x="4200525" y="4245173"/>
            <a:ext cx="4229100" cy="24110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1"/>
          <p:cNvSpPr/>
          <p:nvPr/>
        </p:nvSpPr>
        <p:spPr>
          <a:xfrm>
            <a:off x="4200525" y="4245173"/>
            <a:ext cx="21431" cy="24110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1"/>
          <p:cNvSpPr/>
          <p:nvPr/>
        </p:nvSpPr>
        <p:spPr>
          <a:xfrm>
            <a:off x="4200525" y="4245173"/>
            <a:ext cx="4229100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Key Pair Generated &amp; Cert Issued.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1"/>
          <p:cNvSpPr/>
          <p:nvPr/>
        </p:nvSpPr>
        <p:spPr>
          <a:xfrm>
            <a:off x="3971925" y="4593431"/>
            <a:ext cx="4457700" cy="264319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5" name="Google Shape;151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79693" y="4682728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31"/>
          <p:cNvSpPr/>
          <p:nvPr/>
        </p:nvSpPr>
        <p:spPr>
          <a:xfrm>
            <a:off x="5304709" y="4664869"/>
            <a:ext cx="191714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Fully Automated Response (&lt; 15 mins)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22" name="Google Shape;15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3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3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2"/>
          <p:cNvSpPr/>
          <p:nvPr/>
        </p:nvSpPr>
        <p:spPr>
          <a:xfrm>
            <a:off x="571500" y="428625"/>
            <a:ext cx="439069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Trust Maturity Model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2"/>
          <p:cNvSpPr/>
          <p:nvPr/>
        </p:nvSpPr>
        <p:spPr>
          <a:xfrm>
            <a:off x="571500" y="1323380"/>
            <a:ext cx="2914650" cy="589359"/>
          </a:xfrm>
          <a:prstGeom prst="rect">
            <a:avLst/>
          </a:prstGeom>
          <a:solidFill>
            <a:srgbClr val="FFFFFF">
              <a:alpha val="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32"/>
          <p:cNvSpPr/>
          <p:nvPr/>
        </p:nvSpPr>
        <p:spPr>
          <a:xfrm>
            <a:off x="571500" y="1323380"/>
            <a:ext cx="28575" cy="589359"/>
          </a:xfrm>
          <a:prstGeom prst="rect">
            <a:avLst/>
          </a:prstGeom>
          <a:solidFill>
            <a:srgbClr val="FFA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2"/>
          <p:cNvSpPr/>
          <p:nvPr/>
        </p:nvSpPr>
        <p:spPr>
          <a:xfrm>
            <a:off x="714375" y="1475184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9" name="Google Shape;152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920" y="1553766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32"/>
          <p:cNvSpPr/>
          <p:nvPr/>
        </p:nvSpPr>
        <p:spPr>
          <a:xfrm>
            <a:off x="1107281" y="1466255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1: Traditional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2"/>
          <p:cNvSpPr/>
          <p:nvPr/>
        </p:nvSpPr>
        <p:spPr>
          <a:xfrm>
            <a:off x="1107281" y="1643063"/>
            <a:ext cx="22359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Perimeter-based, static credentials, manual PKI.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2"/>
          <p:cNvSpPr/>
          <p:nvPr/>
        </p:nvSpPr>
        <p:spPr>
          <a:xfrm>
            <a:off x="571500" y="2055614"/>
            <a:ext cx="2914650" cy="589359"/>
          </a:xfrm>
          <a:prstGeom prst="rect">
            <a:avLst/>
          </a:prstGeom>
          <a:solidFill>
            <a:srgbClr val="FFFFFF">
              <a:alpha val="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2"/>
          <p:cNvSpPr/>
          <p:nvPr/>
        </p:nvSpPr>
        <p:spPr>
          <a:xfrm>
            <a:off x="571500" y="2055614"/>
            <a:ext cx="28575" cy="589359"/>
          </a:xfrm>
          <a:prstGeom prst="rect">
            <a:avLst/>
          </a:prstGeom>
          <a:solidFill>
            <a:srgbClr val="FFEB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2"/>
          <p:cNvSpPr/>
          <p:nvPr/>
        </p:nvSpPr>
        <p:spPr>
          <a:xfrm>
            <a:off x="714375" y="2207419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5" name="Google Shape;153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28600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32"/>
          <p:cNvSpPr/>
          <p:nvPr/>
        </p:nvSpPr>
        <p:spPr>
          <a:xfrm>
            <a:off x="1107281" y="2198489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2: Advanced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2"/>
          <p:cNvSpPr/>
          <p:nvPr/>
        </p:nvSpPr>
        <p:spPr>
          <a:xfrm>
            <a:off x="1107281" y="2375297"/>
            <a:ext cx="22359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Hybrid identity, some automation, partial mTLS.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2"/>
          <p:cNvSpPr/>
          <p:nvPr/>
        </p:nvSpPr>
        <p:spPr>
          <a:xfrm>
            <a:off x="571500" y="2787848"/>
            <a:ext cx="2914650" cy="716161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2"/>
          <p:cNvSpPr/>
          <p:nvPr/>
        </p:nvSpPr>
        <p:spPr>
          <a:xfrm>
            <a:off x="571500" y="2787848"/>
            <a:ext cx="28575" cy="716161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2"/>
          <p:cNvSpPr/>
          <p:nvPr/>
        </p:nvSpPr>
        <p:spPr>
          <a:xfrm>
            <a:off x="714375" y="3003054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1" name="Google Shape;15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956" y="308163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32"/>
          <p:cNvSpPr/>
          <p:nvPr/>
        </p:nvSpPr>
        <p:spPr>
          <a:xfrm>
            <a:off x="1107281" y="2930723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Level 3: Optimal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2"/>
          <p:cNvSpPr/>
          <p:nvPr/>
        </p:nvSpPr>
        <p:spPr>
          <a:xfrm>
            <a:off x="1107281" y="3107531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Fully automated, continuous verification, 100% mTLS.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32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2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State Capabilities (Level 3)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2"/>
          <p:cNvSpPr/>
          <p:nvPr/>
        </p:nvSpPr>
        <p:spPr>
          <a:xfrm>
            <a:off x="3986213" y="1946672"/>
            <a:ext cx="2132409" cy="36968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7" name="Google Shape;154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3369" y="207525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32"/>
          <p:cNvSpPr/>
          <p:nvPr/>
        </p:nvSpPr>
        <p:spPr>
          <a:xfrm>
            <a:off x="4279106" y="2063651"/>
            <a:ext cx="9965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Lifecycle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2"/>
          <p:cNvSpPr/>
          <p:nvPr/>
        </p:nvSpPr>
        <p:spPr>
          <a:xfrm>
            <a:off x="6225778" y="1946672"/>
            <a:ext cx="2132409" cy="36968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0" name="Google Shape;1550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2934" y="207525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32"/>
          <p:cNvSpPr/>
          <p:nvPr/>
        </p:nvSpPr>
        <p:spPr>
          <a:xfrm>
            <a:off x="6518672" y="2063651"/>
            <a:ext cx="67008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Crypto-Agility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2"/>
          <p:cNvSpPr/>
          <p:nvPr/>
        </p:nvSpPr>
        <p:spPr>
          <a:xfrm>
            <a:off x="3986213" y="2423517"/>
            <a:ext cx="2132409" cy="36968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3" name="Google Shape;1553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3369" y="255210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32"/>
          <p:cNvSpPr/>
          <p:nvPr/>
        </p:nvSpPr>
        <p:spPr>
          <a:xfrm>
            <a:off x="4279106" y="2540496"/>
            <a:ext cx="81921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Dynamic Policies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2"/>
          <p:cNvSpPr/>
          <p:nvPr/>
        </p:nvSpPr>
        <p:spPr>
          <a:xfrm>
            <a:off x="6225778" y="2423517"/>
            <a:ext cx="2132409" cy="36968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6" name="Google Shape;1556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32934" y="255210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32"/>
          <p:cNvSpPr/>
          <p:nvPr/>
        </p:nvSpPr>
        <p:spPr>
          <a:xfrm>
            <a:off x="6518672" y="2540496"/>
            <a:ext cx="9342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Analytics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32"/>
          <p:cNvSpPr/>
          <p:nvPr/>
        </p:nvSpPr>
        <p:spPr>
          <a:xfrm>
            <a:off x="3986213" y="2900363"/>
            <a:ext cx="2132409" cy="36968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9" name="Google Shape;1559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93369" y="302895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32"/>
          <p:cNvSpPr/>
          <p:nvPr/>
        </p:nvSpPr>
        <p:spPr>
          <a:xfrm>
            <a:off x="4279106" y="3017341"/>
            <a:ext cx="99605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Micro-Segmentation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2"/>
          <p:cNvSpPr/>
          <p:nvPr/>
        </p:nvSpPr>
        <p:spPr>
          <a:xfrm>
            <a:off x="6225778" y="2900363"/>
            <a:ext cx="2132409" cy="369689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2" name="Google Shape;1562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32934" y="302895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32"/>
          <p:cNvSpPr/>
          <p:nvPr/>
        </p:nvSpPr>
        <p:spPr>
          <a:xfrm>
            <a:off x="6518672" y="3017341"/>
            <a:ext cx="85292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Self-Healing Infra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32"/>
          <p:cNvSpPr/>
          <p:nvPr/>
        </p:nvSpPr>
        <p:spPr>
          <a:xfrm>
            <a:off x="3986213" y="3555802"/>
            <a:ext cx="4371975" cy="57150"/>
          </a:xfrm>
          <a:prstGeom prst="roundRect">
            <a:avLst>
              <a:gd fmla="val 16667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32"/>
          <p:cNvSpPr/>
          <p:nvPr/>
        </p:nvSpPr>
        <p:spPr>
          <a:xfrm>
            <a:off x="3986213" y="4473773"/>
            <a:ext cx="4371975" cy="312539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6" name="Google Shape;1566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06343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32"/>
          <p:cNvSpPr/>
          <p:nvPr/>
        </p:nvSpPr>
        <p:spPr>
          <a:xfrm>
            <a:off x="5320643" y="4559498"/>
            <a:ext cx="181738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Current Goal: Optimal Maturity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3" name="Google Shape;15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33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33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3"/>
          <p:cNvSpPr/>
          <p:nvPr/>
        </p:nvSpPr>
        <p:spPr>
          <a:xfrm>
            <a:off x="571500" y="428625"/>
            <a:ext cx="356381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Enrollment Workflow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3"/>
          <p:cNvSpPr/>
          <p:nvPr/>
        </p:nvSpPr>
        <p:spPr>
          <a:xfrm>
            <a:off x="571500" y="1323380"/>
            <a:ext cx="2914650" cy="7161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3"/>
          <p:cNvSpPr/>
          <p:nvPr/>
        </p:nvSpPr>
        <p:spPr>
          <a:xfrm>
            <a:off x="571500" y="1323380"/>
            <a:ext cx="28575" cy="716161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33"/>
          <p:cNvSpPr/>
          <p:nvPr/>
        </p:nvSpPr>
        <p:spPr>
          <a:xfrm>
            <a:off x="714375" y="1538585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0" name="Google Shape;15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956" y="161716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33"/>
          <p:cNvSpPr/>
          <p:nvPr/>
        </p:nvSpPr>
        <p:spPr>
          <a:xfrm>
            <a:off x="1107281" y="1466255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Identity Proofing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33"/>
          <p:cNvSpPr/>
          <p:nvPr/>
        </p:nvSpPr>
        <p:spPr>
          <a:xfrm>
            <a:off x="1107281" y="1643063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Validate entity identity via trusted source (AWS, MDM, TPM).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3"/>
          <p:cNvSpPr/>
          <p:nvPr/>
        </p:nvSpPr>
        <p:spPr>
          <a:xfrm>
            <a:off x="571500" y="2182416"/>
            <a:ext cx="2914650" cy="7161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3"/>
          <p:cNvSpPr/>
          <p:nvPr/>
        </p:nvSpPr>
        <p:spPr>
          <a:xfrm>
            <a:off x="571500" y="2182416"/>
            <a:ext cx="28575" cy="716161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3"/>
          <p:cNvSpPr/>
          <p:nvPr/>
        </p:nvSpPr>
        <p:spPr>
          <a:xfrm>
            <a:off x="714375" y="2397621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6" name="Google Shape;158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47620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33"/>
          <p:cNvSpPr/>
          <p:nvPr/>
        </p:nvSpPr>
        <p:spPr>
          <a:xfrm>
            <a:off x="1107281" y="2325291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Key Generation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3"/>
          <p:cNvSpPr/>
          <p:nvPr/>
        </p:nvSpPr>
        <p:spPr>
          <a:xfrm>
            <a:off x="1107281" y="2502098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Generate key pair locally on device/HSM (private key never leaves).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3"/>
          <p:cNvSpPr/>
          <p:nvPr/>
        </p:nvSpPr>
        <p:spPr>
          <a:xfrm>
            <a:off x="571500" y="3041452"/>
            <a:ext cx="2914650" cy="7161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3"/>
          <p:cNvSpPr/>
          <p:nvPr/>
        </p:nvSpPr>
        <p:spPr>
          <a:xfrm>
            <a:off x="571500" y="3041452"/>
            <a:ext cx="28575" cy="716161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3"/>
          <p:cNvSpPr/>
          <p:nvPr/>
        </p:nvSpPr>
        <p:spPr>
          <a:xfrm>
            <a:off x="714375" y="3256657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2" name="Google Shape;159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920" y="3335238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33"/>
          <p:cNvSpPr/>
          <p:nvPr/>
        </p:nvSpPr>
        <p:spPr>
          <a:xfrm>
            <a:off x="1107281" y="3184327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CSR Submission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3"/>
          <p:cNvSpPr/>
          <p:nvPr/>
        </p:nvSpPr>
        <p:spPr>
          <a:xfrm>
            <a:off x="1107281" y="3361134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Send Certificate Signing Request to CA via secure channel.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33"/>
          <p:cNvSpPr/>
          <p:nvPr/>
        </p:nvSpPr>
        <p:spPr>
          <a:xfrm>
            <a:off x="571500" y="3900488"/>
            <a:ext cx="2914650" cy="58935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3"/>
          <p:cNvSpPr/>
          <p:nvPr/>
        </p:nvSpPr>
        <p:spPr>
          <a:xfrm>
            <a:off x="571500" y="3900488"/>
            <a:ext cx="28575" cy="589359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3"/>
          <p:cNvSpPr/>
          <p:nvPr/>
        </p:nvSpPr>
        <p:spPr>
          <a:xfrm>
            <a:off x="714375" y="4052292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8" name="Google Shape;1598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956" y="413087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33"/>
          <p:cNvSpPr/>
          <p:nvPr/>
        </p:nvSpPr>
        <p:spPr>
          <a:xfrm>
            <a:off x="1107281" y="4043363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Issuance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3"/>
          <p:cNvSpPr/>
          <p:nvPr/>
        </p:nvSpPr>
        <p:spPr>
          <a:xfrm>
            <a:off x="1107281" y="4220170"/>
            <a:ext cx="22359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 validates request and issues signed certificate.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3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3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Zero-Touch Provisioning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3" name="Google Shape;1603;p33"/>
          <p:cNvSpPr/>
          <p:nvPr/>
        </p:nvSpPr>
        <p:spPr>
          <a:xfrm>
            <a:off x="3986213" y="2018109"/>
            <a:ext cx="4371975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3"/>
          <p:cNvSpPr/>
          <p:nvPr/>
        </p:nvSpPr>
        <p:spPr>
          <a:xfrm>
            <a:off x="4093369" y="2129730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5" name="Google Shape;160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71950" y="220831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33"/>
          <p:cNvSpPr/>
          <p:nvPr/>
        </p:nvSpPr>
        <p:spPr>
          <a:xfrm>
            <a:off x="4486275" y="2125266"/>
            <a:ext cx="376475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 / Startup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3"/>
          <p:cNvSpPr/>
          <p:nvPr/>
        </p:nvSpPr>
        <p:spPr>
          <a:xfrm>
            <a:off x="4486275" y="2293144"/>
            <a:ext cx="376475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Device/Workload boots up and initializes Supervisor.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8" name="Google Shape;1608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34695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33"/>
          <p:cNvSpPr/>
          <p:nvPr/>
        </p:nvSpPr>
        <p:spPr>
          <a:xfrm>
            <a:off x="3986213" y="2877145"/>
            <a:ext cx="4371975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33"/>
          <p:cNvSpPr/>
          <p:nvPr/>
        </p:nvSpPr>
        <p:spPr>
          <a:xfrm>
            <a:off x="4093369" y="2988766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1" name="Google Shape;1611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55877" y="3067348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2" name="Google Shape;1612;p33"/>
          <p:cNvSpPr/>
          <p:nvPr/>
        </p:nvSpPr>
        <p:spPr>
          <a:xfrm>
            <a:off x="4486275" y="2984302"/>
            <a:ext cx="376475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Attestation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33"/>
          <p:cNvSpPr/>
          <p:nvPr/>
        </p:nvSpPr>
        <p:spPr>
          <a:xfrm>
            <a:off x="4486275" y="3152180"/>
            <a:ext cx="376475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presents Instance Identity Document to CA.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4" name="Google Shape;1614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34695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33"/>
          <p:cNvSpPr/>
          <p:nvPr/>
        </p:nvSpPr>
        <p:spPr>
          <a:xfrm>
            <a:off x="3986213" y="3736181"/>
            <a:ext cx="4371975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33"/>
          <p:cNvSpPr/>
          <p:nvPr/>
        </p:nvSpPr>
        <p:spPr>
          <a:xfrm>
            <a:off x="4093369" y="3847802"/>
            <a:ext cx="285750" cy="28575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7" name="Google Shape;1617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171950" y="392638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33"/>
          <p:cNvSpPr/>
          <p:nvPr/>
        </p:nvSpPr>
        <p:spPr>
          <a:xfrm>
            <a:off x="4486275" y="3843338"/>
            <a:ext cx="376475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Install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33"/>
          <p:cNvSpPr/>
          <p:nvPr/>
        </p:nvSpPr>
        <p:spPr>
          <a:xfrm>
            <a:off x="4486275" y="4011216"/>
            <a:ext cx="376475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Signed cert downloaded and stored in secure keystore.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3"/>
          <p:cNvSpPr/>
          <p:nvPr/>
        </p:nvSpPr>
        <p:spPr>
          <a:xfrm>
            <a:off x="3986213" y="4473773"/>
            <a:ext cx="4371975" cy="312539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1" name="Google Shape;1621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75275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33"/>
          <p:cNvSpPr/>
          <p:nvPr/>
        </p:nvSpPr>
        <p:spPr>
          <a:xfrm>
            <a:off x="4989575" y="4559498"/>
            <a:ext cx="247952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100% Automated (No Human Intervention)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8" name="Google Shape;162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3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3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4"/>
          <p:cNvSpPr/>
          <p:nvPr/>
        </p:nvSpPr>
        <p:spPr>
          <a:xfrm>
            <a:off x="571500" y="428625"/>
            <a:ext cx="331190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Renewal &amp; Rotation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4"/>
          <p:cNvSpPr/>
          <p:nvPr/>
        </p:nvSpPr>
        <p:spPr>
          <a:xfrm>
            <a:off x="571500" y="1323380"/>
            <a:ext cx="2914650" cy="85189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4"/>
          <p:cNvSpPr/>
          <p:nvPr/>
        </p:nvSpPr>
        <p:spPr>
          <a:xfrm>
            <a:off x="571500" y="1323380"/>
            <a:ext cx="28575" cy="85189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4" name="Google Shape;16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49215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34"/>
          <p:cNvSpPr/>
          <p:nvPr/>
        </p:nvSpPr>
        <p:spPr>
          <a:xfrm>
            <a:off x="928688" y="1466255"/>
            <a:ext cx="131475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Proactive Renewal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4"/>
          <p:cNvSpPr/>
          <p:nvPr/>
        </p:nvSpPr>
        <p:spPr>
          <a:xfrm>
            <a:off x="714375" y="1732359"/>
            <a:ext cx="26289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Certificates are renewed well before expiration (at 66% of lifetime) to prevent outages due to transient failures.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4"/>
          <p:cNvSpPr/>
          <p:nvPr/>
        </p:nvSpPr>
        <p:spPr>
          <a:xfrm>
            <a:off x="571500" y="2318147"/>
            <a:ext cx="2914650" cy="100191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4"/>
          <p:cNvSpPr/>
          <p:nvPr/>
        </p:nvSpPr>
        <p:spPr>
          <a:xfrm>
            <a:off x="571500" y="2318147"/>
            <a:ext cx="28575" cy="1001911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9" name="Google Shape;163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48691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34"/>
          <p:cNvSpPr/>
          <p:nvPr/>
        </p:nvSpPr>
        <p:spPr>
          <a:xfrm>
            <a:off x="928688" y="2461022"/>
            <a:ext cx="91384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Key Rotation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34"/>
          <p:cNvSpPr/>
          <p:nvPr/>
        </p:nvSpPr>
        <p:spPr>
          <a:xfrm>
            <a:off x="714375" y="2727127"/>
            <a:ext cx="2628900" cy="450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 new key pair is generated for every renewal. Old keys are discarded immediately after new certificate is installed.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4"/>
          <p:cNvSpPr/>
          <p:nvPr/>
        </p:nvSpPr>
        <p:spPr>
          <a:xfrm>
            <a:off x="571500" y="3462933"/>
            <a:ext cx="2914650" cy="85189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4"/>
          <p:cNvSpPr/>
          <p:nvPr/>
        </p:nvSpPr>
        <p:spPr>
          <a:xfrm>
            <a:off x="571500" y="3462933"/>
            <a:ext cx="28575" cy="85189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4" name="Google Shape;164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363170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34"/>
          <p:cNvSpPr/>
          <p:nvPr/>
        </p:nvSpPr>
        <p:spPr>
          <a:xfrm>
            <a:off x="928688" y="3605808"/>
            <a:ext cx="106330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Overlap Period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4"/>
          <p:cNvSpPr/>
          <p:nvPr/>
        </p:nvSpPr>
        <p:spPr>
          <a:xfrm>
            <a:off x="714375" y="3871913"/>
            <a:ext cx="26289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Old certificate remains valid for a short period after new one is issued to ensure zero-downtime transition.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34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34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90-Day Certificate Lifecycle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4"/>
          <p:cNvSpPr/>
          <p:nvPr/>
        </p:nvSpPr>
        <p:spPr>
          <a:xfrm>
            <a:off x="3986213" y="2018109"/>
            <a:ext cx="4371975" cy="428625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4"/>
          <p:cNvSpPr/>
          <p:nvPr/>
        </p:nvSpPr>
        <p:spPr>
          <a:xfrm>
            <a:off x="3940225" y="1803797"/>
            <a:ext cx="37772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34"/>
          <p:cNvSpPr/>
          <p:nvPr/>
        </p:nvSpPr>
        <p:spPr>
          <a:xfrm>
            <a:off x="3940225" y="2598539"/>
            <a:ext cx="37772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Issuance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34"/>
          <p:cNvSpPr/>
          <p:nvPr/>
        </p:nvSpPr>
        <p:spPr>
          <a:xfrm>
            <a:off x="6573115" y="1803797"/>
            <a:ext cx="59717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60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4"/>
          <p:cNvSpPr/>
          <p:nvPr/>
        </p:nvSpPr>
        <p:spPr>
          <a:xfrm>
            <a:off x="6573115" y="2598539"/>
            <a:ext cx="59717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Auto-Renewal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4"/>
          <p:cNvSpPr/>
          <p:nvPr/>
        </p:nvSpPr>
        <p:spPr>
          <a:xfrm>
            <a:off x="7555757" y="1803797"/>
            <a:ext cx="43970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90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4"/>
          <p:cNvSpPr/>
          <p:nvPr/>
        </p:nvSpPr>
        <p:spPr>
          <a:xfrm>
            <a:off x="7555757" y="2598539"/>
            <a:ext cx="43970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Expiration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4"/>
          <p:cNvSpPr/>
          <p:nvPr/>
        </p:nvSpPr>
        <p:spPr>
          <a:xfrm>
            <a:off x="3986213" y="2875359"/>
            <a:ext cx="4371975" cy="510778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7" name="Google Shape;1657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93369" y="303877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34"/>
          <p:cNvSpPr/>
          <p:nvPr/>
        </p:nvSpPr>
        <p:spPr>
          <a:xfrm>
            <a:off x="4414838" y="2982516"/>
            <a:ext cx="38361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Trigger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4"/>
          <p:cNvSpPr/>
          <p:nvPr/>
        </p:nvSpPr>
        <p:spPr>
          <a:xfrm>
            <a:off x="4414838" y="3137892"/>
            <a:ext cx="38361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initiates renewal automatically. No human action required.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5" name="Google Shape;16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3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5"/>
          <p:cNvSpPr/>
          <p:nvPr/>
        </p:nvSpPr>
        <p:spPr>
          <a:xfrm>
            <a:off x="571500" y="428625"/>
            <a:ext cx="356654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Revocation Workflow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5"/>
          <p:cNvSpPr/>
          <p:nvPr/>
        </p:nvSpPr>
        <p:spPr>
          <a:xfrm>
            <a:off x="571500" y="1323380"/>
            <a:ext cx="2914650" cy="7161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5"/>
          <p:cNvSpPr/>
          <p:nvPr/>
        </p:nvSpPr>
        <p:spPr>
          <a:xfrm>
            <a:off x="571500" y="1323380"/>
            <a:ext cx="28575" cy="716161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35"/>
          <p:cNvSpPr/>
          <p:nvPr/>
        </p:nvSpPr>
        <p:spPr>
          <a:xfrm>
            <a:off x="714375" y="1538585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2" name="Google Shape;167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920" y="1617166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35"/>
          <p:cNvSpPr/>
          <p:nvPr/>
        </p:nvSpPr>
        <p:spPr>
          <a:xfrm>
            <a:off x="1107281" y="1466255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CRL (Certificate Revocation List)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35"/>
          <p:cNvSpPr/>
          <p:nvPr/>
        </p:nvSpPr>
        <p:spPr>
          <a:xfrm>
            <a:off x="1107281" y="1643063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Periodic list of revoked serial numbers. High latency, high bandwidth.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35"/>
          <p:cNvSpPr/>
          <p:nvPr/>
        </p:nvSpPr>
        <p:spPr>
          <a:xfrm>
            <a:off x="571500" y="2182416"/>
            <a:ext cx="2914650" cy="87153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5"/>
          <p:cNvSpPr/>
          <p:nvPr/>
        </p:nvSpPr>
        <p:spPr>
          <a:xfrm>
            <a:off x="571500" y="2182416"/>
            <a:ext cx="28575" cy="87153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5"/>
          <p:cNvSpPr/>
          <p:nvPr/>
        </p:nvSpPr>
        <p:spPr>
          <a:xfrm>
            <a:off x="714375" y="2475309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8" name="Google Shape;167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55389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35"/>
          <p:cNvSpPr/>
          <p:nvPr/>
        </p:nvSpPr>
        <p:spPr>
          <a:xfrm>
            <a:off x="1107281" y="2325291"/>
            <a:ext cx="2235994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OCSP (Online Certificate Status Protocol)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35"/>
          <p:cNvSpPr/>
          <p:nvPr/>
        </p:nvSpPr>
        <p:spPr>
          <a:xfrm>
            <a:off x="1107281" y="2657475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Real-time status check per certificate. Low latency, privacy concerns.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35"/>
          <p:cNvSpPr/>
          <p:nvPr/>
        </p:nvSpPr>
        <p:spPr>
          <a:xfrm>
            <a:off x="571500" y="3196828"/>
            <a:ext cx="2914650" cy="7161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5"/>
          <p:cNvSpPr/>
          <p:nvPr/>
        </p:nvSpPr>
        <p:spPr>
          <a:xfrm>
            <a:off x="571500" y="3196828"/>
            <a:ext cx="28575" cy="716161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5"/>
          <p:cNvSpPr/>
          <p:nvPr/>
        </p:nvSpPr>
        <p:spPr>
          <a:xfrm>
            <a:off x="714375" y="3412034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4" name="Google Shape;168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030" y="3490615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35"/>
          <p:cNvSpPr/>
          <p:nvPr/>
        </p:nvSpPr>
        <p:spPr>
          <a:xfrm>
            <a:off x="1107281" y="3339703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OCSP Stapling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35"/>
          <p:cNvSpPr/>
          <p:nvPr/>
        </p:nvSpPr>
        <p:spPr>
          <a:xfrm>
            <a:off x="1107281" y="3516511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Server caches OCSP response and sends with cert. Best performance.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35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5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 Revocation Process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35"/>
          <p:cNvSpPr/>
          <p:nvPr/>
        </p:nvSpPr>
        <p:spPr>
          <a:xfrm>
            <a:off x="3986213" y="2018109"/>
            <a:ext cx="4371975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35"/>
          <p:cNvSpPr/>
          <p:nvPr/>
        </p:nvSpPr>
        <p:spPr>
          <a:xfrm>
            <a:off x="4093369" y="2129730"/>
            <a:ext cx="285750" cy="28575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1" name="Google Shape;1691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55877" y="2208312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35"/>
          <p:cNvSpPr/>
          <p:nvPr/>
        </p:nvSpPr>
        <p:spPr>
          <a:xfrm>
            <a:off x="4486275" y="2125266"/>
            <a:ext cx="376475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Request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35"/>
          <p:cNvSpPr/>
          <p:nvPr/>
        </p:nvSpPr>
        <p:spPr>
          <a:xfrm>
            <a:off x="4486275" y="2293144"/>
            <a:ext cx="376475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Authorized admin triggers revocation via API/Console.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4" name="Google Shape;1694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4695" y="2652117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35"/>
          <p:cNvSpPr/>
          <p:nvPr/>
        </p:nvSpPr>
        <p:spPr>
          <a:xfrm>
            <a:off x="3986213" y="2877145"/>
            <a:ext cx="4371975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5"/>
          <p:cNvSpPr/>
          <p:nvPr/>
        </p:nvSpPr>
        <p:spPr>
          <a:xfrm>
            <a:off x="4093369" y="2988766"/>
            <a:ext cx="285750" cy="28575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7" name="Google Shape;1697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179987" y="3067348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35"/>
          <p:cNvSpPr/>
          <p:nvPr/>
        </p:nvSpPr>
        <p:spPr>
          <a:xfrm>
            <a:off x="4486275" y="2984302"/>
            <a:ext cx="376475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 Update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35"/>
          <p:cNvSpPr/>
          <p:nvPr/>
        </p:nvSpPr>
        <p:spPr>
          <a:xfrm>
            <a:off x="4486275" y="3152180"/>
            <a:ext cx="376475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 marks cert as revoked (Reason: KeyCompromise).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0" name="Google Shape;1700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34695" y="3511153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35"/>
          <p:cNvSpPr/>
          <p:nvPr/>
        </p:nvSpPr>
        <p:spPr>
          <a:xfrm>
            <a:off x="3986213" y="3736181"/>
            <a:ext cx="4371975" cy="5232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35"/>
          <p:cNvSpPr/>
          <p:nvPr/>
        </p:nvSpPr>
        <p:spPr>
          <a:xfrm>
            <a:off x="4093369" y="3847802"/>
            <a:ext cx="285750" cy="28575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3" name="Google Shape;1703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63913" y="3926384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35"/>
          <p:cNvSpPr/>
          <p:nvPr/>
        </p:nvSpPr>
        <p:spPr>
          <a:xfrm>
            <a:off x="4486275" y="3843338"/>
            <a:ext cx="376475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35"/>
          <p:cNvSpPr/>
          <p:nvPr/>
        </p:nvSpPr>
        <p:spPr>
          <a:xfrm>
            <a:off x="4486275" y="4011216"/>
            <a:ext cx="376475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OCSP responders updated and new CRL published.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5"/>
          <p:cNvSpPr/>
          <p:nvPr/>
        </p:nvSpPr>
        <p:spPr>
          <a:xfrm>
            <a:off x="3986213" y="4473773"/>
            <a:ext cx="4371975" cy="312539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7" name="Google Shape;1707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79820" y="4580930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35"/>
          <p:cNvSpPr/>
          <p:nvPr/>
        </p:nvSpPr>
        <p:spPr>
          <a:xfrm>
            <a:off x="5179833" y="4559498"/>
            <a:ext cx="208471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Global Propagation SLA: &lt; 5 Minutes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14" name="Google Shape;171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3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3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6"/>
          <p:cNvSpPr/>
          <p:nvPr/>
        </p:nvSpPr>
        <p:spPr>
          <a:xfrm>
            <a:off x="571500" y="428625"/>
            <a:ext cx="610818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&amp; Regulatory Alignment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36"/>
          <p:cNvSpPr/>
          <p:nvPr/>
        </p:nvSpPr>
        <p:spPr>
          <a:xfrm>
            <a:off x="571500" y="1323380"/>
            <a:ext cx="2914650" cy="113903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6"/>
          <p:cNvSpPr/>
          <p:nvPr/>
        </p:nvSpPr>
        <p:spPr>
          <a:xfrm>
            <a:off x="571500" y="1323380"/>
            <a:ext cx="28575" cy="1139037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0" name="Google Shape;172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36"/>
          <p:cNvSpPr/>
          <p:nvPr/>
        </p:nvSpPr>
        <p:spPr>
          <a:xfrm>
            <a:off x="964406" y="1501973"/>
            <a:ext cx="146477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Regulatory Mandate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6"/>
          <p:cNvSpPr/>
          <p:nvPr/>
        </p:nvSpPr>
        <p:spPr>
          <a:xfrm>
            <a:off x="750094" y="1803797"/>
            <a:ext cx="2557463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Regulated industries (Finance, Healthcare, Gov) require strict identity and access controls. Non-compliance leads to fines and loss of license.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36"/>
          <p:cNvSpPr/>
          <p:nvPr/>
        </p:nvSpPr>
        <p:spPr>
          <a:xfrm>
            <a:off x="571500" y="2605292"/>
            <a:ext cx="2914650" cy="97902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36"/>
          <p:cNvSpPr/>
          <p:nvPr/>
        </p:nvSpPr>
        <p:spPr>
          <a:xfrm>
            <a:off x="571500" y="2605292"/>
            <a:ext cx="28575" cy="979029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5" name="Google Shape;172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94" y="2809782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36"/>
          <p:cNvSpPr/>
          <p:nvPr/>
        </p:nvSpPr>
        <p:spPr>
          <a:xfrm>
            <a:off x="1000125" y="2783886"/>
            <a:ext cx="110044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Customer Trust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36"/>
          <p:cNvSpPr/>
          <p:nvPr/>
        </p:nvSpPr>
        <p:spPr>
          <a:xfrm>
            <a:off x="750094" y="3085709"/>
            <a:ext cx="2557463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Demonstrable security controls (SOC 2) are a prerequisite for enterprise sales and customer trust.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6"/>
          <p:cNvSpPr/>
          <p:nvPr/>
        </p:nvSpPr>
        <p:spPr>
          <a:xfrm>
            <a:off x="571500" y="3727196"/>
            <a:ext cx="2914650" cy="1139037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6"/>
          <p:cNvSpPr/>
          <p:nvPr/>
        </p:nvSpPr>
        <p:spPr>
          <a:xfrm>
            <a:off x="571500" y="3727196"/>
            <a:ext cx="28575" cy="1139037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0" name="Google Shape;173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94" y="3931686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36"/>
          <p:cNvSpPr/>
          <p:nvPr/>
        </p:nvSpPr>
        <p:spPr>
          <a:xfrm>
            <a:off x="964406" y="3905790"/>
            <a:ext cx="108314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Risk Mitigation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36"/>
          <p:cNvSpPr/>
          <p:nvPr/>
        </p:nvSpPr>
        <p:spPr>
          <a:xfrm>
            <a:off x="750094" y="4207613"/>
            <a:ext cx="2557463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Framework alignment ensures comprehensive coverage of security risks, reducing likelihood of breach.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36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36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Supported Frameworks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6"/>
          <p:cNvSpPr/>
          <p:nvPr/>
        </p:nvSpPr>
        <p:spPr>
          <a:xfrm>
            <a:off x="3986213" y="1946672"/>
            <a:ext cx="2114550" cy="709017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36"/>
          <p:cNvSpPr/>
          <p:nvPr/>
        </p:nvSpPr>
        <p:spPr>
          <a:xfrm>
            <a:off x="4129088" y="2122587"/>
            <a:ext cx="357188" cy="357188"/>
          </a:xfrm>
          <a:prstGeom prst="rect">
            <a:avLst/>
          </a:prstGeom>
          <a:solidFill>
            <a:srgbClr val="00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7" name="Google Shape;173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1956" y="221545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36"/>
          <p:cNvSpPr/>
          <p:nvPr/>
        </p:nvSpPr>
        <p:spPr>
          <a:xfrm>
            <a:off x="4593431" y="2096691"/>
            <a:ext cx="13644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CSF 2.0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6"/>
          <p:cNvSpPr/>
          <p:nvPr/>
        </p:nvSpPr>
        <p:spPr>
          <a:xfrm>
            <a:off x="4593431" y="2273498"/>
            <a:ext cx="1364456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Identify, Protect, Detect, Respond, Recover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36"/>
          <p:cNvSpPr/>
          <p:nvPr/>
        </p:nvSpPr>
        <p:spPr>
          <a:xfrm>
            <a:off x="6243638" y="1946672"/>
            <a:ext cx="2114550" cy="709017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6"/>
          <p:cNvSpPr/>
          <p:nvPr/>
        </p:nvSpPr>
        <p:spPr>
          <a:xfrm>
            <a:off x="6386513" y="2115443"/>
            <a:ext cx="357188" cy="357188"/>
          </a:xfrm>
          <a:prstGeom prst="rect">
            <a:avLst/>
          </a:prstGeom>
          <a:solidFill>
            <a:srgbClr val="00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2" name="Google Shape;1742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3" y="2208312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36"/>
          <p:cNvSpPr/>
          <p:nvPr/>
        </p:nvSpPr>
        <p:spPr>
          <a:xfrm>
            <a:off x="6850856" y="2089547"/>
            <a:ext cx="13644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 2 Type II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36"/>
          <p:cNvSpPr/>
          <p:nvPr/>
        </p:nvSpPr>
        <p:spPr>
          <a:xfrm>
            <a:off x="6850856" y="2266355"/>
            <a:ext cx="1364456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Security, Availability, Confidentiality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36"/>
          <p:cNvSpPr/>
          <p:nvPr/>
        </p:nvSpPr>
        <p:spPr>
          <a:xfrm>
            <a:off x="3986213" y="2784277"/>
            <a:ext cx="2114550" cy="709017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36"/>
          <p:cNvSpPr/>
          <p:nvPr/>
        </p:nvSpPr>
        <p:spPr>
          <a:xfrm>
            <a:off x="4129088" y="2960191"/>
            <a:ext cx="357188" cy="357188"/>
          </a:xfrm>
          <a:prstGeom prst="rect">
            <a:avLst/>
          </a:prstGeom>
          <a:solidFill>
            <a:srgbClr val="00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7" name="Google Shape;1747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11241" y="3053060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36"/>
          <p:cNvSpPr/>
          <p:nvPr/>
        </p:nvSpPr>
        <p:spPr>
          <a:xfrm>
            <a:off x="4593431" y="2934295"/>
            <a:ext cx="13644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PCI-DSS v4.0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36"/>
          <p:cNvSpPr/>
          <p:nvPr/>
        </p:nvSpPr>
        <p:spPr>
          <a:xfrm>
            <a:off x="4593431" y="3111103"/>
            <a:ext cx="1364456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Payment Card Industry Data Security Standard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36"/>
          <p:cNvSpPr/>
          <p:nvPr/>
        </p:nvSpPr>
        <p:spPr>
          <a:xfrm>
            <a:off x="6243638" y="2784277"/>
            <a:ext cx="2114550" cy="709017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6"/>
          <p:cNvSpPr/>
          <p:nvPr/>
        </p:nvSpPr>
        <p:spPr>
          <a:xfrm>
            <a:off x="6386513" y="2953048"/>
            <a:ext cx="357188" cy="357188"/>
          </a:xfrm>
          <a:prstGeom prst="rect">
            <a:avLst/>
          </a:prstGeom>
          <a:solidFill>
            <a:srgbClr val="00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2" name="Google Shape;1752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57950" y="3045916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" name="Google Shape;1753;p36"/>
          <p:cNvSpPr/>
          <p:nvPr/>
        </p:nvSpPr>
        <p:spPr>
          <a:xfrm>
            <a:off x="6850856" y="2927152"/>
            <a:ext cx="13644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HIPAA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36"/>
          <p:cNvSpPr/>
          <p:nvPr/>
        </p:nvSpPr>
        <p:spPr>
          <a:xfrm>
            <a:off x="6850856" y="3103959"/>
            <a:ext cx="1364456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Health Insurance Portability and Accountability Act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6"/>
          <p:cNvSpPr/>
          <p:nvPr/>
        </p:nvSpPr>
        <p:spPr>
          <a:xfrm>
            <a:off x="3986213" y="4473773"/>
            <a:ext cx="4371975" cy="312539"/>
          </a:xfrm>
          <a:prstGeom prst="rect">
            <a:avLst/>
          </a:prstGeom>
          <a:solidFill>
            <a:srgbClr val="00FFFF">
              <a:alpha val="9803"/>
            </a:srgbClr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6" name="Google Shape;1756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38762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36"/>
          <p:cNvSpPr/>
          <p:nvPr/>
        </p:nvSpPr>
        <p:spPr>
          <a:xfrm>
            <a:off x="4853062" y="4559498"/>
            <a:ext cx="27525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100% Control Coverage via Automated Evidence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3" name="Google Shape;17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p3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7"/>
          <p:cNvSpPr/>
          <p:nvPr/>
        </p:nvSpPr>
        <p:spPr>
          <a:xfrm>
            <a:off x="571500" y="428625"/>
            <a:ext cx="387576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CSF 2.0 Alignment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7"/>
          <p:cNvSpPr/>
          <p:nvPr/>
        </p:nvSpPr>
        <p:spPr>
          <a:xfrm>
            <a:off x="571500" y="1323380"/>
            <a:ext cx="2914650" cy="49113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7"/>
          <p:cNvSpPr/>
          <p:nvPr/>
        </p:nvSpPr>
        <p:spPr>
          <a:xfrm>
            <a:off x="571500" y="1323380"/>
            <a:ext cx="28575" cy="491133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37"/>
          <p:cNvSpPr/>
          <p:nvPr/>
        </p:nvSpPr>
        <p:spPr>
          <a:xfrm>
            <a:off x="678656" y="1440359"/>
            <a:ext cx="257175" cy="257175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0" name="Google Shape;177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806" y="1511796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37"/>
          <p:cNvSpPr/>
          <p:nvPr/>
        </p:nvSpPr>
        <p:spPr>
          <a:xfrm>
            <a:off x="1042988" y="1430536"/>
            <a:ext cx="23360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 (GV)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37"/>
          <p:cNvSpPr/>
          <p:nvPr/>
        </p:nvSpPr>
        <p:spPr>
          <a:xfrm>
            <a:off x="1042988" y="1591270"/>
            <a:ext cx="23360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Policy, Roles, Risk Mgmt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7"/>
          <p:cNvSpPr/>
          <p:nvPr/>
        </p:nvSpPr>
        <p:spPr>
          <a:xfrm>
            <a:off x="571500" y="1921669"/>
            <a:ext cx="2914650" cy="49113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7"/>
          <p:cNvSpPr/>
          <p:nvPr/>
        </p:nvSpPr>
        <p:spPr>
          <a:xfrm>
            <a:off x="571500" y="1921669"/>
            <a:ext cx="28575" cy="49113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37"/>
          <p:cNvSpPr/>
          <p:nvPr/>
        </p:nvSpPr>
        <p:spPr>
          <a:xfrm>
            <a:off x="678656" y="2038648"/>
            <a:ext cx="257175" cy="257175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6" name="Google Shape;177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94" y="211008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7" name="Google Shape;1777;p37"/>
          <p:cNvSpPr/>
          <p:nvPr/>
        </p:nvSpPr>
        <p:spPr>
          <a:xfrm>
            <a:off x="1042988" y="2028825"/>
            <a:ext cx="23360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(ID)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37"/>
          <p:cNvSpPr/>
          <p:nvPr/>
        </p:nvSpPr>
        <p:spPr>
          <a:xfrm>
            <a:off x="1042988" y="2189559"/>
            <a:ext cx="23360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Asset Inventory, Risk Assessment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37"/>
          <p:cNvSpPr/>
          <p:nvPr/>
        </p:nvSpPr>
        <p:spPr>
          <a:xfrm>
            <a:off x="571500" y="2519958"/>
            <a:ext cx="2914650" cy="49113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7"/>
          <p:cNvSpPr/>
          <p:nvPr/>
        </p:nvSpPr>
        <p:spPr>
          <a:xfrm>
            <a:off x="571500" y="2519958"/>
            <a:ext cx="28575" cy="49113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37"/>
          <p:cNvSpPr/>
          <p:nvPr/>
        </p:nvSpPr>
        <p:spPr>
          <a:xfrm>
            <a:off x="678656" y="2636937"/>
            <a:ext cx="257175" cy="257175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2" name="Google Shape;1782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94" y="270837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37"/>
          <p:cNvSpPr/>
          <p:nvPr/>
        </p:nvSpPr>
        <p:spPr>
          <a:xfrm>
            <a:off x="1042988" y="2627114"/>
            <a:ext cx="23360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PROTECT (PR)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37"/>
          <p:cNvSpPr/>
          <p:nvPr/>
        </p:nvSpPr>
        <p:spPr>
          <a:xfrm>
            <a:off x="1042988" y="2787848"/>
            <a:ext cx="23360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Access Control, Data Security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37"/>
          <p:cNvSpPr/>
          <p:nvPr/>
        </p:nvSpPr>
        <p:spPr>
          <a:xfrm>
            <a:off x="571500" y="3118247"/>
            <a:ext cx="2914650" cy="49113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7"/>
          <p:cNvSpPr/>
          <p:nvPr/>
        </p:nvSpPr>
        <p:spPr>
          <a:xfrm>
            <a:off x="571500" y="3118247"/>
            <a:ext cx="28575" cy="49113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7"/>
          <p:cNvSpPr/>
          <p:nvPr/>
        </p:nvSpPr>
        <p:spPr>
          <a:xfrm>
            <a:off x="678656" y="3235226"/>
            <a:ext cx="257175" cy="257175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37"/>
          <p:cNvSpPr/>
          <p:nvPr/>
        </p:nvSpPr>
        <p:spPr>
          <a:xfrm>
            <a:off x="1042988" y="3225403"/>
            <a:ext cx="23360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(DE)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37"/>
          <p:cNvSpPr/>
          <p:nvPr/>
        </p:nvSpPr>
        <p:spPr>
          <a:xfrm>
            <a:off x="1042988" y="3386138"/>
            <a:ext cx="23360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Continuous Monitoring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37"/>
          <p:cNvSpPr/>
          <p:nvPr/>
        </p:nvSpPr>
        <p:spPr>
          <a:xfrm>
            <a:off x="571500" y="3716536"/>
            <a:ext cx="2914650" cy="49113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7"/>
          <p:cNvSpPr/>
          <p:nvPr/>
        </p:nvSpPr>
        <p:spPr>
          <a:xfrm>
            <a:off x="571500" y="3716536"/>
            <a:ext cx="28575" cy="491133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37"/>
          <p:cNvSpPr/>
          <p:nvPr/>
        </p:nvSpPr>
        <p:spPr>
          <a:xfrm>
            <a:off x="678656" y="3833515"/>
            <a:ext cx="257175" cy="257175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3" name="Google Shape;1793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0094" y="3904952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37"/>
          <p:cNvSpPr/>
          <p:nvPr/>
        </p:nvSpPr>
        <p:spPr>
          <a:xfrm>
            <a:off x="1042988" y="3823692"/>
            <a:ext cx="233600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 (RS)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37"/>
          <p:cNvSpPr/>
          <p:nvPr/>
        </p:nvSpPr>
        <p:spPr>
          <a:xfrm>
            <a:off x="1042988" y="3984427"/>
            <a:ext cx="233600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Incident Analysis, Mitigation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7"/>
          <p:cNvSpPr/>
          <p:nvPr/>
        </p:nvSpPr>
        <p:spPr>
          <a:xfrm>
            <a:off x="3771900" y="1323380"/>
            <a:ext cx="480060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37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Capabilities Mapping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37"/>
          <p:cNvSpPr/>
          <p:nvPr/>
        </p:nvSpPr>
        <p:spPr>
          <a:xfrm>
            <a:off x="3986213" y="1946672"/>
            <a:ext cx="445787" cy="19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37"/>
          <p:cNvSpPr/>
          <p:nvPr/>
        </p:nvSpPr>
        <p:spPr>
          <a:xfrm>
            <a:off x="4431999" y="1946672"/>
            <a:ext cx="1056047" cy="19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CAPABILITY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37"/>
          <p:cNvSpPr/>
          <p:nvPr/>
        </p:nvSpPr>
        <p:spPr>
          <a:xfrm>
            <a:off x="5488046" y="1946672"/>
            <a:ext cx="2870141" cy="19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37"/>
          <p:cNvSpPr/>
          <p:nvPr/>
        </p:nvSpPr>
        <p:spPr>
          <a:xfrm>
            <a:off x="3986213" y="2309217"/>
            <a:ext cx="350602" cy="164306"/>
          </a:xfrm>
          <a:prstGeom prst="rect">
            <a:avLst/>
          </a:prstGeom>
          <a:solidFill>
            <a:srgbClr val="FFD7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7"/>
          <p:cNvSpPr/>
          <p:nvPr/>
        </p:nvSpPr>
        <p:spPr>
          <a:xfrm>
            <a:off x="3986213" y="2309217"/>
            <a:ext cx="35060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ID.AM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37"/>
          <p:cNvSpPr/>
          <p:nvPr/>
        </p:nvSpPr>
        <p:spPr>
          <a:xfrm>
            <a:off x="4431999" y="2137767"/>
            <a:ext cx="1056047" cy="49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Asset Management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7"/>
          <p:cNvSpPr/>
          <p:nvPr/>
        </p:nvSpPr>
        <p:spPr>
          <a:xfrm>
            <a:off x="5488046" y="2137767"/>
            <a:ext cx="2870141" cy="49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inventory of 200K endpoints &amp; 1.2M agents via OpAMP.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37"/>
          <p:cNvSpPr/>
          <p:nvPr/>
        </p:nvSpPr>
        <p:spPr>
          <a:xfrm>
            <a:off x="3986213" y="2734270"/>
            <a:ext cx="340640" cy="164306"/>
          </a:xfrm>
          <a:prstGeom prst="rect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37"/>
          <p:cNvSpPr/>
          <p:nvPr/>
        </p:nvSpPr>
        <p:spPr>
          <a:xfrm>
            <a:off x="3986213" y="2734270"/>
            <a:ext cx="34064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PR.AC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37"/>
          <p:cNvSpPr/>
          <p:nvPr/>
        </p:nvSpPr>
        <p:spPr>
          <a:xfrm>
            <a:off x="4431999" y="2630686"/>
            <a:ext cx="1056047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Control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37"/>
          <p:cNvSpPr/>
          <p:nvPr/>
        </p:nvSpPr>
        <p:spPr>
          <a:xfrm>
            <a:off x="5488046" y="2630686"/>
            <a:ext cx="287014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 enforcement, RBAC via All Access, Least Privilege.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37"/>
          <p:cNvSpPr/>
          <p:nvPr/>
        </p:nvSpPr>
        <p:spPr>
          <a:xfrm>
            <a:off x="3986213" y="3091458"/>
            <a:ext cx="339384" cy="164306"/>
          </a:xfrm>
          <a:prstGeom prst="rect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37"/>
          <p:cNvSpPr/>
          <p:nvPr/>
        </p:nvSpPr>
        <p:spPr>
          <a:xfrm>
            <a:off x="3986213" y="3091458"/>
            <a:ext cx="33938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PR.DS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1" name="Google Shape;1811;p37"/>
          <p:cNvSpPr/>
          <p:nvPr/>
        </p:nvSpPr>
        <p:spPr>
          <a:xfrm>
            <a:off x="4431999" y="2987873"/>
            <a:ext cx="1056047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Security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37"/>
          <p:cNvSpPr/>
          <p:nvPr/>
        </p:nvSpPr>
        <p:spPr>
          <a:xfrm>
            <a:off x="5488046" y="2987873"/>
            <a:ext cx="2870141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Data-in-transit encryption (TLS 1.3), Key rotation.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37"/>
          <p:cNvSpPr/>
          <p:nvPr/>
        </p:nvSpPr>
        <p:spPr>
          <a:xfrm>
            <a:off x="3986213" y="3516511"/>
            <a:ext cx="359085" cy="164306"/>
          </a:xfrm>
          <a:prstGeom prst="rect">
            <a:avLst/>
          </a:prstGeom>
          <a:solidFill>
            <a:srgbClr val="00B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37"/>
          <p:cNvSpPr/>
          <p:nvPr/>
        </p:nvSpPr>
        <p:spPr>
          <a:xfrm>
            <a:off x="3986213" y="3516511"/>
            <a:ext cx="35908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DE.CM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5" name="Google Shape;1815;p37"/>
          <p:cNvSpPr/>
          <p:nvPr/>
        </p:nvSpPr>
        <p:spPr>
          <a:xfrm>
            <a:off x="4431999" y="3345061"/>
            <a:ext cx="1056047" cy="49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 Monitoring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7"/>
          <p:cNvSpPr/>
          <p:nvPr/>
        </p:nvSpPr>
        <p:spPr>
          <a:xfrm>
            <a:off x="5488046" y="3345061"/>
            <a:ext cx="2870141" cy="49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0" spcFirstLastPara="1" rIns="0" wrap="square" tIns="1275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health checks, SIEM integration, Audit logs.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37"/>
          <p:cNvSpPr/>
          <p:nvPr/>
        </p:nvSpPr>
        <p:spPr>
          <a:xfrm>
            <a:off x="3986213" y="4473773"/>
            <a:ext cx="4371975" cy="312539"/>
          </a:xfrm>
          <a:prstGeom prst="rect">
            <a:avLst/>
          </a:prstGeom>
          <a:solidFill>
            <a:srgbClr val="8A2BE2">
              <a:alpha val="9803"/>
            </a:srgbClr>
          </a:solidFill>
          <a:ln cap="flat" cmpd="sng" w="9525">
            <a:solidFill>
              <a:srgbClr val="8A2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8" name="Google Shape;181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78912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37"/>
          <p:cNvSpPr/>
          <p:nvPr/>
        </p:nvSpPr>
        <p:spPr>
          <a:xfrm>
            <a:off x="5293212" y="4559498"/>
            <a:ext cx="187224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8A2BE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8A2BE2"/>
                </a:solidFill>
                <a:latin typeface="Calibri"/>
                <a:ea typeface="Calibri"/>
                <a:cs typeface="Calibri"/>
                <a:sym typeface="Calibri"/>
              </a:rPr>
              <a:t>Full Alignment with NIST CSF 2.0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5" name="Google Shape;18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3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38"/>
          <p:cNvSpPr/>
          <p:nvPr/>
        </p:nvSpPr>
        <p:spPr>
          <a:xfrm>
            <a:off x="571500" y="428625"/>
            <a:ext cx="4843742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800-53 Control Mapping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38"/>
          <p:cNvSpPr/>
          <p:nvPr/>
        </p:nvSpPr>
        <p:spPr>
          <a:xfrm>
            <a:off x="571500" y="1323380"/>
            <a:ext cx="2914650" cy="58935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38"/>
          <p:cNvSpPr/>
          <p:nvPr/>
        </p:nvSpPr>
        <p:spPr>
          <a:xfrm>
            <a:off x="571500" y="1323380"/>
            <a:ext cx="28575" cy="589359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38"/>
          <p:cNvSpPr/>
          <p:nvPr/>
        </p:nvSpPr>
        <p:spPr>
          <a:xfrm>
            <a:off x="714375" y="1475184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2" name="Google Shape;183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956" y="155376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38"/>
          <p:cNvSpPr/>
          <p:nvPr/>
        </p:nvSpPr>
        <p:spPr>
          <a:xfrm>
            <a:off x="1107281" y="1466255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Control (AC)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38"/>
          <p:cNvSpPr/>
          <p:nvPr/>
        </p:nvSpPr>
        <p:spPr>
          <a:xfrm>
            <a:off x="1107281" y="1643063"/>
            <a:ext cx="22359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Limiting access to authorized users and devices.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38"/>
          <p:cNvSpPr/>
          <p:nvPr/>
        </p:nvSpPr>
        <p:spPr>
          <a:xfrm>
            <a:off x="571500" y="2055614"/>
            <a:ext cx="2914650" cy="58935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38"/>
          <p:cNvSpPr/>
          <p:nvPr/>
        </p:nvSpPr>
        <p:spPr>
          <a:xfrm>
            <a:off x="571500" y="2055614"/>
            <a:ext cx="28575" cy="589359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38"/>
          <p:cNvSpPr/>
          <p:nvPr/>
        </p:nvSpPr>
        <p:spPr>
          <a:xfrm>
            <a:off x="714375" y="2207419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8" name="Google Shape;183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030" y="2286000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38"/>
          <p:cNvSpPr/>
          <p:nvPr/>
        </p:nvSpPr>
        <p:spPr>
          <a:xfrm>
            <a:off x="1107281" y="2198489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Identification &amp; Auth (IA)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38"/>
          <p:cNvSpPr/>
          <p:nvPr/>
        </p:nvSpPr>
        <p:spPr>
          <a:xfrm>
            <a:off x="1107281" y="2375297"/>
            <a:ext cx="22359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Verifying identity of users, processes, and devices.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38"/>
          <p:cNvSpPr/>
          <p:nvPr/>
        </p:nvSpPr>
        <p:spPr>
          <a:xfrm>
            <a:off x="571500" y="2787848"/>
            <a:ext cx="2914650" cy="7161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38"/>
          <p:cNvSpPr/>
          <p:nvPr/>
        </p:nvSpPr>
        <p:spPr>
          <a:xfrm>
            <a:off x="571500" y="2787848"/>
            <a:ext cx="28575" cy="716161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8"/>
          <p:cNvSpPr/>
          <p:nvPr/>
        </p:nvSpPr>
        <p:spPr>
          <a:xfrm>
            <a:off x="714375" y="3003054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4" name="Google Shape;184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883" y="3081635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38"/>
          <p:cNvSpPr/>
          <p:nvPr/>
        </p:nvSpPr>
        <p:spPr>
          <a:xfrm>
            <a:off x="1107281" y="2930723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&amp; Comm (SC)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38"/>
          <p:cNvSpPr/>
          <p:nvPr/>
        </p:nvSpPr>
        <p:spPr>
          <a:xfrm>
            <a:off x="1107281" y="3107531"/>
            <a:ext cx="2235994" cy="253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Protecting communications and system boundaries.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7" name="Google Shape;1847;p38"/>
          <p:cNvSpPr/>
          <p:nvPr/>
        </p:nvSpPr>
        <p:spPr>
          <a:xfrm>
            <a:off x="571500" y="3646884"/>
            <a:ext cx="2914650" cy="58935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8"/>
          <p:cNvSpPr/>
          <p:nvPr/>
        </p:nvSpPr>
        <p:spPr>
          <a:xfrm>
            <a:off x="571500" y="3646884"/>
            <a:ext cx="28575" cy="589359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38"/>
          <p:cNvSpPr/>
          <p:nvPr/>
        </p:nvSpPr>
        <p:spPr>
          <a:xfrm>
            <a:off x="714375" y="3798689"/>
            <a:ext cx="285750" cy="285750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0" name="Google Shape;1850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030" y="3877270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38"/>
          <p:cNvSpPr/>
          <p:nvPr/>
        </p:nvSpPr>
        <p:spPr>
          <a:xfrm>
            <a:off x="1107281" y="3789759"/>
            <a:ext cx="223599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&amp; Accountability (AU)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38"/>
          <p:cNvSpPr/>
          <p:nvPr/>
        </p:nvSpPr>
        <p:spPr>
          <a:xfrm>
            <a:off x="1107281" y="3966567"/>
            <a:ext cx="223599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Logging and monitoring of security events.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8"/>
          <p:cNvSpPr/>
          <p:nvPr/>
        </p:nvSpPr>
        <p:spPr>
          <a:xfrm>
            <a:off x="3771900" y="1323380"/>
            <a:ext cx="4800600" cy="382179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38"/>
          <p:cNvSpPr/>
          <p:nvPr/>
        </p:nvSpPr>
        <p:spPr>
          <a:xfrm>
            <a:off x="3986213" y="1537692"/>
            <a:ext cx="43719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Controls Implemented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8"/>
          <p:cNvSpPr/>
          <p:nvPr/>
        </p:nvSpPr>
        <p:spPr>
          <a:xfrm>
            <a:off x="3986213" y="1946672"/>
            <a:ext cx="2132409" cy="81148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8"/>
          <p:cNvSpPr/>
          <p:nvPr/>
        </p:nvSpPr>
        <p:spPr>
          <a:xfrm>
            <a:off x="4093369" y="2053828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AC-3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38"/>
          <p:cNvSpPr/>
          <p:nvPr/>
        </p:nvSpPr>
        <p:spPr>
          <a:xfrm>
            <a:off x="4093369" y="2225278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Enforcement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38"/>
          <p:cNvSpPr/>
          <p:nvPr/>
        </p:nvSpPr>
        <p:spPr>
          <a:xfrm>
            <a:off x="4093369" y="2396728"/>
            <a:ext cx="1918097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OpAMP Gateway enforces RBAC policies on all requests.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8"/>
          <p:cNvSpPr/>
          <p:nvPr/>
        </p:nvSpPr>
        <p:spPr>
          <a:xfrm>
            <a:off x="6225778" y="1946672"/>
            <a:ext cx="2132409" cy="81148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8"/>
          <p:cNvSpPr/>
          <p:nvPr/>
        </p:nvSpPr>
        <p:spPr>
          <a:xfrm>
            <a:off x="6332934" y="2053828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IA-2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8"/>
          <p:cNvSpPr/>
          <p:nvPr/>
        </p:nvSpPr>
        <p:spPr>
          <a:xfrm>
            <a:off x="6332934" y="2225278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Identification &amp; Auth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38"/>
          <p:cNvSpPr/>
          <p:nvPr/>
        </p:nvSpPr>
        <p:spPr>
          <a:xfrm>
            <a:off x="6332934" y="2396728"/>
            <a:ext cx="1918097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mTLS provides strong cryptographic authentication.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38"/>
          <p:cNvSpPr/>
          <p:nvPr/>
        </p:nvSpPr>
        <p:spPr>
          <a:xfrm>
            <a:off x="3986213" y="2851026"/>
            <a:ext cx="2132409" cy="69149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8"/>
          <p:cNvSpPr/>
          <p:nvPr/>
        </p:nvSpPr>
        <p:spPr>
          <a:xfrm>
            <a:off x="4093369" y="2958182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SC-8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8"/>
          <p:cNvSpPr/>
          <p:nvPr/>
        </p:nvSpPr>
        <p:spPr>
          <a:xfrm>
            <a:off x="4093369" y="3129632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Transmission Confidentiality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38"/>
          <p:cNvSpPr/>
          <p:nvPr/>
        </p:nvSpPr>
        <p:spPr>
          <a:xfrm>
            <a:off x="4093369" y="3301082"/>
            <a:ext cx="1918097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TLS 1.3 encryption for all data in transit.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38"/>
          <p:cNvSpPr/>
          <p:nvPr/>
        </p:nvSpPr>
        <p:spPr>
          <a:xfrm>
            <a:off x="6225778" y="2851026"/>
            <a:ext cx="2132409" cy="69149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8"/>
          <p:cNvSpPr/>
          <p:nvPr/>
        </p:nvSpPr>
        <p:spPr>
          <a:xfrm>
            <a:off x="6332934" y="2958182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AU-2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38"/>
          <p:cNvSpPr/>
          <p:nvPr/>
        </p:nvSpPr>
        <p:spPr>
          <a:xfrm>
            <a:off x="6332934" y="3129632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Logging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38"/>
          <p:cNvSpPr/>
          <p:nvPr/>
        </p:nvSpPr>
        <p:spPr>
          <a:xfrm>
            <a:off x="6332934" y="3301082"/>
            <a:ext cx="1918097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Comprehensive audit trails sent to SIEM.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38"/>
          <p:cNvSpPr/>
          <p:nvPr/>
        </p:nvSpPr>
        <p:spPr>
          <a:xfrm>
            <a:off x="3986213" y="3635387"/>
            <a:ext cx="2132409" cy="81148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8"/>
          <p:cNvSpPr/>
          <p:nvPr/>
        </p:nvSpPr>
        <p:spPr>
          <a:xfrm>
            <a:off x="4093369" y="3742544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SC-23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38"/>
          <p:cNvSpPr/>
          <p:nvPr/>
        </p:nvSpPr>
        <p:spPr>
          <a:xfrm>
            <a:off x="4093369" y="3913994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Authenticity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38"/>
          <p:cNvSpPr/>
          <p:nvPr/>
        </p:nvSpPr>
        <p:spPr>
          <a:xfrm>
            <a:off x="4093369" y="4085444"/>
            <a:ext cx="1918097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Unique session keys and certificate binding.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38"/>
          <p:cNvSpPr/>
          <p:nvPr/>
        </p:nvSpPr>
        <p:spPr>
          <a:xfrm>
            <a:off x="6225778" y="3635387"/>
            <a:ext cx="2132409" cy="81148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8"/>
          <p:cNvSpPr/>
          <p:nvPr/>
        </p:nvSpPr>
        <p:spPr>
          <a:xfrm>
            <a:off x="6332934" y="3742544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SI-7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38"/>
          <p:cNvSpPr/>
          <p:nvPr/>
        </p:nvSpPr>
        <p:spPr>
          <a:xfrm>
            <a:off x="6332934" y="3913994"/>
            <a:ext cx="191809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Integrity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38"/>
          <p:cNvSpPr/>
          <p:nvPr/>
        </p:nvSpPr>
        <p:spPr>
          <a:xfrm>
            <a:off x="6332934" y="4085444"/>
            <a:ext cx="1918097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Signed agent packages and configuration validation.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38"/>
          <p:cNvSpPr/>
          <p:nvPr/>
        </p:nvSpPr>
        <p:spPr>
          <a:xfrm>
            <a:off x="3986213" y="4575460"/>
            <a:ext cx="4371975" cy="312539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0" name="Google Shape;1880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5469" y="4668329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38"/>
          <p:cNvSpPr/>
          <p:nvPr/>
        </p:nvSpPr>
        <p:spPr>
          <a:xfrm>
            <a:off x="5145481" y="4646898"/>
            <a:ext cx="215342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25+ High-Impact Controls Automated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87" name="Google Shape;188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3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3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9"/>
          <p:cNvSpPr/>
          <p:nvPr/>
        </p:nvSpPr>
        <p:spPr>
          <a:xfrm>
            <a:off x="571500" y="428625"/>
            <a:ext cx="5486037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 Compliance Mapping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39"/>
          <p:cNvSpPr/>
          <p:nvPr/>
        </p:nvSpPr>
        <p:spPr>
          <a:xfrm>
            <a:off x="571500" y="1323380"/>
            <a:ext cx="3911203" cy="174932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39"/>
          <p:cNvSpPr/>
          <p:nvPr/>
        </p:nvSpPr>
        <p:spPr>
          <a:xfrm>
            <a:off x="571500" y="1323380"/>
            <a:ext cx="42863" cy="174932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9"/>
          <p:cNvSpPr/>
          <p:nvPr/>
        </p:nvSpPr>
        <p:spPr>
          <a:xfrm>
            <a:off x="750094" y="1521619"/>
            <a:ext cx="92383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 2 Type II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4" name="Google Shape;189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5522" y="1534120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39"/>
          <p:cNvSpPr/>
          <p:nvPr/>
        </p:nvSpPr>
        <p:spPr>
          <a:xfrm>
            <a:off x="750094" y="1843088"/>
            <a:ext cx="3554016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Addresses Security, Availability, and Confidentiality trust principles through rigorous access controls and encryption.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39"/>
          <p:cNvSpPr/>
          <p:nvPr/>
        </p:nvSpPr>
        <p:spPr>
          <a:xfrm>
            <a:off x="750094" y="2351187"/>
            <a:ext cx="3554016" cy="54292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39"/>
          <p:cNvSpPr/>
          <p:nvPr/>
        </p:nvSpPr>
        <p:spPr>
          <a:xfrm>
            <a:off x="857250" y="2458343"/>
            <a:ext cx="333970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Control Mapping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39"/>
          <p:cNvSpPr/>
          <p:nvPr/>
        </p:nvSpPr>
        <p:spPr>
          <a:xfrm>
            <a:off x="857250" y="2622649"/>
            <a:ext cx="915684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39"/>
          <p:cNvSpPr/>
          <p:nvPr/>
        </p:nvSpPr>
        <p:spPr>
          <a:xfrm>
            <a:off x="857250" y="2622649"/>
            <a:ext cx="915684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CC6.1 (Logical Access)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39"/>
          <p:cNvSpPr/>
          <p:nvPr/>
        </p:nvSpPr>
        <p:spPr>
          <a:xfrm>
            <a:off x="1830084" y="2622649"/>
            <a:ext cx="876951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39"/>
          <p:cNvSpPr/>
          <p:nvPr/>
        </p:nvSpPr>
        <p:spPr>
          <a:xfrm>
            <a:off x="1830084" y="2622649"/>
            <a:ext cx="87695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CC6.7 (Transmission)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39"/>
          <p:cNvSpPr/>
          <p:nvPr/>
        </p:nvSpPr>
        <p:spPr>
          <a:xfrm>
            <a:off x="2764185" y="2622649"/>
            <a:ext cx="747443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39"/>
          <p:cNvSpPr/>
          <p:nvPr/>
        </p:nvSpPr>
        <p:spPr>
          <a:xfrm>
            <a:off x="2764185" y="2622649"/>
            <a:ext cx="74744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CC7.1 (Detection)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39"/>
          <p:cNvSpPr/>
          <p:nvPr/>
        </p:nvSpPr>
        <p:spPr>
          <a:xfrm>
            <a:off x="4661297" y="1323380"/>
            <a:ext cx="3911203" cy="174932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39"/>
          <p:cNvSpPr/>
          <p:nvPr/>
        </p:nvSpPr>
        <p:spPr>
          <a:xfrm>
            <a:off x="4661297" y="1323380"/>
            <a:ext cx="42863" cy="1749326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39"/>
          <p:cNvSpPr/>
          <p:nvPr/>
        </p:nvSpPr>
        <p:spPr>
          <a:xfrm>
            <a:off x="4839891" y="1521619"/>
            <a:ext cx="86813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PCI-DSS v4.0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7" name="Google Shape;190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1025" y="1534120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8" name="Google Shape;1908;p39"/>
          <p:cNvSpPr/>
          <p:nvPr/>
        </p:nvSpPr>
        <p:spPr>
          <a:xfrm>
            <a:off x="4839891" y="1843088"/>
            <a:ext cx="3554016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Meets requirements for strong cryptography, secure transmission of cardholder data, and identity management.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39"/>
          <p:cNvSpPr/>
          <p:nvPr/>
        </p:nvSpPr>
        <p:spPr>
          <a:xfrm>
            <a:off x="4839891" y="2351187"/>
            <a:ext cx="3554016" cy="54292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39"/>
          <p:cNvSpPr/>
          <p:nvPr/>
        </p:nvSpPr>
        <p:spPr>
          <a:xfrm>
            <a:off x="4947047" y="2458343"/>
            <a:ext cx="333970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Control Mapping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39"/>
          <p:cNvSpPr/>
          <p:nvPr/>
        </p:nvSpPr>
        <p:spPr>
          <a:xfrm>
            <a:off x="4947047" y="2622649"/>
            <a:ext cx="850385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39"/>
          <p:cNvSpPr/>
          <p:nvPr/>
        </p:nvSpPr>
        <p:spPr>
          <a:xfrm>
            <a:off x="4947047" y="2622649"/>
            <a:ext cx="850385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 4.2 (Encryption)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39"/>
          <p:cNvSpPr/>
          <p:nvPr/>
        </p:nvSpPr>
        <p:spPr>
          <a:xfrm>
            <a:off x="5854582" y="2622649"/>
            <a:ext cx="739741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39"/>
          <p:cNvSpPr/>
          <p:nvPr/>
        </p:nvSpPr>
        <p:spPr>
          <a:xfrm>
            <a:off x="5854582" y="2622649"/>
            <a:ext cx="73974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 8.2 (Identity)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39"/>
          <p:cNvSpPr/>
          <p:nvPr/>
        </p:nvSpPr>
        <p:spPr>
          <a:xfrm>
            <a:off x="6651473" y="2622649"/>
            <a:ext cx="695511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39"/>
          <p:cNvSpPr/>
          <p:nvPr/>
        </p:nvSpPr>
        <p:spPr>
          <a:xfrm>
            <a:off x="6651473" y="2622649"/>
            <a:ext cx="69551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 10.2 (Audit)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39"/>
          <p:cNvSpPr/>
          <p:nvPr/>
        </p:nvSpPr>
        <p:spPr>
          <a:xfrm>
            <a:off x="571500" y="3251299"/>
            <a:ext cx="3911203" cy="174932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39"/>
          <p:cNvSpPr/>
          <p:nvPr/>
        </p:nvSpPr>
        <p:spPr>
          <a:xfrm>
            <a:off x="571500" y="3251299"/>
            <a:ext cx="42863" cy="1749326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9"/>
          <p:cNvSpPr/>
          <p:nvPr/>
        </p:nvSpPr>
        <p:spPr>
          <a:xfrm>
            <a:off x="750094" y="3449538"/>
            <a:ext cx="44464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HIPAA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0" name="Google Shape;192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1228" y="3462040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39"/>
          <p:cNvSpPr/>
          <p:nvPr/>
        </p:nvSpPr>
        <p:spPr>
          <a:xfrm>
            <a:off x="750094" y="3771007"/>
            <a:ext cx="3554016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Ensures technical safeguards for ePHI including transmission security, access control, and audit controls.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39"/>
          <p:cNvSpPr/>
          <p:nvPr/>
        </p:nvSpPr>
        <p:spPr>
          <a:xfrm>
            <a:off x="750094" y="4279106"/>
            <a:ext cx="3554016" cy="54292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39"/>
          <p:cNvSpPr/>
          <p:nvPr/>
        </p:nvSpPr>
        <p:spPr>
          <a:xfrm>
            <a:off x="857250" y="4386263"/>
            <a:ext cx="333970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Control Mapping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39"/>
          <p:cNvSpPr/>
          <p:nvPr/>
        </p:nvSpPr>
        <p:spPr>
          <a:xfrm>
            <a:off x="857250" y="4550569"/>
            <a:ext cx="809141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39"/>
          <p:cNvSpPr/>
          <p:nvPr/>
        </p:nvSpPr>
        <p:spPr>
          <a:xfrm>
            <a:off x="857250" y="4550569"/>
            <a:ext cx="809141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164.312(a) (Access)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39"/>
          <p:cNvSpPr/>
          <p:nvPr/>
        </p:nvSpPr>
        <p:spPr>
          <a:xfrm>
            <a:off x="1723541" y="4550569"/>
            <a:ext cx="1050438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39"/>
          <p:cNvSpPr/>
          <p:nvPr/>
        </p:nvSpPr>
        <p:spPr>
          <a:xfrm>
            <a:off x="1723541" y="4550569"/>
            <a:ext cx="1050438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164.312(e) (Transmission)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39"/>
          <p:cNvSpPr/>
          <p:nvPr/>
        </p:nvSpPr>
        <p:spPr>
          <a:xfrm>
            <a:off x="4661297" y="3251299"/>
            <a:ext cx="3911203" cy="1749326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39"/>
          <p:cNvSpPr/>
          <p:nvPr/>
        </p:nvSpPr>
        <p:spPr>
          <a:xfrm>
            <a:off x="4661297" y="3251299"/>
            <a:ext cx="42863" cy="1749326"/>
          </a:xfrm>
          <a:prstGeom prst="rect">
            <a:avLst/>
          </a:prstGeom>
          <a:solidFill>
            <a:srgbClr val="00CE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39"/>
          <p:cNvSpPr/>
          <p:nvPr/>
        </p:nvSpPr>
        <p:spPr>
          <a:xfrm>
            <a:off x="4839891" y="3449538"/>
            <a:ext cx="149776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FedRAMP / ISO 27001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1" name="Google Shape;1931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2456" y="346204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2" name="Google Shape;1932;p39"/>
          <p:cNvSpPr/>
          <p:nvPr/>
        </p:nvSpPr>
        <p:spPr>
          <a:xfrm>
            <a:off x="4839891" y="3771007"/>
            <a:ext cx="3554016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Aligns with federal and international standards for information security management and cloud security.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39"/>
          <p:cNvSpPr/>
          <p:nvPr/>
        </p:nvSpPr>
        <p:spPr>
          <a:xfrm>
            <a:off x="4839891" y="4279106"/>
            <a:ext cx="3554016" cy="542925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39"/>
          <p:cNvSpPr/>
          <p:nvPr/>
        </p:nvSpPr>
        <p:spPr>
          <a:xfrm>
            <a:off x="4947047" y="4386263"/>
            <a:ext cx="333970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34"/>
              <a:buFont typeface="Calibri"/>
              <a:buNone/>
            </a:pPr>
            <a:r>
              <a:rPr b="1" i="0" lang="en-US" sz="53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Control Mapping</a:t>
            </a:r>
            <a:endParaRPr b="0" i="0" sz="5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39"/>
          <p:cNvSpPr/>
          <p:nvPr/>
        </p:nvSpPr>
        <p:spPr>
          <a:xfrm>
            <a:off x="4947047" y="4550569"/>
            <a:ext cx="849743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39"/>
          <p:cNvSpPr/>
          <p:nvPr/>
        </p:nvSpPr>
        <p:spPr>
          <a:xfrm>
            <a:off x="4947047" y="4550569"/>
            <a:ext cx="84974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A.10 (Cryptography)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39"/>
          <p:cNvSpPr/>
          <p:nvPr/>
        </p:nvSpPr>
        <p:spPr>
          <a:xfrm>
            <a:off x="5853940" y="4550569"/>
            <a:ext cx="940212" cy="164306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39"/>
          <p:cNvSpPr/>
          <p:nvPr/>
        </p:nvSpPr>
        <p:spPr>
          <a:xfrm>
            <a:off x="5853940" y="4550569"/>
            <a:ext cx="940212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A.13 (Comms Security)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4" name="Google Shape;194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40"/>
          <p:cNvSpPr/>
          <p:nvPr/>
        </p:nvSpPr>
        <p:spPr>
          <a:xfrm>
            <a:off x="571500" y="285750"/>
            <a:ext cx="8001000" cy="5875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40"/>
          <p:cNvSpPr/>
          <p:nvPr/>
        </p:nvSpPr>
        <p:spPr>
          <a:xfrm>
            <a:off x="571500" y="859036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40"/>
          <p:cNvSpPr/>
          <p:nvPr/>
        </p:nvSpPr>
        <p:spPr>
          <a:xfrm>
            <a:off x="571500" y="285750"/>
            <a:ext cx="553063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Compliance Evidence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40"/>
          <p:cNvSpPr/>
          <p:nvPr/>
        </p:nvSpPr>
        <p:spPr>
          <a:xfrm>
            <a:off x="571500" y="1001911"/>
            <a:ext cx="3409522" cy="187434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40"/>
          <p:cNvSpPr/>
          <p:nvPr/>
        </p:nvSpPr>
        <p:spPr>
          <a:xfrm>
            <a:off x="571500" y="1001911"/>
            <a:ext cx="28575" cy="1874341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40"/>
          <p:cNvSpPr/>
          <p:nvPr/>
        </p:nvSpPr>
        <p:spPr>
          <a:xfrm>
            <a:off x="714375" y="1451521"/>
            <a:ext cx="176115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Manual Evidence Collection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1" name="Google Shape;195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9560" y="1474738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52" name="Google Shape;195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730127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40"/>
          <p:cNvSpPr/>
          <p:nvPr/>
        </p:nvSpPr>
        <p:spPr>
          <a:xfrm>
            <a:off x="928688" y="1712268"/>
            <a:ext cx="105794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Screenshots of configs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4" name="Google Shape;195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1923008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40"/>
          <p:cNvSpPr/>
          <p:nvPr/>
        </p:nvSpPr>
        <p:spPr>
          <a:xfrm>
            <a:off x="928688" y="1905149"/>
            <a:ext cx="89202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Excel spreadsheets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6" name="Google Shape;1956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2115889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40"/>
          <p:cNvSpPr/>
          <p:nvPr/>
        </p:nvSpPr>
        <p:spPr>
          <a:xfrm>
            <a:off x="928688" y="2098030"/>
            <a:ext cx="58428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Email chains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8" name="Google Shape;1958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2308771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59" name="Google Shape;1959;p40"/>
          <p:cNvSpPr/>
          <p:nvPr/>
        </p:nvSpPr>
        <p:spPr>
          <a:xfrm>
            <a:off x="928688" y="2290911"/>
            <a:ext cx="97883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6-8 Weeks Prep Time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40"/>
          <p:cNvSpPr/>
          <p:nvPr/>
        </p:nvSpPr>
        <p:spPr>
          <a:xfrm>
            <a:off x="571500" y="2983409"/>
            <a:ext cx="3409522" cy="187434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40"/>
          <p:cNvSpPr/>
          <p:nvPr/>
        </p:nvSpPr>
        <p:spPr>
          <a:xfrm>
            <a:off x="571500" y="2983409"/>
            <a:ext cx="28575" cy="1874341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40"/>
          <p:cNvSpPr/>
          <p:nvPr/>
        </p:nvSpPr>
        <p:spPr>
          <a:xfrm>
            <a:off x="714375" y="3433018"/>
            <a:ext cx="140034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Automated Collection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3" name="Google Shape;1963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9560" y="3456236"/>
            <a:ext cx="128588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4" name="Google Shape;1964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4375" y="3711625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40"/>
          <p:cNvSpPr/>
          <p:nvPr/>
        </p:nvSpPr>
        <p:spPr>
          <a:xfrm>
            <a:off x="928688" y="3693765"/>
            <a:ext cx="9852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API-driven extraction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6" name="Google Shape;1966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4375" y="3904506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40"/>
          <p:cNvSpPr/>
          <p:nvPr/>
        </p:nvSpPr>
        <p:spPr>
          <a:xfrm>
            <a:off x="928688" y="3886646"/>
            <a:ext cx="98843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JSON structured data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8" name="Google Shape;1968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4375" y="4097387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40"/>
          <p:cNvSpPr/>
          <p:nvPr/>
        </p:nvSpPr>
        <p:spPr>
          <a:xfrm>
            <a:off x="928688" y="4079528"/>
            <a:ext cx="94891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Continuous timeline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0" name="Google Shape;1970;p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4375" y="4290268"/>
            <a:ext cx="14287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71" name="Google Shape;1971;p40"/>
          <p:cNvSpPr/>
          <p:nvPr/>
        </p:nvSpPr>
        <p:spPr>
          <a:xfrm>
            <a:off x="928688" y="4272409"/>
            <a:ext cx="90173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2-3 Days Prep Time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2" name="Google Shape;1972;p40"/>
          <p:cNvSpPr/>
          <p:nvPr/>
        </p:nvSpPr>
        <p:spPr>
          <a:xfrm>
            <a:off x="4195335" y="1001911"/>
            <a:ext cx="4377165" cy="3855839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40"/>
          <p:cNvSpPr/>
          <p:nvPr/>
        </p:nvSpPr>
        <p:spPr>
          <a:xfrm>
            <a:off x="4338210" y="1144786"/>
            <a:ext cx="409141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 Compliance Engine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40"/>
          <p:cNvSpPr/>
          <p:nvPr/>
        </p:nvSpPr>
        <p:spPr>
          <a:xfrm>
            <a:off x="4338210" y="1793081"/>
            <a:ext cx="4091415" cy="41433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40"/>
          <p:cNvSpPr/>
          <p:nvPr/>
        </p:nvSpPr>
        <p:spPr>
          <a:xfrm>
            <a:off x="4445366" y="1885950"/>
            <a:ext cx="228600" cy="22860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6" name="Google Shape;1976;p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09660" y="1950244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77" name="Google Shape;1977;p40"/>
          <p:cNvSpPr/>
          <p:nvPr/>
        </p:nvSpPr>
        <p:spPr>
          <a:xfrm>
            <a:off x="4781122" y="1932384"/>
            <a:ext cx="11810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Daily Config Snapshot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40"/>
          <p:cNvSpPr/>
          <p:nvPr/>
        </p:nvSpPr>
        <p:spPr>
          <a:xfrm>
            <a:off x="4338210" y="2271713"/>
            <a:ext cx="4091415" cy="41433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40"/>
          <p:cNvSpPr/>
          <p:nvPr/>
        </p:nvSpPr>
        <p:spPr>
          <a:xfrm>
            <a:off x="4445366" y="2364581"/>
            <a:ext cx="228600" cy="22860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0" name="Google Shape;1980;p4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09660" y="2428875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40"/>
          <p:cNvSpPr/>
          <p:nvPr/>
        </p:nvSpPr>
        <p:spPr>
          <a:xfrm>
            <a:off x="4781122" y="2411016"/>
            <a:ext cx="147038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Map to Control Frameworks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40"/>
          <p:cNvSpPr/>
          <p:nvPr/>
        </p:nvSpPr>
        <p:spPr>
          <a:xfrm>
            <a:off x="4338210" y="2750344"/>
            <a:ext cx="4091415" cy="41433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0"/>
          <p:cNvSpPr/>
          <p:nvPr/>
        </p:nvSpPr>
        <p:spPr>
          <a:xfrm>
            <a:off x="4445366" y="2843213"/>
            <a:ext cx="228600" cy="22860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4" name="Google Shape;1984;p4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03409" y="2907506"/>
            <a:ext cx="112514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5" name="Google Shape;1985;p40"/>
          <p:cNvSpPr/>
          <p:nvPr/>
        </p:nvSpPr>
        <p:spPr>
          <a:xfrm>
            <a:off x="4781122" y="2889647"/>
            <a:ext cx="17720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Generate Signed Evidence Artifact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40"/>
          <p:cNvSpPr/>
          <p:nvPr/>
        </p:nvSpPr>
        <p:spPr>
          <a:xfrm>
            <a:off x="4338210" y="3228975"/>
            <a:ext cx="4091415" cy="41433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0"/>
          <p:cNvSpPr/>
          <p:nvPr/>
        </p:nvSpPr>
        <p:spPr>
          <a:xfrm>
            <a:off x="4445366" y="3321844"/>
            <a:ext cx="228600" cy="228600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8" name="Google Shape;1988;p4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09660" y="3386138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89" name="Google Shape;1989;p40"/>
          <p:cNvSpPr/>
          <p:nvPr/>
        </p:nvSpPr>
        <p:spPr>
          <a:xfrm>
            <a:off x="4781122" y="3368278"/>
            <a:ext cx="142230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Store in Immutable Ledger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40"/>
          <p:cNvSpPr/>
          <p:nvPr/>
        </p:nvSpPr>
        <p:spPr>
          <a:xfrm>
            <a:off x="4338210" y="4082653"/>
            <a:ext cx="4091415" cy="632222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40"/>
          <p:cNvSpPr/>
          <p:nvPr/>
        </p:nvSpPr>
        <p:spPr>
          <a:xfrm>
            <a:off x="4445366" y="4204097"/>
            <a:ext cx="3877103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 Reduction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40"/>
          <p:cNvSpPr/>
          <p:nvPr/>
        </p:nvSpPr>
        <p:spPr>
          <a:xfrm>
            <a:off x="4445366" y="4491633"/>
            <a:ext cx="387710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In Audit Preparation Time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8" name="Google Shape;19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4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4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41"/>
          <p:cNvSpPr/>
          <p:nvPr/>
        </p:nvSpPr>
        <p:spPr>
          <a:xfrm>
            <a:off x="571500" y="428625"/>
            <a:ext cx="615068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Dashboards &amp; Reporting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41"/>
          <p:cNvSpPr/>
          <p:nvPr/>
        </p:nvSpPr>
        <p:spPr>
          <a:xfrm>
            <a:off x="571500" y="1323380"/>
            <a:ext cx="3312105" cy="89545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41"/>
          <p:cNvSpPr/>
          <p:nvPr/>
        </p:nvSpPr>
        <p:spPr>
          <a:xfrm>
            <a:off x="571500" y="1323380"/>
            <a:ext cx="28575" cy="8954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41"/>
          <p:cNvSpPr/>
          <p:nvPr/>
        </p:nvSpPr>
        <p:spPr>
          <a:xfrm>
            <a:off x="714375" y="1466255"/>
            <a:ext cx="105596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 View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5" name="Google Shape;200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2142" y="148947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6" name="Google Shape;2006;p41"/>
          <p:cNvSpPr/>
          <p:nvPr/>
        </p:nvSpPr>
        <p:spPr>
          <a:xfrm>
            <a:off x="714375" y="1712714"/>
            <a:ext cx="302635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Real-time health, certificate expiry status, and error rates.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41"/>
          <p:cNvSpPr/>
          <p:nvPr/>
        </p:nvSpPr>
        <p:spPr>
          <a:xfrm>
            <a:off x="714375" y="1959871"/>
            <a:ext cx="30263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Users: SRE, DevOps, NOC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41"/>
          <p:cNvSpPr/>
          <p:nvPr/>
        </p:nvSpPr>
        <p:spPr>
          <a:xfrm>
            <a:off x="571500" y="2361707"/>
            <a:ext cx="3312105" cy="89545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41"/>
          <p:cNvSpPr/>
          <p:nvPr/>
        </p:nvSpPr>
        <p:spPr>
          <a:xfrm>
            <a:off x="571500" y="2361707"/>
            <a:ext cx="28575" cy="89545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41"/>
          <p:cNvSpPr/>
          <p:nvPr/>
        </p:nvSpPr>
        <p:spPr>
          <a:xfrm>
            <a:off x="714375" y="2504582"/>
            <a:ext cx="109159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View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1" name="Google Shape;201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4289" y="2527799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41"/>
          <p:cNvSpPr/>
          <p:nvPr/>
        </p:nvSpPr>
        <p:spPr>
          <a:xfrm>
            <a:off x="714375" y="2751041"/>
            <a:ext cx="302635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Control effectiveness, policy violations, and evidence gaps.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41"/>
          <p:cNvSpPr/>
          <p:nvPr/>
        </p:nvSpPr>
        <p:spPr>
          <a:xfrm>
            <a:off x="714375" y="2998198"/>
            <a:ext cx="30263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Users: GRC Team, Security Auditors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1"/>
          <p:cNvSpPr/>
          <p:nvPr/>
        </p:nvSpPr>
        <p:spPr>
          <a:xfrm>
            <a:off x="571500" y="3400034"/>
            <a:ext cx="3312105" cy="89545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41"/>
          <p:cNvSpPr/>
          <p:nvPr/>
        </p:nvSpPr>
        <p:spPr>
          <a:xfrm>
            <a:off x="571500" y="3400034"/>
            <a:ext cx="28575" cy="8954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41"/>
          <p:cNvSpPr/>
          <p:nvPr/>
        </p:nvSpPr>
        <p:spPr>
          <a:xfrm>
            <a:off x="714375" y="3542909"/>
            <a:ext cx="95424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View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7" name="Google Shape;201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2142" y="356612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41"/>
          <p:cNvSpPr/>
          <p:nvPr/>
        </p:nvSpPr>
        <p:spPr>
          <a:xfrm>
            <a:off x="714375" y="3789369"/>
            <a:ext cx="302635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High-level risk posture, trend analysis, and SLA compliance.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41"/>
          <p:cNvSpPr/>
          <p:nvPr/>
        </p:nvSpPr>
        <p:spPr>
          <a:xfrm>
            <a:off x="714375" y="4036526"/>
            <a:ext cx="30263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Users: CISO, CIO, VP Engineering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1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41"/>
          <p:cNvSpPr/>
          <p:nvPr/>
        </p:nvSpPr>
        <p:spPr>
          <a:xfrm>
            <a:off x="4383667" y="1537692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2" name="Google Shape;202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5105" y="1630561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3" name="Google Shape;2023;p41"/>
          <p:cNvSpPr/>
          <p:nvPr/>
        </p:nvSpPr>
        <p:spPr>
          <a:xfrm>
            <a:off x="4848011" y="1551087"/>
            <a:ext cx="186982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 Self-Service Portal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41"/>
          <p:cNvSpPr/>
          <p:nvPr/>
        </p:nvSpPr>
        <p:spPr>
          <a:xfrm>
            <a:off x="4848011" y="1745754"/>
            <a:ext cx="186982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Read-only access for external auditors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41"/>
          <p:cNvSpPr/>
          <p:nvPr/>
        </p:nvSpPr>
        <p:spPr>
          <a:xfrm>
            <a:off x="4383667" y="2144911"/>
            <a:ext cx="3974520" cy="403622"/>
          </a:xfrm>
          <a:prstGeom prst="rect">
            <a:avLst/>
          </a:prstGeom>
          <a:solidFill>
            <a:srgbClr val="000000">
              <a:alpha val="20000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6" name="Google Shape;2026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0824" y="227528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41"/>
          <p:cNvSpPr/>
          <p:nvPr/>
        </p:nvSpPr>
        <p:spPr>
          <a:xfrm>
            <a:off x="4726567" y="2271713"/>
            <a:ext cx="154570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Searchable Evidence Repository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1"/>
          <p:cNvSpPr/>
          <p:nvPr/>
        </p:nvSpPr>
        <p:spPr>
          <a:xfrm>
            <a:off x="4383667" y="2641402"/>
            <a:ext cx="3974520" cy="403622"/>
          </a:xfrm>
          <a:prstGeom prst="rect">
            <a:avLst/>
          </a:prstGeom>
          <a:solidFill>
            <a:srgbClr val="000000">
              <a:alpha val="20000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9" name="Google Shape;2029;p4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0824" y="2771775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41"/>
          <p:cNvSpPr/>
          <p:nvPr/>
        </p:nvSpPr>
        <p:spPr>
          <a:xfrm>
            <a:off x="4742641" y="2768203"/>
            <a:ext cx="189686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One-Click Report Generation (PDF/CSV)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41"/>
          <p:cNvSpPr/>
          <p:nvPr/>
        </p:nvSpPr>
        <p:spPr>
          <a:xfrm>
            <a:off x="4383667" y="3137892"/>
            <a:ext cx="3974520" cy="403622"/>
          </a:xfrm>
          <a:prstGeom prst="rect">
            <a:avLst/>
          </a:prstGeom>
          <a:solidFill>
            <a:srgbClr val="000000">
              <a:alpha val="20000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2" name="Google Shape;2032;p4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0824" y="326826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41"/>
          <p:cNvSpPr/>
          <p:nvPr/>
        </p:nvSpPr>
        <p:spPr>
          <a:xfrm>
            <a:off x="4726567" y="3264694"/>
            <a:ext cx="16149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Historical Configuration Timeline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1"/>
          <p:cNvSpPr/>
          <p:nvPr/>
        </p:nvSpPr>
        <p:spPr>
          <a:xfrm>
            <a:off x="4383667" y="3634383"/>
            <a:ext cx="3974520" cy="403622"/>
          </a:xfrm>
          <a:prstGeom prst="rect">
            <a:avLst/>
          </a:prstGeom>
          <a:solidFill>
            <a:srgbClr val="000000">
              <a:alpha val="20000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5" name="Google Shape;2035;p4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90824" y="3764756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41"/>
          <p:cNvSpPr/>
          <p:nvPr/>
        </p:nvSpPr>
        <p:spPr>
          <a:xfrm>
            <a:off x="4758714" y="3761184"/>
            <a:ext cx="157472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 Links to Policy Definitions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41"/>
          <p:cNvSpPr/>
          <p:nvPr/>
        </p:nvSpPr>
        <p:spPr>
          <a:xfrm>
            <a:off x="4383667" y="4421981"/>
            <a:ext cx="3974520" cy="364331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41"/>
          <p:cNvSpPr/>
          <p:nvPr/>
        </p:nvSpPr>
        <p:spPr>
          <a:xfrm>
            <a:off x="4490824" y="4543425"/>
            <a:ext cx="376020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Eliminates "Evidence Chasing" Emails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44" name="Google Shape;204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4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4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42"/>
          <p:cNvSpPr/>
          <p:nvPr/>
        </p:nvSpPr>
        <p:spPr>
          <a:xfrm>
            <a:off x="571500" y="428625"/>
            <a:ext cx="387727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Workflows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42"/>
          <p:cNvSpPr/>
          <p:nvPr/>
        </p:nvSpPr>
        <p:spPr>
          <a:xfrm>
            <a:off x="571500" y="1323380"/>
            <a:ext cx="3312105" cy="76795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42"/>
          <p:cNvSpPr/>
          <p:nvPr/>
        </p:nvSpPr>
        <p:spPr>
          <a:xfrm>
            <a:off x="571500" y="1323380"/>
            <a:ext cx="28575" cy="76795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42"/>
          <p:cNvSpPr/>
          <p:nvPr/>
        </p:nvSpPr>
        <p:spPr>
          <a:xfrm>
            <a:off x="714375" y="1564481"/>
            <a:ext cx="285750" cy="285750"/>
          </a:xfrm>
          <a:prstGeom prst="rect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1" name="Google Shape;205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956" y="164306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42"/>
          <p:cNvSpPr/>
          <p:nvPr/>
        </p:nvSpPr>
        <p:spPr>
          <a:xfrm>
            <a:off x="1143000" y="1466255"/>
            <a:ext cx="207185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Enrollment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42"/>
          <p:cNvSpPr/>
          <p:nvPr/>
        </p:nvSpPr>
        <p:spPr>
          <a:xfrm>
            <a:off x="1143000" y="1676995"/>
            <a:ext cx="20718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Zero-touch provisioning for new devices/workloads.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42"/>
          <p:cNvSpPr/>
          <p:nvPr/>
        </p:nvSpPr>
        <p:spPr>
          <a:xfrm>
            <a:off x="3357730" y="1613595"/>
            <a:ext cx="383000" cy="187523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42"/>
          <p:cNvSpPr/>
          <p:nvPr/>
        </p:nvSpPr>
        <p:spPr>
          <a:xfrm>
            <a:off x="3357730" y="1613595"/>
            <a:ext cx="3830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42"/>
          <p:cNvSpPr/>
          <p:nvPr/>
        </p:nvSpPr>
        <p:spPr>
          <a:xfrm>
            <a:off x="571500" y="2234208"/>
            <a:ext cx="3312105" cy="76795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42"/>
          <p:cNvSpPr/>
          <p:nvPr/>
        </p:nvSpPr>
        <p:spPr>
          <a:xfrm>
            <a:off x="571500" y="2234208"/>
            <a:ext cx="28575" cy="76795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42"/>
          <p:cNvSpPr/>
          <p:nvPr/>
        </p:nvSpPr>
        <p:spPr>
          <a:xfrm>
            <a:off x="714375" y="2475309"/>
            <a:ext cx="285750" cy="285750"/>
          </a:xfrm>
          <a:prstGeom prst="rect">
            <a:avLst/>
          </a:prstGeom>
          <a:solidFill>
            <a:srgbClr val="00B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9" name="Google Shape;205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956" y="255389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42"/>
          <p:cNvSpPr/>
          <p:nvPr/>
        </p:nvSpPr>
        <p:spPr>
          <a:xfrm>
            <a:off x="1143000" y="2377083"/>
            <a:ext cx="207185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42"/>
          <p:cNvSpPr/>
          <p:nvPr/>
        </p:nvSpPr>
        <p:spPr>
          <a:xfrm>
            <a:off x="1143000" y="2587823"/>
            <a:ext cx="20718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Automatic rotation at 60% of certificate lifetime.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2" name="Google Shape;2062;p42"/>
          <p:cNvSpPr/>
          <p:nvPr/>
        </p:nvSpPr>
        <p:spPr>
          <a:xfrm>
            <a:off x="3357730" y="2524423"/>
            <a:ext cx="383000" cy="187523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42"/>
          <p:cNvSpPr/>
          <p:nvPr/>
        </p:nvSpPr>
        <p:spPr>
          <a:xfrm>
            <a:off x="3357730" y="2524423"/>
            <a:ext cx="3830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42"/>
          <p:cNvSpPr/>
          <p:nvPr/>
        </p:nvSpPr>
        <p:spPr>
          <a:xfrm>
            <a:off x="571500" y="3145036"/>
            <a:ext cx="3312105" cy="76795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42"/>
          <p:cNvSpPr/>
          <p:nvPr/>
        </p:nvSpPr>
        <p:spPr>
          <a:xfrm>
            <a:off x="571500" y="3145036"/>
            <a:ext cx="28575" cy="767953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42"/>
          <p:cNvSpPr/>
          <p:nvPr/>
        </p:nvSpPr>
        <p:spPr>
          <a:xfrm>
            <a:off x="714375" y="3386138"/>
            <a:ext cx="285750" cy="285750"/>
          </a:xfrm>
          <a:prstGeom prst="rect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7" name="Google Shape;206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956" y="346471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42"/>
          <p:cNvSpPr/>
          <p:nvPr/>
        </p:nvSpPr>
        <p:spPr>
          <a:xfrm>
            <a:off x="1143000" y="3287911"/>
            <a:ext cx="207185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Revocation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42"/>
          <p:cNvSpPr/>
          <p:nvPr/>
        </p:nvSpPr>
        <p:spPr>
          <a:xfrm>
            <a:off x="1143000" y="3498652"/>
            <a:ext cx="20718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API-triggered revocation with immediate propagation.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42"/>
          <p:cNvSpPr/>
          <p:nvPr/>
        </p:nvSpPr>
        <p:spPr>
          <a:xfrm>
            <a:off x="3357730" y="3435251"/>
            <a:ext cx="383000" cy="187523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42"/>
          <p:cNvSpPr/>
          <p:nvPr/>
        </p:nvSpPr>
        <p:spPr>
          <a:xfrm>
            <a:off x="3357730" y="3435251"/>
            <a:ext cx="3830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42"/>
          <p:cNvSpPr/>
          <p:nvPr/>
        </p:nvSpPr>
        <p:spPr>
          <a:xfrm>
            <a:off x="571500" y="4055864"/>
            <a:ext cx="3312105" cy="76795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42"/>
          <p:cNvSpPr/>
          <p:nvPr/>
        </p:nvSpPr>
        <p:spPr>
          <a:xfrm>
            <a:off x="571500" y="4055864"/>
            <a:ext cx="28575" cy="76795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42"/>
          <p:cNvSpPr/>
          <p:nvPr/>
        </p:nvSpPr>
        <p:spPr>
          <a:xfrm>
            <a:off x="714375" y="4296966"/>
            <a:ext cx="285750" cy="285750"/>
          </a:xfrm>
          <a:prstGeom prst="rect">
            <a:avLst/>
          </a:prstGeom>
          <a:solidFill>
            <a:srgbClr val="FFD7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5" name="Google Shape;2075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4920" y="4375547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42"/>
          <p:cNvSpPr/>
          <p:nvPr/>
        </p:nvSpPr>
        <p:spPr>
          <a:xfrm>
            <a:off x="1143000" y="4198739"/>
            <a:ext cx="207185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42"/>
          <p:cNvSpPr/>
          <p:nvPr/>
        </p:nvSpPr>
        <p:spPr>
          <a:xfrm>
            <a:off x="1143000" y="4409480"/>
            <a:ext cx="20718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Continuous health checks and anomaly detection.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42"/>
          <p:cNvSpPr/>
          <p:nvPr/>
        </p:nvSpPr>
        <p:spPr>
          <a:xfrm>
            <a:off x="3357730" y="4346079"/>
            <a:ext cx="383000" cy="187523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42"/>
          <p:cNvSpPr/>
          <p:nvPr/>
        </p:nvSpPr>
        <p:spPr>
          <a:xfrm>
            <a:off x="3357730" y="4346079"/>
            <a:ext cx="3830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42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42"/>
          <p:cNvSpPr/>
          <p:nvPr/>
        </p:nvSpPr>
        <p:spPr>
          <a:xfrm>
            <a:off x="4383667" y="2069009"/>
            <a:ext cx="8378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Daily Renewals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42"/>
          <p:cNvSpPr/>
          <p:nvPr/>
        </p:nvSpPr>
        <p:spPr>
          <a:xfrm>
            <a:off x="7427463" y="1990427"/>
            <a:ext cx="588215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2,777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3" name="Google Shape;208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16835" y="2147590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4" name="Google Shape;2084;p42"/>
          <p:cNvSpPr/>
          <p:nvPr/>
        </p:nvSpPr>
        <p:spPr>
          <a:xfrm>
            <a:off x="8191844" y="2129730"/>
            <a:ext cx="16634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5%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2"/>
          <p:cNvSpPr/>
          <p:nvPr/>
        </p:nvSpPr>
        <p:spPr>
          <a:xfrm>
            <a:off x="4383667" y="2745879"/>
            <a:ext cx="71278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Success Rate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2"/>
          <p:cNvSpPr/>
          <p:nvPr/>
        </p:nvSpPr>
        <p:spPr>
          <a:xfrm>
            <a:off x="7045970" y="2667298"/>
            <a:ext cx="794184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99.96%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7" name="Google Shape;2087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41311" y="28244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42"/>
          <p:cNvSpPr/>
          <p:nvPr/>
        </p:nvSpPr>
        <p:spPr>
          <a:xfrm>
            <a:off x="8041323" y="2806601"/>
            <a:ext cx="31686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Stable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42"/>
          <p:cNvSpPr/>
          <p:nvPr/>
        </p:nvSpPr>
        <p:spPr>
          <a:xfrm>
            <a:off x="4383667" y="3422749"/>
            <a:ext cx="70832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Avg. Latency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2"/>
          <p:cNvSpPr/>
          <p:nvPr/>
        </p:nvSpPr>
        <p:spPr>
          <a:xfrm>
            <a:off x="7357756" y="3344168"/>
            <a:ext cx="599629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45ms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1" name="Google Shape;2091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58541" y="3501330"/>
            <a:ext cx="7500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42"/>
          <p:cNvSpPr/>
          <p:nvPr/>
        </p:nvSpPr>
        <p:spPr>
          <a:xfrm>
            <a:off x="8133550" y="3483471"/>
            <a:ext cx="22463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2ms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42"/>
          <p:cNvSpPr/>
          <p:nvPr/>
        </p:nvSpPr>
        <p:spPr>
          <a:xfrm>
            <a:off x="4383667" y="4099620"/>
            <a:ext cx="6677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Manual Ops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42"/>
          <p:cNvSpPr/>
          <p:nvPr/>
        </p:nvSpPr>
        <p:spPr>
          <a:xfrm>
            <a:off x="7797515" y="4021038"/>
            <a:ext cx="130764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5" name="Google Shape;2095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29435" y="4178201"/>
            <a:ext cx="89297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42"/>
          <p:cNvSpPr/>
          <p:nvPr/>
        </p:nvSpPr>
        <p:spPr>
          <a:xfrm>
            <a:off x="8118732" y="4160341"/>
            <a:ext cx="23945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2" name="Google Shape;21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43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43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43"/>
          <p:cNvSpPr/>
          <p:nvPr/>
        </p:nvSpPr>
        <p:spPr>
          <a:xfrm>
            <a:off x="571500" y="428625"/>
            <a:ext cx="513044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Troubleshooting &amp; Diagnostics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3"/>
          <p:cNvSpPr/>
          <p:nvPr/>
        </p:nvSpPr>
        <p:spPr>
          <a:xfrm>
            <a:off x="571500" y="1323380"/>
            <a:ext cx="3312105" cy="98296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43"/>
          <p:cNvSpPr/>
          <p:nvPr/>
        </p:nvSpPr>
        <p:spPr>
          <a:xfrm>
            <a:off x="571500" y="1323380"/>
            <a:ext cx="28575" cy="982963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8" name="Google Shape;210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48679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9" name="Google Shape;2109;p43"/>
          <p:cNvSpPr/>
          <p:nvPr/>
        </p:nvSpPr>
        <p:spPr>
          <a:xfrm>
            <a:off x="900113" y="1466255"/>
            <a:ext cx="106676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Handshake Failure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43"/>
          <p:cNvSpPr/>
          <p:nvPr/>
        </p:nvSpPr>
        <p:spPr>
          <a:xfrm>
            <a:off x="714375" y="1693069"/>
            <a:ext cx="302635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Client certificate not trusted by server or vice versa.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43"/>
          <p:cNvSpPr/>
          <p:nvPr/>
        </p:nvSpPr>
        <p:spPr>
          <a:xfrm>
            <a:off x="714375" y="1904507"/>
            <a:ext cx="3026355" cy="258961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43"/>
          <p:cNvSpPr/>
          <p:nvPr/>
        </p:nvSpPr>
        <p:spPr>
          <a:xfrm>
            <a:off x="714375" y="1904507"/>
            <a:ext cx="3026355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Check CA bundle trust store on both ends.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43"/>
          <p:cNvSpPr/>
          <p:nvPr/>
        </p:nvSpPr>
        <p:spPr>
          <a:xfrm>
            <a:off x="571500" y="2449218"/>
            <a:ext cx="3312105" cy="98296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43"/>
          <p:cNvSpPr/>
          <p:nvPr/>
        </p:nvSpPr>
        <p:spPr>
          <a:xfrm>
            <a:off x="571500" y="2449218"/>
            <a:ext cx="28575" cy="982963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5" name="Google Shape;211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61263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43"/>
          <p:cNvSpPr/>
          <p:nvPr/>
        </p:nvSpPr>
        <p:spPr>
          <a:xfrm>
            <a:off x="900113" y="2592093"/>
            <a:ext cx="105727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Certificate Expired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43"/>
          <p:cNvSpPr/>
          <p:nvPr/>
        </p:nvSpPr>
        <p:spPr>
          <a:xfrm>
            <a:off x="714375" y="2818907"/>
            <a:ext cx="302635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Renewal process failed or agent offline.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43"/>
          <p:cNvSpPr/>
          <p:nvPr/>
        </p:nvSpPr>
        <p:spPr>
          <a:xfrm>
            <a:off x="714375" y="3030345"/>
            <a:ext cx="3026355" cy="258961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43"/>
          <p:cNvSpPr/>
          <p:nvPr/>
        </p:nvSpPr>
        <p:spPr>
          <a:xfrm>
            <a:off x="714375" y="3030345"/>
            <a:ext cx="3026355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Force renewal: `opamp-agent renew --force`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43"/>
          <p:cNvSpPr/>
          <p:nvPr/>
        </p:nvSpPr>
        <p:spPr>
          <a:xfrm>
            <a:off x="571500" y="3575056"/>
            <a:ext cx="3312105" cy="98296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43"/>
          <p:cNvSpPr/>
          <p:nvPr/>
        </p:nvSpPr>
        <p:spPr>
          <a:xfrm>
            <a:off x="571500" y="3575056"/>
            <a:ext cx="28575" cy="982963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2" name="Google Shape;212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373846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3" name="Google Shape;2123;p43"/>
          <p:cNvSpPr/>
          <p:nvPr/>
        </p:nvSpPr>
        <p:spPr>
          <a:xfrm>
            <a:off x="900113" y="3717931"/>
            <a:ext cx="122303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Authorization Denied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3"/>
          <p:cNvSpPr/>
          <p:nvPr/>
        </p:nvSpPr>
        <p:spPr>
          <a:xfrm>
            <a:off x="714375" y="3944745"/>
            <a:ext cx="3026355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 cert but SPIFFE ID not allowed by policy.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5" name="Google Shape;2125;p43"/>
          <p:cNvSpPr/>
          <p:nvPr/>
        </p:nvSpPr>
        <p:spPr>
          <a:xfrm>
            <a:off x="714375" y="4156184"/>
            <a:ext cx="3026355" cy="258961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43"/>
          <p:cNvSpPr/>
          <p:nvPr/>
        </p:nvSpPr>
        <p:spPr>
          <a:xfrm>
            <a:off x="714375" y="4156184"/>
            <a:ext cx="3026355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85075" spcFirstLastPara="1" rIns="85075" wrap="square" tIns="8507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Review OPA policy for SPIFFE ID.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3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43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Diagnostic Toolkit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43"/>
          <p:cNvSpPr/>
          <p:nvPr/>
        </p:nvSpPr>
        <p:spPr>
          <a:xfrm>
            <a:off x="4383667" y="1982391"/>
            <a:ext cx="1915809" cy="535781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43"/>
          <p:cNvSpPr/>
          <p:nvPr/>
        </p:nvSpPr>
        <p:spPr>
          <a:xfrm>
            <a:off x="4490824" y="2089547"/>
            <a:ext cx="170149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OpenSSL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43"/>
          <p:cNvSpPr/>
          <p:nvPr/>
        </p:nvSpPr>
        <p:spPr>
          <a:xfrm>
            <a:off x="4490824" y="2280642"/>
            <a:ext cx="170149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Verify cert chains and handshake details.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43"/>
          <p:cNvSpPr/>
          <p:nvPr/>
        </p:nvSpPr>
        <p:spPr>
          <a:xfrm>
            <a:off x="6442351" y="1982391"/>
            <a:ext cx="1915837" cy="535781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43"/>
          <p:cNvSpPr/>
          <p:nvPr/>
        </p:nvSpPr>
        <p:spPr>
          <a:xfrm>
            <a:off x="6549507" y="2089547"/>
            <a:ext cx="1701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tcpdump / Wireshark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43"/>
          <p:cNvSpPr/>
          <p:nvPr/>
        </p:nvSpPr>
        <p:spPr>
          <a:xfrm>
            <a:off x="6549507" y="2280642"/>
            <a:ext cx="1701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Analyze network traffic and TLS alerts.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43"/>
          <p:cNvSpPr/>
          <p:nvPr/>
        </p:nvSpPr>
        <p:spPr>
          <a:xfrm>
            <a:off x="4383667" y="2646759"/>
            <a:ext cx="1915809" cy="651867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43"/>
          <p:cNvSpPr/>
          <p:nvPr/>
        </p:nvSpPr>
        <p:spPr>
          <a:xfrm>
            <a:off x="4490824" y="2753916"/>
            <a:ext cx="170149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spire-agent healthcheck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43"/>
          <p:cNvSpPr/>
          <p:nvPr/>
        </p:nvSpPr>
        <p:spPr>
          <a:xfrm>
            <a:off x="4490824" y="2945011"/>
            <a:ext cx="1701496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Check SPIRE agent status and connectivity.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43"/>
          <p:cNvSpPr/>
          <p:nvPr/>
        </p:nvSpPr>
        <p:spPr>
          <a:xfrm>
            <a:off x="6442351" y="2646759"/>
            <a:ext cx="1915837" cy="63758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43"/>
          <p:cNvSpPr/>
          <p:nvPr/>
        </p:nvSpPr>
        <p:spPr>
          <a:xfrm>
            <a:off x="6549507" y="2753916"/>
            <a:ext cx="170152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OpAMP Dashboard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43"/>
          <p:cNvSpPr/>
          <p:nvPr/>
        </p:nvSpPr>
        <p:spPr>
          <a:xfrm>
            <a:off x="6549507" y="2945011"/>
            <a:ext cx="17015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Centralized view of agent errors.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3"/>
          <p:cNvSpPr/>
          <p:nvPr/>
        </p:nvSpPr>
        <p:spPr>
          <a:xfrm>
            <a:off x="4383667" y="3861197"/>
            <a:ext cx="3974520" cy="925116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43"/>
          <p:cNvSpPr/>
          <p:nvPr/>
        </p:nvSpPr>
        <p:spPr>
          <a:xfrm>
            <a:off x="4383667" y="3861197"/>
            <a:ext cx="3974520" cy="925116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$ openssl s_client -connect svc:443 -cert client.crt -key client.key</a:t>
            </a:r>
            <a:b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CONNECTED(00000003)</a:t>
            </a:r>
            <a:b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depth=1 C = US, O = Acme, CN = Intermediate CA</a:t>
            </a:r>
            <a:b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verify return:1</a:t>
            </a:r>
            <a:b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depth=0 C = US, O = Acme, CN = Service A</a:t>
            </a:r>
            <a:b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verify return:1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8" name="Google Shape;214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9" name="Google Shape;2149;p44"/>
          <p:cNvSpPr/>
          <p:nvPr/>
        </p:nvSpPr>
        <p:spPr>
          <a:xfrm>
            <a:off x="571500" y="285750"/>
            <a:ext cx="8001000" cy="58757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44"/>
          <p:cNvSpPr/>
          <p:nvPr/>
        </p:nvSpPr>
        <p:spPr>
          <a:xfrm>
            <a:off x="571500" y="859036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44"/>
          <p:cNvSpPr/>
          <p:nvPr/>
        </p:nvSpPr>
        <p:spPr>
          <a:xfrm>
            <a:off x="571500" y="285750"/>
            <a:ext cx="4352581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Post-Quantum Threat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44"/>
          <p:cNvSpPr/>
          <p:nvPr/>
        </p:nvSpPr>
        <p:spPr>
          <a:xfrm>
            <a:off x="571500" y="1001911"/>
            <a:ext cx="3409522" cy="149125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44"/>
          <p:cNvSpPr/>
          <p:nvPr/>
        </p:nvSpPr>
        <p:spPr>
          <a:xfrm>
            <a:off x="571500" y="1001911"/>
            <a:ext cx="28575" cy="1491258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44"/>
          <p:cNvSpPr/>
          <p:nvPr/>
        </p:nvSpPr>
        <p:spPr>
          <a:xfrm>
            <a:off x="714375" y="1454479"/>
            <a:ext cx="312377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Shor's Algorithm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44"/>
          <p:cNvSpPr/>
          <p:nvPr/>
        </p:nvSpPr>
        <p:spPr>
          <a:xfrm>
            <a:off x="714375" y="1720583"/>
            <a:ext cx="3123772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Quantum computers will be able to break current asymmetric encryption (RSA, ECC) used in PKI and TLS.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44"/>
          <p:cNvSpPr/>
          <p:nvPr/>
        </p:nvSpPr>
        <p:spPr>
          <a:xfrm>
            <a:off x="571500" y="2600325"/>
            <a:ext cx="3409522" cy="1491258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44"/>
          <p:cNvSpPr/>
          <p:nvPr/>
        </p:nvSpPr>
        <p:spPr>
          <a:xfrm>
            <a:off x="571500" y="2600325"/>
            <a:ext cx="28575" cy="1491258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44"/>
          <p:cNvSpPr/>
          <p:nvPr/>
        </p:nvSpPr>
        <p:spPr>
          <a:xfrm>
            <a:off x="714375" y="2972888"/>
            <a:ext cx="312377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44"/>
          <p:cNvSpPr/>
          <p:nvPr/>
        </p:nvSpPr>
        <p:spPr>
          <a:xfrm>
            <a:off x="714375" y="3238993"/>
            <a:ext cx="3123772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- All current digital signatures forged</a:t>
            </a:r>
            <a:b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- All encrypted traffic decrypted</a:t>
            </a:r>
            <a:b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- Identity verification broken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44"/>
          <p:cNvSpPr/>
          <p:nvPr/>
        </p:nvSpPr>
        <p:spPr>
          <a:xfrm>
            <a:off x="571500" y="4234458"/>
            <a:ext cx="3409522" cy="623292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44"/>
          <p:cNvSpPr/>
          <p:nvPr/>
        </p:nvSpPr>
        <p:spPr>
          <a:xfrm>
            <a:off x="678656" y="4341614"/>
            <a:ext cx="3195210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5-10 Years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44"/>
          <p:cNvSpPr/>
          <p:nvPr/>
        </p:nvSpPr>
        <p:spPr>
          <a:xfrm>
            <a:off x="678656" y="4614863"/>
            <a:ext cx="319521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Estimated Time to Q-Day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44"/>
          <p:cNvSpPr/>
          <p:nvPr/>
        </p:nvSpPr>
        <p:spPr>
          <a:xfrm>
            <a:off x="4195335" y="1001911"/>
            <a:ext cx="4377165" cy="3855839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4"/>
          <p:cNvSpPr/>
          <p:nvPr/>
        </p:nvSpPr>
        <p:spPr>
          <a:xfrm>
            <a:off x="4338210" y="1144786"/>
            <a:ext cx="409141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"Harvest Now, Decrypt Later"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44"/>
          <p:cNvSpPr/>
          <p:nvPr/>
        </p:nvSpPr>
        <p:spPr>
          <a:xfrm>
            <a:off x="4338210" y="1936849"/>
            <a:ext cx="4091415" cy="47148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4"/>
          <p:cNvSpPr/>
          <p:nvPr/>
        </p:nvSpPr>
        <p:spPr>
          <a:xfrm>
            <a:off x="4481085" y="2029718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7" name="Google Shape;216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2522" y="210115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8" name="Google Shape;2168;p44"/>
          <p:cNvSpPr/>
          <p:nvPr/>
        </p:nvSpPr>
        <p:spPr>
          <a:xfrm>
            <a:off x="4909710" y="2031504"/>
            <a:ext cx="337704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Harvest (Today)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4"/>
          <p:cNvSpPr/>
          <p:nvPr/>
        </p:nvSpPr>
        <p:spPr>
          <a:xfrm>
            <a:off x="4909710" y="2186880"/>
            <a:ext cx="337704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Adversaries capture and store encrypted traffic (TLS, VPN).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0" name="Google Shape;217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5697" y="2460129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44"/>
          <p:cNvSpPr/>
          <p:nvPr/>
        </p:nvSpPr>
        <p:spPr>
          <a:xfrm>
            <a:off x="4338210" y="2647652"/>
            <a:ext cx="4091415" cy="47148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4"/>
          <p:cNvSpPr/>
          <p:nvPr/>
        </p:nvSpPr>
        <p:spPr>
          <a:xfrm>
            <a:off x="4481085" y="2740521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3" name="Google Shape;217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522" y="281195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44"/>
          <p:cNvSpPr/>
          <p:nvPr/>
        </p:nvSpPr>
        <p:spPr>
          <a:xfrm>
            <a:off x="4909710" y="2742307"/>
            <a:ext cx="337704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Wait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4"/>
          <p:cNvSpPr/>
          <p:nvPr/>
        </p:nvSpPr>
        <p:spPr>
          <a:xfrm>
            <a:off x="4909710" y="2897684"/>
            <a:ext cx="337704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Wait for sufficiently powerful quantum computer.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6" name="Google Shape;2176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5697" y="3170932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44"/>
          <p:cNvSpPr/>
          <p:nvPr/>
        </p:nvSpPr>
        <p:spPr>
          <a:xfrm>
            <a:off x="4338210" y="3358455"/>
            <a:ext cx="4091415" cy="47148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44"/>
          <p:cNvSpPr/>
          <p:nvPr/>
        </p:nvSpPr>
        <p:spPr>
          <a:xfrm>
            <a:off x="4481085" y="3451324"/>
            <a:ext cx="285750" cy="285750"/>
          </a:xfrm>
          <a:prstGeom prst="rect">
            <a:avLst/>
          </a:prstGeom>
          <a:solidFill>
            <a:srgbClr val="DA70D6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9" name="Google Shape;2179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1452" y="3522762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44"/>
          <p:cNvSpPr/>
          <p:nvPr/>
        </p:nvSpPr>
        <p:spPr>
          <a:xfrm>
            <a:off x="4909710" y="3453110"/>
            <a:ext cx="337704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Decrypt (Future)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44"/>
          <p:cNvSpPr/>
          <p:nvPr/>
        </p:nvSpPr>
        <p:spPr>
          <a:xfrm>
            <a:off x="4909710" y="3608487"/>
            <a:ext cx="3377040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Use Shor's algorithm to derive private keys and decrypt data.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2" name="Google Shape;2182;p44"/>
          <p:cNvSpPr/>
          <p:nvPr/>
        </p:nvSpPr>
        <p:spPr>
          <a:xfrm>
            <a:off x="4338210" y="4421981"/>
            <a:ext cx="4091415" cy="292894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3" name="Google Shape;2183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47627" y="4525566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44"/>
          <p:cNvSpPr/>
          <p:nvPr/>
        </p:nvSpPr>
        <p:spPr>
          <a:xfrm>
            <a:off x="5447640" y="4507706"/>
            <a:ext cx="197256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Long-term secrets are ALREADY at risk!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90" name="Google Shape;219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185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4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4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45"/>
          <p:cNvSpPr/>
          <p:nvPr/>
        </p:nvSpPr>
        <p:spPr>
          <a:xfrm>
            <a:off x="571500" y="428625"/>
            <a:ext cx="4653902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Standards &amp; Migration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45"/>
          <p:cNvSpPr/>
          <p:nvPr/>
        </p:nvSpPr>
        <p:spPr>
          <a:xfrm>
            <a:off x="571500" y="1323380"/>
            <a:ext cx="331210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PQC Standards (2024)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45"/>
          <p:cNvSpPr/>
          <p:nvPr/>
        </p:nvSpPr>
        <p:spPr>
          <a:xfrm>
            <a:off x="571500" y="1732359"/>
            <a:ext cx="3312105" cy="101441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5"/>
          <p:cNvSpPr/>
          <p:nvPr/>
        </p:nvSpPr>
        <p:spPr>
          <a:xfrm>
            <a:off x="571500" y="1732359"/>
            <a:ext cx="28575" cy="101441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45"/>
          <p:cNvSpPr/>
          <p:nvPr/>
        </p:nvSpPr>
        <p:spPr>
          <a:xfrm>
            <a:off x="714375" y="1875234"/>
            <a:ext cx="30263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Key Encapsulation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45"/>
          <p:cNvSpPr/>
          <p:nvPr/>
        </p:nvSpPr>
        <p:spPr>
          <a:xfrm>
            <a:off x="714375" y="2027039"/>
            <a:ext cx="302635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ML-KEM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45"/>
          <p:cNvSpPr/>
          <p:nvPr/>
        </p:nvSpPr>
        <p:spPr>
          <a:xfrm>
            <a:off x="714375" y="2332434"/>
            <a:ext cx="30263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Module-Lattice-Based Key-Encapsulation Mechanism (formerly CRYSTALS-Kyber).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45"/>
          <p:cNvSpPr/>
          <p:nvPr/>
        </p:nvSpPr>
        <p:spPr>
          <a:xfrm>
            <a:off x="571500" y="2889647"/>
            <a:ext cx="3312105" cy="101441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45"/>
          <p:cNvSpPr/>
          <p:nvPr/>
        </p:nvSpPr>
        <p:spPr>
          <a:xfrm>
            <a:off x="571500" y="2889647"/>
            <a:ext cx="28575" cy="101441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45"/>
          <p:cNvSpPr/>
          <p:nvPr/>
        </p:nvSpPr>
        <p:spPr>
          <a:xfrm>
            <a:off x="714375" y="3032522"/>
            <a:ext cx="30263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45"/>
          <p:cNvSpPr/>
          <p:nvPr/>
        </p:nvSpPr>
        <p:spPr>
          <a:xfrm>
            <a:off x="714375" y="3184327"/>
            <a:ext cx="302635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ML-DSA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45"/>
          <p:cNvSpPr/>
          <p:nvPr/>
        </p:nvSpPr>
        <p:spPr>
          <a:xfrm>
            <a:off x="714375" y="3489722"/>
            <a:ext cx="30263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Module-Lattice-Based Digital Signature Standard (formerly CRYSTALS-Dilithium).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45"/>
          <p:cNvSpPr/>
          <p:nvPr/>
        </p:nvSpPr>
        <p:spPr>
          <a:xfrm>
            <a:off x="571500" y="4046934"/>
            <a:ext cx="3312105" cy="101441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45"/>
          <p:cNvSpPr/>
          <p:nvPr/>
        </p:nvSpPr>
        <p:spPr>
          <a:xfrm>
            <a:off x="571500" y="4046934"/>
            <a:ext cx="28575" cy="101441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45"/>
          <p:cNvSpPr/>
          <p:nvPr/>
        </p:nvSpPr>
        <p:spPr>
          <a:xfrm>
            <a:off x="714375" y="4189809"/>
            <a:ext cx="302635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Digital 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45"/>
          <p:cNvSpPr/>
          <p:nvPr/>
        </p:nvSpPr>
        <p:spPr>
          <a:xfrm>
            <a:off x="714375" y="4341614"/>
            <a:ext cx="302635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SLH-DSA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9" name="Google Shape;2209;p45"/>
          <p:cNvSpPr/>
          <p:nvPr/>
        </p:nvSpPr>
        <p:spPr>
          <a:xfrm>
            <a:off x="714375" y="4647009"/>
            <a:ext cx="30263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Stateless Hash-Based Digital Signature Standard (formerly SPHINCS+).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45"/>
          <p:cNvSpPr/>
          <p:nvPr/>
        </p:nvSpPr>
        <p:spPr>
          <a:xfrm>
            <a:off x="4169355" y="1323380"/>
            <a:ext cx="4403145" cy="3737967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5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Transition Strategy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45"/>
          <p:cNvSpPr/>
          <p:nvPr/>
        </p:nvSpPr>
        <p:spPr>
          <a:xfrm>
            <a:off x="4383667" y="1982391"/>
            <a:ext cx="3974520" cy="1162645"/>
          </a:xfrm>
          <a:prstGeom prst="rect">
            <a:avLst/>
          </a:prstGeom>
          <a:solidFill>
            <a:srgbClr val="DA70D6">
              <a:alpha val="9803"/>
            </a:srgbClr>
          </a:solidFill>
          <a:ln cap="flat" cmpd="sng" w="952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45"/>
          <p:cNvSpPr/>
          <p:nvPr/>
        </p:nvSpPr>
        <p:spPr>
          <a:xfrm>
            <a:off x="4526542" y="2125266"/>
            <a:ext cx="368877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Hybrid Certificates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45"/>
          <p:cNvSpPr/>
          <p:nvPr/>
        </p:nvSpPr>
        <p:spPr>
          <a:xfrm>
            <a:off x="4526542" y="2371725"/>
            <a:ext cx="368877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 classical (RSA/ECC) and post-quantum keys in a single certificate for backward compatibility.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45"/>
          <p:cNvSpPr/>
          <p:nvPr/>
        </p:nvSpPr>
        <p:spPr>
          <a:xfrm>
            <a:off x="5622773" y="2714625"/>
            <a:ext cx="686749" cy="273248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45"/>
          <p:cNvSpPr/>
          <p:nvPr/>
        </p:nvSpPr>
        <p:spPr>
          <a:xfrm>
            <a:off x="5622773" y="2714625"/>
            <a:ext cx="686749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RSA-2048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45"/>
          <p:cNvSpPr/>
          <p:nvPr/>
        </p:nvSpPr>
        <p:spPr>
          <a:xfrm>
            <a:off x="6373816" y="2714625"/>
            <a:ext cx="738122" cy="258961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45"/>
          <p:cNvSpPr/>
          <p:nvPr/>
        </p:nvSpPr>
        <p:spPr>
          <a:xfrm>
            <a:off x="6373816" y="2714625"/>
            <a:ext cx="738122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ML-DSA-44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45"/>
          <p:cNvSpPr/>
          <p:nvPr/>
        </p:nvSpPr>
        <p:spPr>
          <a:xfrm>
            <a:off x="4383667" y="3295055"/>
            <a:ext cx="3571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5"/>
          <p:cNvSpPr/>
          <p:nvPr/>
        </p:nvSpPr>
        <p:spPr>
          <a:xfrm>
            <a:off x="4848011" y="3295055"/>
            <a:ext cx="300377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Inventory all crypto assets and identify PQC-vulnerable systems.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45"/>
          <p:cNvSpPr/>
          <p:nvPr/>
        </p:nvSpPr>
        <p:spPr>
          <a:xfrm>
            <a:off x="4383667" y="3557588"/>
            <a:ext cx="3571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45"/>
          <p:cNvSpPr/>
          <p:nvPr/>
        </p:nvSpPr>
        <p:spPr>
          <a:xfrm>
            <a:off x="4848011" y="3557588"/>
            <a:ext cx="265384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Pilot hybrid certificates in non-production environments.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5"/>
          <p:cNvSpPr/>
          <p:nvPr/>
        </p:nvSpPr>
        <p:spPr>
          <a:xfrm>
            <a:off x="4383667" y="3820120"/>
            <a:ext cx="3571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2028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45"/>
          <p:cNvSpPr/>
          <p:nvPr/>
        </p:nvSpPr>
        <p:spPr>
          <a:xfrm>
            <a:off x="4848011" y="3820120"/>
            <a:ext cx="255863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Enforce hybrid certificates for all new internal services.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45"/>
          <p:cNvSpPr/>
          <p:nvPr/>
        </p:nvSpPr>
        <p:spPr>
          <a:xfrm>
            <a:off x="4383667" y="4082653"/>
            <a:ext cx="35718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2030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5"/>
          <p:cNvSpPr/>
          <p:nvPr/>
        </p:nvSpPr>
        <p:spPr>
          <a:xfrm>
            <a:off x="4848011" y="4082653"/>
            <a:ext cx="237200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Deprecate classical algorithms for high-value data.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32" name="Google Shape;223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3" name="Google Shape;2233;p4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4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6"/>
          <p:cNvSpPr/>
          <p:nvPr/>
        </p:nvSpPr>
        <p:spPr>
          <a:xfrm>
            <a:off x="571500" y="428625"/>
            <a:ext cx="4342507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Crypto-Agility &amp; Roadmap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46"/>
          <p:cNvSpPr/>
          <p:nvPr/>
        </p:nvSpPr>
        <p:spPr>
          <a:xfrm>
            <a:off x="571500" y="1323380"/>
            <a:ext cx="3312105" cy="1173361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6"/>
          <p:cNvSpPr/>
          <p:nvPr/>
        </p:nvSpPr>
        <p:spPr>
          <a:xfrm>
            <a:off x="571500" y="1323380"/>
            <a:ext cx="28575" cy="1173361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46"/>
          <p:cNvSpPr/>
          <p:nvPr/>
        </p:nvSpPr>
        <p:spPr>
          <a:xfrm>
            <a:off x="750094" y="1501973"/>
            <a:ext cx="2954917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Trust Broker Architecture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9" name="Google Shape;2239;p46"/>
          <p:cNvSpPr/>
          <p:nvPr/>
        </p:nvSpPr>
        <p:spPr>
          <a:xfrm>
            <a:off x="750094" y="1803797"/>
            <a:ext cx="295491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Decouples applications from specific cryptographic algorithms. The Trust Broker negotiates the strongest mutually supported algorithm.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46"/>
          <p:cNvSpPr/>
          <p:nvPr/>
        </p:nvSpPr>
        <p:spPr>
          <a:xfrm>
            <a:off x="571500" y="2818209"/>
            <a:ext cx="3312105" cy="873323"/>
          </a:xfrm>
          <a:prstGeom prst="rect">
            <a:avLst/>
          </a:prstGeom>
          <a:solidFill>
            <a:srgbClr val="11224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6"/>
          <p:cNvSpPr/>
          <p:nvPr/>
        </p:nvSpPr>
        <p:spPr>
          <a:xfrm>
            <a:off x="714375" y="2961084"/>
            <a:ext cx="302635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 Negotiation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46"/>
          <p:cNvSpPr/>
          <p:nvPr/>
        </p:nvSpPr>
        <p:spPr>
          <a:xfrm>
            <a:off x="714375" y="3187898"/>
            <a:ext cx="408756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46"/>
          <p:cNvSpPr/>
          <p:nvPr/>
        </p:nvSpPr>
        <p:spPr>
          <a:xfrm>
            <a:off x="714375" y="3187898"/>
            <a:ext cx="408756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App A</a:t>
            </a:r>
            <a:b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(RSA)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4" name="Google Shape;224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0496" y="3317379"/>
            <a:ext cx="750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5" name="Google Shape;2245;p46"/>
          <p:cNvSpPr/>
          <p:nvPr/>
        </p:nvSpPr>
        <p:spPr>
          <a:xfrm>
            <a:off x="1892871" y="3187898"/>
            <a:ext cx="668331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46"/>
          <p:cNvSpPr/>
          <p:nvPr/>
        </p:nvSpPr>
        <p:spPr>
          <a:xfrm>
            <a:off x="1892871" y="3187898"/>
            <a:ext cx="668331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Trust Broker</a:t>
            </a:r>
            <a:br>
              <a:rPr b="0" i="0" lang="en-US" sz="621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(Hybrid)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7" name="Google Shape;224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8567" y="3317379"/>
            <a:ext cx="75009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46"/>
          <p:cNvSpPr/>
          <p:nvPr/>
        </p:nvSpPr>
        <p:spPr>
          <a:xfrm>
            <a:off x="3330941" y="3187898"/>
            <a:ext cx="409705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46"/>
          <p:cNvSpPr/>
          <p:nvPr/>
        </p:nvSpPr>
        <p:spPr>
          <a:xfrm>
            <a:off x="3330941" y="3187898"/>
            <a:ext cx="409705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App B</a:t>
            </a:r>
            <a:b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(PQC)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6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46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5-Year Migration Plan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46"/>
          <p:cNvSpPr/>
          <p:nvPr/>
        </p:nvSpPr>
        <p:spPr>
          <a:xfrm>
            <a:off x="4383667" y="1946672"/>
            <a:ext cx="357188" cy="357188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46"/>
          <p:cNvSpPr/>
          <p:nvPr/>
        </p:nvSpPr>
        <p:spPr>
          <a:xfrm>
            <a:off x="4383667" y="1946672"/>
            <a:ext cx="357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4" name="Google Shape;2254;p46"/>
          <p:cNvSpPr/>
          <p:nvPr/>
        </p:nvSpPr>
        <p:spPr>
          <a:xfrm>
            <a:off x="4883730" y="1946672"/>
            <a:ext cx="3474458" cy="54649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46"/>
          <p:cNvSpPr/>
          <p:nvPr/>
        </p:nvSpPr>
        <p:spPr>
          <a:xfrm>
            <a:off x="4990886" y="2053828"/>
            <a:ext cx="32601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Discovery &amp; Inventory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46"/>
          <p:cNvSpPr/>
          <p:nvPr/>
        </p:nvSpPr>
        <p:spPr>
          <a:xfrm>
            <a:off x="4990886" y="2244923"/>
            <a:ext cx="326014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Scan all systems to identify crypto assets and hardcoded keys.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46"/>
          <p:cNvSpPr/>
          <p:nvPr/>
        </p:nvSpPr>
        <p:spPr>
          <a:xfrm>
            <a:off x="7969160" y="2053828"/>
            <a:ext cx="281871" cy="144661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8" name="Google Shape;2258;p46"/>
          <p:cNvSpPr/>
          <p:nvPr/>
        </p:nvSpPr>
        <p:spPr>
          <a:xfrm>
            <a:off x="7969160" y="2053828"/>
            <a:ext cx="281871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46"/>
          <p:cNvSpPr/>
          <p:nvPr/>
        </p:nvSpPr>
        <p:spPr>
          <a:xfrm>
            <a:off x="4383667" y="2586038"/>
            <a:ext cx="357188" cy="357188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46"/>
          <p:cNvSpPr/>
          <p:nvPr/>
        </p:nvSpPr>
        <p:spPr>
          <a:xfrm>
            <a:off x="4383667" y="2586038"/>
            <a:ext cx="357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46"/>
          <p:cNvSpPr/>
          <p:nvPr/>
        </p:nvSpPr>
        <p:spPr>
          <a:xfrm>
            <a:off x="4883730" y="2586038"/>
            <a:ext cx="3474458" cy="54649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46"/>
          <p:cNvSpPr/>
          <p:nvPr/>
        </p:nvSpPr>
        <p:spPr>
          <a:xfrm>
            <a:off x="4990886" y="2693194"/>
            <a:ext cx="32601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Pilot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46"/>
          <p:cNvSpPr/>
          <p:nvPr/>
        </p:nvSpPr>
        <p:spPr>
          <a:xfrm>
            <a:off x="4990886" y="2884289"/>
            <a:ext cx="326014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Deploy hybrid certificates (RSA + ML-DSA) in staging environments.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46"/>
          <p:cNvSpPr/>
          <p:nvPr/>
        </p:nvSpPr>
        <p:spPr>
          <a:xfrm>
            <a:off x="7969160" y="2693194"/>
            <a:ext cx="281871" cy="144661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46"/>
          <p:cNvSpPr/>
          <p:nvPr/>
        </p:nvSpPr>
        <p:spPr>
          <a:xfrm>
            <a:off x="7969160" y="2693194"/>
            <a:ext cx="281871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46"/>
          <p:cNvSpPr/>
          <p:nvPr/>
        </p:nvSpPr>
        <p:spPr>
          <a:xfrm>
            <a:off x="4383667" y="3225403"/>
            <a:ext cx="357188" cy="357188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46"/>
          <p:cNvSpPr/>
          <p:nvPr/>
        </p:nvSpPr>
        <p:spPr>
          <a:xfrm>
            <a:off x="4383667" y="3225403"/>
            <a:ext cx="357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46"/>
          <p:cNvSpPr/>
          <p:nvPr/>
        </p:nvSpPr>
        <p:spPr>
          <a:xfrm>
            <a:off x="4883730" y="3225403"/>
            <a:ext cx="3474458" cy="54649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46"/>
          <p:cNvSpPr/>
          <p:nvPr/>
        </p:nvSpPr>
        <p:spPr>
          <a:xfrm>
            <a:off x="4990886" y="3332559"/>
            <a:ext cx="32601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 Upgrade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46"/>
          <p:cNvSpPr/>
          <p:nvPr/>
        </p:nvSpPr>
        <p:spPr>
          <a:xfrm>
            <a:off x="4990886" y="3523655"/>
            <a:ext cx="326014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Upgrade PKI, load balancers, and gateways to support PQC.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6"/>
          <p:cNvSpPr/>
          <p:nvPr/>
        </p:nvSpPr>
        <p:spPr>
          <a:xfrm>
            <a:off x="7969160" y="3332559"/>
            <a:ext cx="281871" cy="144661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46"/>
          <p:cNvSpPr/>
          <p:nvPr/>
        </p:nvSpPr>
        <p:spPr>
          <a:xfrm>
            <a:off x="7969160" y="3332559"/>
            <a:ext cx="281871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6"/>
          <p:cNvSpPr/>
          <p:nvPr/>
        </p:nvSpPr>
        <p:spPr>
          <a:xfrm>
            <a:off x="4383667" y="3864769"/>
            <a:ext cx="357188" cy="357188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DA7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46"/>
          <p:cNvSpPr/>
          <p:nvPr/>
        </p:nvSpPr>
        <p:spPr>
          <a:xfrm>
            <a:off x="4383667" y="3864769"/>
            <a:ext cx="357188" cy="357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DA70D6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DA70D6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6"/>
          <p:cNvSpPr/>
          <p:nvPr/>
        </p:nvSpPr>
        <p:spPr>
          <a:xfrm>
            <a:off x="4883730" y="3864769"/>
            <a:ext cx="3474458" cy="54649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4705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46"/>
          <p:cNvSpPr/>
          <p:nvPr/>
        </p:nvSpPr>
        <p:spPr>
          <a:xfrm>
            <a:off x="4990886" y="3971925"/>
            <a:ext cx="326014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Migration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46"/>
          <p:cNvSpPr/>
          <p:nvPr/>
        </p:nvSpPr>
        <p:spPr>
          <a:xfrm>
            <a:off x="4990886" y="4163020"/>
            <a:ext cx="3260145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Enforce PQC for all new certificates; rotate existing ones.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6"/>
          <p:cNvSpPr/>
          <p:nvPr/>
        </p:nvSpPr>
        <p:spPr>
          <a:xfrm>
            <a:off x="7969160" y="3971925"/>
            <a:ext cx="281871" cy="144661"/>
          </a:xfrm>
          <a:prstGeom prst="rect">
            <a:avLst/>
          </a:prstGeom>
          <a:solidFill>
            <a:srgbClr val="000000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46"/>
          <p:cNvSpPr/>
          <p:nvPr/>
        </p:nvSpPr>
        <p:spPr>
          <a:xfrm>
            <a:off x="7969160" y="3971925"/>
            <a:ext cx="281871" cy="144661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85" name="Google Shape;228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6" name="Google Shape;2286;p4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7" name="Google Shape;2287;p4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47"/>
          <p:cNvSpPr/>
          <p:nvPr/>
        </p:nvSpPr>
        <p:spPr>
          <a:xfrm>
            <a:off x="571500" y="428625"/>
            <a:ext cx="252807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47"/>
          <p:cNvSpPr/>
          <p:nvPr/>
        </p:nvSpPr>
        <p:spPr>
          <a:xfrm>
            <a:off x="571500" y="1323380"/>
            <a:ext cx="3974520" cy="77649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47"/>
          <p:cNvSpPr/>
          <p:nvPr/>
        </p:nvSpPr>
        <p:spPr>
          <a:xfrm>
            <a:off x="571500" y="1323380"/>
            <a:ext cx="28575" cy="77649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47"/>
          <p:cNvSpPr/>
          <p:nvPr/>
        </p:nvSpPr>
        <p:spPr>
          <a:xfrm>
            <a:off x="714375" y="1466255"/>
            <a:ext cx="285750" cy="285750"/>
          </a:xfrm>
          <a:prstGeom prst="rect">
            <a:avLst/>
          </a:prstGeom>
          <a:solidFill>
            <a:srgbClr val="00B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2" name="Google Shape;229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956" y="154483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47"/>
          <p:cNvSpPr/>
          <p:nvPr/>
        </p:nvSpPr>
        <p:spPr>
          <a:xfrm>
            <a:off x="1107281" y="1466255"/>
            <a:ext cx="32958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True Zero Trust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47"/>
          <p:cNvSpPr/>
          <p:nvPr/>
        </p:nvSpPr>
        <p:spPr>
          <a:xfrm>
            <a:off x="1107281" y="1676995"/>
            <a:ext cx="329586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Identity-based segmentation for every workload, device, and user. No implicit trust zones.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47"/>
          <p:cNvSpPr/>
          <p:nvPr/>
        </p:nvSpPr>
        <p:spPr>
          <a:xfrm>
            <a:off x="571500" y="2242747"/>
            <a:ext cx="3974520" cy="77649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47"/>
          <p:cNvSpPr/>
          <p:nvPr/>
        </p:nvSpPr>
        <p:spPr>
          <a:xfrm>
            <a:off x="571500" y="2242747"/>
            <a:ext cx="28575" cy="776492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47"/>
          <p:cNvSpPr/>
          <p:nvPr/>
        </p:nvSpPr>
        <p:spPr>
          <a:xfrm>
            <a:off x="714375" y="2385622"/>
            <a:ext cx="285750" cy="285750"/>
          </a:xfrm>
          <a:prstGeom prst="rect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8" name="Google Shape;229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883" y="2464203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299" name="Google Shape;2299;p47"/>
          <p:cNvSpPr/>
          <p:nvPr/>
        </p:nvSpPr>
        <p:spPr>
          <a:xfrm>
            <a:off x="1107281" y="2385622"/>
            <a:ext cx="32958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Automation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47"/>
          <p:cNvSpPr/>
          <p:nvPr/>
        </p:nvSpPr>
        <p:spPr>
          <a:xfrm>
            <a:off x="1107281" y="2596362"/>
            <a:ext cx="329586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Zero-touch provisioning, automatic renewal, and API-driven revocation. No manual ops.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47"/>
          <p:cNvSpPr/>
          <p:nvPr/>
        </p:nvSpPr>
        <p:spPr>
          <a:xfrm>
            <a:off x="571500" y="3162114"/>
            <a:ext cx="3974520" cy="77649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47"/>
          <p:cNvSpPr/>
          <p:nvPr/>
        </p:nvSpPr>
        <p:spPr>
          <a:xfrm>
            <a:off x="571500" y="3162114"/>
            <a:ext cx="28575" cy="7764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47"/>
          <p:cNvSpPr/>
          <p:nvPr/>
        </p:nvSpPr>
        <p:spPr>
          <a:xfrm>
            <a:off x="714375" y="3304989"/>
            <a:ext cx="285750" cy="285750"/>
          </a:xfrm>
          <a:prstGeom prst="rect">
            <a:avLst/>
          </a:prstGeom>
          <a:solidFill>
            <a:srgbClr val="FFD7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4" name="Google Shape;2304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956" y="338357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05" name="Google Shape;2305;p47"/>
          <p:cNvSpPr/>
          <p:nvPr/>
        </p:nvSpPr>
        <p:spPr>
          <a:xfrm>
            <a:off x="1107281" y="3304989"/>
            <a:ext cx="32958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Resilient Infrastructure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47"/>
          <p:cNvSpPr/>
          <p:nvPr/>
        </p:nvSpPr>
        <p:spPr>
          <a:xfrm>
            <a:off x="1107281" y="3515730"/>
            <a:ext cx="329586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Multi-region active-active PKI with 99.99% availability and blast radius containment.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47"/>
          <p:cNvSpPr/>
          <p:nvPr/>
        </p:nvSpPr>
        <p:spPr>
          <a:xfrm>
            <a:off x="571500" y="4081481"/>
            <a:ext cx="3974520" cy="776492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47"/>
          <p:cNvSpPr/>
          <p:nvPr/>
        </p:nvSpPr>
        <p:spPr>
          <a:xfrm>
            <a:off x="571500" y="4081481"/>
            <a:ext cx="28575" cy="776492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47"/>
          <p:cNvSpPr/>
          <p:nvPr/>
        </p:nvSpPr>
        <p:spPr>
          <a:xfrm>
            <a:off x="714375" y="4224356"/>
            <a:ext cx="285750" cy="285750"/>
          </a:xfrm>
          <a:prstGeom prst="rect">
            <a:avLst/>
          </a:prstGeom>
          <a:solidFill>
            <a:srgbClr val="DA70D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0" name="Google Shape;2310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956" y="430293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11" name="Google Shape;2311;p47"/>
          <p:cNvSpPr/>
          <p:nvPr/>
        </p:nvSpPr>
        <p:spPr>
          <a:xfrm>
            <a:off x="1107281" y="4224356"/>
            <a:ext cx="329586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Future-Proof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47"/>
          <p:cNvSpPr/>
          <p:nvPr/>
        </p:nvSpPr>
        <p:spPr>
          <a:xfrm>
            <a:off x="1107281" y="4435097"/>
            <a:ext cx="3295864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Crypto-agile architecture ready for post-quantum migration with hybrid certificates.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47"/>
          <p:cNvSpPr/>
          <p:nvPr/>
        </p:nvSpPr>
        <p:spPr>
          <a:xfrm>
            <a:off x="4831770" y="1323380"/>
            <a:ext cx="3740730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47"/>
          <p:cNvSpPr/>
          <p:nvPr/>
        </p:nvSpPr>
        <p:spPr>
          <a:xfrm>
            <a:off x="5046083" y="1997571"/>
            <a:ext cx="331210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Impact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47"/>
          <p:cNvSpPr/>
          <p:nvPr/>
        </p:nvSpPr>
        <p:spPr>
          <a:xfrm>
            <a:off x="5046083" y="2461915"/>
            <a:ext cx="1584601" cy="61436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47"/>
          <p:cNvSpPr/>
          <p:nvPr/>
        </p:nvSpPr>
        <p:spPr>
          <a:xfrm>
            <a:off x="5153239" y="2569071"/>
            <a:ext cx="13702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47"/>
          <p:cNvSpPr/>
          <p:nvPr/>
        </p:nvSpPr>
        <p:spPr>
          <a:xfrm>
            <a:off x="5153239" y="2838748"/>
            <a:ext cx="13702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47"/>
          <p:cNvSpPr/>
          <p:nvPr/>
        </p:nvSpPr>
        <p:spPr>
          <a:xfrm>
            <a:off x="6773559" y="2461915"/>
            <a:ext cx="1584629" cy="61436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47"/>
          <p:cNvSpPr/>
          <p:nvPr/>
        </p:nvSpPr>
        <p:spPr>
          <a:xfrm>
            <a:off x="6880715" y="2576215"/>
            <a:ext cx="137031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47"/>
          <p:cNvSpPr/>
          <p:nvPr/>
        </p:nvSpPr>
        <p:spPr>
          <a:xfrm>
            <a:off x="6880715" y="2845891"/>
            <a:ext cx="137031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Outages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47"/>
          <p:cNvSpPr/>
          <p:nvPr/>
        </p:nvSpPr>
        <p:spPr>
          <a:xfrm>
            <a:off x="5046083" y="3212009"/>
            <a:ext cx="1584601" cy="61436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47"/>
          <p:cNvSpPr/>
          <p:nvPr/>
        </p:nvSpPr>
        <p:spPr>
          <a:xfrm>
            <a:off x="5153239" y="3319165"/>
            <a:ext cx="137028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47"/>
          <p:cNvSpPr/>
          <p:nvPr/>
        </p:nvSpPr>
        <p:spPr>
          <a:xfrm>
            <a:off x="5153239" y="3588841"/>
            <a:ext cx="137028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Audit Savings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47"/>
          <p:cNvSpPr/>
          <p:nvPr/>
        </p:nvSpPr>
        <p:spPr>
          <a:xfrm>
            <a:off x="6773559" y="3212009"/>
            <a:ext cx="1584629" cy="61436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47"/>
          <p:cNvSpPr/>
          <p:nvPr/>
        </p:nvSpPr>
        <p:spPr>
          <a:xfrm>
            <a:off x="6880715" y="3326309"/>
            <a:ext cx="1370316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2.5mo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47"/>
          <p:cNvSpPr/>
          <p:nvPr/>
        </p:nvSpPr>
        <p:spPr>
          <a:xfrm>
            <a:off x="6880715" y="3595985"/>
            <a:ext cx="137031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ROI Payback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7" name="Google Shape;2327;p47"/>
          <p:cNvSpPr/>
          <p:nvPr/>
        </p:nvSpPr>
        <p:spPr>
          <a:xfrm>
            <a:off x="5046083" y="4140696"/>
            <a:ext cx="33121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1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"Security that enables speed, not hinders it."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47"/>
          <p:cNvSpPr/>
          <p:nvPr/>
        </p:nvSpPr>
        <p:spPr>
          <a:xfrm>
            <a:off x="5046083" y="3997821"/>
            <a:ext cx="11204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0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45"/>
              <a:buFont typeface="Calibri"/>
              <a:buNone/>
            </a:pPr>
            <a:r>
              <a:rPr b="0" i="1" lang="en-US" sz="214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\"</a:t>
            </a:r>
            <a:endParaRPr b="0" i="0" sz="2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34" name="Google Shape;233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5" name="Google Shape;2335;p4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4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8"/>
          <p:cNvSpPr/>
          <p:nvPr/>
        </p:nvSpPr>
        <p:spPr>
          <a:xfrm>
            <a:off x="571500" y="428625"/>
            <a:ext cx="5057747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Suite Navigation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48"/>
          <p:cNvSpPr/>
          <p:nvPr/>
        </p:nvSpPr>
        <p:spPr>
          <a:xfrm>
            <a:off x="571500" y="2021877"/>
            <a:ext cx="800100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Agent Management Series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9" name="Google Shape;2339;p48"/>
          <p:cNvSpPr/>
          <p:nvPr/>
        </p:nvSpPr>
        <p:spPr>
          <a:xfrm>
            <a:off x="571500" y="2541584"/>
            <a:ext cx="1866305" cy="1760544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48"/>
          <p:cNvSpPr/>
          <p:nvPr/>
        </p:nvSpPr>
        <p:spPr>
          <a:xfrm>
            <a:off x="750094" y="2720178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1" name="Google Shape;234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247" y="2813047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48"/>
          <p:cNvSpPr/>
          <p:nvPr/>
        </p:nvSpPr>
        <p:spPr>
          <a:xfrm>
            <a:off x="750094" y="3184522"/>
            <a:ext cx="1509117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OpAMP Architecture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48"/>
          <p:cNvSpPr/>
          <p:nvPr/>
        </p:nvSpPr>
        <p:spPr>
          <a:xfrm>
            <a:off x="750094" y="3458831"/>
            <a:ext cx="1509117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Foundation, supervisor proxy, and core benefits.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48"/>
          <p:cNvSpPr/>
          <p:nvPr/>
        </p:nvSpPr>
        <p:spPr>
          <a:xfrm>
            <a:off x="750094" y="4007448"/>
            <a:ext cx="150911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5" name="Google Shape;2345;p48"/>
          <p:cNvSpPr/>
          <p:nvPr/>
        </p:nvSpPr>
        <p:spPr>
          <a:xfrm>
            <a:off x="2616398" y="2541584"/>
            <a:ext cx="1866305" cy="1760544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48"/>
          <p:cNvSpPr/>
          <p:nvPr/>
        </p:nvSpPr>
        <p:spPr>
          <a:xfrm>
            <a:off x="2794992" y="2720178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7" name="Google Shape;234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6430" y="2813047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48"/>
          <p:cNvSpPr/>
          <p:nvPr/>
        </p:nvSpPr>
        <p:spPr>
          <a:xfrm>
            <a:off x="2794992" y="3184522"/>
            <a:ext cx="1509117" cy="16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Agent Management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48"/>
          <p:cNvSpPr/>
          <p:nvPr/>
        </p:nvSpPr>
        <p:spPr>
          <a:xfrm>
            <a:off x="2794992" y="3458831"/>
            <a:ext cx="1509117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Operational deep dive, onboarding, and workflows.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48"/>
          <p:cNvSpPr/>
          <p:nvPr/>
        </p:nvSpPr>
        <p:spPr>
          <a:xfrm>
            <a:off x="2794992" y="4007448"/>
            <a:ext cx="150911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48"/>
          <p:cNvSpPr/>
          <p:nvPr/>
        </p:nvSpPr>
        <p:spPr>
          <a:xfrm>
            <a:off x="4614639" y="2497571"/>
            <a:ext cx="1959620" cy="1848571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48"/>
          <p:cNvSpPr/>
          <p:nvPr/>
        </p:nvSpPr>
        <p:spPr>
          <a:xfrm>
            <a:off x="4802163" y="2685094"/>
            <a:ext cx="375047" cy="375047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3" name="Google Shape;2353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9675" y="2782606"/>
            <a:ext cx="180022" cy="180023"/>
          </a:xfrm>
          <a:prstGeom prst="rect">
            <a:avLst/>
          </a:prstGeom>
          <a:noFill/>
          <a:ln>
            <a:noFill/>
          </a:ln>
        </p:spPr>
      </p:pic>
      <p:sp>
        <p:nvSpPr>
          <p:cNvPr id="2354" name="Google Shape;2354;p48"/>
          <p:cNvSpPr/>
          <p:nvPr/>
        </p:nvSpPr>
        <p:spPr>
          <a:xfrm>
            <a:off x="4802163" y="3172655"/>
            <a:ext cx="1584573" cy="35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Zero Trust Architecture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48"/>
          <p:cNvSpPr/>
          <p:nvPr/>
        </p:nvSpPr>
        <p:spPr>
          <a:xfrm>
            <a:off x="4802163" y="3636190"/>
            <a:ext cx="1584573" cy="273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PKI infrastructure, mTLS, and quantum readiness.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48"/>
          <p:cNvSpPr/>
          <p:nvPr/>
        </p:nvSpPr>
        <p:spPr>
          <a:xfrm>
            <a:off x="4802163" y="4036728"/>
            <a:ext cx="1584573" cy="12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Current Presentation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48"/>
          <p:cNvSpPr/>
          <p:nvPr/>
        </p:nvSpPr>
        <p:spPr>
          <a:xfrm>
            <a:off x="6706195" y="2541584"/>
            <a:ext cx="1866305" cy="1760544"/>
          </a:xfrm>
          <a:prstGeom prst="rect">
            <a:avLst/>
          </a:prstGeom>
          <a:solidFill>
            <a:srgbClr val="FFFFFF">
              <a:alpha val="1960"/>
            </a:srgbClr>
          </a:solidFill>
          <a:ln cap="flat" cmpd="sng" w="9525">
            <a:solidFill>
              <a:srgbClr val="FFFFFF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48"/>
          <p:cNvSpPr/>
          <p:nvPr/>
        </p:nvSpPr>
        <p:spPr>
          <a:xfrm>
            <a:off x="6884789" y="2727322"/>
            <a:ext cx="357188" cy="35718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9" name="Google Shape;2359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77658" y="28201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48"/>
          <p:cNvSpPr/>
          <p:nvPr/>
        </p:nvSpPr>
        <p:spPr>
          <a:xfrm>
            <a:off x="6884789" y="3191666"/>
            <a:ext cx="1509117" cy="334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Certificate Operations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48"/>
          <p:cNvSpPr/>
          <p:nvPr/>
        </p:nvSpPr>
        <p:spPr>
          <a:xfrm>
            <a:off x="6884789" y="3633127"/>
            <a:ext cx="1509117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Lifecycle automation, troubleshooting, and compliance.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48"/>
          <p:cNvSpPr/>
          <p:nvPr/>
        </p:nvSpPr>
        <p:spPr>
          <a:xfrm>
            <a:off x="6884789" y="4000305"/>
            <a:ext cx="150911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Next Up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8" name="Google Shape;236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84577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4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4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49"/>
          <p:cNvSpPr/>
          <p:nvPr/>
        </p:nvSpPr>
        <p:spPr>
          <a:xfrm>
            <a:off x="571500" y="428625"/>
            <a:ext cx="75601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49"/>
          <p:cNvSpPr/>
          <p:nvPr/>
        </p:nvSpPr>
        <p:spPr>
          <a:xfrm>
            <a:off x="4000500" y="1323380"/>
            <a:ext cx="1143000" cy="1143000"/>
          </a:xfrm>
          <a:prstGeom prst="ellipse">
            <a:avLst/>
          </a:prstGeom>
          <a:solidFill>
            <a:srgbClr val="00BFFF">
              <a:alpha val="9803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3" name="Google Shape;237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813" y="1609130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4" name="Google Shape;2374;p49"/>
          <p:cNvSpPr/>
          <p:nvPr/>
        </p:nvSpPr>
        <p:spPr>
          <a:xfrm>
            <a:off x="1879309" y="2752130"/>
            <a:ext cx="5385383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49"/>
          <p:cNvSpPr/>
          <p:nvPr/>
        </p:nvSpPr>
        <p:spPr>
          <a:xfrm>
            <a:off x="1714500" y="3661172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Open floor for questions regarding Zero Trust Architecture, PKI Infrastructure, or mTLS Implementation.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49"/>
          <p:cNvSpPr/>
          <p:nvPr/>
        </p:nvSpPr>
        <p:spPr>
          <a:xfrm>
            <a:off x="2460659" y="4604147"/>
            <a:ext cx="2228906" cy="423267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7" name="Google Shape;237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6397" y="4745236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8" name="Google Shape;2378;p49"/>
          <p:cNvSpPr/>
          <p:nvPr/>
        </p:nvSpPr>
        <p:spPr>
          <a:xfrm>
            <a:off x="2896428" y="4738092"/>
            <a:ext cx="16074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security-arch@company.com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49"/>
          <p:cNvSpPr/>
          <p:nvPr/>
        </p:nvSpPr>
        <p:spPr>
          <a:xfrm>
            <a:off x="4968171" y="4604147"/>
            <a:ext cx="1708026" cy="423267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0" name="Google Shape;238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53909" y="4738092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1" name="Google Shape;2381;p49"/>
          <p:cNvSpPr/>
          <p:nvPr/>
        </p:nvSpPr>
        <p:spPr>
          <a:xfrm>
            <a:off x="5386081" y="4730948"/>
            <a:ext cx="110437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wiki/zero-trust-arch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7" name="Google Shape;238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5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5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50"/>
          <p:cNvSpPr/>
          <p:nvPr/>
        </p:nvSpPr>
        <p:spPr>
          <a:xfrm>
            <a:off x="571500" y="428625"/>
            <a:ext cx="176020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50"/>
          <p:cNvSpPr/>
          <p:nvPr/>
        </p:nvSpPr>
        <p:spPr>
          <a:xfrm>
            <a:off x="3056381" y="1875067"/>
            <a:ext cx="3031238" cy="778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77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4145"/>
              <a:buFont typeface="Calibri"/>
              <a:buNone/>
            </a:pPr>
            <a:r>
              <a:rPr b="1" i="0" lang="en-US" sz="4145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50"/>
          <p:cNvSpPr/>
          <p:nvPr/>
        </p:nvSpPr>
        <p:spPr>
          <a:xfrm>
            <a:off x="1714500" y="3010923"/>
            <a:ext cx="5715000" cy="548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7336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Building a secure, automated, and future-proof foundation for the enterprise.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3" name="Google Shape;239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8310" y="411496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4" name="Google Shape;2394;p50"/>
          <p:cNvSpPr/>
          <p:nvPr/>
        </p:nvSpPr>
        <p:spPr>
          <a:xfrm>
            <a:off x="3116935" y="4098001"/>
            <a:ext cx="3338726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Agent Management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0" name="Google Shape;24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1" name="Google Shape;2401;p5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5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51"/>
          <p:cNvSpPr/>
          <p:nvPr/>
        </p:nvSpPr>
        <p:spPr>
          <a:xfrm>
            <a:off x="571500" y="428625"/>
            <a:ext cx="252807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51"/>
          <p:cNvSpPr/>
          <p:nvPr/>
        </p:nvSpPr>
        <p:spPr>
          <a:xfrm>
            <a:off x="571500" y="1323380"/>
            <a:ext cx="3312105" cy="94331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51"/>
          <p:cNvSpPr/>
          <p:nvPr/>
        </p:nvSpPr>
        <p:spPr>
          <a:xfrm>
            <a:off x="571500" y="1323380"/>
            <a:ext cx="28575" cy="94331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6" name="Google Shape;240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94" y="152787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7" name="Google Shape;2407;p51"/>
          <p:cNvSpPr/>
          <p:nvPr/>
        </p:nvSpPr>
        <p:spPr>
          <a:xfrm>
            <a:off x="964406" y="1501973"/>
            <a:ext cx="1078009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True Zero Trust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51"/>
          <p:cNvSpPr/>
          <p:nvPr/>
        </p:nvSpPr>
        <p:spPr>
          <a:xfrm>
            <a:off x="750094" y="1768078"/>
            <a:ext cx="2954917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Moved from perimeter security to identity-based security. Every request is authenticated, authorized, and encrypted.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51"/>
          <p:cNvSpPr/>
          <p:nvPr/>
        </p:nvSpPr>
        <p:spPr>
          <a:xfrm>
            <a:off x="571500" y="2409565"/>
            <a:ext cx="3312105" cy="1103319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51"/>
          <p:cNvSpPr/>
          <p:nvPr/>
        </p:nvSpPr>
        <p:spPr>
          <a:xfrm>
            <a:off x="571500" y="2409565"/>
            <a:ext cx="28575" cy="1103319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1" name="Google Shape;241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094" y="2614054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2" name="Google Shape;2412;p51"/>
          <p:cNvSpPr/>
          <p:nvPr/>
        </p:nvSpPr>
        <p:spPr>
          <a:xfrm>
            <a:off x="1000125" y="2588158"/>
            <a:ext cx="126846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100% Automation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51"/>
          <p:cNvSpPr/>
          <p:nvPr/>
        </p:nvSpPr>
        <p:spPr>
          <a:xfrm>
            <a:off x="750094" y="2854263"/>
            <a:ext cx="2954917" cy="480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Eliminated manual certificate management. Automated issuance, renewal, and revocation at scale (2.7K daily renewals).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51"/>
          <p:cNvSpPr/>
          <p:nvPr/>
        </p:nvSpPr>
        <p:spPr>
          <a:xfrm>
            <a:off x="571500" y="3655758"/>
            <a:ext cx="3312105" cy="943310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51"/>
          <p:cNvSpPr/>
          <p:nvPr/>
        </p:nvSpPr>
        <p:spPr>
          <a:xfrm>
            <a:off x="571500" y="3655758"/>
            <a:ext cx="28575" cy="94331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6" name="Google Shape;2416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94" y="386024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7" name="Google Shape;2417;p51"/>
          <p:cNvSpPr/>
          <p:nvPr/>
        </p:nvSpPr>
        <p:spPr>
          <a:xfrm>
            <a:off x="964406" y="3834352"/>
            <a:ext cx="89570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Future Proof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51"/>
          <p:cNvSpPr/>
          <p:nvPr/>
        </p:nvSpPr>
        <p:spPr>
          <a:xfrm>
            <a:off x="750094" y="4100457"/>
            <a:ext cx="2954917" cy="320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Architected for quantum readiness with crypto-agility and hybrid certificates. Ready for the post-quantum era.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51"/>
          <p:cNvSpPr/>
          <p:nvPr/>
        </p:nvSpPr>
        <p:spPr>
          <a:xfrm>
            <a:off x="4169355" y="1323380"/>
            <a:ext cx="440314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0" name="Google Shape;2420;p51"/>
          <p:cNvSpPr/>
          <p:nvPr/>
        </p:nvSpPr>
        <p:spPr>
          <a:xfrm>
            <a:off x="4383667" y="1537692"/>
            <a:ext cx="397452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51"/>
          <p:cNvSpPr/>
          <p:nvPr/>
        </p:nvSpPr>
        <p:spPr>
          <a:xfrm>
            <a:off x="4383667" y="1946672"/>
            <a:ext cx="3974520" cy="510778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2" name="Google Shape;2422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0824" y="2131516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51"/>
          <p:cNvSpPr/>
          <p:nvPr/>
        </p:nvSpPr>
        <p:spPr>
          <a:xfrm>
            <a:off x="4740855" y="2053828"/>
            <a:ext cx="35101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Reduction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1"/>
          <p:cNvSpPr/>
          <p:nvPr/>
        </p:nvSpPr>
        <p:spPr>
          <a:xfrm>
            <a:off x="4740855" y="2223492"/>
            <a:ext cx="351017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Eliminated outages due to expired certs. Reduced blast radius.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51"/>
          <p:cNvSpPr/>
          <p:nvPr/>
        </p:nvSpPr>
        <p:spPr>
          <a:xfrm>
            <a:off x="4383667" y="2564606"/>
            <a:ext cx="3974520" cy="510778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6" name="Google Shape;2426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0824" y="274945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7" name="Google Shape;2427;p51"/>
          <p:cNvSpPr/>
          <p:nvPr/>
        </p:nvSpPr>
        <p:spPr>
          <a:xfrm>
            <a:off x="4740855" y="2671763"/>
            <a:ext cx="35101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51"/>
          <p:cNvSpPr/>
          <p:nvPr/>
        </p:nvSpPr>
        <p:spPr>
          <a:xfrm>
            <a:off x="4740855" y="2841427"/>
            <a:ext cx="351017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Saved 40-60% engineering time. 80% reduction in audit prep.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51"/>
          <p:cNvSpPr/>
          <p:nvPr/>
        </p:nvSpPr>
        <p:spPr>
          <a:xfrm>
            <a:off x="4383667" y="3182541"/>
            <a:ext cx="3974520" cy="510778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0" name="Google Shape;243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0824" y="336738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1" name="Google Shape;2431;p51"/>
          <p:cNvSpPr/>
          <p:nvPr/>
        </p:nvSpPr>
        <p:spPr>
          <a:xfrm>
            <a:off x="4740855" y="3289697"/>
            <a:ext cx="35101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Velocity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1"/>
          <p:cNvSpPr/>
          <p:nvPr/>
        </p:nvSpPr>
        <p:spPr>
          <a:xfrm>
            <a:off x="4740855" y="3459361"/>
            <a:ext cx="3510176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Continuous compliance with NIST, SOC 2, PCI-DSS.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51"/>
          <p:cNvSpPr/>
          <p:nvPr/>
        </p:nvSpPr>
        <p:spPr>
          <a:xfrm>
            <a:off x="4383667" y="4473773"/>
            <a:ext cx="3974520" cy="312539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4" name="Google Shape;2434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6381" y="458093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5" name="Google Shape;2435;p51"/>
          <p:cNvSpPr/>
          <p:nvPr/>
        </p:nvSpPr>
        <p:spPr>
          <a:xfrm>
            <a:off x="5450681" y="4559498"/>
            <a:ext cx="19547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$1.7M Annual Savings &amp; 371% ROI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41" name="Google Shape;244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2" name="Google Shape;2442;p5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p5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52"/>
          <p:cNvSpPr/>
          <p:nvPr/>
        </p:nvSpPr>
        <p:spPr>
          <a:xfrm>
            <a:off x="571500" y="428625"/>
            <a:ext cx="370582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Related Presentations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52"/>
          <p:cNvSpPr/>
          <p:nvPr/>
        </p:nvSpPr>
        <p:spPr>
          <a:xfrm>
            <a:off x="571500" y="1323380"/>
            <a:ext cx="2114550" cy="176718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6" name="Google Shape;2446;p52"/>
          <p:cNvSpPr/>
          <p:nvPr/>
        </p:nvSpPr>
        <p:spPr>
          <a:xfrm>
            <a:off x="571500" y="1323380"/>
            <a:ext cx="2114550" cy="2857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7" name="Google Shape;244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498402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52"/>
          <p:cNvSpPr/>
          <p:nvPr/>
        </p:nvSpPr>
        <p:spPr>
          <a:xfrm>
            <a:off x="714375" y="1807369"/>
            <a:ext cx="1828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OpAMP Architecture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52"/>
          <p:cNvSpPr/>
          <p:nvPr/>
        </p:nvSpPr>
        <p:spPr>
          <a:xfrm>
            <a:off x="714375" y="2034183"/>
            <a:ext cx="1828800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Foundational architecture, supervisor proxy, and core components.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52"/>
          <p:cNvSpPr/>
          <p:nvPr/>
        </p:nvSpPr>
        <p:spPr>
          <a:xfrm>
            <a:off x="2828925" y="1323380"/>
            <a:ext cx="2114550" cy="176718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52"/>
          <p:cNvSpPr/>
          <p:nvPr/>
        </p:nvSpPr>
        <p:spPr>
          <a:xfrm>
            <a:off x="2828925" y="1323380"/>
            <a:ext cx="2114550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2" name="Google Shape;2452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149840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3" name="Google Shape;2453;p52"/>
          <p:cNvSpPr/>
          <p:nvPr/>
        </p:nvSpPr>
        <p:spPr>
          <a:xfrm>
            <a:off x="2971800" y="1807369"/>
            <a:ext cx="1828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Agent Management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52"/>
          <p:cNvSpPr/>
          <p:nvPr/>
        </p:nvSpPr>
        <p:spPr>
          <a:xfrm>
            <a:off x="2971800" y="2034183"/>
            <a:ext cx="1828800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Operational deep dive, onboarding, and agent lifecycles.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52"/>
          <p:cNvSpPr/>
          <p:nvPr/>
        </p:nvSpPr>
        <p:spPr>
          <a:xfrm>
            <a:off x="571500" y="3219152"/>
            <a:ext cx="2114550" cy="178147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52"/>
          <p:cNvSpPr/>
          <p:nvPr/>
        </p:nvSpPr>
        <p:spPr>
          <a:xfrm>
            <a:off x="571500" y="3219152"/>
            <a:ext cx="2114550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7" name="Google Shape;2457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339417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8" name="Google Shape;2458;p52"/>
          <p:cNvSpPr/>
          <p:nvPr/>
        </p:nvSpPr>
        <p:spPr>
          <a:xfrm>
            <a:off x="714375" y="3703141"/>
            <a:ext cx="1828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Certificate Ops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52"/>
          <p:cNvSpPr/>
          <p:nvPr/>
        </p:nvSpPr>
        <p:spPr>
          <a:xfrm>
            <a:off x="714375" y="3929955"/>
            <a:ext cx="1828800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Operational workflows for certificate management (This Deck's Companion).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52"/>
          <p:cNvSpPr/>
          <p:nvPr/>
        </p:nvSpPr>
        <p:spPr>
          <a:xfrm>
            <a:off x="2828925" y="3219152"/>
            <a:ext cx="2114550" cy="1781473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52"/>
          <p:cNvSpPr/>
          <p:nvPr/>
        </p:nvSpPr>
        <p:spPr>
          <a:xfrm>
            <a:off x="2828925" y="3219152"/>
            <a:ext cx="2114550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2" name="Google Shape;2462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1800" y="3408462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3" name="Google Shape;2463;p52"/>
          <p:cNvSpPr/>
          <p:nvPr/>
        </p:nvSpPr>
        <p:spPr>
          <a:xfrm>
            <a:off x="2971800" y="3717429"/>
            <a:ext cx="18288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Implementation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52"/>
          <p:cNvSpPr/>
          <p:nvPr/>
        </p:nvSpPr>
        <p:spPr>
          <a:xfrm>
            <a:off x="2971800" y="3944243"/>
            <a:ext cx="1828800" cy="260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6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Rollout plan, timelines, ROI analysis, and migration strategy.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52"/>
          <p:cNvSpPr/>
          <p:nvPr/>
        </p:nvSpPr>
        <p:spPr>
          <a:xfrm>
            <a:off x="5229225" y="1323380"/>
            <a:ext cx="3343275" cy="3677245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52"/>
          <p:cNvSpPr/>
          <p:nvPr/>
        </p:nvSpPr>
        <p:spPr>
          <a:xfrm>
            <a:off x="5443538" y="1537692"/>
            <a:ext cx="29146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 Next Steps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52"/>
          <p:cNvSpPr/>
          <p:nvPr/>
        </p:nvSpPr>
        <p:spPr>
          <a:xfrm>
            <a:off x="5443538" y="1946672"/>
            <a:ext cx="2914650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52"/>
          <p:cNvSpPr/>
          <p:nvPr/>
        </p:nvSpPr>
        <p:spPr>
          <a:xfrm>
            <a:off x="5550694" y="2053828"/>
            <a:ext cx="214313" cy="214313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52"/>
          <p:cNvSpPr/>
          <p:nvPr/>
        </p:nvSpPr>
        <p:spPr>
          <a:xfrm>
            <a:off x="5550694" y="2053828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A192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52"/>
          <p:cNvSpPr/>
          <p:nvPr/>
        </p:nvSpPr>
        <p:spPr>
          <a:xfrm>
            <a:off x="5872163" y="2093119"/>
            <a:ext cx="18624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Certificate Operations (Deck 4)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52"/>
          <p:cNvSpPr/>
          <p:nvPr/>
        </p:nvSpPr>
        <p:spPr>
          <a:xfrm>
            <a:off x="5443538" y="2482453"/>
            <a:ext cx="2914650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52"/>
          <p:cNvSpPr/>
          <p:nvPr/>
        </p:nvSpPr>
        <p:spPr>
          <a:xfrm>
            <a:off x="5550694" y="2589609"/>
            <a:ext cx="214313" cy="214313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52"/>
          <p:cNvSpPr/>
          <p:nvPr/>
        </p:nvSpPr>
        <p:spPr>
          <a:xfrm>
            <a:off x="5550694" y="2589609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A192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52"/>
          <p:cNvSpPr/>
          <p:nvPr/>
        </p:nvSpPr>
        <p:spPr>
          <a:xfrm>
            <a:off x="5872163" y="2628900"/>
            <a:ext cx="159221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 Architecture Deep Dive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52"/>
          <p:cNvSpPr/>
          <p:nvPr/>
        </p:nvSpPr>
        <p:spPr>
          <a:xfrm>
            <a:off x="5443538" y="3018234"/>
            <a:ext cx="2914650" cy="428625"/>
          </a:xfrm>
          <a:prstGeom prst="rect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52"/>
          <p:cNvSpPr/>
          <p:nvPr/>
        </p:nvSpPr>
        <p:spPr>
          <a:xfrm>
            <a:off x="5550694" y="3125391"/>
            <a:ext cx="214313" cy="214313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52"/>
          <p:cNvSpPr/>
          <p:nvPr/>
        </p:nvSpPr>
        <p:spPr>
          <a:xfrm>
            <a:off x="5550694" y="3125391"/>
            <a:ext cx="2143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A192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A192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52"/>
          <p:cNvSpPr/>
          <p:nvPr/>
        </p:nvSpPr>
        <p:spPr>
          <a:xfrm>
            <a:off x="5872163" y="3164681"/>
            <a:ext cx="127616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Pilot Deployment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52"/>
          <p:cNvSpPr/>
          <p:nvPr/>
        </p:nvSpPr>
        <p:spPr>
          <a:xfrm>
            <a:off x="5443538" y="4193381"/>
            <a:ext cx="2914650" cy="592931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52"/>
          <p:cNvSpPr/>
          <p:nvPr/>
        </p:nvSpPr>
        <p:spPr>
          <a:xfrm>
            <a:off x="5586413" y="4336256"/>
            <a:ext cx="26289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Questions &amp; Feedback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52"/>
          <p:cNvSpPr/>
          <p:nvPr/>
        </p:nvSpPr>
        <p:spPr>
          <a:xfrm>
            <a:off x="5586413" y="4488061"/>
            <a:ext cx="262890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security-architecture@company.com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7" name="Google Shape;248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8" name="Google Shape;2488;p53"/>
          <p:cNvSpPr/>
          <p:nvPr/>
        </p:nvSpPr>
        <p:spPr>
          <a:xfrm>
            <a:off x="4214813" y="1251412"/>
            <a:ext cx="714375" cy="714375"/>
          </a:xfrm>
          <a:prstGeom prst="ellipse">
            <a:avLst/>
          </a:prstGeom>
          <a:solidFill>
            <a:srgbClr val="00BFFF">
              <a:alpha val="9803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9" name="Google Shape;248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3406" y="1465724"/>
            <a:ext cx="35718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0" name="Google Shape;2490;p53"/>
          <p:cNvSpPr/>
          <p:nvPr/>
        </p:nvSpPr>
        <p:spPr>
          <a:xfrm>
            <a:off x="3258778" y="2180099"/>
            <a:ext cx="2626444" cy="502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53"/>
          <p:cNvSpPr/>
          <p:nvPr/>
        </p:nvSpPr>
        <p:spPr>
          <a:xfrm>
            <a:off x="3258778" y="2825883"/>
            <a:ext cx="262644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 Trust Architecture with mTLS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53"/>
          <p:cNvSpPr/>
          <p:nvPr/>
        </p:nvSpPr>
        <p:spPr>
          <a:xfrm>
            <a:off x="3773267" y="3417029"/>
            <a:ext cx="1597437" cy="475059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53"/>
          <p:cNvSpPr/>
          <p:nvPr/>
        </p:nvSpPr>
        <p:spPr>
          <a:xfrm>
            <a:off x="4066161" y="3567047"/>
            <a:ext cx="101165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 Session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4" name="Google Shape;2494;p53"/>
          <p:cNvSpPr/>
          <p:nvPr/>
        </p:nvSpPr>
        <p:spPr>
          <a:xfrm>
            <a:off x="0" y="4722019"/>
            <a:ext cx="91440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Confidential &amp; Proprietary | © 2025 Company Name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