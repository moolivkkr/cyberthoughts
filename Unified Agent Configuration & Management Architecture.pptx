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4857750" y="0"/>
            <a:ext cx="4286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71500" y="1269271"/>
            <a:ext cx="8001000" cy="960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62"/>
              <a:buFont typeface="Calibri"/>
              <a:buNone/>
            </a:pPr>
            <a:r>
              <a:rPr b="1" i="0" lang="en-US" sz="2862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Unified Agent Configuration</a:t>
            </a:r>
            <a:br>
              <a:rPr b="1" i="0" lang="en-US" sz="2862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62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&amp; Management Architecture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71500" y="2443693"/>
            <a:ext cx="800100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86"/>
              <a:buFont typeface="Calibri"/>
              <a:buNone/>
            </a:pPr>
            <a:r>
              <a:rPr b="0" i="0" lang="en-US" sz="1486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Managing 200K+ Security Agents at Scale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5806" y="3502754"/>
            <a:ext cx="2169328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200K+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5806" y="3909947"/>
            <a:ext cx="216932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Agents Managed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498066" y="3502754"/>
            <a:ext cx="2169328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6 Types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498066" y="3909947"/>
            <a:ext cx="216932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Portfolio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260325" y="3502754"/>
            <a:ext cx="2169328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99.9%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260325" y="3909947"/>
            <a:ext cx="216932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Uptime SLA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48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71500" y="885825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The Agent Management Challenge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71500" y="1171575"/>
            <a:ext cx="3857625" cy="1748433"/>
          </a:xfrm>
          <a:prstGeom prst="rect">
            <a:avLst/>
          </a:prstGeom>
          <a:solidFill>
            <a:srgbClr val="FF6B6B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71500" y="1171575"/>
            <a:ext cx="28575" cy="174843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50094" y="1350169"/>
            <a:ext cx="3500438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Fragmented Management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50094" y="1651992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92969" y="1651992"/>
            <a:ext cx="248315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6 different agent types with proprietary protocols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50094" y="1869877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92969" y="1869877"/>
            <a:ext cx="225854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6 separate vendor consoles for configuration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50094" y="2087761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92969" y="2087761"/>
            <a:ext cx="212780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unified view of agent health and status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50094" y="2305645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92969" y="2305645"/>
            <a:ext cx="233463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Inconsistent policy enforcement across agents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50094" y="2523530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92969" y="2523530"/>
            <a:ext cx="232743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Manual configuration changes prone to errors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14875" y="1171575"/>
            <a:ext cx="3857625" cy="1748433"/>
          </a:xfrm>
          <a:prstGeom prst="rect">
            <a:avLst/>
          </a:prstGeom>
          <a:solidFill>
            <a:srgbClr val="FF6B6B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714875" y="1171575"/>
            <a:ext cx="28575" cy="174843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893469" y="1350169"/>
            <a:ext cx="3500438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Operational Complexity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893469" y="1651992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036344" y="1651992"/>
            <a:ext cx="232177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200K+ agents across endpoints, servers, cloud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93469" y="1869877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36344" y="1869877"/>
            <a:ext cx="276711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Multiple deployment environments (prod, staging, dev)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893469" y="2087761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36344" y="2087761"/>
            <a:ext cx="21038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Configuration drift between agent groups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93469" y="2305645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36344" y="2305645"/>
            <a:ext cx="190054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Delayed rollouts taking days or weeks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893469" y="2523530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36344" y="2523530"/>
            <a:ext cx="185349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High operational overhead and costs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71500" y="3205758"/>
            <a:ext cx="3857625" cy="1748433"/>
          </a:xfrm>
          <a:prstGeom prst="rect">
            <a:avLst/>
          </a:prstGeom>
          <a:solidFill>
            <a:srgbClr val="FF6B6B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71500" y="3205758"/>
            <a:ext cx="28575" cy="174843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50094" y="3384352"/>
            <a:ext cx="3500438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Security Blind Spots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50094" y="3686175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92969" y="3686175"/>
            <a:ext cx="207445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Incomplete visibility due to agent failures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50094" y="3904059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92969" y="3904059"/>
            <a:ext cx="203426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Delayed threat detection from stale data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50094" y="4121944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92969" y="4121944"/>
            <a:ext cx="2144102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Gaps in coverage from unmanaged agents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50094" y="4339828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92969" y="4339828"/>
            <a:ext cx="200532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Inconsistent data quality across sources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50094" y="4557713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92969" y="4557713"/>
            <a:ext cx="193439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Difficult correlation across agent types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714875" y="3205758"/>
            <a:ext cx="3857625" cy="1748433"/>
          </a:xfrm>
          <a:prstGeom prst="rect">
            <a:avLst/>
          </a:prstGeom>
          <a:solidFill>
            <a:srgbClr val="FF6B6B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714875" y="3205758"/>
            <a:ext cx="28575" cy="174843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893469" y="3384352"/>
            <a:ext cx="3500438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Compliance &amp; Audit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893469" y="3686175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036344" y="3686175"/>
            <a:ext cx="185896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centralized audit trail for changes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893469" y="3904059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036344" y="3904059"/>
            <a:ext cx="192518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Difficult to prove compliance coverage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893469" y="4121944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036344" y="4121944"/>
            <a:ext cx="187043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Manual evidence collection for audits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893469" y="4339828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036344" y="4339828"/>
            <a:ext cx="147683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Inconsistent security controls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893469" y="4557713"/>
            <a:ext cx="5357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036344" y="4557713"/>
            <a:ext cx="1396352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205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Risk of regulatory violations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71500" y="5239941"/>
            <a:ext cx="1839516" cy="796528"/>
          </a:xfrm>
          <a:prstGeom prst="rect">
            <a:avLst/>
          </a:prstGeom>
          <a:solidFill>
            <a:srgbClr val="FF6B6B">
              <a:alpha val="784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14375" y="5382816"/>
            <a:ext cx="154305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5-7 days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14375" y="5752505"/>
            <a:ext cx="154305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Rollout Time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614613" y="5239941"/>
            <a:ext cx="1843088" cy="796528"/>
          </a:xfrm>
          <a:prstGeom prst="rect">
            <a:avLst/>
          </a:prstGeom>
          <a:solidFill>
            <a:srgbClr val="FF6B6B">
              <a:alpha val="784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761059" y="5382816"/>
            <a:ext cx="1546622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40 hrs/week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761059" y="5752505"/>
            <a:ext cx="154662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Operational Overhead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64869" y="5239941"/>
            <a:ext cx="1846659" cy="796528"/>
          </a:xfrm>
          <a:prstGeom prst="rect">
            <a:avLst/>
          </a:prstGeom>
          <a:solidFill>
            <a:srgbClr val="FF6B6B">
              <a:alpha val="784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814888" y="5382816"/>
            <a:ext cx="1550194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15-20%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814888" y="5752505"/>
            <a:ext cx="155019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Failure Rate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722269" y="5239941"/>
            <a:ext cx="1850231" cy="796528"/>
          </a:xfrm>
          <a:prstGeom prst="rect">
            <a:avLst/>
          </a:prstGeom>
          <a:solidFill>
            <a:srgbClr val="FF6B6B">
              <a:alpha val="784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875859" y="5382816"/>
            <a:ext cx="1553766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$800K/yr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875859" y="5752505"/>
            <a:ext cx="155376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Management Costs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4436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571500" y="885825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Business Value &amp; Outcomes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71500" y="1171575"/>
            <a:ext cx="3893344" cy="1725216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85813" y="1385888"/>
            <a:ext cx="346471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85813" y="1923455"/>
            <a:ext cx="346471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Operational Overhead Reduction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85813" y="2203847"/>
            <a:ext cx="3464719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Unified management eliminates need for 6 separate vendor consoles. Automated configuration and rollouts reduce manual effort from 40 hrs/week to 8 hrs/week.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679156" y="1171575"/>
            <a:ext cx="3893344" cy="1725216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893469" y="1385888"/>
            <a:ext cx="346471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99.9%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893469" y="1923455"/>
            <a:ext cx="346471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 Uptime SLA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893469" y="2203847"/>
            <a:ext cx="3464719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Supervisor-based failover and local buffering ensure agents remain operational during OpAMP server outages. Automatic reconnection and health monitoring prevent data loss.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71500" y="3082528"/>
            <a:ext cx="3893344" cy="1725216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85813" y="3296841"/>
            <a:ext cx="346471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5 min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85813" y="3834408"/>
            <a:ext cx="346471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Configuration Deployment Latency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85813" y="4114800"/>
            <a:ext cx="3464719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GitOps-based automation enables configuration changes to propagate from Git commit to agent application in under 5 minutes, down from 5-7 days with manual processes.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679156" y="3082528"/>
            <a:ext cx="3893344" cy="1725216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893469" y="3296841"/>
            <a:ext cx="346471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93469" y="3834408"/>
            <a:ext cx="346471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Security Blind Spot Reduction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893469" y="4114800"/>
            <a:ext cx="3464719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Comprehensive coverage across 6 agent types provides unified visibility into endpoints, network, cloud, and applications. Real-time health monitoring eliminates gaps from failed agents.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71500" y="5064919"/>
            <a:ext cx="1214438" cy="871538"/>
          </a:xfrm>
          <a:prstGeom prst="rect">
            <a:avLst/>
          </a:prstGeom>
          <a:solidFill>
            <a:srgbClr val="FF6B6B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71500" y="5064919"/>
            <a:ext cx="1214438" cy="2143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14375" y="5207794"/>
            <a:ext cx="9286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14375" y="5395317"/>
            <a:ext cx="928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5-7 days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14375" y="5664994"/>
            <a:ext cx="92868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Rollout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928813" y="5064919"/>
            <a:ext cx="1214438" cy="871538"/>
          </a:xfrm>
          <a:prstGeom prst="rect">
            <a:avLst/>
          </a:prstGeom>
          <a:solidFill>
            <a:srgbClr val="FFD93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928813" y="5064919"/>
            <a:ext cx="1214438" cy="21431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2071688" y="5207794"/>
            <a:ext cx="9286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071688" y="5395317"/>
            <a:ext cx="928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5 min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071688" y="5664994"/>
            <a:ext cx="92868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Rollout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86125" y="5064919"/>
            <a:ext cx="1214438" cy="871538"/>
          </a:xfrm>
          <a:prstGeom prst="rect">
            <a:avLst/>
          </a:prstGeom>
          <a:solidFill>
            <a:srgbClr val="FF6B6B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286125" y="5064919"/>
            <a:ext cx="1214438" cy="2143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429000" y="5207794"/>
            <a:ext cx="9286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429000" y="5395317"/>
            <a:ext cx="928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$800K/yr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429000" y="5664994"/>
            <a:ext cx="92868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Management Costs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643438" y="5064919"/>
            <a:ext cx="1214438" cy="871538"/>
          </a:xfrm>
          <a:prstGeom prst="rect">
            <a:avLst/>
          </a:prstGeom>
          <a:solidFill>
            <a:srgbClr val="FFD93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643438" y="5064919"/>
            <a:ext cx="1214438" cy="21431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786313" y="5207794"/>
            <a:ext cx="9286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786313" y="5395317"/>
            <a:ext cx="928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$320K/yr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786313" y="5664994"/>
            <a:ext cx="92868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Management Costs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000750" y="5064919"/>
            <a:ext cx="1214438" cy="871538"/>
          </a:xfrm>
          <a:prstGeom prst="rect">
            <a:avLst/>
          </a:prstGeom>
          <a:solidFill>
            <a:srgbClr val="FF6B6B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000750" y="5064919"/>
            <a:ext cx="1214438" cy="2143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143625" y="5207794"/>
            <a:ext cx="9286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43625" y="5395317"/>
            <a:ext cx="928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15-20%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143625" y="5664994"/>
            <a:ext cx="92868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Failures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358063" y="5064919"/>
            <a:ext cx="1214438" cy="871538"/>
          </a:xfrm>
          <a:prstGeom prst="rect">
            <a:avLst/>
          </a:prstGeom>
          <a:solidFill>
            <a:srgbClr val="FFD93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358063" y="5064919"/>
            <a:ext cx="1214438" cy="21431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7500938" y="5207794"/>
            <a:ext cx="9286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7500938" y="5395317"/>
            <a:ext cx="9286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0.1%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500938" y="5664994"/>
            <a:ext cx="92868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Failures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756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571500" y="285750"/>
            <a:ext cx="8001000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71500" y="742950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71500" y="285750"/>
            <a:ext cx="8001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Architecture Vision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71500" y="957263"/>
            <a:ext cx="8001000" cy="69651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71500" y="957263"/>
            <a:ext cx="28575" cy="6965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78656" y="1064419"/>
            <a:ext cx="285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107281" y="1064419"/>
            <a:ext cx="18573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Agent Diversity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107531" y="1064419"/>
            <a:ext cx="5357813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Support multiple agent types with different capabilities, protocols, and data formats through a </a:t>
            </a: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unified management interface</a:t>
            </a: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 Enable organizations to choose best-of-breed agents for each security domain while maintaining centralized control.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71500" y="1760934"/>
            <a:ext cx="8001000" cy="69651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71500" y="1760934"/>
            <a:ext cx="28575" cy="69651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78656" y="1868091"/>
            <a:ext cx="285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107281" y="1868091"/>
            <a:ext cx="18573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Operational Scale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107531" y="1868091"/>
            <a:ext cx="5357813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Manage </a:t>
            </a: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200,000+ agents</a:t>
            </a: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across global infrastructure with minimal operational overhead through hierarchical supervision. Supervisor proxies aggregate agent connections, reducing OpAMP server load by 99.9% while providing regional resilience.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71500" y="2564606"/>
            <a:ext cx="8001000" cy="69651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71500" y="2564606"/>
            <a:ext cx="28575" cy="6965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78656" y="2671763"/>
            <a:ext cx="285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107281" y="2671763"/>
            <a:ext cx="1857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Configuration Consistency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107531" y="2671763"/>
            <a:ext cx="5357813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Maintain centralized policy control through </a:t>
            </a: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GitOps-based configuration management</a:t>
            </a: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 All configuration changes flow through Git with automated validation, peer review, and progressive rollout to ensure consistency across the entire agent fleet.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71500" y="3368278"/>
            <a:ext cx="8001000" cy="69651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571500" y="3368278"/>
            <a:ext cx="28575" cy="6965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78656" y="3475434"/>
            <a:ext cx="285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107281" y="3475434"/>
            <a:ext cx="18573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Operational Resilience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107531" y="3475434"/>
            <a:ext cx="5357813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Provide </a:t>
            </a: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local buffering and failover mechanisms</a:t>
            </a: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to ensure agents continue operating during central service outages. Supervisors cache configurations and buffer telemetry data for 1 hour, enabling graceful degradation and automatic recovery.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71500" y="4171950"/>
            <a:ext cx="8001000" cy="696516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571500" y="4171950"/>
            <a:ext cx="28575" cy="6965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678656" y="4279106"/>
            <a:ext cx="28575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107281" y="4279106"/>
            <a:ext cx="18573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Security by Design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107531" y="4279106"/>
            <a:ext cx="5357813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Implement </a:t>
            </a: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end-to-end encryption with mutual TLS</a:t>
            </a: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, role-based access control, and comprehensive audit logging throughout the agent lifecycle. All connections use TLS 1.3 with automated certificate rotation and 7-year audit retention.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51140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428625" y="285750"/>
            <a:ext cx="828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28625" y="721519"/>
            <a:ext cx="828675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28625" y="285750"/>
            <a:ext cx="828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Four-Layer Architecture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71500" y="835819"/>
            <a:ext cx="435713" cy="98227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71500" y="835819"/>
            <a:ext cx="43571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50" spcFirstLastPara="1" rIns="68050" wrap="square" tIns="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71500" y="1021556"/>
            <a:ext cx="80010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Management &amp; Integration Layer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71500" y="1248370"/>
            <a:ext cx="1935956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657225" y="1305520"/>
            <a:ext cx="17537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Web UI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57225" y="1443038"/>
            <a:ext cx="1753791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Management Console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582466" y="1248370"/>
            <a:ext cx="1939528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2671763" y="1305520"/>
            <a:ext cx="175736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CLI Tools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671763" y="1443038"/>
            <a:ext cx="175736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600575" y="1248370"/>
            <a:ext cx="1943100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693444" y="1305520"/>
            <a:ext cx="176093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GitOps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693444" y="1443038"/>
            <a:ext cx="1760934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 + ArgoCD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625828" y="1248370"/>
            <a:ext cx="1946672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722269" y="1305520"/>
            <a:ext cx="17645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722269" y="1443038"/>
            <a:ext cx="1764506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28625" y="1777008"/>
            <a:ext cx="8286750" cy="35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857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71500" y="1805583"/>
            <a:ext cx="435713" cy="98227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71500" y="1805583"/>
            <a:ext cx="43571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50" spcFirstLastPara="1" rIns="68050" wrap="square" tIns="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71500" y="1991320"/>
            <a:ext cx="80010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OpAMP Server Layer (Multi-Region Active-Active)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71500" y="2218134"/>
            <a:ext cx="1935956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57225" y="2275284"/>
            <a:ext cx="17537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OpAMP us-east-1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57225" y="2412802"/>
            <a:ext cx="1753791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3-4 instances + ALB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2582466" y="2218134"/>
            <a:ext cx="1939528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2671763" y="2275284"/>
            <a:ext cx="175736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OpAMP us-west-2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2671763" y="2412802"/>
            <a:ext cx="175736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3-4 instances + ALB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600575" y="2218134"/>
            <a:ext cx="1943100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693444" y="2275284"/>
            <a:ext cx="176093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DynamoDB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693444" y="2412802"/>
            <a:ext cx="1760934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Global Tables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625828" y="2218134"/>
            <a:ext cx="1946672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722269" y="2275284"/>
            <a:ext cx="17645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ElastiCache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722269" y="2412802"/>
            <a:ext cx="1764506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Cache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28625" y="2746772"/>
            <a:ext cx="8286750" cy="35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857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71500" y="2775347"/>
            <a:ext cx="435713" cy="98227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71500" y="2775347"/>
            <a:ext cx="43571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50" spcFirstLastPara="1" rIns="68050" wrap="square" tIns="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71500" y="2961084"/>
            <a:ext cx="80010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Supervisor Proxy Layer (Regional Aggregation)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71500" y="3187898"/>
            <a:ext cx="1935956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57225" y="3245048"/>
            <a:ext cx="175379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Supervisor 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57225" y="3382566"/>
            <a:ext cx="1753791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DC-East-1 (1,500 agents)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582466" y="3187898"/>
            <a:ext cx="1939528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2671763" y="3245048"/>
            <a:ext cx="175736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Supervisor 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2671763" y="3382566"/>
            <a:ext cx="175736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DC-West-1 (1,200 agents)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600575" y="3187898"/>
            <a:ext cx="1943100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693444" y="3245048"/>
            <a:ext cx="176093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Supervisor 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693444" y="3382566"/>
            <a:ext cx="1760934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Cloud-1 (2,000 agents)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625828" y="3187898"/>
            <a:ext cx="1946672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6722269" y="3245048"/>
            <a:ext cx="17645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722269" y="3382566"/>
            <a:ext cx="1764506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100-150 total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28625" y="3716536"/>
            <a:ext cx="8286750" cy="35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857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71500" y="3745111"/>
            <a:ext cx="435713" cy="98227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571500" y="3745111"/>
            <a:ext cx="43571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050" spcFirstLastPara="1" rIns="68050" wrap="square" tIns="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71500" y="3930848"/>
            <a:ext cx="80010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 Layer (200K+ Agents)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71500" y="4157663"/>
            <a:ext cx="1262072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57225" y="4214813"/>
            <a:ext cx="10787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OpenTelemetry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57225" y="4352330"/>
            <a:ext cx="1078706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80K agents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907381" y="4157663"/>
            <a:ext cx="1264444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1995478" y="4214813"/>
            <a:ext cx="108107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OSQuery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1995478" y="4352330"/>
            <a:ext cx="1081078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70K agents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248006" y="4157663"/>
            <a:ext cx="1266816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3338531" y="4214813"/>
            <a:ext cx="108347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Qualys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338531" y="4352330"/>
            <a:ext cx="1083478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30K agents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593459" y="4157663"/>
            <a:ext cx="1269216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4686300" y="4214813"/>
            <a:ext cx="10858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Wiz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686300" y="4352330"/>
            <a:ext cx="1085850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15K agents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943600" y="4157663"/>
            <a:ext cx="1271588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6038813" y="4214813"/>
            <a:ext cx="108822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CrowdStrike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038813" y="4352330"/>
            <a:ext cx="1088222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3K agents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7298485" y="4157663"/>
            <a:ext cx="1273959" cy="364331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7396209" y="4214813"/>
            <a:ext cx="109062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Zscaler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7396209" y="4352330"/>
            <a:ext cx="1090622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2K agents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28625" y="4736306"/>
            <a:ext cx="8286750" cy="41076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428625" y="4736306"/>
            <a:ext cx="8286750" cy="7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28625" y="4843463"/>
            <a:ext cx="2643188" cy="176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200K agents → 150 supervisors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28625" y="5041702"/>
            <a:ext cx="2643188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Hierarchical Aggregation (1,333:1 ratio)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250406" y="4843463"/>
            <a:ext cx="2643188" cy="176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150 supervisors → 8 OpAMP servers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3250406" y="5041702"/>
            <a:ext cx="2643188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Multi-Region Load Distribution (19:1 ratio)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6072188" y="4843463"/>
            <a:ext cx="2643188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99.9% uptime / &lt; 5 min latency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072188" y="5030986"/>
            <a:ext cx="2643188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SLA Targets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9" name="Google Shape;2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8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571500" y="885825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 Portfolio - Core Telemetry Agents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71500" y="992981"/>
            <a:ext cx="80010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 1 of 2: Unified Telemetry &amp; Endpoint Visibility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71500" y="1525191"/>
            <a:ext cx="3857625" cy="2325291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21531" y="1775222"/>
            <a:ext cx="3357563" cy="544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62"/>
              <a:buFont typeface="Calibri"/>
              <a:buNone/>
            </a:pPr>
            <a:r>
              <a:rPr b="1" i="0" lang="en-US" sz="2862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80K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21531" y="2405658"/>
            <a:ext cx="335756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OpenTelemetry Collector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821531" y="2746772"/>
            <a:ext cx="33575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Unified Telemetry Pipeline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21531" y="3025378"/>
            <a:ext cx="3357563" cy="575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Collects logs, metrics, and traces from all infrastructure. Native OpAMP support. 6 receivers, 7 processors, 3 exporters. 200 MB RAM, 0.5 vCPU per agent.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714875" y="1525191"/>
            <a:ext cx="3857625" cy="2325291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964906" y="1775222"/>
            <a:ext cx="3357563" cy="544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62"/>
              <a:buFont typeface="Calibri"/>
              <a:buNone/>
            </a:pPr>
            <a:r>
              <a:rPr b="1" i="0" lang="en-US" sz="2862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70K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964906" y="2405658"/>
            <a:ext cx="335756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OSQuery Agent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964906" y="2746772"/>
            <a:ext cx="33575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 Visibility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964906" y="3025378"/>
            <a:ext cx="3357563" cy="546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SQL-powered endpoint monitoring. Asset inventory, file integrity monitoring, process tracking. OpAMP adapter via TLS API. 150 MB RAM, 0.3 vCPU per agent.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71500" y="4107656"/>
            <a:ext cx="8001000" cy="507206"/>
          </a:xfrm>
          <a:prstGeom prst="rect">
            <a:avLst/>
          </a:prstGeom>
          <a:solidFill>
            <a:srgbClr val="00D4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571500" y="4107656"/>
            <a:ext cx="8001000" cy="14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750094" y="4286250"/>
            <a:ext cx="76438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150,000 agents</a:t>
            </a:r>
            <a:r>
              <a:rPr b="0" i="0" lang="en-US" sz="72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deployed across core telemetry infrastructure | </a:t>
            </a:r>
            <a:r>
              <a:rPr b="1" i="0" lang="en-US" sz="68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Next:</a:t>
            </a:r>
            <a:r>
              <a:rPr b="0" i="0" lang="en-US" sz="727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Security &amp; Protection Agents (Qualys, Wiz, CrowdStrike, Zscaler)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2" name="Google Shape;3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/>
          <p:nvPr/>
        </p:nvSpPr>
        <p:spPr>
          <a:xfrm>
            <a:off x="571500" y="250031"/>
            <a:ext cx="800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571500" y="685800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571500" y="250031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 Portfolio - Security &amp; Protection Agents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71500" y="864394"/>
            <a:ext cx="3936206" cy="1559123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714375" y="1007269"/>
            <a:ext cx="3650456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30K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14375" y="1400175"/>
            <a:ext cx="36504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Qualys Cloud Agent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14375" y="1632347"/>
            <a:ext cx="365045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Vulnerability Management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714375" y="1834158"/>
            <a:ext cx="3650456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Continuous vulnerability assessment. Asset discovery, patch management, compliance scanning. OpAMP adapter via REST API. 100 MB RAM, 0.2 vCPU per agent.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636294" y="864394"/>
            <a:ext cx="3936206" cy="1530548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4779169" y="1007269"/>
            <a:ext cx="3650456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15K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779169" y="1400175"/>
            <a:ext cx="36504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Wiz Agent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779169" y="1632347"/>
            <a:ext cx="365045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Cloud Security (CSPM/CWPP)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779169" y="1834158"/>
            <a:ext cx="3650456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Cloud security posture management. Container security, Kubernetes scanning, risk prioritization. OpAMP adapter via GraphQL. 200 MB RAM, 0.4 vCPU per agent.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71500" y="2523530"/>
            <a:ext cx="3936206" cy="1559123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714375" y="2666405"/>
            <a:ext cx="3650456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3K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714375" y="3059311"/>
            <a:ext cx="36504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CrowdStrike Falcon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714375" y="3291483"/>
            <a:ext cx="365045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 Detection &amp; Response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714375" y="3493294"/>
            <a:ext cx="3650456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Real-time threat prevention and detection. Behavioral analytics, threat hunting, incident response. OpAMP adapter via Falcon API. 300 MB RAM, 0.5 vCPU per agent.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636294" y="2523530"/>
            <a:ext cx="3936206" cy="1530548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4779169" y="2666405"/>
            <a:ext cx="3650456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2K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779169" y="3059311"/>
            <a:ext cx="36504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Zscaler ZIA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779169" y="3291483"/>
            <a:ext cx="365045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Network Security &amp; Web Gateway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779169" y="3493294"/>
            <a:ext cx="3650456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SSL inspection, data loss prevention, threat prevention. Secure web gateway, cloud firewall. OpAMP adapter via ZIA API. 50 MB RAM, 0.1 vCPU per agent.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71500" y="4232672"/>
            <a:ext cx="8001000" cy="896541"/>
          </a:xfrm>
          <a:prstGeom prst="rect">
            <a:avLst/>
          </a:prstGeom>
          <a:solidFill>
            <a:srgbClr val="00D4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571500" y="4232672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1309232" y="4361259"/>
            <a:ext cx="63730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Agents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309232" y="4511278"/>
            <a:ext cx="63730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200,000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311212" y="4361259"/>
            <a:ext cx="55880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Types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3311212" y="4511278"/>
            <a:ext cx="55880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625578" y="4361259"/>
            <a:ext cx="185558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625578" y="4511278"/>
            <a:ext cx="1855589" cy="467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Endpoint + Network + Cloud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865953" y="4361259"/>
            <a:ext cx="1300302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865953" y="4511278"/>
            <a:ext cx="1300302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Unified OpAMP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1" name="Google Shape;3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571500" y="885825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Scale &amp; Performance Targets - Part 1: Architecture Scale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71500" y="1171575"/>
            <a:ext cx="2547919" cy="1407319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750094" y="1350169"/>
            <a:ext cx="219073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Agents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750094" y="1562695"/>
            <a:ext cx="2190731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15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200K+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750094" y="1919883"/>
            <a:ext cx="219073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Managed Agents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750094" y="2146697"/>
            <a:ext cx="219073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Across 6 agent types: OTel, OSQuery, Qualys, Wiz, CrowdStrike, Zscaler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298013" y="1171575"/>
            <a:ext cx="2547947" cy="1407319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3476606" y="1350169"/>
            <a:ext cx="219075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Supervisor Proxies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3476606" y="1562695"/>
            <a:ext cx="219075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15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100-150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3476606" y="1919883"/>
            <a:ext cx="219075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Regional Supervisors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3476606" y="2146697"/>
            <a:ext cx="2190759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supervisor per 1,000-2,000 agents, deployed per datacenter/region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024553" y="1171575"/>
            <a:ext cx="2547919" cy="1407319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6203147" y="1350169"/>
            <a:ext cx="219073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OpAMP Servers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6203147" y="1562695"/>
            <a:ext cx="2190731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15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6-8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6203147" y="1919883"/>
            <a:ext cx="219073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 Region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6203147" y="2132409"/>
            <a:ext cx="219073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3-4 instances per region (us-east-1, us-west-2) behind ALB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571500" y="2743200"/>
            <a:ext cx="2547919" cy="1407319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750094" y="2921794"/>
            <a:ext cx="219073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Uptime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50094" y="3134320"/>
            <a:ext cx="2190731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15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99.9%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750094" y="3491508"/>
            <a:ext cx="219073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SLA Target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50094" y="3718322"/>
            <a:ext cx="219073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Supervisor failover and local buffering ensure continuous operation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3298013" y="2743200"/>
            <a:ext cx="2547947" cy="1407319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3476606" y="2921794"/>
            <a:ext cx="219075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OpAMP Uptime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476606" y="3134320"/>
            <a:ext cx="219075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15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99.99%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476606" y="3491508"/>
            <a:ext cx="219075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SLA Target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476606" y="3845123"/>
            <a:ext cx="219075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Multi-region active-active with automatic failover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6024553" y="2743200"/>
            <a:ext cx="2547919" cy="1407319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6203147" y="2921794"/>
            <a:ext cx="219073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Latency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203147" y="3134320"/>
            <a:ext cx="2190731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15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5 min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203147" y="3491508"/>
            <a:ext cx="219073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6203147" y="3704034"/>
            <a:ext cx="219073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 commit to agent application via automated GitOps pipeline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0" name="Google Shape;3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1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571500" y="885825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Scale &amp; Performance Targets (continued)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571500" y="1171575"/>
            <a:ext cx="8001000" cy="19466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571500" y="1171575"/>
            <a:ext cx="28575" cy="194667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571500" y="1171575"/>
            <a:ext cx="80010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Performance Specifications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571500" y="1544836"/>
            <a:ext cx="1598861" cy="357188"/>
          </a:xfrm>
          <a:prstGeom prst="rect">
            <a:avLst/>
          </a:prstGeom>
          <a:solidFill>
            <a:srgbClr val="00D4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571500" y="1887736"/>
            <a:ext cx="1598861" cy="14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571500" y="1544836"/>
            <a:ext cx="159886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2170361" y="1544836"/>
            <a:ext cx="1550808" cy="357188"/>
          </a:xfrm>
          <a:prstGeom prst="rect">
            <a:avLst/>
          </a:prstGeom>
          <a:solidFill>
            <a:srgbClr val="00D4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2170361" y="1887736"/>
            <a:ext cx="1550808" cy="14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2170361" y="1544836"/>
            <a:ext cx="155080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3721168" y="1544836"/>
            <a:ext cx="1579718" cy="357188"/>
          </a:xfrm>
          <a:prstGeom prst="rect">
            <a:avLst/>
          </a:prstGeom>
          <a:solidFill>
            <a:srgbClr val="00D4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3721168" y="1887736"/>
            <a:ext cx="1579718" cy="14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3721168" y="1544836"/>
            <a:ext cx="157971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5300886" y="1544836"/>
            <a:ext cx="3271614" cy="357188"/>
          </a:xfrm>
          <a:prstGeom prst="rect">
            <a:avLst/>
          </a:prstGeom>
          <a:solidFill>
            <a:srgbClr val="00D4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5300886" y="1887736"/>
            <a:ext cx="3271614" cy="14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5300886" y="1544836"/>
            <a:ext cx="3271614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571500" y="1894880"/>
            <a:ext cx="1598861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Agent → Supervisor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2170361" y="1894880"/>
            <a:ext cx="1550808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 Latency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3721168" y="1894880"/>
            <a:ext cx="1579718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&lt; 30 seconds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5300886" y="1894880"/>
            <a:ext cx="3271614" cy="362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Real-time telemetry streaming with local buffering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571500" y="2257425"/>
            <a:ext cx="1598861" cy="366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Supervisor → OpAMP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2170361" y="2257425"/>
            <a:ext cx="1550808" cy="366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Connection Count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3721168" y="2257425"/>
            <a:ext cx="1579718" cy="366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100-150 connections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5300886" y="2257425"/>
            <a:ext cx="3271614" cy="366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99.9% reduction vs. direct agent connections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71500" y="2623542"/>
            <a:ext cx="159886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OpAMP Server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2170361" y="2623542"/>
            <a:ext cx="155080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Request Throughput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3721168" y="2623542"/>
            <a:ext cx="157971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10K requests/sec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5300886" y="2623542"/>
            <a:ext cx="3271614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 server instance, horizontally scalable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571500" y="2980730"/>
            <a:ext cx="159886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Configuration Sync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2170361" y="2980730"/>
            <a:ext cx="155080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Propagation Time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3721168" y="2980730"/>
            <a:ext cx="157971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&lt; 5 minutes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5300886" y="2980730"/>
            <a:ext cx="3271614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From Git commit to all 200K agents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571500" y="3337917"/>
            <a:ext cx="159886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Supervisor Failover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2170361" y="3337917"/>
            <a:ext cx="155080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Recovery Time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3721168" y="3337917"/>
            <a:ext cx="157971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&lt; 30 seconds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5300886" y="3337917"/>
            <a:ext cx="3271614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Automatic failover with zero data loss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571500" y="3695105"/>
            <a:ext cx="1598861" cy="353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2170361" y="3695105"/>
            <a:ext cx="1550808" cy="353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Event Throughput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3721168" y="3695105"/>
            <a:ext cx="1579718" cy="353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30M events/day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5300886" y="3695105"/>
            <a:ext cx="3271614" cy="353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70050" spcFirstLastPara="1" rIns="17005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After 85% reduction via processing and filtering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8" name="Google Shape;4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2"/>
          <p:cNvSpPr/>
          <p:nvPr/>
        </p:nvSpPr>
        <p:spPr>
          <a:xfrm>
            <a:off x="571500" y="285750"/>
            <a:ext cx="800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571500" y="721519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571500" y="28575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Supervisor Proxy Role &amp; Architecture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3143250" y="935831"/>
            <a:ext cx="1357313" cy="578644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3143250" y="935831"/>
            <a:ext cx="1357313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38125" spcFirstLastPara="1" rIns="238125" wrap="square" tIns="153025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OpAMP Server</a:t>
            </a:r>
            <a:b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(us-east-1)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643438" y="935831"/>
            <a:ext cx="1357313" cy="578644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4643438" y="935831"/>
            <a:ext cx="1357313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38125" spcFirstLastPara="1" rIns="238125" wrap="square" tIns="153025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OpAMP Server</a:t>
            </a:r>
            <a:b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(us-west-2)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571500" y="1628775"/>
            <a:ext cx="800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↕ OpAMP Protocol (gRPC)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3463017" y="1914525"/>
            <a:ext cx="2217939" cy="717947"/>
          </a:xfrm>
          <a:prstGeom prst="rect">
            <a:avLst/>
          </a:prstGeom>
          <a:solidFill>
            <a:srgbClr val="FF6B6B">
              <a:alpha val="7843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3463017" y="1914525"/>
            <a:ext cx="2217939" cy="717947"/>
          </a:xfrm>
          <a:prstGeom prst="rect">
            <a:avLst/>
          </a:prstGeom>
          <a:noFill/>
          <a:ln>
            <a:noFill/>
          </a:ln>
        </p:spPr>
        <p:txBody>
          <a:bodyPr anchorCtr="0" anchor="t" bIns="212575" lIns="297675" spcFirstLastPara="1" rIns="297675" wrap="square" tIns="212575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Supervisor Proxy</a:t>
            </a:r>
            <a:br>
              <a:rPr b="1" i="0" lang="en-US" sz="8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Regional Aggregation Layer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571500" y="2746772"/>
            <a:ext cx="800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↕ Agent Protocols (OTLP, TLS, HTTP)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722258" y="3032522"/>
            <a:ext cx="1127485" cy="412552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1722258" y="3032522"/>
            <a:ext cx="1127485" cy="41255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38125" spcFirstLastPara="1" rIns="238125" wrap="square" tIns="153025">
            <a:no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OpenTelemetry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978330" y="3032522"/>
            <a:ext cx="1000125" cy="412552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2978330" y="3032522"/>
            <a:ext cx="1000125" cy="41255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38125" spcFirstLastPara="1" rIns="238125" wrap="square" tIns="153025">
            <a:no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OSQuery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121330" y="3032522"/>
            <a:ext cx="1000125" cy="412552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4121330" y="3032522"/>
            <a:ext cx="1000125" cy="41255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38125" spcFirstLastPara="1" rIns="238125" wrap="square" tIns="153025">
            <a:no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Qualys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5264330" y="3032522"/>
            <a:ext cx="1000125" cy="412552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5264330" y="3032522"/>
            <a:ext cx="1000125" cy="41255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38125" spcFirstLastPara="1" rIns="238125" wrap="square" tIns="153025">
            <a:no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Wiz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6407330" y="3032522"/>
            <a:ext cx="1000125" cy="412552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6407330" y="3032522"/>
            <a:ext cx="1000125" cy="41255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38125" spcFirstLastPara="1" rIns="238125" wrap="square" tIns="153025">
            <a:no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CrowdStrike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571500" y="3666530"/>
            <a:ext cx="2571750" cy="1114425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700088" y="3795117"/>
            <a:ext cx="231457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Regional Aggregation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700088" y="4032647"/>
            <a:ext cx="2314575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Aggregates connections from 1,000-2,000 agents per supervisor, reducing OpAMP server load by 99.9%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700088" y="4368403"/>
            <a:ext cx="231457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Ratio: 1:1,000-2,000 agents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3286125" y="3666530"/>
            <a:ext cx="2571750" cy="1114425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3414713" y="3795117"/>
            <a:ext cx="231457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Protocol Translation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3414713" y="4032647"/>
            <a:ext cx="2314575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Translates proprietary agent protocols (REST, GraphQL, TLS) to unified OpAMP protocol via adapters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3414713" y="4507706"/>
            <a:ext cx="231457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5 OpAMP adapters supported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6000750" y="3666530"/>
            <a:ext cx="2571750" cy="1085850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6129338" y="3795117"/>
            <a:ext cx="231457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34"/>
              <a:buFont typeface="Calibri"/>
              <a:buNone/>
            </a:pPr>
            <a:r>
              <a:rPr b="1" i="0" lang="en-US" sz="8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Local Buffering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6129338" y="4032647"/>
            <a:ext cx="2314575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Buffers telemetry data locally for 1 hour during OpAMP outages, preventing data loss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6129338" y="4368403"/>
            <a:ext cx="231457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Capacity: ~50 GB per supervisor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7" name="Google Shape;4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3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571500" y="885825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571500" y="428625"/>
            <a:ext cx="8001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Supervisor Proxy Responsibilities (continued)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571500" y="1171575"/>
            <a:ext cx="2524116" cy="1657350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785813" y="1385888"/>
            <a:ext cx="209549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Configuration Caching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785813" y="1687711"/>
            <a:ext cx="209549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Caches last-known-good configurations locally, enabling agents to continue operating indefinitely during OpAMP outages without configuration drift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785813" y="2487811"/>
            <a:ext cx="209549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Offline operation: Unlimited duration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3309928" y="1171575"/>
            <a:ext cx="2524116" cy="1657350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3524241" y="1385888"/>
            <a:ext cx="209549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Health Monitoring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3524241" y="1687711"/>
            <a:ext cx="209549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Monitors agent health metrics including connection status, data transmission rates, and resource consumption at regular intervals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3524241" y="2487811"/>
            <a:ext cx="209549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Monitoring interval: 10 seconds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6048356" y="1171575"/>
            <a:ext cx="2524144" cy="1657350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6262669" y="1385888"/>
            <a:ext cx="209551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Automatic Failover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6262669" y="1687711"/>
            <a:ext cx="20955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948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Deployed in active-active HA pairs with automatic failover to backup supervisor, ensuring zero data loss via persistent queues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6262669" y="2459236"/>
            <a:ext cx="209551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Failover time: &lt;30 seconds, Zero data loss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8" name="Google Shape;4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0249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4"/>
          <p:cNvSpPr/>
          <p:nvPr/>
        </p:nvSpPr>
        <p:spPr>
          <a:xfrm>
            <a:off x="571500" y="321469"/>
            <a:ext cx="8001000" cy="8072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571500" y="1107281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571500" y="321469"/>
            <a:ext cx="8001000" cy="807244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Supervisor Deployment Model - Part 1: Regional Placement &amp; Resources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571500" y="1321594"/>
            <a:ext cx="8001000" cy="1464469"/>
          </a:xfrm>
          <a:prstGeom prst="rect">
            <a:avLst/>
          </a:prstGeom>
          <a:solidFill>
            <a:srgbClr val="00D4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750094" y="1500188"/>
            <a:ext cx="2428875" cy="1092994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892969" y="1643063"/>
            <a:ext cx="21431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DC-East-1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892969" y="1905595"/>
            <a:ext cx="1035844" cy="342900"/>
          </a:xfrm>
          <a:prstGeom prst="rect">
            <a:avLst/>
          </a:prstGeom>
          <a:solidFill>
            <a:srgbClr val="FF6B6B">
              <a:alpha val="980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"/>
          <p:cNvSpPr/>
          <p:nvPr/>
        </p:nvSpPr>
        <p:spPr>
          <a:xfrm>
            <a:off x="892969" y="1905595"/>
            <a:ext cx="10358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noAutofit/>
          </a:bodyPr>
          <a:lstStyle/>
          <a:p>
            <a:pPr indent="0" lvl="0" marL="0" marR="0" rtl="0" algn="ctr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SUP-E1-A</a:t>
            </a:r>
            <a:b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1993106" y="1905595"/>
            <a:ext cx="1042988" cy="342900"/>
          </a:xfrm>
          <a:prstGeom prst="rect">
            <a:avLst/>
          </a:prstGeom>
          <a:solidFill>
            <a:srgbClr val="FF6B6B">
              <a:alpha val="980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1993106" y="1905595"/>
            <a:ext cx="10429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noAutofit/>
          </a:bodyPr>
          <a:lstStyle/>
          <a:p>
            <a:pPr indent="0" lvl="0" marL="0" marR="0" rtl="0" algn="ctr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SUP-E1-B</a:t>
            </a:r>
            <a:b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892969" y="2291358"/>
            <a:ext cx="214312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1,500 agents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3357563" y="1500188"/>
            <a:ext cx="2428875" cy="1092994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3500438" y="1643063"/>
            <a:ext cx="21431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DC-West-1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3500438" y="1905595"/>
            <a:ext cx="1035844" cy="342900"/>
          </a:xfrm>
          <a:prstGeom prst="rect">
            <a:avLst/>
          </a:prstGeom>
          <a:solidFill>
            <a:srgbClr val="FF6B6B">
              <a:alpha val="980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3500438" y="1905595"/>
            <a:ext cx="10358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noAutofit/>
          </a:bodyPr>
          <a:lstStyle/>
          <a:p>
            <a:pPr indent="0" lvl="0" marL="0" marR="0" rtl="0" algn="ctr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SUP-W1-A</a:t>
            </a:r>
            <a:b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4600575" y="1905595"/>
            <a:ext cx="1042988" cy="342900"/>
          </a:xfrm>
          <a:prstGeom prst="rect">
            <a:avLst/>
          </a:prstGeom>
          <a:solidFill>
            <a:srgbClr val="FF6B6B">
              <a:alpha val="980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4600575" y="1905595"/>
            <a:ext cx="10429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noAutofit/>
          </a:bodyPr>
          <a:lstStyle/>
          <a:p>
            <a:pPr indent="0" lvl="0" marL="0" marR="0" rtl="0" algn="ctr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SUP-W1-B</a:t>
            </a:r>
            <a:b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3500438" y="2291358"/>
            <a:ext cx="214312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1,200 agents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5965031" y="1500188"/>
            <a:ext cx="2428875" cy="1092994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6107906" y="1643063"/>
            <a:ext cx="21431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Cloud-AWS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6107906" y="1905595"/>
            <a:ext cx="1035844" cy="342900"/>
          </a:xfrm>
          <a:prstGeom prst="rect">
            <a:avLst/>
          </a:prstGeom>
          <a:solidFill>
            <a:srgbClr val="FF6B6B">
              <a:alpha val="980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6107906" y="1905595"/>
            <a:ext cx="10358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noAutofit/>
          </a:bodyPr>
          <a:lstStyle/>
          <a:p>
            <a:pPr indent="0" lvl="0" marL="0" marR="0" rtl="0" algn="ctr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SUP-C1-A</a:t>
            </a:r>
            <a:b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7208044" y="1905595"/>
            <a:ext cx="1042988" cy="342900"/>
          </a:xfrm>
          <a:prstGeom prst="rect">
            <a:avLst/>
          </a:prstGeom>
          <a:solidFill>
            <a:srgbClr val="FF6B6B">
              <a:alpha val="9803"/>
            </a:srgbClr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"/>
          <p:cNvSpPr/>
          <p:nvPr/>
        </p:nvSpPr>
        <p:spPr>
          <a:xfrm>
            <a:off x="7208044" y="1905595"/>
            <a:ext cx="10429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noAutofit/>
          </a:bodyPr>
          <a:lstStyle/>
          <a:p>
            <a:pPr indent="0" lvl="0" marL="0" marR="0" rtl="0" algn="ctr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SUP-C1-B</a:t>
            </a:r>
            <a:b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3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6107906" y="2291358"/>
            <a:ext cx="214312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2,000 agents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571500" y="2943225"/>
            <a:ext cx="3911203" cy="1853803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714375" y="3086100"/>
            <a:ext cx="362545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Resource Requirements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714375" y="3491508"/>
            <a:ext cx="18278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4026005" y="3491508"/>
            <a:ext cx="31382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4 vCPU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714375" y="3732609"/>
            <a:ext cx="36536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3900739" y="3732609"/>
            <a:ext cx="43908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8 GB RAM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714375" y="3973711"/>
            <a:ext cx="53809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Disk (Buffer)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3832566" y="3973711"/>
            <a:ext cx="50726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100 GB SSD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714375" y="4214813"/>
            <a:ext cx="37362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4033345" y="4214813"/>
            <a:ext cx="30648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 Gbps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714375" y="4455914"/>
            <a:ext cx="12353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3555802" y="4455914"/>
            <a:ext cx="78402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Ubuntu 22.04 LTS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661297" y="2943225"/>
            <a:ext cx="3911203" cy="1853803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4804172" y="3086100"/>
            <a:ext cx="3625453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Network Connectivity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4804172" y="3491508"/>
            <a:ext cx="84011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Upstream (OpAMP)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7706153" y="3491508"/>
            <a:ext cx="72347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gRPC/TLS (4317)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4804172" y="3732609"/>
            <a:ext cx="94244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Downstream (Agents)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7628325" y="3732609"/>
            <a:ext cx="80130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OTLP/HTTP (4318)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4804172" y="3973711"/>
            <a:ext cx="47196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Bandwidth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7136495" y="3973711"/>
            <a:ext cx="129313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50 Mbps avg, 200 Mbps peak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4804172" y="4214813"/>
            <a:ext cx="80342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Latency to OpAMP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8057955" y="4214813"/>
            <a:ext cx="37167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100ms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4804172" y="4455914"/>
            <a:ext cx="77825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Latency to Agents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8111058" y="4455914"/>
            <a:ext cx="31856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50ms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571500" y="4961334"/>
            <a:ext cx="8001000" cy="326827"/>
          </a:xfrm>
          <a:prstGeom prst="rect">
            <a:avLst/>
          </a:prstGeom>
          <a:solidFill>
            <a:srgbClr val="A78BF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"/>
          <p:cNvSpPr/>
          <p:nvPr/>
        </p:nvSpPr>
        <p:spPr>
          <a:xfrm>
            <a:off x="571500" y="4961334"/>
            <a:ext cx="8001000" cy="14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571500" y="5273873"/>
            <a:ext cx="8001000" cy="14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571500" y="4961334"/>
            <a:ext cx="8001000" cy="326827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70050" spcFirstLastPara="1" rIns="170050" wrap="square" tIns="10210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621"/>
              <a:buFont typeface="Calibri"/>
              <a:buNone/>
            </a:pPr>
            <a:r>
              <a:rPr b="0" i="1" lang="en-US" sz="621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Continued: High Availability Configuration &amp; Scaling Model →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7" name="Google Shape;5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7394814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5"/>
          <p:cNvSpPr/>
          <p:nvPr/>
        </p:nvSpPr>
        <p:spPr>
          <a:xfrm>
            <a:off x="571500" y="357188"/>
            <a:ext cx="8001000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571500" y="814388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571500" y="357188"/>
            <a:ext cx="8001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Supervisor Deployment Model - Part 2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571500" y="885825"/>
            <a:ext cx="80010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 Availability Configuration &amp; Scaling Strategy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571500" y="1310878"/>
            <a:ext cx="3893344" cy="22985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750094" y="1489472"/>
            <a:ext cx="3536156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High Availability Configuration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750094" y="1998464"/>
            <a:ext cx="94576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Deployment Mode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3142245" y="1998464"/>
            <a:ext cx="114400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Active-Active HA Pairs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750094" y="2294930"/>
            <a:ext cx="784082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Load Balancing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3359767" y="2294930"/>
            <a:ext cx="92648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DNS Round-Robin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750094" y="2591395"/>
            <a:ext cx="683037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Failover Time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3624002" y="2591395"/>
            <a:ext cx="66224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30 seconds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750094" y="2887861"/>
            <a:ext cx="110574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Health Check Interval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3713159" y="2887861"/>
            <a:ext cx="57309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 seconds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750094" y="3184327"/>
            <a:ext cx="49690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 Loss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3014495" y="3184327"/>
            <a:ext cx="127175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Zero (persistent queues)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4679156" y="1310878"/>
            <a:ext cx="3893344" cy="2298502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4857750" y="1489472"/>
            <a:ext cx="3536156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Scaling Model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/>
          <p:nvPr/>
        </p:nvSpPr>
        <p:spPr>
          <a:xfrm>
            <a:off x="4857750" y="1998464"/>
            <a:ext cx="113513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Agents per Supervisor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7753536" y="1998464"/>
            <a:ext cx="64037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1,000 - 2,000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4857750" y="2294930"/>
            <a:ext cx="76242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Scaling Trigger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6928321" y="2294930"/>
            <a:ext cx="146558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&gt; 1,800 agents or &gt; 70% CPU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/>
          <p:nvPr/>
        </p:nvSpPr>
        <p:spPr>
          <a:xfrm>
            <a:off x="4857750" y="2591395"/>
            <a:ext cx="90686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Deployment Time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/>
          <p:nvPr/>
        </p:nvSpPr>
        <p:spPr>
          <a:xfrm>
            <a:off x="7135992" y="2591395"/>
            <a:ext cx="125791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15 minutes (automated)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4857750" y="2887861"/>
            <a:ext cx="104854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Current Deployment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/>
          <p:nvPr/>
        </p:nvSpPr>
        <p:spPr>
          <a:xfrm>
            <a:off x="7358983" y="2887861"/>
            <a:ext cx="103492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100-150 supervisors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4857750" y="3184327"/>
            <a:ext cx="68239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Max Capacity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6841843" y="3184327"/>
            <a:ext cx="155206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300K agents (150 supervisors)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571500" y="3866555"/>
            <a:ext cx="8001000" cy="1303734"/>
          </a:xfrm>
          <a:prstGeom prst="rect">
            <a:avLst/>
          </a:prstGeom>
          <a:solidFill>
            <a:srgbClr val="A78BFA">
              <a:alpha val="4705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750094" y="4045148"/>
            <a:ext cx="76438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Automated Provisioning &amp; Cost Breakdown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750094" y="4327327"/>
            <a:ext cx="2452678" cy="635794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857250" y="4434483"/>
            <a:ext cx="223836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Terraform + Ansible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857250" y="4725591"/>
            <a:ext cx="22383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Automation Tools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3345647" y="4327327"/>
            <a:ext cx="2452678" cy="635794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5"/>
          <p:cNvSpPr/>
          <p:nvPr/>
        </p:nvSpPr>
        <p:spPr>
          <a:xfrm>
            <a:off x="3452803" y="4434483"/>
            <a:ext cx="223836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~$200/month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3452803" y="4725591"/>
            <a:ext cx="22383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Cost per Supervisor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5941200" y="4327327"/>
            <a:ext cx="2452706" cy="635794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5"/>
          <p:cNvSpPr/>
          <p:nvPr/>
        </p:nvSpPr>
        <p:spPr>
          <a:xfrm>
            <a:off x="6048356" y="4434483"/>
            <a:ext cx="2238394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$20K-30K/month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6048356" y="4725591"/>
            <a:ext cx="223839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Infrastructure Cost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571500" y="5377458"/>
            <a:ext cx="8001000" cy="1567300"/>
          </a:xfrm>
          <a:prstGeom prst="rect">
            <a:avLst/>
          </a:prstGeom>
          <a:solidFill>
            <a:srgbClr val="00D4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571500" y="5377458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>
            <a:off x="571500" y="5377458"/>
            <a:ext cx="8001000" cy="1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0050" lIns="170050" spcFirstLastPara="1" rIns="170050" wrap="square" tIns="170050">
            <a:noAutofit/>
          </a:bodyPr>
          <a:lstStyle/>
          <a:p>
            <a:pPr indent="0" lvl="0" marL="0" marR="0" rtl="0" algn="l">
              <a:lnSpc>
                <a:spcPct val="192572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Regional Placement Strategy:</a:t>
            </a: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Deploy supervisors in each datacenter/region to minimize latency to agents (&lt;50ms) and ensure local resilience. Each supervisor manages 1,000-2,000 agents within its region. When agent count exceeds 1,800 or CPU utilization exceeds 70%, automatically provision a new HA pair via Terraform/Ansible. </a:t>
            </a:r>
            <a:b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Cost Analysis:</a:t>
            </a: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Each supervisor runs on AWS c5.xlarge instances (~$200/month including networking and storage). With 100-150 supervisors deployed across multiple regions, total infrastructure cost ranges from $20K-30K/month. This cost scales linearly with agent count and provides 99.9% availability with zero data loss guarantees.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5" name="Google Shape;5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6"/>
          <p:cNvSpPr/>
          <p:nvPr/>
        </p:nvSpPr>
        <p:spPr>
          <a:xfrm>
            <a:off x="500063" y="357188"/>
            <a:ext cx="8143875" cy="4786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"/>
          <p:cNvSpPr/>
          <p:nvPr/>
        </p:nvSpPr>
        <p:spPr>
          <a:xfrm>
            <a:off x="500063" y="814388"/>
            <a:ext cx="8143875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"/>
          <p:cNvSpPr/>
          <p:nvPr/>
        </p:nvSpPr>
        <p:spPr>
          <a:xfrm>
            <a:off x="500063" y="357188"/>
            <a:ext cx="8143875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OpAMP Protocol Adapters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500063" y="1064419"/>
            <a:ext cx="2449274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Proprietary Agent APIs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500063" y="1364456"/>
            <a:ext cx="2449274" cy="550069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642938" y="1471613"/>
            <a:ext cx="216352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OSQuery Agent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642938" y="1662708"/>
            <a:ext cx="21635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TLS API (port 443)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/>
          <p:nvPr/>
        </p:nvSpPr>
        <p:spPr>
          <a:xfrm>
            <a:off x="500063" y="1993106"/>
            <a:ext cx="2449274" cy="550069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6"/>
          <p:cNvSpPr/>
          <p:nvPr/>
        </p:nvSpPr>
        <p:spPr>
          <a:xfrm>
            <a:off x="642938" y="2100263"/>
            <a:ext cx="216352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Qualys Cloud Agent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642938" y="2291358"/>
            <a:ext cx="21635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REST API (HTTPS)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500063" y="2621756"/>
            <a:ext cx="2449274" cy="550069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6"/>
          <p:cNvSpPr/>
          <p:nvPr/>
        </p:nvSpPr>
        <p:spPr>
          <a:xfrm>
            <a:off x="642938" y="2728913"/>
            <a:ext cx="216352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Wiz Agent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642938" y="2920008"/>
            <a:ext cx="21635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GraphQL API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500063" y="3250406"/>
            <a:ext cx="2449274" cy="550069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6"/>
          <p:cNvSpPr/>
          <p:nvPr/>
        </p:nvSpPr>
        <p:spPr>
          <a:xfrm>
            <a:off x="642938" y="3361134"/>
            <a:ext cx="216352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CrowdStrike Falcon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642938" y="3552230"/>
            <a:ext cx="21635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Falcon API (REST)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500063" y="3882628"/>
            <a:ext cx="2449274" cy="550069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6"/>
          <p:cNvSpPr/>
          <p:nvPr/>
        </p:nvSpPr>
        <p:spPr>
          <a:xfrm>
            <a:off x="642938" y="4004072"/>
            <a:ext cx="216352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Zscaler ZIA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642938" y="4195167"/>
            <a:ext cx="21635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ZIA API (REST)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3163649" y="2625328"/>
            <a:ext cx="214313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3592274" y="1064419"/>
            <a:ext cx="2449274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Protocol Adapters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3592274" y="1364456"/>
            <a:ext cx="2449274" cy="528638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6"/>
          <p:cNvSpPr/>
          <p:nvPr/>
        </p:nvSpPr>
        <p:spPr>
          <a:xfrm>
            <a:off x="3735149" y="1471613"/>
            <a:ext cx="216352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OSQuery Adapter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3735149" y="1643063"/>
            <a:ext cx="216352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TLS → OpAMP gRPC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3592274" y="1971675"/>
            <a:ext cx="2449274" cy="528638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/>
          <p:nvPr/>
        </p:nvSpPr>
        <p:spPr>
          <a:xfrm>
            <a:off x="3735149" y="2089547"/>
            <a:ext cx="216352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Qualys Adapter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3735149" y="2260997"/>
            <a:ext cx="216352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REST → OpAMP gRPC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3592274" y="2589609"/>
            <a:ext cx="2449274" cy="528638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3735149" y="2711053"/>
            <a:ext cx="216352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Wiz Adapter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3735149" y="2882503"/>
            <a:ext cx="216352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GraphQL → OpAMP gRPC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3592274" y="3211116"/>
            <a:ext cx="2449274" cy="528638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/>
          <p:nvPr/>
        </p:nvSpPr>
        <p:spPr>
          <a:xfrm>
            <a:off x="3735149" y="3332559"/>
            <a:ext cx="216352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CrowdStrike Adapter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3735149" y="3504009"/>
            <a:ext cx="216352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Falcon API → OpAMP gRPC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3592274" y="3832622"/>
            <a:ext cx="2449274" cy="528638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3735149" y="3954066"/>
            <a:ext cx="216352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Zscaler Adapter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3735149" y="4125516"/>
            <a:ext cx="216352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ZIA API → OpAMP gRPC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6255860" y="2607469"/>
            <a:ext cx="214313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6684485" y="1617752"/>
            <a:ext cx="1959425" cy="2229464"/>
          </a:xfrm>
          <a:prstGeom prst="rect">
            <a:avLst/>
          </a:prstGeom>
          <a:solidFill>
            <a:srgbClr val="A78BFA">
              <a:alpha val="7843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6898798" y="1988334"/>
            <a:ext cx="1530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Unified OpAMP Protocol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6898798" y="2488397"/>
            <a:ext cx="153080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Open Agent Management Protocol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6898798" y="2722355"/>
            <a:ext cx="1530800" cy="75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6056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Bidirectional gRPC streaming</a:t>
            </a:r>
            <a:b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• Configuration management</a:t>
            </a:r>
            <a:b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• Health reporting</a:t>
            </a:r>
            <a:b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• Remote commands</a:t>
            </a:r>
            <a:b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• Package delivery</a:t>
            </a:r>
            <a:b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• Connection credentials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500063" y="4614863"/>
            <a:ext cx="8143875" cy="57864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6"/>
          <p:cNvSpPr/>
          <p:nvPr/>
        </p:nvSpPr>
        <p:spPr>
          <a:xfrm>
            <a:off x="500063" y="4614863"/>
            <a:ext cx="8143875" cy="7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500063" y="4757738"/>
            <a:ext cx="25717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Unified Management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500063" y="4929188"/>
            <a:ext cx="257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 OpAMP interface manages all 6 agent types regardless of native protocol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3286125" y="4757738"/>
            <a:ext cx="25717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Protocol Abstraction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3286125" y="4929188"/>
            <a:ext cx="257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Adapters handle protocol translation, authentication, and error handling automatically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6"/>
          <p:cNvSpPr/>
          <p:nvPr/>
        </p:nvSpPr>
        <p:spPr>
          <a:xfrm>
            <a:off x="6072188" y="4757738"/>
            <a:ext cx="25717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Extensibility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6072188" y="4929188"/>
            <a:ext cx="257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 new agent types by implementing adapter interface without modifying OpAMP server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0" name="Google Shape;6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634633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7"/>
          <p:cNvSpPr/>
          <p:nvPr/>
        </p:nvSpPr>
        <p:spPr>
          <a:xfrm>
            <a:off x="571500" y="250031"/>
            <a:ext cx="800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7"/>
          <p:cNvSpPr/>
          <p:nvPr/>
        </p:nvSpPr>
        <p:spPr>
          <a:xfrm>
            <a:off x="571500" y="685800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7"/>
          <p:cNvSpPr/>
          <p:nvPr/>
        </p:nvSpPr>
        <p:spPr>
          <a:xfrm>
            <a:off x="571500" y="250031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OpAMP Server Architecture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571500" y="864394"/>
            <a:ext cx="3911203" cy="3339703"/>
          </a:xfrm>
          <a:prstGeom prst="rect">
            <a:avLst/>
          </a:prstGeom>
          <a:solidFill>
            <a:srgbClr val="A78BFA">
              <a:alpha val="2745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7"/>
          <p:cNvSpPr/>
          <p:nvPr/>
        </p:nvSpPr>
        <p:spPr>
          <a:xfrm>
            <a:off x="700088" y="992981"/>
            <a:ext cx="3654028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us-east-1 (Primary)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700088" y="1346597"/>
            <a:ext cx="3654028" cy="48220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7"/>
          <p:cNvSpPr/>
          <p:nvPr/>
        </p:nvSpPr>
        <p:spPr>
          <a:xfrm>
            <a:off x="828675" y="1432322"/>
            <a:ext cx="33968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Application Load Balancer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828675" y="1607344"/>
            <a:ext cx="339685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TLS termination, health checks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700088" y="1871663"/>
            <a:ext cx="36540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91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700088" y="2057400"/>
            <a:ext cx="3654028" cy="482203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828675" y="2143125"/>
            <a:ext cx="33968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OpAMP Server Cluster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828675" y="2318147"/>
            <a:ext cx="339685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3-4 instances, gRPC streaming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700088" y="2582466"/>
            <a:ext cx="36540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91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700088" y="2768203"/>
            <a:ext cx="3654028" cy="482203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7"/>
          <p:cNvSpPr/>
          <p:nvPr/>
        </p:nvSpPr>
        <p:spPr>
          <a:xfrm>
            <a:off x="828675" y="2853928"/>
            <a:ext cx="33968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DynamoDB Global Table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828675" y="3028950"/>
            <a:ext cx="339685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state, configurations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700088" y="3293269"/>
            <a:ext cx="36540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91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700088" y="3479006"/>
            <a:ext cx="3654028" cy="48220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7"/>
          <p:cNvSpPr/>
          <p:nvPr/>
        </p:nvSpPr>
        <p:spPr>
          <a:xfrm>
            <a:off x="828675" y="3564731"/>
            <a:ext cx="33968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ElastiCache (Redis)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828675" y="3739753"/>
            <a:ext cx="339685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cache, session state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4661297" y="864394"/>
            <a:ext cx="3911203" cy="3339703"/>
          </a:xfrm>
          <a:prstGeom prst="rect">
            <a:avLst/>
          </a:prstGeom>
          <a:solidFill>
            <a:srgbClr val="A78BFA">
              <a:alpha val="2745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4789884" y="992981"/>
            <a:ext cx="3654028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us-west-2 (Secondary)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7"/>
          <p:cNvSpPr/>
          <p:nvPr/>
        </p:nvSpPr>
        <p:spPr>
          <a:xfrm>
            <a:off x="4789884" y="1346597"/>
            <a:ext cx="3654028" cy="48220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7"/>
          <p:cNvSpPr/>
          <p:nvPr/>
        </p:nvSpPr>
        <p:spPr>
          <a:xfrm>
            <a:off x="4918472" y="1432322"/>
            <a:ext cx="33968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Application Load Balancer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7"/>
          <p:cNvSpPr/>
          <p:nvPr/>
        </p:nvSpPr>
        <p:spPr>
          <a:xfrm>
            <a:off x="4918472" y="1607344"/>
            <a:ext cx="339685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TLS termination, health checks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4789884" y="1871663"/>
            <a:ext cx="36540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91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7"/>
          <p:cNvSpPr/>
          <p:nvPr/>
        </p:nvSpPr>
        <p:spPr>
          <a:xfrm>
            <a:off x="4789884" y="2057400"/>
            <a:ext cx="3654028" cy="482203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7"/>
          <p:cNvSpPr/>
          <p:nvPr/>
        </p:nvSpPr>
        <p:spPr>
          <a:xfrm>
            <a:off x="4918472" y="2143125"/>
            <a:ext cx="33968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OpAMP Server Cluster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7"/>
          <p:cNvSpPr/>
          <p:nvPr/>
        </p:nvSpPr>
        <p:spPr>
          <a:xfrm>
            <a:off x="4918472" y="2318147"/>
            <a:ext cx="339685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3-4 instances, gRPC streaming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7"/>
          <p:cNvSpPr/>
          <p:nvPr/>
        </p:nvSpPr>
        <p:spPr>
          <a:xfrm>
            <a:off x="4789884" y="2582466"/>
            <a:ext cx="36540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91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4789884" y="2768203"/>
            <a:ext cx="3654028" cy="482203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7"/>
          <p:cNvSpPr/>
          <p:nvPr/>
        </p:nvSpPr>
        <p:spPr>
          <a:xfrm>
            <a:off x="4918472" y="2853928"/>
            <a:ext cx="33968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DynamoDB Global Table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7"/>
          <p:cNvSpPr/>
          <p:nvPr/>
        </p:nvSpPr>
        <p:spPr>
          <a:xfrm>
            <a:off x="4918472" y="3028950"/>
            <a:ext cx="339685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state, configurations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7"/>
          <p:cNvSpPr/>
          <p:nvPr/>
        </p:nvSpPr>
        <p:spPr>
          <a:xfrm>
            <a:off x="4789884" y="3293269"/>
            <a:ext cx="365402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91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7"/>
          <p:cNvSpPr/>
          <p:nvPr/>
        </p:nvSpPr>
        <p:spPr>
          <a:xfrm>
            <a:off x="4789884" y="3479006"/>
            <a:ext cx="3654028" cy="48220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7"/>
          <p:cNvSpPr/>
          <p:nvPr/>
        </p:nvSpPr>
        <p:spPr>
          <a:xfrm>
            <a:off x="4918472" y="3564731"/>
            <a:ext cx="33968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ElastiCache (Redis)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7"/>
          <p:cNvSpPr/>
          <p:nvPr/>
        </p:nvSpPr>
        <p:spPr>
          <a:xfrm>
            <a:off x="4918472" y="3739753"/>
            <a:ext cx="339685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cache, session state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7"/>
          <p:cNvSpPr/>
          <p:nvPr/>
        </p:nvSpPr>
        <p:spPr>
          <a:xfrm>
            <a:off x="571500" y="4204097"/>
            <a:ext cx="8001000" cy="471488"/>
          </a:xfrm>
          <a:prstGeom prst="rect">
            <a:avLst/>
          </a:prstGeom>
          <a:solidFill>
            <a:srgbClr val="A78BF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7"/>
          <p:cNvSpPr/>
          <p:nvPr/>
        </p:nvSpPr>
        <p:spPr>
          <a:xfrm>
            <a:off x="571500" y="4204097"/>
            <a:ext cx="8001000" cy="14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7"/>
          <p:cNvSpPr/>
          <p:nvPr/>
        </p:nvSpPr>
        <p:spPr>
          <a:xfrm>
            <a:off x="571500" y="4661297"/>
            <a:ext cx="8001000" cy="142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7"/>
          <p:cNvSpPr/>
          <p:nvPr/>
        </p:nvSpPr>
        <p:spPr>
          <a:xfrm>
            <a:off x="657225" y="4289822"/>
            <a:ext cx="782955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↔ Bi-Directional Replication ↔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7"/>
          <p:cNvSpPr/>
          <p:nvPr/>
        </p:nvSpPr>
        <p:spPr>
          <a:xfrm>
            <a:off x="657225" y="4454128"/>
            <a:ext cx="782955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DynamoDB Global Tables: &lt; 1 second replication | ElastiCache: Active-active with cross-region sync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571500" y="4775597"/>
            <a:ext cx="8001000" cy="4161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7"/>
          <p:cNvSpPr/>
          <p:nvPr/>
        </p:nvSpPr>
        <p:spPr>
          <a:xfrm>
            <a:off x="571500" y="4775597"/>
            <a:ext cx="8001000" cy="7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7"/>
          <p:cNvSpPr/>
          <p:nvPr/>
        </p:nvSpPr>
        <p:spPr>
          <a:xfrm>
            <a:off x="998172" y="4882753"/>
            <a:ext cx="106651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99.99%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7"/>
          <p:cNvSpPr/>
          <p:nvPr/>
        </p:nvSpPr>
        <p:spPr>
          <a:xfrm>
            <a:off x="998172" y="5086350"/>
            <a:ext cx="1066512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Multi-Region Availability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7"/>
          <p:cNvSpPr/>
          <p:nvPr/>
        </p:nvSpPr>
        <p:spPr>
          <a:xfrm>
            <a:off x="3070920" y="4882753"/>
            <a:ext cx="97512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10K req/sec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7"/>
          <p:cNvSpPr/>
          <p:nvPr/>
        </p:nvSpPr>
        <p:spPr>
          <a:xfrm>
            <a:off x="3070920" y="5086350"/>
            <a:ext cx="975122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Server Throughput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7"/>
          <p:cNvSpPr/>
          <p:nvPr/>
        </p:nvSpPr>
        <p:spPr>
          <a:xfrm>
            <a:off x="5215858" y="4882753"/>
            <a:ext cx="73932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100ms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7"/>
          <p:cNvSpPr/>
          <p:nvPr/>
        </p:nvSpPr>
        <p:spPr>
          <a:xfrm>
            <a:off x="5215858" y="5086350"/>
            <a:ext cx="739322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Cache Hit Latency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7"/>
          <p:cNvSpPr/>
          <p:nvPr/>
        </p:nvSpPr>
        <p:spPr>
          <a:xfrm>
            <a:off x="7206062" y="4882753"/>
            <a:ext cx="81296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30 sec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7"/>
          <p:cNvSpPr/>
          <p:nvPr/>
        </p:nvSpPr>
        <p:spPr>
          <a:xfrm>
            <a:off x="7206062" y="5086350"/>
            <a:ext cx="812964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Automatic Failover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8" name="Google Shape;7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82828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8"/>
          <p:cNvSpPr/>
          <p:nvPr/>
        </p:nvSpPr>
        <p:spPr>
          <a:xfrm>
            <a:off x="571500" y="250031"/>
            <a:ext cx="800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8"/>
          <p:cNvSpPr/>
          <p:nvPr/>
        </p:nvSpPr>
        <p:spPr>
          <a:xfrm>
            <a:off x="571500" y="685800"/>
            <a:ext cx="8001000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8"/>
          <p:cNvSpPr/>
          <p:nvPr/>
        </p:nvSpPr>
        <p:spPr>
          <a:xfrm>
            <a:off x="571500" y="250031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OpAMP Protocol Flow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8"/>
          <p:cNvSpPr/>
          <p:nvPr/>
        </p:nvSpPr>
        <p:spPr>
          <a:xfrm>
            <a:off x="571500" y="2251732"/>
            <a:ext cx="1428750" cy="961504"/>
          </a:xfrm>
          <a:prstGeom prst="rect">
            <a:avLst/>
          </a:prstGeom>
          <a:solidFill>
            <a:srgbClr val="00D4FF">
              <a:alpha val="7843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8"/>
          <p:cNvSpPr/>
          <p:nvPr/>
        </p:nvSpPr>
        <p:spPr>
          <a:xfrm>
            <a:off x="678656" y="2503550"/>
            <a:ext cx="121443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 / Supervisor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8"/>
          <p:cNvSpPr/>
          <p:nvPr/>
        </p:nvSpPr>
        <p:spPr>
          <a:xfrm>
            <a:off x="678656" y="2721434"/>
            <a:ext cx="1214438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Sends status &amp; health</a:t>
            </a:r>
            <a:b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Receives configuration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8"/>
          <p:cNvSpPr/>
          <p:nvPr/>
        </p:nvSpPr>
        <p:spPr>
          <a:xfrm>
            <a:off x="2178844" y="828675"/>
            <a:ext cx="4786313" cy="1850231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8"/>
          <p:cNvSpPr/>
          <p:nvPr/>
        </p:nvSpPr>
        <p:spPr>
          <a:xfrm>
            <a:off x="2286000" y="935831"/>
            <a:ext cx="15719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2528915" y="976015"/>
            <a:ext cx="13085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AgentToServer Messages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2286000" y="1298377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8"/>
          <p:cNvSpPr/>
          <p:nvPr/>
        </p:nvSpPr>
        <p:spPr>
          <a:xfrm>
            <a:off x="2371725" y="1355527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Status Report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8"/>
          <p:cNvSpPr/>
          <p:nvPr/>
        </p:nvSpPr>
        <p:spPr>
          <a:xfrm>
            <a:off x="2371725" y="1496616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 health, uptime, version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4600575" y="1298377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8"/>
          <p:cNvSpPr/>
          <p:nvPr/>
        </p:nvSpPr>
        <p:spPr>
          <a:xfrm>
            <a:off x="4686300" y="1355527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Effective Config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4686300" y="1496616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Current applied configuration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8"/>
          <p:cNvSpPr/>
          <p:nvPr/>
        </p:nvSpPr>
        <p:spPr>
          <a:xfrm>
            <a:off x="2286000" y="1718072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8"/>
          <p:cNvSpPr/>
          <p:nvPr/>
        </p:nvSpPr>
        <p:spPr>
          <a:xfrm>
            <a:off x="2371725" y="1775222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Health Metrics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2371725" y="1916311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CPU, memory, data rates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8"/>
          <p:cNvSpPr/>
          <p:nvPr/>
        </p:nvSpPr>
        <p:spPr>
          <a:xfrm>
            <a:off x="4600575" y="1718072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8"/>
          <p:cNvSpPr/>
          <p:nvPr/>
        </p:nvSpPr>
        <p:spPr>
          <a:xfrm>
            <a:off x="4686300" y="1775222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Capability Report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8"/>
          <p:cNvSpPr/>
          <p:nvPr/>
        </p:nvSpPr>
        <p:spPr>
          <a:xfrm>
            <a:off x="4686300" y="1916311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Supported features, extensions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2286000" y="2137767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8"/>
          <p:cNvSpPr/>
          <p:nvPr/>
        </p:nvSpPr>
        <p:spPr>
          <a:xfrm>
            <a:off x="2371725" y="2194917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Package Status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8"/>
          <p:cNvSpPr/>
          <p:nvPr/>
        </p:nvSpPr>
        <p:spPr>
          <a:xfrm>
            <a:off x="2371725" y="2336006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Installed packages, versions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8"/>
          <p:cNvSpPr/>
          <p:nvPr/>
        </p:nvSpPr>
        <p:spPr>
          <a:xfrm>
            <a:off x="4600575" y="2137767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8"/>
          <p:cNvSpPr/>
          <p:nvPr/>
        </p:nvSpPr>
        <p:spPr>
          <a:xfrm>
            <a:off x="4686300" y="2194917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Error Reports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8"/>
          <p:cNvSpPr/>
          <p:nvPr/>
        </p:nvSpPr>
        <p:spPr>
          <a:xfrm>
            <a:off x="4686300" y="2336006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Configuration errors, failures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/>
          <p:nvPr/>
        </p:nvSpPr>
        <p:spPr>
          <a:xfrm>
            <a:off x="2178844" y="2714625"/>
            <a:ext cx="4786313" cy="1850231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8"/>
          <p:cNvSpPr/>
          <p:nvPr/>
        </p:nvSpPr>
        <p:spPr>
          <a:xfrm>
            <a:off x="2286000" y="2821781"/>
            <a:ext cx="15719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2528915" y="2861965"/>
            <a:ext cx="13085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ServerToAgent Messages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8"/>
          <p:cNvSpPr/>
          <p:nvPr/>
        </p:nvSpPr>
        <p:spPr>
          <a:xfrm>
            <a:off x="2286000" y="3184327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8"/>
          <p:cNvSpPr/>
          <p:nvPr/>
        </p:nvSpPr>
        <p:spPr>
          <a:xfrm>
            <a:off x="2371725" y="3241477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Remote Config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8"/>
          <p:cNvSpPr/>
          <p:nvPr/>
        </p:nvSpPr>
        <p:spPr>
          <a:xfrm>
            <a:off x="2371725" y="3382566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New configuration to apply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8"/>
          <p:cNvSpPr/>
          <p:nvPr/>
        </p:nvSpPr>
        <p:spPr>
          <a:xfrm>
            <a:off x="4600575" y="3184327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8"/>
          <p:cNvSpPr/>
          <p:nvPr/>
        </p:nvSpPr>
        <p:spPr>
          <a:xfrm>
            <a:off x="4686300" y="3241477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Package Offers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8"/>
          <p:cNvSpPr/>
          <p:nvPr/>
        </p:nvSpPr>
        <p:spPr>
          <a:xfrm>
            <a:off x="4686300" y="3382566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Available updates, downloads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8"/>
          <p:cNvSpPr/>
          <p:nvPr/>
        </p:nvSpPr>
        <p:spPr>
          <a:xfrm>
            <a:off x="2286000" y="3604022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2371725" y="3661172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Connection Settings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8"/>
          <p:cNvSpPr/>
          <p:nvPr/>
        </p:nvSpPr>
        <p:spPr>
          <a:xfrm>
            <a:off x="2371725" y="3802261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Endpoint URLs, credentials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8"/>
          <p:cNvSpPr/>
          <p:nvPr/>
        </p:nvSpPr>
        <p:spPr>
          <a:xfrm>
            <a:off x="4600575" y="3604022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4686300" y="3661172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Flags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8"/>
          <p:cNvSpPr/>
          <p:nvPr/>
        </p:nvSpPr>
        <p:spPr>
          <a:xfrm>
            <a:off x="4686300" y="3802261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 flags, toggles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8"/>
          <p:cNvSpPr/>
          <p:nvPr/>
        </p:nvSpPr>
        <p:spPr>
          <a:xfrm>
            <a:off x="2286000" y="4023717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2371725" y="4080867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Commands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8"/>
          <p:cNvSpPr/>
          <p:nvPr/>
        </p:nvSpPr>
        <p:spPr>
          <a:xfrm>
            <a:off x="2371725" y="4221956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Restart, reload, diagnostics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8"/>
          <p:cNvSpPr/>
          <p:nvPr/>
        </p:nvSpPr>
        <p:spPr>
          <a:xfrm>
            <a:off x="4600575" y="4023717"/>
            <a:ext cx="2257425" cy="376833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8"/>
          <p:cNvSpPr/>
          <p:nvPr/>
        </p:nvSpPr>
        <p:spPr>
          <a:xfrm>
            <a:off x="4686300" y="4080867"/>
            <a:ext cx="20859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Custom Messages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8"/>
          <p:cNvSpPr/>
          <p:nvPr/>
        </p:nvSpPr>
        <p:spPr>
          <a:xfrm>
            <a:off x="4686300" y="4221956"/>
            <a:ext cx="20859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Vendor-specific extensions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8"/>
          <p:cNvSpPr/>
          <p:nvPr/>
        </p:nvSpPr>
        <p:spPr>
          <a:xfrm>
            <a:off x="7143750" y="2267806"/>
            <a:ext cx="1428750" cy="786482"/>
          </a:xfrm>
          <a:prstGeom prst="rect">
            <a:avLst/>
          </a:prstGeom>
          <a:solidFill>
            <a:srgbClr val="A78BFA">
              <a:alpha val="7843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8"/>
          <p:cNvSpPr/>
          <p:nvPr/>
        </p:nvSpPr>
        <p:spPr>
          <a:xfrm>
            <a:off x="7250906" y="2432112"/>
            <a:ext cx="121443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OpAMP Server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8"/>
          <p:cNvSpPr/>
          <p:nvPr/>
        </p:nvSpPr>
        <p:spPr>
          <a:xfrm>
            <a:off x="7250906" y="2649996"/>
            <a:ext cx="1214438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Receives telemetry</a:t>
            </a:r>
            <a:b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Sends configuration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8"/>
          <p:cNvSpPr/>
          <p:nvPr/>
        </p:nvSpPr>
        <p:spPr>
          <a:xfrm>
            <a:off x="571500" y="4636294"/>
            <a:ext cx="8001000" cy="43219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8"/>
          <p:cNvSpPr/>
          <p:nvPr/>
        </p:nvSpPr>
        <p:spPr>
          <a:xfrm>
            <a:off x="571500" y="4636294"/>
            <a:ext cx="8001000" cy="7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8"/>
          <p:cNvSpPr/>
          <p:nvPr/>
        </p:nvSpPr>
        <p:spPr>
          <a:xfrm>
            <a:off x="571500" y="4743450"/>
            <a:ext cx="191988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Transport Protocol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8"/>
          <p:cNvSpPr/>
          <p:nvPr/>
        </p:nvSpPr>
        <p:spPr>
          <a:xfrm>
            <a:off x="571500" y="4886325"/>
            <a:ext cx="191988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gRPC / HTTP/2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8"/>
          <p:cNvSpPr/>
          <p:nvPr/>
        </p:nvSpPr>
        <p:spPr>
          <a:xfrm>
            <a:off x="2598539" y="4743450"/>
            <a:ext cx="191988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Message Format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8"/>
          <p:cNvSpPr/>
          <p:nvPr/>
        </p:nvSpPr>
        <p:spPr>
          <a:xfrm>
            <a:off x="2598539" y="4886325"/>
            <a:ext cx="191988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Protocol Buffers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8"/>
          <p:cNvSpPr/>
          <p:nvPr/>
        </p:nvSpPr>
        <p:spPr>
          <a:xfrm>
            <a:off x="4625578" y="4743450"/>
            <a:ext cx="191988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Connection Type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8"/>
          <p:cNvSpPr/>
          <p:nvPr/>
        </p:nvSpPr>
        <p:spPr>
          <a:xfrm>
            <a:off x="4625578" y="4886325"/>
            <a:ext cx="191988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Bidirectional Stream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8"/>
          <p:cNvSpPr/>
          <p:nvPr/>
        </p:nvSpPr>
        <p:spPr>
          <a:xfrm>
            <a:off x="6652617" y="4743450"/>
            <a:ext cx="191988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8"/>
          <p:cNvSpPr/>
          <p:nvPr/>
        </p:nvSpPr>
        <p:spPr>
          <a:xfrm>
            <a:off x="6652617" y="4886325"/>
            <a:ext cx="191988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mTLS / TLS 1.3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75" name="Google Shape;7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19"/>
          <p:cNvSpPr/>
          <p:nvPr/>
        </p:nvSpPr>
        <p:spPr>
          <a:xfrm>
            <a:off x="500063" y="321469"/>
            <a:ext cx="8143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9"/>
          <p:cNvSpPr/>
          <p:nvPr/>
        </p:nvSpPr>
        <p:spPr>
          <a:xfrm>
            <a:off x="500063" y="757238"/>
            <a:ext cx="8143875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9"/>
          <p:cNvSpPr/>
          <p:nvPr/>
        </p:nvSpPr>
        <p:spPr>
          <a:xfrm>
            <a:off x="500063" y="321469"/>
            <a:ext cx="8143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GitOps-Based Configuration Management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9"/>
          <p:cNvSpPr/>
          <p:nvPr/>
        </p:nvSpPr>
        <p:spPr>
          <a:xfrm>
            <a:off x="500063" y="971550"/>
            <a:ext cx="2333606" cy="1880815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9"/>
          <p:cNvSpPr/>
          <p:nvPr/>
        </p:nvSpPr>
        <p:spPr>
          <a:xfrm>
            <a:off x="642938" y="1114425"/>
            <a:ext cx="2047856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9"/>
          <p:cNvSpPr/>
          <p:nvPr/>
        </p:nvSpPr>
        <p:spPr>
          <a:xfrm>
            <a:off x="642938" y="1489472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9"/>
          <p:cNvSpPr/>
          <p:nvPr/>
        </p:nvSpPr>
        <p:spPr>
          <a:xfrm>
            <a:off x="735025" y="1489472"/>
            <a:ext cx="1955769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Single source of truth for all agent configurations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9"/>
          <p:cNvSpPr/>
          <p:nvPr/>
        </p:nvSpPr>
        <p:spPr>
          <a:xfrm>
            <a:off x="642938" y="1872332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9"/>
          <p:cNvSpPr/>
          <p:nvPr/>
        </p:nvSpPr>
        <p:spPr>
          <a:xfrm>
            <a:off x="735025" y="1872332"/>
            <a:ext cx="1955769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YAML/JSON config files organized hierarchically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9"/>
          <p:cNvSpPr/>
          <p:nvPr/>
        </p:nvSpPr>
        <p:spPr>
          <a:xfrm>
            <a:off x="642938" y="2255193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/>
          <p:nvPr/>
        </p:nvSpPr>
        <p:spPr>
          <a:xfrm>
            <a:off x="735025" y="2255193"/>
            <a:ext cx="1474961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Version control with full audit trail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9"/>
          <p:cNvSpPr/>
          <p:nvPr/>
        </p:nvSpPr>
        <p:spPr>
          <a:xfrm>
            <a:off x="642938" y="2489485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9"/>
          <p:cNvSpPr/>
          <p:nvPr/>
        </p:nvSpPr>
        <p:spPr>
          <a:xfrm>
            <a:off x="735025" y="2489485"/>
            <a:ext cx="1910228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Branch protection rules enforce peer review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9"/>
          <p:cNvSpPr/>
          <p:nvPr/>
        </p:nvSpPr>
        <p:spPr>
          <a:xfrm>
            <a:off x="2833669" y="1731578"/>
            <a:ext cx="571500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9"/>
          <p:cNvSpPr/>
          <p:nvPr/>
        </p:nvSpPr>
        <p:spPr>
          <a:xfrm>
            <a:off x="3405169" y="988684"/>
            <a:ext cx="2333634" cy="181797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9"/>
          <p:cNvSpPr/>
          <p:nvPr/>
        </p:nvSpPr>
        <p:spPr>
          <a:xfrm>
            <a:off x="3548044" y="1145846"/>
            <a:ext cx="2047884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PR Validation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9"/>
          <p:cNvSpPr/>
          <p:nvPr/>
        </p:nvSpPr>
        <p:spPr>
          <a:xfrm>
            <a:off x="3548044" y="1520893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9"/>
          <p:cNvSpPr/>
          <p:nvPr/>
        </p:nvSpPr>
        <p:spPr>
          <a:xfrm>
            <a:off x="3640131" y="1520893"/>
            <a:ext cx="1471975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Schema validation (JSON Schema)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9"/>
          <p:cNvSpPr/>
          <p:nvPr/>
        </p:nvSpPr>
        <p:spPr>
          <a:xfrm>
            <a:off x="3548044" y="1755186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9"/>
          <p:cNvSpPr/>
          <p:nvPr/>
        </p:nvSpPr>
        <p:spPr>
          <a:xfrm>
            <a:off x="3640131" y="1755186"/>
            <a:ext cx="1130610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Syntax checking (yamllint)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9"/>
          <p:cNvSpPr/>
          <p:nvPr/>
        </p:nvSpPr>
        <p:spPr>
          <a:xfrm>
            <a:off x="3548044" y="1989479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9"/>
          <p:cNvSpPr/>
          <p:nvPr/>
        </p:nvSpPr>
        <p:spPr>
          <a:xfrm>
            <a:off x="3640131" y="1989479"/>
            <a:ext cx="159048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Security scanning (secrets detection)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9"/>
          <p:cNvSpPr/>
          <p:nvPr/>
        </p:nvSpPr>
        <p:spPr>
          <a:xfrm>
            <a:off x="3548044" y="2223771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9"/>
          <p:cNvSpPr/>
          <p:nvPr/>
        </p:nvSpPr>
        <p:spPr>
          <a:xfrm>
            <a:off x="3640131" y="2223771"/>
            <a:ext cx="1307139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Peer review approval required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9"/>
          <p:cNvSpPr/>
          <p:nvPr/>
        </p:nvSpPr>
        <p:spPr>
          <a:xfrm>
            <a:off x="3548044" y="2458064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9"/>
          <p:cNvSpPr/>
          <p:nvPr/>
        </p:nvSpPr>
        <p:spPr>
          <a:xfrm>
            <a:off x="3640131" y="2458064"/>
            <a:ext cx="1176291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Automated tests in staging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9"/>
          <p:cNvSpPr/>
          <p:nvPr/>
        </p:nvSpPr>
        <p:spPr>
          <a:xfrm>
            <a:off x="5738803" y="1731578"/>
            <a:ext cx="571500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9"/>
          <p:cNvSpPr/>
          <p:nvPr/>
        </p:nvSpPr>
        <p:spPr>
          <a:xfrm>
            <a:off x="6310303" y="988684"/>
            <a:ext cx="2333606" cy="1817973"/>
          </a:xfrm>
          <a:prstGeom prst="rect">
            <a:avLst/>
          </a:prstGeom>
          <a:solidFill>
            <a:srgbClr val="A78BFA">
              <a:alpha val="4705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9"/>
          <p:cNvSpPr/>
          <p:nvPr/>
        </p:nvSpPr>
        <p:spPr>
          <a:xfrm>
            <a:off x="6453178" y="1145846"/>
            <a:ext cx="2047856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ArgoCD Sync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9"/>
          <p:cNvSpPr/>
          <p:nvPr/>
        </p:nvSpPr>
        <p:spPr>
          <a:xfrm>
            <a:off x="6453178" y="1520893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9"/>
          <p:cNvSpPr/>
          <p:nvPr/>
        </p:nvSpPr>
        <p:spPr>
          <a:xfrm>
            <a:off x="6545266" y="1520893"/>
            <a:ext cx="1711040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Automatic sync on Git commit (&lt; 3 min)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9"/>
          <p:cNvSpPr/>
          <p:nvPr/>
        </p:nvSpPr>
        <p:spPr>
          <a:xfrm>
            <a:off x="6453178" y="1755186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9"/>
          <p:cNvSpPr/>
          <p:nvPr/>
        </p:nvSpPr>
        <p:spPr>
          <a:xfrm>
            <a:off x="6545266" y="1755186"/>
            <a:ext cx="1700826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Progressive rollout: 5% → 25% → 100%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9"/>
          <p:cNvSpPr/>
          <p:nvPr/>
        </p:nvSpPr>
        <p:spPr>
          <a:xfrm>
            <a:off x="6453178" y="1989479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9"/>
          <p:cNvSpPr/>
          <p:nvPr/>
        </p:nvSpPr>
        <p:spPr>
          <a:xfrm>
            <a:off x="6545266" y="1989479"/>
            <a:ext cx="15213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Health checks at each rollout stage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9"/>
          <p:cNvSpPr/>
          <p:nvPr/>
        </p:nvSpPr>
        <p:spPr>
          <a:xfrm>
            <a:off x="6453178" y="2223771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9"/>
          <p:cNvSpPr/>
          <p:nvPr/>
        </p:nvSpPr>
        <p:spPr>
          <a:xfrm>
            <a:off x="6545266" y="2223771"/>
            <a:ext cx="1255681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Automatic rollback on failure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9"/>
          <p:cNvSpPr/>
          <p:nvPr/>
        </p:nvSpPr>
        <p:spPr>
          <a:xfrm>
            <a:off x="6453178" y="2458064"/>
            <a:ext cx="34937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927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9"/>
          <p:cNvSpPr/>
          <p:nvPr/>
        </p:nvSpPr>
        <p:spPr>
          <a:xfrm>
            <a:off x="6545266" y="2458064"/>
            <a:ext cx="144005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Pushes to OpAMP servers via API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9"/>
          <p:cNvSpPr/>
          <p:nvPr/>
        </p:nvSpPr>
        <p:spPr>
          <a:xfrm>
            <a:off x="500063" y="3002384"/>
            <a:ext cx="8143875" cy="1105495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9"/>
          <p:cNvSpPr/>
          <p:nvPr/>
        </p:nvSpPr>
        <p:spPr>
          <a:xfrm>
            <a:off x="642938" y="3145259"/>
            <a:ext cx="785812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Hierarchical Configuration Structure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9"/>
          <p:cNvSpPr/>
          <p:nvPr/>
        </p:nvSpPr>
        <p:spPr>
          <a:xfrm>
            <a:off x="642938" y="3479229"/>
            <a:ext cx="1696641" cy="471488"/>
          </a:xfrm>
          <a:prstGeom prst="rect">
            <a:avLst/>
          </a:prstGeom>
          <a:solidFill>
            <a:srgbClr val="64748B">
              <a:alpha val="4705"/>
            </a:srgbClr>
          </a:solidFill>
          <a:ln cap="flat" cmpd="sng" w="182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9"/>
          <p:cNvSpPr/>
          <p:nvPr/>
        </p:nvSpPr>
        <p:spPr>
          <a:xfrm>
            <a:off x="728663" y="3579242"/>
            <a:ext cx="150375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9"/>
          <p:cNvSpPr/>
          <p:nvPr/>
        </p:nvSpPr>
        <p:spPr>
          <a:xfrm>
            <a:off x="728663" y="3743548"/>
            <a:ext cx="15037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agents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9"/>
          <p:cNvSpPr/>
          <p:nvPr/>
        </p:nvSpPr>
        <p:spPr>
          <a:xfrm>
            <a:off x="2425303" y="3611389"/>
            <a:ext cx="1428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9"/>
          <p:cNvSpPr/>
          <p:nvPr/>
        </p:nvSpPr>
        <p:spPr>
          <a:xfrm>
            <a:off x="2675334" y="3479229"/>
            <a:ext cx="1703784" cy="471488"/>
          </a:xfrm>
          <a:prstGeom prst="rect">
            <a:avLst/>
          </a:prstGeom>
          <a:solidFill>
            <a:srgbClr val="64748B">
              <a:alpha val="4705"/>
            </a:srgbClr>
          </a:solidFill>
          <a:ln cap="flat" cmpd="sng" w="182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9"/>
          <p:cNvSpPr/>
          <p:nvPr/>
        </p:nvSpPr>
        <p:spPr>
          <a:xfrm>
            <a:off x="2768203" y="3579242"/>
            <a:ext cx="151090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9"/>
          <p:cNvSpPr/>
          <p:nvPr/>
        </p:nvSpPr>
        <p:spPr>
          <a:xfrm>
            <a:off x="2768203" y="3743548"/>
            <a:ext cx="151090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 / dev / staging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9"/>
          <p:cNvSpPr/>
          <p:nvPr/>
        </p:nvSpPr>
        <p:spPr>
          <a:xfrm>
            <a:off x="4471988" y="3611389"/>
            <a:ext cx="1428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9"/>
          <p:cNvSpPr/>
          <p:nvPr/>
        </p:nvSpPr>
        <p:spPr>
          <a:xfrm>
            <a:off x="4722019" y="3479229"/>
            <a:ext cx="1710928" cy="471488"/>
          </a:xfrm>
          <a:prstGeom prst="rect">
            <a:avLst/>
          </a:prstGeom>
          <a:solidFill>
            <a:srgbClr val="64748B">
              <a:alpha val="4705"/>
            </a:srgbClr>
          </a:solidFill>
          <a:ln cap="flat" cmpd="sng" w="182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9"/>
          <p:cNvSpPr/>
          <p:nvPr/>
        </p:nvSpPr>
        <p:spPr>
          <a:xfrm>
            <a:off x="4822031" y="3579242"/>
            <a:ext cx="15180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Agent Type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9"/>
          <p:cNvSpPr/>
          <p:nvPr/>
        </p:nvSpPr>
        <p:spPr>
          <a:xfrm>
            <a:off x="4822031" y="3743548"/>
            <a:ext cx="1518047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otel / osquery / qualys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9"/>
          <p:cNvSpPr/>
          <p:nvPr/>
        </p:nvSpPr>
        <p:spPr>
          <a:xfrm>
            <a:off x="6532959" y="3611389"/>
            <a:ext cx="14287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9"/>
          <p:cNvSpPr/>
          <p:nvPr/>
        </p:nvSpPr>
        <p:spPr>
          <a:xfrm>
            <a:off x="6782991" y="3479229"/>
            <a:ext cx="1718072" cy="471488"/>
          </a:xfrm>
          <a:prstGeom prst="rect">
            <a:avLst/>
          </a:prstGeom>
          <a:solidFill>
            <a:srgbClr val="64748B">
              <a:alpha val="4705"/>
            </a:srgbClr>
          </a:solidFill>
          <a:ln cap="flat" cmpd="sng" w="182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9"/>
          <p:cNvSpPr/>
          <p:nvPr/>
        </p:nvSpPr>
        <p:spPr>
          <a:xfrm>
            <a:off x="6890147" y="3564954"/>
            <a:ext cx="15251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9"/>
          <p:cNvSpPr/>
          <p:nvPr/>
        </p:nvSpPr>
        <p:spPr>
          <a:xfrm>
            <a:off x="6890147" y="3729261"/>
            <a:ext cx="152519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agent-12345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9"/>
          <p:cNvSpPr/>
          <p:nvPr/>
        </p:nvSpPr>
        <p:spPr>
          <a:xfrm>
            <a:off x="500063" y="4207892"/>
            <a:ext cx="8143875" cy="43576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9"/>
          <p:cNvSpPr/>
          <p:nvPr/>
        </p:nvSpPr>
        <p:spPr>
          <a:xfrm>
            <a:off x="500063" y="4207892"/>
            <a:ext cx="8143875" cy="7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9"/>
          <p:cNvSpPr/>
          <p:nvPr/>
        </p:nvSpPr>
        <p:spPr>
          <a:xfrm>
            <a:off x="500063" y="4315048"/>
            <a:ext cx="192881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5 min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9"/>
          <p:cNvSpPr/>
          <p:nvPr/>
        </p:nvSpPr>
        <p:spPr>
          <a:xfrm>
            <a:off x="500063" y="4538290"/>
            <a:ext cx="192881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End-to-End Config Latency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9"/>
          <p:cNvSpPr/>
          <p:nvPr/>
        </p:nvSpPr>
        <p:spPr>
          <a:xfrm>
            <a:off x="2571750" y="4315048"/>
            <a:ext cx="192881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99.8%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9"/>
          <p:cNvSpPr/>
          <p:nvPr/>
        </p:nvSpPr>
        <p:spPr>
          <a:xfrm>
            <a:off x="2571750" y="4538290"/>
            <a:ext cx="192881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Validation Success Rate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9"/>
          <p:cNvSpPr/>
          <p:nvPr/>
        </p:nvSpPr>
        <p:spPr>
          <a:xfrm>
            <a:off x="4643438" y="4315048"/>
            <a:ext cx="192881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9"/>
          <p:cNvSpPr/>
          <p:nvPr/>
        </p:nvSpPr>
        <p:spPr>
          <a:xfrm>
            <a:off x="4643438" y="4538290"/>
            <a:ext cx="192881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Audit Trail Coverage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6715125" y="4315048"/>
            <a:ext cx="192881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30 sec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6715125" y="4538290"/>
            <a:ext cx="1928813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Rollback Time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7" name="Google Shape;8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20"/>
          <p:cNvSpPr/>
          <p:nvPr/>
        </p:nvSpPr>
        <p:spPr>
          <a:xfrm>
            <a:off x="500063" y="321469"/>
            <a:ext cx="8143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0"/>
          <p:cNvSpPr/>
          <p:nvPr/>
        </p:nvSpPr>
        <p:spPr>
          <a:xfrm>
            <a:off x="500063" y="757238"/>
            <a:ext cx="8143875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0"/>
          <p:cNvSpPr/>
          <p:nvPr/>
        </p:nvSpPr>
        <p:spPr>
          <a:xfrm>
            <a:off x="500063" y="321469"/>
            <a:ext cx="8143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Configuration Rollout Process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0"/>
          <p:cNvSpPr/>
          <p:nvPr/>
        </p:nvSpPr>
        <p:spPr>
          <a:xfrm>
            <a:off x="500063" y="1049238"/>
            <a:ext cx="1320171" cy="1284089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0"/>
          <p:cNvSpPr/>
          <p:nvPr/>
        </p:nvSpPr>
        <p:spPr>
          <a:xfrm>
            <a:off x="642938" y="1206401"/>
            <a:ext cx="101156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0"/>
          <p:cNvSpPr/>
          <p:nvPr/>
        </p:nvSpPr>
        <p:spPr>
          <a:xfrm>
            <a:off x="642938" y="1399282"/>
            <a:ext cx="101156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Git Commit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0"/>
          <p:cNvSpPr/>
          <p:nvPr/>
        </p:nvSpPr>
        <p:spPr>
          <a:xfrm>
            <a:off x="642938" y="1611809"/>
            <a:ext cx="1011566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Developer commits configuration change to GitHub repository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0"/>
          <p:cNvSpPr/>
          <p:nvPr/>
        </p:nvSpPr>
        <p:spPr>
          <a:xfrm>
            <a:off x="642938" y="2069009"/>
            <a:ext cx="1011566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Latency: ~5 sec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0"/>
          <p:cNvSpPr/>
          <p:nvPr/>
        </p:nvSpPr>
        <p:spPr>
          <a:xfrm>
            <a:off x="1904535" y="1566267"/>
            <a:ext cx="171450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0"/>
          <p:cNvSpPr/>
          <p:nvPr/>
        </p:nvSpPr>
        <p:spPr>
          <a:xfrm>
            <a:off x="2183141" y="1049238"/>
            <a:ext cx="1325891" cy="1284089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0"/>
          <p:cNvSpPr/>
          <p:nvPr/>
        </p:nvSpPr>
        <p:spPr>
          <a:xfrm>
            <a:off x="2331709" y="1206401"/>
            <a:ext cx="101725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0"/>
          <p:cNvSpPr/>
          <p:nvPr/>
        </p:nvSpPr>
        <p:spPr>
          <a:xfrm>
            <a:off x="2331709" y="1399282"/>
            <a:ext cx="101725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ArgoCD Sync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0"/>
          <p:cNvSpPr/>
          <p:nvPr/>
        </p:nvSpPr>
        <p:spPr>
          <a:xfrm>
            <a:off x="2331709" y="1611809"/>
            <a:ext cx="1017259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ArgoCD detects change, validates schema, syncs to OpAMP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0"/>
          <p:cNvSpPr/>
          <p:nvPr/>
        </p:nvSpPr>
        <p:spPr>
          <a:xfrm>
            <a:off x="2331709" y="2069009"/>
            <a:ext cx="10172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Latency: ~30 sec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0"/>
          <p:cNvSpPr/>
          <p:nvPr/>
        </p:nvSpPr>
        <p:spPr>
          <a:xfrm>
            <a:off x="3598999" y="1566267"/>
            <a:ext cx="171450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0"/>
          <p:cNvSpPr/>
          <p:nvPr/>
        </p:nvSpPr>
        <p:spPr>
          <a:xfrm>
            <a:off x="3877605" y="971550"/>
            <a:ext cx="1331584" cy="1439466"/>
          </a:xfrm>
          <a:prstGeom prst="rect">
            <a:avLst/>
          </a:prstGeom>
          <a:solidFill>
            <a:srgbClr val="A78BFA">
              <a:alpha val="4705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0"/>
          <p:cNvSpPr/>
          <p:nvPr/>
        </p:nvSpPr>
        <p:spPr>
          <a:xfrm>
            <a:off x="4031921" y="1128713"/>
            <a:ext cx="102297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0"/>
          <p:cNvSpPr/>
          <p:nvPr/>
        </p:nvSpPr>
        <p:spPr>
          <a:xfrm>
            <a:off x="4031921" y="1321594"/>
            <a:ext cx="1022979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OpAMP Distribution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0"/>
          <p:cNvSpPr/>
          <p:nvPr/>
        </p:nvSpPr>
        <p:spPr>
          <a:xfrm>
            <a:off x="4031921" y="1689497"/>
            <a:ext cx="1022979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OpAMP servers push config to 100-150 supervisors via gRPC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0"/>
          <p:cNvSpPr/>
          <p:nvPr/>
        </p:nvSpPr>
        <p:spPr>
          <a:xfrm>
            <a:off x="4031921" y="2146697"/>
            <a:ext cx="102297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Latency: ~60 sec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"/>
          <p:cNvSpPr/>
          <p:nvPr/>
        </p:nvSpPr>
        <p:spPr>
          <a:xfrm>
            <a:off x="5304932" y="1566267"/>
            <a:ext cx="171450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0"/>
          <p:cNvSpPr/>
          <p:nvPr/>
        </p:nvSpPr>
        <p:spPr>
          <a:xfrm>
            <a:off x="5583538" y="971550"/>
            <a:ext cx="1337304" cy="1439466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0"/>
          <p:cNvSpPr/>
          <p:nvPr/>
        </p:nvSpPr>
        <p:spPr>
          <a:xfrm>
            <a:off x="5743575" y="1114425"/>
            <a:ext cx="10287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0"/>
          <p:cNvSpPr/>
          <p:nvPr/>
        </p:nvSpPr>
        <p:spPr>
          <a:xfrm>
            <a:off x="5743575" y="1307306"/>
            <a:ext cx="1028700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Supervisor Propagation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"/>
          <p:cNvSpPr/>
          <p:nvPr/>
        </p:nvSpPr>
        <p:spPr>
          <a:xfrm>
            <a:off x="5743575" y="1675209"/>
            <a:ext cx="10287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Supervisors push config to 1K-2K agents each in progressive waves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0"/>
          <p:cNvSpPr/>
          <p:nvPr/>
        </p:nvSpPr>
        <p:spPr>
          <a:xfrm>
            <a:off x="5743575" y="2132409"/>
            <a:ext cx="102870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Latency: ~3 min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0"/>
          <p:cNvSpPr/>
          <p:nvPr/>
        </p:nvSpPr>
        <p:spPr>
          <a:xfrm>
            <a:off x="7022306" y="1551980"/>
            <a:ext cx="171450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0"/>
          <p:cNvSpPr/>
          <p:nvPr/>
        </p:nvSpPr>
        <p:spPr>
          <a:xfrm>
            <a:off x="7300913" y="1034951"/>
            <a:ext cx="1343025" cy="1284089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0"/>
          <p:cNvSpPr/>
          <p:nvPr/>
        </p:nvSpPr>
        <p:spPr>
          <a:xfrm>
            <a:off x="7466670" y="1192113"/>
            <a:ext cx="103442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STAGE 5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0"/>
          <p:cNvSpPr/>
          <p:nvPr/>
        </p:nvSpPr>
        <p:spPr>
          <a:xfrm>
            <a:off x="7466670" y="1384995"/>
            <a:ext cx="10344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Agent Application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0"/>
          <p:cNvSpPr/>
          <p:nvPr/>
        </p:nvSpPr>
        <p:spPr>
          <a:xfrm>
            <a:off x="7466670" y="1597521"/>
            <a:ext cx="103442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Agents apply config, restart services, report health status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0"/>
          <p:cNvSpPr/>
          <p:nvPr/>
        </p:nvSpPr>
        <p:spPr>
          <a:xfrm>
            <a:off x="7466670" y="2054721"/>
            <a:ext cx="103442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Latency: ~30 sec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0"/>
          <p:cNvSpPr/>
          <p:nvPr/>
        </p:nvSpPr>
        <p:spPr>
          <a:xfrm>
            <a:off x="500063" y="2596753"/>
            <a:ext cx="8143875" cy="442913"/>
          </a:xfrm>
          <a:prstGeom prst="rect">
            <a:avLst/>
          </a:prstGeom>
          <a:solidFill>
            <a:srgbClr val="FFD93D">
              <a:alpha val="7843"/>
            </a:srgbClr>
          </a:solidFill>
          <a:ln cap="flat" cmpd="sng" w="952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0"/>
          <p:cNvSpPr/>
          <p:nvPr/>
        </p:nvSpPr>
        <p:spPr>
          <a:xfrm>
            <a:off x="642938" y="2747665"/>
            <a:ext cx="114461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End-to-End Latency: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0"/>
          <p:cNvSpPr/>
          <p:nvPr/>
        </p:nvSpPr>
        <p:spPr>
          <a:xfrm>
            <a:off x="1858994" y="2703909"/>
            <a:ext cx="909517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&lt; 5 minutes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0"/>
          <p:cNvSpPr/>
          <p:nvPr/>
        </p:nvSpPr>
        <p:spPr>
          <a:xfrm>
            <a:off x="2839948" y="2753023"/>
            <a:ext cx="566111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From Git commit to all 200K agents | Progressive rollout with health checks at each stage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0"/>
          <p:cNvSpPr/>
          <p:nvPr/>
        </p:nvSpPr>
        <p:spPr>
          <a:xfrm>
            <a:off x="500063" y="3203972"/>
            <a:ext cx="2619356" cy="1342969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0"/>
          <p:cNvSpPr/>
          <p:nvPr/>
        </p:nvSpPr>
        <p:spPr>
          <a:xfrm>
            <a:off x="607219" y="3311128"/>
            <a:ext cx="24050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Pre-Deployment Validation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0"/>
          <p:cNvSpPr/>
          <p:nvPr/>
        </p:nvSpPr>
        <p:spPr>
          <a:xfrm>
            <a:off x="607219" y="351829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YAML schema validation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0"/>
          <p:cNvSpPr/>
          <p:nvPr/>
        </p:nvSpPr>
        <p:spPr>
          <a:xfrm>
            <a:off x="607219" y="369973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Syntax checking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0"/>
          <p:cNvSpPr/>
          <p:nvPr/>
        </p:nvSpPr>
        <p:spPr>
          <a:xfrm>
            <a:off x="607219" y="388117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Peer review (PR approval)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0"/>
          <p:cNvSpPr/>
          <p:nvPr/>
        </p:nvSpPr>
        <p:spPr>
          <a:xfrm>
            <a:off x="607219" y="406261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Automated tests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0"/>
          <p:cNvSpPr/>
          <p:nvPr/>
        </p:nvSpPr>
        <p:spPr>
          <a:xfrm>
            <a:off x="607219" y="424405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Dry-run simulation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0"/>
          <p:cNvSpPr/>
          <p:nvPr/>
        </p:nvSpPr>
        <p:spPr>
          <a:xfrm>
            <a:off x="3262294" y="3203972"/>
            <a:ext cx="2619384" cy="1342969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0"/>
          <p:cNvSpPr/>
          <p:nvPr/>
        </p:nvSpPr>
        <p:spPr>
          <a:xfrm>
            <a:off x="3369450" y="3311128"/>
            <a:ext cx="24050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Progressive Rollout Strategy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0"/>
          <p:cNvSpPr/>
          <p:nvPr/>
        </p:nvSpPr>
        <p:spPr>
          <a:xfrm>
            <a:off x="3369450" y="3518297"/>
            <a:ext cx="2405072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Canary: 5% of agents (10K)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3369450" y="3699737"/>
            <a:ext cx="2405072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Wait 10 min, check health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0"/>
          <p:cNvSpPr/>
          <p:nvPr/>
        </p:nvSpPr>
        <p:spPr>
          <a:xfrm>
            <a:off x="3369450" y="3881177"/>
            <a:ext cx="2405072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Stage 2: 25% of agents (50K)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0"/>
          <p:cNvSpPr/>
          <p:nvPr/>
        </p:nvSpPr>
        <p:spPr>
          <a:xfrm>
            <a:off x="3369450" y="4062617"/>
            <a:ext cx="2405072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Wait 10 min, check health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"/>
          <p:cNvSpPr/>
          <p:nvPr/>
        </p:nvSpPr>
        <p:spPr>
          <a:xfrm>
            <a:off x="3369450" y="4244057"/>
            <a:ext cx="2405072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Full rollout: 100% (200K)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/>
          <p:nvPr/>
        </p:nvSpPr>
        <p:spPr>
          <a:xfrm>
            <a:off x="6024553" y="3203972"/>
            <a:ext cx="2619356" cy="1342969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0"/>
          <p:cNvSpPr/>
          <p:nvPr/>
        </p:nvSpPr>
        <p:spPr>
          <a:xfrm>
            <a:off x="6131709" y="3311128"/>
            <a:ext cx="24050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Automated Rollback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0"/>
          <p:cNvSpPr/>
          <p:nvPr/>
        </p:nvSpPr>
        <p:spPr>
          <a:xfrm>
            <a:off x="6131709" y="351829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Health check failures &gt; 5%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0"/>
          <p:cNvSpPr/>
          <p:nvPr/>
        </p:nvSpPr>
        <p:spPr>
          <a:xfrm>
            <a:off x="6131709" y="369973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Error rate spike detection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/>
          <p:nvPr/>
        </p:nvSpPr>
        <p:spPr>
          <a:xfrm>
            <a:off x="6131709" y="388117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Automatic revert to last-known-good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0"/>
          <p:cNvSpPr/>
          <p:nvPr/>
        </p:nvSpPr>
        <p:spPr>
          <a:xfrm>
            <a:off x="6131709" y="406261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Alert SOC team via PagerDuty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6131709" y="4244057"/>
            <a:ext cx="240504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Rollback time: &lt; 2 minutes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0" name="Google Shape;9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116306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21"/>
          <p:cNvSpPr/>
          <p:nvPr/>
        </p:nvSpPr>
        <p:spPr>
          <a:xfrm>
            <a:off x="500063" y="321469"/>
            <a:ext cx="8143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1"/>
          <p:cNvSpPr/>
          <p:nvPr/>
        </p:nvSpPr>
        <p:spPr>
          <a:xfrm>
            <a:off x="500063" y="757238"/>
            <a:ext cx="8143875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1"/>
          <p:cNvSpPr/>
          <p:nvPr/>
        </p:nvSpPr>
        <p:spPr>
          <a:xfrm>
            <a:off x="500063" y="321469"/>
            <a:ext cx="8143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OpenTelemetry Collector (80K agents)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1"/>
          <p:cNvSpPr/>
          <p:nvPr/>
        </p:nvSpPr>
        <p:spPr>
          <a:xfrm>
            <a:off x="500063" y="935831"/>
            <a:ext cx="8143875" cy="612577"/>
          </a:xfrm>
          <a:prstGeom prst="rect">
            <a:avLst/>
          </a:prstGeom>
          <a:solidFill>
            <a:srgbClr val="00D4FF">
              <a:alpha val="7843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1"/>
          <p:cNvSpPr/>
          <p:nvPr/>
        </p:nvSpPr>
        <p:spPr>
          <a:xfrm>
            <a:off x="642938" y="1042988"/>
            <a:ext cx="254683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80,000 Deployed Agents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1"/>
          <p:cNvSpPr/>
          <p:nvPr/>
        </p:nvSpPr>
        <p:spPr>
          <a:xfrm>
            <a:off x="642938" y="1276945"/>
            <a:ext cx="25468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Unified telemetry pipeline for logs, metrics, and traces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1"/>
          <p:cNvSpPr/>
          <p:nvPr/>
        </p:nvSpPr>
        <p:spPr>
          <a:xfrm>
            <a:off x="7157982" y="1092101"/>
            <a:ext cx="13430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Native OpAMP Support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1"/>
          <p:cNvSpPr/>
          <p:nvPr/>
        </p:nvSpPr>
        <p:spPr>
          <a:xfrm>
            <a:off x="7157982" y="1227832"/>
            <a:ext cx="13430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Vendor-neutral CNCF project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1"/>
          <p:cNvSpPr/>
          <p:nvPr/>
        </p:nvSpPr>
        <p:spPr>
          <a:xfrm>
            <a:off x="500063" y="1698427"/>
            <a:ext cx="2428875" cy="2098002"/>
          </a:xfrm>
          <a:prstGeom prst="rect">
            <a:avLst/>
          </a:prstGeom>
          <a:solidFill>
            <a:srgbClr val="00D4FF">
              <a:alpha val="4705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1"/>
          <p:cNvSpPr/>
          <p:nvPr/>
        </p:nvSpPr>
        <p:spPr>
          <a:xfrm>
            <a:off x="628650" y="1827014"/>
            <a:ext cx="2171700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Receivers (6)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1"/>
          <p:cNvSpPr/>
          <p:nvPr/>
        </p:nvSpPr>
        <p:spPr>
          <a:xfrm>
            <a:off x="628650" y="2187773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"/>
          <p:cNvSpPr/>
          <p:nvPr/>
        </p:nvSpPr>
        <p:spPr>
          <a:xfrm>
            <a:off x="703771" y="2187773"/>
            <a:ext cx="2020760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OTLP gRPC/HTTP: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Native OpenTelemetry protocol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1"/>
          <p:cNvSpPr/>
          <p:nvPr/>
        </p:nvSpPr>
        <p:spPr>
          <a:xfrm>
            <a:off x="628650" y="2399212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1"/>
          <p:cNvSpPr/>
          <p:nvPr/>
        </p:nvSpPr>
        <p:spPr>
          <a:xfrm>
            <a:off x="703771" y="2399212"/>
            <a:ext cx="1401542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Kafka: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Consume from Kafka topics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1"/>
          <p:cNvSpPr/>
          <p:nvPr/>
        </p:nvSpPr>
        <p:spPr>
          <a:xfrm>
            <a:off x="628650" y="2610650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1"/>
          <p:cNvSpPr/>
          <p:nvPr/>
        </p:nvSpPr>
        <p:spPr>
          <a:xfrm>
            <a:off x="703771" y="2610650"/>
            <a:ext cx="1615269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Syslog: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RFC 5424/3164 syslog messages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1"/>
          <p:cNvSpPr/>
          <p:nvPr/>
        </p:nvSpPr>
        <p:spPr>
          <a:xfrm>
            <a:off x="628650" y="2822088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1"/>
          <p:cNvSpPr/>
          <p:nvPr/>
        </p:nvSpPr>
        <p:spPr>
          <a:xfrm>
            <a:off x="703771" y="2822088"/>
            <a:ext cx="1709644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Filelog: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Tail log files with multiline support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1"/>
          <p:cNvSpPr/>
          <p:nvPr/>
        </p:nvSpPr>
        <p:spPr>
          <a:xfrm>
            <a:off x="628650" y="3033526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1"/>
          <p:cNvSpPr/>
          <p:nvPr/>
        </p:nvSpPr>
        <p:spPr>
          <a:xfrm>
            <a:off x="703771" y="3033526"/>
            <a:ext cx="1675879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Prometheus: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Scrape Prometheus metrics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1"/>
          <p:cNvSpPr/>
          <p:nvPr/>
        </p:nvSpPr>
        <p:spPr>
          <a:xfrm>
            <a:off x="628650" y="3244965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1"/>
          <p:cNvSpPr/>
          <p:nvPr/>
        </p:nvSpPr>
        <p:spPr>
          <a:xfrm>
            <a:off x="703771" y="3244965"/>
            <a:ext cx="1721309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Host Metrics: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CPU, memory, disk, network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1"/>
          <p:cNvSpPr/>
          <p:nvPr/>
        </p:nvSpPr>
        <p:spPr>
          <a:xfrm>
            <a:off x="2928938" y="1698427"/>
            <a:ext cx="428625" cy="2098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86"/>
              <a:buFont typeface="Calibri"/>
              <a:buNone/>
            </a:pPr>
            <a:r>
              <a:rPr b="0" i="0" lang="en-US" sz="1486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1"/>
          <p:cNvSpPr/>
          <p:nvPr/>
        </p:nvSpPr>
        <p:spPr>
          <a:xfrm>
            <a:off x="3357563" y="1698427"/>
            <a:ext cx="2428875" cy="2098002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1"/>
          <p:cNvSpPr/>
          <p:nvPr/>
        </p:nvSpPr>
        <p:spPr>
          <a:xfrm>
            <a:off x="3486150" y="1827014"/>
            <a:ext cx="2171700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Processors (7)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1"/>
          <p:cNvSpPr/>
          <p:nvPr/>
        </p:nvSpPr>
        <p:spPr>
          <a:xfrm>
            <a:off x="3486150" y="2187773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1"/>
          <p:cNvSpPr/>
          <p:nvPr/>
        </p:nvSpPr>
        <p:spPr>
          <a:xfrm>
            <a:off x="3561271" y="2187773"/>
            <a:ext cx="1542129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Batch: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Aggregate events for efficiency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1"/>
          <p:cNvSpPr/>
          <p:nvPr/>
        </p:nvSpPr>
        <p:spPr>
          <a:xfrm>
            <a:off x="3486150" y="2399212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1"/>
          <p:cNvSpPr/>
          <p:nvPr/>
        </p:nvSpPr>
        <p:spPr>
          <a:xfrm>
            <a:off x="3561271" y="2399212"/>
            <a:ext cx="146873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Enrichment: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Add asset/user context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1"/>
          <p:cNvSpPr/>
          <p:nvPr/>
        </p:nvSpPr>
        <p:spPr>
          <a:xfrm>
            <a:off x="3486150" y="2610650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1"/>
          <p:cNvSpPr/>
          <p:nvPr/>
        </p:nvSpPr>
        <p:spPr>
          <a:xfrm>
            <a:off x="3561271" y="2610650"/>
            <a:ext cx="1535711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Schema Transform: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Normalize to ECS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1"/>
          <p:cNvSpPr/>
          <p:nvPr/>
        </p:nvSpPr>
        <p:spPr>
          <a:xfrm>
            <a:off x="3486150" y="2822088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1"/>
          <p:cNvSpPr/>
          <p:nvPr/>
        </p:nvSpPr>
        <p:spPr>
          <a:xfrm>
            <a:off x="3561271" y="2822088"/>
            <a:ext cx="181629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Filter: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Drop low-value events (85% reduction)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1"/>
          <p:cNvSpPr/>
          <p:nvPr/>
        </p:nvSpPr>
        <p:spPr>
          <a:xfrm>
            <a:off x="3486150" y="3033526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1"/>
          <p:cNvSpPr/>
          <p:nvPr/>
        </p:nvSpPr>
        <p:spPr>
          <a:xfrm>
            <a:off x="3561271" y="3033526"/>
            <a:ext cx="1193397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Threat Intel: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IOC enrichment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1"/>
          <p:cNvSpPr/>
          <p:nvPr/>
        </p:nvSpPr>
        <p:spPr>
          <a:xfrm>
            <a:off x="3486150" y="3244965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1"/>
          <p:cNvSpPr/>
          <p:nvPr/>
        </p:nvSpPr>
        <p:spPr>
          <a:xfrm>
            <a:off x="3561271" y="3244965"/>
            <a:ext cx="137402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UEBA Scoring: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Anomaly detection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1"/>
          <p:cNvSpPr/>
          <p:nvPr/>
        </p:nvSpPr>
        <p:spPr>
          <a:xfrm>
            <a:off x="3486150" y="3456403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1"/>
          <p:cNvSpPr/>
          <p:nvPr/>
        </p:nvSpPr>
        <p:spPr>
          <a:xfrm>
            <a:off x="3561271" y="3456403"/>
            <a:ext cx="1174700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Validator: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Schema validation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1"/>
          <p:cNvSpPr/>
          <p:nvPr/>
        </p:nvSpPr>
        <p:spPr>
          <a:xfrm>
            <a:off x="5786438" y="1698427"/>
            <a:ext cx="428625" cy="2069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86"/>
              <a:buFont typeface="Calibri"/>
              <a:buNone/>
            </a:pPr>
            <a:r>
              <a:rPr b="0" i="0" lang="en-US" sz="1486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1"/>
          <p:cNvSpPr/>
          <p:nvPr/>
        </p:nvSpPr>
        <p:spPr>
          <a:xfrm>
            <a:off x="6215063" y="1698427"/>
            <a:ext cx="2428875" cy="2069427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1"/>
          <p:cNvSpPr/>
          <p:nvPr/>
        </p:nvSpPr>
        <p:spPr>
          <a:xfrm>
            <a:off x="6343650" y="1827014"/>
            <a:ext cx="2171700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Exporters (3)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6343650" y="2187773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1"/>
          <p:cNvSpPr/>
          <p:nvPr/>
        </p:nvSpPr>
        <p:spPr>
          <a:xfrm>
            <a:off x="6418771" y="2187773"/>
            <a:ext cx="1990567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S3 Lakehouse: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Parquet files for historical storage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1"/>
          <p:cNvSpPr/>
          <p:nvPr/>
        </p:nvSpPr>
        <p:spPr>
          <a:xfrm>
            <a:off x="6343650" y="2399212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1"/>
          <p:cNvSpPr/>
          <p:nvPr/>
        </p:nvSpPr>
        <p:spPr>
          <a:xfrm>
            <a:off x="6418771" y="2399212"/>
            <a:ext cx="1835134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Kafka Realtime: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Stream to detection engines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1"/>
          <p:cNvSpPr/>
          <p:nvPr/>
        </p:nvSpPr>
        <p:spPr>
          <a:xfrm>
            <a:off x="6343650" y="2610650"/>
            <a:ext cx="32258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5479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1"/>
          <p:cNvSpPr/>
          <p:nvPr/>
        </p:nvSpPr>
        <p:spPr>
          <a:xfrm>
            <a:off x="6418771" y="2610650"/>
            <a:ext cx="1833879" cy="15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323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OTLP Failover: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Backup to secondary collector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1"/>
          <p:cNvSpPr/>
          <p:nvPr/>
        </p:nvSpPr>
        <p:spPr>
          <a:xfrm>
            <a:off x="500063" y="3946447"/>
            <a:ext cx="4000500" cy="1769808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1"/>
          <p:cNvSpPr/>
          <p:nvPr/>
        </p:nvSpPr>
        <p:spPr>
          <a:xfrm>
            <a:off x="628650" y="4075035"/>
            <a:ext cx="374332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Resource Consumption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1"/>
          <p:cNvSpPr/>
          <p:nvPr/>
        </p:nvSpPr>
        <p:spPr>
          <a:xfrm>
            <a:off x="628650" y="4430437"/>
            <a:ext cx="466883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CPU Usage: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1"/>
          <p:cNvSpPr/>
          <p:nvPr/>
        </p:nvSpPr>
        <p:spPr>
          <a:xfrm>
            <a:off x="3581586" y="4430437"/>
            <a:ext cx="790389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2-4 vCPU (avg 25%)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1"/>
          <p:cNvSpPr/>
          <p:nvPr/>
        </p:nvSpPr>
        <p:spPr>
          <a:xfrm>
            <a:off x="628650" y="4669027"/>
            <a:ext cx="360229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Memory: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1"/>
          <p:cNvSpPr/>
          <p:nvPr/>
        </p:nvSpPr>
        <p:spPr>
          <a:xfrm>
            <a:off x="3588507" y="4669027"/>
            <a:ext cx="78346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512 MB - 2 GB RAM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1"/>
          <p:cNvSpPr/>
          <p:nvPr/>
        </p:nvSpPr>
        <p:spPr>
          <a:xfrm>
            <a:off x="628650" y="4907617"/>
            <a:ext cx="34471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Disk I/O: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1"/>
          <p:cNvSpPr/>
          <p:nvPr/>
        </p:nvSpPr>
        <p:spPr>
          <a:xfrm>
            <a:off x="3327732" y="4907617"/>
            <a:ext cx="1044243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50 MB/s write (buffering)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1"/>
          <p:cNvSpPr/>
          <p:nvPr/>
        </p:nvSpPr>
        <p:spPr>
          <a:xfrm>
            <a:off x="628650" y="5146207"/>
            <a:ext cx="367847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Network: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1"/>
          <p:cNvSpPr/>
          <p:nvPr/>
        </p:nvSpPr>
        <p:spPr>
          <a:xfrm>
            <a:off x="3601455" y="5146207"/>
            <a:ext cx="770520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10-50 Mbps egress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1"/>
          <p:cNvSpPr/>
          <p:nvPr/>
        </p:nvSpPr>
        <p:spPr>
          <a:xfrm>
            <a:off x="628650" y="5384797"/>
            <a:ext cx="504499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Throughput: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1"/>
          <p:cNvSpPr/>
          <p:nvPr/>
        </p:nvSpPr>
        <p:spPr>
          <a:xfrm>
            <a:off x="3569587" y="5384797"/>
            <a:ext cx="80238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10K-50K events/sec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1"/>
          <p:cNvSpPr/>
          <p:nvPr/>
        </p:nvSpPr>
        <p:spPr>
          <a:xfrm>
            <a:off x="4643438" y="3946447"/>
            <a:ext cx="4000500" cy="1769808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1"/>
          <p:cNvSpPr/>
          <p:nvPr/>
        </p:nvSpPr>
        <p:spPr>
          <a:xfrm>
            <a:off x="4772025" y="4075035"/>
            <a:ext cx="374332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OpAMP Integration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1"/>
          <p:cNvSpPr/>
          <p:nvPr/>
        </p:nvSpPr>
        <p:spPr>
          <a:xfrm>
            <a:off x="4772025" y="4430437"/>
            <a:ext cx="704329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Protocol Support: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1"/>
          <p:cNvSpPr/>
          <p:nvPr/>
        </p:nvSpPr>
        <p:spPr>
          <a:xfrm>
            <a:off x="7715948" y="4430437"/>
            <a:ext cx="799402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Native OpAMP v1.0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1"/>
          <p:cNvSpPr/>
          <p:nvPr/>
        </p:nvSpPr>
        <p:spPr>
          <a:xfrm>
            <a:off x="4772025" y="4669027"/>
            <a:ext cx="645170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Updates: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1"/>
          <p:cNvSpPr/>
          <p:nvPr/>
        </p:nvSpPr>
        <p:spPr>
          <a:xfrm>
            <a:off x="7612224" y="4669027"/>
            <a:ext cx="903126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Hot reload, no restart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1"/>
          <p:cNvSpPr/>
          <p:nvPr/>
        </p:nvSpPr>
        <p:spPr>
          <a:xfrm>
            <a:off x="4772025" y="4907617"/>
            <a:ext cx="711696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Health Reporting: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1"/>
          <p:cNvSpPr/>
          <p:nvPr/>
        </p:nvSpPr>
        <p:spPr>
          <a:xfrm>
            <a:off x="7805607" y="4907617"/>
            <a:ext cx="709743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Every 30 seconds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1"/>
          <p:cNvSpPr/>
          <p:nvPr/>
        </p:nvSpPr>
        <p:spPr>
          <a:xfrm>
            <a:off x="4772025" y="5146207"/>
            <a:ext cx="921739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Package Management: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1"/>
          <p:cNvSpPr/>
          <p:nvPr/>
        </p:nvSpPr>
        <p:spPr>
          <a:xfrm>
            <a:off x="7204332" y="5146207"/>
            <a:ext cx="131101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Automated updates via OpAMP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1"/>
          <p:cNvSpPr/>
          <p:nvPr/>
        </p:nvSpPr>
        <p:spPr>
          <a:xfrm>
            <a:off x="4772025" y="5384797"/>
            <a:ext cx="51504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Deployment: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1"/>
          <p:cNvSpPr/>
          <p:nvPr/>
        </p:nvSpPr>
        <p:spPr>
          <a:xfrm>
            <a:off x="7375113" y="5384797"/>
            <a:ext cx="1140237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DaemonSet (K8s) / systemd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8" name="Google Shape;9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7561883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22"/>
          <p:cNvSpPr/>
          <p:nvPr/>
        </p:nvSpPr>
        <p:spPr>
          <a:xfrm>
            <a:off x="500063" y="321469"/>
            <a:ext cx="8143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2"/>
          <p:cNvSpPr/>
          <p:nvPr/>
        </p:nvSpPr>
        <p:spPr>
          <a:xfrm>
            <a:off x="500063" y="757238"/>
            <a:ext cx="8143875" cy="2143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2"/>
          <p:cNvSpPr/>
          <p:nvPr/>
        </p:nvSpPr>
        <p:spPr>
          <a:xfrm>
            <a:off x="500063" y="321469"/>
            <a:ext cx="8143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OSQuery Agent (70K agents)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2"/>
          <p:cNvSpPr/>
          <p:nvPr/>
        </p:nvSpPr>
        <p:spPr>
          <a:xfrm>
            <a:off x="500063" y="935831"/>
            <a:ext cx="8143875" cy="815057"/>
          </a:xfrm>
          <a:prstGeom prst="rect">
            <a:avLst/>
          </a:prstGeom>
          <a:solidFill>
            <a:srgbClr val="00D4FF">
              <a:alpha val="7843"/>
            </a:srgbClr>
          </a:solidFill>
          <a:ln cap="flat" cmpd="sng" w="1827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678656" y="1064419"/>
            <a:ext cx="56408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SQL-Powered Endpoint Visibility &amp; Asset Inventory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2"/>
          <p:cNvSpPr/>
          <p:nvPr/>
        </p:nvSpPr>
        <p:spPr>
          <a:xfrm>
            <a:off x="678656" y="1296591"/>
            <a:ext cx="5640800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0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OSQuery transforms endpoint data into SQL-queryable tables, enabling real-time visibility into processes, files, network connections, users, and system configurations across Windows, Linux, and macOS endpoints.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2"/>
          <p:cNvSpPr/>
          <p:nvPr/>
        </p:nvSpPr>
        <p:spPr>
          <a:xfrm>
            <a:off x="6319456" y="1148693"/>
            <a:ext cx="64623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70K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2"/>
          <p:cNvSpPr/>
          <p:nvPr/>
        </p:nvSpPr>
        <p:spPr>
          <a:xfrm>
            <a:off x="6319456" y="1411225"/>
            <a:ext cx="646230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Deployed Agents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2"/>
          <p:cNvSpPr/>
          <p:nvPr/>
        </p:nvSpPr>
        <p:spPr>
          <a:xfrm>
            <a:off x="7179999" y="1148693"/>
            <a:ext cx="49437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200+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2"/>
          <p:cNvSpPr/>
          <p:nvPr/>
        </p:nvSpPr>
        <p:spPr>
          <a:xfrm>
            <a:off x="7179999" y="1411225"/>
            <a:ext cx="494370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Tables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2"/>
          <p:cNvSpPr/>
          <p:nvPr/>
        </p:nvSpPr>
        <p:spPr>
          <a:xfrm>
            <a:off x="7888681" y="1148693"/>
            <a:ext cx="576662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2"/>
          <p:cNvSpPr/>
          <p:nvPr/>
        </p:nvSpPr>
        <p:spPr>
          <a:xfrm>
            <a:off x="7888681" y="1411225"/>
            <a:ext cx="576662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Interval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2"/>
          <p:cNvSpPr/>
          <p:nvPr/>
        </p:nvSpPr>
        <p:spPr>
          <a:xfrm>
            <a:off x="500063" y="1900907"/>
            <a:ext cx="4000500" cy="133119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2"/>
          <p:cNvSpPr/>
          <p:nvPr/>
        </p:nvSpPr>
        <p:spPr>
          <a:xfrm>
            <a:off x="628650" y="2029495"/>
            <a:ext cx="3743325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Query Packs &amp; Scheduled Queries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2"/>
          <p:cNvSpPr/>
          <p:nvPr/>
        </p:nvSpPr>
        <p:spPr>
          <a:xfrm>
            <a:off x="628650" y="2320603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2"/>
          <p:cNvSpPr/>
          <p:nvPr/>
        </p:nvSpPr>
        <p:spPr>
          <a:xfrm>
            <a:off x="718058" y="2320603"/>
            <a:ext cx="3376650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Pre-built query packs: CIS benchmarks, MITRE ATT&amp;CK, compliance (PCI-DSS, HIPAA)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628650" y="2509186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/>
          <p:nvPr/>
        </p:nvSpPr>
        <p:spPr>
          <a:xfrm>
            <a:off x="718058" y="2509186"/>
            <a:ext cx="2699417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Custom queries for asset inventory, software versions, patch status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2"/>
          <p:cNvSpPr/>
          <p:nvPr/>
        </p:nvSpPr>
        <p:spPr>
          <a:xfrm>
            <a:off x="628650" y="2697770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2"/>
          <p:cNvSpPr/>
          <p:nvPr/>
        </p:nvSpPr>
        <p:spPr>
          <a:xfrm>
            <a:off x="718058" y="2697770"/>
            <a:ext cx="3202967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Scheduled execution: 5-minute intervals for critical queries, hourly for inventory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2"/>
          <p:cNvSpPr/>
          <p:nvPr/>
        </p:nvSpPr>
        <p:spPr>
          <a:xfrm>
            <a:off x="628650" y="2886354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2"/>
          <p:cNvSpPr/>
          <p:nvPr/>
        </p:nvSpPr>
        <p:spPr>
          <a:xfrm>
            <a:off x="718058" y="2886354"/>
            <a:ext cx="2867351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Differential logging: only report changes to reduce data volume by 80%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2"/>
          <p:cNvSpPr/>
          <p:nvPr/>
        </p:nvSpPr>
        <p:spPr>
          <a:xfrm>
            <a:off x="4643438" y="1900907"/>
            <a:ext cx="4000500" cy="133119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2"/>
          <p:cNvSpPr/>
          <p:nvPr/>
        </p:nvSpPr>
        <p:spPr>
          <a:xfrm>
            <a:off x="4772025" y="2029495"/>
            <a:ext cx="3743325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File Integrity Monitoring (FIM)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2"/>
          <p:cNvSpPr/>
          <p:nvPr/>
        </p:nvSpPr>
        <p:spPr>
          <a:xfrm>
            <a:off x="4772025" y="2320603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2"/>
          <p:cNvSpPr/>
          <p:nvPr/>
        </p:nvSpPr>
        <p:spPr>
          <a:xfrm>
            <a:off x="4861433" y="2320603"/>
            <a:ext cx="336780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Monitor critical directories: /etc, /usr/bin, C:\Windows\System32, application configs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2"/>
          <p:cNvSpPr/>
          <p:nvPr/>
        </p:nvSpPr>
        <p:spPr>
          <a:xfrm>
            <a:off x="4772025" y="2509186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2"/>
          <p:cNvSpPr/>
          <p:nvPr/>
        </p:nvSpPr>
        <p:spPr>
          <a:xfrm>
            <a:off x="4861433" y="2509186"/>
            <a:ext cx="2868802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Track file changes: creation, modification, deletion, permission changes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2"/>
          <p:cNvSpPr/>
          <p:nvPr/>
        </p:nvSpPr>
        <p:spPr>
          <a:xfrm>
            <a:off x="4772025" y="2697770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2"/>
          <p:cNvSpPr/>
          <p:nvPr/>
        </p:nvSpPr>
        <p:spPr>
          <a:xfrm>
            <a:off x="4861433" y="2697770"/>
            <a:ext cx="1773157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SHA256 hashing for file integrity verification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2"/>
          <p:cNvSpPr/>
          <p:nvPr/>
        </p:nvSpPr>
        <p:spPr>
          <a:xfrm>
            <a:off x="4772025" y="2886354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2"/>
          <p:cNvSpPr/>
          <p:nvPr/>
        </p:nvSpPr>
        <p:spPr>
          <a:xfrm>
            <a:off x="4861433" y="2886354"/>
            <a:ext cx="2343401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Real-time alerts on unauthorized changes to sensitive files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2"/>
          <p:cNvSpPr/>
          <p:nvPr/>
        </p:nvSpPr>
        <p:spPr>
          <a:xfrm>
            <a:off x="500063" y="3346400"/>
            <a:ext cx="4000500" cy="133119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2"/>
          <p:cNvSpPr/>
          <p:nvPr/>
        </p:nvSpPr>
        <p:spPr>
          <a:xfrm>
            <a:off x="628650" y="3474988"/>
            <a:ext cx="3743325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Process &amp; Network Monitoring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2"/>
          <p:cNvSpPr/>
          <p:nvPr/>
        </p:nvSpPr>
        <p:spPr>
          <a:xfrm>
            <a:off x="628650" y="3766096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2"/>
          <p:cNvSpPr/>
          <p:nvPr/>
        </p:nvSpPr>
        <p:spPr>
          <a:xfrm>
            <a:off x="718058" y="3766096"/>
            <a:ext cx="3340289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Process visibility: running processes, command-line args, parent-child relationships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2"/>
          <p:cNvSpPr/>
          <p:nvPr/>
        </p:nvSpPr>
        <p:spPr>
          <a:xfrm>
            <a:off x="628650" y="3954680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2"/>
          <p:cNvSpPr/>
          <p:nvPr/>
        </p:nvSpPr>
        <p:spPr>
          <a:xfrm>
            <a:off x="718058" y="3954680"/>
            <a:ext cx="3134906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Network connections: active TCP/UDP connections, listening ports, remote IPs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2"/>
          <p:cNvSpPr/>
          <p:nvPr/>
        </p:nvSpPr>
        <p:spPr>
          <a:xfrm>
            <a:off x="628650" y="4143263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2"/>
          <p:cNvSpPr/>
          <p:nvPr/>
        </p:nvSpPr>
        <p:spPr>
          <a:xfrm>
            <a:off x="718058" y="4143263"/>
            <a:ext cx="2473523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User activity: login sessions, privilege escalations, sudo usage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2"/>
          <p:cNvSpPr/>
          <p:nvPr/>
        </p:nvSpPr>
        <p:spPr>
          <a:xfrm>
            <a:off x="628650" y="4331847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2"/>
          <p:cNvSpPr/>
          <p:nvPr/>
        </p:nvSpPr>
        <p:spPr>
          <a:xfrm>
            <a:off x="718058" y="4331847"/>
            <a:ext cx="2919980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Detect suspicious processes: unsigned binaries, unusual network activity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2"/>
          <p:cNvSpPr/>
          <p:nvPr/>
        </p:nvSpPr>
        <p:spPr>
          <a:xfrm>
            <a:off x="4643438" y="3346400"/>
            <a:ext cx="4000500" cy="1331193"/>
          </a:xfrm>
          <a:prstGeom prst="rect">
            <a:avLst/>
          </a:prstGeom>
          <a:solidFill>
            <a:srgbClr val="FFD93D">
              <a:alpha val="4705"/>
            </a:srgbClr>
          </a:solidFill>
          <a:ln cap="flat" cmpd="sng" w="18275">
            <a:solidFill>
              <a:srgbClr val="FFD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2"/>
          <p:cNvSpPr/>
          <p:nvPr/>
        </p:nvSpPr>
        <p:spPr>
          <a:xfrm>
            <a:off x="4772025" y="3474988"/>
            <a:ext cx="3743325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Asset Inventory &amp; Compliance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2"/>
          <p:cNvSpPr/>
          <p:nvPr/>
        </p:nvSpPr>
        <p:spPr>
          <a:xfrm>
            <a:off x="4772025" y="3766096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2"/>
          <p:cNvSpPr/>
          <p:nvPr/>
        </p:nvSpPr>
        <p:spPr>
          <a:xfrm>
            <a:off x="4861433" y="3766096"/>
            <a:ext cx="3046949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Hardware inventory: CPU, memory, disk, network interfaces, serial numbers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2"/>
          <p:cNvSpPr/>
          <p:nvPr/>
        </p:nvSpPr>
        <p:spPr>
          <a:xfrm>
            <a:off x="4772025" y="3954680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2"/>
          <p:cNvSpPr/>
          <p:nvPr/>
        </p:nvSpPr>
        <p:spPr>
          <a:xfrm>
            <a:off x="4861433" y="3954680"/>
            <a:ext cx="3007770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Software inventory: installed applications, versions, licenses, vulnerabilities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2"/>
          <p:cNvSpPr/>
          <p:nvPr/>
        </p:nvSpPr>
        <p:spPr>
          <a:xfrm>
            <a:off x="4772025" y="4143263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2"/>
          <p:cNvSpPr/>
          <p:nvPr/>
        </p:nvSpPr>
        <p:spPr>
          <a:xfrm>
            <a:off x="4861433" y="4143263"/>
            <a:ext cx="2834701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Configuration drift detection: compare against baseline configurations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2"/>
          <p:cNvSpPr/>
          <p:nvPr/>
        </p:nvSpPr>
        <p:spPr>
          <a:xfrm>
            <a:off x="4772025" y="4331847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2"/>
          <p:cNvSpPr/>
          <p:nvPr/>
        </p:nvSpPr>
        <p:spPr>
          <a:xfrm>
            <a:off x="4861433" y="4331847"/>
            <a:ext cx="2760194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Compliance reporting: CIS benchmarks, STIG compliance, audit trails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2"/>
          <p:cNvSpPr/>
          <p:nvPr/>
        </p:nvSpPr>
        <p:spPr>
          <a:xfrm>
            <a:off x="500063" y="4827612"/>
            <a:ext cx="4000500" cy="2305645"/>
          </a:xfrm>
          <a:prstGeom prst="rect">
            <a:avLst/>
          </a:prstGeom>
          <a:solidFill>
            <a:srgbClr val="A78BFA">
              <a:alpha val="4705"/>
            </a:srgbClr>
          </a:solidFill>
          <a:ln cap="flat" cmpd="sng" w="1827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2"/>
          <p:cNvSpPr/>
          <p:nvPr/>
        </p:nvSpPr>
        <p:spPr>
          <a:xfrm>
            <a:off x="628650" y="4956200"/>
            <a:ext cx="3743325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OpAMP Integration (Custom Adapter)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2"/>
          <p:cNvSpPr/>
          <p:nvPr/>
        </p:nvSpPr>
        <p:spPr>
          <a:xfrm>
            <a:off x="628650" y="5247308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2"/>
          <p:cNvSpPr/>
          <p:nvPr/>
        </p:nvSpPr>
        <p:spPr>
          <a:xfrm>
            <a:off x="718058" y="5247308"/>
            <a:ext cx="2367093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Protocol Translation: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OSQuery native API → OpAMP gRPC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2"/>
          <p:cNvSpPr/>
          <p:nvPr/>
        </p:nvSpPr>
        <p:spPr>
          <a:xfrm>
            <a:off x="628650" y="5435891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2"/>
          <p:cNvSpPr/>
          <p:nvPr/>
        </p:nvSpPr>
        <p:spPr>
          <a:xfrm>
            <a:off x="718058" y="5435891"/>
            <a:ext cx="3387449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Configuration Management: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Query packs, FIM rules, schedules pushed via OpAMP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2"/>
          <p:cNvSpPr/>
          <p:nvPr/>
        </p:nvSpPr>
        <p:spPr>
          <a:xfrm>
            <a:off x="628650" y="5624475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2"/>
          <p:cNvSpPr/>
          <p:nvPr/>
        </p:nvSpPr>
        <p:spPr>
          <a:xfrm>
            <a:off x="718058" y="5624475"/>
            <a:ext cx="277852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Health Reporting: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Agent status, query execution metrics, error rates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2"/>
          <p:cNvSpPr/>
          <p:nvPr/>
        </p:nvSpPr>
        <p:spPr>
          <a:xfrm>
            <a:off x="628650" y="5813059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2"/>
          <p:cNvSpPr/>
          <p:nvPr/>
        </p:nvSpPr>
        <p:spPr>
          <a:xfrm>
            <a:off x="718058" y="5813059"/>
            <a:ext cx="2758241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Package Management: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OSQuery extensions, table plugins, updates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2"/>
          <p:cNvSpPr/>
          <p:nvPr/>
        </p:nvSpPr>
        <p:spPr>
          <a:xfrm>
            <a:off x="628650" y="6001643"/>
            <a:ext cx="32258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8356"/>
              </a:lnSpc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93D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2"/>
          <p:cNvSpPr/>
          <p:nvPr/>
        </p:nvSpPr>
        <p:spPr>
          <a:xfrm>
            <a:off x="718058" y="6001643"/>
            <a:ext cx="3006737" cy="145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13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Deployment:</a:t>
            </a:r>
            <a:r>
              <a:rPr b="0" i="0" lang="en-US" sz="621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Adapter runs as sidecar process alongside OSQuery daemon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2"/>
          <p:cNvSpPr/>
          <p:nvPr/>
        </p:nvSpPr>
        <p:spPr>
          <a:xfrm>
            <a:off x="4643438" y="4827612"/>
            <a:ext cx="4000500" cy="735806"/>
          </a:xfrm>
          <a:prstGeom prst="rect">
            <a:avLst/>
          </a:prstGeom>
          <a:solidFill>
            <a:srgbClr val="FF6B6B">
              <a:alpha val="4705"/>
            </a:srgbClr>
          </a:solidFill>
          <a:ln cap="flat" cmpd="sng" w="1827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2"/>
          <p:cNvSpPr/>
          <p:nvPr/>
        </p:nvSpPr>
        <p:spPr>
          <a:xfrm>
            <a:off x="4750594" y="4934769"/>
            <a:ext cx="378618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Resource Consumption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2"/>
          <p:cNvSpPr/>
          <p:nvPr/>
        </p:nvSpPr>
        <p:spPr>
          <a:xfrm>
            <a:off x="4750594" y="5141937"/>
            <a:ext cx="18573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CPU:</a:t>
            </a:r>
            <a:r>
              <a:rPr b="1" i="0" lang="en-US" sz="5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2-5% avg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2"/>
          <p:cNvSpPr/>
          <p:nvPr/>
        </p:nvSpPr>
        <p:spPr>
          <a:xfrm>
            <a:off x="6679406" y="5141937"/>
            <a:ext cx="18573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Memory:</a:t>
            </a:r>
            <a:r>
              <a:rPr b="1" i="0" lang="en-US" sz="5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150-300 MB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2"/>
          <p:cNvSpPr/>
          <p:nvPr/>
        </p:nvSpPr>
        <p:spPr>
          <a:xfrm>
            <a:off x="4750594" y="5320531"/>
            <a:ext cx="18573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Disk I/O:</a:t>
            </a:r>
            <a:r>
              <a:rPr b="1" i="0" lang="en-US" sz="5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10-20 MB/day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2"/>
          <p:cNvSpPr/>
          <p:nvPr/>
        </p:nvSpPr>
        <p:spPr>
          <a:xfrm>
            <a:off x="6679406" y="5320531"/>
            <a:ext cx="185737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Network:</a:t>
            </a:r>
            <a:r>
              <a:rPr b="1" i="0" lang="en-US" sz="534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5-15 KB/sec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2"/>
          <p:cNvSpPr/>
          <p:nvPr/>
        </p:nvSpPr>
        <p:spPr>
          <a:xfrm>
            <a:off x="4643438" y="5642000"/>
            <a:ext cx="4000500" cy="1462683"/>
          </a:xfrm>
          <a:prstGeom prst="rect">
            <a:avLst/>
          </a:prstGeom>
          <a:solidFill>
            <a:srgbClr val="64748B">
              <a:alpha val="4705"/>
            </a:srgbClr>
          </a:solidFill>
          <a:ln cap="flat" cmpd="sng" w="182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2"/>
          <p:cNvSpPr/>
          <p:nvPr/>
        </p:nvSpPr>
        <p:spPr>
          <a:xfrm>
            <a:off x="4729163" y="5727725"/>
            <a:ext cx="382905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Configuration Example (osquery.conf)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2"/>
          <p:cNvSpPr/>
          <p:nvPr/>
        </p:nvSpPr>
        <p:spPr>
          <a:xfrm>
            <a:off x="4729163" y="5911676"/>
            <a:ext cx="3829050" cy="1078706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2"/>
          <p:cNvSpPr/>
          <p:nvPr/>
        </p:nvSpPr>
        <p:spPr>
          <a:xfrm>
            <a:off x="4729163" y="5911676"/>
            <a:ext cx="3829050" cy="1078706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noAutofit/>
          </a:bodyPr>
          <a:lstStyle/>
          <a:p>
            <a:pPr indent="0" lvl="0" marL="0" marR="0" rtl="0" algn="l">
              <a:lnSpc>
                <a:spcPct val="155038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b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"schedule": {</a:t>
            </a:r>
            <a:b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"processes": {"query": "SELECT * FROM processes;", "interval": 300},</a:t>
            </a:r>
            <a:b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"listening_ports": {"query": "SELECT * FROM listening_ports;", "interval": 300}</a:t>
            </a:r>
            <a:b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},</a:t>
            </a:r>
            <a:b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"file_paths": {</a:t>
            </a:r>
            <a:b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"binaries": ["/usr/bin/%", "/usr/sbin/%", "C:\\Windows\\System32\\%"]</a:t>
            </a:r>
            <a:b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}</a:t>
            </a:r>
            <a:b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16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}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