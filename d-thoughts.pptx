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5143500" cy="9144000"/>
  <p:embeddedFontLst>
    <p:embeddedFont>
      <p:font typeface="Inter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20" Type="http://schemas.openxmlformats.org/officeDocument/2006/relationships/slide" Target="slides/slide16.xml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22" Type="http://schemas.openxmlformats.org/officeDocument/2006/relationships/slide" Target="slides/slide18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7.xml"/><Relationship Id="rId43" Type="http://schemas.openxmlformats.org/officeDocument/2006/relationships/font" Target="fonts/Inter-boldItalic.fntdata"/><Relationship Id="rId24" Type="http://schemas.openxmlformats.org/officeDocument/2006/relationships/slide" Target="slides/slide20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9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8" name="Google Shape;132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0" name="Google Shape;13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6" name="Google Shape;14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9" name="Google Shape;160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1" name="Google Shape;16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5" name="Google Shape;174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5" name="Google Shape;181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1" name="Google Shape;185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0" name="Google Shape;191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1" name="Google Shape;19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857250" y="1482886"/>
            <a:ext cx="74295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3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731"/>
              <a:buFont typeface="Inter"/>
              <a:buNone/>
            </a:pPr>
            <a:r>
              <a:rPr b="1" i="0" lang="en-US" sz="3731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Sentinel DLP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57250" y="2275842"/>
            <a:ext cx="5715000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1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Self-Learning Data Loss Prevention for the AI Agent Era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57250" y="3487378"/>
            <a:ext cx="70365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April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732359" y="3487378"/>
            <a:ext cx="482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952030" y="3487378"/>
            <a:ext cx="8108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934295" y="3487378"/>
            <a:ext cx="482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153966" y="3487378"/>
            <a:ext cx="9215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Kishore Mooli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We built a working POC that detects what legacy DLP cannot see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71500" y="1251552"/>
            <a:ext cx="3914775" cy="1831674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42950" y="1423002"/>
            <a:ext cx="3571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42950" y="1715895"/>
            <a:ext cx="3571875" cy="10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Legacy DLP is blind to AI agent-assisted exfiltration — agents reformulate, paraphrase, and encode data at machine speed until it passes regex filters.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48% of cybersecurity professionals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identify agentic AI as the most dangerous attack vector.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657725" y="1251552"/>
            <a:ext cx="3914775" cy="1831674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829175" y="1423002"/>
            <a:ext cx="3571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What We Built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829175" y="1715895"/>
            <a:ext cx="3571875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 three-lane architecture (Fast &lt;50ms, Mid &lt;500ms, Deep async) with self-learning that compounds detection accuracy over time.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Working POC is complete end-to-end.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71500" y="3254676"/>
            <a:ext cx="3914775" cy="1831674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42950" y="3426126"/>
            <a:ext cx="3571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Why It Matters Now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42950" y="3719020"/>
            <a:ext cx="3571875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EU AI Act enforcement begins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August 2, 2026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 No vendor delivers semantic evasion detection inline today. Palo Alto and Cisco are advancing but bolting features onto legacy per-channel engines.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57725" y="3254676"/>
            <a:ext cx="3914775" cy="1831674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829175" y="3426126"/>
            <a:ext cx="3571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The Ask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29175" y="3719020"/>
            <a:ext cx="3571875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Approve a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4-person team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for a Phase 1 live pilot (Q2-Q3 2026) to validate on real traffic. Decision point at end of Phase 1 before committing further.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Rule-based DLP generates excessive false positives and misses novel exfiltration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71500" y="1437289"/>
            <a:ext cx="356830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Legacy Problem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71500" y="2080227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71500" y="2008789"/>
            <a:ext cx="35683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Detection model unchanged in 15 years: </a:t>
            </a: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regex patterns, keyword lists, manual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71500" y="2680302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71500" y="2608864"/>
            <a:ext cx="35683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Excessive false positives erode analyst trust and create alert fatigue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71500" y="3280377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71500" y="3208939"/>
            <a:ext cx="35683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Cannot detect </a:t>
            </a: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reformulated, paraphrased, or semantically equivalent</a:t>
            </a: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71500" y="3880452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71500" y="3809014"/>
            <a:ext cx="35683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Each channel (email, web, endpoint) runs its own siloed engine with inconsistent policies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04197" y="1437289"/>
            <a:ext cx="356830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AI Agents Make It Worse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004197" y="2080227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004197" y="2008789"/>
            <a:ext cx="356830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Agents reformulate data until it passes regex filters — </a:t>
            </a: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at machine speed, across channels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04197" y="2680302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004197" y="2608864"/>
            <a:ext cx="3568303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48% of cybersecurity professionals</a:t>
            </a:r>
            <a:r>
              <a:rPr b="0" i="0" lang="en-US" sz="10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identify agentic AI as the single most dangerous attack vector (Dark Reading 2026)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004197" y="3566127"/>
            <a:ext cx="3568303" cy="1055489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147072" y="3709002"/>
            <a:ext cx="328255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Real breaches already happening: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147072" y="3950103"/>
            <a:ext cx="328255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8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Supabase MCP/Cursor AI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(mid-2025)</a:t>
            </a:r>
            <a:b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8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Postmark MCP package poisoning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(Sept 2025)</a:t>
            </a:r>
            <a:b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8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Slack AI exfiltration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(Aug 2024)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Three incidents demonstrate the AI agent threat vector is active today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71500" y="1437289"/>
            <a:ext cx="2524116" cy="3277586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85813" y="1651602"/>
            <a:ext cx="2085975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Supabase MCP / Cursor AI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85813" y="1913046"/>
            <a:ext cx="208597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Mid-2025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85813" y="2320240"/>
            <a:ext cx="2085975" cy="18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Cursor IDE's MCP integration operated with elevated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service_role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database privileges bypassing all row-level security. Prompt injection through user-supplied content allowed attackers to execute arbitrary SQL queries and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exfiltrate sensitive integration tokens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300413" y="1437289"/>
            <a:ext cx="2528888" cy="3277586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519497" y="1651602"/>
            <a:ext cx="2090747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Postmark MCP Package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519497" y="1913046"/>
            <a:ext cx="2090747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Sept 2025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519497" y="2320240"/>
            <a:ext cx="2090747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An unofficial impersonating npm package ("postmark-mcp") was modified to silently BCC all emails to the attacker's address. With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1,500 weekly downloads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, users leaked email content without awareness. Demonstrates the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MCP tool poisoning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attack vector.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038869" y="1437289"/>
            <a:ext cx="2533659" cy="3277586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262669" y="1651602"/>
            <a:ext cx="2095491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Slack AI Exfiltration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262669" y="1913046"/>
            <a:ext cx="209549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Aug 2024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262669" y="2320240"/>
            <a:ext cx="2095491" cy="10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Indirect prompt injection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in private channels tricked corporate AI into summarizing sensitive conversations and sending those summaries to an external address.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Multiple frameworks now require DLP controls for AI systems — EU AI Act enforcement begins August 2026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71500" y="1365852"/>
            <a:ext cx="8001000" cy="65722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71500" y="1365852"/>
            <a:ext cx="42863" cy="64293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742950" y="1494439"/>
            <a:ext cx="161448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OWASP LLM Top 10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742950" y="1730183"/>
            <a:ext cx="196453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2025 Update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2886075" y="1494439"/>
            <a:ext cx="551497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LLM02 Sensitive Information Disclosure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strongly recommends DLP + redaction controls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as a critical safeguard for AI systems to prevent data leakage.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71500" y="2094514"/>
            <a:ext cx="8001000" cy="850106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571500" y="2094514"/>
            <a:ext cx="42863" cy="835819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742950" y="2319542"/>
            <a:ext cx="170378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MITRE ATLAS v5.4.0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42950" y="2555286"/>
            <a:ext cx="196453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Feb 2026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886075" y="2223102"/>
            <a:ext cx="55149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Expanded to 16 tactics, 84 techniques, 56 sub-techniques — including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agent-specific techniques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, MCP case studies, and "Publish Poisoned AI Agent Tool" / "Escape to Host".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71500" y="3016058"/>
            <a:ext cx="8001000" cy="850106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71500" y="3016058"/>
            <a:ext cx="42863" cy="835819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742950" y="3241086"/>
            <a:ext cx="773311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EU AI Act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42950" y="3476830"/>
            <a:ext cx="196453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Enforceable Aug 2, 2026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886075" y="3144645"/>
            <a:ext cx="55149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High-risk AI system requirements become enforceable with </a:t>
            </a: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penalties up to EUR 35M or 7% global turnover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for non-compliance with data governance and risk management obligations.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71500" y="3937602"/>
            <a:ext cx="8001000" cy="65722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71500" y="3937602"/>
            <a:ext cx="42863" cy="64293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42950" y="4066189"/>
            <a:ext cx="1907381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Additional Frameworks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42950" y="4301933"/>
            <a:ext cx="196453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Ongoing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886075" y="4066189"/>
            <a:ext cx="551497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NIST AI RMF, ISO/IEC 42001, and OCC/FIEC guidance all create formal obligations for organizations to implement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data loss prevention and monitoring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for AI deployments.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Sentinel fills critical capability gaps that 8 incumbent vendors cannot address today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75072" y="1197973"/>
            <a:ext cx="2797839" cy="29468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3365767" y="1197973"/>
            <a:ext cx="7144" cy="294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75072" y="1485509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575072" y="1197973"/>
            <a:ext cx="2797839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CAPABILITY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372910" y="1197973"/>
            <a:ext cx="3597213" cy="29468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6962980" y="1197973"/>
            <a:ext cx="7144" cy="294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3372910" y="1485509"/>
            <a:ext cx="35972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3372910" y="1197973"/>
            <a:ext cx="3597213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INCUMBENTS (BEST-IN-CLASS)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970123" y="1197973"/>
            <a:ext cx="1598805" cy="29468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970123" y="1485509"/>
            <a:ext cx="159880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970123" y="1197973"/>
            <a:ext cx="1598805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SENTINEL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75072" y="1489081"/>
            <a:ext cx="2797839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LLM semantic evasion detection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372910" y="1489081"/>
            <a:ext cx="3597213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None (Palo Alto: Partial)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970123" y="1489081"/>
            <a:ext cx="1598805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75072" y="1806978"/>
            <a:ext cx="2797839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365767" y="1806978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75072" y="2121303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75072" y="1806978"/>
            <a:ext cx="2797839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Self-learning rule discovery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372910" y="1806978"/>
            <a:ext cx="3597213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962980" y="1806978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372910" y="2121303"/>
            <a:ext cx="35972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372910" y="1806978"/>
            <a:ext cx="3597213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None (Cyberhaven: Partial)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970123" y="1806978"/>
            <a:ext cx="1598805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970123" y="2121303"/>
            <a:ext cx="159880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6970123" y="1806978"/>
            <a:ext cx="159880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75072" y="2124875"/>
            <a:ext cx="2797839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Autonomous rule promotion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372910" y="2124875"/>
            <a:ext cx="3597213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970123" y="2124875"/>
            <a:ext cx="1598805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75072" y="2442772"/>
            <a:ext cx="2797839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365767" y="2442772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75072" y="2757097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75072" y="2442772"/>
            <a:ext cx="2797839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MCP/tool-use interception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72910" y="2442772"/>
            <a:ext cx="3597213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962980" y="2442772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372910" y="2757097"/>
            <a:ext cx="35972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372910" y="2442772"/>
            <a:ext cx="3597213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Palo Alto: Advancing, Cisco: MCP Catalog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970123" y="2442772"/>
            <a:ext cx="1598805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970123" y="2757097"/>
            <a:ext cx="159880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970123" y="2442772"/>
            <a:ext cx="159880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75072" y="2760669"/>
            <a:ext cx="2797839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Cross-channel correlation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372910" y="2760669"/>
            <a:ext cx="3597213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M365 only (Purview) or Limited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970123" y="2760669"/>
            <a:ext cx="1598805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 — all channels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75072" y="3078566"/>
            <a:ext cx="2797839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365767" y="3078566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75072" y="3392891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75072" y="3078566"/>
            <a:ext cx="2797839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Policy-as-code (OPA Rego)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372910" y="3078566"/>
            <a:ext cx="3597213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962980" y="3078566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3372910" y="3392891"/>
            <a:ext cx="35972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372910" y="3078566"/>
            <a:ext cx="3597213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970123" y="3078566"/>
            <a:ext cx="1598805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970123" y="3392891"/>
            <a:ext cx="159880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970123" y="3078566"/>
            <a:ext cx="159880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75072" y="3396462"/>
            <a:ext cx="2797839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Org-specific model training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372910" y="3396462"/>
            <a:ext cx="3597213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970123" y="3396462"/>
            <a:ext cx="1598805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75072" y="3714359"/>
            <a:ext cx="2797839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365767" y="3714359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75072" y="4028684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75072" y="3714359"/>
            <a:ext cx="2797839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Inline latency &lt;50ms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372910" y="3714359"/>
            <a:ext cx="3597213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962980" y="3714359"/>
            <a:ext cx="7144" cy="32146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372910" y="4028684"/>
            <a:ext cx="35972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372910" y="3714359"/>
            <a:ext cx="3597213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Unknown across vendors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970123" y="3714359"/>
            <a:ext cx="1598805" cy="32146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970123" y="4028684"/>
            <a:ext cx="159880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970123" y="3714359"/>
            <a:ext cx="1598805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Proven &lt;50ms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71500" y="4629150"/>
            <a:ext cx="8001000" cy="457200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71500" y="4629150"/>
            <a:ext cx="28575" cy="457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71500" y="462915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Note: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Palo Alto AIRS 3.0 and Cisco AI Defense are advancing MCP capabilities. Sentinel's advantage is architectural: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unified decisioning, not bolted-on features.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5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571500" y="428625"/>
            <a:ext cx="8001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One policy, one audit trail, one learning loop across all channels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143125" y="3113477"/>
            <a:ext cx="428625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000625" y="1970477"/>
            <a:ext cx="28575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000625" y="2541977"/>
            <a:ext cx="28575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5000625" y="3113477"/>
            <a:ext cx="285900" cy="1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000625" y="3684977"/>
            <a:ext cx="28575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000625" y="4256477"/>
            <a:ext cx="28575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71500" y="2235379"/>
            <a:ext cx="1285800" cy="2661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71500" y="2235379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850231" y="2235379"/>
            <a:ext cx="7200" cy="266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71500" y="2494340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71500" y="2235379"/>
            <a:ext cx="28500" cy="2661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71500" y="2235379"/>
            <a:ext cx="1285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Email (SMTP)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71500" y="2608640"/>
            <a:ext cx="1285800" cy="2661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571500" y="2608640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850231" y="2608640"/>
            <a:ext cx="7200" cy="266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571500" y="2867600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571500" y="2608640"/>
            <a:ext cx="28500" cy="2661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71500" y="2608640"/>
            <a:ext cx="1285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Web (ICAP)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71500" y="2981900"/>
            <a:ext cx="1285800" cy="2661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71500" y="2981900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1850231" y="2981900"/>
            <a:ext cx="7200" cy="266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71500" y="3240861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71500" y="2981900"/>
            <a:ext cx="28500" cy="2661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71500" y="2981900"/>
            <a:ext cx="1285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Endpoint Agent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71500" y="3355161"/>
            <a:ext cx="1285800" cy="2661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71500" y="3355161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1850231" y="3355161"/>
            <a:ext cx="7200" cy="266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71500" y="3614122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571500" y="3355161"/>
            <a:ext cx="28500" cy="2661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71500" y="3355161"/>
            <a:ext cx="1285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API / LLM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71500" y="3728422"/>
            <a:ext cx="1285800" cy="2661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71500" y="3728422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1850231" y="3728422"/>
            <a:ext cx="7200" cy="266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71500" y="3987383"/>
            <a:ext cx="12858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71500" y="3728422"/>
            <a:ext cx="28500" cy="2661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71500" y="3728422"/>
            <a:ext cx="1285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Chat / Cloud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2587178" y="2623413"/>
            <a:ext cx="2000100" cy="991500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2682964" y="2748781"/>
            <a:ext cx="1828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Sentinel Core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682964" y="3048818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Centralize Decisioning,</a:t>
            </a:r>
            <a:br>
              <a:rPr b="0" i="0" lang="en-US" sz="834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Distribute Collection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337880" y="1393682"/>
            <a:ext cx="3000300" cy="62100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395030" y="1465120"/>
            <a:ext cx="288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ONE POLICY, ALL CHANNELS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395030" y="1663359"/>
            <a:ext cx="2886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OPA Rego, git-versioned. Updates apply to all channels simultaneously.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337880" y="2086235"/>
            <a:ext cx="3000300" cy="62100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395030" y="2157673"/>
            <a:ext cx="288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ONE AUDIT TRAIL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395030" y="2355912"/>
            <a:ext cx="2886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Every decision across every channel in ClickHouse. One query, not 4 consoles.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337880" y="2778789"/>
            <a:ext cx="3000300" cy="62100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395030" y="2850226"/>
            <a:ext cx="288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CROSS-CHANNEL VISIBILITY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395030" y="3048465"/>
            <a:ext cx="2886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 lane correlates events across email, web, and endpoint in real time.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337880" y="3471342"/>
            <a:ext cx="3000300" cy="62100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395030" y="3542779"/>
            <a:ext cx="288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ONE ESCALATION PATH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395030" y="3741018"/>
            <a:ext cx="2886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One NER model, one LLM analyzer, one self-learning loop serves all channels.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337880" y="4163895"/>
            <a:ext cx="3000300" cy="62100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395030" y="4235332"/>
            <a:ext cx="288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IDENTITY-AWARE POLICY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395030" y="4433571"/>
            <a:ext cx="2886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Per-sender/target overrides evaluated before content scoring.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6" name="Google Shape;2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6769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Content flows through progressively deeper analysis — 90%+ resolved in &lt;50ms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71500" y="1494437"/>
            <a:ext cx="3643200" cy="10608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571500" y="1477668"/>
            <a:ext cx="36433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207669" y="1477668"/>
            <a:ext cx="7144" cy="1060847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71500" y="2531371"/>
            <a:ext cx="36433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74854" y="1481022"/>
            <a:ext cx="28500" cy="106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28650" y="1528547"/>
            <a:ext cx="35289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28650" y="1775006"/>
            <a:ext cx="352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9-Stage Pipeline | Go | &lt;50ms | Fail-Closed</a:t>
            </a:r>
            <a:b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Resolves 90%+ of traffic inline. Extracts content, normalizes encodings, and applies regex, checksums, and context-aware scoring.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71500" y="2652379"/>
            <a:ext cx="3643200" cy="10608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71500" y="2659086"/>
            <a:ext cx="36432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207669" y="2645671"/>
            <a:ext cx="7144" cy="1060847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71500" y="3699374"/>
            <a:ext cx="36433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71500" y="2665794"/>
            <a:ext cx="28500" cy="106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28650" y="2693196"/>
            <a:ext cx="35289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28650" y="2939655"/>
            <a:ext cx="352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 Models | &lt;500ms → &lt;50ms target</a:t>
            </a:r>
            <a:b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Provides a second opinion for uncertain content (5-10%). Uses ModernBERT for NER, DeBERTa for classification, and BGE for semantic similarity.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71500" y="3813674"/>
            <a:ext cx="3643313" cy="106084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71500" y="3813674"/>
            <a:ext cx="36433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207669" y="3813674"/>
            <a:ext cx="7144" cy="1060847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571500" y="4867377"/>
            <a:ext cx="364331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71500" y="3813674"/>
            <a:ext cx="28575" cy="106084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628650" y="3841085"/>
            <a:ext cx="3528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 LANE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28650" y="4102069"/>
            <a:ext cx="35289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LLM Semantic Analysis | sec-min | &lt;5% traffic</a:t>
            </a:r>
            <a:b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Asynchronous deep analysis. Performs cross-channel correlation, pattern discovery, and generates GenAI root cause analysis narratives. Feeds the self-learning loop.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600825" y="1072857"/>
            <a:ext cx="14400" cy="2859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600825" y="1930107"/>
            <a:ext cx="14400" cy="428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600825" y="2930232"/>
            <a:ext cx="14400" cy="428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173093" y="934744"/>
            <a:ext cx="841200" cy="137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173093" y="934744"/>
            <a:ext cx="841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100% Traffic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450681" y="1346301"/>
            <a:ext cx="2286000" cy="59100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593431" y="1573115"/>
            <a:ext cx="714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90%+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564980" y="1474889"/>
            <a:ext cx="205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564980" y="1676699"/>
            <a:ext cx="2057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Inline Enforcement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736680" y="1672058"/>
            <a:ext cx="428700" cy="1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8168691" y="1589486"/>
            <a:ext cx="6558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Resolved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464969" y="2342258"/>
            <a:ext cx="2286000" cy="591000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4607719" y="2569072"/>
            <a:ext cx="714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5-10%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579269" y="2470846"/>
            <a:ext cx="205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579269" y="2672657"/>
            <a:ext cx="2057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Confidence Adjustment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750969" y="2654600"/>
            <a:ext cx="428700" cy="1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8179575" y="2585444"/>
            <a:ext cx="659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Resolved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464969" y="3371554"/>
            <a:ext cx="2286000" cy="5910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182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4607719" y="3598368"/>
            <a:ext cx="714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&lt;5%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579269" y="3500142"/>
            <a:ext cx="205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 Lane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579269" y="3701953"/>
            <a:ext cx="2057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Async Deep Analysis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765255" y="3700465"/>
            <a:ext cx="428700" cy="1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8255789" y="3633790"/>
            <a:ext cx="7893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Audit / Retro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Nine detection stages resolve 90%+ of traffic in &lt;50ms with fail-closed guarantee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71500" y="1294414"/>
            <a:ext cx="2590781" cy="56684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85800" y="1408714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014413" y="1408714"/>
            <a:ext cx="18484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FileType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014413" y="1592666"/>
            <a:ext cx="184844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Block .exe in email, encrypted archives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276581" y="1294414"/>
            <a:ext cx="2590809" cy="56684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390881" y="1408714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3719494" y="1408714"/>
            <a:ext cx="14198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Regex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719494" y="1592666"/>
            <a:ext cx="141982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40+ PII patterns, 15+ API keys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981691" y="1294414"/>
            <a:ext cx="2590781" cy="56684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095991" y="1408714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424603" y="1408714"/>
            <a:ext cx="187344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Checksum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24603" y="1592666"/>
            <a:ext cx="187344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Known-sensitive document fingerprints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71500" y="1961266"/>
            <a:ext cx="2590781" cy="56684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685800" y="2075566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014413" y="2075566"/>
            <a:ext cx="188059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Keyword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014413" y="2259518"/>
            <a:ext cx="1880592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10 compliance dictionaries (HIPAA, PCI)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276581" y="1961266"/>
            <a:ext cx="2590809" cy="56684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3390881" y="2075566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3719494" y="2075566"/>
            <a:ext cx="165377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Entropy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3719494" y="2259518"/>
            <a:ext cx="165377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Encoding and encryption detection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981691" y="1961266"/>
            <a:ext cx="2590781" cy="56684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6095991" y="2075566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424603" y="2075566"/>
            <a:ext cx="137517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DocClass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424603" y="2259518"/>
            <a:ext cx="1375172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Document type classification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71500" y="2628119"/>
            <a:ext cx="2590781" cy="706841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685800" y="2742419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014413" y="2742419"/>
            <a:ext cx="20335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ContextEntity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014413" y="2926370"/>
            <a:ext cx="20335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Multi-entity correlation (e.g., PERSON + SSN)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276581" y="2628119"/>
            <a:ext cx="2590809" cy="706841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390881" y="2742419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719494" y="2742419"/>
            <a:ext cx="203359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Suppression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719494" y="2926370"/>
            <a:ext cx="2033597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False positive reduction (e.g., "test", "sample")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981691" y="2628119"/>
            <a:ext cx="2590781" cy="692553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095991" y="2742419"/>
            <a:ext cx="2143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424603" y="2742419"/>
            <a:ext cx="18680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Score Fusion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424603" y="2926370"/>
            <a:ext cx="1868091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Risk calculation with context multipliers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71500" y="3492122"/>
            <a:ext cx="2709853" cy="1365628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714375" y="3811498"/>
            <a:ext cx="24145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Short-Circuit Logic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714375" y="4024024"/>
            <a:ext cx="24145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If confidence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&gt;0.9 on CRITICAL pattern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at any stage → skip remaining stages →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BLOCK immediately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443288" y="3492122"/>
            <a:ext cx="5129213" cy="1365628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3590934" y="3870434"/>
            <a:ext cx="1285875" cy="60900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3858825" y="4013309"/>
            <a:ext cx="75009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OPA Policy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3762384" y="4215119"/>
            <a:ext cx="9429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Evaluate + Decide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5048259" y="3668623"/>
            <a:ext cx="3381366" cy="280392"/>
          </a:xfrm>
          <a:prstGeom prst="rect">
            <a:avLst/>
          </a:prstGeom>
          <a:solidFill>
            <a:srgbClr val="D32F2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5048259" y="3668623"/>
            <a:ext cx="28575" cy="28039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5162559" y="3740060"/>
            <a:ext cx="387548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BLOCK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8012413" y="3740953"/>
            <a:ext cx="30291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≥ 0.8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048259" y="4034740"/>
            <a:ext cx="3381366" cy="280392"/>
          </a:xfrm>
          <a:prstGeom prst="rect">
            <a:avLst/>
          </a:prstGeom>
          <a:solidFill>
            <a:srgbClr val="F57C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048259" y="4034740"/>
            <a:ext cx="28575" cy="2803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5162559" y="4106177"/>
            <a:ext cx="1260872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ESCALATE to Mid Lane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7768828" y="4108856"/>
            <a:ext cx="546497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0.5 - 0.8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5048259" y="4400857"/>
            <a:ext cx="3381366" cy="280392"/>
          </a:xfrm>
          <a:prstGeom prst="rect">
            <a:avLst/>
          </a:prstGeom>
          <a:solidFill>
            <a:srgbClr val="388E3C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5048259" y="4400857"/>
            <a:ext cx="28575" cy="28039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162559" y="4472294"/>
            <a:ext cx="410766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ALLOW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011716" y="4474973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 0.5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9" name="Google Shape;3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Uncertain content gets progressively deeper analysis — from ML classification to LLM semantic understanding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71500" y="1294414"/>
            <a:ext cx="3857625" cy="289360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642938" y="1365852"/>
            <a:ext cx="3707606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42938" y="1630170"/>
            <a:ext cx="370760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5-10% of traffic | &lt;500ms budget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42938" y="2058795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642938" y="2001645"/>
            <a:ext cx="37076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ModernBERT-base (149M):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Deep NER, 8K context window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42938" y="2273108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642938" y="2215958"/>
            <a:ext cx="37076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DeBERTa-v3-base (86M):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Sensitivity classification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42938" y="2487420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42938" y="2430270"/>
            <a:ext cx="37076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BGE-small-en-v1.5 (33.4M):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Semantic similarity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642938" y="2701733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642938" y="2644583"/>
            <a:ext cx="37076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Confidence blending: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727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0.7 × mid_score + 0.3 × fast_score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42938" y="2916045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42938" y="2858895"/>
            <a:ext cx="3707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Circuit breaker: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5 failures → 30s cooldown → fallback to fast lane score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42938" y="3301808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642938" y="3244658"/>
            <a:ext cx="37076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GPU-accelerated to &lt;50ms with NVIDIA L4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707731" y="1294414"/>
            <a:ext cx="3864769" cy="289360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4786313" y="1365852"/>
            <a:ext cx="371475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DEEP LANE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4786313" y="1630170"/>
            <a:ext cx="3714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&lt;5% of traffic | sec-min (async)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4786313" y="2058795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4786313" y="2001645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LLM semantic analysis: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Detects sensitive MEANING, not just patterns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786313" y="2444558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4786313" y="2387408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Cross-channel correlation: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Same sender blocked on email, retries via web → BLOCK + alert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786313" y="2830320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4786313" y="277317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Pattern discovery: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TF-IDF identifies new patterns → shadow validate 14 days → promote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786313" y="3216083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4786313" y="3158933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Root cause analysis: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GenAI generates human-readable investigation narratives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786313" y="3601845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786313" y="3544695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Self-learning feedback: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Every analyst verdict makes the system better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71500" y="4245173"/>
            <a:ext cx="8001000" cy="855464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571500" y="4245173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8565356" y="4245173"/>
            <a:ext cx="7144" cy="8554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71500" y="5093494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571500" y="4245173"/>
            <a:ext cx="28575" cy="855464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714375" y="4402336"/>
            <a:ext cx="7715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The Semantic Advantage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14375" y="4614863"/>
            <a:ext cx="771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Fast lane sees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"quarterly revenue projection for Project Aurora"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— scores low (no PII patterns).</a:t>
            </a:r>
            <a:b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 lane recognizes this as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M&amp;A-sensitive financial data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because it understands MEANING.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1" name="Google Shape;4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3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Every analyst verdict feeds back into detection — the system gets smarter every week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71500" y="1508727"/>
            <a:ext cx="1571625" cy="1000125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845641" y="1762525"/>
            <a:ext cx="102334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Analyst Reviews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685800" y="1975052"/>
            <a:ext cx="13430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Verdicts on TP / FP / FN from daily operations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2143125" y="2001645"/>
            <a:ext cx="571500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2714625" y="1508727"/>
            <a:ext cx="1571625" cy="100012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2982516" y="1762525"/>
            <a:ext cx="103584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Training Pipeline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2828925" y="1975052"/>
            <a:ext cx="13430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Weekly retrain of ML models &amp; Rule discovery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286250" y="2001645"/>
            <a:ext cx="571500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857750" y="1508727"/>
            <a:ext cx="1571625" cy="100012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159573" y="1762525"/>
            <a:ext cx="96797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Shadow Deploy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972050" y="1975052"/>
            <a:ext cx="13430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A/B test against live traffic without blocking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429375" y="2001645"/>
            <a:ext cx="571500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7000875" y="1508727"/>
            <a:ext cx="1571625" cy="1000125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7169646" y="1762525"/>
            <a:ext cx="12340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Production Promote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7115175" y="1975052"/>
            <a:ext cx="13430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OPA Policy Update &amp; Model deployment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3729038" y="2862467"/>
            <a:ext cx="1685925" cy="132159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3729038" y="2862467"/>
            <a:ext cx="1685925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13600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Continuous Feedback Loop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571500" y="2866039"/>
            <a:ext cx="8001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Safety Mechanisms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71500" y="3216083"/>
            <a:ext cx="3914775" cy="806546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700088" y="3344670"/>
            <a:ext cx="228600" cy="228600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700088" y="334467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1042988" y="3344670"/>
            <a:ext cx="33147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14-day shadow validation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before any new rule or model affects production decisions.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4657725" y="3216083"/>
            <a:ext cx="3914775" cy="806546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4786313" y="3344670"/>
            <a:ext cx="228600" cy="228600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4786313" y="334467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5129213" y="3344670"/>
            <a:ext cx="33147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Promotion strictly requires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&gt;85% precision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&lt;5% false positive rate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571500" y="4186935"/>
            <a:ext cx="3914775" cy="81369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700088" y="4315523"/>
            <a:ext cx="228600" cy="228600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700088" y="431552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1042988" y="4315523"/>
            <a:ext cx="33147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All policy promotions are </a:t>
            </a: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git-versioned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and require human PR review.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4657725" y="4186935"/>
            <a:ext cx="3914775" cy="81369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4786313" y="4322666"/>
            <a:ext cx="228600" cy="228600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4786313" y="432266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5129213" y="4322666"/>
            <a:ext cx="33147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Anomaly detection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on training data distribution flags unusual or adversarial patterns.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2" name="Google Shape;4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4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Central service, endpoint agent, and API sidecar enforce a single policy across all data flows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71500" y="1294414"/>
            <a:ext cx="2552691" cy="228281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571500" y="1294414"/>
            <a:ext cx="2543175" cy="425053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71500" y="1712323"/>
            <a:ext cx="254317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714375" y="1408714"/>
            <a:ext cx="225742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Central Service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714375" y="1912348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714375" y="1855198"/>
            <a:ext cx="22574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Channels: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Email (Milter), Web Proxy (ICAP), Chat (Webhook), DAR Scanning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714375" y="2346666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714375" y="2289516"/>
            <a:ext cx="22574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All 3 lanes deployed in Kubernetes with horizontal scaling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714375" y="2780984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714375" y="2723834"/>
            <a:ext cx="225742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Full inline inspection capabilities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714375" y="3026718"/>
            <a:ext cx="2257425" cy="175022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714375" y="3026718"/>
            <a:ext cx="225742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68050" spcFirstLastPara="1" rIns="68050" wrap="square" tIns="170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&lt;50ms fast lane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3286125" y="1294414"/>
            <a:ext cx="2557463" cy="228281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3290897" y="1294414"/>
            <a:ext cx="2547947" cy="425053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3290897" y="1712323"/>
            <a:ext cx="2547947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3433772" y="1408714"/>
            <a:ext cx="226219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Endpoint Agent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3433772" y="1912348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3433772" y="1855198"/>
            <a:ext cx="2262197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Vectors: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Clipboard, USB, File Copy, Print, Screen Capture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3433772" y="2346666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3433772" y="2289516"/>
            <a:ext cx="2262197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Lightweight Go binary, &lt;50MB footprint, &lt;2% CPU usage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3433772" y="2780984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3433772" y="2723834"/>
            <a:ext cx="2262197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Embedded fast lane + OPA cache, offline-capable (24h TTL)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3433772" y="3186726"/>
            <a:ext cx="2262197" cy="175022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3433772" y="3186726"/>
            <a:ext cx="226219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68050" spcFirstLastPara="1" rIns="68050" wrap="square" tIns="170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&lt;10ms local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6010294" y="1294414"/>
            <a:ext cx="2562234" cy="228281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6019781" y="1294414"/>
            <a:ext cx="2552691" cy="425053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6019781" y="1712323"/>
            <a:ext cx="255269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6162656" y="1408714"/>
            <a:ext cx="226694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API Sidecar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6162656" y="1912348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6162656" y="1855198"/>
            <a:ext cx="2266941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Flows: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LLM API Prompts, MCP Tool-Use, Agent-to-Agent, REST/gRPC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162656" y="2346666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6162656" y="2289516"/>
            <a:ext cx="2266941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Deployed as sidecar container or local proxy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6162656" y="2780984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6162656" y="2723834"/>
            <a:ext cx="2266941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Intercepts and correlates multi-step agent sequences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6162656" y="3186726"/>
            <a:ext cx="2266941" cy="175022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6162656" y="3186726"/>
            <a:ext cx="226694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68050" spcFirstLastPara="1" rIns="68050" wrap="square" tIns="170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2962FF"/>
                </a:solidFill>
                <a:latin typeface="Roboto Mono"/>
                <a:ea typeface="Roboto Mono"/>
                <a:cs typeface="Roboto Mono"/>
                <a:sym typeface="Roboto Mono"/>
              </a:rPr>
              <a:t>5-15ms added latency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571500" y="3748683"/>
            <a:ext cx="8001000" cy="1109067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2867323" y="3934420"/>
            <a:ext cx="340935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ALL THREE DEPLOYMENT MODELS CONVERGE TO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1600200" y="4204097"/>
            <a:ext cx="1714500" cy="48220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1600200" y="4204097"/>
            <a:ext cx="171450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 OPA Policy</a:t>
            </a:r>
            <a:b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72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(git-versioned)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3429000" y="4341614"/>
            <a:ext cx="17145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3714750" y="4204097"/>
            <a:ext cx="1714500" cy="48220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3714750" y="4204097"/>
            <a:ext cx="171450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ClickHouse</a:t>
            </a:r>
            <a:b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72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Audit Trail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5543550" y="4341614"/>
            <a:ext cx="17145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5829300" y="4204097"/>
            <a:ext cx="1714500" cy="48220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5829300" y="4204097"/>
            <a:ext cx="171450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Self-Learning</a:t>
            </a:r>
            <a:br>
              <a:rPr b="1" i="0" lang="en-US" sz="885" u="none" cap="none" strike="noStrike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727" u="none" cap="none" strike="noStrike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Loop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5" name="Google Shape;5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5520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5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Sentinel addresses 7 distinct AI data flow risks that legacy DLP cannot see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575072" y="1297986"/>
            <a:ext cx="1998464" cy="38040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2566392" y="1297986"/>
            <a:ext cx="7144" cy="3804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575072" y="1671247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575072" y="1297986"/>
            <a:ext cx="1998464" cy="38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AI DATA FLOW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2573536" y="1297986"/>
            <a:ext cx="2797839" cy="38040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5364231" y="1297986"/>
            <a:ext cx="7144" cy="3804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2573536" y="1671247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2573536" y="1297986"/>
            <a:ext cx="2797839" cy="38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RISK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5371374" y="1297986"/>
            <a:ext cx="3197554" cy="38040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5371374" y="1671247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5371374" y="1297986"/>
            <a:ext cx="3197554" cy="38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SENTINEL RESPONSE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575072" y="1674819"/>
            <a:ext cx="199846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LLM API egress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2573536" y="1674819"/>
            <a:ext cx="2797839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Prompts ARE the exfiltration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5371374" y="1674819"/>
            <a:ext cx="319755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Sidecar inline inspection + Deep Lane semantic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575072" y="2238449"/>
            <a:ext cx="1998464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2566392" y="2238449"/>
            <a:ext cx="7144" cy="56720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575072" y="2798508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575072" y="2238449"/>
            <a:ext cx="1998464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Agent tool-use (MCP)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2573536" y="2238449"/>
            <a:ext cx="2797839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5364231" y="2238449"/>
            <a:ext cx="7144" cy="56720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2573536" y="2798508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2573536" y="2238449"/>
            <a:ext cx="2797839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File/DB/API/shell calls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5371374" y="2238449"/>
            <a:ext cx="3197554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5371374" y="2798508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5371374" y="2238449"/>
            <a:ext cx="3197554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Sidecar intercept + correlate multi-step sequences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575072" y="2802080"/>
            <a:ext cx="199846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IDE / copilot context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2573536" y="2802080"/>
            <a:ext cx="2797839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Code + secrets → external LLMs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5371374" y="2802080"/>
            <a:ext cx="319755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Endpoint agent entropy/regex + AST-level deep analysis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575072" y="3365711"/>
            <a:ext cx="1998464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2566392" y="3365711"/>
            <a:ext cx="7144" cy="38718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575072" y="3745753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575072" y="3365711"/>
            <a:ext cx="1998464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AI-generated content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2573536" y="3365711"/>
            <a:ext cx="2797839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5364231" y="3365711"/>
            <a:ext cx="7144" cy="38718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2573536" y="3745753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2573536" y="3365711"/>
            <a:ext cx="2797839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Summaries carry sensitive meaning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5371374" y="3365711"/>
            <a:ext cx="3197554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5371374" y="3745753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5371374" y="3365711"/>
            <a:ext cx="3197554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Deep Lane semantic comparison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575072" y="3749325"/>
            <a:ext cx="199846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Agent-to-agent flows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2573536" y="3749325"/>
            <a:ext cx="2797839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Orchestration buses bypass network DLP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5371374" y="3749325"/>
            <a:ext cx="319755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Instrument bus + behavioral profiling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575072" y="4312955"/>
            <a:ext cx="1998464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2566392" y="4312955"/>
            <a:ext cx="7144" cy="38718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575072" y="4692997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575072" y="4312955"/>
            <a:ext cx="1998464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RAG data extraction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2573536" y="4312955"/>
            <a:ext cx="2797839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5364231" y="4312955"/>
            <a:ext cx="7144" cy="38718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2573536" y="4692997"/>
            <a:ext cx="2797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2573536" y="4312955"/>
            <a:ext cx="2797839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Sensitive docs retrieved via RAG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5371374" y="4312955"/>
            <a:ext cx="3197554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5371374" y="4692997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5371374" y="4312955"/>
            <a:ext cx="3197554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Sidecar inspects retrieval queries + responses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575072" y="4696569"/>
            <a:ext cx="1998464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Agent memory persistence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2573536" y="4696569"/>
            <a:ext cx="2797839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Sensitive data accumulates in context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5371374" y="4696569"/>
            <a:ext cx="3197554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Periodic memory scanning via endpoint agent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8" name="Google Shape;5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6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Core architecture is proven end-to-end — Phase 1 connects live channels and trains on real data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571500" y="1294414"/>
            <a:ext cx="4569154" cy="33560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571500" y="1294414"/>
            <a:ext cx="4569154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5133510" y="1294414"/>
            <a:ext cx="7144" cy="335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571500" y="4643270"/>
            <a:ext cx="45691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571500" y="1294414"/>
            <a:ext cx="7144" cy="335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714375" y="1437289"/>
            <a:ext cx="427768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POC Complete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714375" y="1908777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714375" y="1865914"/>
            <a:ext cx="4277683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Fast lane (Go):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9-stage pipeline, normalization, suppression, weighted scoring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714375" y="2314519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714375" y="2271657"/>
            <a:ext cx="427768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Mid lane (Python):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NER + keyword-density classifier, circuit breaker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714375" y="2560253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714375" y="2517391"/>
            <a:ext cx="4277683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 (Python):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LLM analysis, NER, TF-IDF, rule promotion, threshold tuning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714375" y="2965996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714375" y="2923133"/>
            <a:ext cx="427768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OPA policy: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per-channel thresholds, sender/target overrides, suppression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714375" y="3211730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714375" y="3168867"/>
            <a:ext cx="427768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Content extraction: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DOCX, XLSX, PPTX, RTF, ZIP (pure Go)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714375" y="3457463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714375" y="3414601"/>
            <a:ext cx="427768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Endpoint agent: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filesystem, clipboard, USB collectors + embedded fast lane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714375" y="3703197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6"/>
          <p:cNvSpPr/>
          <p:nvPr/>
        </p:nvSpPr>
        <p:spPr>
          <a:xfrm>
            <a:off x="714375" y="3660335"/>
            <a:ext cx="4277683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Infrastructure: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NATS JetStream, ClickHouse, PostgreSQL, Redis, Prometheus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714375" y="4108940"/>
            <a:ext cx="57150" cy="571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714375" y="4066077"/>
            <a:ext cx="427768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SLM benchmark framework: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6 candidates, synthetic dataset, ONNX export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5420683" y="1294414"/>
            <a:ext cx="3151817" cy="3160272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6"/>
          <p:cNvSpPr/>
          <p:nvPr/>
        </p:nvSpPr>
        <p:spPr>
          <a:xfrm>
            <a:off x="5420683" y="1294414"/>
            <a:ext cx="3151817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8565356" y="1294414"/>
            <a:ext cx="7144" cy="31602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6"/>
          <p:cNvSpPr/>
          <p:nvPr/>
        </p:nvSpPr>
        <p:spPr>
          <a:xfrm>
            <a:off x="5420683" y="4447542"/>
            <a:ext cx="3151817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5420683" y="1294414"/>
            <a:ext cx="7144" cy="31602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5572125" y="1437289"/>
            <a:ext cx="28575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Phase 1 Targets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5572125" y="1908777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6"/>
          <p:cNvSpPr/>
          <p:nvPr/>
        </p:nvSpPr>
        <p:spPr>
          <a:xfrm>
            <a:off x="5572125" y="1865914"/>
            <a:ext cx="2857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Channel adapters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on live traffic (Email Milter + Web ICAP)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5572125" y="2314519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5572125" y="2271657"/>
            <a:ext cx="2857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MCP protocol interception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for AI agent tool-use visibility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5572125" y="2720262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6"/>
          <p:cNvSpPr/>
          <p:nvPr/>
        </p:nvSpPr>
        <p:spPr>
          <a:xfrm>
            <a:off x="5572125" y="2677399"/>
            <a:ext cx="2857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GPU-accelerated mid lane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research → implementation (NVIDIA L4)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5572125" y="3126005"/>
            <a:ext cx="57150" cy="571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5572125" y="3083142"/>
            <a:ext cx="2857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Data-at-rest scanners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for historical context and baseline establishment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571500" y="4526124"/>
            <a:ext cx="8001000" cy="712589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983159" y="4668999"/>
            <a:ext cx="598289" cy="262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97"/>
              <a:buFont typeface="Roboto Mono"/>
              <a:buNone/>
            </a:pPr>
            <a:r>
              <a:rPr b="1" i="0" lang="en-US" sz="1397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&lt;50ms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857250" y="4960107"/>
            <a:ext cx="850106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 P99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3210781" y="4668999"/>
            <a:ext cx="119658" cy="262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97"/>
              <a:buFont typeface="Roboto Mono"/>
              <a:buNone/>
            </a:pPr>
            <a:r>
              <a:rPr b="1" i="0" lang="en-US" sz="1397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2791978" y="4960107"/>
            <a:ext cx="957263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PIPELINE STAGES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5331247" y="4668999"/>
            <a:ext cx="119658" cy="262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97"/>
              <a:buFont typeface="Roboto Mono"/>
              <a:buNone/>
            </a:pPr>
            <a:r>
              <a:rPr b="1" i="0" lang="en-US" sz="1397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4833863" y="4960107"/>
            <a:ext cx="111442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PROCESSING LANES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7599945" y="4668999"/>
            <a:ext cx="119658" cy="262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97"/>
              <a:buFont typeface="Roboto Mono"/>
              <a:buNone/>
            </a:pPr>
            <a:r>
              <a:rPr b="1" i="0" lang="en-US" sz="1397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7032910" y="4960107"/>
            <a:ext cx="125372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DEPLOYMENT MODELS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0" name="Google Shape;6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7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Phase 1 requires 4 people — building adapters and training models, not rebuilding the core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575072" y="1369423"/>
            <a:ext cx="1956662" cy="385763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2524590" y="1369423"/>
            <a:ext cx="7144" cy="38576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575072" y="1748042"/>
            <a:ext cx="19566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575072" y="1369423"/>
            <a:ext cx="1956662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ROLE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2532431" y="1369423"/>
            <a:ext cx="1010841" cy="385763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3536128" y="1369423"/>
            <a:ext cx="7144" cy="38576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2532431" y="1748042"/>
            <a:ext cx="101084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2532431" y="1369423"/>
            <a:ext cx="1010841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COUNT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3540398" y="1369423"/>
            <a:ext cx="5028530" cy="382191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3540398" y="1744470"/>
            <a:ext cx="502853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3540398" y="1369423"/>
            <a:ext cx="5028530" cy="382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FOCUS AREA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575072" y="1751614"/>
            <a:ext cx="1958057" cy="753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Go Engineer (Senior)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2533129" y="1751614"/>
            <a:ext cx="1007269" cy="753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3540398" y="1751614"/>
            <a:ext cx="5028530" cy="753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Fast Lane pipeline, endpoint agent, channel adapters (Milter/ICAP). One owns network-side adapters, the other owns endpoint agent (macOS, Windows).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575072" y="2505280"/>
            <a:ext cx="1958057" cy="56435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2525985" y="2505280"/>
            <a:ext cx="7144" cy="56435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575072" y="3062492"/>
            <a:ext cx="1958057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575072" y="2505280"/>
            <a:ext cx="1958057" cy="564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Python/ML Engineer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7"/>
          <p:cNvSpPr/>
          <p:nvPr/>
        </p:nvSpPr>
        <p:spPr>
          <a:xfrm>
            <a:off x="2533017" y="2505280"/>
            <a:ext cx="1007269" cy="56435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7"/>
          <p:cNvSpPr/>
          <p:nvPr/>
        </p:nvSpPr>
        <p:spPr>
          <a:xfrm>
            <a:off x="3533142" y="2505280"/>
            <a:ext cx="7144" cy="56435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7"/>
          <p:cNvSpPr/>
          <p:nvPr/>
        </p:nvSpPr>
        <p:spPr>
          <a:xfrm>
            <a:off x="2533017" y="3062492"/>
            <a:ext cx="100726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2533017" y="2505280"/>
            <a:ext cx="1007269" cy="564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3540286" y="2505280"/>
            <a:ext cx="5028642" cy="56435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7"/>
          <p:cNvSpPr/>
          <p:nvPr/>
        </p:nvSpPr>
        <p:spPr>
          <a:xfrm>
            <a:off x="3540286" y="3062492"/>
            <a:ext cx="502864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3540286" y="2505280"/>
            <a:ext cx="5028642" cy="564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Mid Lane (NER + classifier), Deep Lane (LLM integration), model fine-tuning, self-learning loop. ONNX export, TensorRT optimization.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575072" y="3066064"/>
            <a:ext cx="1957946" cy="56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Lead / Architect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2533017" y="3066064"/>
            <a:ext cx="1007269" cy="56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ctr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540286" y="3066064"/>
            <a:ext cx="5028642" cy="56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204075" spcFirstLastPara="1" rIns="204075" wrap="square" tIns="10210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Architecture decisions, OPA policy design, infrastructure (NATS, ClickHouse, Redis), stakeholder alignment.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571500" y="3844733"/>
            <a:ext cx="3893344" cy="969764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7"/>
          <p:cNvSpPr/>
          <p:nvPr/>
        </p:nvSpPr>
        <p:spPr>
          <a:xfrm>
            <a:off x="571500" y="3844733"/>
            <a:ext cx="389334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4457700" y="3844733"/>
            <a:ext cx="7144" cy="9697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571500" y="4807353"/>
            <a:ext cx="389334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7"/>
          <p:cNvSpPr/>
          <p:nvPr/>
        </p:nvSpPr>
        <p:spPr>
          <a:xfrm>
            <a:off x="571500" y="3844733"/>
            <a:ext cx="28575" cy="969764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714375" y="3959033"/>
            <a:ext cx="358973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EXECUTION STRATEGY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714375" y="4171559"/>
            <a:ext cx="358973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This is a lean team executing on a working POC. The Go engineers build adapters while the ML engineer fine-tunes models on live traffic.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Infrastructure is operational from the POC.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4661297" y="3844733"/>
            <a:ext cx="3911203" cy="96976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4661297" y="3844733"/>
            <a:ext cx="391120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7"/>
          <p:cNvSpPr/>
          <p:nvPr/>
        </p:nvSpPr>
        <p:spPr>
          <a:xfrm>
            <a:off x="8565356" y="3844733"/>
            <a:ext cx="7144" cy="9697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7"/>
          <p:cNvSpPr/>
          <p:nvPr/>
        </p:nvSpPr>
        <p:spPr>
          <a:xfrm>
            <a:off x="4661297" y="4807353"/>
            <a:ext cx="391120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4661297" y="3844733"/>
            <a:ext cx="28575" cy="9697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"/>
          <p:cNvSpPr/>
          <p:nvPr/>
        </p:nvSpPr>
        <p:spPr>
          <a:xfrm>
            <a:off x="4822031" y="3959033"/>
            <a:ext cx="36075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PHASE 2 OUTLOOK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4822031" y="4171559"/>
            <a:ext cx="360759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If Phase 1 validates the approach, Phase 2 may add 1-2 specialists (e.g., frontend for visual policy builder).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Decision point occurs after Phase 1 results.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9" name="Google Shape;6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8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Seven KPIs define success — evaluated at the Phase 1 decision point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575072" y="1297986"/>
            <a:ext cx="2398151" cy="38040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2966079" y="1297986"/>
            <a:ext cx="7144" cy="3804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8"/>
          <p:cNvSpPr/>
          <p:nvPr/>
        </p:nvSpPr>
        <p:spPr>
          <a:xfrm>
            <a:off x="575072" y="1671247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8"/>
          <p:cNvSpPr/>
          <p:nvPr/>
        </p:nvSpPr>
        <p:spPr>
          <a:xfrm>
            <a:off x="575072" y="1297986"/>
            <a:ext cx="2398151" cy="38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KPI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2973223" y="1297986"/>
            <a:ext cx="2398151" cy="38040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5364231" y="1297986"/>
            <a:ext cx="7144" cy="3804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2973223" y="1671247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2973223" y="1297986"/>
            <a:ext cx="2398151" cy="38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PHASE 1 TARGET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5371374" y="1297986"/>
            <a:ext cx="3197554" cy="38040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8"/>
          <p:cNvSpPr/>
          <p:nvPr/>
        </p:nvSpPr>
        <p:spPr>
          <a:xfrm>
            <a:off x="5371374" y="1671247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8"/>
          <p:cNvSpPr/>
          <p:nvPr/>
        </p:nvSpPr>
        <p:spPr>
          <a:xfrm>
            <a:off x="5371374" y="1297986"/>
            <a:ext cx="3197554" cy="38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HOW MEASURED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575072" y="1674819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False positive rate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2973223" y="1674819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&lt;5% on live traffic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5371374" y="1674819"/>
            <a:ext cx="3197554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Analyst verdict sampling (100+ events/week)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575072" y="2058432"/>
            <a:ext cx="2398151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2966079" y="2058432"/>
            <a:ext cx="7144" cy="56720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8"/>
          <p:cNvSpPr/>
          <p:nvPr/>
        </p:nvSpPr>
        <p:spPr>
          <a:xfrm>
            <a:off x="575072" y="2618491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8"/>
          <p:cNvSpPr/>
          <p:nvPr/>
        </p:nvSpPr>
        <p:spPr>
          <a:xfrm>
            <a:off x="575072" y="2058432"/>
            <a:ext cx="2398151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AI evasion detection rate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2973223" y="2058432"/>
            <a:ext cx="2398151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5364231" y="2058432"/>
            <a:ext cx="7144" cy="56720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8"/>
          <p:cNvSpPr/>
          <p:nvPr/>
        </p:nvSpPr>
        <p:spPr>
          <a:xfrm>
            <a:off x="2973223" y="2618491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8"/>
          <p:cNvSpPr/>
          <p:nvPr/>
        </p:nvSpPr>
        <p:spPr>
          <a:xfrm>
            <a:off x="2973223" y="2058432"/>
            <a:ext cx="2398151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&gt;80% against red team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5371374" y="2058432"/>
            <a:ext cx="3197554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5371374" y="2618491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8"/>
          <p:cNvSpPr/>
          <p:nvPr/>
        </p:nvSpPr>
        <p:spPr>
          <a:xfrm>
            <a:off x="5371374" y="2058432"/>
            <a:ext cx="3197554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Quarterly red team with paraphrase/encoding attacks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575072" y="2622063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Fast Lane P99 latency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2973223" y="2622063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&lt;50ms under production load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5371374" y="2622063"/>
            <a:ext cx="3197554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Prometheus P99 histogram, continuous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575072" y="3005677"/>
            <a:ext cx="2398151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2966079" y="3005677"/>
            <a:ext cx="7144" cy="38718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8"/>
          <p:cNvSpPr/>
          <p:nvPr/>
        </p:nvSpPr>
        <p:spPr>
          <a:xfrm>
            <a:off x="575072" y="3385719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8"/>
          <p:cNvSpPr/>
          <p:nvPr/>
        </p:nvSpPr>
        <p:spPr>
          <a:xfrm>
            <a:off x="575072" y="3005677"/>
            <a:ext cx="2398151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Self-learned rules promoted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2973223" y="3005677"/>
            <a:ext cx="2398151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5364231" y="3005677"/>
            <a:ext cx="7144" cy="38718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8"/>
          <p:cNvSpPr/>
          <p:nvPr/>
        </p:nvSpPr>
        <p:spPr>
          <a:xfrm>
            <a:off x="2973223" y="3385719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2973223" y="3005677"/>
            <a:ext cx="2398151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10+ shadow rules validated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5371374" y="3005677"/>
            <a:ext cx="3197554" cy="38718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8"/>
          <p:cNvSpPr/>
          <p:nvPr/>
        </p:nvSpPr>
        <p:spPr>
          <a:xfrm>
            <a:off x="5371374" y="3385719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8"/>
          <p:cNvSpPr/>
          <p:nvPr/>
        </p:nvSpPr>
        <p:spPr>
          <a:xfrm>
            <a:off x="5371374" y="3005677"/>
            <a:ext cx="3197554" cy="3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Rule promotion pipeline metrics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/>
          <p:nvPr/>
        </p:nvSpPr>
        <p:spPr>
          <a:xfrm>
            <a:off x="575072" y="3389291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Analyst time per incident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2973223" y="3389291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30% reduction vs. current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/>
          <p:nvPr/>
        </p:nvSpPr>
        <p:spPr>
          <a:xfrm>
            <a:off x="5371374" y="3389291"/>
            <a:ext cx="3197554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Time-to-verdict tracking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/>
          <p:nvPr/>
        </p:nvSpPr>
        <p:spPr>
          <a:xfrm>
            <a:off x="575072" y="3772905"/>
            <a:ext cx="2398151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2966079" y="3772905"/>
            <a:ext cx="7144" cy="56720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8"/>
          <p:cNvSpPr/>
          <p:nvPr/>
        </p:nvSpPr>
        <p:spPr>
          <a:xfrm>
            <a:off x="575072" y="4332963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8"/>
          <p:cNvSpPr/>
          <p:nvPr/>
        </p:nvSpPr>
        <p:spPr>
          <a:xfrm>
            <a:off x="575072" y="3772905"/>
            <a:ext cx="2398151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Channel coverage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2973223" y="3772905"/>
            <a:ext cx="2398151" cy="56720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8"/>
          <p:cNvSpPr/>
          <p:nvPr/>
        </p:nvSpPr>
        <p:spPr>
          <a:xfrm>
            <a:off x="5364231" y="3772905"/>
            <a:ext cx="7144" cy="56720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2973223" y="4332963"/>
            <a:ext cx="23981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8"/>
          <p:cNvSpPr/>
          <p:nvPr/>
        </p:nvSpPr>
        <p:spPr>
          <a:xfrm>
            <a:off x="2973223" y="3772905"/>
            <a:ext cx="2398151" cy="56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Email + Web + MCP sidecar operational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5371374" y="3772905"/>
            <a:ext cx="3197554" cy="56363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8"/>
          <p:cNvSpPr/>
          <p:nvPr/>
        </p:nvSpPr>
        <p:spPr>
          <a:xfrm>
            <a:off x="5371374" y="4329392"/>
            <a:ext cx="319755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8"/>
          <p:cNvSpPr/>
          <p:nvPr/>
        </p:nvSpPr>
        <p:spPr>
          <a:xfrm>
            <a:off x="5371374" y="3772905"/>
            <a:ext cx="3197554" cy="563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Binary: operational on live traffic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575072" y="4336535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RCA narrative quality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2973223" y="4336535"/>
            <a:ext cx="2398151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Analyst satisfaction &gt;4/5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5371374" y="4336535"/>
            <a:ext cx="3197554" cy="38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70050" spcFirstLastPara="1" rIns="170050" wrap="square" tIns="11912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Analyst feedback survey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2" name="Google Shape;7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80614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9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Phased investment with a go/no-go decision point after Phase 1 pilot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9"/>
          <p:cNvSpPr/>
          <p:nvPr/>
        </p:nvSpPr>
        <p:spPr>
          <a:xfrm>
            <a:off x="571500" y="1365852"/>
            <a:ext cx="2524116" cy="63222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9"/>
          <p:cNvSpPr/>
          <p:nvPr/>
        </p:nvSpPr>
        <p:spPr>
          <a:xfrm>
            <a:off x="571500" y="1365852"/>
            <a:ext cx="2524116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9"/>
          <p:cNvSpPr/>
          <p:nvPr/>
        </p:nvSpPr>
        <p:spPr>
          <a:xfrm>
            <a:off x="3088472" y="1365852"/>
            <a:ext cx="7144" cy="6322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571500" y="1990930"/>
            <a:ext cx="252411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571500" y="1365852"/>
            <a:ext cx="7144" cy="6322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9"/>
          <p:cNvSpPr/>
          <p:nvPr/>
        </p:nvSpPr>
        <p:spPr>
          <a:xfrm>
            <a:off x="1520112" y="1480152"/>
            <a:ext cx="62686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1529935" y="1715895"/>
            <a:ext cx="607219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Q2-Q3 2026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571500" y="2133805"/>
            <a:ext cx="2524116" cy="2953941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9"/>
          <p:cNvSpPr/>
          <p:nvPr/>
        </p:nvSpPr>
        <p:spPr>
          <a:xfrm>
            <a:off x="742950" y="2305255"/>
            <a:ext cx="2181216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Live Pilot + Validation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742950" y="2783886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9"/>
          <p:cNvSpPr/>
          <p:nvPr/>
        </p:nvSpPr>
        <p:spPr>
          <a:xfrm>
            <a:off x="742950" y="2726736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Email + Web adapters, MCP sidecar, Endpoint agent MVP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9"/>
          <p:cNvSpPr/>
          <p:nvPr/>
        </p:nvSpPr>
        <p:spPr>
          <a:xfrm>
            <a:off x="742950" y="3241086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742950" y="3183936"/>
            <a:ext cx="21812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EU AI Act explainability layer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742950" y="3526836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9"/>
          <p:cNvSpPr/>
          <p:nvPr/>
        </p:nvSpPr>
        <p:spPr>
          <a:xfrm>
            <a:off x="742950" y="3469686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GenAI RCA narratives, Google Workspace integration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742950" y="3984036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742950" y="3926886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Pattern expansion: 10 → 125+ patterns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742950" y="4396978"/>
            <a:ext cx="2181216" cy="517922"/>
          </a:xfrm>
          <a:prstGeom prst="rect">
            <a:avLst/>
          </a:prstGeom>
          <a:solidFill>
            <a:srgbClr val="2962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9"/>
          <p:cNvSpPr/>
          <p:nvPr/>
        </p:nvSpPr>
        <p:spPr>
          <a:xfrm>
            <a:off x="742950" y="4396978"/>
            <a:ext cx="2181216" cy="7144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9"/>
          <p:cNvSpPr/>
          <p:nvPr/>
        </p:nvSpPr>
        <p:spPr>
          <a:xfrm>
            <a:off x="2917022" y="4396978"/>
            <a:ext cx="7144" cy="51792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9"/>
          <p:cNvSpPr/>
          <p:nvPr/>
        </p:nvSpPr>
        <p:spPr>
          <a:xfrm>
            <a:off x="742950" y="4907756"/>
            <a:ext cx="2181216" cy="7144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742950" y="4396978"/>
            <a:ext cx="28575" cy="51792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857250" y="4525566"/>
            <a:ext cx="1952616" cy="275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DECISION POINT AT END OF PHASE 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3309928" y="1365852"/>
            <a:ext cx="2524116" cy="63222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9"/>
          <p:cNvSpPr/>
          <p:nvPr/>
        </p:nvSpPr>
        <p:spPr>
          <a:xfrm>
            <a:off x="3309928" y="1365852"/>
            <a:ext cx="2524116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5826900" y="1365852"/>
            <a:ext cx="7144" cy="6322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9"/>
          <p:cNvSpPr/>
          <p:nvPr/>
        </p:nvSpPr>
        <p:spPr>
          <a:xfrm>
            <a:off x="3309928" y="1990930"/>
            <a:ext cx="252411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9"/>
          <p:cNvSpPr/>
          <p:nvPr/>
        </p:nvSpPr>
        <p:spPr>
          <a:xfrm>
            <a:off x="3309928" y="1365852"/>
            <a:ext cx="7144" cy="6322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9"/>
          <p:cNvSpPr/>
          <p:nvPr/>
        </p:nvSpPr>
        <p:spPr>
          <a:xfrm>
            <a:off x="4241574" y="1480152"/>
            <a:ext cx="660797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4055836" y="1715895"/>
            <a:ext cx="1032272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Q4 2026 - Q1 2027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3309928" y="2133805"/>
            <a:ext cx="2524116" cy="295254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3481378" y="2305255"/>
            <a:ext cx="2181216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AI Agent Coverage + Acceleration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3481378" y="2969623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3481378" y="2912473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GPU-accelerated Mid Lane (NVIDIA L4)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3481378" y="3426823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3481378" y="3369673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Fine-tuned custom SLM (org-specific)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3481378" y="3884023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9"/>
          <p:cNvSpPr/>
          <p:nvPr/>
        </p:nvSpPr>
        <p:spPr>
          <a:xfrm>
            <a:off x="3481378" y="3826873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Visual policy builder, data lineage, cross-channel correlation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6048356" y="1365852"/>
            <a:ext cx="2524116" cy="63222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6048356" y="1365852"/>
            <a:ext cx="2524116" cy="2857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8565328" y="1365852"/>
            <a:ext cx="7144" cy="6322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6048356" y="1990930"/>
            <a:ext cx="252411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9"/>
          <p:cNvSpPr/>
          <p:nvPr/>
        </p:nvSpPr>
        <p:spPr>
          <a:xfrm>
            <a:off x="6048356" y="1365852"/>
            <a:ext cx="7144" cy="6322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9"/>
          <p:cNvSpPr/>
          <p:nvPr/>
        </p:nvSpPr>
        <p:spPr>
          <a:xfrm>
            <a:off x="6979109" y="1480152"/>
            <a:ext cx="66258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9"/>
          <p:cNvSpPr/>
          <p:nvPr/>
        </p:nvSpPr>
        <p:spPr>
          <a:xfrm>
            <a:off x="7006791" y="1715895"/>
            <a:ext cx="607219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Q2-Q4 2027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6048356" y="2133805"/>
            <a:ext cx="2524116" cy="295254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6219806" y="2305255"/>
            <a:ext cx="2181216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Enterprise Scale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6219806" y="2783886"/>
            <a:ext cx="42863" cy="4286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9"/>
          <p:cNvSpPr/>
          <p:nvPr/>
        </p:nvSpPr>
        <p:spPr>
          <a:xfrm>
            <a:off x="6219806" y="2726736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Analyst console + SIEM/SOAR integration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9"/>
          <p:cNvSpPr/>
          <p:nvPr/>
        </p:nvSpPr>
        <p:spPr>
          <a:xfrm>
            <a:off x="6219806" y="3241086"/>
            <a:ext cx="42863" cy="4286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6219806" y="3183936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GenAI-assisted rule authoring (natural language → Rego)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9"/>
          <p:cNvSpPr/>
          <p:nvPr/>
        </p:nvSpPr>
        <p:spPr>
          <a:xfrm>
            <a:off x="6219806" y="3698286"/>
            <a:ext cx="42863" cy="4286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9"/>
          <p:cNvSpPr/>
          <p:nvPr/>
        </p:nvSpPr>
        <p:spPr>
          <a:xfrm>
            <a:off x="6219806" y="3641136"/>
            <a:ext cx="2181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Federated learning, multi-agent orchestration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2" name="Google Shape;7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0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Seven identified risks — all with concrete mitigations and decision gates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575072" y="1226548"/>
            <a:ext cx="1998464" cy="32325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0"/>
          <p:cNvSpPr/>
          <p:nvPr/>
        </p:nvSpPr>
        <p:spPr>
          <a:xfrm>
            <a:off x="2566392" y="1226548"/>
            <a:ext cx="7144" cy="32325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0"/>
          <p:cNvSpPr/>
          <p:nvPr/>
        </p:nvSpPr>
        <p:spPr>
          <a:xfrm>
            <a:off x="575072" y="1542659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0"/>
          <p:cNvSpPr/>
          <p:nvPr/>
        </p:nvSpPr>
        <p:spPr>
          <a:xfrm>
            <a:off x="575072" y="1226548"/>
            <a:ext cx="1998464" cy="323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RISK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2573536" y="1226548"/>
            <a:ext cx="1199062" cy="32325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0"/>
          <p:cNvSpPr/>
          <p:nvPr/>
        </p:nvSpPr>
        <p:spPr>
          <a:xfrm>
            <a:off x="3765454" y="1226548"/>
            <a:ext cx="7144" cy="32325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0"/>
          <p:cNvSpPr/>
          <p:nvPr/>
        </p:nvSpPr>
        <p:spPr>
          <a:xfrm>
            <a:off x="2573536" y="1542659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0"/>
          <p:cNvSpPr/>
          <p:nvPr/>
        </p:nvSpPr>
        <p:spPr>
          <a:xfrm>
            <a:off x="2573536" y="1226548"/>
            <a:ext cx="1199062" cy="323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LIKELIHOOD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3772598" y="1226548"/>
            <a:ext cx="1199062" cy="32325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0"/>
          <p:cNvSpPr/>
          <p:nvPr/>
        </p:nvSpPr>
        <p:spPr>
          <a:xfrm>
            <a:off x="4964516" y="1226548"/>
            <a:ext cx="7144" cy="32325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0"/>
          <p:cNvSpPr/>
          <p:nvPr/>
        </p:nvSpPr>
        <p:spPr>
          <a:xfrm>
            <a:off x="3772598" y="1542659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0"/>
          <p:cNvSpPr/>
          <p:nvPr/>
        </p:nvSpPr>
        <p:spPr>
          <a:xfrm>
            <a:off x="3772598" y="1226548"/>
            <a:ext cx="1199062" cy="323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4971659" y="1226548"/>
            <a:ext cx="3597269" cy="323255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0"/>
          <p:cNvSpPr/>
          <p:nvPr/>
        </p:nvSpPr>
        <p:spPr>
          <a:xfrm>
            <a:off x="4971659" y="1542659"/>
            <a:ext cx="359726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0"/>
          <p:cNvSpPr/>
          <p:nvPr/>
        </p:nvSpPr>
        <p:spPr>
          <a:xfrm>
            <a:off x="4971659" y="1226548"/>
            <a:ext cx="3597269" cy="323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MITIGATION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575072" y="1546231"/>
            <a:ext cx="1998464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Vendor closes gap faster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2573536" y="1546231"/>
            <a:ext cx="1199062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/>
          <p:nvPr/>
        </p:nvSpPr>
        <p:spPr>
          <a:xfrm>
            <a:off x="3772598" y="1546231"/>
            <a:ext cx="1199062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0"/>
          <p:cNvSpPr/>
          <p:nvPr/>
        </p:nvSpPr>
        <p:spPr>
          <a:xfrm>
            <a:off x="4971659" y="1546231"/>
            <a:ext cx="3597269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Durable architecture; Phase‑1 decision gate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0"/>
          <p:cNvSpPr/>
          <p:nvPr/>
        </p:nvSpPr>
        <p:spPr>
          <a:xfrm>
            <a:off x="575072" y="1872695"/>
            <a:ext cx="1998464" cy="51005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0"/>
          <p:cNvSpPr/>
          <p:nvPr/>
        </p:nvSpPr>
        <p:spPr>
          <a:xfrm>
            <a:off x="2566392" y="1872695"/>
            <a:ext cx="7144" cy="51005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0"/>
          <p:cNvSpPr/>
          <p:nvPr/>
        </p:nvSpPr>
        <p:spPr>
          <a:xfrm>
            <a:off x="575072" y="2375604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0"/>
          <p:cNvSpPr/>
          <p:nvPr/>
        </p:nvSpPr>
        <p:spPr>
          <a:xfrm>
            <a:off x="575072" y="1872695"/>
            <a:ext cx="1998464" cy="51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Self-learning adversarial feedback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2573536" y="1872695"/>
            <a:ext cx="1199062" cy="51005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0"/>
          <p:cNvSpPr/>
          <p:nvPr/>
        </p:nvSpPr>
        <p:spPr>
          <a:xfrm>
            <a:off x="3765454" y="1872695"/>
            <a:ext cx="7144" cy="51005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0"/>
          <p:cNvSpPr/>
          <p:nvPr/>
        </p:nvSpPr>
        <p:spPr>
          <a:xfrm>
            <a:off x="2573536" y="2375604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0"/>
          <p:cNvSpPr/>
          <p:nvPr/>
        </p:nvSpPr>
        <p:spPr>
          <a:xfrm>
            <a:off x="2573536" y="1872695"/>
            <a:ext cx="1199062" cy="51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3772598" y="1872695"/>
            <a:ext cx="1199062" cy="51005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0"/>
          <p:cNvSpPr/>
          <p:nvPr/>
        </p:nvSpPr>
        <p:spPr>
          <a:xfrm>
            <a:off x="4964516" y="1872695"/>
            <a:ext cx="7144" cy="51005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0"/>
          <p:cNvSpPr/>
          <p:nvPr/>
        </p:nvSpPr>
        <p:spPr>
          <a:xfrm>
            <a:off x="3772598" y="2375604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0"/>
          <p:cNvSpPr/>
          <p:nvPr/>
        </p:nvSpPr>
        <p:spPr>
          <a:xfrm>
            <a:off x="3772598" y="1872695"/>
            <a:ext cx="1199062" cy="51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0"/>
          <p:cNvSpPr/>
          <p:nvPr/>
        </p:nvSpPr>
        <p:spPr>
          <a:xfrm>
            <a:off x="4971659" y="1872695"/>
            <a:ext cx="3597269" cy="51005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0"/>
          <p:cNvSpPr/>
          <p:nvPr/>
        </p:nvSpPr>
        <p:spPr>
          <a:xfrm>
            <a:off x="4971659" y="2375604"/>
            <a:ext cx="359726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0"/>
          <p:cNvSpPr/>
          <p:nvPr/>
        </p:nvSpPr>
        <p:spPr>
          <a:xfrm>
            <a:off x="4971659" y="1872695"/>
            <a:ext cx="3597269" cy="51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14‑day shadow; &gt;85% precision gate; anomaly detection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0"/>
          <p:cNvSpPr/>
          <p:nvPr/>
        </p:nvSpPr>
        <p:spPr>
          <a:xfrm>
            <a:off x="575072" y="2379176"/>
            <a:ext cx="1998464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GPU procurement delays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0"/>
          <p:cNvSpPr/>
          <p:nvPr/>
        </p:nvSpPr>
        <p:spPr>
          <a:xfrm>
            <a:off x="2573536" y="2379176"/>
            <a:ext cx="1199062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0"/>
          <p:cNvSpPr/>
          <p:nvPr/>
        </p:nvSpPr>
        <p:spPr>
          <a:xfrm>
            <a:off x="3772598" y="2379176"/>
            <a:ext cx="1199062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0"/>
          <p:cNvSpPr/>
          <p:nvPr/>
        </p:nvSpPr>
        <p:spPr>
          <a:xfrm>
            <a:off x="4971659" y="2379176"/>
            <a:ext cx="3597269" cy="3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Phase‑1 on CPU; GPU deferred to Phase‑2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0"/>
          <p:cNvSpPr/>
          <p:nvPr/>
        </p:nvSpPr>
        <p:spPr>
          <a:xfrm>
            <a:off x="575072" y="2705640"/>
            <a:ext cx="1998464" cy="51005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0"/>
          <p:cNvSpPr/>
          <p:nvPr/>
        </p:nvSpPr>
        <p:spPr>
          <a:xfrm>
            <a:off x="2566392" y="2705640"/>
            <a:ext cx="7144" cy="51005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0"/>
          <p:cNvSpPr/>
          <p:nvPr/>
        </p:nvSpPr>
        <p:spPr>
          <a:xfrm>
            <a:off x="575072" y="3208548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0"/>
          <p:cNvSpPr/>
          <p:nvPr/>
        </p:nvSpPr>
        <p:spPr>
          <a:xfrm>
            <a:off x="575072" y="2705640"/>
            <a:ext cx="1998464" cy="51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False positives disrupt business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0"/>
          <p:cNvSpPr/>
          <p:nvPr/>
        </p:nvSpPr>
        <p:spPr>
          <a:xfrm>
            <a:off x="2573536" y="2705640"/>
            <a:ext cx="1199062" cy="50648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0"/>
          <p:cNvSpPr/>
          <p:nvPr/>
        </p:nvSpPr>
        <p:spPr>
          <a:xfrm>
            <a:off x="3765454" y="2705640"/>
            <a:ext cx="7144" cy="50648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0"/>
          <p:cNvSpPr/>
          <p:nvPr/>
        </p:nvSpPr>
        <p:spPr>
          <a:xfrm>
            <a:off x="2573536" y="3204976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0"/>
          <p:cNvSpPr/>
          <p:nvPr/>
        </p:nvSpPr>
        <p:spPr>
          <a:xfrm>
            <a:off x="2573536" y="2705640"/>
            <a:ext cx="1199062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0"/>
          <p:cNvSpPr/>
          <p:nvPr/>
        </p:nvSpPr>
        <p:spPr>
          <a:xfrm>
            <a:off x="3772598" y="2705640"/>
            <a:ext cx="1199062" cy="50648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0"/>
          <p:cNvSpPr/>
          <p:nvPr/>
        </p:nvSpPr>
        <p:spPr>
          <a:xfrm>
            <a:off x="4964516" y="2705640"/>
            <a:ext cx="7144" cy="50648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0"/>
          <p:cNvSpPr/>
          <p:nvPr/>
        </p:nvSpPr>
        <p:spPr>
          <a:xfrm>
            <a:off x="3772598" y="3204976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0"/>
          <p:cNvSpPr/>
          <p:nvPr/>
        </p:nvSpPr>
        <p:spPr>
          <a:xfrm>
            <a:off x="3772598" y="2705640"/>
            <a:ext cx="1199062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0"/>
          <p:cNvSpPr/>
          <p:nvPr/>
        </p:nvSpPr>
        <p:spPr>
          <a:xfrm>
            <a:off x="4971659" y="2705640"/>
            <a:ext cx="3597269" cy="50648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0"/>
          <p:cNvSpPr/>
          <p:nvPr/>
        </p:nvSpPr>
        <p:spPr>
          <a:xfrm>
            <a:off x="4971659" y="3204976"/>
            <a:ext cx="359726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0"/>
          <p:cNvSpPr/>
          <p:nvPr/>
        </p:nvSpPr>
        <p:spPr>
          <a:xfrm>
            <a:off x="4971659" y="2705640"/>
            <a:ext cx="3597269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Context suppression, per‑sender overrides, quarantine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"/>
          <p:cNvSpPr/>
          <p:nvPr/>
        </p:nvSpPr>
        <p:spPr>
          <a:xfrm>
            <a:off x="575072" y="3212120"/>
            <a:ext cx="1998464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Regulatory requirements change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0"/>
          <p:cNvSpPr/>
          <p:nvPr/>
        </p:nvSpPr>
        <p:spPr>
          <a:xfrm>
            <a:off x="2573536" y="3212120"/>
            <a:ext cx="1199062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0"/>
          <p:cNvSpPr/>
          <p:nvPr/>
        </p:nvSpPr>
        <p:spPr>
          <a:xfrm>
            <a:off x="3772598" y="3212120"/>
            <a:ext cx="1199062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0"/>
          <p:cNvSpPr/>
          <p:nvPr/>
        </p:nvSpPr>
        <p:spPr>
          <a:xfrm>
            <a:off x="4971659" y="3212120"/>
            <a:ext cx="3597269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Policy-as-code for rapid updates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575072" y="3718601"/>
            <a:ext cx="1998464" cy="33003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0"/>
          <p:cNvSpPr/>
          <p:nvPr/>
        </p:nvSpPr>
        <p:spPr>
          <a:xfrm>
            <a:off x="2566392" y="3718601"/>
            <a:ext cx="7144" cy="3300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0"/>
          <p:cNvSpPr/>
          <p:nvPr/>
        </p:nvSpPr>
        <p:spPr>
          <a:xfrm>
            <a:off x="575072" y="4041493"/>
            <a:ext cx="199846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0"/>
          <p:cNvSpPr/>
          <p:nvPr/>
        </p:nvSpPr>
        <p:spPr>
          <a:xfrm>
            <a:off x="575072" y="3718601"/>
            <a:ext cx="1998464" cy="33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Platform maintenance cost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0"/>
          <p:cNvSpPr/>
          <p:nvPr/>
        </p:nvSpPr>
        <p:spPr>
          <a:xfrm>
            <a:off x="2573536" y="3718601"/>
            <a:ext cx="1199062" cy="33003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0"/>
          <p:cNvSpPr/>
          <p:nvPr/>
        </p:nvSpPr>
        <p:spPr>
          <a:xfrm>
            <a:off x="3765454" y="3718601"/>
            <a:ext cx="7144" cy="3300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0"/>
          <p:cNvSpPr/>
          <p:nvPr/>
        </p:nvSpPr>
        <p:spPr>
          <a:xfrm>
            <a:off x="2573536" y="4041493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0"/>
          <p:cNvSpPr/>
          <p:nvPr/>
        </p:nvSpPr>
        <p:spPr>
          <a:xfrm>
            <a:off x="2573536" y="3718601"/>
            <a:ext cx="1199062" cy="33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0"/>
          <p:cNvSpPr/>
          <p:nvPr/>
        </p:nvSpPr>
        <p:spPr>
          <a:xfrm>
            <a:off x="3772598" y="3718601"/>
            <a:ext cx="1199062" cy="33003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0"/>
          <p:cNvSpPr/>
          <p:nvPr/>
        </p:nvSpPr>
        <p:spPr>
          <a:xfrm>
            <a:off x="4964516" y="3718601"/>
            <a:ext cx="7144" cy="3300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0"/>
          <p:cNvSpPr/>
          <p:nvPr/>
        </p:nvSpPr>
        <p:spPr>
          <a:xfrm>
            <a:off x="3772598" y="4041493"/>
            <a:ext cx="119906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0"/>
          <p:cNvSpPr/>
          <p:nvPr/>
        </p:nvSpPr>
        <p:spPr>
          <a:xfrm>
            <a:off x="3772598" y="3718601"/>
            <a:ext cx="1199062" cy="33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0"/>
          <p:cNvSpPr/>
          <p:nvPr/>
        </p:nvSpPr>
        <p:spPr>
          <a:xfrm>
            <a:off x="4971659" y="3718601"/>
            <a:ext cx="3597269" cy="33003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0"/>
          <p:cNvSpPr/>
          <p:nvPr/>
        </p:nvSpPr>
        <p:spPr>
          <a:xfrm>
            <a:off x="4971659" y="4041493"/>
            <a:ext cx="359726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0"/>
          <p:cNvSpPr/>
          <p:nvPr/>
        </p:nvSpPr>
        <p:spPr>
          <a:xfrm>
            <a:off x="4971659" y="3718601"/>
            <a:ext cx="3597269" cy="33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Open-source stack; avoid vendor lock-in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0"/>
          <p:cNvSpPr/>
          <p:nvPr/>
        </p:nvSpPr>
        <p:spPr>
          <a:xfrm>
            <a:off x="575072" y="4045065"/>
            <a:ext cx="1998464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Insufficient analyst bandwidth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0"/>
          <p:cNvSpPr/>
          <p:nvPr/>
        </p:nvSpPr>
        <p:spPr>
          <a:xfrm>
            <a:off x="2573536" y="4045065"/>
            <a:ext cx="1199062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"/>
          <p:cNvSpPr/>
          <p:nvPr/>
        </p:nvSpPr>
        <p:spPr>
          <a:xfrm>
            <a:off x="3772598" y="4045065"/>
            <a:ext cx="1199062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4971659" y="4045065"/>
            <a:ext cx="3597269" cy="506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36000" spcFirstLastPara="1" rIns="136000" wrap="square" tIns="85075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Active learning routes only uncertain samples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5" name="Google Shape;8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8439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21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We are seeking approval for a 4-person team to validate Sentinel on live traffic (Q2-Q3 2026)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1"/>
          <p:cNvSpPr/>
          <p:nvPr/>
        </p:nvSpPr>
        <p:spPr>
          <a:xfrm>
            <a:off x="571500" y="1365852"/>
            <a:ext cx="2552691" cy="161805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571500" y="1365852"/>
            <a:ext cx="2552691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3117047" y="1365852"/>
            <a:ext cx="7144" cy="161805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1"/>
          <p:cNvSpPr/>
          <p:nvPr/>
        </p:nvSpPr>
        <p:spPr>
          <a:xfrm>
            <a:off x="571500" y="2976767"/>
            <a:ext cx="255269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1"/>
          <p:cNvSpPr/>
          <p:nvPr/>
        </p:nvSpPr>
        <p:spPr>
          <a:xfrm>
            <a:off x="571500" y="1365852"/>
            <a:ext cx="7144" cy="161805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1"/>
          <p:cNvSpPr/>
          <p:nvPr/>
        </p:nvSpPr>
        <p:spPr>
          <a:xfrm>
            <a:off x="742950" y="1537302"/>
            <a:ext cx="22002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What we need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742950" y="1812336"/>
            <a:ext cx="220027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4-person team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(2 Go engineers, 1 ML engineer, 1 lead/architect) dedicated for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 months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1"/>
          <p:cNvSpPr/>
          <p:nvPr/>
        </p:nvSpPr>
        <p:spPr>
          <a:xfrm>
            <a:off x="3286125" y="1365852"/>
            <a:ext cx="2557463" cy="161805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1"/>
          <p:cNvSpPr/>
          <p:nvPr/>
        </p:nvSpPr>
        <p:spPr>
          <a:xfrm>
            <a:off x="3286125" y="1365852"/>
            <a:ext cx="2557463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1"/>
          <p:cNvSpPr/>
          <p:nvPr/>
        </p:nvSpPr>
        <p:spPr>
          <a:xfrm>
            <a:off x="5836444" y="1365852"/>
            <a:ext cx="7144" cy="161805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1"/>
          <p:cNvSpPr/>
          <p:nvPr/>
        </p:nvSpPr>
        <p:spPr>
          <a:xfrm>
            <a:off x="3286125" y="2976767"/>
            <a:ext cx="2557463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1"/>
          <p:cNvSpPr/>
          <p:nvPr/>
        </p:nvSpPr>
        <p:spPr>
          <a:xfrm>
            <a:off x="3286125" y="1365852"/>
            <a:ext cx="7144" cy="161805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1"/>
          <p:cNvSpPr/>
          <p:nvPr/>
        </p:nvSpPr>
        <p:spPr>
          <a:xfrm>
            <a:off x="3462347" y="1537302"/>
            <a:ext cx="220504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What we deliver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1"/>
          <p:cNvSpPr/>
          <p:nvPr/>
        </p:nvSpPr>
        <p:spPr>
          <a:xfrm>
            <a:off x="3462347" y="1812336"/>
            <a:ext cx="220504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Live pilot on email + web + MCP channels, trained on our own data, with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measurable KPIs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proving (or disproving) the approach.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1"/>
          <p:cNvSpPr/>
          <p:nvPr/>
        </p:nvSpPr>
        <p:spPr>
          <a:xfrm>
            <a:off x="6010294" y="1365852"/>
            <a:ext cx="2562234" cy="1618059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1"/>
          <p:cNvSpPr/>
          <p:nvPr/>
        </p:nvSpPr>
        <p:spPr>
          <a:xfrm>
            <a:off x="6010294" y="1365852"/>
            <a:ext cx="2562234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1"/>
          <p:cNvSpPr/>
          <p:nvPr/>
        </p:nvSpPr>
        <p:spPr>
          <a:xfrm>
            <a:off x="8565384" y="1365852"/>
            <a:ext cx="7144" cy="161805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1"/>
          <p:cNvSpPr/>
          <p:nvPr/>
        </p:nvSpPr>
        <p:spPr>
          <a:xfrm>
            <a:off x="6010294" y="2976767"/>
            <a:ext cx="256223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1"/>
          <p:cNvSpPr/>
          <p:nvPr/>
        </p:nvSpPr>
        <p:spPr>
          <a:xfrm>
            <a:off x="6010294" y="1365852"/>
            <a:ext cx="7144" cy="161805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1"/>
          <p:cNvSpPr/>
          <p:nvPr/>
        </p:nvSpPr>
        <p:spPr>
          <a:xfrm>
            <a:off x="6191231" y="1537302"/>
            <a:ext cx="220979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What happens next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1"/>
          <p:cNvSpPr/>
          <p:nvPr/>
        </p:nvSpPr>
        <p:spPr>
          <a:xfrm>
            <a:off x="6191231" y="1812336"/>
            <a:ext cx="2209791" cy="964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Phase 1 decision point evaluates results against vendor alternatives. Full investment decision based on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demonstrated outcomes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, not projected capabilities.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571500" y="3162505"/>
            <a:ext cx="8001000" cy="1866695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1"/>
          <p:cNvSpPr/>
          <p:nvPr/>
        </p:nvSpPr>
        <p:spPr>
          <a:xfrm>
            <a:off x="785813" y="3333955"/>
            <a:ext cx="75723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Questions for Leadership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785813" y="3683998"/>
            <a:ext cx="364331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Which channels should Phase 1 target first?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1"/>
          <p:cNvSpPr/>
          <p:nvPr/>
        </p:nvSpPr>
        <p:spPr>
          <a:xfrm>
            <a:off x="4714875" y="3683998"/>
            <a:ext cx="364331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Shadow mode first, then enforcement? How long?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1"/>
          <p:cNvSpPr/>
          <p:nvPr/>
        </p:nvSpPr>
        <p:spPr>
          <a:xfrm>
            <a:off x="785813" y="3978315"/>
            <a:ext cx="364331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Start on CPU (zero procurement) or procure GPU upfront?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4714875" y="3978315"/>
            <a:ext cx="364331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GAIP platform compatibility — needs validation with platform owners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785813" y="4452649"/>
            <a:ext cx="364331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Which internal data sources are approved for model training?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1"/>
          <p:cNvSpPr/>
          <p:nvPr/>
        </p:nvSpPr>
        <p:spPr>
          <a:xfrm>
            <a:off x="785813" y="3683998"/>
            <a:ext cx="7679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1"/>
          <p:cNvSpPr/>
          <p:nvPr/>
        </p:nvSpPr>
        <p:spPr>
          <a:xfrm>
            <a:off x="4714875" y="3683998"/>
            <a:ext cx="7679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785813" y="3978315"/>
            <a:ext cx="7679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1"/>
          <p:cNvSpPr/>
          <p:nvPr/>
        </p:nvSpPr>
        <p:spPr>
          <a:xfrm>
            <a:off x="4714875" y="3978315"/>
            <a:ext cx="7679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1"/>
          <p:cNvSpPr/>
          <p:nvPr/>
        </p:nvSpPr>
        <p:spPr>
          <a:xfrm>
            <a:off x="785813" y="4452649"/>
            <a:ext cx="7679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5" name="Google Shape;9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22"/>
          <p:cNvSpPr/>
          <p:nvPr/>
        </p:nvSpPr>
        <p:spPr>
          <a:xfrm>
            <a:off x="3911203" y="1555384"/>
            <a:ext cx="132159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93"/>
              <a:buFont typeface="Roboto Mono"/>
              <a:buNone/>
            </a:pPr>
            <a:r>
              <a:rPr b="1" i="0" lang="en-US" sz="1193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SECTION 04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2"/>
          <p:cNvSpPr/>
          <p:nvPr/>
        </p:nvSpPr>
        <p:spPr>
          <a:xfrm>
            <a:off x="916186" y="1953648"/>
            <a:ext cx="7311628" cy="548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293"/>
              <a:buFont typeface="Inter"/>
              <a:buNone/>
            </a:pPr>
            <a:r>
              <a:rPr b="1" i="0" lang="en-US" sz="329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Appendix — Technical Deep Dive</a:t>
            </a:r>
            <a:endParaRPr b="0" i="0" sz="32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2"/>
          <p:cNvSpPr/>
          <p:nvPr/>
        </p:nvSpPr>
        <p:spPr>
          <a:xfrm>
            <a:off x="1714500" y="2988041"/>
            <a:ext cx="5715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07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86"/>
              <a:buFont typeface="Inter"/>
              <a:buNone/>
            </a:pPr>
            <a:r>
              <a:rPr b="0" i="0" lang="en-US" sz="1486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Architecture Details, Sequence Flows, Hardware Evaluation, and Technology Stack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4" name="Google Shape;9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23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Fast Lane processes content through 7 steps in &lt;50ms with fail-closed guarantee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3"/>
          <p:cNvSpPr/>
          <p:nvPr/>
        </p:nvSpPr>
        <p:spPr>
          <a:xfrm>
            <a:off x="571500" y="1222977"/>
            <a:ext cx="285750" cy="2857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3"/>
          <p:cNvSpPr/>
          <p:nvPr/>
        </p:nvSpPr>
        <p:spPr>
          <a:xfrm>
            <a:off x="571500" y="1222977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121212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3"/>
          <p:cNvSpPr/>
          <p:nvPr/>
        </p:nvSpPr>
        <p:spPr>
          <a:xfrm>
            <a:off x="971550" y="1251552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Ingress &amp; Extraction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3"/>
          <p:cNvSpPr/>
          <p:nvPr/>
        </p:nvSpPr>
        <p:spPr>
          <a:xfrm>
            <a:off x="971550" y="1498011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Extract text from payloads (DOCX, PDF, ZIP) using pure Go libraries without spawning external processes.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3"/>
          <p:cNvSpPr/>
          <p:nvPr/>
        </p:nvSpPr>
        <p:spPr>
          <a:xfrm>
            <a:off x="571500" y="1955211"/>
            <a:ext cx="285750" cy="2857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"/>
          <p:cNvSpPr/>
          <p:nvPr/>
        </p:nvSpPr>
        <p:spPr>
          <a:xfrm>
            <a:off x="571500" y="1955211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121212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3"/>
          <p:cNvSpPr/>
          <p:nvPr/>
        </p:nvSpPr>
        <p:spPr>
          <a:xfrm>
            <a:off x="971550" y="1983786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Normalization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3"/>
          <p:cNvSpPr/>
          <p:nvPr/>
        </p:nvSpPr>
        <p:spPr>
          <a:xfrm>
            <a:off x="971550" y="2230245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Apply Unicode normalization, strip obfuscating whitespace, and decode nested encodings (Base64/Hex).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3"/>
          <p:cNvSpPr/>
          <p:nvPr/>
        </p:nvSpPr>
        <p:spPr>
          <a:xfrm>
            <a:off x="571500" y="2687445"/>
            <a:ext cx="285750" cy="2857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/>
          <p:cNvSpPr/>
          <p:nvPr/>
        </p:nvSpPr>
        <p:spPr>
          <a:xfrm>
            <a:off x="571500" y="268744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121212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3"/>
          <p:cNvSpPr/>
          <p:nvPr/>
        </p:nvSpPr>
        <p:spPr>
          <a:xfrm>
            <a:off x="971550" y="2716020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Pattern Matching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3"/>
          <p:cNvSpPr/>
          <p:nvPr/>
        </p:nvSpPr>
        <p:spPr>
          <a:xfrm>
            <a:off x="971550" y="2962480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Execute high-speed Aho-Corasick automaton for exact keyword matches and optimized regex for PII/PCI.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3"/>
          <p:cNvSpPr/>
          <p:nvPr/>
        </p:nvSpPr>
        <p:spPr>
          <a:xfrm>
            <a:off x="571500" y="3419680"/>
            <a:ext cx="285750" cy="28575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/>
          <p:cNvSpPr/>
          <p:nvPr/>
        </p:nvSpPr>
        <p:spPr>
          <a:xfrm>
            <a:off x="571500" y="341968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121212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3"/>
          <p:cNvSpPr/>
          <p:nvPr/>
        </p:nvSpPr>
        <p:spPr>
          <a:xfrm>
            <a:off x="971550" y="3448255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Entropy Analysis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3"/>
          <p:cNvSpPr/>
          <p:nvPr/>
        </p:nvSpPr>
        <p:spPr>
          <a:xfrm>
            <a:off x="971550" y="3694714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Calculate Shannon entropy on tokenized chunks to detect encrypted payloads, keys, or secrets.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3"/>
          <p:cNvSpPr/>
          <p:nvPr/>
        </p:nvSpPr>
        <p:spPr>
          <a:xfrm>
            <a:off x="4714875" y="1222977"/>
            <a:ext cx="285750" cy="2857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/>
          <p:cNvSpPr/>
          <p:nvPr/>
        </p:nvSpPr>
        <p:spPr>
          <a:xfrm>
            <a:off x="4714875" y="1222977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3"/>
          <p:cNvSpPr/>
          <p:nvPr/>
        </p:nvSpPr>
        <p:spPr>
          <a:xfrm>
            <a:off x="5114925" y="1251552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Context Suppression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3"/>
          <p:cNvSpPr/>
          <p:nvPr/>
        </p:nvSpPr>
        <p:spPr>
          <a:xfrm>
            <a:off x="5114925" y="1498011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Filter out known false positives (e.g., public test keys, internal domains) using a bloom filter.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3"/>
          <p:cNvSpPr/>
          <p:nvPr/>
        </p:nvSpPr>
        <p:spPr>
          <a:xfrm>
            <a:off x="4714875" y="1955211"/>
            <a:ext cx="285750" cy="2857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3"/>
          <p:cNvSpPr/>
          <p:nvPr/>
        </p:nvSpPr>
        <p:spPr>
          <a:xfrm>
            <a:off x="4714875" y="1955211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3"/>
          <p:cNvSpPr/>
          <p:nvPr/>
        </p:nvSpPr>
        <p:spPr>
          <a:xfrm>
            <a:off x="5114925" y="1983786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Weighted Scoring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3"/>
          <p:cNvSpPr/>
          <p:nvPr/>
        </p:nvSpPr>
        <p:spPr>
          <a:xfrm>
            <a:off x="5114925" y="2230245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Aggregate all findings into a normalized risk score (0-100) based on pattern severity and density.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3"/>
          <p:cNvSpPr/>
          <p:nvPr/>
        </p:nvSpPr>
        <p:spPr>
          <a:xfrm>
            <a:off x="4714875" y="2687445"/>
            <a:ext cx="285750" cy="2857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/>
          <p:cNvSpPr/>
          <p:nvPr/>
        </p:nvSpPr>
        <p:spPr>
          <a:xfrm>
            <a:off x="4714875" y="268744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 Mon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3"/>
          <p:cNvSpPr/>
          <p:nvPr/>
        </p:nvSpPr>
        <p:spPr>
          <a:xfrm>
            <a:off x="5114925" y="2716020"/>
            <a:ext cx="345757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OPA Policy Evaluation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3"/>
          <p:cNvSpPr/>
          <p:nvPr/>
        </p:nvSpPr>
        <p:spPr>
          <a:xfrm>
            <a:off x="5114925" y="2962480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Query local OPA cache with the risk score and context to receive an immediate enforcement decision.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3"/>
          <p:cNvSpPr/>
          <p:nvPr/>
        </p:nvSpPr>
        <p:spPr>
          <a:xfrm>
            <a:off x="4714875" y="3962995"/>
            <a:ext cx="3857625" cy="1037630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3"/>
          <p:cNvSpPr/>
          <p:nvPr/>
        </p:nvSpPr>
        <p:spPr>
          <a:xfrm>
            <a:off x="4714875" y="3962995"/>
            <a:ext cx="3857625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3"/>
          <p:cNvSpPr/>
          <p:nvPr/>
        </p:nvSpPr>
        <p:spPr>
          <a:xfrm>
            <a:off x="8565356" y="3962995"/>
            <a:ext cx="7144" cy="103763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/>
          <p:cNvSpPr/>
          <p:nvPr/>
        </p:nvSpPr>
        <p:spPr>
          <a:xfrm>
            <a:off x="4714875" y="4993481"/>
            <a:ext cx="3857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3"/>
          <p:cNvSpPr/>
          <p:nvPr/>
        </p:nvSpPr>
        <p:spPr>
          <a:xfrm>
            <a:off x="4714875" y="3962995"/>
            <a:ext cx="7144" cy="103763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3"/>
          <p:cNvSpPr/>
          <p:nvPr/>
        </p:nvSpPr>
        <p:spPr>
          <a:xfrm>
            <a:off x="4829175" y="4113014"/>
            <a:ext cx="362902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FAIL-CLOSED GUARANTEE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4829175" y="4371975"/>
            <a:ext cx="3629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If processing exceeds the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50ms budget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or encounters a panic, the system defaults to a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block state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to prevent data leakage, ensuring security over availability.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6" name="Google Shape;9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4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Mid Lane provides ML-based confidence adjustment for uncertain content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4"/>
          <p:cNvSpPr/>
          <p:nvPr/>
        </p:nvSpPr>
        <p:spPr>
          <a:xfrm>
            <a:off x="571500" y="1523209"/>
            <a:ext cx="1714500" cy="2005608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4"/>
          <p:cNvSpPr/>
          <p:nvPr/>
        </p:nvSpPr>
        <p:spPr>
          <a:xfrm>
            <a:off x="657225" y="1623222"/>
            <a:ext cx="1543050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1. TRIGGER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4"/>
          <p:cNvSpPr/>
          <p:nvPr/>
        </p:nvSpPr>
        <p:spPr>
          <a:xfrm>
            <a:off x="657225" y="1928617"/>
            <a:ext cx="15430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Fast Lane identifies uncertain content.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4"/>
          <p:cNvSpPr/>
          <p:nvPr/>
        </p:nvSpPr>
        <p:spPr>
          <a:xfrm>
            <a:off x="657225" y="2307236"/>
            <a:ext cx="1543050" cy="4572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4"/>
          <p:cNvSpPr/>
          <p:nvPr/>
        </p:nvSpPr>
        <p:spPr>
          <a:xfrm>
            <a:off x="714375" y="2371530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Condition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4"/>
          <p:cNvSpPr/>
          <p:nvPr/>
        </p:nvSpPr>
        <p:spPr>
          <a:xfrm>
            <a:off x="714375" y="2564411"/>
            <a:ext cx="1221581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Score between 40 and 79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4"/>
          <p:cNvSpPr/>
          <p:nvPr/>
        </p:nvSpPr>
        <p:spPr>
          <a:xfrm>
            <a:off x="657225" y="2814442"/>
            <a:ext cx="1543050" cy="607219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4"/>
          <p:cNvSpPr/>
          <p:nvPr/>
        </p:nvSpPr>
        <p:spPr>
          <a:xfrm>
            <a:off x="714375" y="2878736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Transport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4"/>
          <p:cNvSpPr/>
          <p:nvPr/>
        </p:nvSpPr>
        <p:spPr>
          <a:xfrm>
            <a:off x="714375" y="3071617"/>
            <a:ext cx="776883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NATS JetStream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4"/>
          <p:cNvSpPr/>
          <p:nvPr/>
        </p:nvSpPr>
        <p:spPr>
          <a:xfrm>
            <a:off x="714375" y="3221636"/>
            <a:ext cx="635794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(Async/Sync)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4"/>
          <p:cNvSpPr/>
          <p:nvPr/>
        </p:nvSpPr>
        <p:spPr>
          <a:xfrm>
            <a:off x="2333606" y="2352777"/>
            <a:ext cx="285750" cy="346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16"/>
              <a:buFont typeface="Inter"/>
              <a:buNone/>
            </a:pPr>
            <a:r>
              <a:rPr b="1" i="0" lang="en-US" sz="2016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4"/>
          <p:cNvSpPr/>
          <p:nvPr/>
        </p:nvSpPr>
        <p:spPr>
          <a:xfrm>
            <a:off x="2666963" y="1530353"/>
            <a:ext cx="1714500" cy="1991320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4"/>
          <p:cNvSpPr/>
          <p:nvPr/>
        </p:nvSpPr>
        <p:spPr>
          <a:xfrm>
            <a:off x="2752688" y="1630366"/>
            <a:ext cx="1543050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2. ML INFERENCE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4"/>
          <p:cNvSpPr/>
          <p:nvPr/>
        </p:nvSpPr>
        <p:spPr>
          <a:xfrm>
            <a:off x="2752688" y="1935761"/>
            <a:ext cx="1543050" cy="4572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4"/>
          <p:cNvSpPr/>
          <p:nvPr/>
        </p:nvSpPr>
        <p:spPr>
          <a:xfrm>
            <a:off x="2809838" y="2000055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ModernBERT-base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4"/>
          <p:cNvSpPr/>
          <p:nvPr/>
        </p:nvSpPr>
        <p:spPr>
          <a:xfrm>
            <a:off x="2809838" y="2192936"/>
            <a:ext cx="109120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 NER (8K context)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4"/>
          <p:cNvSpPr/>
          <p:nvPr/>
        </p:nvSpPr>
        <p:spPr>
          <a:xfrm>
            <a:off x="2752688" y="2442967"/>
            <a:ext cx="1543050" cy="4572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4"/>
          <p:cNvSpPr/>
          <p:nvPr/>
        </p:nvSpPr>
        <p:spPr>
          <a:xfrm>
            <a:off x="2809838" y="2507261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DeBERTa-v3-base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4"/>
          <p:cNvSpPr/>
          <p:nvPr/>
        </p:nvSpPr>
        <p:spPr>
          <a:xfrm>
            <a:off x="2809838" y="2700142"/>
            <a:ext cx="1155502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Sensitivity Classification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4"/>
          <p:cNvSpPr/>
          <p:nvPr/>
        </p:nvSpPr>
        <p:spPr>
          <a:xfrm>
            <a:off x="2752688" y="2950173"/>
            <a:ext cx="1543050" cy="4572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4"/>
          <p:cNvSpPr/>
          <p:nvPr/>
        </p:nvSpPr>
        <p:spPr>
          <a:xfrm>
            <a:off x="2809838" y="3014467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BGE-small-en-v1.5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4"/>
          <p:cNvSpPr/>
          <p:nvPr/>
        </p:nvSpPr>
        <p:spPr>
          <a:xfrm>
            <a:off x="2809838" y="3207348"/>
            <a:ext cx="903684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Semantic Similarity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4"/>
          <p:cNvSpPr/>
          <p:nvPr/>
        </p:nvSpPr>
        <p:spPr>
          <a:xfrm>
            <a:off x="4429069" y="2352777"/>
            <a:ext cx="285750" cy="346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16"/>
              <a:buFont typeface="Inter"/>
              <a:buNone/>
            </a:pPr>
            <a:r>
              <a:rPr b="1" i="0" lang="en-US" sz="2016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4"/>
          <p:cNvSpPr/>
          <p:nvPr/>
        </p:nvSpPr>
        <p:spPr>
          <a:xfrm>
            <a:off x="4762426" y="1542855"/>
            <a:ext cx="1714500" cy="1966317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4"/>
          <p:cNvSpPr/>
          <p:nvPr/>
        </p:nvSpPr>
        <p:spPr>
          <a:xfrm>
            <a:off x="4848151" y="1642867"/>
            <a:ext cx="1543050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3. BLENDING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4"/>
          <p:cNvSpPr/>
          <p:nvPr/>
        </p:nvSpPr>
        <p:spPr>
          <a:xfrm>
            <a:off x="4848151" y="1948262"/>
            <a:ext cx="15430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Combine ML signals with Fast Lane heuristics.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4"/>
          <p:cNvSpPr/>
          <p:nvPr/>
        </p:nvSpPr>
        <p:spPr>
          <a:xfrm>
            <a:off x="4848151" y="2384031"/>
            <a:ext cx="1543050" cy="400050"/>
          </a:xfrm>
          <a:prstGeom prst="rect">
            <a:avLst/>
          </a:prstGeom>
          <a:solidFill>
            <a:srgbClr val="000000">
              <a:alpha val="30196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4"/>
          <p:cNvSpPr/>
          <p:nvPr/>
        </p:nvSpPr>
        <p:spPr>
          <a:xfrm>
            <a:off x="4848151" y="2384031"/>
            <a:ext cx="1543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85075" spcFirstLastPara="1" rIns="85075" wrap="square" tIns="5105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0.7 × mid_score +</a:t>
            </a:r>
            <a:br>
              <a:rPr b="0" i="0" lang="en-US" sz="727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727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0.3 × fast_score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4"/>
          <p:cNvSpPr/>
          <p:nvPr/>
        </p:nvSpPr>
        <p:spPr>
          <a:xfrm>
            <a:off x="4848151" y="2919812"/>
            <a:ext cx="154305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Weights are dynamically tuned per channel via OPA policy.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4"/>
          <p:cNvSpPr/>
          <p:nvPr/>
        </p:nvSpPr>
        <p:spPr>
          <a:xfrm>
            <a:off x="6524532" y="2352777"/>
            <a:ext cx="285750" cy="346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16"/>
              <a:buFont typeface="Inter"/>
              <a:buNone/>
            </a:pPr>
            <a:r>
              <a:rPr b="1" i="0" lang="en-US" sz="2016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4"/>
          <p:cNvSpPr/>
          <p:nvPr/>
        </p:nvSpPr>
        <p:spPr>
          <a:xfrm>
            <a:off x="6857888" y="1305325"/>
            <a:ext cx="1714500" cy="2441377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4"/>
          <p:cNvSpPr/>
          <p:nvPr/>
        </p:nvSpPr>
        <p:spPr>
          <a:xfrm>
            <a:off x="6943613" y="1405337"/>
            <a:ext cx="1543050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4. ROUTING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4"/>
          <p:cNvSpPr/>
          <p:nvPr/>
        </p:nvSpPr>
        <p:spPr>
          <a:xfrm>
            <a:off x="6943613" y="1710733"/>
            <a:ext cx="1543050" cy="607219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4"/>
          <p:cNvSpPr/>
          <p:nvPr/>
        </p:nvSpPr>
        <p:spPr>
          <a:xfrm>
            <a:off x="7000763" y="1775027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Score ≥ 80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4"/>
          <p:cNvSpPr/>
          <p:nvPr/>
        </p:nvSpPr>
        <p:spPr>
          <a:xfrm>
            <a:off x="7000763" y="1967908"/>
            <a:ext cx="1225153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Return BLOCK decision to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4"/>
          <p:cNvSpPr/>
          <p:nvPr/>
        </p:nvSpPr>
        <p:spPr>
          <a:xfrm>
            <a:off x="7000763" y="2117927"/>
            <a:ext cx="792956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Fast Lane (Sync)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4"/>
          <p:cNvSpPr/>
          <p:nvPr/>
        </p:nvSpPr>
        <p:spPr>
          <a:xfrm>
            <a:off x="6943613" y="2367958"/>
            <a:ext cx="1543050" cy="607219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4"/>
          <p:cNvSpPr/>
          <p:nvPr/>
        </p:nvSpPr>
        <p:spPr>
          <a:xfrm>
            <a:off x="7000763" y="2432252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Score &lt; 80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4"/>
          <p:cNvSpPr/>
          <p:nvPr/>
        </p:nvSpPr>
        <p:spPr>
          <a:xfrm>
            <a:off x="7000763" y="2625133"/>
            <a:ext cx="102512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Log adjusted score to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4"/>
          <p:cNvSpPr/>
          <p:nvPr/>
        </p:nvSpPr>
        <p:spPr>
          <a:xfrm>
            <a:off x="7000763" y="2775152"/>
            <a:ext cx="937617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ClickHouse (Async)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4"/>
          <p:cNvSpPr/>
          <p:nvPr/>
        </p:nvSpPr>
        <p:spPr>
          <a:xfrm>
            <a:off x="6943613" y="3025183"/>
            <a:ext cx="1543050" cy="607219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4"/>
          <p:cNvSpPr/>
          <p:nvPr/>
        </p:nvSpPr>
        <p:spPr>
          <a:xfrm>
            <a:off x="7000763" y="3089477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4"/>
          <p:cNvSpPr/>
          <p:nvPr/>
        </p:nvSpPr>
        <p:spPr>
          <a:xfrm>
            <a:off x="7000763" y="3282358"/>
            <a:ext cx="1135856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Forward to Deep Lane if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4"/>
          <p:cNvSpPr/>
          <p:nvPr/>
        </p:nvSpPr>
        <p:spPr>
          <a:xfrm>
            <a:off x="7000763" y="3432377"/>
            <a:ext cx="1119783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further analysis needed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4"/>
          <p:cNvSpPr/>
          <p:nvPr/>
        </p:nvSpPr>
        <p:spPr>
          <a:xfrm>
            <a:off x="571500" y="4043363"/>
            <a:ext cx="8001000" cy="814388"/>
          </a:xfrm>
          <a:prstGeom prst="rect">
            <a:avLst/>
          </a:prstGeom>
          <a:solidFill>
            <a:srgbClr val="E5393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4"/>
          <p:cNvSpPr/>
          <p:nvPr/>
        </p:nvSpPr>
        <p:spPr>
          <a:xfrm>
            <a:off x="571500" y="4043363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4"/>
          <p:cNvSpPr/>
          <p:nvPr/>
        </p:nvSpPr>
        <p:spPr>
          <a:xfrm>
            <a:off x="8565356" y="4043363"/>
            <a:ext cx="7144" cy="8143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4"/>
          <p:cNvSpPr/>
          <p:nvPr/>
        </p:nvSpPr>
        <p:spPr>
          <a:xfrm>
            <a:off x="571500" y="4850606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4"/>
          <p:cNvSpPr/>
          <p:nvPr/>
        </p:nvSpPr>
        <p:spPr>
          <a:xfrm>
            <a:off x="571500" y="4043363"/>
            <a:ext cx="28575" cy="8143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4"/>
          <p:cNvSpPr/>
          <p:nvPr/>
        </p:nvSpPr>
        <p:spPr>
          <a:xfrm>
            <a:off x="742950" y="4371082"/>
            <a:ext cx="138053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CIRCUIT BREAKER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4"/>
          <p:cNvSpPr/>
          <p:nvPr/>
        </p:nvSpPr>
        <p:spPr>
          <a:xfrm>
            <a:off x="2294930" y="4200525"/>
            <a:ext cx="61061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To protect the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&lt;500ms latency budget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, if the Mid Lane experiences 5 consecutive timeouts or errors, it enters a </a:t>
            </a: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30-second cooldown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 During cooldown, traffic falls back to the Fast Lane score (fail-open for latency, fail-closed for security based on policy).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4" name="Google Shape;10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288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25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 performs LLM semantic analysis, cross-channel correlation, and self-learning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5"/>
          <p:cNvSpPr/>
          <p:nvPr/>
        </p:nvSpPr>
        <p:spPr>
          <a:xfrm>
            <a:off x="571500" y="1365852"/>
            <a:ext cx="2476509" cy="453628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5"/>
          <p:cNvSpPr/>
          <p:nvPr/>
        </p:nvSpPr>
        <p:spPr>
          <a:xfrm>
            <a:off x="571500" y="1365852"/>
            <a:ext cx="2476509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5"/>
          <p:cNvSpPr/>
          <p:nvPr/>
        </p:nvSpPr>
        <p:spPr>
          <a:xfrm>
            <a:off x="3040866" y="1365852"/>
            <a:ext cx="7144" cy="4536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5"/>
          <p:cNvSpPr/>
          <p:nvPr/>
        </p:nvSpPr>
        <p:spPr>
          <a:xfrm>
            <a:off x="571500" y="1812336"/>
            <a:ext cx="247650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5"/>
          <p:cNvSpPr/>
          <p:nvPr/>
        </p:nvSpPr>
        <p:spPr>
          <a:xfrm>
            <a:off x="571500" y="1365852"/>
            <a:ext cx="7144" cy="4536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5"/>
          <p:cNvSpPr/>
          <p:nvPr/>
        </p:nvSpPr>
        <p:spPr>
          <a:xfrm>
            <a:off x="571500" y="1365852"/>
            <a:ext cx="247650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SEMANTIC ANALYSIS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5"/>
          <p:cNvSpPr/>
          <p:nvPr/>
        </p:nvSpPr>
        <p:spPr>
          <a:xfrm>
            <a:off x="571500" y="1926636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5"/>
          <p:cNvSpPr/>
          <p:nvPr/>
        </p:nvSpPr>
        <p:spPr>
          <a:xfrm>
            <a:off x="685800" y="2069511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Async Trigger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5"/>
          <p:cNvSpPr/>
          <p:nvPr/>
        </p:nvSpPr>
        <p:spPr>
          <a:xfrm>
            <a:off x="685800" y="2282037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&lt;5% of traffic routed for deep inspection without blocking inline flow.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5"/>
          <p:cNvSpPr/>
          <p:nvPr/>
        </p:nvSpPr>
        <p:spPr>
          <a:xfrm>
            <a:off x="1802597" y="2724950"/>
            <a:ext cx="14288" cy="1714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5"/>
          <p:cNvSpPr/>
          <p:nvPr/>
        </p:nvSpPr>
        <p:spPr>
          <a:xfrm>
            <a:off x="571500" y="2896400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5"/>
          <p:cNvSpPr/>
          <p:nvPr/>
        </p:nvSpPr>
        <p:spPr>
          <a:xfrm>
            <a:off x="685800" y="3039275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LLM Evaluation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5"/>
          <p:cNvSpPr/>
          <p:nvPr/>
        </p:nvSpPr>
        <p:spPr>
          <a:xfrm>
            <a:off x="685800" y="3251802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Analyzes </a:t>
            </a:r>
            <a:r>
              <a:rPr b="1" i="0" lang="en-US" sz="73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meaning and intent</a:t>
            </a: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(e.g., M&amp;A plans) rather than just regex patterns.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5"/>
          <p:cNvSpPr/>
          <p:nvPr/>
        </p:nvSpPr>
        <p:spPr>
          <a:xfrm>
            <a:off x="1802597" y="3694714"/>
            <a:ext cx="14288" cy="1714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5"/>
          <p:cNvSpPr/>
          <p:nvPr/>
        </p:nvSpPr>
        <p:spPr>
          <a:xfrm>
            <a:off x="571500" y="3866164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5"/>
          <p:cNvSpPr/>
          <p:nvPr/>
        </p:nvSpPr>
        <p:spPr>
          <a:xfrm>
            <a:off x="685800" y="4009039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GenAI RCA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5"/>
          <p:cNvSpPr/>
          <p:nvPr/>
        </p:nvSpPr>
        <p:spPr>
          <a:xfrm>
            <a:off x="685800" y="4221566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Generates human-readable Root Cause Analysis narratives for security analysts.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5"/>
          <p:cNvSpPr/>
          <p:nvPr/>
        </p:nvSpPr>
        <p:spPr>
          <a:xfrm>
            <a:off x="3333759" y="1365852"/>
            <a:ext cx="2476509" cy="453628"/>
          </a:xfrm>
          <a:prstGeom prst="rect">
            <a:avLst/>
          </a:prstGeom>
          <a:solidFill>
            <a:srgbClr val="00BFA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5"/>
          <p:cNvSpPr/>
          <p:nvPr/>
        </p:nvSpPr>
        <p:spPr>
          <a:xfrm>
            <a:off x="3333759" y="1365852"/>
            <a:ext cx="2476509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5"/>
          <p:cNvSpPr/>
          <p:nvPr/>
        </p:nvSpPr>
        <p:spPr>
          <a:xfrm>
            <a:off x="5803125" y="1365852"/>
            <a:ext cx="7144" cy="4536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5"/>
          <p:cNvSpPr/>
          <p:nvPr/>
        </p:nvSpPr>
        <p:spPr>
          <a:xfrm>
            <a:off x="3333759" y="1812336"/>
            <a:ext cx="247650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5"/>
          <p:cNvSpPr/>
          <p:nvPr/>
        </p:nvSpPr>
        <p:spPr>
          <a:xfrm>
            <a:off x="3333759" y="1365852"/>
            <a:ext cx="7144" cy="4536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5"/>
          <p:cNvSpPr/>
          <p:nvPr/>
        </p:nvSpPr>
        <p:spPr>
          <a:xfrm>
            <a:off x="3333759" y="1365852"/>
            <a:ext cx="247650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CROSS-CHANNEL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5"/>
          <p:cNvSpPr/>
          <p:nvPr/>
        </p:nvSpPr>
        <p:spPr>
          <a:xfrm>
            <a:off x="3333759" y="1926636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5"/>
          <p:cNvSpPr/>
          <p:nvPr/>
        </p:nvSpPr>
        <p:spPr>
          <a:xfrm>
            <a:off x="3448059" y="2069511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Audit Aggregation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5"/>
          <p:cNvSpPr/>
          <p:nvPr/>
        </p:nvSpPr>
        <p:spPr>
          <a:xfrm>
            <a:off x="3448059" y="2282037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ClickHouse aggregates events across Email, Web, Endpoint, and API sidecars.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5"/>
          <p:cNvSpPr/>
          <p:nvPr/>
        </p:nvSpPr>
        <p:spPr>
          <a:xfrm>
            <a:off x="4564856" y="2724950"/>
            <a:ext cx="14288" cy="1714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5"/>
          <p:cNvSpPr/>
          <p:nvPr/>
        </p:nvSpPr>
        <p:spPr>
          <a:xfrm>
            <a:off x="3333759" y="2896400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5"/>
          <p:cNvSpPr/>
          <p:nvPr/>
        </p:nvSpPr>
        <p:spPr>
          <a:xfrm>
            <a:off x="3448059" y="3039275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Behavioral Correlation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5"/>
          <p:cNvSpPr/>
          <p:nvPr/>
        </p:nvSpPr>
        <p:spPr>
          <a:xfrm>
            <a:off x="3448059" y="3251802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Detects multi-vector evasion (e.g., blocked on email → retries via web upload).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5"/>
          <p:cNvSpPr/>
          <p:nvPr/>
        </p:nvSpPr>
        <p:spPr>
          <a:xfrm>
            <a:off x="4564856" y="3694714"/>
            <a:ext cx="14288" cy="1714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5"/>
          <p:cNvSpPr/>
          <p:nvPr/>
        </p:nvSpPr>
        <p:spPr>
          <a:xfrm>
            <a:off x="3333759" y="3866164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5"/>
          <p:cNvSpPr/>
          <p:nvPr/>
        </p:nvSpPr>
        <p:spPr>
          <a:xfrm>
            <a:off x="3448059" y="4009039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Global Risk Update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5"/>
          <p:cNvSpPr/>
          <p:nvPr/>
        </p:nvSpPr>
        <p:spPr>
          <a:xfrm>
            <a:off x="3448059" y="4221566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Elevates user/device risk score, triggering stricter thresholds across all channels.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5"/>
          <p:cNvSpPr/>
          <p:nvPr/>
        </p:nvSpPr>
        <p:spPr>
          <a:xfrm>
            <a:off x="6096019" y="1365852"/>
            <a:ext cx="2476509" cy="453628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5"/>
          <p:cNvSpPr/>
          <p:nvPr/>
        </p:nvSpPr>
        <p:spPr>
          <a:xfrm>
            <a:off x="6096019" y="1365852"/>
            <a:ext cx="2476509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5"/>
          <p:cNvSpPr/>
          <p:nvPr/>
        </p:nvSpPr>
        <p:spPr>
          <a:xfrm>
            <a:off x="8565384" y="1365852"/>
            <a:ext cx="7144" cy="4536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5"/>
          <p:cNvSpPr/>
          <p:nvPr/>
        </p:nvSpPr>
        <p:spPr>
          <a:xfrm>
            <a:off x="6096019" y="1812336"/>
            <a:ext cx="247650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5"/>
          <p:cNvSpPr/>
          <p:nvPr/>
        </p:nvSpPr>
        <p:spPr>
          <a:xfrm>
            <a:off x="6096019" y="1365852"/>
            <a:ext cx="7144" cy="4536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5"/>
          <p:cNvSpPr/>
          <p:nvPr/>
        </p:nvSpPr>
        <p:spPr>
          <a:xfrm>
            <a:off x="6096019" y="1365852"/>
            <a:ext cx="247650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SELF-LEARNING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5"/>
          <p:cNvSpPr/>
          <p:nvPr/>
        </p:nvSpPr>
        <p:spPr>
          <a:xfrm>
            <a:off x="6096019" y="1926636"/>
            <a:ext cx="2476509" cy="8126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5"/>
          <p:cNvSpPr/>
          <p:nvPr/>
        </p:nvSpPr>
        <p:spPr>
          <a:xfrm>
            <a:off x="6210319" y="2069511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Pattern Discovery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5"/>
          <p:cNvSpPr/>
          <p:nvPr/>
        </p:nvSpPr>
        <p:spPr>
          <a:xfrm>
            <a:off x="6210319" y="2282037"/>
            <a:ext cx="224790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TF-IDF and analyst verdicts identify new sensitive data patterns automatically.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5"/>
          <p:cNvSpPr/>
          <p:nvPr/>
        </p:nvSpPr>
        <p:spPr>
          <a:xfrm>
            <a:off x="7327116" y="2724950"/>
            <a:ext cx="14288" cy="1714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5"/>
          <p:cNvSpPr/>
          <p:nvPr/>
        </p:nvSpPr>
        <p:spPr>
          <a:xfrm>
            <a:off x="6096019" y="2896400"/>
            <a:ext cx="2476509" cy="96262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5"/>
          <p:cNvSpPr/>
          <p:nvPr/>
        </p:nvSpPr>
        <p:spPr>
          <a:xfrm>
            <a:off x="6210319" y="3039275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Shadow Validation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5"/>
          <p:cNvSpPr/>
          <p:nvPr/>
        </p:nvSpPr>
        <p:spPr>
          <a:xfrm>
            <a:off x="6210319" y="3251802"/>
            <a:ext cx="224790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New rules run in </a:t>
            </a:r>
            <a:r>
              <a:rPr b="1" i="0" lang="en-US" sz="73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14-day shadow mode</a:t>
            </a: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against live traffic to measure false positives.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5"/>
          <p:cNvSpPr/>
          <p:nvPr/>
        </p:nvSpPr>
        <p:spPr>
          <a:xfrm>
            <a:off x="7327116" y="3844733"/>
            <a:ext cx="14288" cy="1714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5"/>
          <p:cNvSpPr/>
          <p:nvPr/>
        </p:nvSpPr>
        <p:spPr>
          <a:xfrm>
            <a:off x="6096019" y="4016183"/>
            <a:ext cx="2476509" cy="96262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5"/>
          <p:cNvSpPr/>
          <p:nvPr/>
        </p:nvSpPr>
        <p:spPr>
          <a:xfrm>
            <a:off x="6210319" y="4159058"/>
            <a:ext cx="2247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Policy Promotion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5"/>
          <p:cNvSpPr/>
          <p:nvPr/>
        </p:nvSpPr>
        <p:spPr>
          <a:xfrm>
            <a:off x="6210319" y="4371584"/>
            <a:ext cx="224790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Inter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Rules exceeding 85% precision are promoted to the Fast Lane OPA policy via GitOps.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2" name="Google Shape;10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26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Open-source stack with no vendor lock-in — models sized for each lane's latency budget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6"/>
          <p:cNvSpPr/>
          <p:nvPr/>
        </p:nvSpPr>
        <p:spPr>
          <a:xfrm>
            <a:off x="571500" y="1365852"/>
            <a:ext cx="1893094" cy="279181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6"/>
          <p:cNvSpPr/>
          <p:nvPr/>
        </p:nvSpPr>
        <p:spPr>
          <a:xfrm>
            <a:off x="571500" y="1365852"/>
            <a:ext cx="1893094" cy="2857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6"/>
          <p:cNvSpPr/>
          <p:nvPr/>
        </p:nvSpPr>
        <p:spPr>
          <a:xfrm>
            <a:off x="2457450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6"/>
          <p:cNvSpPr/>
          <p:nvPr/>
        </p:nvSpPr>
        <p:spPr>
          <a:xfrm>
            <a:off x="571500" y="4150519"/>
            <a:ext cx="189309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6"/>
          <p:cNvSpPr/>
          <p:nvPr/>
        </p:nvSpPr>
        <p:spPr>
          <a:xfrm>
            <a:off x="571500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6"/>
          <p:cNvSpPr/>
          <p:nvPr/>
        </p:nvSpPr>
        <p:spPr>
          <a:xfrm>
            <a:off x="657225" y="1451577"/>
            <a:ext cx="171092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Infrastructure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6"/>
          <p:cNvSpPr/>
          <p:nvPr/>
        </p:nvSpPr>
        <p:spPr>
          <a:xfrm>
            <a:off x="657225" y="1669461"/>
            <a:ext cx="171092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State &amp; Messaging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6"/>
          <p:cNvSpPr/>
          <p:nvPr/>
        </p:nvSpPr>
        <p:spPr>
          <a:xfrm>
            <a:off x="657225" y="1965927"/>
            <a:ext cx="42863" cy="4286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6"/>
          <p:cNvSpPr/>
          <p:nvPr/>
        </p:nvSpPr>
        <p:spPr>
          <a:xfrm>
            <a:off x="657225" y="1923064"/>
            <a:ext cx="171092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NATS JetStream: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High-throughput event bus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6"/>
          <p:cNvSpPr/>
          <p:nvPr/>
        </p:nvSpPr>
        <p:spPr>
          <a:xfrm>
            <a:off x="657225" y="2343094"/>
            <a:ext cx="42863" cy="4286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6"/>
          <p:cNvSpPr/>
          <p:nvPr/>
        </p:nvSpPr>
        <p:spPr>
          <a:xfrm>
            <a:off x="657225" y="2300232"/>
            <a:ext cx="171092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ClickHouse: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Columnar audit &amp; analytics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6"/>
          <p:cNvSpPr/>
          <p:nvPr/>
        </p:nvSpPr>
        <p:spPr>
          <a:xfrm>
            <a:off x="657225" y="2720262"/>
            <a:ext cx="42863" cy="4286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6"/>
          <p:cNvSpPr/>
          <p:nvPr/>
        </p:nvSpPr>
        <p:spPr>
          <a:xfrm>
            <a:off x="657225" y="2677399"/>
            <a:ext cx="171092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PostgreSQL: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Relational state &amp; config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6"/>
          <p:cNvSpPr/>
          <p:nvPr/>
        </p:nvSpPr>
        <p:spPr>
          <a:xfrm>
            <a:off x="657225" y="3097430"/>
            <a:ext cx="42863" cy="4286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6"/>
          <p:cNvSpPr/>
          <p:nvPr/>
        </p:nvSpPr>
        <p:spPr>
          <a:xfrm>
            <a:off x="657225" y="3054567"/>
            <a:ext cx="171092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Redis: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Distributed caching &amp; rate limiting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6"/>
          <p:cNvSpPr/>
          <p:nvPr/>
        </p:nvSpPr>
        <p:spPr>
          <a:xfrm>
            <a:off x="657225" y="3474597"/>
            <a:ext cx="42863" cy="4286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6"/>
          <p:cNvSpPr/>
          <p:nvPr/>
        </p:nvSpPr>
        <p:spPr>
          <a:xfrm>
            <a:off x="657225" y="3431735"/>
            <a:ext cx="171092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Prometheus: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Metrics &amp; observability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6"/>
          <p:cNvSpPr/>
          <p:nvPr/>
        </p:nvSpPr>
        <p:spPr>
          <a:xfrm>
            <a:off x="2596753" y="1365852"/>
            <a:ext cx="1896666" cy="279181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6"/>
          <p:cNvSpPr/>
          <p:nvPr/>
        </p:nvSpPr>
        <p:spPr>
          <a:xfrm>
            <a:off x="2596753" y="1365852"/>
            <a:ext cx="1896666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6"/>
          <p:cNvSpPr/>
          <p:nvPr/>
        </p:nvSpPr>
        <p:spPr>
          <a:xfrm>
            <a:off x="4486275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6"/>
          <p:cNvSpPr/>
          <p:nvPr/>
        </p:nvSpPr>
        <p:spPr>
          <a:xfrm>
            <a:off x="2596753" y="4150519"/>
            <a:ext cx="189666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6"/>
          <p:cNvSpPr/>
          <p:nvPr/>
        </p:nvSpPr>
        <p:spPr>
          <a:xfrm>
            <a:off x="2596753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6"/>
          <p:cNvSpPr/>
          <p:nvPr/>
        </p:nvSpPr>
        <p:spPr>
          <a:xfrm>
            <a:off x="2686050" y="1451577"/>
            <a:ext cx="171450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6"/>
          <p:cNvSpPr/>
          <p:nvPr/>
        </p:nvSpPr>
        <p:spPr>
          <a:xfrm>
            <a:off x="2686050" y="1669461"/>
            <a:ext cx="1714500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Go | &lt;50ms Budget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6"/>
          <p:cNvSpPr/>
          <p:nvPr/>
        </p:nvSpPr>
        <p:spPr>
          <a:xfrm>
            <a:off x="2686050" y="1965927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6"/>
          <p:cNvSpPr/>
          <p:nvPr/>
        </p:nvSpPr>
        <p:spPr>
          <a:xfrm>
            <a:off x="2686050" y="1923064"/>
            <a:ext cx="1714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Pure Go: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Zero-dependency binary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6"/>
          <p:cNvSpPr/>
          <p:nvPr/>
        </p:nvSpPr>
        <p:spPr>
          <a:xfrm>
            <a:off x="2686050" y="2343094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6"/>
          <p:cNvSpPr/>
          <p:nvPr/>
        </p:nvSpPr>
        <p:spPr>
          <a:xfrm>
            <a:off x="2686050" y="2300232"/>
            <a:ext cx="1714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Aho-Corasick: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O(n) exact string matching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6"/>
          <p:cNvSpPr/>
          <p:nvPr/>
        </p:nvSpPr>
        <p:spPr>
          <a:xfrm>
            <a:off x="2686050" y="2720262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6"/>
          <p:cNvSpPr/>
          <p:nvPr/>
        </p:nvSpPr>
        <p:spPr>
          <a:xfrm>
            <a:off x="2686050" y="2677399"/>
            <a:ext cx="1714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RE2: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Linear time regex engine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6"/>
          <p:cNvSpPr/>
          <p:nvPr/>
        </p:nvSpPr>
        <p:spPr>
          <a:xfrm>
            <a:off x="2686050" y="3097430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6"/>
          <p:cNvSpPr/>
          <p:nvPr/>
        </p:nvSpPr>
        <p:spPr>
          <a:xfrm>
            <a:off x="2686050" y="3054567"/>
            <a:ext cx="1714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 Policy Agent (OPA):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Rego policy evaluation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6"/>
          <p:cNvSpPr/>
          <p:nvPr/>
        </p:nvSpPr>
        <p:spPr>
          <a:xfrm>
            <a:off x="2686050" y="3474597"/>
            <a:ext cx="42863" cy="4286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6"/>
          <p:cNvSpPr/>
          <p:nvPr/>
        </p:nvSpPr>
        <p:spPr>
          <a:xfrm>
            <a:off x="2686050" y="3431735"/>
            <a:ext cx="17145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Go-ole/Zip: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Native document extraction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6"/>
          <p:cNvSpPr/>
          <p:nvPr/>
        </p:nvSpPr>
        <p:spPr>
          <a:xfrm>
            <a:off x="4629150" y="1365852"/>
            <a:ext cx="1900238" cy="279181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6"/>
          <p:cNvSpPr/>
          <p:nvPr/>
        </p:nvSpPr>
        <p:spPr>
          <a:xfrm>
            <a:off x="4629150" y="1365852"/>
            <a:ext cx="1900238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6"/>
          <p:cNvSpPr/>
          <p:nvPr/>
        </p:nvSpPr>
        <p:spPr>
          <a:xfrm>
            <a:off x="6522244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6"/>
          <p:cNvSpPr/>
          <p:nvPr/>
        </p:nvSpPr>
        <p:spPr>
          <a:xfrm>
            <a:off x="4629150" y="4150519"/>
            <a:ext cx="190023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6"/>
          <p:cNvSpPr/>
          <p:nvPr/>
        </p:nvSpPr>
        <p:spPr>
          <a:xfrm>
            <a:off x="4629150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6"/>
          <p:cNvSpPr/>
          <p:nvPr/>
        </p:nvSpPr>
        <p:spPr>
          <a:xfrm>
            <a:off x="4722019" y="1451577"/>
            <a:ext cx="1718072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6"/>
          <p:cNvSpPr/>
          <p:nvPr/>
        </p:nvSpPr>
        <p:spPr>
          <a:xfrm>
            <a:off x="4722019" y="1669461"/>
            <a:ext cx="1718072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Python | &lt;500ms Budget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6"/>
          <p:cNvSpPr/>
          <p:nvPr/>
        </p:nvSpPr>
        <p:spPr>
          <a:xfrm>
            <a:off x="4722019" y="1965927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6"/>
          <p:cNvSpPr/>
          <p:nvPr/>
        </p:nvSpPr>
        <p:spPr>
          <a:xfrm>
            <a:off x="4722019" y="1923064"/>
            <a:ext cx="1718072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FastAPI: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High-performance async API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6"/>
          <p:cNvSpPr/>
          <p:nvPr/>
        </p:nvSpPr>
        <p:spPr>
          <a:xfrm>
            <a:off x="4722019" y="2343094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6"/>
          <p:cNvSpPr/>
          <p:nvPr/>
        </p:nvSpPr>
        <p:spPr>
          <a:xfrm>
            <a:off x="4722019" y="2300232"/>
            <a:ext cx="1718072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ModernBERT-base: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149M params, 8K context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6"/>
          <p:cNvSpPr/>
          <p:nvPr/>
        </p:nvSpPr>
        <p:spPr>
          <a:xfrm>
            <a:off x="4722019" y="2720262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6"/>
          <p:cNvSpPr/>
          <p:nvPr/>
        </p:nvSpPr>
        <p:spPr>
          <a:xfrm>
            <a:off x="4722019" y="2677399"/>
            <a:ext cx="1718072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DeBERTa-v3-base: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86M params, classification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6"/>
          <p:cNvSpPr/>
          <p:nvPr/>
        </p:nvSpPr>
        <p:spPr>
          <a:xfrm>
            <a:off x="4722019" y="3097430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6"/>
          <p:cNvSpPr/>
          <p:nvPr/>
        </p:nvSpPr>
        <p:spPr>
          <a:xfrm>
            <a:off x="4722019" y="3054567"/>
            <a:ext cx="1718072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BGE-small-en-v1.5: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33.4M params, embeddings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6"/>
          <p:cNvSpPr/>
          <p:nvPr/>
        </p:nvSpPr>
        <p:spPr>
          <a:xfrm>
            <a:off x="4722019" y="3474597"/>
            <a:ext cx="42863" cy="42863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6"/>
          <p:cNvSpPr/>
          <p:nvPr/>
        </p:nvSpPr>
        <p:spPr>
          <a:xfrm>
            <a:off x="4722019" y="3431735"/>
            <a:ext cx="1718072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ONNX Runtime: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Optimized CPU/GPU inference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6"/>
          <p:cNvSpPr/>
          <p:nvPr/>
        </p:nvSpPr>
        <p:spPr>
          <a:xfrm>
            <a:off x="6668691" y="1365852"/>
            <a:ext cx="1903809" cy="279181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6"/>
          <p:cNvSpPr/>
          <p:nvPr/>
        </p:nvSpPr>
        <p:spPr>
          <a:xfrm>
            <a:off x="6668691" y="1365852"/>
            <a:ext cx="1903809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6"/>
          <p:cNvSpPr/>
          <p:nvPr/>
        </p:nvSpPr>
        <p:spPr>
          <a:xfrm>
            <a:off x="8565356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6"/>
          <p:cNvSpPr/>
          <p:nvPr/>
        </p:nvSpPr>
        <p:spPr>
          <a:xfrm>
            <a:off x="6668691" y="4150519"/>
            <a:ext cx="190380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6"/>
          <p:cNvSpPr/>
          <p:nvPr/>
        </p:nvSpPr>
        <p:spPr>
          <a:xfrm>
            <a:off x="6668691" y="1365852"/>
            <a:ext cx="7144" cy="279181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6"/>
          <p:cNvSpPr/>
          <p:nvPr/>
        </p:nvSpPr>
        <p:spPr>
          <a:xfrm>
            <a:off x="6765131" y="1451577"/>
            <a:ext cx="172164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6"/>
          <p:cNvSpPr/>
          <p:nvPr/>
        </p:nvSpPr>
        <p:spPr>
          <a:xfrm>
            <a:off x="6765131" y="1669461"/>
            <a:ext cx="1721644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Python | Async (sec-min)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6"/>
          <p:cNvSpPr/>
          <p:nvPr/>
        </p:nvSpPr>
        <p:spPr>
          <a:xfrm>
            <a:off x="6765131" y="1965927"/>
            <a:ext cx="42863" cy="4286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6"/>
          <p:cNvSpPr/>
          <p:nvPr/>
        </p:nvSpPr>
        <p:spPr>
          <a:xfrm>
            <a:off x="6765131" y="1923064"/>
            <a:ext cx="1721644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Llama 3 8B / Mixtral: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Local VPC deployment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6"/>
          <p:cNvSpPr/>
          <p:nvPr/>
        </p:nvSpPr>
        <p:spPr>
          <a:xfrm>
            <a:off x="6765131" y="2343094"/>
            <a:ext cx="42863" cy="4286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6"/>
          <p:cNvSpPr/>
          <p:nvPr/>
        </p:nvSpPr>
        <p:spPr>
          <a:xfrm>
            <a:off x="6765131" y="2300232"/>
            <a:ext cx="1721644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LangChain: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Orchestration &amp; tool use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6"/>
          <p:cNvSpPr/>
          <p:nvPr/>
        </p:nvSpPr>
        <p:spPr>
          <a:xfrm>
            <a:off x="6765131" y="2720262"/>
            <a:ext cx="42863" cy="4286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6"/>
          <p:cNvSpPr/>
          <p:nvPr/>
        </p:nvSpPr>
        <p:spPr>
          <a:xfrm>
            <a:off x="6765131" y="2677399"/>
            <a:ext cx="1721644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TF-IDF / Scikit-learn: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Pattern discovery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6"/>
          <p:cNvSpPr/>
          <p:nvPr/>
        </p:nvSpPr>
        <p:spPr>
          <a:xfrm>
            <a:off x="6765131" y="3097430"/>
            <a:ext cx="42863" cy="4286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6"/>
          <p:cNvSpPr/>
          <p:nvPr/>
        </p:nvSpPr>
        <p:spPr>
          <a:xfrm>
            <a:off x="6765131" y="3054567"/>
            <a:ext cx="1721644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vLLM / TGI: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High-throughput LLM serving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6"/>
          <p:cNvSpPr/>
          <p:nvPr/>
        </p:nvSpPr>
        <p:spPr>
          <a:xfrm>
            <a:off x="6765131" y="3474597"/>
            <a:ext cx="42863" cy="4286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6"/>
          <p:cNvSpPr/>
          <p:nvPr/>
        </p:nvSpPr>
        <p:spPr>
          <a:xfrm>
            <a:off x="6765131" y="3431735"/>
            <a:ext cx="1721644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Celery: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Distributed task queue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6"/>
          <p:cNvSpPr/>
          <p:nvPr/>
        </p:nvSpPr>
        <p:spPr>
          <a:xfrm>
            <a:off x="571500" y="4300538"/>
            <a:ext cx="8001000" cy="700088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952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6"/>
          <p:cNvSpPr/>
          <p:nvPr/>
        </p:nvSpPr>
        <p:spPr>
          <a:xfrm>
            <a:off x="714375" y="4571107"/>
            <a:ext cx="2725341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04075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ARCHITECTURAL INDEPENDENCE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6"/>
          <p:cNvSpPr/>
          <p:nvPr/>
        </p:nvSpPr>
        <p:spPr>
          <a:xfrm>
            <a:off x="3611166" y="4400550"/>
            <a:ext cx="48184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By leveraging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best-in-class open-source components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, Sentinel avoids proprietary vendor lock-in. Models are strictly sized to their lane's latency budget, ensuring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 never compromises business velocity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0" name="Google Shape;1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27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NVIDIA L4 is the recommended accelerator — 72W, &lt;50ms, widely available at ~$2.5-3K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7"/>
          <p:cNvSpPr/>
          <p:nvPr/>
        </p:nvSpPr>
        <p:spPr>
          <a:xfrm>
            <a:off x="585788" y="1226548"/>
            <a:ext cx="1194792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7"/>
          <p:cNvSpPr/>
          <p:nvPr/>
        </p:nvSpPr>
        <p:spPr>
          <a:xfrm>
            <a:off x="1773436" y="122654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7"/>
          <p:cNvSpPr/>
          <p:nvPr/>
        </p:nvSpPr>
        <p:spPr>
          <a:xfrm>
            <a:off x="585788" y="1683748"/>
            <a:ext cx="1194792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7"/>
          <p:cNvSpPr/>
          <p:nvPr/>
        </p:nvSpPr>
        <p:spPr>
          <a:xfrm>
            <a:off x="585788" y="1226548"/>
            <a:ext cx="1194792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ACCELERATOR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7"/>
          <p:cNvSpPr/>
          <p:nvPr/>
        </p:nvSpPr>
        <p:spPr>
          <a:xfrm>
            <a:off x="1777008" y="1226548"/>
            <a:ext cx="546329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7"/>
          <p:cNvSpPr/>
          <p:nvPr/>
        </p:nvSpPr>
        <p:spPr>
          <a:xfrm>
            <a:off x="2316194" y="122654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7"/>
          <p:cNvSpPr/>
          <p:nvPr/>
        </p:nvSpPr>
        <p:spPr>
          <a:xfrm>
            <a:off x="1777008" y="1683748"/>
            <a:ext cx="54632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7"/>
          <p:cNvSpPr/>
          <p:nvPr/>
        </p:nvSpPr>
        <p:spPr>
          <a:xfrm>
            <a:off x="1777008" y="1226548"/>
            <a:ext cx="546329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INT8 TOPS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7"/>
          <p:cNvSpPr/>
          <p:nvPr/>
        </p:nvSpPr>
        <p:spPr>
          <a:xfrm>
            <a:off x="2323840" y="1226548"/>
            <a:ext cx="801886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7"/>
          <p:cNvSpPr/>
          <p:nvPr/>
        </p:nvSpPr>
        <p:spPr>
          <a:xfrm>
            <a:off x="3118582" y="122654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7"/>
          <p:cNvSpPr/>
          <p:nvPr/>
        </p:nvSpPr>
        <p:spPr>
          <a:xfrm>
            <a:off x="2323840" y="1683748"/>
            <a:ext cx="80188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7"/>
          <p:cNvSpPr/>
          <p:nvPr/>
        </p:nvSpPr>
        <p:spPr>
          <a:xfrm>
            <a:off x="2323840" y="1226548"/>
            <a:ext cx="801886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MEMORY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7"/>
          <p:cNvSpPr/>
          <p:nvPr/>
        </p:nvSpPr>
        <p:spPr>
          <a:xfrm>
            <a:off x="3122684" y="1226548"/>
            <a:ext cx="703659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7"/>
          <p:cNvSpPr/>
          <p:nvPr/>
        </p:nvSpPr>
        <p:spPr>
          <a:xfrm>
            <a:off x="3819199" y="122654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7"/>
          <p:cNvSpPr/>
          <p:nvPr/>
        </p:nvSpPr>
        <p:spPr>
          <a:xfrm>
            <a:off x="3122684" y="1683748"/>
            <a:ext cx="70365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7"/>
          <p:cNvSpPr/>
          <p:nvPr/>
        </p:nvSpPr>
        <p:spPr>
          <a:xfrm>
            <a:off x="3122684" y="1226548"/>
            <a:ext cx="703659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POWER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7"/>
          <p:cNvSpPr/>
          <p:nvPr/>
        </p:nvSpPr>
        <p:spPr>
          <a:xfrm>
            <a:off x="3826343" y="1226548"/>
            <a:ext cx="941189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7"/>
          <p:cNvSpPr/>
          <p:nvPr/>
        </p:nvSpPr>
        <p:spPr>
          <a:xfrm>
            <a:off x="4760389" y="122654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7"/>
          <p:cNvSpPr/>
          <p:nvPr/>
        </p:nvSpPr>
        <p:spPr>
          <a:xfrm>
            <a:off x="3826343" y="1683748"/>
            <a:ext cx="94118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7"/>
          <p:cNvSpPr/>
          <p:nvPr/>
        </p:nvSpPr>
        <p:spPr>
          <a:xfrm>
            <a:off x="3826343" y="1226548"/>
            <a:ext cx="941189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LATENCY (BERT)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7"/>
          <p:cNvSpPr/>
          <p:nvPr/>
        </p:nvSpPr>
        <p:spPr>
          <a:xfrm>
            <a:off x="4767532" y="1226548"/>
            <a:ext cx="688200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7"/>
          <p:cNvSpPr/>
          <p:nvPr/>
        </p:nvSpPr>
        <p:spPr>
          <a:xfrm>
            <a:off x="5448588" y="122654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7"/>
          <p:cNvSpPr/>
          <p:nvPr/>
        </p:nvSpPr>
        <p:spPr>
          <a:xfrm>
            <a:off x="4767532" y="1683748"/>
            <a:ext cx="6882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7"/>
          <p:cNvSpPr/>
          <p:nvPr/>
        </p:nvSpPr>
        <p:spPr>
          <a:xfrm>
            <a:off x="4767532" y="1226548"/>
            <a:ext cx="6882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COST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7"/>
          <p:cNvSpPr/>
          <p:nvPr/>
        </p:nvSpPr>
        <p:spPr>
          <a:xfrm>
            <a:off x="5455732" y="1226548"/>
            <a:ext cx="961839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7"/>
          <p:cNvSpPr/>
          <p:nvPr/>
        </p:nvSpPr>
        <p:spPr>
          <a:xfrm>
            <a:off x="5455732" y="1683748"/>
            <a:ext cx="96183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7"/>
          <p:cNvSpPr/>
          <p:nvPr/>
        </p:nvSpPr>
        <p:spPr>
          <a:xfrm>
            <a:off x="5455732" y="1226548"/>
            <a:ext cx="961839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7"/>
          <p:cNvSpPr/>
          <p:nvPr/>
        </p:nvSpPr>
        <p:spPr>
          <a:xfrm>
            <a:off x="585788" y="1690892"/>
            <a:ext cx="1191220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7"/>
          <p:cNvSpPr/>
          <p:nvPr/>
        </p:nvSpPr>
        <p:spPr>
          <a:xfrm>
            <a:off x="585788" y="1690892"/>
            <a:ext cx="1191220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7"/>
          <p:cNvSpPr/>
          <p:nvPr/>
        </p:nvSpPr>
        <p:spPr>
          <a:xfrm>
            <a:off x="1769864" y="1690892"/>
            <a:ext cx="7144" cy="4486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7"/>
          <p:cNvSpPr/>
          <p:nvPr/>
        </p:nvSpPr>
        <p:spPr>
          <a:xfrm>
            <a:off x="585788" y="2125210"/>
            <a:ext cx="1191220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7"/>
          <p:cNvSpPr/>
          <p:nvPr/>
        </p:nvSpPr>
        <p:spPr>
          <a:xfrm>
            <a:off x="585788" y="1690892"/>
            <a:ext cx="28575" cy="44860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7"/>
          <p:cNvSpPr/>
          <p:nvPr/>
        </p:nvSpPr>
        <p:spPr>
          <a:xfrm>
            <a:off x="585788" y="1690892"/>
            <a:ext cx="1191220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NVIDIA L4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7"/>
          <p:cNvSpPr/>
          <p:nvPr/>
        </p:nvSpPr>
        <p:spPr>
          <a:xfrm>
            <a:off x="1766292" y="1690892"/>
            <a:ext cx="549008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7"/>
          <p:cNvSpPr/>
          <p:nvPr/>
        </p:nvSpPr>
        <p:spPr>
          <a:xfrm>
            <a:off x="1766292" y="1690892"/>
            <a:ext cx="549008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7"/>
          <p:cNvSpPr/>
          <p:nvPr/>
        </p:nvSpPr>
        <p:spPr>
          <a:xfrm>
            <a:off x="2308157" y="1690892"/>
            <a:ext cx="7144" cy="4486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27"/>
          <p:cNvSpPr/>
          <p:nvPr/>
        </p:nvSpPr>
        <p:spPr>
          <a:xfrm>
            <a:off x="1766292" y="2125210"/>
            <a:ext cx="549008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7"/>
          <p:cNvSpPr/>
          <p:nvPr/>
        </p:nvSpPr>
        <p:spPr>
          <a:xfrm>
            <a:off x="1766292" y="1690892"/>
            <a:ext cx="549008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485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7"/>
          <p:cNvSpPr/>
          <p:nvPr/>
        </p:nvSpPr>
        <p:spPr>
          <a:xfrm>
            <a:off x="2315301" y="1683748"/>
            <a:ext cx="798314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7"/>
          <p:cNvSpPr/>
          <p:nvPr/>
        </p:nvSpPr>
        <p:spPr>
          <a:xfrm>
            <a:off x="2315301" y="1683748"/>
            <a:ext cx="798314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27"/>
          <p:cNvSpPr/>
          <p:nvPr/>
        </p:nvSpPr>
        <p:spPr>
          <a:xfrm>
            <a:off x="3106471" y="1683748"/>
            <a:ext cx="7144" cy="4486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7"/>
          <p:cNvSpPr/>
          <p:nvPr/>
        </p:nvSpPr>
        <p:spPr>
          <a:xfrm>
            <a:off x="2315301" y="2118066"/>
            <a:ext cx="798314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7"/>
          <p:cNvSpPr/>
          <p:nvPr/>
        </p:nvSpPr>
        <p:spPr>
          <a:xfrm>
            <a:off x="2315301" y="1683748"/>
            <a:ext cx="798314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24GB GDDR6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7"/>
          <p:cNvSpPr/>
          <p:nvPr/>
        </p:nvSpPr>
        <p:spPr>
          <a:xfrm>
            <a:off x="3113615" y="1683748"/>
            <a:ext cx="703659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27"/>
          <p:cNvSpPr/>
          <p:nvPr/>
        </p:nvSpPr>
        <p:spPr>
          <a:xfrm>
            <a:off x="3113615" y="1683748"/>
            <a:ext cx="703659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7"/>
          <p:cNvSpPr/>
          <p:nvPr/>
        </p:nvSpPr>
        <p:spPr>
          <a:xfrm>
            <a:off x="3810130" y="1683748"/>
            <a:ext cx="7144" cy="4486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7"/>
          <p:cNvSpPr/>
          <p:nvPr/>
        </p:nvSpPr>
        <p:spPr>
          <a:xfrm>
            <a:off x="3113615" y="2118066"/>
            <a:ext cx="703659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7"/>
          <p:cNvSpPr/>
          <p:nvPr/>
        </p:nvSpPr>
        <p:spPr>
          <a:xfrm>
            <a:off x="3113615" y="1683748"/>
            <a:ext cx="703659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72W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7"/>
          <p:cNvSpPr/>
          <p:nvPr/>
        </p:nvSpPr>
        <p:spPr>
          <a:xfrm>
            <a:off x="3817274" y="1683748"/>
            <a:ext cx="945570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7"/>
          <p:cNvSpPr/>
          <p:nvPr/>
        </p:nvSpPr>
        <p:spPr>
          <a:xfrm>
            <a:off x="3817274" y="1683748"/>
            <a:ext cx="945570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7"/>
          <p:cNvSpPr/>
          <p:nvPr/>
        </p:nvSpPr>
        <p:spPr>
          <a:xfrm>
            <a:off x="4755700" y="1683748"/>
            <a:ext cx="7144" cy="4486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7"/>
          <p:cNvSpPr/>
          <p:nvPr/>
        </p:nvSpPr>
        <p:spPr>
          <a:xfrm>
            <a:off x="3817274" y="2118066"/>
            <a:ext cx="945570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7"/>
          <p:cNvSpPr/>
          <p:nvPr/>
        </p:nvSpPr>
        <p:spPr>
          <a:xfrm>
            <a:off x="3817274" y="1683748"/>
            <a:ext cx="945570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~4-8ms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7"/>
          <p:cNvSpPr/>
          <p:nvPr/>
        </p:nvSpPr>
        <p:spPr>
          <a:xfrm>
            <a:off x="4762844" y="1683748"/>
            <a:ext cx="689177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7"/>
          <p:cNvSpPr/>
          <p:nvPr/>
        </p:nvSpPr>
        <p:spPr>
          <a:xfrm>
            <a:off x="4762844" y="1683748"/>
            <a:ext cx="689177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7"/>
          <p:cNvSpPr/>
          <p:nvPr/>
        </p:nvSpPr>
        <p:spPr>
          <a:xfrm>
            <a:off x="5444877" y="1683748"/>
            <a:ext cx="7144" cy="44860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7"/>
          <p:cNvSpPr/>
          <p:nvPr/>
        </p:nvSpPr>
        <p:spPr>
          <a:xfrm>
            <a:off x="4762844" y="2118066"/>
            <a:ext cx="689177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7"/>
          <p:cNvSpPr/>
          <p:nvPr/>
        </p:nvSpPr>
        <p:spPr>
          <a:xfrm>
            <a:off x="4762844" y="1683748"/>
            <a:ext cx="689177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~$2.5-3K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7"/>
          <p:cNvSpPr/>
          <p:nvPr/>
        </p:nvSpPr>
        <p:spPr>
          <a:xfrm>
            <a:off x="5452021" y="1683748"/>
            <a:ext cx="965550" cy="448605"/>
          </a:xfrm>
          <a:prstGeom prst="rect">
            <a:avLst/>
          </a:prstGeom>
          <a:solidFill>
            <a:srgbClr val="2962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7"/>
          <p:cNvSpPr/>
          <p:nvPr/>
        </p:nvSpPr>
        <p:spPr>
          <a:xfrm>
            <a:off x="5452021" y="1683748"/>
            <a:ext cx="965550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7"/>
          <p:cNvSpPr/>
          <p:nvPr/>
        </p:nvSpPr>
        <p:spPr>
          <a:xfrm>
            <a:off x="5452021" y="2118066"/>
            <a:ext cx="965550" cy="14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7"/>
          <p:cNvSpPr/>
          <p:nvPr/>
        </p:nvSpPr>
        <p:spPr>
          <a:xfrm>
            <a:off x="5452021" y="1683748"/>
            <a:ext cx="965550" cy="44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Widely available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7"/>
          <p:cNvSpPr/>
          <p:nvPr/>
        </p:nvSpPr>
        <p:spPr>
          <a:xfrm>
            <a:off x="575072" y="2118066"/>
            <a:ext cx="1191220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7"/>
          <p:cNvSpPr/>
          <p:nvPr/>
        </p:nvSpPr>
        <p:spPr>
          <a:xfrm>
            <a:off x="1759148" y="2118066"/>
            <a:ext cx="7144" cy="4378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7"/>
          <p:cNvSpPr/>
          <p:nvPr/>
        </p:nvSpPr>
        <p:spPr>
          <a:xfrm>
            <a:off x="575072" y="2548812"/>
            <a:ext cx="119122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7"/>
          <p:cNvSpPr/>
          <p:nvPr/>
        </p:nvSpPr>
        <p:spPr>
          <a:xfrm>
            <a:off x="575072" y="2118066"/>
            <a:ext cx="119122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NVIDIA T4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7"/>
          <p:cNvSpPr/>
          <p:nvPr/>
        </p:nvSpPr>
        <p:spPr>
          <a:xfrm>
            <a:off x="1766292" y="2118066"/>
            <a:ext cx="549008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7"/>
          <p:cNvSpPr/>
          <p:nvPr/>
        </p:nvSpPr>
        <p:spPr>
          <a:xfrm>
            <a:off x="2308157" y="2118066"/>
            <a:ext cx="7144" cy="4378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7"/>
          <p:cNvSpPr/>
          <p:nvPr/>
        </p:nvSpPr>
        <p:spPr>
          <a:xfrm>
            <a:off x="1766292" y="2548812"/>
            <a:ext cx="54900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7"/>
          <p:cNvSpPr/>
          <p:nvPr/>
        </p:nvSpPr>
        <p:spPr>
          <a:xfrm>
            <a:off x="1766292" y="2118066"/>
            <a:ext cx="549008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130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7"/>
          <p:cNvSpPr/>
          <p:nvPr/>
        </p:nvSpPr>
        <p:spPr>
          <a:xfrm>
            <a:off x="2315301" y="2118066"/>
            <a:ext cx="798314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7"/>
          <p:cNvSpPr/>
          <p:nvPr/>
        </p:nvSpPr>
        <p:spPr>
          <a:xfrm>
            <a:off x="3106471" y="2118066"/>
            <a:ext cx="7144" cy="4378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7"/>
          <p:cNvSpPr/>
          <p:nvPr/>
        </p:nvSpPr>
        <p:spPr>
          <a:xfrm>
            <a:off x="2315301" y="2548812"/>
            <a:ext cx="79831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7"/>
          <p:cNvSpPr/>
          <p:nvPr/>
        </p:nvSpPr>
        <p:spPr>
          <a:xfrm>
            <a:off x="2315301" y="2118066"/>
            <a:ext cx="798314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16GB GDDR6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7"/>
          <p:cNvSpPr/>
          <p:nvPr/>
        </p:nvSpPr>
        <p:spPr>
          <a:xfrm>
            <a:off x="3113615" y="2118066"/>
            <a:ext cx="703659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27"/>
          <p:cNvSpPr/>
          <p:nvPr/>
        </p:nvSpPr>
        <p:spPr>
          <a:xfrm>
            <a:off x="3810130" y="2118066"/>
            <a:ext cx="7144" cy="4378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7"/>
          <p:cNvSpPr/>
          <p:nvPr/>
        </p:nvSpPr>
        <p:spPr>
          <a:xfrm>
            <a:off x="3113615" y="2548812"/>
            <a:ext cx="70365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7"/>
          <p:cNvSpPr/>
          <p:nvPr/>
        </p:nvSpPr>
        <p:spPr>
          <a:xfrm>
            <a:off x="3113615" y="2118066"/>
            <a:ext cx="703659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70W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7"/>
          <p:cNvSpPr/>
          <p:nvPr/>
        </p:nvSpPr>
        <p:spPr>
          <a:xfrm>
            <a:off x="3817274" y="2118066"/>
            <a:ext cx="945570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7"/>
          <p:cNvSpPr/>
          <p:nvPr/>
        </p:nvSpPr>
        <p:spPr>
          <a:xfrm>
            <a:off x="4755700" y="2118066"/>
            <a:ext cx="7144" cy="4378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7"/>
          <p:cNvSpPr/>
          <p:nvPr/>
        </p:nvSpPr>
        <p:spPr>
          <a:xfrm>
            <a:off x="3817274" y="2548812"/>
            <a:ext cx="94557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7"/>
          <p:cNvSpPr/>
          <p:nvPr/>
        </p:nvSpPr>
        <p:spPr>
          <a:xfrm>
            <a:off x="3817274" y="2118066"/>
            <a:ext cx="94557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~8-15ms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7"/>
          <p:cNvSpPr/>
          <p:nvPr/>
        </p:nvSpPr>
        <p:spPr>
          <a:xfrm>
            <a:off x="4762844" y="2118066"/>
            <a:ext cx="689177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7"/>
          <p:cNvSpPr/>
          <p:nvPr/>
        </p:nvSpPr>
        <p:spPr>
          <a:xfrm>
            <a:off x="5444877" y="2118066"/>
            <a:ext cx="7144" cy="4378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7"/>
          <p:cNvSpPr/>
          <p:nvPr/>
        </p:nvSpPr>
        <p:spPr>
          <a:xfrm>
            <a:off x="4762844" y="2548812"/>
            <a:ext cx="689177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7"/>
          <p:cNvSpPr/>
          <p:nvPr/>
        </p:nvSpPr>
        <p:spPr>
          <a:xfrm>
            <a:off x="4762844" y="2118066"/>
            <a:ext cx="689177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~$2K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7"/>
          <p:cNvSpPr/>
          <p:nvPr/>
        </p:nvSpPr>
        <p:spPr>
          <a:xfrm>
            <a:off x="5452021" y="2118066"/>
            <a:ext cx="965550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7"/>
          <p:cNvSpPr/>
          <p:nvPr/>
        </p:nvSpPr>
        <p:spPr>
          <a:xfrm>
            <a:off x="5452021" y="2548812"/>
            <a:ext cx="9655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7"/>
          <p:cNvSpPr/>
          <p:nvPr/>
        </p:nvSpPr>
        <p:spPr>
          <a:xfrm>
            <a:off x="5452021" y="2118066"/>
            <a:ext cx="96555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Legacy, still available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7"/>
          <p:cNvSpPr/>
          <p:nvPr/>
        </p:nvSpPr>
        <p:spPr>
          <a:xfrm>
            <a:off x="575072" y="2552384"/>
            <a:ext cx="119122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NVIDIA L40S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7"/>
          <p:cNvSpPr/>
          <p:nvPr/>
        </p:nvSpPr>
        <p:spPr>
          <a:xfrm>
            <a:off x="1766292" y="2552384"/>
            <a:ext cx="549008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1,466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7"/>
          <p:cNvSpPr/>
          <p:nvPr/>
        </p:nvSpPr>
        <p:spPr>
          <a:xfrm>
            <a:off x="2315301" y="2552384"/>
            <a:ext cx="798314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48GB GDDR6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7"/>
          <p:cNvSpPr/>
          <p:nvPr/>
        </p:nvSpPr>
        <p:spPr>
          <a:xfrm>
            <a:off x="3113615" y="2552384"/>
            <a:ext cx="703659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300W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7"/>
          <p:cNvSpPr/>
          <p:nvPr/>
        </p:nvSpPr>
        <p:spPr>
          <a:xfrm>
            <a:off x="3817274" y="2552384"/>
            <a:ext cx="94557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~2-5ms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7"/>
          <p:cNvSpPr/>
          <p:nvPr/>
        </p:nvSpPr>
        <p:spPr>
          <a:xfrm>
            <a:off x="4762844" y="2552384"/>
            <a:ext cx="689177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~$8-10K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7"/>
          <p:cNvSpPr/>
          <p:nvPr/>
        </p:nvSpPr>
        <p:spPr>
          <a:xfrm>
            <a:off x="5452021" y="2552384"/>
            <a:ext cx="96555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Available, overkill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7"/>
          <p:cNvSpPr/>
          <p:nvPr/>
        </p:nvSpPr>
        <p:spPr>
          <a:xfrm>
            <a:off x="575072" y="2990273"/>
            <a:ext cx="1191220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7"/>
          <p:cNvSpPr/>
          <p:nvPr/>
        </p:nvSpPr>
        <p:spPr>
          <a:xfrm>
            <a:off x="1759148" y="2990273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7"/>
          <p:cNvSpPr/>
          <p:nvPr/>
        </p:nvSpPr>
        <p:spPr>
          <a:xfrm>
            <a:off x="575072" y="3424591"/>
            <a:ext cx="119122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7"/>
          <p:cNvSpPr/>
          <p:nvPr/>
        </p:nvSpPr>
        <p:spPr>
          <a:xfrm>
            <a:off x="575072" y="2990273"/>
            <a:ext cx="1191220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AWS Inferentia2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7"/>
          <p:cNvSpPr/>
          <p:nvPr/>
        </p:nvSpPr>
        <p:spPr>
          <a:xfrm>
            <a:off x="1766292" y="2990273"/>
            <a:ext cx="549008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7"/>
          <p:cNvSpPr/>
          <p:nvPr/>
        </p:nvSpPr>
        <p:spPr>
          <a:xfrm>
            <a:off x="2308157" y="2990273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7"/>
          <p:cNvSpPr/>
          <p:nvPr/>
        </p:nvSpPr>
        <p:spPr>
          <a:xfrm>
            <a:off x="1766292" y="3424591"/>
            <a:ext cx="54900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7"/>
          <p:cNvSpPr/>
          <p:nvPr/>
        </p:nvSpPr>
        <p:spPr>
          <a:xfrm>
            <a:off x="1766292" y="2990273"/>
            <a:ext cx="549008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7"/>
          <p:cNvSpPr/>
          <p:nvPr/>
        </p:nvSpPr>
        <p:spPr>
          <a:xfrm>
            <a:off x="2315301" y="2990273"/>
            <a:ext cx="798314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7"/>
          <p:cNvSpPr/>
          <p:nvPr/>
        </p:nvSpPr>
        <p:spPr>
          <a:xfrm>
            <a:off x="3106471" y="2990273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7"/>
          <p:cNvSpPr/>
          <p:nvPr/>
        </p:nvSpPr>
        <p:spPr>
          <a:xfrm>
            <a:off x="2315301" y="3424591"/>
            <a:ext cx="79831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7"/>
          <p:cNvSpPr/>
          <p:nvPr/>
        </p:nvSpPr>
        <p:spPr>
          <a:xfrm>
            <a:off x="2315301" y="2990273"/>
            <a:ext cx="798314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32GB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27"/>
          <p:cNvSpPr/>
          <p:nvPr/>
        </p:nvSpPr>
        <p:spPr>
          <a:xfrm>
            <a:off x="3114145" y="2990273"/>
            <a:ext cx="700088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7"/>
          <p:cNvSpPr/>
          <p:nvPr/>
        </p:nvSpPr>
        <p:spPr>
          <a:xfrm>
            <a:off x="3807089" y="2990273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7"/>
          <p:cNvSpPr/>
          <p:nvPr/>
        </p:nvSpPr>
        <p:spPr>
          <a:xfrm>
            <a:off x="3114145" y="3424591"/>
            <a:ext cx="7000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7"/>
          <p:cNvSpPr/>
          <p:nvPr/>
        </p:nvSpPr>
        <p:spPr>
          <a:xfrm>
            <a:off x="3114145" y="2990273"/>
            <a:ext cx="700088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50W/chip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7"/>
          <p:cNvSpPr/>
          <p:nvPr/>
        </p:nvSpPr>
        <p:spPr>
          <a:xfrm>
            <a:off x="3811191" y="2990273"/>
            <a:ext cx="948751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7"/>
          <p:cNvSpPr/>
          <p:nvPr/>
        </p:nvSpPr>
        <p:spPr>
          <a:xfrm>
            <a:off x="4752798" y="2990273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7"/>
          <p:cNvSpPr/>
          <p:nvPr/>
        </p:nvSpPr>
        <p:spPr>
          <a:xfrm>
            <a:off x="3811191" y="3424591"/>
            <a:ext cx="9487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7"/>
          <p:cNvSpPr/>
          <p:nvPr/>
        </p:nvSpPr>
        <p:spPr>
          <a:xfrm>
            <a:off x="3811191" y="2990273"/>
            <a:ext cx="948751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~2-4ms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7"/>
          <p:cNvSpPr/>
          <p:nvPr/>
        </p:nvSpPr>
        <p:spPr>
          <a:xfrm>
            <a:off x="4759942" y="2990273"/>
            <a:ext cx="689511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7"/>
          <p:cNvSpPr/>
          <p:nvPr/>
        </p:nvSpPr>
        <p:spPr>
          <a:xfrm>
            <a:off x="5442310" y="2990273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7"/>
          <p:cNvSpPr/>
          <p:nvPr/>
        </p:nvSpPr>
        <p:spPr>
          <a:xfrm>
            <a:off x="4759942" y="3424591"/>
            <a:ext cx="68951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7"/>
          <p:cNvSpPr/>
          <p:nvPr/>
        </p:nvSpPr>
        <p:spPr>
          <a:xfrm>
            <a:off x="4759942" y="2990273"/>
            <a:ext cx="689511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Pay-per-use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7"/>
          <p:cNvSpPr/>
          <p:nvPr/>
        </p:nvSpPr>
        <p:spPr>
          <a:xfrm>
            <a:off x="5449453" y="2990273"/>
            <a:ext cx="968118" cy="43789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7"/>
          <p:cNvSpPr/>
          <p:nvPr/>
        </p:nvSpPr>
        <p:spPr>
          <a:xfrm>
            <a:off x="5449453" y="3421019"/>
            <a:ext cx="96811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7"/>
          <p:cNvSpPr/>
          <p:nvPr/>
        </p:nvSpPr>
        <p:spPr>
          <a:xfrm>
            <a:off x="5449453" y="2990273"/>
            <a:ext cx="968118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Cloud only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7"/>
          <p:cNvSpPr/>
          <p:nvPr/>
        </p:nvSpPr>
        <p:spPr>
          <a:xfrm>
            <a:off x="575072" y="3428163"/>
            <a:ext cx="1191220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Intel Gaudi 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7"/>
          <p:cNvSpPr/>
          <p:nvPr/>
        </p:nvSpPr>
        <p:spPr>
          <a:xfrm>
            <a:off x="1766292" y="3428163"/>
            <a:ext cx="550069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27"/>
          <p:cNvSpPr/>
          <p:nvPr/>
        </p:nvSpPr>
        <p:spPr>
          <a:xfrm>
            <a:off x="2316361" y="3428163"/>
            <a:ext cx="798314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128GB HBM2e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7"/>
          <p:cNvSpPr/>
          <p:nvPr/>
        </p:nvSpPr>
        <p:spPr>
          <a:xfrm>
            <a:off x="3114675" y="3428163"/>
            <a:ext cx="696516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600W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7"/>
          <p:cNvSpPr/>
          <p:nvPr/>
        </p:nvSpPr>
        <p:spPr>
          <a:xfrm>
            <a:off x="3811191" y="3428163"/>
            <a:ext cx="948751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Competitive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27"/>
          <p:cNvSpPr/>
          <p:nvPr/>
        </p:nvSpPr>
        <p:spPr>
          <a:xfrm>
            <a:off x="4759942" y="3428163"/>
            <a:ext cx="689511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~$3-5K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7"/>
          <p:cNvSpPr/>
          <p:nvPr/>
        </p:nvSpPr>
        <p:spPr>
          <a:xfrm>
            <a:off x="5449453" y="3428163"/>
            <a:ext cx="968118" cy="4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Discontinued 2026-2027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7"/>
          <p:cNvSpPr/>
          <p:nvPr/>
        </p:nvSpPr>
        <p:spPr>
          <a:xfrm>
            <a:off x="575072" y="3866052"/>
            <a:ext cx="1191220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7"/>
          <p:cNvSpPr/>
          <p:nvPr/>
        </p:nvSpPr>
        <p:spPr>
          <a:xfrm>
            <a:off x="1759148" y="3866052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7"/>
          <p:cNvSpPr/>
          <p:nvPr/>
        </p:nvSpPr>
        <p:spPr>
          <a:xfrm>
            <a:off x="575072" y="4300370"/>
            <a:ext cx="119122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7"/>
          <p:cNvSpPr/>
          <p:nvPr/>
        </p:nvSpPr>
        <p:spPr>
          <a:xfrm>
            <a:off x="575072" y="3866052"/>
            <a:ext cx="1191220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Optimized CPU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7"/>
          <p:cNvSpPr/>
          <p:nvPr/>
        </p:nvSpPr>
        <p:spPr>
          <a:xfrm>
            <a:off x="1766292" y="3866052"/>
            <a:ext cx="550069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7"/>
          <p:cNvSpPr/>
          <p:nvPr/>
        </p:nvSpPr>
        <p:spPr>
          <a:xfrm>
            <a:off x="2309217" y="3866052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7"/>
          <p:cNvSpPr/>
          <p:nvPr/>
        </p:nvSpPr>
        <p:spPr>
          <a:xfrm>
            <a:off x="1766292" y="4300370"/>
            <a:ext cx="55006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7"/>
          <p:cNvSpPr/>
          <p:nvPr/>
        </p:nvSpPr>
        <p:spPr>
          <a:xfrm>
            <a:off x="1766292" y="3866052"/>
            <a:ext cx="550069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7"/>
          <p:cNvSpPr/>
          <p:nvPr/>
        </p:nvSpPr>
        <p:spPr>
          <a:xfrm>
            <a:off x="2316361" y="3866052"/>
            <a:ext cx="798314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7"/>
          <p:cNvSpPr/>
          <p:nvPr/>
        </p:nvSpPr>
        <p:spPr>
          <a:xfrm>
            <a:off x="3107531" y="3866052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7"/>
          <p:cNvSpPr/>
          <p:nvPr/>
        </p:nvSpPr>
        <p:spPr>
          <a:xfrm>
            <a:off x="2316361" y="4300370"/>
            <a:ext cx="79831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7"/>
          <p:cNvSpPr/>
          <p:nvPr/>
        </p:nvSpPr>
        <p:spPr>
          <a:xfrm>
            <a:off x="2316361" y="3866052"/>
            <a:ext cx="798314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System RAM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7"/>
          <p:cNvSpPr/>
          <p:nvPr/>
        </p:nvSpPr>
        <p:spPr>
          <a:xfrm>
            <a:off x="3114675" y="3866052"/>
            <a:ext cx="696516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7"/>
          <p:cNvSpPr/>
          <p:nvPr/>
        </p:nvSpPr>
        <p:spPr>
          <a:xfrm>
            <a:off x="3804047" y="3866052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7"/>
          <p:cNvSpPr/>
          <p:nvPr/>
        </p:nvSpPr>
        <p:spPr>
          <a:xfrm>
            <a:off x="3114675" y="4300370"/>
            <a:ext cx="69651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7"/>
          <p:cNvSpPr/>
          <p:nvPr/>
        </p:nvSpPr>
        <p:spPr>
          <a:xfrm>
            <a:off x="3114675" y="3866052"/>
            <a:ext cx="696516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7"/>
          <p:cNvSpPr/>
          <p:nvPr/>
        </p:nvSpPr>
        <p:spPr>
          <a:xfrm>
            <a:off x="3811191" y="3866052"/>
            <a:ext cx="948751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7"/>
          <p:cNvSpPr/>
          <p:nvPr/>
        </p:nvSpPr>
        <p:spPr>
          <a:xfrm>
            <a:off x="4752798" y="3866052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7"/>
          <p:cNvSpPr/>
          <p:nvPr/>
        </p:nvSpPr>
        <p:spPr>
          <a:xfrm>
            <a:off x="3811191" y="4300370"/>
            <a:ext cx="94875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7"/>
          <p:cNvSpPr/>
          <p:nvPr/>
        </p:nvSpPr>
        <p:spPr>
          <a:xfrm>
            <a:off x="3811191" y="3866052"/>
            <a:ext cx="948751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~15-25ms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7"/>
          <p:cNvSpPr/>
          <p:nvPr/>
        </p:nvSpPr>
        <p:spPr>
          <a:xfrm>
            <a:off x="4761002" y="3866052"/>
            <a:ext cx="687781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7"/>
          <p:cNvSpPr/>
          <p:nvPr/>
        </p:nvSpPr>
        <p:spPr>
          <a:xfrm>
            <a:off x="5441640" y="3866052"/>
            <a:ext cx="7144" cy="44146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7"/>
          <p:cNvSpPr/>
          <p:nvPr/>
        </p:nvSpPr>
        <p:spPr>
          <a:xfrm>
            <a:off x="4761002" y="4300370"/>
            <a:ext cx="68778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7"/>
          <p:cNvSpPr/>
          <p:nvPr/>
        </p:nvSpPr>
        <p:spPr>
          <a:xfrm>
            <a:off x="4761002" y="3866052"/>
            <a:ext cx="687781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$0 (existing)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7"/>
          <p:cNvSpPr/>
          <p:nvPr/>
        </p:nvSpPr>
        <p:spPr>
          <a:xfrm>
            <a:off x="5448142" y="3866052"/>
            <a:ext cx="969429" cy="44146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7"/>
          <p:cNvSpPr/>
          <p:nvPr/>
        </p:nvSpPr>
        <p:spPr>
          <a:xfrm>
            <a:off x="5448142" y="4300370"/>
            <a:ext cx="969429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7"/>
          <p:cNvSpPr/>
          <p:nvPr/>
        </p:nvSpPr>
        <p:spPr>
          <a:xfrm>
            <a:off x="5448142" y="3866052"/>
            <a:ext cx="969429" cy="441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Always available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7"/>
          <p:cNvSpPr/>
          <p:nvPr/>
        </p:nvSpPr>
        <p:spPr>
          <a:xfrm>
            <a:off x="6621168" y="1222977"/>
            <a:ext cx="1951304" cy="3358400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7"/>
          <p:cNvSpPr/>
          <p:nvPr/>
        </p:nvSpPr>
        <p:spPr>
          <a:xfrm>
            <a:off x="6621168" y="1222977"/>
            <a:ext cx="1951304" cy="7144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7"/>
          <p:cNvSpPr/>
          <p:nvPr/>
        </p:nvSpPr>
        <p:spPr>
          <a:xfrm>
            <a:off x="8565328" y="1222977"/>
            <a:ext cx="7144" cy="3358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7"/>
          <p:cNvSpPr/>
          <p:nvPr/>
        </p:nvSpPr>
        <p:spPr>
          <a:xfrm>
            <a:off x="6621168" y="4574232"/>
            <a:ext cx="1951304" cy="7144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7"/>
          <p:cNvSpPr/>
          <p:nvPr/>
        </p:nvSpPr>
        <p:spPr>
          <a:xfrm>
            <a:off x="6621168" y="1222977"/>
            <a:ext cx="28575" cy="3358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7"/>
          <p:cNvSpPr/>
          <p:nvPr/>
        </p:nvSpPr>
        <p:spPr>
          <a:xfrm>
            <a:off x="6742919" y="1308702"/>
            <a:ext cx="1715281" cy="51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RECOMMENDATION: PIVOT FROM FPGA TO NVIDIA L4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7"/>
          <p:cNvSpPr/>
          <p:nvPr/>
        </p:nvSpPr>
        <p:spPr>
          <a:xfrm>
            <a:off x="6742919" y="1871272"/>
            <a:ext cx="1715281" cy="2423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originally proposed AMD Alveo V70 was discontinued in Feb 2025. The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NVIDIA L4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is the ideal replacement, offering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superior latency (~4-8ms)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at the same power envelope (72W) and cost (~$2.5-3K). It also eliminates FPGA development complexity by leveraging the mature CUDA/TensorRT ecosystem.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1" name="Google Shape;13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28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Self-learning data creates a compounding moat — custom SLM reduces inference cost 10x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8"/>
          <p:cNvSpPr/>
          <p:nvPr/>
        </p:nvSpPr>
        <p:spPr>
          <a:xfrm>
            <a:off x="571500" y="1353350"/>
            <a:ext cx="2286000" cy="1571625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8"/>
          <p:cNvSpPr/>
          <p:nvPr/>
        </p:nvSpPr>
        <p:spPr>
          <a:xfrm>
            <a:off x="571500" y="1353350"/>
            <a:ext cx="2286000" cy="2857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28"/>
          <p:cNvSpPr/>
          <p:nvPr/>
        </p:nvSpPr>
        <p:spPr>
          <a:xfrm>
            <a:off x="2843213" y="1353350"/>
            <a:ext cx="14288" cy="15716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8"/>
          <p:cNvSpPr/>
          <p:nvPr/>
        </p:nvSpPr>
        <p:spPr>
          <a:xfrm>
            <a:off x="571500" y="2910687"/>
            <a:ext cx="2286000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28"/>
          <p:cNvSpPr/>
          <p:nvPr/>
        </p:nvSpPr>
        <p:spPr>
          <a:xfrm>
            <a:off x="571500" y="1353350"/>
            <a:ext cx="14288" cy="15716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8"/>
          <p:cNvSpPr/>
          <p:nvPr/>
        </p:nvSpPr>
        <p:spPr>
          <a:xfrm>
            <a:off x="714375" y="1496225"/>
            <a:ext cx="198119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1. GENERAL LLM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8"/>
          <p:cNvSpPr/>
          <p:nvPr/>
        </p:nvSpPr>
        <p:spPr>
          <a:xfrm>
            <a:off x="714375" y="1799834"/>
            <a:ext cx="19811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Start with Llama 3 8B or Mixtral for Deep Lane semantic analysis.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28"/>
          <p:cNvSpPr/>
          <p:nvPr/>
        </p:nvSpPr>
        <p:spPr>
          <a:xfrm>
            <a:off x="714375" y="2228459"/>
            <a:ext cx="19811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accuracy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but computationally expensive and slower latency.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8"/>
          <p:cNvSpPr/>
          <p:nvPr/>
        </p:nvSpPr>
        <p:spPr>
          <a:xfrm>
            <a:off x="2981316" y="1965927"/>
            <a:ext cx="28575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16"/>
              <a:buFont typeface="Inter"/>
              <a:buNone/>
            </a:pPr>
            <a:r>
              <a:rPr b="1" i="0" lang="en-US" sz="2016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8"/>
          <p:cNvSpPr/>
          <p:nvPr/>
        </p:nvSpPr>
        <p:spPr>
          <a:xfrm>
            <a:off x="3409941" y="1222977"/>
            <a:ext cx="2295516" cy="1832372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8"/>
          <p:cNvSpPr/>
          <p:nvPr/>
        </p:nvSpPr>
        <p:spPr>
          <a:xfrm>
            <a:off x="3409941" y="1222977"/>
            <a:ext cx="2295516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8"/>
          <p:cNvSpPr/>
          <p:nvPr/>
        </p:nvSpPr>
        <p:spPr>
          <a:xfrm>
            <a:off x="5691169" y="1222977"/>
            <a:ext cx="14288" cy="18323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28"/>
          <p:cNvSpPr/>
          <p:nvPr/>
        </p:nvSpPr>
        <p:spPr>
          <a:xfrm>
            <a:off x="3409941" y="3041061"/>
            <a:ext cx="2295516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8"/>
          <p:cNvSpPr/>
          <p:nvPr/>
        </p:nvSpPr>
        <p:spPr>
          <a:xfrm>
            <a:off x="3409941" y="1222977"/>
            <a:ext cx="14288" cy="18323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8"/>
          <p:cNvSpPr/>
          <p:nvPr/>
        </p:nvSpPr>
        <p:spPr>
          <a:xfrm>
            <a:off x="3562359" y="1365852"/>
            <a:ext cx="199073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2. DATA FLYWHEEL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8"/>
          <p:cNvSpPr/>
          <p:nvPr/>
        </p:nvSpPr>
        <p:spPr>
          <a:xfrm>
            <a:off x="3562359" y="1669461"/>
            <a:ext cx="199073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Collect millions of true positive / false positive verdicts from analyst operations.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8"/>
          <p:cNvSpPr/>
          <p:nvPr/>
        </p:nvSpPr>
        <p:spPr>
          <a:xfrm>
            <a:off x="3562359" y="2269536"/>
            <a:ext cx="199073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Build a highly specialized,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org-specific dataset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of sensitive data patterns.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28"/>
          <p:cNvSpPr/>
          <p:nvPr/>
        </p:nvSpPr>
        <p:spPr>
          <a:xfrm>
            <a:off x="5838844" y="1944495"/>
            <a:ext cx="28575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16"/>
              <a:buFont typeface="Inter"/>
              <a:buNone/>
            </a:pPr>
            <a:r>
              <a:rPr b="1" i="0" lang="en-US" sz="2016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8"/>
          <p:cNvSpPr/>
          <p:nvPr/>
        </p:nvSpPr>
        <p:spPr>
          <a:xfrm>
            <a:off x="6267469" y="1287270"/>
            <a:ext cx="2305059" cy="1660922"/>
          </a:xfrm>
          <a:prstGeom prst="rect">
            <a:avLst/>
          </a:prstGeom>
          <a:solidFill>
            <a:srgbClr val="00BFA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8"/>
          <p:cNvSpPr/>
          <p:nvPr/>
        </p:nvSpPr>
        <p:spPr>
          <a:xfrm>
            <a:off x="6267469" y="1287270"/>
            <a:ext cx="2305059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28"/>
          <p:cNvSpPr/>
          <p:nvPr/>
        </p:nvSpPr>
        <p:spPr>
          <a:xfrm>
            <a:off x="8558240" y="1287270"/>
            <a:ext cx="14288" cy="16609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8"/>
          <p:cNvSpPr/>
          <p:nvPr/>
        </p:nvSpPr>
        <p:spPr>
          <a:xfrm>
            <a:off x="6267469" y="2933905"/>
            <a:ext cx="2305059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8"/>
          <p:cNvSpPr/>
          <p:nvPr/>
        </p:nvSpPr>
        <p:spPr>
          <a:xfrm>
            <a:off x="6267469" y="1287270"/>
            <a:ext cx="14288" cy="166092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8"/>
          <p:cNvSpPr/>
          <p:nvPr/>
        </p:nvSpPr>
        <p:spPr>
          <a:xfrm>
            <a:off x="6429375" y="1451577"/>
            <a:ext cx="200025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3. CUSTOM SLM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8"/>
          <p:cNvSpPr/>
          <p:nvPr/>
        </p:nvSpPr>
        <p:spPr>
          <a:xfrm>
            <a:off x="6429375" y="1755186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Fine-tune a Small Language Model (e.g., 1B-3B parameters) on the proprietary dataset.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8"/>
          <p:cNvSpPr/>
          <p:nvPr/>
        </p:nvSpPr>
        <p:spPr>
          <a:xfrm>
            <a:off x="6429375" y="2355261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Deploy via ONNX/TensorRT for </a:t>
            </a: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massive cost and latency reduction</a:t>
            </a: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8"/>
          <p:cNvSpPr/>
          <p:nvPr/>
        </p:nvSpPr>
        <p:spPr>
          <a:xfrm>
            <a:off x="571500" y="3375422"/>
            <a:ext cx="8001000" cy="148232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8"/>
          <p:cNvSpPr/>
          <p:nvPr/>
        </p:nvSpPr>
        <p:spPr>
          <a:xfrm>
            <a:off x="571500" y="3389709"/>
            <a:ext cx="3989784" cy="1468041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8"/>
          <p:cNvSpPr/>
          <p:nvPr/>
        </p:nvSpPr>
        <p:spPr>
          <a:xfrm>
            <a:off x="4554141" y="3389709"/>
            <a:ext cx="7144" cy="146804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8"/>
          <p:cNvSpPr/>
          <p:nvPr/>
        </p:nvSpPr>
        <p:spPr>
          <a:xfrm>
            <a:off x="771525" y="3532584"/>
            <a:ext cx="358616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GENERAL LLM (8B+)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8"/>
          <p:cNvSpPr/>
          <p:nvPr/>
        </p:nvSpPr>
        <p:spPr>
          <a:xfrm>
            <a:off x="771525" y="3848695"/>
            <a:ext cx="969764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Inference Latency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8"/>
          <p:cNvSpPr/>
          <p:nvPr/>
        </p:nvSpPr>
        <p:spPr>
          <a:xfrm>
            <a:off x="3436144" y="3848695"/>
            <a:ext cx="921544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~1-3 seconds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8"/>
          <p:cNvSpPr/>
          <p:nvPr/>
        </p:nvSpPr>
        <p:spPr>
          <a:xfrm>
            <a:off x="771525" y="4196953"/>
            <a:ext cx="77331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Compute Cost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8"/>
          <p:cNvSpPr/>
          <p:nvPr/>
        </p:nvSpPr>
        <p:spPr>
          <a:xfrm>
            <a:off x="2821781" y="4196953"/>
            <a:ext cx="1535906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High (A100/H100 req)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8"/>
          <p:cNvSpPr/>
          <p:nvPr/>
        </p:nvSpPr>
        <p:spPr>
          <a:xfrm>
            <a:off x="771525" y="4545211"/>
            <a:ext cx="1016198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Domain Specificity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8"/>
          <p:cNvSpPr/>
          <p:nvPr/>
        </p:nvSpPr>
        <p:spPr>
          <a:xfrm>
            <a:off x="3820120" y="4545211"/>
            <a:ext cx="537567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Generic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8"/>
          <p:cNvSpPr/>
          <p:nvPr/>
        </p:nvSpPr>
        <p:spPr>
          <a:xfrm>
            <a:off x="4557713" y="3389709"/>
            <a:ext cx="4014788" cy="1468041"/>
          </a:xfrm>
          <a:prstGeom prst="rect">
            <a:avLst/>
          </a:prstGeom>
          <a:solidFill>
            <a:srgbClr val="00BFA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8"/>
          <p:cNvSpPr/>
          <p:nvPr/>
        </p:nvSpPr>
        <p:spPr>
          <a:xfrm>
            <a:off x="4557713" y="3389709"/>
            <a:ext cx="28575" cy="146804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28"/>
          <p:cNvSpPr/>
          <p:nvPr/>
        </p:nvSpPr>
        <p:spPr>
          <a:xfrm>
            <a:off x="4772025" y="3532584"/>
            <a:ext cx="360045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CUSTOM SLM (1B-3B)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28"/>
          <p:cNvSpPr/>
          <p:nvPr/>
        </p:nvSpPr>
        <p:spPr>
          <a:xfrm>
            <a:off x="4772025" y="3848695"/>
            <a:ext cx="969764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Inference Latency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8"/>
          <p:cNvSpPr/>
          <p:nvPr/>
        </p:nvSpPr>
        <p:spPr>
          <a:xfrm>
            <a:off x="7911703" y="3848695"/>
            <a:ext cx="460772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&lt;200ms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8"/>
          <p:cNvSpPr/>
          <p:nvPr/>
        </p:nvSpPr>
        <p:spPr>
          <a:xfrm>
            <a:off x="4772025" y="4196953"/>
            <a:ext cx="77331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Compute Cost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8"/>
          <p:cNvSpPr/>
          <p:nvPr/>
        </p:nvSpPr>
        <p:spPr>
          <a:xfrm>
            <a:off x="6990159" y="4196953"/>
            <a:ext cx="1382316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10x Lower (L4/CPU)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28"/>
          <p:cNvSpPr/>
          <p:nvPr/>
        </p:nvSpPr>
        <p:spPr>
          <a:xfrm>
            <a:off x="4772025" y="4545211"/>
            <a:ext cx="1016198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Domain Specificity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8"/>
          <p:cNvSpPr/>
          <p:nvPr/>
        </p:nvSpPr>
        <p:spPr>
          <a:xfrm>
            <a:off x="7450931" y="4545211"/>
            <a:ext cx="921544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Roboto Mono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Roboto Mono"/>
                <a:ea typeface="Roboto Mono"/>
                <a:cs typeface="Roboto Mono"/>
                <a:sym typeface="Roboto Mono"/>
              </a:rPr>
              <a:t>Highly Tuned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3" name="Google Shape;13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29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Incumbents are advancing AI security but remain constrained by per-channel architectures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29"/>
          <p:cNvSpPr/>
          <p:nvPr/>
        </p:nvSpPr>
        <p:spPr>
          <a:xfrm>
            <a:off x="585788" y="1212261"/>
            <a:ext cx="1208996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9"/>
          <p:cNvSpPr/>
          <p:nvPr/>
        </p:nvSpPr>
        <p:spPr>
          <a:xfrm>
            <a:off x="1787640" y="1212261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29"/>
          <p:cNvSpPr/>
          <p:nvPr/>
        </p:nvSpPr>
        <p:spPr>
          <a:xfrm>
            <a:off x="585788" y="1669461"/>
            <a:ext cx="120899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9"/>
          <p:cNvSpPr/>
          <p:nvPr/>
        </p:nvSpPr>
        <p:spPr>
          <a:xfrm>
            <a:off x="585788" y="1212261"/>
            <a:ext cx="1208996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29"/>
          <p:cNvSpPr/>
          <p:nvPr/>
        </p:nvSpPr>
        <p:spPr>
          <a:xfrm>
            <a:off x="1795537" y="1212261"/>
            <a:ext cx="1266230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9"/>
          <p:cNvSpPr/>
          <p:nvPr/>
        </p:nvSpPr>
        <p:spPr>
          <a:xfrm>
            <a:off x="3054623" y="1212261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29"/>
          <p:cNvSpPr/>
          <p:nvPr/>
        </p:nvSpPr>
        <p:spPr>
          <a:xfrm>
            <a:off x="1795537" y="1669461"/>
            <a:ext cx="126623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9"/>
          <p:cNvSpPr/>
          <p:nvPr/>
        </p:nvSpPr>
        <p:spPr>
          <a:xfrm>
            <a:off x="1795537" y="1212261"/>
            <a:ext cx="1266230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29"/>
          <p:cNvSpPr/>
          <p:nvPr/>
        </p:nvSpPr>
        <p:spPr>
          <a:xfrm>
            <a:off x="3059674" y="1212261"/>
            <a:ext cx="1117634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9"/>
          <p:cNvSpPr/>
          <p:nvPr/>
        </p:nvSpPr>
        <p:spPr>
          <a:xfrm>
            <a:off x="4170164" y="1212261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9"/>
          <p:cNvSpPr/>
          <p:nvPr/>
        </p:nvSpPr>
        <p:spPr>
          <a:xfrm>
            <a:off x="3059674" y="1669461"/>
            <a:ext cx="111763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9"/>
          <p:cNvSpPr/>
          <p:nvPr/>
        </p:nvSpPr>
        <p:spPr>
          <a:xfrm>
            <a:off x="3059674" y="1212261"/>
            <a:ext cx="1117634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AI FLOW VISIBILITY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29"/>
          <p:cNvSpPr/>
          <p:nvPr/>
        </p:nvSpPr>
        <p:spPr>
          <a:xfrm>
            <a:off x="4179094" y="1212261"/>
            <a:ext cx="889397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29"/>
          <p:cNvSpPr/>
          <p:nvPr/>
        </p:nvSpPr>
        <p:spPr>
          <a:xfrm>
            <a:off x="5061347" y="1212261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29"/>
          <p:cNvSpPr/>
          <p:nvPr/>
        </p:nvSpPr>
        <p:spPr>
          <a:xfrm>
            <a:off x="4179094" y="1669461"/>
            <a:ext cx="889397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9"/>
          <p:cNvSpPr/>
          <p:nvPr/>
        </p:nvSpPr>
        <p:spPr>
          <a:xfrm>
            <a:off x="4179094" y="1212261"/>
            <a:ext cx="889397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SELF-LEARNING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29"/>
          <p:cNvSpPr/>
          <p:nvPr/>
        </p:nvSpPr>
        <p:spPr>
          <a:xfrm>
            <a:off x="5067374" y="1212261"/>
            <a:ext cx="1372381" cy="46434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9"/>
          <p:cNvSpPr/>
          <p:nvPr/>
        </p:nvSpPr>
        <p:spPr>
          <a:xfrm>
            <a:off x="5067374" y="1669461"/>
            <a:ext cx="1372381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29"/>
          <p:cNvSpPr/>
          <p:nvPr/>
        </p:nvSpPr>
        <p:spPr>
          <a:xfrm>
            <a:off x="5067374" y="1212261"/>
            <a:ext cx="1372381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KEY LIMITATION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29"/>
          <p:cNvSpPr/>
          <p:nvPr/>
        </p:nvSpPr>
        <p:spPr>
          <a:xfrm>
            <a:off x="585788" y="1676605"/>
            <a:ext cx="1214131" cy="477180"/>
          </a:xfrm>
          <a:prstGeom prst="rect">
            <a:avLst/>
          </a:prstGeom>
          <a:solidFill>
            <a:srgbClr val="00BFA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9"/>
          <p:cNvSpPr/>
          <p:nvPr/>
        </p:nvSpPr>
        <p:spPr>
          <a:xfrm>
            <a:off x="585788" y="1676605"/>
            <a:ext cx="1214131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9"/>
          <p:cNvSpPr/>
          <p:nvPr/>
        </p:nvSpPr>
        <p:spPr>
          <a:xfrm>
            <a:off x="1792774" y="1676605"/>
            <a:ext cx="7144" cy="4771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9"/>
          <p:cNvSpPr/>
          <p:nvPr/>
        </p:nvSpPr>
        <p:spPr>
          <a:xfrm>
            <a:off x="585788" y="2139497"/>
            <a:ext cx="1214131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9"/>
          <p:cNvSpPr/>
          <p:nvPr/>
        </p:nvSpPr>
        <p:spPr>
          <a:xfrm>
            <a:off x="585788" y="1676605"/>
            <a:ext cx="28575" cy="4771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9"/>
          <p:cNvSpPr/>
          <p:nvPr/>
        </p:nvSpPr>
        <p:spPr>
          <a:xfrm>
            <a:off x="585788" y="1676605"/>
            <a:ext cx="1214131" cy="4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Sentinel (Proposed)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29"/>
          <p:cNvSpPr/>
          <p:nvPr/>
        </p:nvSpPr>
        <p:spPr>
          <a:xfrm>
            <a:off x="1792802" y="1676605"/>
            <a:ext cx="1262658" cy="477180"/>
          </a:xfrm>
          <a:prstGeom prst="rect">
            <a:avLst/>
          </a:prstGeom>
          <a:solidFill>
            <a:srgbClr val="00BFA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9"/>
          <p:cNvSpPr/>
          <p:nvPr/>
        </p:nvSpPr>
        <p:spPr>
          <a:xfrm>
            <a:off x="1792802" y="1676605"/>
            <a:ext cx="1262658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9"/>
          <p:cNvSpPr/>
          <p:nvPr/>
        </p:nvSpPr>
        <p:spPr>
          <a:xfrm>
            <a:off x="3048316" y="1676605"/>
            <a:ext cx="7144" cy="4771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9"/>
          <p:cNvSpPr/>
          <p:nvPr/>
        </p:nvSpPr>
        <p:spPr>
          <a:xfrm>
            <a:off x="1792802" y="2139497"/>
            <a:ext cx="1262658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29"/>
          <p:cNvSpPr/>
          <p:nvPr/>
        </p:nvSpPr>
        <p:spPr>
          <a:xfrm>
            <a:off x="1792802" y="1676605"/>
            <a:ext cx="1262658" cy="4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Unified 3-Lane (Inline + Async)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29"/>
          <p:cNvSpPr/>
          <p:nvPr/>
        </p:nvSpPr>
        <p:spPr>
          <a:xfrm>
            <a:off x="3055460" y="1676605"/>
            <a:ext cx="1121876" cy="477180"/>
          </a:xfrm>
          <a:prstGeom prst="rect">
            <a:avLst/>
          </a:prstGeom>
          <a:solidFill>
            <a:srgbClr val="00BFA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9"/>
          <p:cNvSpPr/>
          <p:nvPr/>
        </p:nvSpPr>
        <p:spPr>
          <a:xfrm>
            <a:off x="3055460" y="1676605"/>
            <a:ext cx="1121876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9"/>
          <p:cNvSpPr/>
          <p:nvPr/>
        </p:nvSpPr>
        <p:spPr>
          <a:xfrm>
            <a:off x="4170192" y="1676605"/>
            <a:ext cx="7144" cy="4771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29"/>
          <p:cNvSpPr/>
          <p:nvPr/>
        </p:nvSpPr>
        <p:spPr>
          <a:xfrm>
            <a:off x="3055460" y="2139497"/>
            <a:ext cx="1121876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29"/>
          <p:cNvSpPr/>
          <p:nvPr/>
        </p:nvSpPr>
        <p:spPr>
          <a:xfrm>
            <a:off x="3055460" y="1676605"/>
            <a:ext cx="1121876" cy="4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(MCP, Agent, RAG, API)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29"/>
          <p:cNvSpPr/>
          <p:nvPr/>
        </p:nvSpPr>
        <p:spPr>
          <a:xfrm>
            <a:off x="4177336" y="1676605"/>
            <a:ext cx="885825" cy="477180"/>
          </a:xfrm>
          <a:prstGeom prst="rect">
            <a:avLst/>
          </a:prstGeom>
          <a:solidFill>
            <a:srgbClr val="00BFA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29"/>
          <p:cNvSpPr/>
          <p:nvPr/>
        </p:nvSpPr>
        <p:spPr>
          <a:xfrm>
            <a:off x="4177336" y="1676605"/>
            <a:ext cx="885825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9"/>
          <p:cNvSpPr/>
          <p:nvPr/>
        </p:nvSpPr>
        <p:spPr>
          <a:xfrm>
            <a:off x="5056017" y="1676605"/>
            <a:ext cx="7144" cy="4771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29"/>
          <p:cNvSpPr/>
          <p:nvPr/>
        </p:nvSpPr>
        <p:spPr>
          <a:xfrm>
            <a:off x="4177336" y="2139497"/>
            <a:ext cx="885825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9"/>
          <p:cNvSpPr/>
          <p:nvPr/>
        </p:nvSpPr>
        <p:spPr>
          <a:xfrm>
            <a:off x="4177336" y="1676605"/>
            <a:ext cx="885825" cy="4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Continuous Loop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29"/>
          <p:cNvSpPr/>
          <p:nvPr/>
        </p:nvSpPr>
        <p:spPr>
          <a:xfrm>
            <a:off x="5063161" y="1669461"/>
            <a:ext cx="1376595" cy="477180"/>
          </a:xfrm>
          <a:prstGeom prst="rect">
            <a:avLst/>
          </a:prstGeom>
          <a:solidFill>
            <a:srgbClr val="00BFA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9"/>
          <p:cNvSpPr/>
          <p:nvPr/>
        </p:nvSpPr>
        <p:spPr>
          <a:xfrm>
            <a:off x="5063161" y="1669461"/>
            <a:ext cx="1376595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9"/>
          <p:cNvSpPr/>
          <p:nvPr/>
        </p:nvSpPr>
        <p:spPr>
          <a:xfrm>
            <a:off x="5063161" y="2132354"/>
            <a:ext cx="1376595" cy="142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9"/>
          <p:cNvSpPr/>
          <p:nvPr/>
        </p:nvSpPr>
        <p:spPr>
          <a:xfrm>
            <a:off x="5063161" y="1669461"/>
            <a:ext cx="1376595" cy="4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Requires initial integration effort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29"/>
          <p:cNvSpPr/>
          <p:nvPr/>
        </p:nvSpPr>
        <p:spPr>
          <a:xfrm>
            <a:off x="575072" y="2132354"/>
            <a:ext cx="1217730" cy="466465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9"/>
          <p:cNvSpPr/>
          <p:nvPr/>
        </p:nvSpPr>
        <p:spPr>
          <a:xfrm>
            <a:off x="1785658" y="2132354"/>
            <a:ext cx="7144" cy="46646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9"/>
          <p:cNvSpPr/>
          <p:nvPr/>
        </p:nvSpPr>
        <p:spPr>
          <a:xfrm>
            <a:off x="575072" y="2591674"/>
            <a:ext cx="121773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29"/>
          <p:cNvSpPr/>
          <p:nvPr/>
        </p:nvSpPr>
        <p:spPr>
          <a:xfrm>
            <a:off x="575072" y="2132354"/>
            <a:ext cx="1217730" cy="466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Palo Alto (AIRS 3.0)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29"/>
          <p:cNvSpPr/>
          <p:nvPr/>
        </p:nvSpPr>
        <p:spPr>
          <a:xfrm>
            <a:off x="1792802" y="2132354"/>
            <a:ext cx="1262658" cy="466465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9"/>
          <p:cNvSpPr/>
          <p:nvPr/>
        </p:nvSpPr>
        <p:spPr>
          <a:xfrm>
            <a:off x="3048316" y="2132354"/>
            <a:ext cx="7144" cy="46646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9"/>
          <p:cNvSpPr/>
          <p:nvPr/>
        </p:nvSpPr>
        <p:spPr>
          <a:xfrm>
            <a:off x="1792802" y="2591674"/>
            <a:ext cx="126265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9"/>
          <p:cNvSpPr/>
          <p:nvPr/>
        </p:nvSpPr>
        <p:spPr>
          <a:xfrm>
            <a:off x="1792802" y="2132354"/>
            <a:ext cx="1262658" cy="466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Network + API Gateway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29"/>
          <p:cNvSpPr/>
          <p:nvPr/>
        </p:nvSpPr>
        <p:spPr>
          <a:xfrm>
            <a:off x="3055460" y="2132354"/>
            <a:ext cx="1121876" cy="466465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29"/>
          <p:cNvSpPr/>
          <p:nvPr/>
        </p:nvSpPr>
        <p:spPr>
          <a:xfrm>
            <a:off x="4170192" y="2132354"/>
            <a:ext cx="7144" cy="46646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29"/>
          <p:cNvSpPr/>
          <p:nvPr/>
        </p:nvSpPr>
        <p:spPr>
          <a:xfrm>
            <a:off x="3055460" y="2591674"/>
            <a:ext cx="112187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29"/>
          <p:cNvSpPr/>
          <p:nvPr/>
        </p:nvSpPr>
        <p:spPr>
          <a:xfrm>
            <a:off x="3055460" y="2132354"/>
            <a:ext cx="1121876" cy="466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High (API, RAG)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29"/>
          <p:cNvSpPr/>
          <p:nvPr/>
        </p:nvSpPr>
        <p:spPr>
          <a:xfrm>
            <a:off x="4177336" y="2132354"/>
            <a:ext cx="885825" cy="466465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29"/>
          <p:cNvSpPr/>
          <p:nvPr/>
        </p:nvSpPr>
        <p:spPr>
          <a:xfrm>
            <a:off x="5056017" y="2132354"/>
            <a:ext cx="7144" cy="46646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9"/>
          <p:cNvSpPr/>
          <p:nvPr/>
        </p:nvSpPr>
        <p:spPr>
          <a:xfrm>
            <a:off x="4177336" y="2591674"/>
            <a:ext cx="8858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9"/>
          <p:cNvSpPr/>
          <p:nvPr/>
        </p:nvSpPr>
        <p:spPr>
          <a:xfrm>
            <a:off x="4177336" y="2132354"/>
            <a:ext cx="885825" cy="466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Static ML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29"/>
          <p:cNvSpPr/>
          <p:nvPr/>
        </p:nvSpPr>
        <p:spPr>
          <a:xfrm>
            <a:off x="5063161" y="2132354"/>
            <a:ext cx="1376595" cy="466465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9"/>
          <p:cNvSpPr/>
          <p:nvPr/>
        </p:nvSpPr>
        <p:spPr>
          <a:xfrm>
            <a:off x="5063161" y="2591674"/>
            <a:ext cx="137659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9"/>
          <p:cNvSpPr/>
          <p:nvPr/>
        </p:nvSpPr>
        <p:spPr>
          <a:xfrm>
            <a:off x="5063161" y="2132354"/>
            <a:ext cx="1376595" cy="466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Blind to endpoint and local MCP tool-use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29"/>
          <p:cNvSpPr/>
          <p:nvPr/>
        </p:nvSpPr>
        <p:spPr>
          <a:xfrm>
            <a:off x="575072" y="2595246"/>
            <a:ext cx="1217730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Cisco (Robust Intel)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29"/>
          <p:cNvSpPr/>
          <p:nvPr/>
        </p:nvSpPr>
        <p:spPr>
          <a:xfrm>
            <a:off x="1792802" y="2595246"/>
            <a:ext cx="1262658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API + Model Catalog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29"/>
          <p:cNvSpPr/>
          <p:nvPr/>
        </p:nvSpPr>
        <p:spPr>
          <a:xfrm>
            <a:off x="3055460" y="2595246"/>
            <a:ext cx="1121876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Medium (API only)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29"/>
          <p:cNvSpPr/>
          <p:nvPr/>
        </p:nvSpPr>
        <p:spPr>
          <a:xfrm>
            <a:off x="4177336" y="2595246"/>
            <a:ext cx="885825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Static ML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29"/>
          <p:cNvSpPr/>
          <p:nvPr/>
        </p:nvSpPr>
        <p:spPr>
          <a:xfrm>
            <a:off x="5063161" y="2595246"/>
            <a:ext cx="1376595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Lacks inline enforcement for email/web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29"/>
          <p:cNvSpPr/>
          <p:nvPr/>
        </p:nvSpPr>
        <p:spPr>
          <a:xfrm>
            <a:off x="575072" y="3221720"/>
            <a:ext cx="1217730" cy="79005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29"/>
          <p:cNvSpPr/>
          <p:nvPr/>
        </p:nvSpPr>
        <p:spPr>
          <a:xfrm>
            <a:off x="1785658" y="3221720"/>
            <a:ext cx="7144" cy="79005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29"/>
          <p:cNvSpPr/>
          <p:nvPr/>
        </p:nvSpPr>
        <p:spPr>
          <a:xfrm>
            <a:off x="575072" y="4004630"/>
            <a:ext cx="121773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29"/>
          <p:cNvSpPr/>
          <p:nvPr/>
        </p:nvSpPr>
        <p:spPr>
          <a:xfrm>
            <a:off x="575072" y="3221720"/>
            <a:ext cx="1217730" cy="790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Cyberhaven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29"/>
          <p:cNvSpPr/>
          <p:nvPr/>
        </p:nvSpPr>
        <p:spPr>
          <a:xfrm>
            <a:off x="1792802" y="3221720"/>
            <a:ext cx="1262658" cy="79005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9"/>
          <p:cNvSpPr/>
          <p:nvPr/>
        </p:nvSpPr>
        <p:spPr>
          <a:xfrm>
            <a:off x="3048316" y="3221720"/>
            <a:ext cx="7144" cy="79005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29"/>
          <p:cNvSpPr/>
          <p:nvPr/>
        </p:nvSpPr>
        <p:spPr>
          <a:xfrm>
            <a:off x="1792802" y="4004630"/>
            <a:ext cx="126265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29"/>
          <p:cNvSpPr/>
          <p:nvPr/>
        </p:nvSpPr>
        <p:spPr>
          <a:xfrm>
            <a:off x="1792802" y="3221720"/>
            <a:ext cx="1262658" cy="790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Endpoint + Data Lineage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29"/>
          <p:cNvSpPr/>
          <p:nvPr/>
        </p:nvSpPr>
        <p:spPr>
          <a:xfrm>
            <a:off x="3055460" y="3221720"/>
            <a:ext cx="1121876" cy="79005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29"/>
          <p:cNvSpPr/>
          <p:nvPr/>
        </p:nvSpPr>
        <p:spPr>
          <a:xfrm>
            <a:off x="4170192" y="3221720"/>
            <a:ext cx="7144" cy="79005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29"/>
          <p:cNvSpPr/>
          <p:nvPr/>
        </p:nvSpPr>
        <p:spPr>
          <a:xfrm>
            <a:off x="3055460" y="4004630"/>
            <a:ext cx="1121876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29"/>
          <p:cNvSpPr/>
          <p:nvPr/>
        </p:nvSpPr>
        <p:spPr>
          <a:xfrm>
            <a:off x="3055460" y="3221720"/>
            <a:ext cx="1121876" cy="790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High (Lineage tracking)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29"/>
          <p:cNvSpPr/>
          <p:nvPr/>
        </p:nvSpPr>
        <p:spPr>
          <a:xfrm>
            <a:off x="4177336" y="3221720"/>
            <a:ext cx="885825" cy="79005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29"/>
          <p:cNvSpPr/>
          <p:nvPr/>
        </p:nvSpPr>
        <p:spPr>
          <a:xfrm>
            <a:off x="5056017" y="3221720"/>
            <a:ext cx="7144" cy="79005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29"/>
          <p:cNvSpPr/>
          <p:nvPr/>
        </p:nvSpPr>
        <p:spPr>
          <a:xfrm>
            <a:off x="4177336" y="4004630"/>
            <a:ext cx="8858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29"/>
          <p:cNvSpPr/>
          <p:nvPr/>
        </p:nvSpPr>
        <p:spPr>
          <a:xfrm>
            <a:off x="4177336" y="3221720"/>
            <a:ext cx="885825" cy="790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Partial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29"/>
          <p:cNvSpPr/>
          <p:nvPr/>
        </p:nvSpPr>
        <p:spPr>
          <a:xfrm>
            <a:off x="5063161" y="3221720"/>
            <a:ext cx="1376595" cy="79005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29"/>
          <p:cNvSpPr/>
          <p:nvPr/>
        </p:nvSpPr>
        <p:spPr>
          <a:xfrm>
            <a:off x="5063161" y="4004630"/>
            <a:ext cx="137659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29"/>
          <p:cNvSpPr/>
          <p:nvPr/>
        </p:nvSpPr>
        <p:spPr>
          <a:xfrm>
            <a:off x="5063161" y="3221720"/>
            <a:ext cx="1376595" cy="790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High endpoint overhead; struggles with semantic meaning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29"/>
          <p:cNvSpPr/>
          <p:nvPr/>
        </p:nvSpPr>
        <p:spPr>
          <a:xfrm>
            <a:off x="575072" y="4008202"/>
            <a:ext cx="1217730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Legacy DLP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29"/>
          <p:cNvSpPr/>
          <p:nvPr/>
        </p:nvSpPr>
        <p:spPr>
          <a:xfrm>
            <a:off x="1792802" y="4008202"/>
            <a:ext cx="1262658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Per-Channel Regex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29"/>
          <p:cNvSpPr/>
          <p:nvPr/>
        </p:nvSpPr>
        <p:spPr>
          <a:xfrm>
            <a:off x="3055460" y="4008202"/>
            <a:ext cx="1121876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Low (Regex only)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29"/>
          <p:cNvSpPr/>
          <p:nvPr/>
        </p:nvSpPr>
        <p:spPr>
          <a:xfrm>
            <a:off x="4177336" y="4008202"/>
            <a:ext cx="885825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29"/>
          <p:cNvSpPr/>
          <p:nvPr/>
        </p:nvSpPr>
        <p:spPr>
          <a:xfrm>
            <a:off x="5063161" y="4008202"/>
            <a:ext cx="1376595" cy="62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Blind to AI meaning; high false positive rate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29"/>
          <p:cNvSpPr/>
          <p:nvPr/>
        </p:nvSpPr>
        <p:spPr>
          <a:xfrm>
            <a:off x="6614778" y="1208689"/>
            <a:ext cx="1957722" cy="2739628"/>
          </a:xfrm>
          <a:prstGeom prst="rect">
            <a:avLst/>
          </a:prstGeom>
          <a:solidFill>
            <a:srgbClr val="00BFA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29"/>
          <p:cNvSpPr/>
          <p:nvPr/>
        </p:nvSpPr>
        <p:spPr>
          <a:xfrm>
            <a:off x="6614778" y="1208689"/>
            <a:ext cx="1957722" cy="714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29"/>
          <p:cNvSpPr/>
          <p:nvPr/>
        </p:nvSpPr>
        <p:spPr>
          <a:xfrm>
            <a:off x="8565356" y="1208689"/>
            <a:ext cx="7144" cy="27396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9"/>
          <p:cNvSpPr/>
          <p:nvPr/>
        </p:nvSpPr>
        <p:spPr>
          <a:xfrm>
            <a:off x="6614778" y="3941173"/>
            <a:ext cx="1957722" cy="714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29"/>
          <p:cNvSpPr/>
          <p:nvPr/>
        </p:nvSpPr>
        <p:spPr>
          <a:xfrm>
            <a:off x="6614778" y="1208689"/>
            <a:ext cx="28575" cy="27396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29"/>
          <p:cNvSpPr/>
          <p:nvPr/>
        </p:nvSpPr>
        <p:spPr>
          <a:xfrm>
            <a:off x="6736445" y="1308702"/>
            <a:ext cx="172175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THE SENTINEL ADVANTAGE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29"/>
          <p:cNvSpPr/>
          <p:nvPr/>
        </p:nvSpPr>
        <p:spPr>
          <a:xfrm>
            <a:off x="6736445" y="1712323"/>
            <a:ext cx="1721755" cy="1928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While competitors are bolting AI features onto legacy products, Sentinel is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natively for agentic workflows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 By intercepting MCP protocols and applying </a:t>
            </a:r>
            <a:r>
              <a:rPr b="1" i="0" lang="en-US" sz="88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continuous self-learning</a:t>
            </a:r>
            <a:r>
              <a:rPr b="0" i="0" lang="en-US" sz="942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, Sentinel secures the semantic meaning of data, not just the regex patterns.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9" name="Google Shape;14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30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Sentinel processes data through 6 input channels into a unified 3-lane architecture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0"/>
          <p:cNvSpPr/>
          <p:nvPr/>
        </p:nvSpPr>
        <p:spPr>
          <a:xfrm>
            <a:off x="2000250" y="3218957"/>
            <a:ext cx="285750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0"/>
          <p:cNvSpPr/>
          <p:nvPr/>
        </p:nvSpPr>
        <p:spPr>
          <a:xfrm>
            <a:off x="4572000" y="3218957"/>
            <a:ext cx="285750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0"/>
          <p:cNvSpPr/>
          <p:nvPr/>
        </p:nvSpPr>
        <p:spPr>
          <a:xfrm>
            <a:off x="4714875" y="4361957"/>
            <a:ext cx="142875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30"/>
          <p:cNvSpPr/>
          <p:nvPr/>
        </p:nvSpPr>
        <p:spPr>
          <a:xfrm>
            <a:off x="4714875" y="2075957"/>
            <a:ext cx="142875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0"/>
          <p:cNvSpPr/>
          <p:nvPr/>
        </p:nvSpPr>
        <p:spPr>
          <a:xfrm>
            <a:off x="7715250" y="4076207"/>
            <a:ext cx="142875" cy="14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0"/>
          <p:cNvSpPr/>
          <p:nvPr/>
        </p:nvSpPr>
        <p:spPr>
          <a:xfrm>
            <a:off x="571500" y="1468738"/>
            <a:ext cx="1428750" cy="46434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0"/>
          <p:cNvSpPr/>
          <p:nvPr/>
        </p:nvSpPr>
        <p:spPr>
          <a:xfrm>
            <a:off x="571500" y="14687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0"/>
          <p:cNvSpPr/>
          <p:nvPr/>
        </p:nvSpPr>
        <p:spPr>
          <a:xfrm>
            <a:off x="1993106" y="146873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0"/>
          <p:cNvSpPr/>
          <p:nvPr/>
        </p:nvSpPr>
        <p:spPr>
          <a:xfrm>
            <a:off x="571500" y="19259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30"/>
          <p:cNvSpPr/>
          <p:nvPr/>
        </p:nvSpPr>
        <p:spPr>
          <a:xfrm>
            <a:off x="571500" y="1468738"/>
            <a:ext cx="28575" cy="464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0"/>
          <p:cNvSpPr/>
          <p:nvPr/>
        </p:nvSpPr>
        <p:spPr>
          <a:xfrm>
            <a:off x="657225" y="1561607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0"/>
          <p:cNvSpPr/>
          <p:nvPr/>
        </p:nvSpPr>
        <p:spPr>
          <a:xfrm>
            <a:off x="657225" y="1727699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SMTP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0"/>
          <p:cNvSpPr/>
          <p:nvPr/>
        </p:nvSpPr>
        <p:spPr>
          <a:xfrm>
            <a:off x="571500" y="2040238"/>
            <a:ext cx="1428750" cy="46434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30"/>
          <p:cNvSpPr/>
          <p:nvPr/>
        </p:nvSpPr>
        <p:spPr>
          <a:xfrm>
            <a:off x="571500" y="20402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0"/>
          <p:cNvSpPr/>
          <p:nvPr/>
        </p:nvSpPr>
        <p:spPr>
          <a:xfrm>
            <a:off x="1993106" y="204023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0"/>
          <p:cNvSpPr/>
          <p:nvPr/>
        </p:nvSpPr>
        <p:spPr>
          <a:xfrm>
            <a:off x="571500" y="24974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0"/>
          <p:cNvSpPr/>
          <p:nvPr/>
        </p:nvSpPr>
        <p:spPr>
          <a:xfrm>
            <a:off x="571500" y="2040238"/>
            <a:ext cx="28575" cy="464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30"/>
          <p:cNvSpPr/>
          <p:nvPr/>
        </p:nvSpPr>
        <p:spPr>
          <a:xfrm>
            <a:off x="657225" y="2133107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Web Proxy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0"/>
          <p:cNvSpPr/>
          <p:nvPr/>
        </p:nvSpPr>
        <p:spPr>
          <a:xfrm>
            <a:off x="657225" y="2299199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ICAP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0"/>
          <p:cNvSpPr/>
          <p:nvPr/>
        </p:nvSpPr>
        <p:spPr>
          <a:xfrm>
            <a:off x="571500" y="2611738"/>
            <a:ext cx="1428750" cy="46434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0"/>
          <p:cNvSpPr/>
          <p:nvPr/>
        </p:nvSpPr>
        <p:spPr>
          <a:xfrm>
            <a:off x="571500" y="26117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0"/>
          <p:cNvSpPr/>
          <p:nvPr/>
        </p:nvSpPr>
        <p:spPr>
          <a:xfrm>
            <a:off x="1993106" y="261173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0"/>
          <p:cNvSpPr/>
          <p:nvPr/>
        </p:nvSpPr>
        <p:spPr>
          <a:xfrm>
            <a:off x="571500" y="30689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0"/>
          <p:cNvSpPr/>
          <p:nvPr/>
        </p:nvSpPr>
        <p:spPr>
          <a:xfrm>
            <a:off x="571500" y="2611738"/>
            <a:ext cx="28575" cy="464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0"/>
          <p:cNvSpPr/>
          <p:nvPr/>
        </p:nvSpPr>
        <p:spPr>
          <a:xfrm>
            <a:off x="657225" y="2704607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Endpoint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0"/>
          <p:cNvSpPr/>
          <p:nvPr/>
        </p:nvSpPr>
        <p:spPr>
          <a:xfrm>
            <a:off x="657225" y="2870699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Agent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0"/>
          <p:cNvSpPr/>
          <p:nvPr/>
        </p:nvSpPr>
        <p:spPr>
          <a:xfrm>
            <a:off x="571500" y="3183238"/>
            <a:ext cx="1428750" cy="46434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30"/>
          <p:cNvSpPr/>
          <p:nvPr/>
        </p:nvSpPr>
        <p:spPr>
          <a:xfrm>
            <a:off x="571500" y="31832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30"/>
          <p:cNvSpPr/>
          <p:nvPr/>
        </p:nvSpPr>
        <p:spPr>
          <a:xfrm>
            <a:off x="1993106" y="318323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0"/>
          <p:cNvSpPr/>
          <p:nvPr/>
        </p:nvSpPr>
        <p:spPr>
          <a:xfrm>
            <a:off x="571500" y="36404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30"/>
          <p:cNvSpPr/>
          <p:nvPr/>
        </p:nvSpPr>
        <p:spPr>
          <a:xfrm>
            <a:off x="571500" y="3183238"/>
            <a:ext cx="28575" cy="464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30"/>
          <p:cNvSpPr/>
          <p:nvPr/>
        </p:nvSpPr>
        <p:spPr>
          <a:xfrm>
            <a:off x="657225" y="3276107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API / LLM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30"/>
          <p:cNvSpPr/>
          <p:nvPr/>
        </p:nvSpPr>
        <p:spPr>
          <a:xfrm>
            <a:off x="657225" y="3442199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Sidecar Proxy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30"/>
          <p:cNvSpPr/>
          <p:nvPr/>
        </p:nvSpPr>
        <p:spPr>
          <a:xfrm>
            <a:off x="571500" y="3754738"/>
            <a:ext cx="1428750" cy="46434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0"/>
          <p:cNvSpPr/>
          <p:nvPr/>
        </p:nvSpPr>
        <p:spPr>
          <a:xfrm>
            <a:off x="571500" y="37547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30"/>
          <p:cNvSpPr/>
          <p:nvPr/>
        </p:nvSpPr>
        <p:spPr>
          <a:xfrm>
            <a:off x="1993106" y="375473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30"/>
          <p:cNvSpPr/>
          <p:nvPr/>
        </p:nvSpPr>
        <p:spPr>
          <a:xfrm>
            <a:off x="571500" y="42119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0"/>
          <p:cNvSpPr/>
          <p:nvPr/>
        </p:nvSpPr>
        <p:spPr>
          <a:xfrm>
            <a:off x="571500" y="3754738"/>
            <a:ext cx="28575" cy="464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30"/>
          <p:cNvSpPr/>
          <p:nvPr/>
        </p:nvSpPr>
        <p:spPr>
          <a:xfrm>
            <a:off x="657225" y="3847607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Cloud Sync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0"/>
          <p:cNvSpPr/>
          <p:nvPr/>
        </p:nvSpPr>
        <p:spPr>
          <a:xfrm>
            <a:off x="657225" y="4013699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S3 / GCS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0"/>
          <p:cNvSpPr/>
          <p:nvPr/>
        </p:nvSpPr>
        <p:spPr>
          <a:xfrm>
            <a:off x="571500" y="4326238"/>
            <a:ext cx="1428750" cy="464344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0"/>
          <p:cNvSpPr/>
          <p:nvPr/>
        </p:nvSpPr>
        <p:spPr>
          <a:xfrm>
            <a:off x="571500" y="43262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0"/>
          <p:cNvSpPr/>
          <p:nvPr/>
        </p:nvSpPr>
        <p:spPr>
          <a:xfrm>
            <a:off x="1993106" y="4326238"/>
            <a:ext cx="7144" cy="4643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0"/>
          <p:cNvSpPr/>
          <p:nvPr/>
        </p:nvSpPr>
        <p:spPr>
          <a:xfrm>
            <a:off x="571500" y="4783438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0"/>
          <p:cNvSpPr/>
          <p:nvPr/>
        </p:nvSpPr>
        <p:spPr>
          <a:xfrm>
            <a:off x="571500" y="4326238"/>
            <a:ext cx="28575" cy="464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0"/>
          <p:cNvSpPr/>
          <p:nvPr/>
        </p:nvSpPr>
        <p:spPr>
          <a:xfrm>
            <a:off x="657225" y="4419107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Chat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0"/>
          <p:cNvSpPr/>
          <p:nvPr/>
        </p:nvSpPr>
        <p:spPr>
          <a:xfrm>
            <a:off x="657225" y="4585199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Webhook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0"/>
          <p:cNvSpPr/>
          <p:nvPr/>
        </p:nvSpPr>
        <p:spPr>
          <a:xfrm>
            <a:off x="2047856" y="1647332"/>
            <a:ext cx="2286000" cy="471488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0"/>
          <p:cNvSpPr/>
          <p:nvPr/>
        </p:nvSpPr>
        <p:spPr>
          <a:xfrm>
            <a:off x="2047856" y="1647332"/>
            <a:ext cx="2286000" cy="14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0"/>
          <p:cNvSpPr/>
          <p:nvPr/>
        </p:nvSpPr>
        <p:spPr>
          <a:xfrm>
            <a:off x="4326713" y="1647332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0"/>
          <p:cNvSpPr/>
          <p:nvPr/>
        </p:nvSpPr>
        <p:spPr>
          <a:xfrm>
            <a:off x="2047856" y="2111676"/>
            <a:ext cx="2286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0"/>
          <p:cNvSpPr/>
          <p:nvPr/>
        </p:nvSpPr>
        <p:spPr>
          <a:xfrm>
            <a:off x="2047856" y="1647332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30"/>
          <p:cNvSpPr/>
          <p:nvPr/>
        </p:nvSpPr>
        <p:spPr>
          <a:xfrm>
            <a:off x="2133581" y="1743773"/>
            <a:ext cx="211455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Central Service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30"/>
          <p:cNvSpPr/>
          <p:nvPr/>
        </p:nvSpPr>
        <p:spPr>
          <a:xfrm>
            <a:off x="2133581" y="1909865"/>
            <a:ext cx="211455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Ingress &amp; Routing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0"/>
          <p:cNvSpPr/>
          <p:nvPr/>
        </p:nvSpPr>
        <p:spPr>
          <a:xfrm>
            <a:off x="3183713" y="2222404"/>
            <a:ext cx="14288" cy="1428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0"/>
          <p:cNvSpPr/>
          <p:nvPr/>
        </p:nvSpPr>
        <p:spPr>
          <a:xfrm>
            <a:off x="2047856" y="2479579"/>
            <a:ext cx="2286000" cy="471488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0"/>
          <p:cNvSpPr/>
          <p:nvPr/>
        </p:nvSpPr>
        <p:spPr>
          <a:xfrm>
            <a:off x="2047856" y="2479579"/>
            <a:ext cx="2286000" cy="14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0"/>
          <p:cNvSpPr/>
          <p:nvPr/>
        </p:nvSpPr>
        <p:spPr>
          <a:xfrm>
            <a:off x="4326713" y="2479579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0"/>
          <p:cNvSpPr/>
          <p:nvPr/>
        </p:nvSpPr>
        <p:spPr>
          <a:xfrm>
            <a:off x="2047856" y="2943923"/>
            <a:ext cx="2286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0"/>
          <p:cNvSpPr/>
          <p:nvPr/>
        </p:nvSpPr>
        <p:spPr>
          <a:xfrm>
            <a:off x="2047856" y="2479579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0"/>
          <p:cNvSpPr/>
          <p:nvPr/>
        </p:nvSpPr>
        <p:spPr>
          <a:xfrm>
            <a:off x="2133581" y="2576020"/>
            <a:ext cx="211455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Context Enrichment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0"/>
          <p:cNvSpPr/>
          <p:nvPr/>
        </p:nvSpPr>
        <p:spPr>
          <a:xfrm>
            <a:off x="2133581" y="2742112"/>
            <a:ext cx="211455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User Risk | Device | Location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0"/>
          <p:cNvSpPr/>
          <p:nvPr/>
        </p:nvSpPr>
        <p:spPr>
          <a:xfrm>
            <a:off x="3183713" y="3054651"/>
            <a:ext cx="14288" cy="1428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0"/>
          <p:cNvSpPr/>
          <p:nvPr/>
        </p:nvSpPr>
        <p:spPr>
          <a:xfrm>
            <a:off x="2047856" y="3311826"/>
            <a:ext cx="2286000" cy="471488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0"/>
          <p:cNvSpPr/>
          <p:nvPr/>
        </p:nvSpPr>
        <p:spPr>
          <a:xfrm>
            <a:off x="2047856" y="3311826"/>
            <a:ext cx="2286000" cy="14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0"/>
          <p:cNvSpPr/>
          <p:nvPr/>
        </p:nvSpPr>
        <p:spPr>
          <a:xfrm>
            <a:off x="4326713" y="3311826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30"/>
          <p:cNvSpPr/>
          <p:nvPr/>
        </p:nvSpPr>
        <p:spPr>
          <a:xfrm>
            <a:off x="2047856" y="3776170"/>
            <a:ext cx="2286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0"/>
          <p:cNvSpPr/>
          <p:nvPr/>
        </p:nvSpPr>
        <p:spPr>
          <a:xfrm>
            <a:off x="2047856" y="3311826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30"/>
          <p:cNvSpPr/>
          <p:nvPr/>
        </p:nvSpPr>
        <p:spPr>
          <a:xfrm>
            <a:off x="2133581" y="3408266"/>
            <a:ext cx="211455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Content Normalization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0"/>
          <p:cNvSpPr/>
          <p:nvPr/>
        </p:nvSpPr>
        <p:spPr>
          <a:xfrm>
            <a:off x="2133581" y="3574359"/>
            <a:ext cx="211455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Base64 | Hex | Unicode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0"/>
          <p:cNvSpPr/>
          <p:nvPr/>
        </p:nvSpPr>
        <p:spPr>
          <a:xfrm>
            <a:off x="3183713" y="3886898"/>
            <a:ext cx="14288" cy="1428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0"/>
          <p:cNvSpPr/>
          <p:nvPr/>
        </p:nvSpPr>
        <p:spPr>
          <a:xfrm>
            <a:off x="2047856" y="4144073"/>
            <a:ext cx="2286000" cy="471488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30"/>
          <p:cNvSpPr/>
          <p:nvPr/>
        </p:nvSpPr>
        <p:spPr>
          <a:xfrm>
            <a:off x="2047856" y="4144073"/>
            <a:ext cx="2286000" cy="14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0"/>
          <p:cNvSpPr/>
          <p:nvPr/>
        </p:nvSpPr>
        <p:spPr>
          <a:xfrm>
            <a:off x="4326713" y="4144073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0"/>
          <p:cNvSpPr/>
          <p:nvPr/>
        </p:nvSpPr>
        <p:spPr>
          <a:xfrm>
            <a:off x="2047856" y="4608416"/>
            <a:ext cx="2286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0"/>
          <p:cNvSpPr/>
          <p:nvPr/>
        </p:nvSpPr>
        <p:spPr>
          <a:xfrm>
            <a:off x="2047856" y="4144073"/>
            <a:ext cx="7144" cy="471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0"/>
          <p:cNvSpPr/>
          <p:nvPr/>
        </p:nvSpPr>
        <p:spPr>
          <a:xfrm>
            <a:off x="2133581" y="4240513"/>
            <a:ext cx="211455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Content Extraction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30"/>
          <p:cNvSpPr/>
          <p:nvPr/>
        </p:nvSpPr>
        <p:spPr>
          <a:xfrm>
            <a:off x="2133581" y="4406605"/>
            <a:ext cx="211455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DOCX | PDF | ZIP (&lt;10ms)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0"/>
          <p:cNvSpPr/>
          <p:nvPr/>
        </p:nvSpPr>
        <p:spPr>
          <a:xfrm>
            <a:off x="4381463" y="1294414"/>
            <a:ext cx="2714625" cy="859036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0"/>
          <p:cNvSpPr/>
          <p:nvPr/>
        </p:nvSpPr>
        <p:spPr>
          <a:xfrm>
            <a:off x="4381463" y="1294414"/>
            <a:ext cx="2714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0"/>
          <p:cNvSpPr/>
          <p:nvPr/>
        </p:nvSpPr>
        <p:spPr>
          <a:xfrm>
            <a:off x="7088944" y="1294414"/>
            <a:ext cx="7144" cy="8590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0"/>
          <p:cNvSpPr/>
          <p:nvPr/>
        </p:nvSpPr>
        <p:spPr>
          <a:xfrm>
            <a:off x="4381463" y="2146306"/>
            <a:ext cx="2714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30"/>
          <p:cNvSpPr/>
          <p:nvPr/>
        </p:nvSpPr>
        <p:spPr>
          <a:xfrm>
            <a:off x="4381463" y="1294414"/>
            <a:ext cx="28575" cy="8590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0"/>
          <p:cNvSpPr/>
          <p:nvPr/>
        </p:nvSpPr>
        <p:spPr>
          <a:xfrm>
            <a:off x="4467188" y="1386390"/>
            <a:ext cx="2543175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 Lane (Slow)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0"/>
          <p:cNvSpPr/>
          <p:nvPr/>
        </p:nvSpPr>
        <p:spPr>
          <a:xfrm>
            <a:off x="4467188" y="1552482"/>
            <a:ext cx="25431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Python | sec-min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30"/>
          <p:cNvSpPr/>
          <p:nvPr/>
        </p:nvSpPr>
        <p:spPr>
          <a:xfrm>
            <a:off x="4467188" y="1722146"/>
            <a:ext cx="2543175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74"/>
              <a:buFont typeface="Inter"/>
              <a:buNone/>
            </a:pP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LLM Semantic Analysis</a:t>
            </a:r>
            <a:b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Cross-Channel Correlation</a:t>
            </a:r>
            <a:b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Self-Learning Loop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0"/>
          <p:cNvSpPr/>
          <p:nvPr/>
        </p:nvSpPr>
        <p:spPr>
          <a:xfrm>
            <a:off x="4381463" y="2717109"/>
            <a:ext cx="2714625" cy="859036"/>
          </a:xfrm>
          <a:prstGeom prst="rect">
            <a:avLst/>
          </a:prstGeom>
          <a:solidFill>
            <a:srgbClr val="00BFA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0"/>
          <p:cNvSpPr/>
          <p:nvPr/>
        </p:nvSpPr>
        <p:spPr>
          <a:xfrm>
            <a:off x="4381463" y="2717109"/>
            <a:ext cx="2714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0"/>
          <p:cNvSpPr/>
          <p:nvPr/>
        </p:nvSpPr>
        <p:spPr>
          <a:xfrm>
            <a:off x="7088944" y="2717109"/>
            <a:ext cx="7144" cy="8590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0"/>
          <p:cNvSpPr/>
          <p:nvPr/>
        </p:nvSpPr>
        <p:spPr>
          <a:xfrm>
            <a:off x="4381463" y="3569001"/>
            <a:ext cx="2714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0"/>
          <p:cNvSpPr/>
          <p:nvPr/>
        </p:nvSpPr>
        <p:spPr>
          <a:xfrm>
            <a:off x="4381463" y="2717109"/>
            <a:ext cx="28575" cy="8590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0"/>
          <p:cNvSpPr/>
          <p:nvPr/>
        </p:nvSpPr>
        <p:spPr>
          <a:xfrm>
            <a:off x="4467188" y="2809977"/>
            <a:ext cx="2543175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 (Inline)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0"/>
          <p:cNvSpPr/>
          <p:nvPr/>
        </p:nvSpPr>
        <p:spPr>
          <a:xfrm>
            <a:off x="4467188" y="2976070"/>
            <a:ext cx="25431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Go | &lt;50ms | Fail-Closed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0"/>
          <p:cNvSpPr/>
          <p:nvPr/>
        </p:nvSpPr>
        <p:spPr>
          <a:xfrm>
            <a:off x="4467188" y="3145734"/>
            <a:ext cx="2543175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74"/>
              <a:buFont typeface="Inter"/>
              <a:buNone/>
            </a:pP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9-Stage Detection Pipeline</a:t>
            </a:r>
            <a:b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OPA Policy Evaluation</a:t>
            </a:r>
            <a:b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Immediate Enforcement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30"/>
          <p:cNvSpPr/>
          <p:nvPr/>
        </p:nvSpPr>
        <p:spPr>
          <a:xfrm>
            <a:off x="4381463" y="4141589"/>
            <a:ext cx="2714625" cy="859036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0"/>
          <p:cNvSpPr/>
          <p:nvPr/>
        </p:nvSpPr>
        <p:spPr>
          <a:xfrm>
            <a:off x="4381463" y="4141589"/>
            <a:ext cx="2714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0"/>
          <p:cNvSpPr/>
          <p:nvPr/>
        </p:nvSpPr>
        <p:spPr>
          <a:xfrm>
            <a:off x="7088944" y="4141589"/>
            <a:ext cx="7144" cy="8590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0"/>
          <p:cNvSpPr/>
          <p:nvPr/>
        </p:nvSpPr>
        <p:spPr>
          <a:xfrm>
            <a:off x="4381463" y="4993481"/>
            <a:ext cx="27146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0"/>
          <p:cNvSpPr/>
          <p:nvPr/>
        </p:nvSpPr>
        <p:spPr>
          <a:xfrm>
            <a:off x="4381463" y="4141589"/>
            <a:ext cx="28575" cy="859036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0"/>
          <p:cNvSpPr/>
          <p:nvPr/>
        </p:nvSpPr>
        <p:spPr>
          <a:xfrm>
            <a:off x="4467188" y="4235351"/>
            <a:ext cx="2543175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 (Async/Sync)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0"/>
          <p:cNvSpPr/>
          <p:nvPr/>
        </p:nvSpPr>
        <p:spPr>
          <a:xfrm>
            <a:off x="4467188" y="4401443"/>
            <a:ext cx="25431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Python | &lt;500ms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0"/>
          <p:cNvSpPr/>
          <p:nvPr/>
        </p:nvSpPr>
        <p:spPr>
          <a:xfrm>
            <a:off x="4467188" y="4571107"/>
            <a:ext cx="2543175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74"/>
              <a:buFont typeface="Inter"/>
              <a:buNone/>
            </a:pP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Regex + NER Engine</a:t>
            </a:r>
            <a:b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Keyword-Density Classifier</a:t>
            </a:r>
            <a:b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Confidence Adjustment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0"/>
          <p:cNvSpPr/>
          <p:nvPr/>
        </p:nvSpPr>
        <p:spPr>
          <a:xfrm>
            <a:off x="7143694" y="3771900"/>
            <a:ext cx="1428750" cy="485775"/>
          </a:xfrm>
          <a:prstGeom prst="rect">
            <a:avLst/>
          </a:prstGeom>
          <a:solidFill>
            <a:srgbClr val="E5393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0"/>
          <p:cNvSpPr/>
          <p:nvPr/>
        </p:nvSpPr>
        <p:spPr>
          <a:xfrm>
            <a:off x="7143694" y="3771900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0"/>
          <p:cNvSpPr/>
          <p:nvPr/>
        </p:nvSpPr>
        <p:spPr>
          <a:xfrm>
            <a:off x="8565300" y="3771900"/>
            <a:ext cx="7144" cy="4857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0"/>
          <p:cNvSpPr/>
          <p:nvPr/>
        </p:nvSpPr>
        <p:spPr>
          <a:xfrm>
            <a:off x="7143694" y="4229100"/>
            <a:ext cx="1428750" cy="28575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0"/>
          <p:cNvSpPr/>
          <p:nvPr/>
        </p:nvSpPr>
        <p:spPr>
          <a:xfrm>
            <a:off x="7143694" y="3771900"/>
            <a:ext cx="7144" cy="4857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30"/>
          <p:cNvSpPr/>
          <p:nvPr/>
        </p:nvSpPr>
        <p:spPr>
          <a:xfrm>
            <a:off x="7229419" y="3893344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 JetStream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0"/>
          <p:cNvSpPr/>
          <p:nvPr/>
        </p:nvSpPr>
        <p:spPr>
          <a:xfrm>
            <a:off x="7229419" y="4059436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Event Bus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0"/>
          <p:cNvSpPr/>
          <p:nvPr/>
        </p:nvSpPr>
        <p:spPr>
          <a:xfrm>
            <a:off x="7143694" y="4514850"/>
            <a:ext cx="1428750" cy="485775"/>
          </a:xfrm>
          <a:prstGeom prst="rect">
            <a:avLst/>
          </a:prstGeom>
          <a:solidFill>
            <a:srgbClr val="E5393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0"/>
          <p:cNvSpPr/>
          <p:nvPr/>
        </p:nvSpPr>
        <p:spPr>
          <a:xfrm>
            <a:off x="7143694" y="4514850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0"/>
          <p:cNvSpPr/>
          <p:nvPr/>
        </p:nvSpPr>
        <p:spPr>
          <a:xfrm>
            <a:off x="8565300" y="4514850"/>
            <a:ext cx="7144" cy="4857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0"/>
          <p:cNvSpPr/>
          <p:nvPr/>
        </p:nvSpPr>
        <p:spPr>
          <a:xfrm>
            <a:off x="7143694" y="4972050"/>
            <a:ext cx="1428750" cy="28575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0"/>
          <p:cNvSpPr/>
          <p:nvPr/>
        </p:nvSpPr>
        <p:spPr>
          <a:xfrm>
            <a:off x="7143694" y="4514850"/>
            <a:ext cx="7144" cy="4857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0"/>
          <p:cNvSpPr/>
          <p:nvPr/>
        </p:nvSpPr>
        <p:spPr>
          <a:xfrm>
            <a:off x="7229419" y="4636294"/>
            <a:ext cx="1257300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ClickHouse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0"/>
          <p:cNvSpPr/>
          <p:nvPr/>
        </p:nvSpPr>
        <p:spPr>
          <a:xfrm>
            <a:off x="7229419" y="4802386"/>
            <a:ext cx="12573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Audit Store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2" name="Google Shape;16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31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End-to-end request lifecycle: from client ingress to decision enforcement in &lt;50ms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1"/>
          <p:cNvSpPr/>
          <p:nvPr/>
        </p:nvSpPr>
        <p:spPr>
          <a:xfrm>
            <a:off x="571500" y="1437289"/>
            <a:ext cx="857250" cy="278606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1"/>
          <p:cNvSpPr/>
          <p:nvPr/>
        </p:nvSpPr>
        <p:spPr>
          <a:xfrm>
            <a:off x="571500" y="1437289"/>
            <a:ext cx="857250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1"/>
          <p:cNvSpPr/>
          <p:nvPr/>
        </p:nvSpPr>
        <p:spPr>
          <a:xfrm>
            <a:off x="1714500" y="1437289"/>
            <a:ext cx="857250" cy="278606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1"/>
          <p:cNvSpPr/>
          <p:nvPr/>
        </p:nvSpPr>
        <p:spPr>
          <a:xfrm>
            <a:off x="1714500" y="1437289"/>
            <a:ext cx="857250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Central Service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1"/>
          <p:cNvSpPr/>
          <p:nvPr/>
        </p:nvSpPr>
        <p:spPr>
          <a:xfrm>
            <a:off x="2857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1"/>
          <p:cNvSpPr/>
          <p:nvPr/>
        </p:nvSpPr>
        <p:spPr>
          <a:xfrm>
            <a:off x="2857500" y="1437289"/>
            <a:ext cx="857250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1"/>
          <p:cNvSpPr/>
          <p:nvPr/>
        </p:nvSpPr>
        <p:spPr>
          <a:xfrm>
            <a:off x="3707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1"/>
          <p:cNvSpPr/>
          <p:nvPr/>
        </p:nvSpPr>
        <p:spPr>
          <a:xfrm>
            <a:off x="2857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1"/>
          <p:cNvSpPr/>
          <p:nvPr/>
        </p:nvSpPr>
        <p:spPr>
          <a:xfrm>
            <a:off x="2857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1"/>
          <p:cNvSpPr/>
          <p:nvPr/>
        </p:nvSpPr>
        <p:spPr>
          <a:xfrm>
            <a:off x="2857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1"/>
          <p:cNvSpPr/>
          <p:nvPr/>
        </p:nvSpPr>
        <p:spPr>
          <a:xfrm>
            <a:off x="4000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1"/>
          <p:cNvSpPr/>
          <p:nvPr/>
        </p:nvSpPr>
        <p:spPr>
          <a:xfrm>
            <a:off x="4000500" y="1437289"/>
            <a:ext cx="857250" cy="214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1"/>
          <p:cNvSpPr/>
          <p:nvPr/>
        </p:nvSpPr>
        <p:spPr>
          <a:xfrm>
            <a:off x="4850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1"/>
          <p:cNvSpPr/>
          <p:nvPr/>
        </p:nvSpPr>
        <p:spPr>
          <a:xfrm>
            <a:off x="4000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1"/>
          <p:cNvSpPr/>
          <p:nvPr/>
        </p:nvSpPr>
        <p:spPr>
          <a:xfrm>
            <a:off x="4000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1"/>
          <p:cNvSpPr/>
          <p:nvPr/>
        </p:nvSpPr>
        <p:spPr>
          <a:xfrm>
            <a:off x="4000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OPA Engine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1"/>
          <p:cNvSpPr/>
          <p:nvPr/>
        </p:nvSpPr>
        <p:spPr>
          <a:xfrm>
            <a:off x="5143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1"/>
          <p:cNvSpPr/>
          <p:nvPr/>
        </p:nvSpPr>
        <p:spPr>
          <a:xfrm>
            <a:off x="5143500" y="1437289"/>
            <a:ext cx="857250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1"/>
          <p:cNvSpPr/>
          <p:nvPr/>
        </p:nvSpPr>
        <p:spPr>
          <a:xfrm>
            <a:off x="5993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1"/>
          <p:cNvSpPr/>
          <p:nvPr/>
        </p:nvSpPr>
        <p:spPr>
          <a:xfrm>
            <a:off x="5143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31"/>
          <p:cNvSpPr/>
          <p:nvPr/>
        </p:nvSpPr>
        <p:spPr>
          <a:xfrm>
            <a:off x="5143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1"/>
          <p:cNvSpPr/>
          <p:nvPr/>
        </p:nvSpPr>
        <p:spPr>
          <a:xfrm>
            <a:off x="5143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1"/>
          <p:cNvSpPr/>
          <p:nvPr/>
        </p:nvSpPr>
        <p:spPr>
          <a:xfrm>
            <a:off x="6286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1"/>
          <p:cNvSpPr/>
          <p:nvPr/>
        </p:nvSpPr>
        <p:spPr>
          <a:xfrm>
            <a:off x="6286500" y="1437289"/>
            <a:ext cx="857250" cy="214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1"/>
          <p:cNvSpPr/>
          <p:nvPr/>
        </p:nvSpPr>
        <p:spPr>
          <a:xfrm>
            <a:off x="7136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1"/>
          <p:cNvSpPr/>
          <p:nvPr/>
        </p:nvSpPr>
        <p:spPr>
          <a:xfrm>
            <a:off x="6286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1"/>
          <p:cNvSpPr/>
          <p:nvPr/>
        </p:nvSpPr>
        <p:spPr>
          <a:xfrm>
            <a:off x="6286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1"/>
          <p:cNvSpPr/>
          <p:nvPr/>
        </p:nvSpPr>
        <p:spPr>
          <a:xfrm>
            <a:off x="6286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1"/>
          <p:cNvSpPr/>
          <p:nvPr/>
        </p:nvSpPr>
        <p:spPr>
          <a:xfrm>
            <a:off x="7429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1"/>
          <p:cNvSpPr/>
          <p:nvPr/>
        </p:nvSpPr>
        <p:spPr>
          <a:xfrm>
            <a:off x="7429500" y="1437289"/>
            <a:ext cx="857250" cy="21431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1"/>
          <p:cNvSpPr/>
          <p:nvPr/>
        </p:nvSpPr>
        <p:spPr>
          <a:xfrm>
            <a:off x="8279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1"/>
          <p:cNvSpPr/>
          <p:nvPr/>
        </p:nvSpPr>
        <p:spPr>
          <a:xfrm>
            <a:off x="7429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1"/>
          <p:cNvSpPr/>
          <p:nvPr/>
        </p:nvSpPr>
        <p:spPr>
          <a:xfrm>
            <a:off x="7429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1"/>
          <p:cNvSpPr/>
          <p:nvPr/>
        </p:nvSpPr>
        <p:spPr>
          <a:xfrm>
            <a:off x="7429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 / Audit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31"/>
          <p:cNvSpPr/>
          <p:nvPr/>
        </p:nvSpPr>
        <p:spPr>
          <a:xfrm>
            <a:off x="1000125" y="2008789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1"/>
          <p:cNvSpPr/>
          <p:nvPr/>
        </p:nvSpPr>
        <p:spPr>
          <a:xfrm>
            <a:off x="1001911" y="1865914"/>
            <a:ext cx="1139428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SendRequest (Envelope)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31"/>
          <p:cNvSpPr/>
          <p:nvPr/>
        </p:nvSpPr>
        <p:spPr>
          <a:xfrm>
            <a:off x="2143125" y="2294539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1"/>
          <p:cNvSpPr/>
          <p:nvPr/>
        </p:nvSpPr>
        <p:spPr>
          <a:xfrm>
            <a:off x="2300288" y="2151664"/>
            <a:ext cx="8286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Process &amp; Detect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31"/>
          <p:cNvSpPr/>
          <p:nvPr/>
        </p:nvSpPr>
        <p:spPr>
          <a:xfrm>
            <a:off x="3286125" y="2580289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31"/>
          <p:cNvSpPr/>
          <p:nvPr/>
        </p:nvSpPr>
        <p:spPr>
          <a:xfrm>
            <a:off x="3365599" y="2437414"/>
            <a:ext cx="984052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Evaluate(EvalInput)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1"/>
          <p:cNvSpPr/>
          <p:nvPr/>
        </p:nvSpPr>
        <p:spPr>
          <a:xfrm>
            <a:off x="3054846" y="2737452"/>
            <a:ext cx="1605558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Decision (Block/Escalate/Allow)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1"/>
          <p:cNvSpPr/>
          <p:nvPr/>
        </p:nvSpPr>
        <p:spPr>
          <a:xfrm>
            <a:off x="2326184" y="3023202"/>
            <a:ext cx="776883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Return Decision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1"/>
          <p:cNvSpPr/>
          <p:nvPr/>
        </p:nvSpPr>
        <p:spPr>
          <a:xfrm>
            <a:off x="2000250" y="3366102"/>
            <a:ext cx="6000750" cy="128587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1"/>
          <p:cNvSpPr/>
          <p:nvPr/>
        </p:nvSpPr>
        <p:spPr>
          <a:xfrm>
            <a:off x="2000250" y="3366102"/>
            <a:ext cx="217884" cy="11608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1"/>
          <p:cNvSpPr/>
          <p:nvPr/>
        </p:nvSpPr>
        <p:spPr>
          <a:xfrm>
            <a:off x="2000250" y="3366102"/>
            <a:ext cx="21788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485"/>
              <a:buFont typeface="Inter"/>
              <a:buNone/>
            </a:pPr>
            <a:r>
              <a:rPr b="1" i="0" lang="en-US" sz="485" u="none" cap="none" strike="noStrike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ALT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1"/>
          <p:cNvSpPr/>
          <p:nvPr/>
        </p:nvSpPr>
        <p:spPr>
          <a:xfrm>
            <a:off x="2071688" y="3508977"/>
            <a:ext cx="144019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[if score ≥ escalate_threshold]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1"/>
          <p:cNvSpPr/>
          <p:nvPr/>
        </p:nvSpPr>
        <p:spPr>
          <a:xfrm>
            <a:off x="2143125" y="3723289"/>
            <a:ext cx="3429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1"/>
          <p:cNvSpPr/>
          <p:nvPr/>
        </p:nvSpPr>
        <p:spPr>
          <a:xfrm>
            <a:off x="3313807" y="3580414"/>
            <a:ext cx="1087636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Escalate (sync/async)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1"/>
          <p:cNvSpPr/>
          <p:nvPr/>
        </p:nvSpPr>
        <p:spPr>
          <a:xfrm>
            <a:off x="3495080" y="3809014"/>
            <a:ext cx="725091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Adjusted Score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1"/>
          <p:cNvSpPr/>
          <p:nvPr/>
        </p:nvSpPr>
        <p:spPr>
          <a:xfrm>
            <a:off x="2071688" y="4223352"/>
            <a:ext cx="1439466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[if uncertain / async sampling]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31"/>
          <p:cNvSpPr/>
          <p:nvPr/>
        </p:nvSpPr>
        <p:spPr>
          <a:xfrm>
            <a:off x="2143125" y="4437664"/>
            <a:ext cx="4572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1"/>
          <p:cNvSpPr/>
          <p:nvPr/>
        </p:nvSpPr>
        <p:spPr>
          <a:xfrm>
            <a:off x="3755827" y="4294789"/>
            <a:ext cx="1346597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Publish Escalation (async)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31"/>
          <p:cNvSpPr/>
          <p:nvPr/>
        </p:nvSpPr>
        <p:spPr>
          <a:xfrm>
            <a:off x="2143125" y="4866289"/>
            <a:ext cx="5715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1"/>
          <p:cNvSpPr/>
          <p:nvPr/>
        </p:nvSpPr>
        <p:spPr>
          <a:xfrm>
            <a:off x="4379119" y="4723414"/>
            <a:ext cx="1243013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Publish Decision (Audit)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1"/>
          <p:cNvSpPr/>
          <p:nvPr/>
        </p:nvSpPr>
        <p:spPr>
          <a:xfrm>
            <a:off x="1209080" y="5023452"/>
            <a:ext cx="725091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Final Response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4" name="Google Shape;16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32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Fast Lane executes a 9-stage detection pipeline with OPA policy evaluation in &lt;50ms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2"/>
          <p:cNvSpPr/>
          <p:nvPr/>
        </p:nvSpPr>
        <p:spPr>
          <a:xfrm>
            <a:off x="3376315" y="1671442"/>
            <a:ext cx="2391370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Ingress Request (Envelope + Content)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2"/>
          <p:cNvSpPr/>
          <p:nvPr/>
        </p:nvSpPr>
        <p:spPr>
          <a:xfrm>
            <a:off x="4564856" y="2108997"/>
            <a:ext cx="14288" cy="1714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2"/>
          <p:cNvSpPr/>
          <p:nvPr/>
        </p:nvSpPr>
        <p:spPr>
          <a:xfrm>
            <a:off x="571500" y="2423322"/>
            <a:ext cx="8001000" cy="51435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2"/>
          <p:cNvSpPr/>
          <p:nvPr/>
        </p:nvSpPr>
        <p:spPr>
          <a:xfrm>
            <a:off x="714375" y="2337597"/>
            <a:ext cx="3037880" cy="155377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2"/>
          <p:cNvSpPr/>
          <p:nvPr/>
        </p:nvSpPr>
        <p:spPr>
          <a:xfrm>
            <a:off x="714375" y="2337597"/>
            <a:ext cx="303788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9-STAGE DETECTION PIPELINE (PURE GO)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32"/>
          <p:cNvSpPr/>
          <p:nvPr/>
        </p:nvSpPr>
        <p:spPr>
          <a:xfrm>
            <a:off x="657225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2"/>
          <p:cNvSpPr/>
          <p:nvPr/>
        </p:nvSpPr>
        <p:spPr>
          <a:xfrm>
            <a:off x="657225" y="2816228"/>
            <a:ext cx="642938" cy="21431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2"/>
          <p:cNvSpPr/>
          <p:nvPr/>
        </p:nvSpPr>
        <p:spPr>
          <a:xfrm>
            <a:off x="657225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Normalize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2"/>
          <p:cNvSpPr/>
          <p:nvPr/>
        </p:nvSpPr>
        <p:spPr>
          <a:xfrm>
            <a:off x="1385888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2"/>
          <p:cNvSpPr/>
          <p:nvPr/>
        </p:nvSpPr>
        <p:spPr>
          <a:xfrm>
            <a:off x="1555552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2"/>
          <p:cNvSpPr/>
          <p:nvPr/>
        </p:nvSpPr>
        <p:spPr>
          <a:xfrm>
            <a:off x="1555552" y="2816228"/>
            <a:ext cx="642938" cy="21431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2"/>
          <p:cNvSpPr/>
          <p:nvPr/>
        </p:nvSpPr>
        <p:spPr>
          <a:xfrm>
            <a:off x="1555552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Extract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2"/>
          <p:cNvSpPr/>
          <p:nvPr/>
        </p:nvSpPr>
        <p:spPr>
          <a:xfrm>
            <a:off x="2284214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2"/>
          <p:cNvSpPr/>
          <p:nvPr/>
        </p:nvSpPr>
        <p:spPr>
          <a:xfrm>
            <a:off x="2453878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2"/>
          <p:cNvSpPr/>
          <p:nvPr/>
        </p:nvSpPr>
        <p:spPr>
          <a:xfrm>
            <a:off x="2453878" y="2816228"/>
            <a:ext cx="64293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2"/>
          <p:cNvSpPr/>
          <p:nvPr/>
        </p:nvSpPr>
        <p:spPr>
          <a:xfrm>
            <a:off x="2453878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FileType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32"/>
          <p:cNvSpPr/>
          <p:nvPr/>
        </p:nvSpPr>
        <p:spPr>
          <a:xfrm>
            <a:off x="3182541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2"/>
          <p:cNvSpPr/>
          <p:nvPr/>
        </p:nvSpPr>
        <p:spPr>
          <a:xfrm>
            <a:off x="3352205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2"/>
          <p:cNvSpPr/>
          <p:nvPr/>
        </p:nvSpPr>
        <p:spPr>
          <a:xfrm>
            <a:off x="3352205" y="2816228"/>
            <a:ext cx="64293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2"/>
          <p:cNvSpPr/>
          <p:nvPr/>
        </p:nvSpPr>
        <p:spPr>
          <a:xfrm>
            <a:off x="3352205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Regex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32"/>
          <p:cNvSpPr/>
          <p:nvPr/>
        </p:nvSpPr>
        <p:spPr>
          <a:xfrm>
            <a:off x="4080867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2"/>
          <p:cNvSpPr/>
          <p:nvPr/>
        </p:nvSpPr>
        <p:spPr>
          <a:xfrm>
            <a:off x="4250531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32"/>
          <p:cNvSpPr/>
          <p:nvPr/>
        </p:nvSpPr>
        <p:spPr>
          <a:xfrm>
            <a:off x="4250531" y="2816228"/>
            <a:ext cx="64293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32"/>
          <p:cNvSpPr/>
          <p:nvPr/>
        </p:nvSpPr>
        <p:spPr>
          <a:xfrm>
            <a:off x="4250531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Checksum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32"/>
          <p:cNvSpPr/>
          <p:nvPr/>
        </p:nvSpPr>
        <p:spPr>
          <a:xfrm>
            <a:off x="4979194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2"/>
          <p:cNvSpPr/>
          <p:nvPr/>
        </p:nvSpPr>
        <p:spPr>
          <a:xfrm>
            <a:off x="5148858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32"/>
          <p:cNvSpPr/>
          <p:nvPr/>
        </p:nvSpPr>
        <p:spPr>
          <a:xfrm>
            <a:off x="5148858" y="2816228"/>
            <a:ext cx="64293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2"/>
          <p:cNvSpPr/>
          <p:nvPr/>
        </p:nvSpPr>
        <p:spPr>
          <a:xfrm>
            <a:off x="5148858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Keyword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2"/>
          <p:cNvSpPr/>
          <p:nvPr/>
        </p:nvSpPr>
        <p:spPr>
          <a:xfrm>
            <a:off x="5877520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2"/>
          <p:cNvSpPr/>
          <p:nvPr/>
        </p:nvSpPr>
        <p:spPr>
          <a:xfrm>
            <a:off x="6047184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2"/>
          <p:cNvSpPr/>
          <p:nvPr/>
        </p:nvSpPr>
        <p:spPr>
          <a:xfrm>
            <a:off x="6047184" y="2816228"/>
            <a:ext cx="642938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2"/>
          <p:cNvSpPr/>
          <p:nvPr/>
        </p:nvSpPr>
        <p:spPr>
          <a:xfrm>
            <a:off x="6047184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Entropy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2"/>
          <p:cNvSpPr/>
          <p:nvPr/>
        </p:nvSpPr>
        <p:spPr>
          <a:xfrm>
            <a:off x="6775847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2"/>
          <p:cNvSpPr/>
          <p:nvPr/>
        </p:nvSpPr>
        <p:spPr>
          <a:xfrm>
            <a:off x="6945511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2"/>
          <p:cNvSpPr/>
          <p:nvPr/>
        </p:nvSpPr>
        <p:spPr>
          <a:xfrm>
            <a:off x="6945511" y="2816228"/>
            <a:ext cx="642938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2"/>
          <p:cNvSpPr/>
          <p:nvPr/>
        </p:nvSpPr>
        <p:spPr>
          <a:xfrm>
            <a:off x="6945511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DocClass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32"/>
          <p:cNvSpPr/>
          <p:nvPr/>
        </p:nvSpPr>
        <p:spPr>
          <a:xfrm>
            <a:off x="7674173" y="2673353"/>
            <a:ext cx="83939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2"/>
          <p:cNvSpPr/>
          <p:nvPr/>
        </p:nvSpPr>
        <p:spPr>
          <a:xfrm>
            <a:off x="7843838" y="2523334"/>
            <a:ext cx="642938" cy="3143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32"/>
          <p:cNvSpPr/>
          <p:nvPr/>
        </p:nvSpPr>
        <p:spPr>
          <a:xfrm>
            <a:off x="7843838" y="2816228"/>
            <a:ext cx="642938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2"/>
          <p:cNvSpPr/>
          <p:nvPr/>
        </p:nvSpPr>
        <p:spPr>
          <a:xfrm>
            <a:off x="7843838" y="2523334"/>
            <a:ext cx="642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68050" spcFirstLastPara="1" rIns="68050" wrap="square" tIns="10210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2"/>
          <p:cNvSpPr/>
          <p:nvPr/>
        </p:nvSpPr>
        <p:spPr>
          <a:xfrm>
            <a:off x="2954834" y="3055544"/>
            <a:ext cx="3234333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Inter"/>
              <a:buNone/>
            </a:pPr>
            <a:r>
              <a:rPr b="0" i="1" lang="en-US" sz="621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* Short-circuits immediately if any stage returns CRITICAL hit (&gt;0.9 confidence)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32"/>
          <p:cNvSpPr/>
          <p:nvPr/>
        </p:nvSpPr>
        <p:spPr>
          <a:xfrm>
            <a:off x="4564856" y="3303789"/>
            <a:ext cx="14288" cy="1714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2"/>
          <p:cNvSpPr/>
          <p:nvPr/>
        </p:nvSpPr>
        <p:spPr>
          <a:xfrm>
            <a:off x="571500" y="3618114"/>
            <a:ext cx="2971800" cy="1051917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182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2"/>
          <p:cNvSpPr/>
          <p:nvPr/>
        </p:nvSpPr>
        <p:spPr>
          <a:xfrm>
            <a:off x="742950" y="3746702"/>
            <a:ext cx="262890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87"/>
              <a:buFont typeface="Inter"/>
              <a:buNone/>
            </a:pPr>
            <a:r>
              <a:rPr b="1" i="0" lang="en-US" sz="98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OPA POLICY ENGINE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2"/>
          <p:cNvSpPr/>
          <p:nvPr/>
        </p:nvSpPr>
        <p:spPr>
          <a:xfrm>
            <a:off x="742950" y="3977087"/>
            <a:ext cx="26289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Evaluates: DetectedItems[] + Envelope + ContextEnrichment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32"/>
          <p:cNvSpPr/>
          <p:nvPr/>
        </p:nvSpPr>
        <p:spPr>
          <a:xfrm>
            <a:off x="742950" y="4298556"/>
            <a:ext cx="262890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Decision: BLOCK | ESCALATE | ALLOW_AND_AUDIT | ALLOW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2"/>
          <p:cNvSpPr/>
          <p:nvPr/>
        </p:nvSpPr>
        <p:spPr>
          <a:xfrm>
            <a:off x="3829050" y="3835998"/>
            <a:ext cx="1428750" cy="616148"/>
          </a:xfrm>
          <a:prstGeom prst="rect">
            <a:avLst/>
          </a:prstGeom>
          <a:solidFill>
            <a:srgbClr val="00BFA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2"/>
          <p:cNvSpPr/>
          <p:nvPr/>
        </p:nvSpPr>
        <p:spPr>
          <a:xfrm>
            <a:off x="3829050" y="3835998"/>
            <a:ext cx="1428750" cy="28575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2"/>
          <p:cNvSpPr/>
          <p:nvPr/>
        </p:nvSpPr>
        <p:spPr>
          <a:xfrm>
            <a:off x="5250656" y="3835998"/>
            <a:ext cx="7144" cy="6161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2"/>
          <p:cNvSpPr/>
          <p:nvPr/>
        </p:nvSpPr>
        <p:spPr>
          <a:xfrm>
            <a:off x="3829050" y="4445003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2"/>
          <p:cNvSpPr/>
          <p:nvPr/>
        </p:nvSpPr>
        <p:spPr>
          <a:xfrm>
            <a:off x="3829050" y="3835998"/>
            <a:ext cx="7144" cy="6161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2"/>
          <p:cNvSpPr/>
          <p:nvPr/>
        </p:nvSpPr>
        <p:spPr>
          <a:xfrm>
            <a:off x="3957638" y="3939583"/>
            <a:ext cx="11715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Client Response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2"/>
          <p:cNvSpPr/>
          <p:nvPr/>
        </p:nvSpPr>
        <p:spPr>
          <a:xfrm>
            <a:off x="3957638" y="4123534"/>
            <a:ext cx="117157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74"/>
              <a:buFont typeface="Inter"/>
              <a:buNone/>
            </a:pP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Sync enforcement (Block/Allow)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32"/>
          <p:cNvSpPr/>
          <p:nvPr/>
        </p:nvSpPr>
        <p:spPr>
          <a:xfrm>
            <a:off x="5486400" y="3853858"/>
            <a:ext cx="1428750" cy="580430"/>
          </a:xfrm>
          <a:prstGeom prst="rect">
            <a:avLst/>
          </a:prstGeom>
          <a:solidFill>
            <a:srgbClr val="29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32"/>
          <p:cNvSpPr/>
          <p:nvPr/>
        </p:nvSpPr>
        <p:spPr>
          <a:xfrm>
            <a:off x="5486400" y="3853858"/>
            <a:ext cx="1428750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2"/>
          <p:cNvSpPr/>
          <p:nvPr/>
        </p:nvSpPr>
        <p:spPr>
          <a:xfrm>
            <a:off x="6908006" y="3853858"/>
            <a:ext cx="7144" cy="58043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2"/>
          <p:cNvSpPr/>
          <p:nvPr/>
        </p:nvSpPr>
        <p:spPr>
          <a:xfrm>
            <a:off x="5486400" y="4427144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2"/>
          <p:cNvSpPr/>
          <p:nvPr/>
        </p:nvSpPr>
        <p:spPr>
          <a:xfrm>
            <a:off x="5486400" y="3853858"/>
            <a:ext cx="7144" cy="58043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2"/>
          <p:cNvSpPr/>
          <p:nvPr/>
        </p:nvSpPr>
        <p:spPr>
          <a:xfrm>
            <a:off x="5614988" y="3939583"/>
            <a:ext cx="11715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2"/>
          <p:cNvSpPr/>
          <p:nvPr/>
        </p:nvSpPr>
        <p:spPr>
          <a:xfrm>
            <a:off x="5614988" y="4123534"/>
            <a:ext cx="11715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74"/>
              <a:buFont typeface="Inter"/>
              <a:buNone/>
            </a:pP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Async/Sync Escalation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2"/>
          <p:cNvSpPr/>
          <p:nvPr/>
        </p:nvSpPr>
        <p:spPr>
          <a:xfrm>
            <a:off x="7143750" y="3853858"/>
            <a:ext cx="1428750" cy="580430"/>
          </a:xfrm>
          <a:prstGeom prst="rect">
            <a:avLst/>
          </a:prstGeom>
          <a:solidFill>
            <a:srgbClr val="E53935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2"/>
          <p:cNvSpPr/>
          <p:nvPr/>
        </p:nvSpPr>
        <p:spPr>
          <a:xfrm>
            <a:off x="7143750" y="3853858"/>
            <a:ext cx="1428750" cy="28575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2"/>
          <p:cNvSpPr/>
          <p:nvPr/>
        </p:nvSpPr>
        <p:spPr>
          <a:xfrm>
            <a:off x="8565356" y="3853858"/>
            <a:ext cx="7144" cy="58043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2"/>
          <p:cNvSpPr/>
          <p:nvPr/>
        </p:nvSpPr>
        <p:spPr>
          <a:xfrm>
            <a:off x="7143750" y="4427144"/>
            <a:ext cx="1428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2"/>
          <p:cNvSpPr/>
          <p:nvPr/>
        </p:nvSpPr>
        <p:spPr>
          <a:xfrm>
            <a:off x="7143750" y="3853858"/>
            <a:ext cx="7144" cy="58043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2"/>
          <p:cNvSpPr/>
          <p:nvPr/>
        </p:nvSpPr>
        <p:spPr>
          <a:xfrm>
            <a:off x="7272338" y="3939583"/>
            <a:ext cx="11715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 JetStream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32"/>
          <p:cNvSpPr/>
          <p:nvPr/>
        </p:nvSpPr>
        <p:spPr>
          <a:xfrm>
            <a:off x="7272338" y="4123534"/>
            <a:ext cx="11715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74"/>
              <a:buFont typeface="Inter"/>
              <a:buNone/>
            </a:pPr>
            <a:r>
              <a:rPr b="0" i="0" lang="en-US" sz="674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Audit &amp; Deep Lane routing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8" name="Google Shape;17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33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Fast Lane sequence: 10-step flow from request ingress to enforcement decision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33"/>
          <p:cNvSpPr/>
          <p:nvPr/>
        </p:nvSpPr>
        <p:spPr>
          <a:xfrm>
            <a:off x="571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3"/>
          <p:cNvSpPr/>
          <p:nvPr/>
        </p:nvSpPr>
        <p:spPr>
          <a:xfrm>
            <a:off x="571500" y="1437289"/>
            <a:ext cx="857250" cy="214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3"/>
          <p:cNvSpPr/>
          <p:nvPr/>
        </p:nvSpPr>
        <p:spPr>
          <a:xfrm>
            <a:off x="1421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3"/>
          <p:cNvSpPr/>
          <p:nvPr/>
        </p:nvSpPr>
        <p:spPr>
          <a:xfrm>
            <a:off x="571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3"/>
          <p:cNvSpPr/>
          <p:nvPr/>
        </p:nvSpPr>
        <p:spPr>
          <a:xfrm>
            <a:off x="571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33"/>
          <p:cNvSpPr/>
          <p:nvPr/>
        </p:nvSpPr>
        <p:spPr>
          <a:xfrm>
            <a:off x="571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33"/>
          <p:cNvSpPr/>
          <p:nvPr/>
        </p:nvSpPr>
        <p:spPr>
          <a:xfrm>
            <a:off x="1714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3"/>
          <p:cNvSpPr/>
          <p:nvPr/>
        </p:nvSpPr>
        <p:spPr>
          <a:xfrm>
            <a:off x="1714500" y="1437289"/>
            <a:ext cx="857250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3"/>
          <p:cNvSpPr/>
          <p:nvPr/>
        </p:nvSpPr>
        <p:spPr>
          <a:xfrm>
            <a:off x="2564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3"/>
          <p:cNvSpPr/>
          <p:nvPr/>
        </p:nvSpPr>
        <p:spPr>
          <a:xfrm>
            <a:off x="1714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3"/>
          <p:cNvSpPr/>
          <p:nvPr/>
        </p:nvSpPr>
        <p:spPr>
          <a:xfrm>
            <a:off x="1714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3"/>
          <p:cNvSpPr/>
          <p:nvPr/>
        </p:nvSpPr>
        <p:spPr>
          <a:xfrm>
            <a:off x="1714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Service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33"/>
          <p:cNvSpPr/>
          <p:nvPr/>
        </p:nvSpPr>
        <p:spPr>
          <a:xfrm>
            <a:off x="2857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3"/>
          <p:cNvSpPr/>
          <p:nvPr/>
        </p:nvSpPr>
        <p:spPr>
          <a:xfrm>
            <a:off x="2857500" y="1437289"/>
            <a:ext cx="857250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3"/>
          <p:cNvSpPr/>
          <p:nvPr/>
        </p:nvSpPr>
        <p:spPr>
          <a:xfrm>
            <a:off x="3707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3"/>
          <p:cNvSpPr/>
          <p:nvPr/>
        </p:nvSpPr>
        <p:spPr>
          <a:xfrm>
            <a:off x="2857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3"/>
          <p:cNvSpPr/>
          <p:nvPr/>
        </p:nvSpPr>
        <p:spPr>
          <a:xfrm>
            <a:off x="2857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3"/>
          <p:cNvSpPr/>
          <p:nvPr/>
        </p:nvSpPr>
        <p:spPr>
          <a:xfrm>
            <a:off x="2857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Pipeline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33"/>
          <p:cNvSpPr/>
          <p:nvPr/>
        </p:nvSpPr>
        <p:spPr>
          <a:xfrm>
            <a:off x="4000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3"/>
          <p:cNvSpPr/>
          <p:nvPr/>
        </p:nvSpPr>
        <p:spPr>
          <a:xfrm>
            <a:off x="4000500" y="1437289"/>
            <a:ext cx="857250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3"/>
          <p:cNvSpPr/>
          <p:nvPr/>
        </p:nvSpPr>
        <p:spPr>
          <a:xfrm>
            <a:off x="4850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3"/>
          <p:cNvSpPr/>
          <p:nvPr/>
        </p:nvSpPr>
        <p:spPr>
          <a:xfrm>
            <a:off x="4000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3"/>
          <p:cNvSpPr/>
          <p:nvPr/>
        </p:nvSpPr>
        <p:spPr>
          <a:xfrm>
            <a:off x="4000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3"/>
          <p:cNvSpPr/>
          <p:nvPr/>
        </p:nvSpPr>
        <p:spPr>
          <a:xfrm>
            <a:off x="4000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Detector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3"/>
          <p:cNvSpPr/>
          <p:nvPr/>
        </p:nvSpPr>
        <p:spPr>
          <a:xfrm>
            <a:off x="5143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3"/>
          <p:cNvSpPr/>
          <p:nvPr/>
        </p:nvSpPr>
        <p:spPr>
          <a:xfrm>
            <a:off x="5143500" y="1437289"/>
            <a:ext cx="857250" cy="214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3"/>
          <p:cNvSpPr/>
          <p:nvPr/>
        </p:nvSpPr>
        <p:spPr>
          <a:xfrm>
            <a:off x="5993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33"/>
          <p:cNvSpPr/>
          <p:nvPr/>
        </p:nvSpPr>
        <p:spPr>
          <a:xfrm>
            <a:off x="5143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3"/>
          <p:cNvSpPr/>
          <p:nvPr/>
        </p:nvSpPr>
        <p:spPr>
          <a:xfrm>
            <a:off x="5143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3"/>
          <p:cNvSpPr/>
          <p:nvPr/>
        </p:nvSpPr>
        <p:spPr>
          <a:xfrm>
            <a:off x="5143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OPA Engine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33"/>
          <p:cNvSpPr/>
          <p:nvPr/>
        </p:nvSpPr>
        <p:spPr>
          <a:xfrm>
            <a:off x="6286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3"/>
          <p:cNvSpPr/>
          <p:nvPr/>
        </p:nvSpPr>
        <p:spPr>
          <a:xfrm>
            <a:off x="6286500" y="1437289"/>
            <a:ext cx="857250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3"/>
          <p:cNvSpPr/>
          <p:nvPr/>
        </p:nvSpPr>
        <p:spPr>
          <a:xfrm>
            <a:off x="7136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33"/>
          <p:cNvSpPr/>
          <p:nvPr/>
        </p:nvSpPr>
        <p:spPr>
          <a:xfrm>
            <a:off x="6286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3"/>
          <p:cNvSpPr/>
          <p:nvPr/>
        </p:nvSpPr>
        <p:spPr>
          <a:xfrm>
            <a:off x="6286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3"/>
          <p:cNvSpPr/>
          <p:nvPr/>
        </p:nvSpPr>
        <p:spPr>
          <a:xfrm>
            <a:off x="6286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33"/>
          <p:cNvSpPr/>
          <p:nvPr/>
        </p:nvSpPr>
        <p:spPr>
          <a:xfrm>
            <a:off x="7429500" y="1437289"/>
            <a:ext cx="857250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3"/>
          <p:cNvSpPr/>
          <p:nvPr/>
        </p:nvSpPr>
        <p:spPr>
          <a:xfrm>
            <a:off x="7429500" y="1437289"/>
            <a:ext cx="857250" cy="21431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3"/>
          <p:cNvSpPr/>
          <p:nvPr/>
        </p:nvSpPr>
        <p:spPr>
          <a:xfrm>
            <a:off x="82796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33"/>
          <p:cNvSpPr/>
          <p:nvPr/>
        </p:nvSpPr>
        <p:spPr>
          <a:xfrm>
            <a:off x="7429500" y="1723039"/>
            <a:ext cx="857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33"/>
          <p:cNvSpPr/>
          <p:nvPr/>
        </p:nvSpPr>
        <p:spPr>
          <a:xfrm>
            <a:off x="7429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3"/>
          <p:cNvSpPr/>
          <p:nvPr/>
        </p:nvSpPr>
        <p:spPr>
          <a:xfrm>
            <a:off x="7429500" y="1437289"/>
            <a:ext cx="857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33"/>
          <p:cNvSpPr/>
          <p:nvPr/>
        </p:nvSpPr>
        <p:spPr>
          <a:xfrm>
            <a:off x="1000125" y="1865914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3"/>
          <p:cNvSpPr/>
          <p:nvPr/>
        </p:nvSpPr>
        <p:spPr>
          <a:xfrm>
            <a:off x="1209080" y="1723039"/>
            <a:ext cx="725091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1. SendRequest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33"/>
          <p:cNvSpPr/>
          <p:nvPr/>
        </p:nvSpPr>
        <p:spPr>
          <a:xfrm>
            <a:off x="2143125" y="2151664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3"/>
          <p:cNvSpPr/>
          <p:nvPr/>
        </p:nvSpPr>
        <p:spPr>
          <a:xfrm>
            <a:off x="2196703" y="2008789"/>
            <a:ext cx="1035844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2. Process(Envelope)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3"/>
          <p:cNvSpPr/>
          <p:nvPr/>
        </p:nvSpPr>
        <p:spPr>
          <a:xfrm>
            <a:off x="3286125" y="2437414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3"/>
          <p:cNvSpPr/>
          <p:nvPr/>
        </p:nvSpPr>
        <p:spPr>
          <a:xfrm>
            <a:off x="3391495" y="2294539"/>
            <a:ext cx="932259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3. Detect(content)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3"/>
          <p:cNvSpPr/>
          <p:nvPr/>
        </p:nvSpPr>
        <p:spPr>
          <a:xfrm>
            <a:off x="4714875" y="2637439"/>
            <a:ext cx="776883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4. Run 9 stages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33"/>
          <p:cNvSpPr/>
          <p:nvPr/>
        </p:nvSpPr>
        <p:spPr>
          <a:xfrm>
            <a:off x="3391495" y="2880327"/>
            <a:ext cx="932259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5. DetectedItems[]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33"/>
          <p:cNvSpPr/>
          <p:nvPr/>
        </p:nvSpPr>
        <p:spPr>
          <a:xfrm>
            <a:off x="3286125" y="3294664"/>
            <a:ext cx="2286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3"/>
          <p:cNvSpPr/>
          <p:nvPr/>
        </p:nvSpPr>
        <p:spPr>
          <a:xfrm>
            <a:off x="3859411" y="3151789"/>
            <a:ext cx="1139428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6. Evaluate(EvalInput)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33"/>
          <p:cNvSpPr/>
          <p:nvPr/>
        </p:nvSpPr>
        <p:spPr>
          <a:xfrm>
            <a:off x="4144268" y="3451827"/>
            <a:ext cx="569714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7. Decision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33"/>
          <p:cNvSpPr/>
          <p:nvPr/>
        </p:nvSpPr>
        <p:spPr>
          <a:xfrm>
            <a:off x="2000250" y="3794727"/>
            <a:ext cx="4857750" cy="85725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33"/>
          <p:cNvSpPr/>
          <p:nvPr/>
        </p:nvSpPr>
        <p:spPr>
          <a:xfrm>
            <a:off x="2000250" y="3794727"/>
            <a:ext cx="217884" cy="11608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3"/>
          <p:cNvSpPr/>
          <p:nvPr/>
        </p:nvSpPr>
        <p:spPr>
          <a:xfrm>
            <a:off x="2000250" y="3794727"/>
            <a:ext cx="21788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485"/>
              <a:buFont typeface="Inter"/>
              <a:buNone/>
            </a:pPr>
            <a:r>
              <a:rPr b="1" i="0" lang="en-US" sz="485" u="none" cap="none" strike="noStrike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ALT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33"/>
          <p:cNvSpPr/>
          <p:nvPr/>
        </p:nvSpPr>
        <p:spPr>
          <a:xfrm>
            <a:off x="2071688" y="3937602"/>
            <a:ext cx="144019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[if score ≥ escalate_threshold]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33"/>
          <p:cNvSpPr/>
          <p:nvPr/>
        </p:nvSpPr>
        <p:spPr>
          <a:xfrm>
            <a:off x="2143125" y="4151914"/>
            <a:ext cx="4572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3"/>
          <p:cNvSpPr/>
          <p:nvPr/>
        </p:nvSpPr>
        <p:spPr>
          <a:xfrm>
            <a:off x="3807619" y="4009039"/>
            <a:ext cx="1243013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8. Escalate (async gRPC)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33"/>
          <p:cNvSpPr/>
          <p:nvPr/>
        </p:nvSpPr>
        <p:spPr>
          <a:xfrm>
            <a:off x="2071688" y="4437664"/>
            <a:ext cx="1393031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[else: ALLOW / BLOCK directly]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3"/>
          <p:cNvSpPr/>
          <p:nvPr/>
        </p:nvSpPr>
        <p:spPr>
          <a:xfrm>
            <a:off x="2143125" y="4866289"/>
            <a:ext cx="5715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3"/>
          <p:cNvSpPr/>
          <p:nvPr/>
        </p:nvSpPr>
        <p:spPr>
          <a:xfrm>
            <a:off x="4508599" y="4723414"/>
            <a:ext cx="984052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9. Publish decision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33"/>
          <p:cNvSpPr/>
          <p:nvPr/>
        </p:nvSpPr>
        <p:spPr>
          <a:xfrm>
            <a:off x="1260872" y="5023452"/>
            <a:ext cx="621506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10. Response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8" name="Google Shape;18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34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Mid Lane adjusts confidence through NER and keyword-density classification in &lt;500ms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34"/>
          <p:cNvSpPr/>
          <p:nvPr/>
        </p:nvSpPr>
        <p:spPr>
          <a:xfrm>
            <a:off x="1714500" y="3254676"/>
            <a:ext cx="28575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4"/>
          <p:cNvSpPr/>
          <p:nvPr/>
        </p:nvSpPr>
        <p:spPr>
          <a:xfrm>
            <a:off x="3286125" y="3254676"/>
            <a:ext cx="28575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4"/>
          <p:cNvSpPr/>
          <p:nvPr/>
        </p:nvSpPr>
        <p:spPr>
          <a:xfrm>
            <a:off x="5072063" y="2683176"/>
            <a:ext cx="214313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34"/>
          <p:cNvSpPr/>
          <p:nvPr/>
        </p:nvSpPr>
        <p:spPr>
          <a:xfrm>
            <a:off x="5072063" y="3826176"/>
            <a:ext cx="214313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34"/>
          <p:cNvSpPr/>
          <p:nvPr/>
        </p:nvSpPr>
        <p:spPr>
          <a:xfrm>
            <a:off x="7072313" y="3254676"/>
            <a:ext cx="214313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34"/>
          <p:cNvSpPr/>
          <p:nvPr/>
        </p:nvSpPr>
        <p:spPr>
          <a:xfrm>
            <a:off x="571500" y="2736949"/>
            <a:ext cx="1143000" cy="749703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34"/>
          <p:cNvSpPr/>
          <p:nvPr/>
        </p:nvSpPr>
        <p:spPr>
          <a:xfrm>
            <a:off x="685800" y="2865537"/>
            <a:ext cx="9144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34"/>
          <p:cNvSpPr/>
          <p:nvPr/>
        </p:nvSpPr>
        <p:spPr>
          <a:xfrm>
            <a:off x="685800" y="3078063"/>
            <a:ext cx="91440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Uncertain Score</a:t>
            </a:r>
            <a:b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(40 - 79)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34"/>
          <p:cNvSpPr/>
          <p:nvPr/>
        </p:nvSpPr>
        <p:spPr>
          <a:xfrm>
            <a:off x="2035969" y="2516386"/>
            <a:ext cx="1285875" cy="1190830"/>
          </a:xfrm>
          <a:prstGeom prst="rect">
            <a:avLst/>
          </a:prstGeom>
          <a:solidFill>
            <a:srgbClr val="E53935">
              <a:alpha val="5098"/>
            </a:srgbClr>
          </a:solidFill>
          <a:ln cap="flat" cmpd="sng" w="1827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34"/>
          <p:cNvSpPr/>
          <p:nvPr/>
        </p:nvSpPr>
        <p:spPr>
          <a:xfrm>
            <a:off x="2150269" y="2714960"/>
            <a:ext cx="1057275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CIRCUIT BREAKER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4"/>
          <p:cNvSpPr/>
          <p:nvPr/>
        </p:nvSpPr>
        <p:spPr>
          <a:xfrm>
            <a:off x="2150269" y="3082863"/>
            <a:ext cx="10572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Protects &lt;500ms SLA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34"/>
          <p:cNvSpPr/>
          <p:nvPr/>
        </p:nvSpPr>
        <p:spPr>
          <a:xfrm>
            <a:off x="2150269" y="3280014"/>
            <a:ext cx="1057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5 failures → OPEN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30s cooldown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34"/>
          <p:cNvSpPr/>
          <p:nvPr/>
        </p:nvSpPr>
        <p:spPr>
          <a:xfrm>
            <a:off x="3643313" y="2722104"/>
            <a:ext cx="1285875" cy="779366"/>
          </a:xfrm>
          <a:prstGeom prst="rect">
            <a:avLst/>
          </a:prstGeom>
          <a:solidFill>
            <a:srgbClr val="2962FF">
              <a:alpha val="5098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34"/>
          <p:cNvSpPr/>
          <p:nvPr/>
        </p:nvSpPr>
        <p:spPr>
          <a:xfrm>
            <a:off x="3757613" y="2850691"/>
            <a:ext cx="10572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 API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34"/>
          <p:cNvSpPr/>
          <p:nvPr/>
        </p:nvSpPr>
        <p:spPr>
          <a:xfrm>
            <a:off x="3757613" y="3063218"/>
            <a:ext cx="10572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Python FastAPI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34"/>
          <p:cNvSpPr/>
          <p:nvPr/>
        </p:nvSpPr>
        <p:spPr>
          <a:xfrm>
            <a:off x="3757613" y="3260368"/>
            <a:ext cx="10572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POST /analyze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34"/>
          <p:cNvSpPr/>
          <p:nvPr/>
        </p:nvSpPr>
        <p:spPr>
          <a:xfrm>
            <a:off x="5250656" y="2020788"/>
            <a:ext cx="1571625" cy="1004395"/>
          </a:xfrm>
          <a:prstGeom prst="rect">
            <a:avLst/>
          </a:prstGeom>
          <a:solidFill>
            <a:srgbClr val="2962FF">
              <a:alpha val="1960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34"/>
          <p:cNvSpPr/>
          <p:nvPr/>
        </p:nvSpPr>
        <p:spPr>
          <a:xfrm>
            <a:off x="5364956" y="2149376"/>
            <a:ext cx="13430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NER ENGINE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34"/>
          <p:cNvSpPr/>
          <p:nvPr/>
        </p:nvSpPr>
        <p:spPr>
          <a:xfrm>
            <a:off x="5364956" y="2361902"/>
            <a:ext cx="134302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Regex + Rules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34"/>
          <p:cNvSpPr/>
          <p:nvPr/>
        </p:nvSpPr>
        <p:spPr>
          <a:xfrm>
            <a:off x="5364956" y="2559053"/>
            <a:ext cx="1343025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5 Entity Banks: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EMAIL, PHONE, SSN,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CREDIT_CARD, IP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34"/>
          <p:cNvSpPr/>
          <p:nvPr/>
        </p:nvSpPr>
        <p:spPr>
          <a:xfrm>
            <a:off x="5250656" y="3296645"/>
            <a:ext cx="1571625" cy="891880"/>
          </a:xfrm>
          <a:prstGeom prst="rect">
            <a:avLst/>
          </a:prstGeom>
          <a:solidFill>
            <a:srgbClr val="2962FF">
              <a:alpha val="1960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34"/>
          <p:cNvSpPr/>
          <p:nvPr/>
        </p:nvSpPr>
        <p:spPr>
          <a:xfrm>
            <a:off x="5364956" y="3425233"/>
            <a:ext cx="13430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CLASSIFIER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34"/>
          <p:cNvSpPr/>
          <p:nvPr/>
        </p:nvSpPr>
        <p:spPr>
          <a:xfrm>
            <a:off x="5364956" y="3637759"/>
            <a:ext cx="134302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Keyword-Density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34"/>
          <p:cNvSpPr/>
          <p:nvPr/>
        </p:nvSpPr>
        <p:spPr>
          <a:xfrm>
            <a:off x="5364956" y="3834910"/>
            <a:ext cx="134302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TF-IDF Scoring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Threshold: 0.18-0.19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4"/>
          <p:cNvSpPr/>
          <p:nvPr/>
        </p:nvSpPr>
        <p:spPr>
          <a:xfrm>
            <a:off x="7143750" y="2397063"/>
            <a:ext cx="1428750" cy="1429448"/>
          </a:xfrm>
          <a:prstGeom prst="rect">
            <a:avLst/>
          </a:prstGeom>
          <a:solidFill>
            <a:srgbClr val="2962FF">
              <a:alpha val="10196"/>
            </a:srgbClr>
          </a:solidFill>
          <a:ln cap="flat" cmpd="sng" w="18275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34"/>
          <p:cNvSpPr/>
          <p:nvPr/>
        </p:nvSpPr>
        <p:spPr>
          <a:xfrm>
            <a:off x="7258050" y="2525650"/>
            <a:ext cx="1200150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CONFIDENCE BLENDING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34"/>
          <p:cNvSpPr/>
          <p:nvPr/>
        </p:nvSpPr>
        <p:spPr>
          <a:xfrm>
            <a:off x="7258050" y="2893554"/>
            <a:ext cx="120015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Adjusts Fast Lane Score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4"/>
          <p:cNvSpPr/>
          <p:nvPr/>
        </p:nvSpPr>
        <p:spPr>
          <a:xfrm>
            <a:off x="7258050" y="3119279"/>
            <a:ext cx="120015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5F5F5"/>
                </a:solidFill>
                <a:latin typeface="Roboto Mono"/>
                <a:ea typeface="Roboto Mono"/>
                <a:cs typeface="Roboto Mono"/>
                <a:sym typeface="Roboto Mono"/>
              </a:rPr>
              <a:t>α = 0.7 × score + 0.3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34"/>
          <p:cNvSpPr/>
          <p:nvPr/>
        </p:nvSpPr>
        <p:spPr>
          <a:xfrm>
            <a:off x="7258050" y="3469323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Boosts uncertainty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(e.g., 0.5 → 0.65)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4" name="Google Shape;185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35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Mid Lane sequence: 8-step flow from circuit breaker check to confidence blending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35"/>
          <p:cNvSpPr/>
          <p:nvPr/>
        </p:nvSpPr>
        <p:spPr>
          <a:xfrm>
            <a:off x="571500" y="1437289"/>
            <a:ext cx="1000125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35"/>
          <p:cNvSpPr/>
          <p:nvPr/>
        </p:nvSpPr>
        <p:spPr>
          <a:xfrm>
            <a:off x="571500" y="1437289"/>
            <a:ext cx="1000125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35"/>
          <p:cNvSpPr/>
          <p:nvPr/>
        </p:nvSpPr>
        <p:spPr>
          <a:xfrm>
            <a:off x="1564481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35"/>
          <p:cNvSpPr/>
          <p:nvPr/>
        </p:nvSpPr>
        <p:spPr>
          <a:xfrm>
            <a:off x="571500" y="1723039"/>
            <a:ext cx="1000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5"/>
          <p:cNvSpPr/>
          <p:nvPr/>
        </p:nvSpPr>
        <p:spPr>
          <a:xfrm>
            <a:off x="571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35"/>
          <p:cNvSpPr/>
          <p:nvPr/>
        </p:nvSpPr>
        <p:spPr>
          <a:xfrm>
            <a:off x="571500" y="1437289"/>
            <a:ext cx="1000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35"/>
          <p:cNvSpPr/>
          <p:nvPr/>
        </p:nvSpPr>
        <p:spPr>
          <a:xfrm>
            <a:off x="1857375" y="1437289"/>
            <a:ext cx="1000125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35"/>
          <p:cNvSpPr/>
          <p:nvPr/>
        </p:nvSpPr>
        <p:spPr>
          <a:xfrm>
            <a:off x="1857375" y="1437289"/>
            <a:ext cx="1000125" cy="21431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5"/>
          <p:cNvSpPr/>
          <p:nvPr/>
        </p:nvSpPr>
        <p:spPr>
          <a:xfrm>
            <a:off x="285035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35"/>
          <p:cNvSpPr/>
          <p:nvPr/>
        </p:nvSpPr>
        <p:spPr>
          <a:xfrm>
            <a:off x="1857375" y="1723039"/>
            <a:ext cx="1000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35"/>
          <p:cNvSpPr/>
          <p:nvPr/>
        </p:nvSpPr>
        <p:spPr>
          <a:xfrm>
            <a:off x="1857375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35"/>
          <p:cNvSpPr/>
          <p:nvPr/>
        </p:nvSpPr>
        <p:spPr>
          <a:xfrm>
            <a:off x="1857375" y="1437289"/>
            <a:ext cx="1000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Circuit Breaker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35"/>
          <p:cNvSpPr/>
          <p:nvPr/>
        </p:nvSpPr>
        <p:spPr>
          <a:xfrm>
            <a:off x="3143250" y="1437289"/>
            <a:ext cx="1000125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35"/>
          <p:cNvSpPr/>
          <p:nvPr/>
        </p:nvSpPr>
        <p:spPr>
          <a:xfrm>
            <a:off x="3143250" y="1437289"/>
            <a:ext cx="1000125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35"/>
          <p:cNvSpPr/>
          <p:nvPr/>
        </p:nvSpPr>
        <p:spPr>
          <a:xfrm>
            <a:off x="4136231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35"/>
          <p:cNvSpPr/>
          <p:nvPr/>
        </p:nvSpPr>
        <p:spPr>
          <a:xfrm>
            <a:off x="3143250" y="1723039"/>
            <a:ext cx="1000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5"/>
          <p:cNvSpPr/>
          <p:nvPr/>
        </p:nvSpPr>
        <p:spPr>
          <a:xfrm>
            <a:off x="314325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5"/>
          <p:cNvSpPr/>
          <p:nvPr/>
        </p:nvSpPr>
        <p:spPr>
          <a:xfrm>
            <a:off x="3143250" y="1437289"/>
            <a:ext cx="1000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Mid Lane API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35"/>
          <p:cNvSpPr/>
          <p:nvPr/>
        </p:nvSpPr>
        <p:spPr>
          <a:xfrm>
            <a:off x="4429125" y="1437289"/>
            <a:ext cx="1000125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5"/>
          <p:cNvSpPr/>
          <p:nvPr/>
        </p:nvSpPr>
        <p:spPr>
          <a:xfrm>
            <a:off x="4429125" y="1437289"/>
            <a:ext cx="1000125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5"/>
          <p:cNvSpPr/>
          <p:nvPr/>
        </p:nvSpPr>
        <p:spPr>
          <a:xfrm>
            <a:off x="542210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35"/>
          <p:cNvSpPr/>
          <p:nvPr/>
        </p:nvSpPr>
        <p:spPr>
          <a:xfrm>
            <a:off x="4429125" y="1723039"/>
            <a:ext cx="1000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5"/>
          <p:cNvSpPr/>
          <p:nvPr/>
        </p:nvSpPr>
        <p:spPr>
          <a:xfrm>
            <a:off x="4429125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35"/>
          <p:cNvSpPr/>
          <p:nvPr/>
        </p:nvSpPr>
        <p:spPr>
          <a:xfrm>
            <a:off x="4429125" y="1437289"/>
            <a:ext cx="1000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NER Engine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35"/>
          <p:cNvSpPr/>
          <p:nvPr/>
        </p:nvSpPr>
        <p:spPr>
          <a:xfrm>
            <a:off x="5715000" y="1437289"/>
            <a:ext cx="1000125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35"/>
          <p:cNvSpPr/>
          <p:nvPr/>
        </p:nvSpPr>
        <p:spPr>
          <a:xfrm>
            <a:off x="5715000" y="1437289"/>
            <a:ext cx="1000125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35"/>
          <p:cNvSpPr/>
          <p:nvPr/>
        </p:nvSpPr>
        <p:spPr>
          <a:xfrm>
            <a:off x="6707981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35"/>
          <p:cNvSpPr/>
          <p:nvPr/>
        </p:nvSpPr>
        <p:spPr>
          <a:xfrm>
            <a:off x="5715000" y="1723039"/>
            <a:ext cx="1000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35"/>
          <p:cNvSpPr/>
          <p:nvPr/>
        </p:nvSpPr>
        <p:spPr>
          <a:xfrm>
            <a:off x="57150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5"/>
          <p:cNvSpPr/>
          <p:nvPr/>
        </p:nvSpPr>
        <p:spPr>
          <a:xfrm>
            <a:off x="5715000" y="1437289"/>
            <a:ext cx="1000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Classifier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35"/>
          <p:cNvSpPr/>
          <p:nvPr/>
        </p:nvSpPr>
        <p:spPr>
          <a:xfrm>
            <a:off x="7000875" y="1437289"/>
            <a:ext cx="1000125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35"/>
          <p:cNvSpPr/>
          <p:nvPr/>
        </p:nvSpPr>
        <p:spPr>
          <a:xfrm>
            <a:off x="7000875" y="1437289"/>
            <a:ext cx="1000125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35"/>
          <p:cNvSpPr/>
          <p:nvPr/>
        </p:nvSpPr>
        <p:spPr>
          <a:xfrm>
            <a:off x="7993856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35"/>
          <p:cNvSpPr/>
          <p:nvPr/>
        </p:nvSpPr>
        <p:spPr>
          <a:xfrm>
            <a:off x="7000875" y="1723039"/>
            <a:ext cx="1000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5"/>
          <p:cNvSpPr/>
          <p:nvPr/>
        </p:nvSpPr>
        <p:spPr>
          <a:xfrm>
            <a:off x="7000875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35"/>
          <p:cNvSpPr/>
          <p:nvPr/>
        </p:nvSpPr>
        <p:spPr>
          <a:xfrm>
            <a:off x="7000875" y="1437289"/>
            <a:ext cx="1000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Rules Engine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35"/>
          <p:cNvSpPr/>
          <p:nvPr/>
        </p:nvSpPr>
        <p:spPr>
          <a:xfrm>
            <a:off x="1071563" y="1865914"/>
            <a:ext cx="1285875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5"/>
          <p:cNvSpPr/>
          <p:nvPr/>
        </p:nvSpPr>
        <p:spPr>
          <a:xfrm>
            <a:off x="1326059" y="1723039"/>
            <a:ext cx="776883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1. CircuitOpen?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35"/>
          <p:cNvSpPr/>
          <p:nvPr/>
        </p:nvSpPr>
        <p:spPr>
          <a:xfrm>
            <a:off x="1274266" y="2023077"/>
            <a:ext cx="880467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2. false (closed)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35"/>
          <p:cNvSpPr/>
          <p:nvPr/>
        </p:nvSpPr>
        <p:spPr>
          <a:xfrm>
            <a:off x="1071563" y="2437414"/>
            <a:ext cx="257175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35"/>
          <p:cNvSpPr/>
          <p:nvPr/>
        </p:nvSpPr>
        <p:spPr>
          <a:xfrm>
            <a:off x="1943100" y="2294539"/>
            <a:ext cx="8286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3. POST /analyze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35"/>
          <p:cNvSpPr/>
          <p:nvPr/>
        </p:nvSpPr>
        <p:spPr>
          <a:xfrm>
            <a:off x="3643313" y="2723164"/>
            <a:ext cx="1285875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35"/>
          <p:cNvSpPr/>
          <p:nvPr/>
        </p:nvSpPr>
        <p:spPr>
          <a:xfrm>
            <a:off x="3923705" y="2580289"/>
            <a:ext cx="725091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4. recognize()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35"/>
          <p:cNvSpPr/>
          <p:nvPr/>
        </p:nvSpPr>
        <p:spPr>
          <a:xfrm>
            <a:off x="3871913" y="2880327"/>
            <a:ext cx="8286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5. NamedEntity[]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35"/>
          <p:cNvSpPr/>
          <p:nvPr/>
        </p:nvSpPr>
        <p:spPr>
          <a:xfrm>
            <a:off x="3643313" y="3294664"/>
            <a:ext cx="257175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35"/>
          <p:cNvSpPr/>
          <p:nvPr/>
        </p:nvSpPr>
        <p:spPr>
          <a:xfrm>
            <a:off x="4437162" y="3151789"/>
            <a:ext cx="984052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6. classify(TF-IDF)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35"/>
          <p:cNvSpPr/>
          <p:nvPr/>
        </p:nvSpPr>
        <p:spPr>
          <a:xfrm>
            <a:off x="4255889" y="3451827"/>
            <a:ext cx="1346597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7. {category, sensitivity}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35"/>
          <p:cNvSpPr/>
          <p:nvPr/>
        </p:nvSpPr>
        <p:spPr>
          <a:xfrm>
            <a:off x="3929063" y="3923314"/>
            <a:ext cx="1398389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8. evaluate(confidence_adj)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35"/>
          <p:cNvSpPr/>
          <p:nvPr/>
        </p:nvSpPr>
        <p:spPr>
          <a:xfrm>
            <a:off x="3643313" y="4294789"/>
            <a:ext cx="3857625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35"/>
          <p:cNvSpPr/>
          <p:nvPr/>
        </p:nvSpPr>
        <p:spPr>
          <a:xfrm>
            <a:off x="5131891" y="4151914"/>
            <a:ext cx="880467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9. evaluate rules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35"/>
          <p:cNvSpPr/>
          <p:nvPr/>
        </p:nvSpPr>
        <p:spPr>
          <a:xfrm>
            <a:off x="4924723" y="4451952"/>
            <a:ext cx="129480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10. verdict + adjustments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35"/>
          <p:cNvSpPr/>
          <p:nvPr/>
        </p:nvSpPr>
        <p:spPr>
          <a:xfrm>
            <a:off x="1891308" y="4880577"/>
            <a:ext cx="932259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11. Response(JSON)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3" name="Google Shape;19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36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 performs LLM semantic analysis with cross-channel correlation and rule promotion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36"/>
          <p:cNvSpPr/>
          <p:nvPr/>
        </p:nvSpPr>
        <p:spPr>
          <a:xfrm>
            <a:off x="1714500" y="3254676"/>
            <a:ext cx="428625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36"/>
          <p:cNvSpPr/>
          <p:nvPr/>
        </p:nvSpPr>
        <p:spPr>
          <a:xfrm>
            <a:off x="3786188" y="2683176"/>
            <a:ext cx="214313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36"/>
          <p:cNvSpPr/>
          <p:nvPr/>
        </p:nvSpPr>
        <p:spPr>
          <a:xfrm>
            <a:off x="3786188" y="3826176"/>
            <a:ext cx="214313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36"/>
          <p:cNvSpPr/>
          <p:nvPr/>
        </p:nvSpPr>
        <p:spPr>
          <a:xfrm>
            <a:off x="3571875" y="3254676"/>
            <a:ext cx="2857500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6"/>
          <p:cNvSpPr/>
          <p:nvPr/>
        </p:nvSpPr>
        <p:spPr>
          <a:xfrm>
            <a:off x="6000750" y="2683176"/>
            <a:ext cx="428625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36"/>
          <p:cNvSpPr/>
          <p:nvPr/>
        </p:nvSpPr>
        <p:spPr>
          <a:xfrm>
            <a:off x="6000750" y="3826176"/>
            <a:ext cx="428625" cy="14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36"/>
          <p:cNvSpPr/>
          <p:nvPr/>
        </p:nvSpPr>
        <p:spPr>
          <a:xfrm>
            <a:off x="571500" y="2722104"/>
            <a:ext cx="1143000" cy="779366"/>
          </a:xfrm>
          <a:prstGeom prst="rect">
            <a:avLst/>
          </a:prstGeom>
          <a:solidFill>
            <a:srgbClr val="E53935">
              <a:alpha val="5098"/>
            </a:srgbClr>
          </a:solidFill>
          <a:ln cap="flat" cmpd="sng" w="1827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36"/>
          <p:cNvSpPr/>
          <p:nvPr/>
        </p:nvSpPr>
        <p:spPr>
          <a:xfrm>
            <a:off x="685800" y="2850691"/>
            <a:ext cx="9144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36"/>
          <p:cNvSpPr/>
          <p:nvPr/>
        </p:nvSpPr>
        <p:spPr>
          <a:xfrm>
            <a:off x="685800" y="3063218"/>
            <a:ext cx="914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sentinel.escalations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36"/>
          <p:cNvSpPr/>
          <p:nvPr/>
        </p:nvSpPr>
        <p:spPr>
          <a:xfrm>
            <a:off x="685800" y="3260368"/>
            <a:ext cx="91440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Async Trigger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36"/>
          <p:cNvSpPr/>
          <p:nvPr/>
        </p:nvSpPr>
        <p:spPr>
          <a:xfrm>
            <a:off x="2571750" y="2722104"/>
            <a:ext cx="1428750" cy="779366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182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36"/>
          <p:cNvSpPr/>
          <p:nvPr/>
        </p:nvSpPr>
        <p:spPr>
          <a:xfrm>
            <a:off x="2686050" y="2850691"/>
            <a:ext cx="12001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DEEPSERVICE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36"/>
          <p:cNvSpPr/>
          <p:nvPr/>
        </p:nvSpPr>
        <p:spPr>
          <a:xfrm>
            <a:off x="2686050" y="3063218"/>
            <a:ext cx="120015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Python Async Worker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36"/>
          <p:cNvSpPr/>
          <p:nvPr/>
        </p:nvSpPr>
        <p:spPr>
          <a:xfrm>
            <a:off x="2686050" y="3260368"/>
            <a:ext cx="120015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Dedup &amp; Validate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36"/>
          <p:cNvSpPr/>
          <p:nvPr/>
        </p:nvSpPr>
        <p:spPr>
          <a:xfrm>
            <a:off x="4857750" y="2077045"/>
            <a:ext cx="1571625" cy="89188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36"/>
          <p:cNvSpPr/>
          <p:nvPr/>
        </p:nvSpPr>
        <p:spPr>
          <a:xfrm>
            <a:off x="4972050" y="2205633"/>
            <a:ext cx="13430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LLM ENGINE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36"/>
          <p:cNvSpPr/>
          <p:nvPr/>
        </p:nvSpPr>
        <p:spPr>
          <a:xfrm>
            <a:off x="4972050" y="2418159"/>
            <a:ext cx="134302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Semantic Analysis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36"/>
          <p:cNvSpPr/>
          <p:nvPr/>
        </p:nvSpPr>
        <p:spPr>
          <a:xfrm>
            <a:off x="4972050" y="2615310"/>
            <a:ext cx="134302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Llama 3 8B / Mixtral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Constrained Schema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36"/>
          <p:cNvSpPr/>
          <p:nvPr/>
        </p:nvSpPr>
        <p:spPr>
          <a:xfrm>
            <a:off x="4857750" y="3240388"/>
            <a:ext cx="1571625" cy="89188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6"/>
          <p:cNvSpPr/>
          <p:nvPr/>
        </p:nvSpPr>
        <p:spPr>
          <a:xfrm>
            <a:off x="4972050" y="3368976"/>
            <a:ext cx="13430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CORRELATION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36"/>
          <p:cNvSpPr/>
          <p:nvPr/>
        </p:nvSpPr>
        <p:spPr>
          <a:xfrm>
            <a:off x="4972050" y="3581502"/>
            <a:ext cx="134302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Cross-Channel &amp; Pattern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36"/>
          <p:cNvSpPr/>
          <p:nvPr/>
        </p:nvSpPr>
        <p:spPr>
          <a:xfrm>
            <a:off x="4972050" y="3778653"/>
            <a:ext cx="134302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TF-IDF Discovery</a:t>
            </a:r>
            <a:b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Behavioral Signals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6"/>
          <p:cNvSpPr/>
          <p:nvPr/>
        </p:nvSpPr>
        <p:spPr>
          <a:xfrm>
            <a:off x="7286625" y="1481965"/>
            <a:ext cx="1285875" cy="89188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36"/>
          <p:cNvSpPr/>
          <p:nvPr/>
        </p:nvSpPr>
        <p:spPr>
          <a:xfrm>
            <a:off x="7400925" y="1610553"/>
            <a:ext cx="10572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CLICKHOUSE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36"/>
          <p:cNvSpPr/>
          <p:nvPr/>
        </p:nvSpPr>
        <p:spPr>
          <a:xfrm>
            <a:off x="7400925" y="1823079"/>
            <a:ext cx="10572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Audit Store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36"/>
          <p:cNvSpPr/>
          <p:nvPr/>
        </p:nvSpPr>
        <p:spPr>
          <a:xfrm>
            <a:off x="7400925" y="2020230"/>
            <a:ext cx="105727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Full Record &amp; LLM Analysis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36"/>
          <p:cNvSpPr/>
          <p:nvPr/>
        </p:nvSpPr>
        <p:spPr>
          <a:xfrm>
            <a:off x="7286625" y="2573871"/>
            <a:ext cx="1285875" cy="891880"/>
          </a:xfrm>
          <a:prstGeom prst="rect">
            <a:avLst/>
          </a:prstGeom>
          <a:solidFill>
            <a:srgbClr val="00BFA5">
              <a:alpha val="5098"/>
            </a:srgbClr>
          </a:solidFill>
          <a:ln cap="flat" cmpd="sng" w="1827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36"/>
          <p:cNvSpPr/>
          <p:nvPr/>
        </p:nvSpPr>
        <p:spPr>
          <a:xfrm>
            <a:off x="7400925" y="2758715"/>
            <a:ext cx="10572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36"/>
          <p:cNvSpPr/>
          <p:nvPr/>
        </p:nvSpPr>
        <p:spPr>
          <a:xfrm>
            <a:off x="7400925" y="2971242"/>
            <a:ext cx="10572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Rules Engine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36"/>
          <p:cNvSpPr/>
          <p:nvPr/>
        </p:nvSpPr>
        <p:spPr>
          <a:xfrm>
            <a:off x="7400925" y="3168393"/>
            <a:ext cx="1057275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Promote Shadow Rules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36"/>
          <p:cNvSpPr/>
          <p:nvPr/>
        </p:nvSpPr>
        <p:spPr>
          <a:xfrm>
            <a:off x="7286625" y="3609519"/>
            <a:ext cx="1143000" cy="1047257"/>
          </a:xfrm>
          <a:prstGeom prst="rect">
            <a:avLst/>
          </a:prstGeom>
          <a:solidFill>
            <a:srgbClr val="E53935">
              <a:alpha val="5098"/>
            </a:srgbClr>
          </a:solidFill>
          <a:ln cap="flat" cmpd="sng" w="1827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36"/>
          <p:cNvSpPr/>
          <p:nvPr/>
        </p:nvSpPr>
        <p:spPr>
          <a:xfrm>
            <a:off x="7400925" y="3738107"/>
            <a:ext cx="914400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 ACTIONS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36"/>
          <p:cNvSpPr/>
          <p:nvPr/>
        </p:nvSpPr>
        <p:spPr>
          <a:xfrm>
            <a:off x="7400925" y="4106010"/>
            <a:ext cx="914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Inter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Retroactive Action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36"/>
          <p:cNvSpPr/>
          <p:nvPr/>
        </p:nvSpPr>
        <p:spPr>
          <a:xfrm>
            <a:off x="7400925" y="4303161"/>
            <a:ext cx="914400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Recall / Quarantine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4" name="Google Shape;19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37"/>
          <p:cNvSpPr/>
          <p:nvPr/>
        </p:nvSpPr>
        <p:spPr>
          <a:xfrm>
            <a:off x="571500" y="428625"/>
            <a:ext cx="8001000" cy="651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983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12"/>
              <a:buFont typeface="Inter"/>
              <a:buNone/>
            </a:pPr>
            <a:r>
              <a:rPr b="1" i="0" lang="en-US" sz="1912" u="none" cap="none" strike="noStrik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Deep Lane sequence: 9-step async flow from escalation to rule promotion</a:t>
            </a:r>
            <a:endParaRPr b="0" i="0" sz="1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37"/>
          <p:cNvSpPr/>
          <p:nvPr/>
        </p:nvSpPr>
        <p:spPr>
          <a:xfrm>
            <a:off x="571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7"/>
          <p:cNvSpPr/>
          <p:nvPr/>
        </p:nvSpPr>
        <p:spPr>
          <a:xfrm>
            <a:off x="571500" y="1437289"/>
            <a:ext cx="92868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7"/>
          <p:cNvSpPr/>
          <p:nvPr/>
        </p:nvSpPr>
        <p:spPr>
          <a:xfrm>
            <a:off x="1493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37"/>
          <p:cNvSpPr/>
          <p:nvPr/>
        </p:nvSpPr>
        <p:spPr>
          <a:xfrm>
            <a:off x="571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37"/>
          <p:cNvSpPr/>
          <p:nvPr/>
        </p:nvSpPr>
        <p:spPr>
          <a:xfrm>
            <a:off x="571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37"/>
          <p:cNvSpPr/>
          <p:nvPr/>
        </p:nvSpPr>
        <p:spPr>
          <a:xfrm>
            <a:off x="571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37"/>
          <p:cNvSpPr/>
          <p:nvPr/>
        </p:nvSpPr>
        <p:spPr>
          <a:xfrm>
            <a:off x="1714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37"/>
          <p:cNvSpPr/>
          <p:nvPr/>
        </p:nvSpPr>
        <p:spPr>
          <a:xfrm>
            <a:off x="1714500" y="1437289"/>
            <a:ext cx="928688" cy="21431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7"/>
          <p:cNvSpPr/>
          <p:nvPr/>
        </p:nvSpPr>
        <p:spPr>
          <a:xfrm>
            <a:off x="2636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7"/>
          <p:cNvSpPr/>
          <p:nvPr/>
        </p:nvSpPr>
        <p:spPr>
          <a:xfrm>
            <a:off x="1714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37"/>
          <p:cNvSpPr/>
          <p:nvPr/>
        </p:nvSpPr>
        <p:spPr>
          <a:xfrm>
            <a:off x="1714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37"/>
          <p:cNvSpPr/>
          <p:nvPr/>
        </p:nvSpPr>
        <p:spPr>
          <a:xfrm>
            <a:off x="1714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53935"/>
                </a:solidFill>
                <a:latin typeface="Inter"/>
                <a:ea typeface="Inter"/>
                <a:cs typeface="Inter"/>
                <a:sym typeface="Inter"/>
              </a:rPr>
              <a:t>NATS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37"/>
          <p:cNvSpPr/>
          <p:nvPr/>
        </p:nvSpPr>
        <p:spPr>
          <a:xfrm>
            <a:off x="2857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37"/>
          <p:cNvSpPr/>
          <p:nvPr/>
        </p:nvSpPr>
        <p:spPr>
          <a:xfrm>
            <a:off x="2857500" y="1437289"/>
            <a:ext cx="928688" cy="214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7"/>
          <p:cNvSpPr/>
          <p:nvPr/>
        </p:nvSpPr>
        <p:spPr>
          <a:xfrm>
            <a:off x="3779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7"/>
          <p:cNvSpPr/>
          <p:nvPr/>
        </p:nvSpPr>
        <p:spPr>
          <a:xfrm>
            <a:off x="2857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37"/>
          <p:cNvSpPr/>
          <p:nvPr/>
        </p:nvSpPr>
        <p:spPr>
          <a:xfrm>
            <a:off x="2857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37"/>
          <p:cNvSpPr/>
          <p:nvPr/>
        </p:nvSpPr>
        <p:spPr>
          <a:xfrm>
            <a:off x="2857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DeepService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37"/>
          <p:cNvSpPr/>
          <p:nvPr/>
        </p:nvSpPr>
        <p:spPr>
          <a:xfrm>
            <a:off x="4000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7"/>
          <p:cNvSpPr/>
          <p:nvPr/>
        </p:nvSpPr>
        <p:spPr>
          <a:xfrm>
            <a:off x="4000500" y="1437289"/>
            <a:ext cx="928688" cy="214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7"/>
          <p:cNvSpPr/>
          <p:nvPr/>
        </p:nvSpPr>
        <p:spPr>
          <a:xfrm>
            <a:off x="4922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37"/>
          <p:cNvSpPr/>
          <p:nvPr/>
        </p:nvSpPr>
        <p:spPr>
          <a:xfrm>
            <a:off x="4000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37"/>
          <p:cNvSpPr/>
          <p:nvPr/>
        </p:nvSpPr>
        <p:spPr>
          <a:xfrm>
            <a:off x="4000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37"/>
          <p:cNvSpPr/>
          <p:nvPr/>
        </p:nvSpPr>
        <p:spPr>
          <a:xfrm>
            <a:off x="4000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LLM Engine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37"/>
          <p:cNvSpPr/>
          <p:nvPr/>
        </p:nvSpPr>
        <p:spPr>
          <a:xfrm>
            <a:off x="5143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37"/>
          <p:cNvSpPr/>
          <p:nvPr/>
        </p:nvSpPr>
        <p:spPr>
          <a:xfrm>
            <a:off x="5143500" y="1437289"/>
            <a:ext cx="928688" cy="21431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37"/>
          <p:cNvSpPr/>
          <p:nvPr/>
        </p:nvSpPr>
        <p:spPr>
          <a:xfrm>
            <a:off x="6065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37"/>
          <p:cNvSpPr/>
          <p:nvPr/>
        </p:nvSpPr>
        <p:spPr>
          <a:xfrm>
            <a:off x="5143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37"/>
          <p:cNvSpPr/>
          <p:nvPr/>
        </p:nvSpPr>
        <p:spPr>
          <a:xfrm>
            <a:off x="5143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37"/>
          <p:cNvSpPr/>
          <p:nvPr/>
        </p:nvSpPr>
        <p:spPr>
          <a:xfrm>
            <a:off x="5143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962FF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2962FF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37"/>
          <p:cNvSpPr/>
          <p:nvPr/>
        </p:nvSpPr>
        <p:spPr>
          <a:xfrm>
            <a:off x="6286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37"/>
          <p:cNvSpPr/>
          <p:nvPr/>
        </p:nvSpPr>
        <p:spPr>
          <a:xfrm>
            <a:off x="6286500" y="1437289"/>
            <a:ext cx="92868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37"/>
          <p:cNvSpPr/>
          <p:nvPr/>
        </p:nvSpPr>
        <p:spPr>
          <a:xfrm>
            <a:off x="7208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37"/>
          <p:cNvSpPr/>
          <p:nvPr/>
        </p:nvSpPr>
        <p:spPr>
          <a:xfrm>
            <a:off x="6286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37"/>
          <p:cNvSpPr/>
          <p:nvPr/>
        </p:nvSpPr>
        <p:spPr>
          <a:xfrm>
            <a:off x="6286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7"/>
          <p:cNvSpPr/>
          <p:nvPr/>
        </p:nvSpPr>
        <p:spPr>
          <a:xfrm>
            <a:off x="6286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ClickHouse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37"/>
          <p:cNvSpPr/>
          <p:nvPr/>
        </p:nvSpPr>
        <p:spPr>
          <a:xfrm>
            <a:off x="7429500" y="1437289"/>
            <a:ext cx="928688" cy="292894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7"/>
          <p:cNvSpPr/>
          <p:nvPr/>
        </p:nvSpPr>
        <p:spPr>
          <a:xfrm>
            <a:off x="7429500" y="1437289"/>
            <a:ext cx="928688" cy="21431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7"/>
          <p:cNvSpPr/>
          <p:nvPr/>
        </p:nvSpPr>
        <p:spPr>
          <a:xfrm>
            <a:off x="8351044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7"/>
          <p:cNvSpPr/>
          <p:nvPr/>
        </p:nvSpPr>
        <p:spPr>
          <a:xfrm>
            <a:off x="7429500" y="1723039"/>
            <a:ext cx="928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7"/>
          <p:cNvSpPr/>
          <p:nvPr/>
        </p:nvSpPr>
        <p:spPr>
          <a:xfrm>
            <a:off x="7429500" y="1437289"/>
            <a:ext cx="7144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37"/>
          <p:cNvSpPr/>
          <p:nvPr/>
        </p:nvSpPr>
        <p:spPr>
          <a:xfrm>
            <a:off x="7429500" y="1437289"/>
            <a:ext cx="928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85075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00BFA5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37"/>
          <p:cNvSpPr/>
          <p:nvPr/>
        </p:nvSpPr>
        <p:spPr>
          <a:xfrm>
            <a:off x="1035844" y="1865914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37"/>
          <p:cNvSpPr/>
          <p:nvPr/>
        </p:nvSpPr>
        <p:spPr>
          <a:xfrm>
            <a:off x="1063526" y="1723039"/>
            <a:ext cx="1087636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1. Publish escalation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37"/>
          <p:cNvSpPr/>
          <p:nvPr/>
        </p:nvSpPr>
        <p:spPr>
          <a:xfrm>
            <a:off x="2178844" y="2151664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37"/>
          <p:cNvSpPr/>
          <p:nvPr/>
        </p:nvSpPr>
        <p:spPr>
          <a:xfrm>
            <a:off x="2180630" y="2008789"/>
            <a:ext cx="1139428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2. deliver (subscribe)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37"/>
          <p:cNvSpPr/>
          <p:nvPr/>
        </p:nvSpPr>
        <p:spPr>
          <a:xfrm>
            <a:off x="3607594" y="2351689"/>
            <a:ext cx="1398389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3. guard / dedup / validate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37"/>
          <p:cNvSpPr/>
          <p:nvPr/>
        </p:nvSpPr>
        <p:spPr>
          <a:xfrm>
            <a:off x="3321844" y="2723164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37"/>
          <p:cNvSpPr/>
          <p:nvPr/>
        </p:nvSpPr>
        <p:spPr>
          <a:xfrm>
            <a:off x="3401318" y="2580289"/>
            <a:ext cx="984052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4. analyze(content)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37"/>
          <p:cNvSpPr/>
          <p:nvPr/>
        </p:nvSpPr>
        <p:spPr>
          <a:xfrm>
            <a:off x="3401318" y="2880327"/>
            <a:ext cx="984052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5. analysis results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37"/>
          <p:cNvSpPr/>
          <p:nvPr/>
        </p:nvSpPr>
        <p:spPr>
          <a:xfrm>
            <a:off x="2000250" y="3294664"/>
            <a:ext cx="6143625" cy="85725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37"/>
          <p:cNvSpPr/>
          <p:nvPr/>
        </p:nvSpPr>
        <p:spPr>
          <a:xfrm>
            <a:off x="2000250" y="3294664"/>
            <a:ext cx="217884" cy="11608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37"/>
          <p:cNvSpPr/>
          <p:nvPr/>
        </p:nvSpPr>
        <p:spPr>
          <a:xfrm>
            <a:off x="2000250" y="3294664"/>
            <a:ext cx="21788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485"/>
              <a:buFont typeface="Inter"/>
              <a:buNone/>
            </a:pPr>
            <a:r>
              <a:rPr b="1" i="0" lang="en-US" sz="485" u="none" cap="none" strike="noStrike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ALT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37"/>
          <p:cNvSpPr/>
          <p:nvPr/>
        </p:nvSpPr>
        <p:spPr>
          <a:xfrm>
            <a:off x="2071688" y="3437539"/>
            <a:ext cx="1253728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[if risk_score &gt; threshold]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37"/>
          <p:cNvSpPr/>
          <p:nvPr/>
        </p:nvSpPr>
        <p:spPr>
          <a:xfrm>
            <a:off x="3607594" y="3651852"/>
            <a:ext cx="1143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37"/>
          <p:cNvSpPr/>
          <p:nvPr/>
        </p:nvSpPr>
        <p:spPr>
          <a:xfrm>
            <a:off x="3635276" y="3508977"/>
            <a:ext cx="1087636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6. retroactive action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37"/>
          <p:cNvSpPr/>
          <p:nvPr/>
        </p:nvSpPr>
        <p:spPr>
          <a:xfrm>
            <a:off x="2071688" y="3937602"/>
            <a:ext cx="835819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[else: audit only]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37"/>
          <p:cNvSpPr/>
          <p:nvPr/>
        </p:nvSpPr>
        <p:spPr>
          <a:xfrm>
            <a:off x="3321844" y="4437664"/>
            <a:ext cx="3429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37"/>
          <p:cNvSpPr/>
          <p:nvPr/>
        </p:nvSpPr>
        <p:spPr>
          <a:xfrm>
            <a:off x="4492526" y="4294789"/>
            <a:ext cx="1087636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7. store audit record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7"/>
          <p:cNvSpPr/>
          <p:nvPr/>
        </p:nvSpPr>
        <p:spPr>
          <a:xfrm>
            <a:off x="3321844" y="4723414"/>
            <a:ext cx="2286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7"/>
          <p:cNvSpPr/>
          <p:nvPr/>
        </p:nvSpPr>
        <p:spPr>
          <a:xfrm>
            <a:off x="3869234" y="4580539"/>
            <a:ext cx="1191220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8. threshold + findings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37"/>
          <p:cNvSpPr/>
          <p:nvPr/>
        </p:nvSpPr>
        <p:spPr>
          <a:xfrm>
            <a:off x="3321844" y="5009164"/>
            <a:ext cx="4572000" cy="14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37"/>
          <p:cNvSpPr/>
          <p:nvPr/>
        </p:nvSpPr>
        <p:spPr>
          <a:xfrm>
            <a:off x="5089922" y="4866289"/>
            <a:ext cx="1035844" cy="1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 Mon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9. update rule state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