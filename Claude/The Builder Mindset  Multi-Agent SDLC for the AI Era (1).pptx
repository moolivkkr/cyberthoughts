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1" Type="http://schemas.openxmlformats.org/officeDocument/2006/relationships/slide" Target="slides/slide37.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 everyone. Today, we're going to talk about a fundamental shift in how we approach software development: the Builder Mindset. This isn't just about new tools; it's about a strategic re-evaluation of our entire Software Development Life Cycle, especially as AI becomes more integrated into our workflows. We'll explore how a multi-agent SDLC can help us navigate the complexities of the AI era, moving from simply managing context to actively curating it. Let's dive into the current state of AI in coding and see why this shift is so critical.</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what's the reality of AI coding today? We've all heard the hype: the 10x engineer in a box, instant code generation, entire teams replaced. But the truth is, AI today is more like a brilliant intern. It has infinite stamina, but zero judgment, and it needs constant supervision and guidance. It struggles with large, complex codebases, often exhibiting what we call 'context blindness.' We need to understand these limitations to effectively leverage AI, and that brings us to the core challenges we face.</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Building on that reality, we see three major challenges when integrating AI into our coding processes: context limits, memory loss, and reasoning drift. Models have finite token windows, which means they can easily forget details from earlier in a conversation, leading to symptoms like 'Why did it forget that API change?' Retrieval Augmented Generation, or RAG, helps, but it's still lossy; summaries strip away nuance, so the AI might use the wrong library version despite the documentation. And in complex, multi-step workflows, AI can lose sight of the original goal, leading to 'hallucinations' or breaking other parts of the system. These challenges are not just technical; they have significant market implications.</a:t>
            </a:r>
            <a:endParaRPr/>
          </a:p>
        </p:txBody>
      </p:sp>
      <p:sp>
        <p:nvSpPr>
          <p:cNvPr id="58" name="Google Shape;5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technical challenges are sending a clear signal to the market, and it's impacting traditional 'seat-based' SaaS valuations. The old model, selling tools to human developers, is limited by headcount. But automation is destroying that 'seat economy.' Companies that pay for 100 developer seats today will soon pay for five architects and 500 AI agents. This represents a massive value shift, moving from selling tools to humans to selling outcomes to agents, which offers unlimited scale. This shift also highlights why our traditional SDLC models are no longer sufficient.</a:t>
            </a:r>
            <a:endParaRPr/>
          </a:p>
        </p:txBody>
      </p:sp>
      <p:sp>
        <p:nvSpPr>
          <p:cNvPr id="92" name="Google Shape;9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brings us to why traditional SDLC models are failing in the age of AI. Our traditional phases—requirements, design, code, test—are often disconnected, creating silos. AI agents can't just 'walk over to a designer's desk' to clarify a mockup, and information is lost at every handoff. Verbal agreements and Slack threads are invisible to AI, leading to 'hallucinated' requirements. Crucially, there's no digital thread, no 'spine,' connecting a user story directly to a specific line of code. When the story changes, the code doesn't automatically know. We need a new approach, and that's what we'll explore next.</a:t>
            </a:r>
            <a:endParaRPr/>
          </a:p>
        </p:txBody>
      </p:sp>
      <p:sp>
        <p:nvSpPr>
          <p:cNvPr id="112" name="Google Shape;11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that we've explored the challenges of traditional SDLC, let's dive into the solution. We're introducing a new approach that leverages the power of AI agents to transform how we build software. This section will lay out the core pillars of this solution: SDLC Agents and the Builder Mindset, focusing on specialization, orchestration, and traceability. We'll see how these elements come together to create a more efficient and reliable development process.</a:t>
            </a:r>
            <a:endParaRPr/>
          </a:p>
        </p:txBody>
      </p:sp>
      <p:sp>
        <p:nvSpPr>
          <p:cNvPr id="149" name="Google Shape;14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Building on the idea of a new solution, a key component is the concept of sub-agents. We've learned that trying to make a single AI agent do everything leads to context pollution and shallow reasoning, much like a generalist trying to master too many domains. Instead, we embrace specialization, giving each sub-agent a narrow, well-defined task. This means an agent focused on SQL only sees the schema and query, leading to deep expertise and higher accuracy. This approach allows us to divide complex problems into manageable, conquerable pieces, ensuring that each part of the system is handled with precision. This specialization is crucial for scaling quality and efficiency, and it's a foundational element of the builder mindset we'll discuss next.</a:t>
            </a:r>
            <a:endParaRPr/>
          </a:p>
        </p:txBody>
      </p:sp>
      <p:sp>
        <p:nvSpPr>
          <p:cNvPr id="167" name="Google Shape;16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Moving from the power of specialized agents, let's talk about the shift in mindset this enables: the Builder Mindset. In this new paradigm, the focus moves from being a coder, consumed by syntax and debugging individual lines, to becoming an architect. The architect thinks about the system as a whole, focusing on requirements, data flow, and reviewing the outputs of our agents. This is a fundamental shift because, in the AI era, code becomes a commodity. The true asset is the architecture, the intelligent design that orchestrates these specialized agents. This builder mindset is what empowers us to create robust, scalable systems, and it's essential for navigating the SDLC pipeline we'll explore next.</a:t>
            </a:r>
            <a:endParaRPr/>
          </a:p>
        </p:txBody>
      </p:sp>
      <p:sp>
        <p:nvSpPr>
          <p:cNvPr id="204" name="Google Shape;20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With the builder mindset in place, we can now visualize the entire Multi-Agent SDLC Pipeline. This isn't just a series of steps; it's a continuous flow from an initial idea to deployment, orchestrated by specialized agents. We start with a Product Manager Agent for planning, then move to an Architect Agent for specification. Development is handled by parallel Dev Agents, followed by QA Agents for testing, and finally, a DevOps Agent for deployment. Crucially, human review gates and automated checks are integrated throughout, ensuring quality at every stage. This pipeline ensures a seamless, efficient journey for every feature, and it all begins with a strong foundation, which we'll discuss next: the BRD as the spine.</a:t>
            </a:r>
            <a:endParaRPr/>
          </a:p>
        </p:txBody>
      </p:sp>
      <p:sp>
        <p:nvSpPr>
          <p:cNvPr id="229" name="Google Shape;22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8" name="Google Shape;71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4" name="Google Shape;79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5" name="Google Shape;79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4" name="Google Shape;87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5" name="Google Shape;87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1" name="Google Shape;95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We've talked about the BRD as the central spine, but how do we ensure everything stays aligned? This is where bidirectional sync comes in, preventing what we call the documentation trap. In traditional development, documentation is often written once and then quickly becomes outdated as code evolves. Our approach ensures that if the code changes, the documentation automatically updates, and if the documentation changes, the tests are automatically updated to reflect those changes. This creates a continuous feedback loop, ensuring that your documentation, code, and tests always tell the same story. This continuous alignment is crucial for maintaining a single source of truth across the entire SDLC, eliminating drift and reducing costly errors. Now, let's look at the specialized agents that make this continuous synchronization possible.</a:t>
            </a:r>
            <a:endParaRPr/>
          </a:p>
        </p:txBody>
      </p:sp>
      <p:sp>
        <p:nvSpPr>
          <p:cNvPr id="952" name="Google Shape;95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1" name="Google Shape;97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how do we achieve this seamless, synchronized workflow? It's through a robust roster of over 39 specialized agents, each designed to cover a specific role within the software development lifecycle. We have agents dedicated to requirements gathering, ensuring clarity and completeness from the outset. Then, a suite of design agents translates those requirements into detailed architectural and user experience specifications. Development agents then take these specifications and generate high-quality code, adhering to established standards. Finally, our quality agents rigorously test and validate every output, ensuring that what's built matches what was specified. This comprehensive coverage means that from the initial strategic vision to the final security audit, every aspect of development is handled by an expert agent. Let's dive deeper into some of these agents, starting with the requirements and planning phase.</a:t>
            </a:r>
            <a:endParaRPr/>
          </a:p>
        </p:txBody>
      </p:sp>
      <p:sp>
        <p:nvSpPr>
          <p:cNvPr id="972" name="Google Shape;97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3" name="Google Shape;104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let's talk about how we orchestrate all these specialized agents we've just discussed. Our orchestration model is split across two layers, ensuring both high-level control and granular execution. At the top, a Master Orchestrator routes user intent, acting as the central hub for commands like /plan or /test. This Master Orchestrator then delegates to various Leads—Product, Design, Tech, and QA—who manage their respective teams of agents. This structure means you interact with the Master, the Master talks to the Leads, and the Leads manage the workers, creating a clear chain of command and efficient workflow. This layered approach is crucial for maintaining control and quality, which brings us to our next point on blocking gates.</a:t>
            </a:r>
            <a:endParaRPr/>
          </a:p>
        </p:txBody>
      </p:sp>
      <p:sp>
        <p:nvSpPr>
          <p:cNvPr id="1044" name="Google Shape;1044;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3" name="Google Shape;107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Building on our orchestration model, a critical component of our system is the implementation of blocking quality gates. These aren't just suggestions; they are mandatory checkpoints that prevent any substandard work from moving downstream. We have gates at every stage: for specifications, design, code, and deployment. If a gate fails, the pipeline stops immediately. This strict enforcement means we're not just hoping for quality; we're guaranteeing it at every step. This proactive approach ensures that we catch issues early, preventing them from becoming costly problems later on. But even with all this automation, human judgment remains essential, which is what we'll explore next.</a:t>
            </a:r>
            <a:endParaRPr/>
          </a:p>
        </p:txBody>
      </p:sp>
      <p:sp>
        <p:nvSpPr>
          <p:cNvPr id="1074" name="Google Shape;1074;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6" name="Google Shape;110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While automation drives much of our process, human judgment remains absolutely critical, and that's where our Human-in-the-Loop checkpoints come in. These are not just reviews; they are strategic interventions where human expertise provides the ultimate validation. Whether it's a stakeholder reviewing the BRD to ensure we're solving the right problem, or a Tech Lead validating API contracts, human oversight is paramount. The AI generates the artifacts, but the human provides the judgment, ensuring that our solutions are not only technically sound but also strategically aligned and user-centric. This blend of automation and human intelligence is key to delivering truly exceptional software.</a:t>
            </a:r>
            <a:endParaRPr/>
          </a:p>
        </p:txBody>
      </p:sp>
      <p:sp>
        <p:nvSpPr>
          <p:cNvPr id="1107" name="Google Shape;110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9" name="Google Shape;1139;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let's talk about how we accelerate development even further. DevNavHub templates are all about reusability. Instead of building common functionalities from scratch, we can simply plug in proven, pre-built skill sets directly into our agents' context. This means we're not reinventing the wheel for things like payment processing or authentication. We're injecting battle-tested solutions, allowing our agents to implement them instantly. This approach drastically reduces development time and ensures consistency across projects. This concept of reusable skills directly feeds into our ability to execute multiple features in parallel.</a:t>
            </a:r>
            <a:endParaRPr/>
          </a:p>
        </p:txBody>
      </p:sp>
      <p:sp>
        <p:nvSpPr>
          <p:cNvPr id="1140" name="Google Shape;1140;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2" name="Google Shape;1172;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Building on the idea of reusable skills, parallel streams are how we remove bottlenecks and achieve speed at scale. Instead of a sequential process where one feature is completed before the next begins, we can spin up multiple development agents simultaneously. Each agent works on a distinct feature, like an authentication system, payments, or a dashboard, in parallel. This dramatically increases our throughput and allows us to deliver multiple features much faster. This parallel execution is a core component of how we're scaling human potential, which brings us to our next section.</a:t>
            </a:r>
            <a:endParaRPr/>
          </a:p>
        </p:txBody>
      </p:sp>
      <p:sp>
        <p:nvSpPr>
          <p:cNvPr id="1173" name="Google Shape;1173;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8" name="Google Shape;1208;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brings us to Section 3, where we'll explore how Builder Mode fundamentally scales human potential. We're moving beyond incremental improvements to a paradigm shift. This section will delve into how we empower engineers to achieve 100x impact, leverage infinite context, and drive development through precise specifications. We'll examine how this new approach transforms individual contributions into a force multiplier for the entire organization.</a:t>
            </a:r>
            <a:endParaRPr/>
          </a:p>
        </p:txBody>
      </p:sp>
      <p:sp>
        <p:nvSpPr>
          <p:cNvPr id="1209" name="Google Shape;1209;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6" name="Google Shape;1226;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Builder Mode truly acts as a force multiplier, fundamentally changing how we scale output. In the traditional model, a manual coder produces one feature a week. With AI assistance, that jumps to ten. But with an agent orchestrator, managing a swarm of agents, we're talking about a hundred features a week. You're no longer just a bricklayer; you become the foreman of a digital workforce, directing intelligent agents to build at an unprecedented pace. This shift in roles also demands a new approach to training, which we'll discuss next.</a:t>
            </a:r>
            <a:endParaRPr/>
          </a:p>
        </p:txBody>
      </p:sp>
      <p:sp>
        <p:nvSpPr>
          <p:cNvPr id="1227" name="Google Shape;1227;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2" name="Google Shape;1252;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new paradigm requires a new curriculum for our developers. We need to stop focusing on rote memorization of syntax or endless LeetCode drills. Instead, we're shifting our focus to system design, prompt engineering, and high-level code review. We'll accelerate skills like agent debugging, understanding architecture patterns, and mastering spec writing. The goal is to move from 'how' to code to 'what' to code, empowering our teams to think strategically and leverage these powerful tools effectively.</a:t>
            </a:r>
            <a:endParaRPr/>
          </a:p>
        </p:txBody>
      </p:sp>
      <p:sp>
        <p:nvSpPr>
          <p:cNvPr id="1253" name="Google Shape;1253;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1" name="Google Shape;129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We've talked about how we're training our developers, but what about the underlying technology? We're all aware of the current limitations of large language models, things like limited context windows and the "lost in the middle" phenomenon. We also see reasoning drift and hallucinations, especially in longer chains, and fragmented RAG leading to lossy retrieval. But this is changing rapidly. We're moving towards a future of abundance with infinite context, perfect recall, and self-correcting logic loops. This means the bottleneck shifts from memory to specification accuracy. So, what does this mean for the next 18 months?</a:t>
            </a:r>
            <a:endParaRPr/>
          </a:p>
        </p:txBody>
      </p:sp>
      <p:sp>
        <p:nvSpPr>
          <p:cNvPr id="1292" name="Google Shape;1292;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9" name="Google Shape;1329;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next 18 months will truly change everything. Right now, we're focused on context engineering, managing RAG pipelines, and strict prompt engineering to overcome current limitations. But very soon, we'll see agentic IDEs that proactively suggest architectural changes, not just code completion. Looking further out, we're heading towards self-healing systems that detect bugs, write tests, fix code, and deploy without human intervention. The goal isn't to replace developers; it's to elevate them to system architects. But how do we measure success in this new paradigm?</a:t>
            </a:r>
            <a:endParaRPr/>
          </a:p>
        </p:txBody>
      </p:sp>
      <p:sp>
        <p:nvSpPr>
          <p:cNvPr id="1330" name="Google Shape;1330;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0" name="Google Shape;1350;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Measuring success in this new world means focusing on key innovations and metrics. We're seeing reasoning models that reduce logic errors by 40% and agents that understand the entire codebase, not just single files. Agentic IDEs are already integrating these capabilities directly into our editors. When we look at DORA metrics, we're seeing a 4x increase in deploy frequency, a 60% reduction in change failure rates, and 80% of code being generated by AI. This also leads to a 2x increase in developer satisfaction. Ultimately, we're measuring what matters: velocity and stability, and AI is improving both.</a:t>
            </a:r>
            <a:endParaRPr/>
          </a:p>
        </p:txBody>
      </p:sp>
      <p:sp>
        <p:nvSpPr>
          <p:cNvPr id="1351" name="Google Shape;1351;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7" name="Shape 1397"/>
        <p:cNvGrpSpPr/>
        <p:nvPr/>
      </p:nvGrpSpPr>
      <p:grpSpPr>
        <a:xfrm>
          <a:off x="0" y="0"/>
          <a:ext cx="0" cy="0"/>
          <a:chOff x="0" y="0"/>
          <a:chExt cx="0" cy="0"/>
        </a:xfrm>
      </p:grpSpPr>
      <p:sp>
        <p:nvSpPr>
          <p:cNvPr id="1398" name="Google Shape;1398;g3ca8655653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9" name="Google Shape;1399;g3ca8655653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 everyone. Today, we're going to talk about a fundamental shift in how we approach software development: the Builder Mindset. This isn't just about new tools; it's about a strategic re-evaluation of our entire Software Development Life Cycle, especially as AI becomes more integrated into our workflows. We'll explore how a multi-agent SDLC can help us navigate the complexities of the AI era, moving from simply managing context to actively curating it. Let's dive into the current state of AI in coding and see why this shift is so critical.</a:t>
            </a:r>
            <a:endParaRPr/>
          </a:p>
        </p:txBody>
      </p:sp>
      <p:sp>
        <p:nvSpPr>
          <p:cNvPr id="1400" name="Google Shape;1400;g3ca8655653e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0" name="Google Shape;141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core of our pipeline, and indeed the entire Builder Mode approach, is the Business Requirements Document, or BRD. We see the BRD as the spine of everything we build. It starts with defining the persona, like 'As a Premium User,' then moves to the user story, 'I want to download reports so I can analyze offline.' This directly informs the technical specification, such as 'GET /api/v1/reports/download (PDF/CSV),' and ultimately the implementation, like a Python/FastAPI endpoint with unit tests. This creates full traceability, meaning every line of code is linked back to a specific user story. If that story changes, our agents know exactly which code needs updating, ensuring consistency and preventing drift. This continuous alignment is key to preventing the documentation trap, which we'll discuss next.</a:t>
            </a:r>
            <a:endParaRPr/>
          </a:p>
        </p:txBody>
      </p:sp>
      <p:sp>
        <p:nvSpPr>
          <p:cNvPr id="1411" name="Google Shape;141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4" name="Shape 1434"/>
        <p:cNvGrpSpPr/>
        <p:nvPr/>
      </p:nvGrpSpPr>
      <p:grpSpPr>
        <a:xfrm>
          <a:off x="0" y="0"/>
          <a:ext cx="0" cy="0"/>
          <a:chOff x="0" y="0"/>
          <a:chExt cx="0" cy="0"/>
        </a:xfrm>
      </p:grpSpPr>
      <p:sp>
        <p:nvSpPr>
          <p:cNvPr id="1435" name="Google Shape;143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6" name="Google Shape;143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Building on the idea of specialized agents, let's look at the Requirements Phase, which is truly the foundation of everything we build. Here, we have a dedicated squad of agents: the Product Manager, Business Analyst, User Story Writer, and Project Planner. Each agent plays a critical role in a sequential handoff, ensuring that every detail is captured and validated. The Product Manager defines the high-level goals, which the Business Analyst then expands into detailed requirements and edge cases. The User Story Writer translates these into actionable Gherkin scenarios and Jira tickets, and the Project Planner creates the timeline and sprint plan. This structured approach ensures that our key artifacts—the PRD, BRD, user stories, and sprint plan—are robust and thoroughly reviewed by humans before development even begins. This meticulous planning sets the stage for the subsequent design phase, which we'll explore next.</a:t>
            </a:r>
            <a:endParaRPr/>
          </a:p>
        </p:txBody>
      </p:sp>
      <p:sp>
        <p:nvSpPr>
          <p:cNvPr id="1437" name="Google Shape;1437;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7" name="Google Shape;150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Following the rigorous requirements phase, we move into the Design Phase, where our agents work in parallel to create a comprehensive architectural blueprint. Here, the System Architect leads the charge, coordinating with the DB Designer, API Designer, and UX/UI Designer. This phase operates on a 'fan-out, fan-in' model: the Architect establishes the system context using C4 diagrams, while the DB Agent generates the ERD and schema, the API Agent defines the OpenAPI specifications, and the UX Agent creates wireframes. This parallel execution allows for rapid and comprehensive design, with all artifacts—C4 architecture, ERD, OpenAPI specs, and UI wireframes—undergoing human review by the architect and the team. This ensures that all design elements are validated and aligned before any coding begins, providing a solid foundation for the development phase.</a:t>
            </a:r>
            <a:endParaRPr/>
          </a:p>
        </p:txBody>
      </p:sp>
      <p:sp>
        <p:nvSpPr>
          <p:cNvPr id="1508" name="Google Shape;150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8" name="Shape 1578"/>
        <p:cNvGrpSpPr/>
        <p:nvPr/>
      </p:nvGrpSpPr>
      <p:grpSpPr>
        <a:xfrm>
          <a:off x="0" y="0"/>
          <a:ext cx="0" cy="0"/>
          <a:chOff x="0" y="0"/>
          <a:chExt cx="0" cy="0"/>
        </a:xfrm>
      </p:grpSpPr>
      <p:sp>
        <p:nvSpPr>
          <p:cNvPr id="1579" name="Google Shape;157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0" name="Google Shape;158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Once the design is solidified, we enter the Development Phase, where our agents focus on a layered, bottom-up build approach. The Tech Lead agent oversees the creation of the Technical Requirements Document and task breakdown, ensuring clarity for the development team. Then, the Backend Developer, Frontend Developer, and Integration Specialist agents work in concert. We start with the database and models, followed by the business logic and API, and finally, the frontend integration. This structured approach ensures that each layer is built upon a stable foundation. Crucially, the TRD undergoes a core team review before any coding starts, and all source code, live API endpoints, and unit test suites are meticulously tracked and validated. This disciplined approach ensures high-quality code that aligns perfectly with our specifications, preparing us for the critical quality and security checks.</a:t>
            </a:r>
            <a:endParaRPr/>
          </a:p>
        </p:txBody>
      </p:sp>
      <p:sp>
        <p:nvSpPr>
          <p:cNvPr id="1581" name="Google Shape;158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6" name="Shape 1646"/>
        <p:cNvGrpSpPr/>
        <p:nvPr/>
      </p:nvGrpSpPr>
      <p:grpSpPr>
        <a:xfrm>
          <a:off x="0" y="0"/>
          <a:ext cx="0" cy="0"/>
          <a:chOff x="0" y="0"/>
          <a:chExt cx="0" cy="0"/>
        </a:xfrm>
      </p:grpSpPr>
      <p:sp>
        <p:nvSpPr>
          <p:cNvPr id="1647" name="Google Shape;164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8" name="Google Shape;164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Moving into the Quality Phase, we see a dedicated squad of agents focused on ensuring the integrity of our software. This isn't just about finding bugs; it's about building quality in from the start. We have agents for test strategy, unit test writing, and even E2E test writing, all working to create a robust testing pyramid. This comprehensive approach means we're catching issues early, rather than letting them fester. The key artifacts here, like the Test Plan and Coverage Report, provide clear, measurable indicators of our quality posture. This leads us directly into the next set of specialized agents that handle operations and release.</a:t>
            </a:r>
            <a:endParaRPr/>
          </a:p>
        </p:txBody>
      </p:sp>
      <p:sp>
        <p:nvSpPr>
          <p:cNvPr id="1649" name="Google Shape;164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0" name="Shape 1710"/>
        <p:cNvGrpSpPr/>
        <p:nvPr/>
      </p:nvGrpSpPr>
      <p:grpSpPr>
        <a:xfrm>
          <a:off x="0" y="0"/>
          <a:ext cx="0" cy="0"/>
          <a:chOff x="0" y="0"/>
          <a:chExt cx="0" cy="0"/>
        </a:xfrm>
      </p:grpSpPr>
      <p:sp>
        <p:nvSpPr>
          <p:cNvPr id="1711" name="Google Shape;171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2" name="Google Shape;171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Following our quality checks, the Specialized Phase brings in agents focused on operations and release, completing the continuous loop of our SDLC. Here, a dedicated squad of DevOps engineers, release managers, and technical writers ensures that our software is not only built well but also deployed efficiently and documented thoroughly. This continuous loop, from provisioning to deployment and then back into the feedback cycle, means we're constantly refining and improving. The artifacts, like the CI/CD Pipeline and auto-generated Release Notes, are critical for maintaining agility and transparency. Now, let's zoom out a bit and look at how all these agents are orchestrated.</a:t>
            </a:r>
            <a:endParaRPr/>
          </a:p>
        </p:txBody>
      </p:sp>
      <p:sp>
        <p:nvSpPr>
          <p:cNvPr id="1713" name="Google Shape;171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5.jpg"/><Relationship Id="rId4" Type="http://schemas.openxmlformats.org/officeDocument/2006/relationships/image" Target="../media/image3.png"/><Relationship Id="rId5" Type="http://schemas.openxmlformats.org/officeDocument/2006/relationships/image" Target="../media/image12.png"/><Relationship Id="rId6"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9.jpg"/><Relationship Id="rId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4.jp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6.jp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0.jpg"/><Relationship Id="rId4" Type="http://schemas.openxmlformats.org/officeDocument/2006/relationships/image" Target="../media/image14.png"/><Relationship Id="rId10" Type="http://schemas.openxmlformats.org/officeDocument/2006/relationships/image" Target="../media/image22.png"/><Relationship Id="rId9" Type="http://schemas.openxmlformats.org/officeDocument/2006/relationships/image" Target="../media/image20.png"/><Relationship Id="rId5" Type="http://schemas.openxmlformats.org/officeDocument/2006/relationships/image" Target="../media/image15.png"/><Relationship Id="rId6" Type="http://schemas.openxmlformats.org/officeDocument/2006/relationships/image" Target="../media/image53.png"/><Relationship Id="rId7" Type="http://schemas.openxmlformats.org/officeDocument/2006/relationships/image" Target="../media/image21.png"/><Relationship Id="rId8"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3.jpg"/><Relationship Id="rId4" Type="http://schemas.openxmlformats.org/officeDocument/2006/relationships/image" Target="../media/image28.png"/><Relationship Id="rId5" Type="http://schemas.openxmlformats.org/officeDocument/2006/relationships/image" Target="../media/image30.png"/><Relationship Id="rId6" Type="http://schemas.openxmlformats.org/officeDocument/2006/relationships/image" Target="../media/image49.png"/><Relationship Id="rId7" Type="http://schemas.openxmlformats.org/officeDocument/2006/relationships/image" Target="../media/image3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4.jpg"/><Relationship Id="rId4" Type="http://schemas.openxmlformats.org/officeDocument/2006/relationships/image" Target="../media/image69.png"/><Relationship Id="rId5" Type="http://schemas.openxmlformats.org/officeDocument/2006/relationships/image" Target="../media/image27.png"/><Relationship Id="rId6" Type="http://schemas.openxmlformats.org/officeDocument/2006/relationships/image" Target="../media/image35.png"/><Relationship Id="rId7" Type="http://schemas.openxmlformats.org/officeDocument/2006/relationships/image" Target="../media/image4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04.png"/><Relationship Id="rId4" Type="http://schemas.openxmlformats.org/officeDocument/2006/relationships/image" Target="../media/image38.png"/><Relationship Id="rId5" Type="http://schemas.openxmlformats.org/officeDocument/2006/relationships/image" Target="../media/image42.png"/><Relationship Id="rId6" Type="http://schemas.openxmlformats.org/officeDocument/2006/relationships/image" Target="../media/image4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7.jpg"/><Relationship Id="rId4" Type="http://schemas.openxmlformats.org/officeDocument/2006/relationships/image" Target="../media/image43.png"/><Relationship Id="rId5" Type="http://schemas.openxmlformats.org/officeDocument/2006/relationships/image" Target="../media/image46.png"/><Relationship Id="rId6" Type="http://schemas.openxmlformats.org/officeDocument/2006/relationships/image" Target="../media/image50.png"/><Relationship Id="rId7" Type="http://schemas.openxmlformats.org/officeDocument/2006/relationships/image" Target="../media/image48.png"/><Relationship Id="rId8" Type="http://schemas.openxmlformats.org/officeDocument/2006/relationships/image" Target="../media/image5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7.jpg"/><Relationship Id="rId4" Type="http://schemas.openxmlformats.org/officeDocument/2006/relationships/image" Target="../media/image51.png"/><Relationship Id="rId9" Type="http://schemas.openxmlformats.org/officeDocument/2006/relationships/image" Target="../media/image56.png"/><Relationship Id="rId5" Type="http://schemas.openxmlformats.org/officeDocument/2006/relationships/image" Target="../media/image62.png"/><Relationship Id="rId6" Type="http://schemas.openxmlformats.org/officeDocument/2006/relationships/image" Target="../media/image55.png"/><Relationship Id="rId7" Type="http://schemas.openxmlformats.org/officeDocument/2006/relationships/image" Target="../media/image54.png"/><Relationship Id="rId8" Type="http://schemas.openxmlformats.org/officeDocument/2006/relationships/image" Target="../media/image6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7.jpg"/><Relationship Id="rId4" Type="http://schemas.openxmlformats.org/officeDocument/2006/relationships/image" Target="../media/image61.png"/><Relationship Id="rId10" Type="http://schemas.openxmlformats.org/officeDocument/2006/relationships/image" Target="../media/image70.png"/><Relationship Id="rId9" Type="http://schemas.openxmlformats.org/officeDocument/2006/relationships/image" Target="../media/image66.png"/><Relationship Id="rId5" Type="http://schemas.openxmlformats.org/officeDocument/2006/relationships/image" Target="../media/image65.png"/><Relationship Id="rId6" Type="http://schemas.openxmlformats.org/officeDocument/2006/relationships/image" Target="../media/image90.png"/><Relationship Id="rId7" Type="http://schemas.openxmlformats.org/officeDocument/2006/relationships/image" Target="../media/image58.png"/><Relationship Id="rId8" Type="http://schemas.openxmlformats.org/officeDocument/2006/relationships/image" Target="../media/image64.png"/></Relationships>
</file>

<file path=ppt/slides/_rels/slide12.xml.rels><?xml version="1.0" encoding="UTF-8" standalone="yes"?><Relationships xmlns="http://schemas.openxmlformats.org/package/2006/relationships"><Relationship Id="rId11" Type="http://schemas.openxmlformats.org/officeDocument/2006/relationships/image" Target="../media/image77.png"/><Relationship Id="rId10" Type="http://schemas.openxmlformats.org/officeDocument/2006/relationships/image" Target="../media/image84.png"/><Relationship Id="rId13" Type="http://schemas.openxmlformats.org/officeDocument/2006/relationships/image" Target="../media/image81.png"/><Relationship Id="rId12" Type="http://schemas.openxmlformats.org/officeDocument/2006/relationships/image" Target="../media/image80.png"/><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7.jpg"/><Relationship Id="rId4" Type="http://schemas.openxmlformats.org/officeDocument/2006/relationships/image" Target="../media/image61.png"/><Relationship Id="rId9" Type="http://schemas.openxmlformats.org/officeDocument/2006/relationships/image" Target="../media/image73.png"/><Relationship Id="rId5" Type="http://schemas.openxmlformats.org/officeDocument/2006/relationships/image" Target="../media/image87.png"/><Relationship Id="rId6" Type="http://schemas.openxmlformats.org/officeDocument/2006/relationships/image" Target="../media/image74.png"/><Relationship Id="rId7" Type="http://schemas.openxmlformats.org/officeDocument/2006/relationships/image" Target="../media/image72.png"/><Relationship Id="rId8" Type="http://schemas.openxmlformats.org/officeDocument/2006/relationships/image" Target="../media/image82.png"/></Relationships>
</file>

<file path=ppt/slides/_rels/slide13.xml.rels><?xml version="1.0" encoding="UTF-8" standalone="yes"?><Relationships xmlns="http://schemas.openxmlformats.org/package/2006/relationships"><Relationship Id="rId11" Type="http://schemas.openxmlformats.org/officeDocument/2006/relationships/image" Target="../media/image93.png"/><Relationship Id="rId10" Type="http://schemas.openxmlformats.org/officeDocument/2006/relationships/image" Target="../media/image79.pn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7.jpg"/><Relationship Id="rId4" Type="http://schemas.openxmlformats.org/officeDocument/2006/relationships/image" Target="../media/image61.png"/><Relationship Id="rId9"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image" Target="../media/image89.png"/><Relationship Id="rId7" Type="http://schemas.openxmlformats.org/officeDocument/2006/relationships/image" Target="../media/image104.png"/><Relationship Id="rId8" Type="http://schemas.openxmlformats.org/officeDocument/2006/relationships/image" Target="../media/image78.png"/></Relationships>
</file>

<file path=ppt/slides/_rels/slide14.xml.rels><?xml version="1.0" encoding="UTF-8" standalone="yes"?><Relationships xmlns="http://schemas.openxmlformats.org/package/2006/relationships"><Relationship Id="rId11" Type="http://schemas.openxmlformats.org/officeDocument/2006/relationships/image" Target="../media/image95.png"/><Relationship Id="rId10" Type="http://schemas.openxmlformats.org/officeDocument/2006/relationships/image" Target="../media/image97.png"/><Relationship Id="rId13" Type="http://schemas.openxmlformats.org/officeDocument/2006/relationships/image" Target="../media/image126.png"/><Relationship Id="rId12" Type="http://schemas.openxmlformats.org/officeDocument/2006/relationships/image" Target="../media/image96.png"/><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7.jpg"/><Relationship Id="rId4" Type="http://schemas.openxmlformats.org/officeDocument/2006/relationships/image" Target="../media/image61.png"/><Relationship Id="rId9" Type="http://schemas.openxmlformats.org/officeDocument/2006/relationships/image" Target="../media/image99.png"/><Relationship Id="rId5" Type="http://schemas.openxmlformats.org/officeDocument/2006/relationships/image" Target="../media/image87.png"/><Relationship Id="rId6" Type="http://schemas.openxmlformats.org/officeDocument/2006/relationships/image" Target="../media/image89.png"/><Relationship Id="rId7" Type="http://schemas.openxmlformats.org/officeDocument/2006/relationships/image" Target="../media/image100.png"/><Relationship Id="rId8" Type="http://schemas.openxmlformats.org/officeDocument/2006/relationships/image" Target="../media/image122.png"/></Relationships>
</file>

<file path=ppt/slides/_rels/slide15.xml.rels><?xml version="1.0" encoding="UTF-8" standalone="yes"?><Relationships xmlns="http://schemas.openxmlformats.org/package/2006/relationships"><Relationship Id="rId11" Type="http://schemas.openxmlformats.org/officeDocument/2006/relationships/image" Target="../media/image118.png"/><Relationship Id="rId10" Type="http://schemas.openxmlformats.org/officeDocument/2006/relationships/image" Target="../media/image109.png"/><Relationship Id="rId13" Type="http://schemas.openxmlformats.org/officeDocument/2006/relationships/image" Target="../media/image108.png"/><Relationship Id="rId12" Type="http://schemas.openxmlformats.org/officeDocument/2006/relationships/image" Target="../media/image107.png"/><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7.jpg"/><Relationship Id="rId4" Type="http://schemas.openxmlformats.org/officeDocument/2006/relationships/image" Target="../media/image61.png"/><Relationship Id="rId9" Type="http://schemas.openxmlformats.org/officeDocument/2006/relationships/image" Target="../media/image110.png"/><Relationship Id="rId14" Type="http://schemas.openxmlformats.org/officeDocument/2006/relationships/image" Target="../media/image113.png"/><Relationship Id="rId5" Type="http://schemas.openxmlformats.org/officeDocument/2006/relationships/image" Target="../media/image87.png"/><Relationship Id="rId6" Type="http://schemas.openxmlformats.org/officeDocument/2006/relationships/image" Target="../media/image89.png"/><Relationship Id="rId7" Type="http://schemas.openxmlformats.org/officeDocument/2006/relationships/image" Target="../media/image100.png"/><Relationship Id="rId8" Type="http://schemas.openxmlformats.org/officeDocument/2006/relationships/image" Target="../media/image112.png"/></Relationships>
</file>

<file path=ppt/slides/_rels/slide16.xml.rels><?xml version="1.0" encoding="UTF-8" standalone="yes"?><Relationships xmlns="http://schemas.openxmlformats.org/package/2006/relationships"><Relationship Id="rId11" Type="http://schemas.openxmlformats.org/officeDocument/2006/relationships/image" Target="../media/image124.png"/><Relationship Id="rId10" Type="http://schemas.openxmlformats.org/officeDocument/2006/relationships/image" Target="../media/image125.png"/><Relationship Id="rId13" Type="http://schemas.openxmlformats.org/officeDocument/2006/relationships/image" Target="../media/image130.png"/><Relationship Id="rId12" Type="http://schemas.openxmlformats.org/officeDocument/2006/relationships/image" Target="../media/image123.png"/><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7.jpg"/><Relationship Id="rId4" Type="http://schemas.openxmlformats.org/officeDocument/2006/relationships/image" Target="../media/image61.png"/><Relationship Id="rId9" Type="http://schemas.openxmlformats.org/officeDocument/2006/relationships/image" Target="../media/image119.png"/><Relationship Id="rId15" Type="http://schemas.openxmlformats.org/officeDocument/2006/relationships/image" Target="../media/image133.png"/><Relationship Id="rId14" Type="http://schemas.openxmlformats.org/officeDocument/2006/relationships/image" Target="../media/image128.png"/><Relationship Id="rId16" Type="http://schemas.openxmlformats.org/officeDocument/2006/relationships/image" Target="../media/image132.png"/><Relationship Id="rId5" Type="http://schemas.openxmlformats.org/officeDocument/2006/relationships/image" Target="../media/image87.png"/><Relationship Id="rId6" Type="http://schemas.openxmlformats.org/officeDocument/2006/relationships/image" Target="../media/image89.png"/><Relationship Id="rId7" Type="http://schemas.openxmlformats.org/officeDocument/2006/relationships/image" Target="../media/image100.png"/><Relationship Id="rId8" Type="http://schemas.openxmlformats.org/officeDocument/2006/relationships/image" Target="../media/image112.png"/></Relationships>
</file>

<file path=ppt/slides/_rels/slide17.xml.rels><?xml version="1.0" encoding="UTF-8" standalone="yes"?><Relationships xmlns="http://schemas.openxmlformats.org/package/2006/relationships"><Relationship Id="rId11" Type="http://schemas.openxmlformats.org/officeDocument/2006/relationships/image" Target="../media/image139.png"/><Relationship Id="rId10" Type="http://schemas.openxmlformats.org/officeDocument/2006/relationships/image" Target="../media/image142.png"/><Relationship Id="rId13" Type="http://schemas.openxmlformats.org/officeDocument/2006/relationships/image" Target="../media/image141.png"/><Relationship Id="rId12" Type="http://schemas.openxmlformats.org/officeDocument/2006/relationships/image" Target="../media/image134.png"/><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7.jpg"/><Relationship Id="rId4" Type="http://schemas.openxmlformats.org/officeDocument/2006/relationships/image" Target="../media/image61.png"/><Relationship Id="rId9" Type="http://schemas.openxmlformats.org/officeDocument/2006/relationships/image" Target="../media/image119.png"/><Relationship Id="rId15" Type="http://schemas.openxmlformats.org/officeDocument/2006/relationships/image" Target="../media/image149.png"/><Relationship Id="rId14" Type="http://schemas.openxmlformats.org/officeDocument/2006/relationships/image" Target="../media/image140.png"/><Relationship Id="rId5" Type="http://schemas.openxmlformats.org/officeDocument/2006/relationships/image" Target="../media/image87.png"/><Relationship Id="rId6" Type="http://schemas.openxmlformats.org/officeDocument/2006/relationships/image" Target="../media/image89.png"/><Relationship Id="rId7" Type="http://schemas.openxmlformats.org/officeDocument/2006/relationships/image" Target="../media/image100.png"/><Relationship Id="rId8" Type="http://schemas.openxmlformats.org/officeDocument/2006/relationships/image" Target="../media/image1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4.jpg"/><Relationship Id="rId4" Type="http://schemas.openxmlformats.org/officeDocument/2006/relationships/image" Target="../media/image135.png"/><Relationship Id="rId5" Type="http://schemas.openxmlformats.org/officeDocument/2006/relationships/image" Target="../media/image137.png"/><Relationship Id="rId6" Type="http://schemas.openxmlformats.org/officeDocument/2006/relationships/image" Target="../media/image136.png"/><Relationship Id="rId7" Type="http://schemas.openxmlformats.org/officeDocument/2006/relationships/image" Target="../media/image153.png"/></Relationships>
</file>

<file path=ppt/slides/_rels/slide19.xml.rels><?xml version="1.0" encoding="UTF-8" standalone="yes"?><Relationships xmlns="http://schemas.openxmlformats.org/package/2006/relationships"><Relationship Id="rId20" Type="http://schemas.openxmlformats.org/officeDocument/2006/relationships/image" Target="../media/image164.png"/><Relationship Id="rId11" Type="http://schemas.openxmlformats.org/officeDocument/2006/relationships/image" Target="../media/image154.png"/><Relationship Id="rId22" Type="http://schemas.openxmlformats.org/officeDocument/2006/relationships/image" Target="../media/image162.png"/><Relationship Id="rId10" Type="http://schemas.openxmlformats.org/officeDocument/2006/relationships/image" Target="../media/image152.png"/><Relationship Id="rId21" Type="http://schemas.openxmlformats.org/officeDocument/2006/relationships/image" Target="../media/image163.png"/><Relationship Id="rId13" Type="http://schemas.openxmlformats.org/officeDocument/2006/relationships/image" Target="../media/image157.png"/><Relationship Id="rId12" Type="http://schemas.openxmlformats.org/officeDocument/2006/relationships/image" Target="../media/image143.png"/><Relationship Id="rId23" Type="http://schemas.openxmlformats.org/officeDocument/2006/relationships/image" Target="../media/image160.png"/><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7.jpg"/><Relationship Id="rId4" Type="http://schemas.openxmlformats.org/officeDocument/2006/relationships/image" Target="../media/image138.png"/><Relationship Id="rId9" Type="http://schemas.openxmlformats.org/officeDocument/2006/relationships/image" Target="../media/image170.png"/><Relationship Id="rId15" Type="http://schemas.openxmlformats.org/officeDocument/2006/relationships/image" Target="../media/image158.png"/><Relationship Id="rId14" Type="http://schemas.openxmlformats.org/officeDocument/2006/relationships/image" Target="../media/image159.png"/><Relationship Id="rId17" Type="http://schemas.openxmlformats.org/officeDocument/2006/relationships/image" Target="../media/image156.png"/><Relationship Id="rId16" Type="http://schemas.openxmlformats.org/officeDocument/2006/relationships/image" Target="../media/image155.png"/><Relationship Id="rId5" Type="http://schemas.openxmlformats.org/officeDocument/2006/relationships/image" Target="../media/image146.png"/><Relationship Id="rId19" Type="http://schemas.openxmlformats.org/officeDocument/2006/relationships/image" Target="../media/image168.png"/><Relationship Id="rId6" Type="http://schemas.openxmlformats.org/officeDocument/2006/relationships/image" Target="../media/image148.png"/><Relationship Id="rId18" Type="http://schemas.openxmlformats.org/officeDocument/2006/relationships/image" Target="../media/image165.png"/><Relationship Id="rId7" Type="http://schemas.openxmlformats.org/officeDocument/2006/relationships/image" Target="../media/image151.png"/><Relationship Id="rId8" Type="http://schemas.openxmlformats.org/officeDocument/2006/relationships/image" Target="../media/image14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02.png"/><Relationship Id="rId4" Type="http://schemas.openxmlformats.org/officeDocument/2006/relationships/image" Target="../media/image167.png"/><Relationship Id="rId5" Type="http://schemas.openxmlformats.org/officeDocument/2006/relationships/image" Target="../media/image161.png"/><Relationship Id="rId6" Type="http://schemas.openxmlformats.org/officeDocument/2006/relationships/image" Target="../media/image166.png"/><Relationship Id="rId7" Type="http://schemas.openxmlformats.org/officeDocument/2006/relationships/image" Target="../media/image173.png"/><Relationship Id="rId8" Type="http://schemas.openxmlformats.org/officeDocument/2006/relationships/image" Target="../media/image17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90.jpg"/><Relationship Id="rId4" Type="http://schemas.openxmlformats.org/officeDocument/2006/relationships/image" Target="../media/image169.png"/><Relationship Id="rId5" Type="http://schemas.openxmlformats.org/officeDocument/2006/relationships/image" Target="../media/image174.png"/><Relationship Id="rId6" Type="http://schemas.openxmlformats.org/officeDocument/2006/relationships/image" Target="../media/image171.png"/><Relationship Id="rId7" Type="http://schemas.openxmlformats.org/officeDocument/2006/relationships/image" Target="../media/image17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1.jpg"/><Relationship Id="rId4" Type="http://schemas.openxmlformats.org/officeDocument/2006/relationships/image" Target="../media/image184.png"/><Relationship Id="rId5" Type="http://schemas.openxmlformats.org/officeDocument/2006/relationships/image" Target="../media/image183.png"/><Relationship Id="rId6" Type="http://schemas.openxmlformats.org/officeDocument/2006/relationships/image" Target="../media/image175.png"/><Relationship Id="rId7" Type="http://schemas.openxmlformats.org/officeDocument/2006/relationships/image" Target="../media/image177.png"/></Relationships>
</file>

<file path=ppt/slides/_rels/slide23.xml.rels><?xml version="1.0" encoding="UTF-8" standalone="yes"?><Relationships xmlns="http://schemas.openxmlformats.org/package/2006/relationships"><Relationship Id="rId10" Type="http://schemas.openxmlformats.org/officeDocument/2006/relationships/image" Target="../media/image186.png"/><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47.jpg"/><Relationship Id="rId4" Type="http://schemas.openxmlformats.org/officeDocument/2006/relationships/image" Target="../media/image180.png"/><Relationship Id="rId9" Type="http://schemas.openxmlformats.org/officeDocument/2006/relationships/image" Target="../media/image185.png"/><Relationship Id="rId5" Type="http://schemas.openxmlformats.org/officeDocument/2006/relationships/image" Target="../media/image178.png"/><Relationship Id="rId6" Type="http://schemas.openxmlformats.org/officeDocument/2006/relationships/image" Target="../media/image179.png"/><Relationship Id="rId7" Type="http://schemas.openxmlformats.org/officeDocument/2006/relationships/image" Target="../media/image182.png"/><Relationship Id="rId8" Type="http://schemas.openxmlformats.org/officeDocument/2006/relationships/image" Target="../media/image18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12.jpg"/><Relationship Id="rId4" Type="http://schemas.openxmlformats.org/officeDocument/2006/relationships/image" Target="../media/image197.png"/><Relationship Id="rId5" Type="http://schemas.openxmlformats.org/officeDocument/2006/relationships/image" Target="../media/image195.png"/><Relationship Id="rId6" Type="http://schemas.openxmlformats.org/officeDocument/2006/relationships/image" Target="../media/image18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08.jpg"/><Relationship Id="rId4" Type="http://schemas.openxmlformats.org/officeDocument/2006/relationships/image" Target="../media/image191.png"/><Relationship Id="rId5" Type="http://schemas.openxmlformats.org/officeDocument/2006/relationships/image" Target="../media/image189.png"/><Relationship Id="rId6" Type="http://schemas.openxmlformats.org/officeDocument/2006/relationships/image" Target="../media/image193.png"/><Relationship Id="rId7" Type="http://schemas.openxmlformats.org/officeDocument/2006/relationships/image" Target="../media/image19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09.jpg"/><Relationship Id="rId4" Type="http://schemas.openxmlformats.org/officeDocument/2006/relationships/image" Target="../media/image210.png"/><Relationship Id="rId5" Type="http://schemas.openxmlformats.org/officeDocument/2006/relationships/image" Target="../media/image211.png"/><Relationship Id="rId6" Type="http://schemas.openxmlformats.org/officeDocument/2006/relationships/image" Target="../media/image20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18.jpg"/><Relationship Id="rId4" Type="http://schemas.openxmlformats.org/officeDocument/2006/relationships/image" Target="../media/image196.png"/><Relationship Id="rId9" Type="http://schemas.openxmlformats.org/officeDocument/2006/relationships/image" Target="../media/image207.png"/><Relationship Id="rId5" Type="http://schemas.openxmlformats.org/officeDocument/2006/relationships/image" Target="../media/image199.png"/><Relationship Id="rId6" Type="http://schemas.openxmlformats.org/officeDocument/2006/relationships/image" Target="../media/image206.png"/><Relationship Id="rId7" Type="http://schemas.openxmlformats.org/officeDocument/2006/relationships/image" Target="../media/image203.png"/><Relationship Id="rId8" Type="http://schemas.openxmlformats.org/officeDocument/2006/relationships/image" Target="../media/image220.png"/></Relationships>
</file>

<file path=ppt/slides/_rels/slide28.xml.rels><?xml version="1.0" encoding="UTF-8" standalone="yes"?><Relationships xmlns="http://schemas.openxmlformats.org/package/2006/relationships"><Relationship Id="rId10" Type="http://schemas.openxmlformats.org/officeDocument/2006/relationships/image" Target="../media/image225.png"/><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21.jpg"/><Relationship Id="rId4" Type="http://schemas.openxmlformats.org/officeDocument/2006/relationships/image" Target="../media/image216.png"/><Relationship Id="rId9" Type="http://schemas.openxmlformats.org/officeDocument/2006/relationships/image" Target="../media/image223.png"/><Relationship Id="rId5" Type="http://schemas.openxmlformats.org/officeDocument/2006/relationships/image" Target="../media/image215.png"/><Relationship Id="rId6" Type="http://schemas.openxmlformats.org/officeDocument/2006/relationships/image" Target="../media/image217.png"/><Relationship Id="rId7" Type="http://schemas.openxmlformats.org/officeDocument/2006/relationships/image" Target="../media/image213.png"/><Relationship Id="rId8" Type="http://schemas.openxmlformats.org/officeDocument/2006/relationships/image" Target="../media/image2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40.jpg"/><Relationship Id="rId4" Type="http://schemas.openxmlformats.org/officeDocument/2006/relationships/image" Target="../media/image219.png"/><Relationship Id="rId5" Type="http://schemas.openxmlformats.org/officeDocument/2006/relationships/image" Target="../media/image222.png"/><Relationship Id="rId6" Type="http://schemas.openxmlformats.org/officeDocument/2006/relationships/image" Target="../media/image227.png"/></Relationships>
</file>

<file path=ppt/slides/_rels/slide30.xml.rels><?xml version="1.0" encoding="UTF-8" standalone="yes"?><Relationships xmlns="http://schemas.openxmlformats.org/package/2006/relationships"><Relationship Id="rId11" Type="http://schemas.openxmlformats.org/officeDocument/2006/relationships/image" Target="../media/image234.png"/><Relationship Id="rId10" Type="http://schemas.openxmlformats.org/officeDocument/2006/relationships/image" Target="../media/image231.png"/><Relationship Id="rId12" Type="http://schemas.openxmlformats.org/officeDocument/2006/relationships/image" Target="../media/image230.png"/><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04.png"/><Relationship Id="rId4" Type="http://schemas.openxmlformats.org/officeDocument/2006/relationships/image" Target="../media/image224.png"/><Relationship Id="rId9" Type="http://schemas.openxmlformats.org/officeDocument/2006/relationships/image" Target="../media/image238.png"/><Relationship Id="rId5" Type="http://schemas.openxmlformats.org/officeDocument/2006/relationships/image" Target="../media/image232.png"/><Relationship Id="rId6" Type="http://schemas.openxmlformats.org/officeDocument/2006/relationships/image" Target="../media/image237.png"/><Relationship Id="rId7" Type="http://schemas.openxmlformats.org/officeDocument/2006/relationships/image" Target="../media/image228.png"/><Relationship Id="rId8" Type="http://schemas.openxmlformats.org/officeDocument/2006/relationships/image" Target="../media/image24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5.jpg"/><Relationship Id="rId4" Type="http://schemas.openxmlformats.org/officeDocument/2006/relationships/image" Target="../media/image3.png"/><Relationship Id="rId5" Type="http://schemas.openxmlformats.org/officeDocument/2006/relationships/image" Target="../media/image12.png"/><Relationship Id="rId6"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44.jpg"/><Relationship Id="rId4" Type="http://schemas.openxmlformats.org/officeDocument/2006/relationships/image" Target="../media/image233.png"/><Relationship Id="rId5" Type="http://schemas.openxmlformats.org/officeDocument/2006/relationships/image" Target="../media/image243.png"/><Relationship Id="rId6" Type="http://schemas.openxmlformats.org/officeDocument/2006/relationships/image" Target="../media/image248.png"/><Relationship Id="rId7" Type="http://schemas.openxmlformats.org/officeDocument/2006/relationships/image" Target="../media/image236.png"/></Relationships>
</file>

<file path=ppt/slides/_rels/slide33.xml.rels><?xml version="1.0" encoding="UTF-8" standalone="yes"?><Relationships xmlns="http://schemas.openxmlformats.org/package/2006/relationships"><Relationship Id="rId11" Type="http://schemas.openxmlformats.org/officeDocument/2006/relationships/image" Target="../media/image261.png"/><Relationship Id="rId10" Type="http://schemas.openxmlformats.org/officeDocument/2006/relationships/image" Target="../media/image249.png"/><Relationship Id="rId13" Type="http://schemas.openxmlformats.org/officeDocument/2006/relationships/image" Target="../media/image255.png"/><Relationship Id="rId12" Type="http://schemas.openxmlformats.org/officeDocument/2006/relationships/image" Target="../media/image250.png"/><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52.jpg"/><Relationship Id="rId4" Type="http://schemas.openxmlformats.org/officeDocument/2006/relationships/image" Target="../media/image239.png"/><Relationship Id="rId9" Type="http://schemas.openxmlformats.org/officeDocument/2006/relationships/image" Target="../media/image251.png"/><Relationship Id="rId5" Type="http://schemas.openxmlformats.org/officeDocument/2006/relationships/image" Target="../media/image235.png"/><Relationship Id="rId6" Type="http://schemas.openxmlformats.org/officeDocument/2006/relationships/image" Target="../media/image247.png"/><Relationship Id="rId7" Type="http://schemas.openxmlformats.org/officeDocument/2006/relationships/image" Target="../media/image242.png"/><Relationship Id="rId8" Type="http://schemas.openxmlformats.org/officeDocument/2006/relationships/image" Target="../media/image245.png"/></Relationships>
</file>

<file path=ppt/slides/_rels/slide34.xml.rels><?xml version="1.0" encoding="UTF-8" standalone="yes"?><Relationships xmlns="http://schemas.openxmlformats.org/package/2006/relationships"><Relationship Id="rId11" Type="http://schemas.openxmlformats.org/officeDocument/2006/relationships/image" Target="../media/image261.png"/><Relationship Id="rId10" Type="http://schemas.openxmlformats.org/officeDocument/2006/relationships/image" Target="../media/image266.png"/><Relationship Id="rId13" Type="http://schemas.openxmlformats.org/officeDocument/2006/relationships/image" Target="../media/image256.png"/><Relationship Id="rId12" Type="http://schemas.openxmlformats.org/officeDocument/2006/relationships/image" Target="../media/image257.png"/><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63.jpg"/><Relationship Id="rId4" Type="http://schemas.openxmlformats.org/officeDocument/2006/relationships/image" Target="../media/image259.png"/><Relationship Id="rId9" Type="http://schemas.openxmlformats.org/officeDocument/2006/relationships/image" Target="../media/image253.png"/><Relationship Id="rId15" Type="http://schemas.openxmlformats.org/officeDocument/2006/relationships/image" Target="../media/image258.png"/><Relationship Id="rId14" Type="http://schemas.openxmlformats.org/officeDocument/2006/relationships/image" Target="../media/image273.png"/><Relationship Id="rId5" Type="http://schemas.openxmlformats.org/officeDocument/2006/relationships/image" Target="../media/image246.png"/><Relationship Id="rId6" Type="http://schemas.openxmlformats.org/officeDocument/2006/relationships/image" Target="../media/image260.png"/><Relationship Id="rId7" Type="http://schemas.openxmlformats.org/officeDocument/2006/relationships/image" Target="../media/image254.png"/><Relationship Id="rId8" Type="http://schemas.openxmlformats.org/officeDocument/2006/relationships/image" Target="../media/image264.png"/></Relationships>
</file>

<file path=ppt/slides/_rels/slide35.xml.rels><?xml version="1.0" encoding="UTF-8" standalone="yes"?><Relationships xmlns="http://schemas.openxmlformats.org/package/2006/relationships"><Relationship Id="rId11" Type="http://schemas.openxmlformats.org/officeDocument/2006/relationships/image" Target="../media/image277.png"/><Relationship Id="rId10" Type="http://schemas.openxmlformats.org/officeDocument/2006/relationships/image" Target="../media/image267.png"/><Relationship Id="rId13" Type="http://schemas.openxmlformats.org/officeDocument/2006/relationships/image" Target="../media/image268.png"/><Relationship Id="rId12" Type="http://schemas.openxmlformats.org/officeDocument/2006/relationships/image" Target="../media/image279.png"/><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76.jpg"/><Relationship Id="rId4" Type="http://schemas.openxmlformats.org/officeDocument/2006/relationships/image" Target="../media/image269.png"/><Relationship Id="rId9" Type="http://schemas.openxmlformats.org/officeDocument/2006/relationships/image" Target="../media/image281.png"/><Relationship Id="rId14" Type="http://schemas.openxmlformats.org/officeDocument/2006/relationships/image" Target="../media/image275.png"/><Relationship Id="rId5" Type="http://schemas.openxmlformats.org/officeDocument/2006/relationships/image" Target="../media/image265.png"/><Relationship Id="rId6" Type="http://schemas.openxmlformats.org/officeDocument/2006/relationships/image" Target="../media/image285.png"/><Relationship Id="rId7" Type="http://schemas.openxmlformats.org/officeDocument/2006/relationships/image" Target="../media/image272.png"/><Relationship Id="rId8" Type="http://schemas.openxmlformats.org/officeDocument/2006/relationships/image" Target="../media/image270.png"/></Relationships>
</file>

<file path=ppt/slides/_rels/slide36.xml.rels><?xml version="1.0" encoding="UTF-8" standalone="yes"?><Relationships xmlns="http://schemas.openxmlformats.org/package/2006/relationships"><Relationship Id="rId11" Type="http://schemas.openxmlformats.org/officeDocument/2006/relationships/image" Target="../media/image286.png"/><Relationship Id="rId10" Type="http://schemas.openxmlformats.org/officeDocument/2006/relationships/image" Target="../media/image294.png"/><Relationship Id="rId13" Type="http://schemas.openxmlformats.org/officeDocument/2006/relationships/image" Target="../media/image288.png"/><Relationship Id="rId12" Type="http://schemas.openxmlformats.org/officeDocument/2006/relationships/image" Target="../media/image303.png"/><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91.jpg"/><Relationship Id="rId4" Type="http://schemas.openxmlformats.org/officeDocument/2006/relationships/image" Target="../media/image283.png"/><Relationship Id="rId9" Type="http://schemas.openxmlformats.org/officeDocument/2006/relationships/image" Target="../media/image282.png"/><Relationship Id="rId15" Type="http://schemas.openxmlformats.org/officeDocument/2006/relationships/image" Target="../media/image300.png"/><Relationship Id="rId14" Type="http://schemas.openxmlformats.org/officeDocument/2006/relationships/image" Target="../media/image284.png"/><Relationship Id="rId5" Type="http://schemas.openxmlformats.org/officeDocument/2006/relationships/image" Target="../media/image274.png"/><Relationship Id="rId6" Type="http://schemas.openxmlformats.org/officeDocument/2006/relationships/image" Target="../media/image280.png"/><Relationship Id="rId7" Type="http://schemas.openxmlformats.org/officeDocument/2006/relationships/image" Target="../media/image271.png"/><Relationship Id="rId8" Type="http://schemas.openxmlformats.org/officeDocument/2006/relationships/image" Target="../media/image287.png"/></Relationships>
</file>

<file path=ppt/slides/_rels/slide37.xml.rels><?xml version="1.0" encoding="UTF-8" standalone="yes"?><Relationships xmlns="http://schemas.openxmlformats.org/package/2006/relationships"><Relationship Id="rId11" Type="http://schemas.openxmlformats.org/officeDocument/2006/relationships/image" Target="../media/image298.png"/><Relationship Id="rId10" Type="http://schemas.openxmlformats.org/officeDocument/2006/relationships/image" Target="../media/image295.png"/><Relationship Id="rId13" Type="http://schemas.openxmlformats.org/officeDocument/2006/relationships/image" Target="../media/image300.png"/><Relationship Id="rId12" Type="http://schemas.openxmlformats.org/officeDocument/2006/relationships/image" Target="../media/image297.png"/><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76.jpg"/><Relationship Id="rId4" Type="http://schemas.openxmlformats.org/officeDocument/2006/relationships/image" Target="../media/image223.png"/><Relationship Id="rId9" Type="http://schemas.openxmlformats.org/officeDocument/2006/relationships/image" Target="../media/image299.png"/><Relationship Id="rId5" Type="http://schemas.openxmlformats.org/officeDocument/2006/relationships/image" Target="../media/image293.png"/><Relationship Id="rId6" Type="http://schemas.openxmlformats.org/officeDocument/2006/relationships/image" Target="../media/image290.png"/><Relationship Id="rId7" Type="http://schemas.openxmlformats.org/officeDocument/2006/relationships/image" Target="../media/image292.png"/><Relationship Id="rId8" Type="http://schemas.openxmlformats.org/officeDocument/2006/relationships/image" Target="../media/image29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preencoded.png" id="16" name="Google Shape;16;p3"/>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17" name="Google Shape;17;p3"/>
          <p:cNvPicPr preferRelativeResize="0"/>
          <p:nvPr/>
        </p:nvPicPr>
        <p:blipFill rotWithShape="1">
          <a:blip r:embed="rId4">
            <a:alphaModFix/>
          </a:blip>
          <a:srcRect b="0" l="0" r="0" t="0"/>
          <a:stretch/>
        </p:blipFill>
        <p:spPr>
          <a:xfrm>
            <a:off x="2946797" y="579034"/>
            <a:ext cx="857250" cy="857250"/>
          </a:xfrm>
          <a:prstGeom prst="rect">
            <a:avLst/>
          </a:prstGeom>
          <a:noFill/>
          <a:ln>
            <a:noFill/>
          </a:ln>
        </p:spPr>
      </p:pic>
      <p:pic>
        <p:nvPicPr>
          <p:cNvPr descr="preencoded.png" id="18" name="Google Shape;18;p3"/>
          <p:cNvPicPr preferRelativeResize="0"/>
          <p:nvPr/>
        </p:nvPicPr>
        <p:blipFill rotWithShape="1">
          <a:blip r:embed="rId5">
            <a:alphaModFix/>
          </a:blip>
          <a:srcRect b="0" l="0" r="0" t="0"/>
          <a:stretch/>
        </p:blipFill>
        <p:spPr>
          <a:xfrm>
            <a:off x="4089797" y="579034"/>
            <a:ext cx="1071563" cy="857250"/>
          </a:xfrm>
          <a:prstGeom prst="rect">
            <a:avLst/>
          </a:prstGeom>
          <a:noFill/>
          <a:ln>
            <a:noFill/>
          </a:ln>
        </p:spPr>
      </p:pic>
      <p:pic>
        <p:nvPicPr>
          <p:cNvPr descr="preencoded.png" id="19" name="Google Shape;19;p3"/>
          <p:cNvPicPr preferRelativeResize="0"/>
          <p:nvPr/>
        </p:nvPicPr>
        <p:blipFill rotWithShape="1">
          <a:blip r:embed="rId6">
            <a:alphaModFix/>
          </a:blip>
          <a:srcRect b="0" l="0" r="0" t="0"/>
          <a:stretch/>
        </p:blipFill>
        <p:spPr>
          <a:xfrm>
            <a:off x="5447109" y="579034"/>
            <a:ext cx="750094" cy="857250"/>
          </a:xfrm>
          <a:prstGeom prst="rect">
            <a:avLst/>
          </a:prstGeom>
          <a:noFill/>
          <a:ln>
            <a:noFill/>
          </a:ln>
        </p:spPr>
      </p:pic>
      <p:sp>
        <p:nvSpPr>
          <p:cNvPr id="20" name="Google Shape;20;p3"/>
          <p:cNvSpPr/>
          <p:nvPr/>
        </p:nvSpPr>
        <p:spPr>
          <a:xfrm>
            <a:off x="1357313" y="1864909"/>
            <a:ext cx="6429375" cy="1645853"/>
          </a:xfrm>
          <a:prstGeom prst="rect">
            <a:avLst/>
          </a:prstGeom>
          <a:noFill/>
          <a:ln>
            <a:noFill/>
          </a:ln>
        </p:spPr>
        <p:txBody>
          <a:bodyPr anchorCtr="0" anchor="t" bIns="0" lIns="0" spcFirstLastPara="1" rIns="0" wrap="square" tIns="0">
            <a:noAutofit/>
          </a:bodyPr>
          <a:lstStyle/>
          <a:p>
            <a:pPr indent="0" lvl="0" marL="0" marR="0" rtl="0" algn="ctr">
              <a:lnSpc>
                <a:spcPct val="130580"/>
              </a:lnSpc>
              <a:spcBef>
                <a:spcPts val="0"/>
              </a:spcBef>
              <a:spcAft>
                <a:spcPts val="0"/>
              </a:spcAft>
              <a:buClr>
                <a:srgbClr val="FFFFFF"/>
              </a:buClr>
              <a:buSzPts val="3293"/>
              <a:buFont typeface="Calibri"/>
              <a:buNone/>
            </a:pPr>
            <a:r>
              <a:rPr b="1" i="0" lang="en-US" sz="3293" u="none" cap="none" strike="noStrike">
                <a:solidFill>
                  <a:srgbClr val="FFFFFF"/>
                </a:solidFill>
                <a:latin typeface="Calibri"/>
                <a:ea typeface="Calibri"/>
                <a:cs typeface="Calibri"/>
                <a:sym typeface="Calibri"/>
              </a:rPr>
              <a:t>The Builder Mindset:</a:t>
            </a:r>
            <a:br>
              <a:rPr b="1" i="0" lang="en-US" sz="3293" u="none" cap="none" strike="noStrike">
                <a:solidFill>
                  <a:srgbClr val="00BFFF"/>
                </a:solidFill>
                <a:latin typeface="Calibri"/>
                <a:ea typeface="Calibri"/>
                <a:cs typeface="Calibri"/>
                <a:sym typeface="Calibri"/>
              </a:rPr>
            </a:br>
            <a:r>
              <a:rPr b="1" i="0" lang="en-US" sz="3293" u="none" cap="none" strike="noStrike">
                <a:solidFill>
                  <a:srgbClr val="FFFFFF"/>
                </a:solidFill>
                <a:latin typeface="Calibri"/>
                <a:ea typeface="Calibri"/>
                <a:cs typeface="Calibri"/>
                <a:sym typeface="Calibri"/>
              </a:rPr>
              <a:t>Multi-Agent SDLC for the AI Era</a:t>
            </a:r>
            <a:endParaRPr b="0" i="0" sz="3293" u="none" cap="none" strike="noStrike">
              <a:solidFill>
                <a:schemeClr val="dk1"/>
              </a:solidFill>
              <a:latin typeface="Calibri"/>
              <a:ea typeface="Calibri"/>
              <a:cs typeface="Calibri"/>
              <a:sym typeface="Calibri"/>
            </a:endParaRPr>
          </a:p>
        </p:txBody>
      </p:sp>
      <p:sp>
        <p:nvSpPr>
          <p:cNvPr id="21" name="Google Shape;21;p3"/>
          <p:cNvSpPr/>
          <p:nvPr/>
        </p:nvSpPr>
        <p:spPr>
          <a:xfrm>
            <a:off x="1357313" y="3653637"/>
            <a:ext cx="6429375" cy="625078"/>
          </a:xfrm>
          <a:prstGeom prst="rect">
            <a:avLst/>
          </a:prstGeom>
          <a:noFill/>
          <a:ln>
            <a:noFill/>
          </a:ln>
        </p:spPr>
        <p:txBody>
          <a:bodyPr anchorCtr="0" anchor="t" bIns="0" lIns="0" spcFirstLastPara="1" rIns="0" wrap="square" tIns="0">
            <a:noAutofit/>
          </a:bodyPr>
          <a:lstStyle/>
          <a:p>
            <a:pPr indent="0" lvl="0" marL="0" marR="0" rtl="0" algn="ctr">
              <a:lnSpc>
                <a:spcPct val="129107"/>
              </a:lnSpc>
              <a:spcBef>
                <a:spcPts val="0"/>
              </a:spcBef>
              <a:spcAft>
                <a:spcPts val="0"/>
              </a:spcAft>
              <a:buClr>
                <a:srgbClr val="00BFFF"/>
              </a:buClr>
              <a:buSzPts val="1704"/>
              <a:buFont typeface="Calibri"/>
              <a:buNone/>
            </a:pPr>
            <a:r>
              <a:rPr b="0" i="0" lang="en-US" sz="1704" u="none" cap="none" strike="noStrike">
                <a:solidFill>
                  <a:srgbClr val="00BFFF"/>
                </a:solidFill>
                <a:latin typeface="Calibri"/>
                <a:ea typeface="Calibri"/>
                <a:cs typeface="Calibri"/>
                <a:sym typeface="Calibri"/>
              </a:rPr>
              <a:t>From Context Engineering to Context Curation</a:t>
            </a:r>
            <a:br>
              <a:rPr b="0" i="0" lang="en-US" sz="1704" u="none" cap="none" strike="noStrike">
                <a:solidFill>
                  <a:srgbClr val="00BFFF"/>
                </a:solidFill>
                <a:latin typeface="Calibri"/>
                <a:ea typeface="Calibri"/>
                <a:cs typeface="Calibri"/>
                <a:sym typeface="Calibri"/>
              </a:rPr>
            </a:br>
            <a:r>
              <a:rPr b="0" i="0" lang="en-US" sz="1704" u="none" cap="none" strike="noStrike">
                <a:solidFill>
                  <a:srgbClr val="00BFFF"/>
                </a:solidFill>
                <a:latin typeface="Calibri"/>
                <a:ea typeface="Calibri"/>
                <a:cs typeface="Calibri"/>
                <a:sym typeface="Calibri"/>
              </a:rPr>
              <a:t>Cyber </a:t>
            </a:r>
            <a:r>
              <a:rPr lang="en-US" sz="1704">
                <a:solidFill>
                  <a:srgbClr val="00BFFF"/>
                </a:solidFill>
                <a:latin typeface="Calibri"/>
                <a:ea typeface="Calibri"/>
                <a:cs typeface="Calibri"/>
                <a:sym typeface="Calibri"/>
              </a:rPr>
              <a:t>Architecture</a:t>
            </a:r>
            <a:r>
              <a:rPr lang="en-US" sz="1704">
                <a:solidFill>
                  <a:srgbClr val="00BFFF"/>
                </a:solidFill>
                <a:latin typeface="Calibri"/>
                <a:ea typeface="Calibri"/>
                <a:cs typeface="Calibri"/>
                <a:sym typeface="Calibri"/>
              </a:rPr>
              <a:t> - Kishore Mooli</a:t>
            </a:r>
            <a:endParaRPr b="0" i="0" sz="1704"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pic>
        <p:nvPicPr>
          <p:cNvPr descr="preencoded.png" id="27" name="Google Shape;27;p4"/>
          <p:cNvPicPr preferRelativeResize="0"/>
          <p:nvPr/>
        </p:nvPicPr>
        <p:blipFill rotWithShape="1">
          <a:blip r:embed="rId3">
            <a:alphaModFix/>
          </a:blip>
          <a:srcRect b="0" l="0" r="0" t="0"/>
          <a:stretch/>
        </p:blipFill>
        <p:spPr>
          <a:xfrm>
            <a:off x="-37850" y="182163"/>
            <a:ext cx="9144000" cy="5143500"/>
          </a:xfrm>
          <a:prstGeom prst="rect">
            <a:avLst/>
          </a:prstGeom>
          <a:noFill/>
          <a:ln>
            <a:noFill/>
          </a:ln>
        </p:spPr>
      </p:pic>
      <p:sp>
        <p:nvSpPr>
          <p:cNvPr id="28" name="Google Shape;28;p4"/>
          <p:cNvSpPr/>
          <p:nvPr/>
        </p:nvSpPr>
        <p:spPr>
          <a:xfrm>
            <a:off x="571500" y="428625"/>
            <a:ext cx="7143750" cy="408980"/>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Calibri"/>
              <a:buNone/>
            </a:pPr>
            <a:r>
              <a:rPr b="1" i="0" lang="en-US" sz="2121" u="none" cap="none" strike="noStrike">
                <a:solidFill>
                  <a:srgbClr val="FFFFFF"/>
                </a:solidFill>
                <a:latin typeface="Calibri"/>
                <a:ea typeface="Calibri"/>
                <a:cs typeface="Calibri"/>
                <a:sym typeface="Calibri"/>
              </a:rPr>
              <a:t>The AI Coding Reality Today</a:t>
            </a:r>
            <a:endParaRPr b="0" i="0" sz="2121" u="none" cap="none" strike="noStrike">
              <a:solidFill>
                <a:schemeClr val="dk1"/>
              </a:solidFill>
              <a:latin typeface="Calibri"/>
              <a:ea typeface="Calibri"/>
              <a:cs typeface="Calibri"/>
              <a:sym typeface="Calibri"/>
            </a:endParaRPr>
          </a:p>
        </p:txBody>
      </p:sp>
      <p:sp>
        <p:nvSpPr>
          <p:cNvPr id="29" name="Google Shape;29;p4"/>
          <p:cNvSpPr/>
          <p:nvPr/>
        </p:nvSpPr>
        <p:spPr>
          <a:xfrm>
            <a:off x="571500" y="1223367"/>
            <a:ext cx="3857625" cy="2796778"/>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571500" y="1223367"/>
            <a:ext cx="42863" cy="2796778"/>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 name="Google Shape;31;p4"/>
          <p:cNvPicPr preferRelativeResize="0"/>
          <p:nvPr/>
        </p:nvPicPr>
        <p:blipFill rotWithShape="1">
          <a:blip r:embed="rId4">
            <a:alphaModFix amt="20000"/>
          </a:blip>
          <a:srcRect b="0" l="0" r="0" t="0"/>
          <a:stretch/>
        </p:blipFill>
        <p:spPr>
          <a:xfrm>
            <a:off x="3807619" y="1366242"/>
            <a:ext cx="457200" cy="457200"/>
          </a:xfrm>
          <a:prstGeom prst="rect">
            <a:avLst/>
          </a:prstGeom>
          <a:noFill/>
          <a:ln>
            <a:noFill/>
          </a:ln>
        </p:spPr>
      </p:pic>
      <p:sp>
        <p:nvSpPr>
          <p:cNvPr id="32" name="Google Shape;32;p4"/>
          <p:cNvSpPr/>
          <p:nvPr/>
        </p:nvSpPr>
        <p:spPr>
          <a:xfrm>
            <a:off x="857250" y="1509117"/>
            <a:ext cx="3264694" cy="273248"/>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00BFFF"/>
              </a:buClr>
              <a:buSzPts val="1397"/>
              <a:buFont typeface="Calibri"/>
              <a:buNone/>
            </a:pPr>
            <a:r>
              <a:rPr b="1" i="0" lang="en-US" sz="1397" u="none" cap="none" strike="noStrike">
                <a:solidFill>
                  <a:srgbClr val="00BFFF"/>
                </a:solidFill>
                <a:latin typeface="Calibri"/>
                <a:ea typeface="Calibri"/>
                <a:cs typeface="Calibri"/>
                <a:sym typeface="Calibri"/>
              </a:rPr>
              <a:t>The Hype</a:t>
            </a:r>
            <a:endParaRPr b="0" i="0" sz="1397" u="none" cap="none" strike="noStrike">
              <a:solidFill>
                <a:schemeClr val="dk1"/>
              </a:solidFill>
              <a:latin typeface="Calibri"/>
              <a:ea typeface="Calibri"/>
              <a:cs typeface="Calibri"/>
              <a:sym typeface="Calibri"/>
            </a:endParaRPr>
          </a:p>
        </p:txBody>
      </p:sp>
      <p:pic>
        <p:nvPicPr>
          <p:cNvPr descr="preencoded.png" id="33" name="Google Shape;33;p4"/>
          <p:cNvPicPr preferRelativeResize="0"/>
          <p:nvPr/>
        </p:nvPicPr>
        <p:blipFill rotWithShape="1">
          <a:blip r:embed="rId5">
            <a:alphaModFix/>
          </a:blip>
          <a:srcRect b="0" l="0" r="0" t="0"/>
          <a:stretch/>
        </p:blipFill>
        <p:spPr>
          <a:xfrm>
            <a:off x="857250" y="2103834"/>
            <a:ext cx="112514" cy="128588"/>
          </a:xfrm>
          <a:prstGeom prst="rect">
            <a:avLst/>
          </a:prstGeom>
          <a:noFill/>
          <a:ln>
            <a:noFill/>
          </a:ln>
        </p:spPr>
      </p:pic>
      <p:sp>
        <p:nvSpPr>
          <p:cNvPr id="34" name="Google Shape;34;p4"/>
          <p:cNvSpPr/>
          <p:nvPr/>
        </p:nvSpPr>
        <p:spPr>
          <a:xfrm>
            <a:off x="1076920" y="2068116"/>
            <a:ext cx="1401738" cy="192881"/>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"10x Engineer in a box"</a:t>
            </a:r>
            <a:endParaRPr b="0" i="0" sz="942" u="none" cap="none" strike="noStrike">
              <a:solidFill>
                <a:schemeClr val="dk1"/>
              </a:solidFill>
              <a:latin typeface="Calibri"/>
              <a:ea typeface="Calibri"/>
              <a:cs typeface="Calibri"/>
              <a:sym typeface="Calibri"/>
            </a:endParaRPr>
          </a:p>
        </p:txBody>
      </p:sp>
      <p:pic>
        <p:nvPicPr>
          <p:cNvPr descr="preencoded.png" id="35" name="Google Shape;35;p4"/>
          <p:cNvPicPr preferRelativeResize="0"/>
          <p:nvPr/>
        </p:nvPicPr>
        <p:blipFill rotWithShape="1">
          <a:blip r:embed="rId5">
            <a:alphaModFix/>
          </a:blip>
          <a:srcRect b="0" l="0" r="0" t="0"/>
          <a:stretch/>
        </p:blipFill>
        <p:spPr>
          <a:xfrm>
            <a:off x="857250" y="2403872"/>
            <a:ext cx="112514" cy="128588"/>
          </a:xfrm>
          <a:prstGeom prst="rect">
            <a:avLst/>
          </a:prstGeom>
          <a:noFill/>
          <a:ln>
            <a:noFill/>
          </a:ln>
        </p:spPr>
      </p:pic>
      <p:sp>
        <p:nvSpPr>
          <p:cNvPr id="36" name="Google Shape;36;p4"/>
          <p:cNvSpPr/>
          <p:nvPr/>
        </p:nvSpPr>
        <p:spPr>
          <a:xfrm>
            <a:off x="1076920" y="2368153"/>
            <a:ext cx="1947732" cy="192881"/>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Instant, perfect code generation</a:t>
            </a:r>
            <a:endParaRPr b="0" i="0" sz="942" u="none" cap="none" strike="noStrike">
              <a:solidFill>
                <a:schemeClr val="dk1"/>
              </a:solidFill>
              <a:latin typeface="Calibri"/>
              <a:ea typeface="Calibri"/>
              <a:cs typeface="Calibri"/>
              <a:sym typeface="Calibri"/>
            </a:endParaRPr>
          </a:p>
        </p:txBody>
      </p:sp>
      <p:pic>
        <p:nvPicPr>
          <p:cNvPr descr="preencoded.png" id="37" name="Google Shape;37;p4"/>
          <p:cNvPicPr preferRelativeResize="0"/>
          <p:nvPr/>
        </p:nvPicPr>
        <p:blipFill rotWithShape="1">
          <a:blip r:embed="rId5">
            <a:alphaModFix/>
          </a:blip>
          <a:srcRect b="0" l="0" r="0" t="0"/>
          <a:stretch/>
        </p:blipFill>
        <p:spPr>
          <a:xfrm>
            <a:off x="857250" y="2703909"/>
            <a:ext cx="112514" cy="128588"/>
          </a:xfrm>
          <a:prstGeom prst="rect">
            <a:avLst/>
          </a:prstGeom>
          <a:noFill/>
          <a:ln>
            <a:noFill/>
          </a:ln>
        </p:spPr>
      </p:pic>
      <p:sp>
        <p:nvSpPr>
          <p:cNvPr id="38" name="Google Shape;38;p4"/>
          <p:cNvSpPr/>
          <p:nvPr/>
        </p:nvSpPr>
        <p:spPr>
          <a:xfrm>
            <a:off x="1076920" y="2668191"/>
            <a:ext cx="2094179" cy="192881"/>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Replaces entire engineering teams</a:t>
            </a:r>
            <a:endParaRPr b="0" i="0" sz="942" u="none" cap="none" strike="noStrike">
              <a:solidFill>
                <a:schemeClr val="dk1"/>
              </a:solidFill>
              <a:latin typeface="Calibri"/>
              <a:ea typeface="Calibri"/>
              <a:cs typeface="Calibri"/>
              <a:sym typeface="Calibri"/>
            </a:endParaRPr>
          </a:p>
        </p:txBody>
      </p:sp>
      <p:sp>
        <p:nvSpPr>
          <p:cNvPr id="39" name="Google Shape;39;p4"/>
          <p:cNvSpPr/>
          <p:nvPr/>
        </p:nvSpPr>
        <p:spPr>
          <a:xfrm>
            <a:off x="4693444" y="1223367"/>
            <a:ext cx="3879056" cy="2796778"/>
          </a:xfrm>
          <a:prstGeom prst="rect">
            <a:avLst/>
          </a:prstGeom>
          <a:solidFill>
            <a:srgbClr val="FF5252">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4693444" y="1223367"/>
            <a:ext cx="42863" cy="2796778"/>
          </a:xfrm>
          <a:prstGeom prst="rect">
            <a:avLst/>
          </a:pr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4"/>
          <p:cNvPicPr preferRelativeResize="0"/>
          <p:nvPr/>
        </p:nvPicPr>
        <p:blipFill rotWithShape="1">
          <a:blip r:embed="rId6">
            <a:alphaModFix amt="20000"/>
          </a:blip>
          <a:srcRect b="0" l="0" r="0" t="0"/>
          <a:stretch/>
        </p:blipFill>
        <p:spPr>
          <a:xfrm>
            <a:off x="8029575" y="1366242"/>
            <a:ext cx="400050" cy="457200"/>
          </a:xfrm>
          <a:prstGeom prst="rect">
            <a:avLst/>
          </a:prstGeom>
          <a:noFill/>
          <a:ln>
            <a:noFill/>
          </a:ln>
        </p:spPr>
      </p:pic>
      <p:sp>
        <p:nvSpPr>
          <p:cNvPr id="42" name="Google Shape;42;p4"/>
          <p:cNvSpPr/>
          <p:nvPr/>
        </p:nvSpPr>
        <p:spPr>
          <a:xfrm>
            <a:off x="5000625" y="1509117"/>
            <a:ext cx="3286125" cy="273248"/>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5252"/>
              </a:buClr>
              <a:buSzPts val="1397"/>
              <a:buFont typeface="Calibri"/>
              <a:buNone/>
            </a:pPr>
            <a:r>
              <a:rPr b="1" i="0" lang="en-US" sz="1397" u="none" cap="none" strike="noStrike">
                <a:solidFill>
                  <a:srgbClr val="FF5252"/>
                </a:solidFill>
                <a:latin typeface="Calibri"/>
                <a:ea typeface="Calibri"/>
                <a:cs typeface="Calibri"/>
                <a:sym typeface="Calibri"/>
              </a:rPr>
              <a:t>The Reality</a:t>
            </a:r>
            <a:endParaRPr b="0" i="0" sz="1397" u="none" cap="none" strike="noStrike">
              <a:solidFill>
                <a:schemeClr val="dk1"/>
              </a:solidFill>
              <a:latin typeface="Calibri"/>
              <a:ea typeface="Calibri"/>
              <a:cs typeface="Calibri"/>
              <a:sym typeface="Calibri"/>
            </a:endParaRPr>
          </a:p>
        </p:txBody>
      </p:sp>
      <p:pic>
        <p:nvPicPr>
          <p:cNvPr descr="preencoded.png" id="43" name="Google Shape;43;p4"/>
          <p:cNvPicPr preferRelativeResize="0"/>
          <p:nvPr/>
        </p:nvPicPr>
        <p:blipFill rotWithShape="1">
          <a:blip r:embed="rId7">
            <a:alphaModFix/>
          </a:blip>
          <a:srcRect b="0" l="0" r="0" t="0"/>
          <a:stretch/>
        </p:blipFill>
        <p:spPr>
          <a:xfrm>
            <a:off x="5000625" y="2103834"/>
            <a:ext cx="128588" cy="128588"/>
          </a:xfrm>
          <a:prstGeom prst="rect">
            <a:avLst/>
          </a:prstGeom>
          <a:noFill/>
          <a:ln>
            <a:noFill/>
          </a:ln>
        </p:spPr>
      </p:pic>
      <p:sp>
        <p:nvSpPr>
          <p:cNvPr id="44" name="Google Shape;44;p4"/>
          <p:cNvSpPr/>
          <p:nvPr/>
        </p:nvSpPr>
        <p:spPr>
          <a:xfrm>
            <a:off x="5236369" y="2068116"/>
            <a:ext cx="1234501" cy="385763"/>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CBD5E1"/>
              </a:buClr>
              <a:buSzPts val="885"/>
              <a:buFont typeface="Calibri"/>
              <a:buNone/>
            </a:pPr>
            <a:r>
              <a:rPr b="1" i="0" lang="en-US" sz="885" u="none" cap="none" strike="noStrike">
                <a:solidFill>
                  <a:srgbClr val="CBD5E1"/>
                </a:solidFill>
                <a:latin typeface="Calibri"/>
                <a:ea typeface="Calibri"/>
                <a:cs typeface="Calibri"/>
                <a:sym typeface="Calibri"/>
              </a:rPr>
              <a:t>Junior Developer Level:</a:t>
            </a:r>
            <a:endParaRPr b="0" i="0" sz="885" u="none" cap="none" strike="noStrike">
              <a:solidFill>
                <a:schemeClr val="dk1"/>
              </a:solidFill>
              <a:latin typeface="Calibri"/>
              <a:ea typeface="Calibri"/>
              <a:cs typeface="Calibri"/>
              <a:sym typeface="Calibri"/>
            </a:endParaRPr>
          </a:p>
        </p:txBody>
      </p:sp>
      <p:sp>
        <p:nvSpPr>
          <p:cNvPr id="45" name="Google Shape;45;p4"/>
          <p:cNvSpPr/>
          <p:nvPr/>
        </p:nvSpPr>
        <p:spPr>
          <a:xfrm>
            <a:off x="6470870" y="2068116"/>
            <a:ext cx="1815880"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Infinite stamina, but zero judgment.</a:t>
            </a:r>
            <a:endParaRPr b="0" i="0" sz="942" u="none" cap="none" strike="noStrike">
              <a:solidFill>
                <a:schemeClr val="dk1"/>
              </a:solidFill>
              <a:latin typeface="Calibri"/>
              <a:ea typeface="Calibri"/>
              <a:cs typeface="Calibri"/>
              <a:sym typeface="Calibri"/>
            </a:endParaRPr>
          </a:p>
        </p:txBody>
      </p:sp>
      <p:pic>
        <p:nvPicPr>
          <p:cNvPr descr="preencoded.png" id="46" name="Google Shape;46;p4"/>
          <p:cNvPicPr preferRelativeResize="0"/>
          <p:nvPr/>
        </p:nvPicPr>
        <p:blipFill rotWithShape="1">
          <a:blip r:embed="rId7">
            <a:alphaModFix/>
          </a:blip>
          <a:srcRect b="0" l="0" r="0" t="0"/>
          <a:stretch/>
        </p:blipFill>
        <p:spPr>
          <a:xfrm>
            <a:off x="5000625" y="2596753"/>
            <a:ext cx="128588" cy="128588"/>
          </a:xfrm>
          <a:prstGeom prst="rect">
            <a:avLst/>
          </a:prstGeom>
          <a:noFill/>
          <a:ln>
            <a:noFill/>
          </a:ln>
        </p:spPr>
      </p:pic>
      <p:sp>
        <p:nvSpPr>
          <p:cNvPr id="47" name="Google Shape;47;p4"/>
          <p:cNvSpPr/>
          <p:nvPr/>
        </p:nvSpPr>
        <p:spPr>
          <a:xfrm>
            <a:off x="5236369" y="2561034"/>
            <a:ext cx="1064614" cy="385763"/>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CBD5E1"/>
              </a:buClr>
              <a:buSzPts val="885"/>
              <a:buFont typeface="Calibri"/>
              <a:buNone/>
            </a:pPr>
            <a:r>
              <a:rPr b="1" i="0" lang="en-US" sz="885" u="none" cap="none" strike="noStrike">
                <a:solidFill>
                  <a:srgbClr val="CBD5E1"/>
                </a:solidFill>
                <a:latin typeface="Calibri"/>
                <a:ea typeface="Calibri"/>
                <a:cs typeface="Calibri"/>
                <a:sym typeface="Calibri"/>
              </a:rPr>
              <a:t>Requires Supervision:</a:t>
            </a:r>
            <a:endParaRPr b="0" i="0" sz="885" u="none" cap="none" strike="noStrike">
              <a:solidFill>
                <a:schemeClr val="dk1"/>
              </a:solidFill>
              <a:latin typeface="Calibri"/>
              <a:ea typeface="Calibri"/>
              <a:cs typeface="Calibri"/>
              <a:sym typeface="Calibri"/>
            </a:endParaRPr>
          </a:p>
        </p:txBody>
      </p:sp>
      <p:sp>
        <p:nvSpPr>
          <p:cNvPr id="48" name="Google Shape;48;p4"/>
          <p:cNvSpPr/>
          <p:nvPr/>
        </p:nvSpPr>
        <p:spPr>
          <a:xfrm>
            <a:off x="6300983" y="2561034"/>
            <a:ext cx="1985767"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Needs constant code review and guidance.</a:t>
            </a:r>
            <a:endParaRPr b="0" i="0" sz="942" u="none" cap="none" strike="noStrike">
              <a:solidFill>
                <a:schemeClr val="dk1"/>
              </a:solidFill>
              <a:latin typeface="Calibri"/>
              <a:ea typeface="Calibri"/>
              <a:cs typeface="Calibri"/>
              <a:sym typeface="Calibri"/>
            </a:endParaRPr>
          </a:p>
        </p:txBody>
      </p:sp>
      <p:pic>
        <p:nvPicPr>
          <p:cNvPr descr="preencoded.png" id="49" name="Google Shape;49;p4"/>
          <p:cNvPicPr preferRelativeResize="0"/>
          <p:nvPr/>
        </p:nvPicPr>
        <p:blipFill rotWithShape="1">
          <a:blip r:embed="rId7">
            <a:alphaModFix/>
          </a:blip>
          <a:srcRect b="0" l="0" r="0" t="0"/>
          <a:stretch/>
        </p:blipFill>
        <p:spPr>
          <a:xfrm>
            <a:off x="5000625" y="3089672"/>
            <a:ext cx="128588" cy="128588"/>
          </a:xfrm>
          <a:prstGeom prst="rect">
            <a:avLst/>
          </a:prstGeom>
          <a:noFill/>
          <a:ln>
            <a:noFill/>
          </a:ln>
        </p:spPr>
      </p:pic>
      <p:sp>
        <p:nvSpPr>
          <p:cNvPr id="50" name="Google Shape;50;p4"/>
          <p:cNvSpPr/>
          <p:nvPr/>
        </p:nvSpPr>
        <p:spPr>
          <a:xfrm>
            <a:off x="5236369" y="3053953"/>
            <a:ext cx="849520" cy="385763"/>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CBD5E1"/>
              </a:buClr>
              <a:buSzPts val="885"/>
              <a:buFont typeface="Calibri"/>
              <a:buNone/>
            </a:pPr>
            <a:r>
              <a:rPr b="1" i="0" lang="en-US" sz="885" u="none" cap="none" strike="noStrike">
                <a:solidFill>
                  <a:srgbClr val="CBD5E1"/>
                </a:solidFill>
                <a:latin typeface="Calibri"/>
                <a:ea typeface="Calibri"/>
                <a:cs typeface="Calibri"/>
                <a:sym typeface="Calibri"/>
              </a:rPr>
              <a:t>Context Blindness:</a:t>
            </a:r>
            <a:endParaRPr b="0" i="0" sz="885" u="none" cap="none" strike="noStrike">
              <a:solidFill>
                <a:schemeClr val="dk1"/>
              </a:solidFill>
              <a:latin typeface="Calibri"/>
              <a:ea typeface="Calibri"/>
              <a:cs typeface="Calibri"/>
              <a:sym typeface="Calibri"/>
            </a:endParaRPr>
          </a:p>
        </p:txBody>
      </p:sp>
      <p:sp>
        <p:nvSpPr>
          <p:cNvPr id="51" name="Google Shape;51;p4"/>
          <p:cNvSpPr/>
          <p:nvPr/>
        </p:nvSpPr>
        <p:spPr>
          <a:xfrm>
            <a:off x="6085889" y="3053953"/>
            <a:ext cx="2200861"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Struggles to understand large, complex codebases.</a:t>
            </a:r>
            <a:endParaRPr b="0" i="0" sz="942" u="none" cap="none" strike="noStrike">
              <a:solidFill>
                <a:schemeClr val="dk1"/>
              </a:solidFill>
              <a:latin typeface="Calibri"/>
              <a:ea typeface="Calibri"/>
              <a:cs typeface="Calibri"/>
              <a:sym typeface="Calibri"/>
            </a:endParaRPr>
          </a:p>
        </p:txBody>
      </p:sp>
      <p:sp>
        <p:nvSpPr>
          <p:cNvPr id="52" name="Google Shape;52;p4"/>
          <p:cNvSpPr/>
          <p:nvPr/>
        </p:nvSpPr>
        <p:spPr>
          <a:xfrm>
            <a:off x="571500" y="4234458"/>
            <a:ext cx="8001000" cy="480417"/>
          </a:xfrm>
          <a:prstGeom prst="rect">
            <a:avLst/>
          </a:prstGeom>
          <a:solidFill>
            <a:srgbClr val="0D1B2E">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571500" y="4234458"/>
            <a:ext cx="42863" cy="480417"/>
          </a:xfrm>
          <a:prstGeom prst="rect">
            <a:avLst/>
          </a:pr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785813" y="4377333"/>
            <a:ext cx="6383527" cy="194667"/>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"AI today is a brilliant intern. It needs a Manager (You) and a Process (SDLC) to be effective."</a:t>
            </a:r>
            <a:endParaRPr b="0" i="0" sz="987"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descr="preencoded.png" id="60" name="Google Shape;60;p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1" name="Google Shape;61;p5"/>
          <p:cNvSpPr/>
          <p:nvPr/>
        </p:nvSpPr>
        <p:spPr>
          <a:xfrm>
            <a:off x="571500" y="428625"/>
            <a:ext cx="7143750" cy="408980"/>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Calibri"/>
              <a:buNone/>
            </a:pPr>
            <a:r>
              <a:rPr b="1" i="0" lang="en-US" sz="2121" u="none" cap="none" strike="noStrike">
                <a:solidFill>
                  <a:srgbClr val="FFFFFF"/>
                </a:solidFill>
                <a:latin typeface="Calibri"/>
                <a:ea typeface="Calibri"/>
                <a:cs typeface="Calibri"/>
                <a:sym typeface="Calibri"/>
              </a:rPr>
              <a:t>Current Challenges: Why It Breaks</a:t>
            </a:r>
            <a:endParaRPr b="0" i="0" sz="2121" u="none" cap="none" strike="noStrike">
              <a:solidFill>
                <a:schemeClr val="dk1"/>
              </a:solidFill>
              <a:latin typeface="Calibri"/>
              <a:ea typeface="Calibri"/>
              <a:cs typeface="Calibri"/>
              <a:sym typeface="Calibri"/>
            </a:endParaRPr>
          </a:p>
        </p:txBody>
      </p:sp>
      <p:sp>
        <p:nvSpPr>
          <p:cNvPr id="62" name="Google Shape;62;p5"/>
          <p:cNvSpPr/>
          <p:nvPr/>
        </p:nvSpPr>
        <p:spPr>
          <a:xfrm>
            <a:off x="571500" y="1223367"/>
            <a:ext cx="2524116" cy="3277195"/>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571500" y="1223367"/>
            <a:ext cx="2524116" cy="42863"/>
          </a:xfrm>
          <a:prstGeom prst="rect">
            <a:avLst/>
          </a:pr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1547794" y="1437680"/>
            <a:ext cx="571500" cy="571500"/>
          </a:xfrm>
          <a:prstGeom prst="ellipse">
            <a:avLst/>
          </a:prstGeom>
          <a:solidFill>
            <a:srgbClr val="FF5252">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5" name="Google Shape;65;p5"/>
          <p:cNvPicPr preferRelativeResize="0"/>
          <p:nvPr/>
        </p:nvPicPr>
        <p:blipFill rotWithShape="1">
          <a:blip r:embed="rId4">
            <a:alphaModFix/>
          </a:blip>
          <a:srcRect b="0" l="0" r="0" t="0"/>
          <a:stretch/>
        </p:blipFill>
        <p:spPr>
          <a:xfrm>
            <a:off x="1704956" y="1594842"/>
            <a:ext cx="257175" cy="257175"/>
          </a:xfrm>
          <a:prstGeom prst="rect">
            <a:avLst/>
          </a:prstGeom>
          <a:noFill/>
          <a:ln>
            <a:noFill/>
          </a:ln>
        </p:spPr>
      </p:pic>
      <p:sp>
        <p:nvSpPr>
          <p:cNvPr id="66" name="Google Shape;66;p5"/>
          <p:cNvSpPr/>
          <p:nvPr/>
        </p:nvSpPr>
        <p:spPr>
          <a:xfrm>
            <a:off x="1209638" y="2152055"/>
            <a:ext cx="1247840" cy="233958"/>
          </a:xfrm>
          <a:prstGeom prst="rect">
            <a:avLst/>
          </a:prstGeom>
          <a:noFill/>
          <a:ln>
            <a:noFill/>
          </a:ln>
        </p:spPr>
        <p:txBody>
          <a:bodyPr anchorCtr="0" anchor="t" bIns="0" lIns="0" spcFirstLastPara="1" rIns="0" wrap="square" tIns="0">
            <a:noAutofit/>
          </a:bodyPr>
          <a:lstStyle/>
          <a:p>
            <a:pPr indent="0" lvl="0" marL="0" marR="0" rtl="0" algn="ctr">
              <a:lnSpc>
                <a:spcPct val="134115"/>
              </a:lnSpc>
              <a:spcBef>
                <a:spcPts val="0"/>
              </a:spcBef>
              <a:spcAft>
                <a:spcPts val="0"/>
              </a:spcAft>
              <a:buClr>
                <a:srgbClr val="FFFFFF"/>
              </a:buClr>
              <a:buSzPts val="1193"/>
              <a:buFont typeface="Calibri"/>
              <a:buNone/>
            </a:pPr>
            <a:r>
              <a:rPr b="1" i="0" lang="en-US" sz="1193" u="none" cap="none" strike="noStrike">
                <a:solidFill>
                  <a:srgbClr val="FFFFFF"/>
                </a:solidFill>
                <a:latin typeface="Calibri"/>
                <a:ea typeface="Calibri"/>
                <a:cs typeface="Calibri"/>
                <a:sym typeface="Calibri"/>
              </a:rPr>
              <a:t>Context Limits</a:t>
            </a:r>
            <a:endParaRPr b="0" i="0" sz="1193" u="none" cap="none" strike="noStrike">
              <a:solidFill>
                <a:schemeClr val="dk1"/>
              </a:solidFill>
              <a:latin typeface="Calibri"/>
              <a:ea typeface="Calibri"/>
              <a:cs typeface="Calibri"/>
              <a:sym typeface="Calibri"/>
            </a:endParaRPr>
          </a:p>
        </p:txBody>
      </p:sp>
      <p:sp>
        <p:nvSpPr>
          <p:cNvPr id="67" name="Google Shape;67;p5"/>
          <p:cNvSpPr/>
          <p:nvPr/>
        </p:nvSpPr>
        <p:spPr>
          <a:xfrm>
            <a:off x="785813" y="2493169"/>
            <a:ext cx="2095491" cy="731453"/>
          </a:xfrm>
          <a:prstGeom prst="rect">
            <a:avLst/>
          </a:prstGeom>
          <a:noFill/>
          <a:ln>
            <a:noFill/>
          </a:ln>
        </p:spPr>
        <p:txBody>
          <a:bodyPr anchorCtr="0" anchor="t" bIns="0" lIns="0" spcFirstLastPara="1" rIns="0" wrap="square" tIns="0">
            <a:noAutofit/>
          </a:bodyPr>
          <a:lstStyle/>
          <a:p>
            <a:pPr indent="0" lvl="0" marL="0" marR="0" rtl="0" algn="ctr">
              <a:lnSpc>
                <a:spcPct val="167865"/>
              </a:lnSpc>
              <a:spcBef>
                <a:spcPts val="0"/>
              </a:spcBef>
              <a:spcAft>
                <a:spcPts val="0"/>
              </a:spcAft>
              <a:buClr>
                <a:srgbClr val="CBD5E1"/>
              </a:buClr>
              <a:buSzPts val="834"/>
              <a:buFont typeface="Calibri"/>
              <a:buNone/>
            </a:pPr>
            <a:r>
              <a:rPr b="0" i="0" lang="en-US" sz="834" u="none" cap="none" strike="noStrike">
                <a:solidFill>
                  <a:srgbClr val="CBD5E1"/>
                </a:solidFill>
                <a:latin typeface="Calibri"/>
                <a:ea typeface="Calibri"/>
                <a:cs typeface="Calibri"/>
                <a:sym typeface="Calibri"/>
              </a:rPr>
              <a:t>Finite token windows force aggressive summarization. Models lose track of details buried in the middle of long prompts.</a:t>
            </a:r>
            <a:endParaRPr b="0" i="0" sz="834" u="none" cap="none" strike="noStrike">
              <a:solidFill>
                <a:schemeClr val="dk1"/>
              </a:solidFill>
              <a:latin typeface="Calibri"/>
              <a:ea typeface="Calibri"/>
              <a:cs typeface="Calibri"/>
              <a:sym typeface="Calibri"/>
            </a:endParaRPr>
          </a:p>
        </p:txBody>
      </p:sp>
      <p:sp>
        <p:nvSpPr>
          <p:cNvPr id="68" name="Google Shape;68;p5"/>
          <p:cNvSpPr/>
          <p:nvPr/>
        </p:nvSpPr>
        <p:spPr>
          <a:xfrm>
            <a:off x="785813" y="3648670"/>
            <a:ext cx="2095491" cy="637580"/>
          </a:xfrm>
          <a:prstGeom prst="rect">
            <a:avLst/>
          </a:prstGeom>
          <a:solidFill>
            <a:srgbClr val="000000">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892969" y="3755827"/>
            <a:ext cx="1881178" cy="116086"/>
          </a:xfrm>
          <a:prstGeom prst="rect">
            <a:avLst/>
          </a:prstGeom>
          <a:noFill/>
          <a:ln>
            <a:noFill/>
          </a:ln>
        </p:spPr>
        <p:txBody>
          <a:bodyPr anchorCtr="0" anchor="t" bIns="0" lIns="0" spcFirstLastPara="1" rIns="0" wrap="square" tIns="0">
            <a:noAutofit/>
          </a:bodyPr>
          <a:lstStyle/>
          <a:p>
            <a:pPr indent="0" lvl="0" marL="0" marR="0" rtl="0" algn="l">
              <a:lnSpc>
                <a:spcPct val="136986"/>
              </a:lnSpc>
              <a:spcBef>
                <a:spcPts val="0"/>
              </a:spcBef>
              <a:spcAft>
                <a:spcPts val="0"/>
              </a:spcAft>
              <a:buClr>
                <a:srgbClr val="FF5252"/>
              </a:buClr>
              <a:buSzPts val="584"/>
              <a:buFont typeface="Calibri"/>
              <a:buNone/>
            </a:pPr>
            <a:r>
              <a:rPr b="1" i="0" lang="en-US" sz="584" u="none" cap="none" strike="noStrike">
                <a:solidFill>
                  <a:srgbClr val="FF5252"/>
                </a:solidFill>
                <a:latin typeface="Calibri"/>
                <a:ea typeface="Calibri"/>
                <a:cs typeface="Calibri"/>
                <a:sym typeface="Calibri"/>
              </a:rPr>
              <a:t>Symptom</a:t>
            </a:r>
            <a:endParaRPr b="0" i="0" sz="584" u="none" cap="none" strike="noStrike">
              <a:solidFill>
                <a:schemeClr val="dk1"/>
              </a:solidFill>
              <a:latin typeface="Calibri"/>
              <a:ea typeface="Calibri"/>
              <a:cs typeface="Calibri"/>
              <a:sym typeface="Calibri"/>
            </a:endParaRPr>
          </a:p>
        </p:txBody>
      </p:sp>
      <p:sp>
        <p:nvSpPr>
          <p:cNvPr id="70" name="Google Shape;70;p5"/>
          <p:cNvSpPr/>
          <p:nvPr/>
        </p:nvSpPr>
        <p:spPr>
          <a:xfrm>
            <a:off x="892969" y="3907631"/>
            <a:ext cx="1881178" cy="271463"/>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AB5"/>
              </a:buClr>
              <a:buSzPts val="727"/>
              <a:buFont typeface="Calibri"/>
              <a:buNone/>
            </a:pPr>
            <a:r>
              <a:rPr b="0" i="1" lang="en-US" sz="727" u="none" cap="none" strike="noStrike">
                <a:solidFill>
                  <a:srgbClr val="A0AAB5"/>
                </a:solidFill>
                <a:latin typeface="Calibri"/>
                <a:ea typeface="Calibri"/>
                <a:cs typeface="Calibri"/>
                <a:sym typeface="Calibri"/>
              </a:rPr>
              <a:t>"Why did it forget the API change I mentioned 5 messages ago?"</a:t>
            </a:r>
            <a:endParaRPr b="0" i="0" sz="727" u="none" cap="none" strike="noStrike">
              <a:solidFill>
                <a:schemeClr val="dk1"/>
              </a:solidFill>
              <a:latin typeface="Calibri"/>
              <a:ea typeface="Calibri"/>
              <a:cs typeface="Calibri"/>
              <a:sym typeface="Calibri"/>
            </a:endParaRPr>
          </a:p>
        </p:txBody>
      </p:sp>
      <p:sp>
        <p:nvSpPr>
          <p:cNvPr id="71" name="Google Shape;71;p5"/>
          <p:cNvSpPr/>
          <p:nvPr/>
        </p:nvSpPr>
        <p:spPr>
          <a:xfrm>
            <a:off x="3309928" y="1223367"/>
            <a:ext cx="2524116" cy="3277195"/>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3309928" y="1223367"/>
            <a:ext cx="2524116" cy="42863"/>
          </a:xfrm>
          <a:prstGeom prst="rect">
            <a:avLst/>
          </a:pr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4286222" y="1437680"/>
            <a:ext cx="571500" cy="571500"/>
          </a:xfrm>
          <a:prstGeom prst="ellipse">
            <a:avLst/>
          </a:prstGeom>
          <a:solidFill>
            <a:srgbClr val="FF5252">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4" name="Google Shape;74;p5"/>
          <p:cNvPicPr preferRelativeResize="0"/>
          <p:nvPr/>
        </p:nvPicPr>
        <p:blipFill rotWithShape="1">
          <a:blip r:embed="rId5">
            <a:alphaModFix/>
          </a:blip>
          <a:srcRect b="0" l="0" r="0" t="0"/>
          <a:stretch/>
        </p:blipFill>
        <p:spPr>
          <a:xfrm>
            <a:off x="4443385" y="1594842"/>
            <a:ext cx="257175" cy="257175"/>
          </a:xfrm>
          <a:prstGeom prst="rect">
            <a:avLst/>
          </a:prstGeom>
          <a:noFill/>
          <a:ln>
            <a:noFill/>
          </a:ln>
        </p:spPr>
      </p:pic>
      <p:sp>
        <p:nvSpPr>
          <p:cNvPr id="75" name="Google Shape;75;p5"/>
          <p:cNvSpPr/>
          <p:nvPr/>
        </p:nvSpPr>
        <p:spPr>
          <a:xfrm>
            <a:off x="4006528" y="2152055"/>
            <a:ext cx="1130889" cy="233958"/>
          </a:xfrm>
          <a:prstGeom prst="rect">
            <a:avLst/>
          </a:prstGeom>
          <a:noFill/>
          <a:ln>
            <a:noFill/>
          </a:ln>
        </p:spPr>
        <p:txBody>
          <a:bodyPr anchorCtr="0" anchor="t" bIns="0" lIns="0" spcFirstLastPara="1" rIns="0" wrap="square" tIns="0">
            <a:noAutofit/>
          </a:bodyPr>
          <a:lstStyle/>
          <a:p>
            <a:pPr indent="0" lvl="0" marL="0" marR="0" rtl="0" algn="ctr">
              <a:lnSpc>
                <a:spcPct val="134115"/>
              </a:lnSpc>
              <a:spcBef>
                <a:spcPts val="0"/>
              </a:spcBef>
              <a:spcAft>
                <a:spcPts val="0"/>
              </a:spcAft>
              <a:buClr>
                <a:srgbClr val="FFFFFF"/>
              </a:buClr>
              <a:buSzPts val="1193"/>
              <a:buFont typeface="Calibri"/>
              <a:buNone/>
            </a:pPr>
            <a:r>
              <a:rPr b="1" i="0" lang="en-US" sz="1193" u="none" cap="none" strike="noStrike">
                <a:solidFill>
                  <a:srgbClr val="FFFFFF"/>
                </a:solidFill>
                <a:latin typeface="Calibri"/>
                <a:ea typeface="Calibri"/>
                <a:cs typeface="Calibri"/>
                <a:sym typeface="Calibri"/>
              </a:rPr>
              <a:t>Memory Loss</a:t>
            </a:r>
            <a:endParaRPr b="0" i="0" sz="1193" u="none" cap="none" strike="noStrike">
              <a:solidFill>
                <a:schemeClr val="dk1"/>
              </a:solidFill>
              <a:latin typeface="Calibri"/>
              <a:ea typeface="Calibri"/>
              <a:cs typeface="Calibri"/>
              <a:sym typeface="Calibri"/>
            </a:endParaRPr>
          </a:p>
        </p:txBody>
      </p:sp>
      <p:sp>
        <p:nvSpPr>
          <p:cNvPr id="76" name="Google Shape;76;p5"/>
          <p:cNvSpPr/>
          <p:nvPr/>
        </p:nvSpPr>
        <p:spPr>
          <a:xfrm>
            <a:off x="3524241" y="2493169"/>
            <a:ext cx="2095491" cy="731453"/>
          </a:xfrm>
          <a:prstGeom prst="rect">
            <a:avLst/>
          </a:prstGeom>
          <a:noFill/>
          <a:ln>
            <a:noFill/>
          </a:ln>
        </p:spPr>
        <p:txBody>
          <a:bodyPr anchorCtr="0" anchor="t" bIns="0" lIns="0" spcFirstLastPara="1" rIns="0" wrap="square" tIns="0">
            <a:noAutofit/>
          </a:bodyPr>
          <a:lstStyle/>
          <a:p>
            <a:pPr indent="0" lvl="0" marL="0" marR="0" rtl="0" algn="ctr">
              <a:lnSpc>
                <a:spcPct val="167865"/>
              </a:lnSpc>
              <a:spcBef>
                <a:spcPts val="0"/>
              </a:spcBef>
              <a:spcAft>
                <a:spcPts val="0"/>
              </a:spcAft>
              <a:buClr>
                <a:srgbClr val="CBD5E1"/>
              </a:buClr>
              <a:buSzPts val="834"/>
              <a:buFont typeface="Calibri"/>
              <a:buNone/>
            </a:pPr>
            <a:r>
              <a:rPr b="0" i="0" lang="en-US" sz="834" u="none" cap="none" strike="noStrike">
                <a:solidFill>
                  <a:srgbClr val="CBD5E1"/>
                </a:solidFill>
                <a:latin typeface="Calibri"/>
                <a:ea typeface="Calibri"/>
                <a:cs typeface="Calibri"/>
                <a:sym typeface="Calibri"/>
              </a:rPr>
              <a:t>Retrieval (RAG) is lossy. Summaries strip away nuance, leading to generic code that misses specific project constraints.</a:t>
            </a:r>
            <a:endParaRPr b="0" i="0" sz="834" u="none" cap="none" strike="noStrike">
              <a:solidFill>
                <a:schemeClr val="dk1"/>
              </a:solidFill>
              <a:latin typeface="Calibri"/>
              <a:ea typeface="Calibri"/>
              <a:cs typeface="Calibri"/>
              <a:sym typeface="Calibri"/>
            </a:endParaRPr>
          </a:p>
        </p:txBody>
      </p:sp>
      <p:sp>
        <p:nvSpPr>
          <p:cNvPr id="77" name="Google Shape;77;p5"/>
          <p:cNvSpPr/>
          <p:nvPr/>
        </p:nvSpPr>
        <p:spPr>
          <a:xfrm>
            <a:off x="3524241" y="3648670"/>
            <a:ext cx="2095491" cy="637580"/>
          </a:xfrm>
          <a:prstGeom prst="rect">
            <a:avLst/>
          </a:prstGeom>
          <a:solidFill>
            <a:srgbClr val="000000">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3631397" y="3755827"/>
            <a:ext cx="1881178" cy="116086"/>
          </a:xfrm>
          <a:prstGeom prst="rect">
            <a:avLst/>
          </a:prstGeom>
          <a:noFill/>
          <a:ln>
            <a:noFill/>
          </a:ln>
        </p:spPr>
        <p:txBody>
          <a:bodyPr anchorCtr="0" anchor="t" bIns="0" lIns="0" spcFirstLastPara="1" rIns="0" wrap="square" tIns="0">
            <a:noAutofit/>
          </a:bodyPr>
          <a:lstStyle/>
          <a:p>
            <a:pPr indent="0" lvl="0" marL="0" marR="0" rtl="0" algn="l">
              <a:lnSpc>
                <a:spcPct val="136986"/>
              </a:lnSpc>
              <a:spcBef>
                <a:spcPts val="0"/>
              </a:spcBef>
              <a:spcAft>
                <a:spcPts val="0"/>
              </a:spcAft>
              <a:buClr>
                <a:srgbClr val="FF5252"/>
              </a:buClr>
              <a:buSzPts val="584"/>
              <a:buFont typeface="Calibri"/>
              <a:buNone/>
            </a:pPr>
            <a:r>
              <a:rPr b="1" i="0" lang="en-US" sz="584" u="none" cap="none" strike="noStrike">
                <a:solidFill>
                  <a:srgbClr val="FF5252"/>
                </a:solidFill>
                <a:latin typeface="Calibri"/>
                <a:ea typeface="Calibri"/>
                <a:cs typeface="Calibri"/>
                <a:sym typeface="Calibri"/>
              </a:rPr>
              <a:t>Symptom</a:t>
            </a:r>
            <a:endParaRPr b="0" i="0" sz="584" u="none" cap="none" strike="noStrike">
              <a:solidFill>
                <a:schemeClr val="dk1"/>
              </a:solidFill>
              <a:latin typeface="Calibri"/>
              <a:ea typeface="Calibri"/>
              <a:cs typeface="Calibri"/>
              <a:sym typeface="Calibri"/>
            </a:endParaRPr>
          </a:p>
        </p:txBody>
      </p:sp>
      <p:sp>
        <p:nvSpPr>
          <p:cNvPr id="79" name="Google Shape;79;p5"/>
          <p:cNvSpPr/>
          <p:nvPr/>
        </p:nvSpPr>
        <p:spPr>
          <a:xfrm>
            <a:off x="3631397" y="3907631"/>
            <a:ext cx="1881178" cy="271463"/>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AB5"/>
              </a:buClr>
              <a:buSzPts val="727"/>
              <a:buFont typeface="Calibri"/>
              <a:buNone/>
            </a:pPr>
            <a:r>
              <a:rPr b="0" i="1" lang="en-US" sz="727" u="none" cap="none" strike="noStrike">
                <a:solidFill>
                  <a:srgbClr val="A0AAB5"/>
                </a:solidFill>
                <a:latin typeface="Calibri"/>
                <a:ea typeface="Calibri"/>
                <a:cs typeface="Calibri"/>
                <a:sym typeface="Calibri"/>
              </a:rPr>
              <a:t>"It keeps using the wrong library version despite the docs."</a:t>
            </a:r>
            <a:endParaRPr b="0" i="0" sz="727" u="none" cap="none" strike="noStrike">
              <a:solidFill>
                <a:schemeClr val="dk1"/>
              </a:solidFill>
              <a:latin typeface="Calibri"/>
              <a:ea typeface="Calibri"/>
              <a:cs typeface="Calibri"/>
              <a:sym typeface="Calibri"/>
            </a:endParaRPr>
          </a:p>
        </p:txBody>
      </p:sp>
      <p:sp>
        <p:nvSpPr>
          <p:cNvPr id="80" name="Google Shape;80;p5"/>
          <p:cNvSpPr/>
          <p:nvPr/>
        </p:nvSpPr>
        <p:spPr>
          <a:xfrm>
            <a:off x="6048356" y="1223367"/>
            <a:ext cx="2524116" cy="3277195"/>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6048356" y="1223367"/>
            <a:ext cx="2524116" cy="42863"/>
          </a:xfrm>
          <a:prstGeom prst="rect">
            <a:avLst/>
          </a:pr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7024650" y="1437680"/>
            <a:ext cx="571500" cy="571500"/>
          </a:xfrm>
          <a:prstGeom prst="ellipse">
            <a:avLst/>
          </a:prstGeom>
          <a:solidFill>
            <a:srgbClr val="FF5252">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3" name="Google Shape;83;p5"/>
          <p:cNvPicPr preferRelativeResize="0"/>
          <p:nvPr/>
        </p:nvPicPr>
        <p:blipFill rotWithShape="1">
          <a:blip r:embed="rId6">
            <a:alphaModFix/>
          </a:blip>
          <a:srcRect b="0" l="0" r="0" t="0"/>
          <a:stretch/>
        </p:blipFill>
        <p:spPr>
          <a:xfrm>
            <a:off x="7181813" y="1594842"/>
            <a:ext cx="257175" cy="257175"/>
          </a:xfrm>
          <a:prstGeom prst="rect">
            <a:avLst/>
          </a:prstGeom>
          <a:noFill/>
          <a:ln>
            <a:noFill/>
          </a:ln>
        </p:spPr>
      </p:pic>
      <p:sp>
        <p:nvSpPr>
          <p:cNvPr id="84" name="Google Shape;84;p5"/>
          <p:cNvSpPr/>
          <p:nvPr/>
        </p:nvSpPr>
        <p:spPr>
          <a:xfrm>
            <a:off x="6641483" y="2152055"/>
            <a:ext cx="1337835" cy="233958"/>
          </a:xfrm>
          <a:prstGeom prst="rect">
            <a:avLst/>
          </a:prstGeom>
          <a:noFill/>
          <a:ln>
            <a:noFill/>
          </a:ln>
        </p:spPr>
        <p:txBody>
          <a:bodyPr anchorCtr="0" anchor="t" bIns="0" lIns="0" spcFirstLastPara="1" rIns="0" wrap="square" tIns="0">
            <a:noAutofit/>
          </a:bodyPr>
          <a:lstStyle/>
          <a:p>
            <a:pPr indent="0" lvl="0" marL="0" marR="0" rtl="0" algn="ctr">
              <a:lnSpc>
                <a:spcPct val="134115"/>
              </a:lnSpc>
              <a:spcBef>
                <a:spcPts val="0"/>
              </a:spcBef>
              <a:spcAft>
                <a:spcPts val="0"/>
              </a:spcAft>
              <a:buClr>
                <a:srgbClr val="FFFFFF"/>
              </a:buClr>
              <a:buSzPts val="1193"/>
              <a:buFont typeface="Calibri"/>
              <a:buNone/>
            </a:pPr>
            <a:r>
              <a:rPr b="1" i="0" lang="en-US" sz="1193" u="none" cap="none" strike="noStrike">
                <a:solidFill>
                  <a:srgbClr val="FFFFFF"/>
                </a:solidFill>
                <a:latin typeface="Calibri"/>
                <a:ea typeface="Calibri"/>
                <a:cs typeface="Calibri"/>
                <a:sym typeface="Calibri"/>
              </a:rPr>
              <a:t>Reasoning Drift</a:t>
            </a:r>
            <a:endParaRPr b="0" i="0" sz="1193" u="none" cap="none" strike="noStrike">
              <a:solidFill>
                <a:schemeClr val="dk1"/>
              </a:solidFill>
              <a:latin typeface="Calibri"/>
              <a:ea typeface="Calibri"/>
              <a:cs typeface="Calibri"/>
              <a:sym typeface="Calibri"/>
            </a:endParaRPr>
          </a:p>
        </p:txBody>
      </p:sp>
      <p:sp>
        <p:nvSpPr>
          <p:cNvPr id="85" name="Google Shape;85;p5"/>
          <p:cNvSpPr/>
          <p:nvPr/>
        </p:nvSpPr>
        <p:spPr>
          <a:xfrm>
            <a:off x="6262669" y="2493169"/>
            <a:ext cx="2095491" cy="731453"/>
          </a:xfrm>
          <a:prstGeom prst="rect">
            <a:avLst/>
          </a:prstGeom>
          <a:noFill/>
          <a:ln>
            <a:noFill/>
          </a:ln>
        </p:spPr>
        <p:txBody>
          <a:bodyPr anchorCtr="0" anchor="t" bIns="0" lIns="0" spcFirstLastPara="1" rIns="0" wrap="square" tIns="0">
            <a:noAutofit/>
          </a:bodyPr>
          <a:lstStyle/>
          <a:p>
            <a:pPr indent="0" lvl="0" marL="0" marR="0" rtl="0" algn="ctr">
              <a:lnSpc>
                <a:spcPct val="167865"/>
              </a:lnSpc>
              <a:spcBef>
                <a:spcPts val="0"/>
              </a:spcBef>
              <a:spcAft>
                <a:spcPts val="0"/>
              </a:spcAft>
              <a:buClr>
                <a:srgbClr val="CBD5E1"/>
              </a:buClr>
              <a:buSzPts val="834"/>
              <a:buFont typeface="Calibri"/>
              <a:buNone/>
            </a:pPr>
            <a:r>
              <a:rPr b="0" i="0" lang="en-US" sz="834" u="none" cap="none" strike="noStrike">
                <a:solidFill>
                  <a:srgbClr val="CBD5E1"/>
                </a:solidFill>
                <a:latin typeface="Calibri"/>
                <a:ea typeface="Calibri"/>
                <a:cs typeface="Calibri"/>
                <a:sym typeface="Calibri"/>
              </a:rPr>
              <a:t>In complex, multi-step workflows, models lose the original goal. They "hallucinate" steps or go down rabbit holes.</a:t>
            </a:r>
            <a:endParaRPr b="0" i="0" sz="834" u="none" cap="none" strike="noStrike">
              <a:solidFill>
                <a:schemeClr val="dk1"/>
              </a:solidFill>
              <a:latin typeface="Calibri"/>
              <a:ea typeface="Calibri"/>
              <a:cs typeface="Calibri"/>
              <a:sym typeface="Calibri"/>
            </a:endParaRPr>
          </a:p>
        </p:txBody>
      </p:sp>
      <p:sp>
        <p:nvSpPr>
          <p:cNvPr id="86" name="Google Shape;86;p5"/>
          <p:cNvSpPr/>
          <p:nvPr/>
        </p:nvSpPr>
        <p:spPr>
          <a:xfrm>
            <a:off x="6262669" y="3648670"/>
            <a:ext cx="2095491" cy="637580"/>
          </a:xfrm>
          <a:prstGeom prst="rect">
            <a:avLst/>
          </a:prstGeom>
          <a:solidFill>
            <a:srgbClr val="000000">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6369825" y="3755827"/>
            <a:ext cx="1881178" cy="116086"/>
          </a:xfrm>
          <a:prstGeom prst="rect">
            <a:avLst/>
          </a:prstGeom>
          <a:noFill/>
          <a:ln>
            <a:noFill/>
          </a:ln>
        </p:spPr>
        <p:txBody>
          <a:bodyPr anchorCtr="0" anchor="t" bIns="0" lIns="0" spcFirstLastPara="1" rIns="0" wrap="square" tIns="0">
            <a:noAutofit/>
          </a:bodyPr>
          <a:lstStyle/>
          <a:p>
            <a:pPr indent="0" lvl="0" marL="0" marR="0" rtl="0" algn="l">
              <a:lnSpc>
                <a:spcPct val="136986"/>
              </a:lnSpc>
              <a:spcBef>
                <a:spcPts val="0"/>
              </a:spcBef>
              <a:spcAft>
                <a:spcPts val="0"/>
              </a:spcAft>
              <a:buClr>
                <a:srgbClr val="FF5252"/>
              </a:buClr>
              <a:buSzPts val="584"/>
              <a:buFont typeface="Calibri"/>
              <a:buNone/>
            </a:pPr>
            <a:r>
              <a:rPr b="1" i="0" lang="en-US" sz="584" u="none" cap="none" strike="noStrike">
                <a:solidFill>
                  <a:srgbClr val="FF5252"/>
                </a:solidFill>
                <a:latin typeface="Calibri"/>
                <a:ea typeface="Calibri"/>
                <a:cs typeface="Calibri"/>
                <a:sym typeface="Calibri"/>
              </a:rPr>
              <a:t>Symptom</a:t>
            </a:r>
            <a:endParaRPr b="0" i="0" sz="584" u="none" cap="none" strike="noStrike">
              <a:solidFill>
                <a:schemeClr val="dk1"/>
              </a:solidFill>
              <a:latin typeface="Calibri"/>
              <a:ea typeface="Calibri"/>
              <a:cs typeface="Calibri"/>
              <a:sym typeface="Calibri"/>
            </a:endParaRPr>
          </a:p>
        </p:txBody>
      </p:sp>
      <p:sp>
        <p:nvSpPr>
          <p:cNvPr id="88" name="Google Shape;88;p5"/>
          <p:cNvSpPr/>
          <p:nvPr/>
        </p:nvSpPr>
        <p:spPr>
          <a:xfrm>
            <a:off x="6369825" y="3907631"/>
            <a:ext cx="1881178" cy="271463"/>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AB5"/>
              </a:buClr>
              <a:buSzPts val="727"/>
              <a:buFont typeface="Calibri"/>
              <a:buNone/>
            </a:pPr>
            <a:r>
              <a:rPr b="0" i="1" lang="en-US" sz="727" u="none" cap="none" strike="noStrike">
                <a:solidFill>
                  <a:srgbClr val="A0AAB5"/>
                </a:solidFill>
                <a:latin typeface="Calibri"/>
                <a:ea typeface="Calibri"/>
                <a:cs typeface="Calibri"/>
                <a:sym typeface="Calibri"/>
              </a:rPr>
              <a:t>"It fixed the bug but broke the entire login flow."</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preencoded.png" id="94" name="Google Shape;94;p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95" name="Google Shape;95;p6"/>
          <p:cNvSpPr/>
          <p:nvPr/>
        </p:nvSpPr>
        <p:spPr>
          <a:xfrm>
            <a:off x="357188" y="428625"/>
            <a:ext cx="7143750" cy="408980"/>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Calibri"/>
              <a:buNone/>
            </a:pPr>
            <a:r>
              <a:rPr b="1" i="0" lang="en-US" sz="2121" u="none" cap="none" strike="noStrike">
                <a:solidFill>
                  <a:srgbClr val="FFFFFF"/>
                </a:solidFill>
                <a:latin typeface="Calibri"/>
                <a:ea typeface="Calibri"/>
                <a:cs typeface="Calibri"/>
                <a:sym typeface="Calibri"/>
              </a:rPr>
              <a:t>The Market Signal: Why Stocks Are Falling</a:t>
            </a:r>
            <a:endParaRPr b="0" i="0" sz="2121" u="none" cap="none" strike="noStrike">
              <a:solidFill>
                <a:schemeClr val="dk1"/>
              </a:solidFill>
              <a:latin typeface="Calibri"/>
              <a:ea typeface="Calibri"/>
              <a:cs typeface="Calibri"/>
              <a:sym typeface="Calibri"/>
            </a:endParaRPr>
          </a:p>
        </p:txBody>
      </p:sp>
      <p:sp>
        <p:nvSpPr>
          <p:cNvPr id="96" name="Google Shape;96;p6"/>
          <p:cNvSpPr/>
          <p:nvPr/>
        </p:nvSpPr>
        <p:spPr>
          <a:xfrm>
            <a:off x="357188" y="1080492"/>
            <a:ext cx="4504441" cy="3920133"/>
          </a:xfrm>
          <a:prstGeom prst="rect">
            <a:avLst/>
          </a:prstGeom>
          <a:solidFill>
            <a:srgbClr val="1A2A3A"/>
          </a:solidFill>
          <a:ln cap="flat" cmpd="sng" w="9525">
            <a:solidFill>
              <a:srgbClr val="FFFFFF">
                <a:alpha val="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485775" y="1209080"/>
            <a:ext cx="4247266" cy="194667"/>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CBD5E1"/>
              </a:buClr>
              <a:buSzPts val="987"/>
              <a:buFont typeface="Calibri"/>
              <a:buNone/>
            </a:pPr>
            <a:r>
              <a:rPr b="1" i="0" lang="en-US" sz="987" u="none" cap="none" strike="noStrike">
                <a:solidFill>
                  <a:srgbClr val="CBD5E1"/>
                </a:solidFill>
                <a:latin typeface="Calibri"/>
                <a:ea typeface="Calibri"/>
                <a:cs typeface="Calibri"/>
                <a:sym typeface="Calibri"/>
              </a:rPr>
              <a:t>Traditional "Seat-Based" SaaS Valuation</a:t>
            </a:r>
            <a:endParaRPr b="0" i="0" sz="987" u="none" cap="none" strike="noStrike">
              <a:solidFill>
                <a:schemeClr val="dk1"/>
              </a:solidFill>
              <a:latin typeface="Calibri"/>
              <a:ea typeface="Calibri"/>
              <a:cs typeface="Calibri"/>
              <a:sym typeface="Calibri"/>
            </a:endParaRPr>
          </a:p>
        </p:txBody>
      </p:sp>
      <p:pic>
        <p:nvPicPr>
          <p:cNvPr descr="preencoded.png" id="98" name="Google Shape;98;p6"/>
          <p:cNvPicPr preferRelativeResize="0"/>
          <p:nvPr/>
        </p:nvPicPr>
        <p:blipFill rotWithShape="1">
          <a:blip r:embed="rId4">
            <a:alphaModFix/>
          </a:blip>
          <a:srcRect b="0" l="0" r="0" t="0"/>
          <a:stretch/>
        </p:blipFill>
        <p:spPr>
          <a:xfrm>
            <a:off x="485775" y="1489472"/>
            <a:ext cx="4232672" cy="3100388"/>
          </a:xfrm>
          <a:prstGeom prst="rect">
            <a:avLst/>
          </a:prstGeom>
          <a:noFill/>
          <a:ln>
            <a:noFill/>
          </a:ln>
        </p:spPr>
      </p:pic>
      <p:sp>
        <p:nvSpPr>
          <p:cNvPr id="99" name="Google Shape;99;p6"/>
          <p:cNvSpPr/>
          <p:nvPr/>
        </p:nvSpPr>
        <p:spPr>
          <a:xfrm>
            <a:off x="5033079" y="1904200"/>
            <a:ext cx="3753734" cy="1179723"/>
          </a:xfrm>
          <a:prstGeom prst="rect">
            <a:avLst/>
          </a:prstGeom>
          <a:solidFill>
            <a:srgbClr val="FF5252">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5033079" y="1904200"/>
            <a:ext cx="28575" cy="1179723"/>
          </a:xfrm>
          <a:prstGeom prst="rect">
            <a:avLst/>
          </a:pr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5161666" y="2032788"/>
            <a:ext cx="3496559" cy="233958"/>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5252"/>
              </a:buClr>
              <a:buSzPts val="1193"/>
              <a:buFont typeface="Calibri"/>
              <a:buNone/>
            </a:pPr>
            <a:r>
              <a:rPr b="1" i="0" lang="en-US" sz="1193" u="none" cap="none" strike="noStrike">
                <a:solidFill>
                  <a:srgbClr val="FF5252"/>
                </a:solidFill>
                <a:latin typeface="Calibri"/>
                <a:ea typeface="Calibri"/>
                <a:cs typeface="Calibri"/>
                <a:sym typeface="Calibri"/>
              </a:rPr>
              <a:t>The Value Shift</a:t>
            </a:r>
            <a:endParaRPr b="0" i="0" sz="1193" u="none" cap="none" strike="noStrike">
              <a:solidFill>
                <a:schemeClr val="dk1"/>
              </a:solidFill>
              <a:latin typeface="Calibri"/>
              <a:ea typeface="Calibri"/>
              <a:cs typeface="Calibri"/>
              <a:sym typeface="Calibri"/>
            </a:endParaRPr>
          </a:p>
        </p:txBody>
      </p:sp>
      <p:sp>
        <p:nvSpPr>
          <p:cNvPr id="102" name="Google Shape;102;p6"/>
          <p:cNvSpPr/>
          <p:nvPr/>
        </p:nvSpPr>
        <p:spPr>
          <a:xfrm>
            <a:off x="5161666" y="2338183"/>
            <a:ext cx="3496559" cy="617153"/>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Automation is destroying the "Seat Economy". Companies paying for 100 developer seats today will pay for 5 architects and 500 AI agents tomorrow.</a:t>
            </a:r>
            <a:endParaRPr b="0" i="0" sz="942" u="none" cap="none" strike="noStrike">
              <a:solidFill>
                <a:schemeClr val="dk1"/>
              </a:solidFill>
              <a:latin typeface="Calibri"/>
              <a:ea typeface="Calibri"/>
              <a:cs typeface="Calibri"/>
              <a:sym typeface="Calibri"/>
            </a:endParaRPr>
          </a:p>
        </p:txBody>
      </p:sp>
      <p:sp>
        <p:nvSpPr>
          <p:cNvPr id="103" name="Google Shape;103;p6"/>
          <p:cNvSpPr/>
          <p:nvPr/>
        </p:nvSpPr>
        <p:spPr>
          <a:xfrm>
            <a:off x="5033079" y="3264303"/>
            <a:ext cx="314325" cy="314325"/>
          </a:xfrm>
          <a:prstGeom prst="ellipse">
            <a:avLst/>
          </a:prstGeom>
          <a:solidFill>
            <a:srgbClr val="FF5252">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4" name="Google Shape;104;p6"/>
          <p:cNvPicPr preferRelativeResize="0"/>
          <p:nvPr/>
        </p:nvPicPr>
        <p:blipFill rotWithShape="1">
          <a:blip r:embed="rId5">
            <a:alphaModFix/>
          </a:blip>
          <a:srcRect b="0" l="0" r="0" t="0"/>
          <a:stretch/>
        </p:blipFill>
        <p:spPr>
          <a:xfrm>
            <a:off x="5115232" y="3335741"/>
            <a:ext cx="150019" cy="171450"/>
          </a:xfrm>
          <a:prstGeom prst="rect">
            <a:avLst/>
          </a:prstGeom>
          <a:noFill/>
          <a:ln>
            <a:noFill/>
          </a:ln>
        </p:spPr>
      </p:pic>
      <p:sp>
        <p:nvSpPr>
          <p:cNvPr id="105" name="Google Shape;105;p6"/>
          <p:cNvSpPr/>
          <p:nvPr/>
        </p:nvSpPr>
        <p:spPr>
          <a:xfrm>
            <a:off x="5461704" y="3226798"/>
            <a:ext cx="2414755" cy="389334"/>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Old Model:</a:t>
            </a:r>
            <a:r>
              <a:rPr b="0" i="0" lang="en-US" sz="1050" u="none" cap="none" strike="noStrike">
                <a:solidFill>
                  <a:srgbClr val="FFFFFF"/>
                </a:solidFill>
                <a:latin typeface="Calibri"/>
                <a:ea typeface="Calibri"/>
                <a:cs typeface="Calibri"/>
                <a:sym typeface="Calibri"/>
              </a:rPr>
              <a:t> Selling tools to humans.</a:t>
            </a:r>
            <a:br>
              <a:rPr b="0" i="0" lang="en-US" sz="1050" u="none" cap="none" strike="noStrike">
                <a:solidFill>
                  <a:srgbClr val="FFFFFF"/>
                </a:solidFill>
                <a:latin typeface="Calibri"/>
                <a:ea typeface="Calibri"/>
                <a:cs typeface="Calibri"/>
                <a:sym typeface="Calibri"/>
              </a:rPr>
            </a:br>
            <a:r>
              <a:rPr b="0" i="0" lang="en-US" sz="1050" u="none" cap="none" strike="noStrike">
                <a:solidFill>
                  <a:srgbClr val="FFFFFF"/>
                </a:solidFill>
                <a:latin typeface="Calibri"/>
                <a:ea typeface="Calibri"/>
                <a:cs typeface="Calibri"/>
                <a:sym typeface="Calibri"/>
              </a:rPr>
              <a:t> </a:t>
            </a:r>
            <a:r>
              <a:rPr b="0" i="0" lang="en-US" sz="834" u="none" cap="none" strike="noStrike">
                <a:solidFill>
                  <a:srgbClr val="A0AAB5"/>
                </a:solidFill>
                <a:latin typeface="Calibri"/>
                <a:ea typeface="Calibri"/>
                <a:cs typeface="Calibri"/>
                <a:sym typeface="Calibri"/>
              </a:rPr>
              <a:t>Limited by headcount.</a:t>
            </a:r>
            <a:endParaRPr b="0" i="0" sz="1050" u="none" cap="none" strike="noStrike">
              <a:solidFill>
                <a:schemeClr val="dk1"/>
              </a:solidFill>
              <a:latin typeface="Calibri"/>
              <a:ea typeface="Calibri"/>
              <a:cs typeface="Calibri"/>
              <a:sym typeface="Calibri"/>
            </a:endParaRPr>
          </a:p>
        </p:txBody>
      </p:sp>
      <p:sp>
        <p:nvSpPr>
          <p:cNvPr id="106" name="Google Shape;106;p6"/>
          <p:cNvSpPr/>
          <p:nvPr/>
        </p:nvSpPr>
        <p:spPr>
          <a:xfrm>
            <a:off x="5033079" y="3739362"/>
            <a:ext cx="314325" cy="314325"/>
          </a:xfrm>
          <a:prstGeom prst="ellipse">
            <a:avLst/>
          </a:prstGeom>
          <a:solidFill>
            <a:srgbClr val="00C853">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7" name="Google Shape;107;p6"/>
          <p:cNvPicPr preferRelativeResize="0"/>
          <p:nvPr/>
        </p:nvPicPr>
        <p:blipFill rotWithShape="1">
          <a:blip r:embed="rId6">
            <a:alphaModFix/>
          </a:blip>
          <a:srcRect b="0" l="0" r="0" t="0"/>
          <a:stretch/>
        </p:blipFill>
        <p:spPr>
          <a:xfrm>
            <a:off x="5083085" y="3810800"/>
            <a:ext cx="214313" cy="171450"/>
          </a:xfrm>
          <a:prstGeom prst="rect">
            <a:avLst/>
          </a:prstGeom>
          <a:noFill/>
          <a:ln>
            <a:noFill/>
          </a:ln>
        </p:spPr>
      </p:pic>
      <p:sp>
        <p:nvSpPr>
          <p:cNvPr id="108" name="Google Shape;108;p6"/>
          <p:cNvSpPr/>
          <p:nvPr/>
        </p:nvSpPr>
        <p:spPr>
          <a:xfrm>
            <a:off x="5461704" y="3701858"/>
            <a:ext cx="2731089" cy="389334"/>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New Model:</a:t>
            </a:r>
            <a:r>
              <a:rPr b="0" i="0" lang="en-US" sz="1050" u="none" cap="none" strike="noStrike">
                <a:solidFill>
                  <a:srgbClr val="FFFFFF"/>
                </a:solidFill>
                <a:latin typeface="Calibri"/>
                <a:ea typeface="Calibri"/>
                <a:cs typeface="Calibri"/>
                <a:sym typeface="Calibri"/>
              </a:rPr>
              <a:t> Selling outcomes to agents.</a:t>
            </a:r>
            <a:br>
              <a:rPr b="0" i="0" lang="en-US" sz="1050" u="none" cap="none" strike="noStrike">
                <a:solidFill>
                  <a:srgbClr val="FFFFFF"/>
                </a:solidFill>
                <a:latin typeface="Calibri"/>
                <a:ea typeface="Calibri"/>
                <a:cs typeface="Calibri"/>
                <a:sym typeface="Calibri"/>
              </a:rPr>
            </a:br>
            <a:r>
              <a:rPr b="0" i="0" lang="en-US" sz="1050" u="none" cap="none" strike="noStrike">
                <a:solidFill>
                  <a:srgbClr val="FFFFFF"/>
                </a:solidFill>
                <a:latin typeface="Calibri"/>
                <a:ea typeface="Calibri"/>
                <a:cs typeface="Calibri"/>
                <a:sym typeface="Calibri"/>
              </a:rPr>
              <a:t> </a:t>
            </a:r>
            <a:r>
              <a:rPr b="0" i="0" lang="en-US" sz="834" u="none" cap="none" strike="noStrike">
                <a:solidFill>
                  <a:srgbClr val="A0AAB5"/>
                </a:solidFill>
                <a:latin typeface="Calibri"/>
                <a:ea typeface="Calibri"/>
                <a:cs typeface="Calibri"/>
                <a:sym typeface="Calibri"/>
              </a:rPr>
              <a:t>Unlimited scale.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descr="preencoded.png" id="114" name="Google Shape;114;p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15" name="Google Shape;115;p7"/>
          <p:cNvSpPr/>
          <p:nvPr/>
        </p:nvSpPr>
        <p:spPr>
          <a:xfrm>
            <a:off x="571500" y="428625"/>
            <a:ext cx="7143750" cy="408980"/>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Calibri"/>
              <a:buNone/>
            </a:pPr>
            <a:r>
              <a:rPr b="1" i="0" lang="en-US" sz="2121" u="none" cap="none" strike="noStrike">
                <a:solidFill>
                  <a:srgbClr val="FFFFFF"/>
                </a:solidFill>
                <a:latin typeface="Calibri"/>
                <a:ea typeface="Calibri"/>
                <a:cs typeface="Calibri"/>
                <a:sym typeface="Calibri"/>
              </a:rPr>
              <a:t>Why Traditional SDLC Fails with AI</a:t>
            </a:r>
            <a:endParaRPr b="0" i="0" sz="2121" u="none" cap="none" strike="noStrike">
              <a:solidFill>
                <a:schemeClr val="dk1"/>
              </a:solidFill>
              <a:latin typeface="Calibri"/>
              <a:ea typeface="Calibri"/>
              <a:cs typeface="Calibri"/>
              <a:sym typeface="Calibri"/>
            </a:endParaRPr>
          </a:p>
        </p:txBody>
      </p:sp>
      <p:sp>
        <p:nvSpPr>
          <p:cNvPr id="116" name="Google Shape;116;p7"/>
          <p:cNvSpPr/>
          <p:nvPr/>
        </p:nvSpPr>
        <p:spPr>
          <a:xfrm>
            <a:off x="571500" y="1223367"/>
            <a:ext cx="1428750" cy="789384"/>
          </a:xfrm>
          <a:prstGeom prst="rect">
            <a:avLst/>
          </a:prstGeom>
          <a:solidFill>
            <a:srgbClr val="1A2A3A"/>
          </a:solidFill>
          <a:ln cap="flat" cmpd="sng" w="1827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7" name="Google Shape;117;p7"/>
          <p:cNvPicPr preferRelativeResize="0"/>
          <p:nvPr/>
        </p:nvPicPr>
        <p:blipFill rotWithShape="1">
          <a:blip r:embed="rId4">
            <a:alphaModFix/>
          </a:blip>
          <a:srcRect b="0" l="0" r="0" t="0"/>
          <a:stretch/>
        </p:blipFill>
        <p:spPr>
          <a:xfrm>
            <a:off x="1200150" y="1380530"/>
            <a:ext cx="171450" cy="228600"/>
          </a:xfrm>
          <a:prstGeom prst="rect">
            <a:avLst/>
          </a:prstGeom>
          <a:noFill/>
          <a:ln>
            <a:noFill/>
          </a:ln>
        </p:spPr>
      </p:pic>
      <p:sp>
        <p:nvSpPr>
          <p:cNvPr id="118" name="Google Shape;118;p7"/>
          <p:cNvSpPr/>
          <p:nvPr/>
        </p:nvSpPr>
        <p:spPr>
          <a:xfrm>
            <a:off x="714375" y="1680567"/>
            <a:ext cx="1143000" cy="175022"/>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Requirements</a:t>
            </a:r>
            <a:endParaRPr b="0" i="0" sz="885" u="none" cap="none" strike="noStrike">
              <a:solidFill>
                <a:schemeClr val="dk1"/>
              </a:solidFill>
              <a:latin typeface="Calibri"/>
              <a:ea typeface="Calibri"/>
              <a:cs typeface="Calibri"/>
              <a:sym typeface="Calibri"/>
            </a:endParaRPr>
          </a:p>
        </p:txBody>
      </p:sp>
      <p:sp>
        <p:nvSpPr>
          <p:cNvPr id="119" name="Google Shape;119;p7"/>
          <p:cNvSpPr/>
          <p:nvPr/>
        </p:nvSpPr>
        <p:spPr>
          <a:xfrm>
            <a:off x="2366953" y="1332309"/>
            <a:ext cx="28575" cy="571500"/>
          </a:xfrm>
          <a:prstGeom prst="rect">
            <a:avLst/>
          </a:pr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0" name="Google Shape;120;p7"/>
          <p:cNvPicPr preferRelativeResize="0"/>
          <p:nvPr/>
        </p:nvPicPr>
        <p:blipFill rotWithShape="1">
          <a:blip r:embed="rId5">
            <a:alphaModFix/>
          </a:blip>
          <a:srcRect b="0" l="0" r="0" t="0"/>
          <a:stretch/>
        </p:blipFill>
        <p:spPr>
          <a:xfrm>
            <a:off x="2274084" y="1510903"/>
            <a:ext cx="214313" cy="214313"/>
          </a:xfrm>
          <a:prstGeom prst="rect">
            <a:avLst/>
          </a:prstGeom>
          <a:noFill/>
          <a:ln>
            <a:noFill/>
          </a:ln>
        </p:spPr>
      </p:pic>
      <p:sp>
        <p:nvSpPr>
          <p:cNvPr id="121" name="Google Shape;121;p7"/>
          <p:cNvSpPr/>
          <p:nvPr/>
        </p:nvSpPr>
        <p:spPr>
          <a:xfrm>
            <a:off x="2762231" y="1223367"/>
            <a:ext cx="1428750" cy="789384"/>
          </a:xfrm>
          <a:prstGeom prst="rect">
            <a:avLst/>
          </a:prstGeom>
          <a:solidFill>
            <a:srgbClr val="1A2A3A"/>
          </a:solidFill>
          <a:ln cap="flat" cmpd="sng" w="1827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2" name="Google Shape;122;p7"/>
          <p:cNvPicPr preferRelativeResize="0"/>
          <p:nvPr/>
        </p:nvPicPr>
        <p:blipFill rotWithShape="1">
          <a:blip r:embed="rId6">
            <a:alphaModFix/>
          </a:blip>
          <a:srcRect b="0" l="0" r="0" t="0"/>
          <a:stretch/>
        </p:blipFill>
        <p:spPr>
          <a:xfrm>
            <a:off x="3362306" y="1380530"/>
            <a:ext cx="228600" cy="228600"/>
          </a:xfrm>
          <a:prstGeom prst="rect">
            <a:avLst/>
          </a:prstGeom>
          <a:noFill/>
          <a:ln>
            <a:noFill/>
          </a:ln>
        </p:spPr>
      </p:pic>
      <p:sp>
        <p:nvSpPr>
          <p:cNvPr id="123" name="Google Shape;123;p7"/>
          <p:cNvSpPr/>
          <p:nvPr/>
        </p:nvSpPr>
        <p:spPr>
          <a:xfrm>
            <a:off x="2905106" y="1680567"/>
            <a:ext cx="1143000" cy="175022"/>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Design</a:t>
            </a:r>
            <a:endParaRPr b="0" i="0" sz="885" u="none" cap="none" strike="noStrike">
              <a:solidFill>
                <a:schemeClr val="dk1"/>
              </a:solidFill>
              <a:latin typeface="Calibri"/>
              <a:ea typeface="Calibri"/>
              <a:cs typeface="Calibri"/>
              <a:sym typeface="Calibri"/>
            </a:endParaRPr>
          </a:p>
        </p:txBody>
      </p:sp>
      <p:sp>
        <p:nvSpPr>
          <p:cNvPr id="124" name="Google Shape;124;p7"/>
          <p:cNvSpPr/>
          <p:nvPr/>
        </p:nvSpPr>
        <p:spPr>
          <a:xfrm>
            <a:off x="4557685" y="1332309"/>
            <a:ext cx="28575" cy="571500"/>
          </a:xfrm>
          <a:prstGeom prst="rect">
            <a:avLst/>
          </a:pr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5" name="Google Shape;125;p7"/>
          <p:cNvPicPr preferRelativeResize="0"/>
          <p:nvPr/>
        </p:nvPicPr>
        <p:blipFill rotWithShape="1">
          <a:blip r:embed="rId7">
            <a:alphaModFix/>
          </a:blip>
          <a:srcRect b="0" l="0" r="0" t="0"/>
          <a:stretch/>
        </p:blipFill>
        <p:spPr>
          <a:xfrm>
            <a:off x="4464816" y="1510903"/>
            <a:ext cx="214313" cy="214313"/>
          </a:xfrm>
          <a:prstGeom prst="rect">
            <a:avLst/>
          </a:prstGeom>
          <a:noFill/>
          <a:ln>
            <a:noFill/>
          </a:ln>
        </p:spPr>
      </p:pic>
      <p:sp>
        <p:nvSpPr>
          <p:cNvPr id="126" name="Google Shape;126;p7"/>
          <p:cNvSpPr/>
          <p:nvPr/>
        </p:nvSpPr>
        <p:spPr>
          <a:xfrm>
            <a:off x="4952963" y="1223367"/>
            <a:ext cx="1428750" cy="789384"/>
          </a:xfrm>
          <a:prstGeom prst="rect">
            <a:avLst/>
          </a:prstGeom>
          <a:solidFill>
            <a:srgbClr val="1A2A3A"/>
          </a:solidFill>
          <a:ln cap="flat" cmpd="sng" w="1827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7" name="Google Shape;127;p7"/>
          <p:cNvPicPr preferRelativeResize="0"/>
          <p:nvPr/>
        </p:nvPicPr>
        <p:blipFill rotWithShape="1">
          <a:blip r:embed="rId8">
            <a:alphaModFix/>
          </a:blip>
          <a:srcRect b="0" l="0" r="0" t="0"/>
          <a:stretch/>
        </p:blipFill>
        <p:spPr>
          <a:xfrm>
            <a:off x="5524463" y="1380530"/>
            <a:ext cx="285750" cy="228600"/>
          </a:xfrm>
          <a:prstGeom prst="rect">
            <a:avLst/>
          </a:prstGeom>
          <a:noFill/>
          <a:ln>
            <a:noFill/>
          </a:ln>
        </p:spPr>
      </p:pic>
      <p:sp>
        <p:nvSpPr>
          <p:cNvPr id="128" name="Google Shape;128;p7"/>
          <p:cNvSpPr/>
          <p:nvPr/>
        </p:nvSpPr>
        <p:spPr>
          <a:xfrm>
            <a:off x="5095838" y="1680567"/>
            <a:ext cx="1143000" cy="175022"/>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Code</a:t>
            </a:r>
            <a:endParaRPr b="0" i="0" sz="885" u="none" cap="none" strike="noStrike">
              <a:solidFill>
                <a:schemeClr val="dk1"/>
              </a:solidFill>
              <a:latin typeface="Calibri"/>
              <a:ea typeface="Calibri"/>
              <a:cs typeface="Calibri"/>
              <a:sym typeface="Calibri"/>
            </a:endParaRPr>
          </a:p>
        </p:txBody>
      </p:sp>
      <p:sp>
        <p:nvSpPr>
          <p:cNvPr id="129" name="Google Shape;129;p7"/>
          <p:cNvSpPr/>
          <p:nvPr/>
        </p:nvSpPr>
        <p:spPr>
          <a:xfrm>
            <a:off x="6748416" y="1332309"/>
            <a:ext cx="28575" cy="571500"/>
          </a:xfrm>
          <a:prstGeom prst="rect">
            <a:avLst/>
          </a:pr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0" name="Google Shape;130;p7"/>
          <p:cNvPicPr preferRelativeResize="0"/>
          <p:nvPr/>
        </p:nvPicPr>
        <p:blipFill rotWithShape="1">
          <a:blip r:embed="rId9">
            <a:alphaModFix/>
          </a:blip>
          <a:srcRect b="0" l="0" r="0" t="0"/>
          <a:stretch/>
        </p:blipFill>
        <p:spPr>
          <a:xfrm>
            <a:off x="6655547" y="1510903"/>
            <a:ext cx="214313" cy="214313"/>
          </a:xfrm>
          <a:prstGeom prst="rect">
            <a:avLst/>
          </a:prstGeom>
          <a:noFill/>
          <a:ln>
            <a:noFill/>
          </a:ln>
        </p:spPr>
      </p:pic>
      <p:sp>
        <p:nvSpPr>
          <p:cNvPr id="131" name="Google Shape;131;p7"/>
          <p:cNvSpPr/>
          <p:nvPr/>
        </p:nvSpPr>
        <p:spPr>
          <a:xfrm>
            <a:off x="7143694" y="1223367"/>
            <a:ext cx="1428750" cy="789384"/>
          </a:xfrm>
          <a:prstGeom prst="rect">
            <a:avLst/>
          </a:prstGeom>
          <a:solidFill>
            <a:srgbClr val="1A2A3A"/>
          </a:solidFill>
          <a:ln cap="flat" cmpd="sng" w="1827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2" name="Google Shape;132;p7"/>
          <p:cNvPicPr preferRelativeResize="0"/>
          <p:nvPr/>
        </p:nvPicPr>
        <p:blipFill rotWithShape="1">
          <a:blip r:embed="rId10">
            <a:alphaModFix/>
          </a:blip>
          <a:srcRect b="0" l="0" r="0" t="0"/>
          <a:stretch/>
        </p:blipFill>
        <p:spPr>
          <a:xfrm>
            <a:off x="7743769" y="1366242"/>
            <a:ext cx="228600" cy="228600"/>
          </a:xfrm>
          <a:prstGeom prst="rect">
            <a:avLst/>
          </a:prstGeom>
          <a:noFill/>
          <a:ln>
            <a:noFill/>
          </a:ln>
        </p:spPr>
      </p:pic>
      <p:sp>
        <p:nvSpPr>
          <p:cNvPr id="133" name="Google Shape;133;p7"/>
          <p:cNvSpPr/>
          <p:nvPr/>
        </p:nvSpPr>
        <p:spPr>
          <a:xfrm>
            <a:off x="7286569" y="1666280"/>
            <a:ext cx="1143000" cy="175022"/>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Test</a:t>
            </a:r>
            <a:endParaRPr b="0" i="0" sz="885" u="none" cap="none" strike="noStrike">
              <a:solidFill>
                <a:schemeClr val="dk1"/>
              </a:solidFill>
              <a:latin typeface="Calibri"/>
              <a:ea typeface="Calibri"/>
              <a:cs typeface="Calibri"/>
              <a:sym typeface="Calibri"/>
            </a:endParaRPr>
          </a:p>
        </p:txBody>
      </p:sp>
      <p:sp>
        <p:nvSpPr>
          <p:cNvPr id="134" name="Google Shape;134;p7"/>
          <p:cNvSpPr/>
          <p:nvPr/>
        </p:nvSpPr>
        <p:spPr>
          <a:xfrm>
            <a:off x="571500" y="2341364"/>
            <a:ext cx="2524116" cy="1010841"/>
          </a:xfrm>
          <a:prstGeom prst="rect">
            <a:avLst/>
          </a:prstGeom>
          <a:solidFill>
            <a:srgbClr val="FF5252">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p:nvPr/>
        </p:nvSpPr>
        <p:spPr>
          <a:xfrm>
            <a:off x="571500" y="2341364"/>
            <a:ext cx="2524116" cy="28575"/>
          </a:xfrm>
          <a:prstGeom prst="rect">
            <a:avLst/>
          </a:pr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
          <p:cNvSpPr/>
          <p:nvPr/>
        </p:nvSpPr>
        <p:spPr>
          <a:xfrm>
            <a:off x="714375" y="2484239"/>
            <a:ext cx="2238366" cy="175022"/>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5252"/>
              </a:buClr>
              <a:buSzPts val="885"/>
              <a:buFont typeface="Calibri"/>
              <a:buNone/>
            </a:pPr>
            <a:r>
              <a:rPr b="1" i="0" lang="en-US" sz="885" u="none" cap="none" strike="noStrike">
                <a:solidFill>
                  <a:srgbClr val="FF5252"/>
                </a:solidFill>
                <a:latin typeface="Calibri"/>
                <a:ea typeface="Calibri"/>
                <a:cs typeface="Calibri"/>
                <a:sym typeface="Calibri"/>
              </a:rPr>
              <a:t>The Silo Problem</a:t>
            </a:r>
            <a:endParaRPr b="0" i="0" sz="885" u="none" cap="none" strike="noStrike">
              <a:solidFill>
                <a:schemeClr val="dk1"/>
              </a:solidFill>
              <a:latin typeface="Calibri"/>
              <a:ea typeface="Calibri"/>
              <a:cs typeface="Calibri"/>
              <a:sym typeface="Calibri"/>
            </a:endParaRPr>
          </a:p>
        </p:txBody>
      </p:sp>
      <p:sp>
        <p:nvSpPr>
          <p:cNvPr id="137" name="Google Shape;137;p7"/>
          <p:cNvSpPr/>
          <p:nvPr/>
        </p:nvSpPr>
        <p:spPr>
          <a:xfrm>
            <a:off x="714375" y="2730698"/>
            <a:ext cx="2238366" cy="450056"/>
          </a:xfrm>
          <a:prstGeom prst="rect">
            <a:avLst/>
          </a:prstGeom>
          <a:noFill/>
          <a:ln>
            <a:noFill/>
          </a:ln>
        </p:spPr>
        <p:txBody>
          <a:bodyPr anchorCtr="0" anchor="t" bIns="0" lIns="0" spcFirstLastPara="1" rIns="0" wrap="square" tIns="0">
            <a:noAutofit/>
          </a:bodyPr>
          <a:lstStyle/>
          <a:p>
            <a:pPr indent="0" lvl="0" marL="0" marR="0" rtl="0" algn="l">
              <a:lnSpc>
                <a:spcPct val="165061"/>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Traditional phases are disconnected. AI developers (Agents) cannot "walk over to the designer's desk" to clarify a mockup.</a:t>
            </a:r>
            <a:endParaRPr b="0" i="0" sz="727" u="none" cap="none" strike="noStrike">
              <a:solidFill>
                <a:schemeClr val="dk1"/>
              </a:solidFill>
              <a:latin typeface="Calibri"/>
              <a:ea typeface="Calibri"/>
              <a:cs typeface="Calibri"/>
              <a:sym typeface="Calibri"/>
            </a:endParaRPr>
          </a:p>
        </p:txBody>
      </p:sp>
      <p:sp>
        <p:nvSpPr>
          <p:cNvPr id="138" name="Google Shape;138;p7"/>
          <p:cNvSpPr/>
          <p:nvPr/>
        </p:nvSpPr>
        <p:spPr>
          <a:xfrm>
            <a:off x="3309928" y="2341364"/>
            <a:ext cx="2524116" cy="1010841"/>
          </a:xfrm>
          <a:prstGeom prst="rect">
            <a:avLst/>
          </a:prstGeom>
          <a:solidFill>
            <a:srgbClr val="FF5252">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p:nvPr/>
        </p:nvSpPr>
        <p:spPr>
          <a:xfrm>
            <a:off x="3309928" y="2341364"/>
            <a:ext cx="2524116" cy="28575"/>
          </a:xfrm>
          <a:prstGeom prst="rect">
            <a:avLst/>
          </a:pr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7"/>
          <p:cNvSpPr/>
          <p:nvPr/>
        </p:nvSpPr>
        <p:spPr>
          <a:xfrm>
            <a:off x="3452803" y="2484239"/>
            <a:ext cx="2238366" cy="175022"/>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5252"/>
              </a:buClr>
              <a:buSzPts val="885"/>
              <a:buFont typeface="Calibri"/>
              <a:buNone/>
            </a:pPr>
            <a:r>
              <a:rPr b="1" i="0" lang="en-US" sz="885" u="none" cap="none" strike="noStrike">
                <a:solidFill>
                  <a:srgbClr val="FF5252"/>
                </a:solidFill>
                <a:latin typeface="Calibri"/>
                <a:ea typeface="Calibri"/>
                <a:cs typeface="Calibri"/>
                <a:sym typeface="Calibri"/>
              </a:rPr>
              <a:t>The Context Gap</a:t>
            </a:r>
            <a:endParaRPr b="0" i="0" sz="885" u="none" cap="none" strike="noStrike">
              <a:solidFill>
                <a:schemeClr val="dk1"/>
              </a:solidFill>
              <a:latin typeface="Calibri"/>
              <a:ea typeface="Calibri"/>
              <a:cs typeface="Calibri"/>
              <a:sym typeface="Calibri"/>
            </a:endParaRPr>
          </a:p>
        </p:txBody>
      </p:sp>
      <p:sp>
        <p:nvSpPr>
          <p:cNvPr id="141" name="Google Shape;141;p7"/>
          <p:cNvSpPr/>
          <p:nvPr/>
        </p:nvSpPr>
        <p:spPr>
          <a:xfrm>
            <a:off x="3452803" y="2730698"/>
            <a:ext cx="2238366" cy="450056"/>
          </a:xfrm>
          <a:prstGeom prst="rect">
            <a:avLst/>
          </a:prstGeom>
          <a:noFill/>
          <a:ln>
            <a:noFill/>
          </a:ln>
        </p:spPr>
        <p:txBody>
          <a:bodyPr anchorCtr="0" anchor="t" bIns="0" lIns="0" spcFirstLastPara="1" rIns="0" wrap="square" tIns="0">
            <a:noAutofit/>
          </a:bodyPr>
          <a:lstStyle/>
          <a:p>
            <a:pPr indent="0" lvl="0" marL="0" marR="0" rtl="0" algn="l">
              <a:lnSpc>
                <a:spcPct val="165061"/>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Information is lost at every handoff. Verbal agreements and Slack threads are invisible to the AI, leading to "hallucinated" requirements.</a:t>
            </a:r>
            <a:endParaRPr b="0" i="0" sz="727" u="none" cap="none" strike="noStrike">
              <a:solidFill>
                <a:schemeClr val="dk1"/>
              </a:solidFill>
              <a:latin typeface="Calibri"/>
              <a:ea typeface="Calibri"/>
              <a:cs typeface="Calibri"/>
              <a:sym typeface="Calibri"/>
            </a:endParaRPr>
          </a:p>
        </p:txBody>
      </p:sp>
      <p:sp>
        <p:nvSpPr>
          <p:cNvPr id="142" name="Google Shape;142;p7"/>
          <p:cNvSpPr/>
          <p:nvPr/>
        </p:nvSpPr>
        <p:spPr>
          <a:xfrm>
            <a:off x="6048356" y="2341364"/>
            <a:ext cx="2524144" cy="1010841"/>
          </a:xfrm>
          <a:prstGeom prst="rect">
            <a:avLst/>
          </a:prstGeom>
          <a:solidFill>
            <a:srgbClr val="FF5252">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
          <p:cNvSpPr/>
          <p:nvPr/>
        </p:nvSpPr>
        <p:spPr>
          <a:xfrm>
            <a:off x="6048356" y="2341364"/>
            <a:ext cx="2524144" cy="28575"/>
          </a:xfrm>
          <a:prstGeom prst="rect">
            <a:avLst/>
          </a:pr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7"/>
          <p:cNvSpPr/>
          <p:nvPr/>
        </p:nvSpPr>
        <p:spPr>
          <a:xfrm>
            <a:off x="6191231" y="2484239"/>
            <a:ext cx="2238394" cy="175022"/>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5252"/>
              </a:buClr>
              <a:buSzPts val="885"/>
              <a:buFont typeface="Calibri"/>
              <a:buNone/>
            </a:pPr>
            <a:r>
              <a:rPr b="1" i="0" lang="en-US" sz="885" u="none" cap="none" strike="noStrike">
                <a:solidFill>
                  <a:srgbClr val="FF5252"/>
                </a:solidFill>
                <a:latin typeface="Calibri"/>
                <a:ea typeface="Calibri"/>
                <a:cs typeface="Calibri"/>
                <a:sym typeface="Calibri"/>
              </a:rPr>
              <a:t>No "Spine"</a:t>
            </a:r>
            <a:endParaRPr b="0" i="0" sz="885" u="none" cap="none" strike="noStrike">
              <a:solidFill>
                <a:schemeClr val="dk1"/>
              </a:solidFill>
              <a:latin typeface="Calibri"/>
              <a:ea typeface="Calibri"/>
              <a:cs typeface="Calibri"/>
              <a:sym typeface="Calibri"/>
            </a:endParaRPr>
          </a:p>
        </p:txBody>
      </p:sp>
      <p:sp>
        <p:nvSpPr>
          <p:cNvPr id="145" name="Google Shape;145;p7"/>
          <p:cNvSpPr/>
          <p:nvPr/>
        </p:nvSpPr>
        <p:spPr>
          <a:xfrm>
            <a:off x="6191231" y="2730698"/>
            <a:ext cx="2238394" cy="450056"/>
          </a:xfrm>
          <a:prstGeom prst="rect">
            <a:avLst/>
          </a:prstGeom>
          <a:noFill/>
          <a:ln>
            <a:noFill/>
          </a:ln>
        </p:spPr>
        <p:txBody>
          <a:bodyPr anchorCtr="0" anchor="t" bIns="0" lIns="0" spcFirstLastPara="1" rIns="0" wrap="square" tIns="0">
            <a:noAutofit/>
          </a:bodyPr>
          <a:lstStyle/>
          <a:p>
            <a:pPr indent="0" lvl="0" marL="0" marR="0" rtl="0" algn="l">
              <a:lnSpc>
                <a:spcPct val="165061"/>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There is no digital thread connecting the User Story to the specific Line of Code. When the story changes, the code doesn't know.</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descr="preencoded.png" id="151" name="Google Shape;151;p8"/>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152" name="Google Shape;152;p8"/>
          <p:cNvPicPr preferRelativeResize="0"/>
          <p:nvPr/>
        </p:nvPicPr>
        <p:blipFill rotWithShape="1">
          <a:blip r:embed="rId4">
            <a:alphaModFix/>
          </a:blip>
          <a:srcRect b="0" l="0" r="0" t="0"/>
          <a:stretch/>
        </p:blipFill>
        <p:spPr>
          <a:xfrm>
            <a:off x="4125516" y="1163538"/>
            <a:ext cx="892969" cy="714375"/>
          </a:xfrm>
          <a:prstGeom prst="rect">
            <a:avLst/>
          </a:prstGeom>
          <a:noFill/>
          <a:ln>
            <a:noFill/>
          </a:ln>
        </p:spPr>
      </p:pic>
      <p:sp>
        <p:nvSpPr>
          <p:cNvPr id="153" name="Google Shape;153;p8"/>
          <p:cNvSpPr/>
          <p:nvPr/>
        </p:nvSpPr>
        <p:spPr>
          <a:xfrm>
            <a:off x="3306440" y="2285107"/>
            <a:ext cx="2531120" cy="544711"/>
          </a:xfrm>
          <a:prstGeom prst="rect">
            <a:avLst/>
          </a:prstGeom>
          <a:noFill/>
          <a:ln>
            <a:noFill/>
          </a:ln>
        </p:spPr>
        <p:txBody>
          <a:bodyPr anchorCtr="0" anchor="t" bIns="0" lIns="0" spcFirstLastPara="1" rIns="0" wrap="square" tIns="0">
            <a:noAutofit/>
          </a:bodyPr>
          <a:lstStyle/>
          <a:p>
            <a:pPr indent="0" lvl="0" marL="0" marR="0" rtl="0" algn="ctr">
              <a:lnSpc>
                <a:spcPct val="132774"/>
              </a:lnSpc>
              <a:spcBef>
                <a:spcPts val="0"/>
              </a:spcBef>
              <a:spcAft>
                <a:spcPts val="0"/>
              </a:spcAft>
              <a:buClr>
                <a:srgbClr val="FFFFFF"/>
              </a:buClr>
              <a:buSzPts val="2862"/>
              <a:buFont typeface="Calibri"/>
              <a:buNone/>
            </a:pPr>
            <a:r>
              <a:rPr b="1" i="0" lang="en-US" sz="2862" u="none" cap="none" strike="noStrike">
                <a:solidFill>
                  <a:srgbClr val="FFFFFF"/>
                </a:solidFill>
                <a:latin typeface="Calibri"/>
                <a:ea typeface="Calibri"/>
                <a:cs typeface="Calibri"/>
                <a:sym typeface="Calibri"/>
              </a:rPr>
              <a:t>The Solution</a:t>
            </a:r>
            <a:endParaRPr b="0" i="0" sz="2862" u="none" cap="none" strike="noStrike">
              <a:solidFill>
                <a:schemeClr val="dk1"/>
              </a:solidFill>
              <a:latin typeface="Calibri"/>
              <a:ea typeface="Calibri"/>
              <a:cs typeface="Calibri"/>
              <a:sym typeface="Calibri"/>
            </a:endParaRPr>
          </a:p>
        </p:txBody>
      </p:sp>
      <p:sp>
        <p:nvSpPr>
          <p:cNvPr id="154" name="Google Shape;154;p8"/>
          <p:cNvSpPr/>
          <p:nvPr/>
        </p:nvSpPr>
        <p:spPr>
          <a:xfrm>
            <a:off x="2552272" y="2972693"/>
            <a:ext cx="4039428" cy="312539"/>
          </a:xfrm>
          <a:prstGeom prst="rect">
            <a:avLst/>
          </a:prstGeom>
          <a:noFill/>
          <a:ln>
            <a:noFill/>
          </a:ln>
        </p:spPr>
        <p:txBody>
          <a:bodyPr anchorCtr="0" anchor="t" bIns="0" lIns="0" spcFirstLastPara="1" rIns="0" wrap="square" tIns="0">
            <a:noAutofit/>
          </a:bodyPr>
          <a:lstStyle/>
          <a:p>
            <a:pPr indent="0" lvl="0" marL="0" marR="0" rtl="0" algn="ctr">
              <a:lnSpc>
                <a:spcPct val="129107"/>
              </a:lnSpc>
              <a:spcBef>
                <a:spcPts val="0"/>
              </a:spcBef>
              <a:spcAft>
                <a:spcPts val="0"/>
              </a:spcAft>
              <a:buClr>
                <a:srgbClr val="00C853"/>
              </a:buClr>
              <a:buSzPts val="1704"/>
              <a:buFont typeface="Calibri"/>
              <a:buNone/>
            </a:pPr>
            <a:r>
              <a:rPr b="0" i="0" lang="en-US" sz="1704" u="none" cap="none" strike="noStrike">
                <a:solidFill>
                  <a:srgbClr val="00C853"/>
                </a:solidFill>
                <a:latin typeface="Calibri"/>
                <a:ea typeface="Calibri"/>
                <a:cs typeface="Calibri"/>
                <a:sym typeface="Calibri"/>
              </a:rPr>
              <a:t>SDLC Agents &amp; The Builder Mindset</a:t>
            </a:r>
            <a:endParaRPr b="0" i="0" sz="1704" u="none" cap="none" strike="noStrike">
              <a:solidFill>
                <a:schemeClr val="dk1"/>
              </a:solidFill>
              <a:latin typeface="Calibri"/>
              <a:ea typeface="Calibri"/>
              <a:cs typeface="Calibri"/>
              <a:sym typeface="Calibri"/>
            </a:endParaRPr>
          </a:p>
        </p:txBody>
      </p:sp>
      <p:sp>
        <p:nvSpPr>
          <p:cNvPr id="155" name="Google Shape;155;p8"/>
          <p:cNvSpPr/>
          <p:nvPr/>
        </p:nvSpPr>
        <p:spPr>
          <a:xfrm>
            <a:off x="2110671" y="3713857"/>
            <a:ext cx="1500104" cy="403622"/>
          </a:xfrm>
          <a:prstGeom prst="roundRect">
            <a:avLst>
              <a:gd fmla="val 16667" name="adj"/>
            </a:avLst>
          </a:prstGeom>
          <a:solidFill>
            <a:srgbClr val="FFFFFF">
              <a:alpha val="5098"/>
            </a:srgbClr>
          </a:solidFill>
          <a:ln cap="flat" cmpd="sng" w="9525">
            <a:solidFill>
              <a:srgbClr val="00BFFF">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6" name="Google Shape;156;p8"/>
          <p:cNvPicPr preferRelativeResize="0"/>
          <p:nvPr/>
        </p:nvPicPr>
        <p:blipFill rotWithShape="1">
          <a:blip r:embed="rId5">
            <a:alphaModFix/>
          </a:blip>
          <a:srcRect b="0" l="0" r="0" t="0"/>
          <a:stretch/>
        </p:blipFill>
        <p:spPr>
          <a:xfrm>
            <a:off x="2332127" y="3851374"/>
            <a:ext cx="160734" cy="128588"/>
          </a:xfrm>
          <a:prstGeom prst="rect">
            <a:avLst/>
          </a:prstGeom>
          <a:noFill/>
          <a:ln>
            <a:noFill/>
          </a:ln>
        </p:spPr>
      </p:pic>
      <p:sp>
        <p:nvSpPr>
          <p:cNvPr id="157" name="Google Shape;157;p8"/>
          <p:cNvSpPr/>
          <p:nvPr/>
        </p:nvSpPr>
        <p:spPr>
          <a:xfrm>
            <a:off x="2564299" y="3828157"/>
            <a:ext cx="825019" cy="175022"/>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Specialization</a:t>
            </a:r>
            <a:endParaRPr b="0" i="0" sz="942" u="none" cap="none" strike="noStrike">
              <a:solidFill>
                <a:schemeClr val="dk1"/>
              </a:solidFill>
              <a:latin typeface="Calibri"/>
              <a:ea typeface="Calibri"/>
              <a:cs typeface="Calibri"/>
              <a:sym typeface="Calibri"/>
            </a:endParaRPr>
          </a:p>
        </p:txBody>
      </p:sp>
      <p:sp>
        <p:nvSpPr>
          <p:cNvPr id="158" name="Google Shape;158;p8"/>
          <p:cNvSpPr/>
          <p:nvPr/>
        </p:nvSpPr>
        <p:spPr>
          <a:xfrm>
            <a:off x="3889381" y="3713857"/>
            <a:ext cx="1491230" cy="403622"/>
          </a:xfrm>
          <a:prstGeom prst="roundRect">
            <a:avLst>
              <a:gd fmla="val 16667" name="adj"/>
            </a:avLst>
          </a:prstGeom>
          <a:solidFill>
            <a:srgbClr val="FFFFFF">
              <a:alpha val="5098"/>
            </a:srgbClr>
          </a:solidFill>
          <a:ln cap="flat" cmpd="sng" w="9525">
            <a:solidFill>
              <a:srgbClr val="00BFFF">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9" name="Google Shape;159;p8"/>
          <p:cNvPicPr preferRelativeResize="0"/>
          <p:nvPr/>
        </p:nvPicPr>
        <p:blipFill rotWithShape="1">
          <a:blip r:embed="rId6">
            <a:alphaModFix/>
          </a:blip>
          <a:srcRect b="0" l="0" r="0" t="0"/>
          <a:stretch/>
        </p:blipFill>
        <p:spPr>
          <a:xfrm>
            <a:off x="4110837" y="3851374"/>
            <a:ext cx="144661" cy="128588"/>
          </a:xfrm>
          <a:prstGeom prst="rect">
            <a:avLst/>
          </a:prstGeom>
          <a:noFill/>
          <a:ln>
            <a:noFill/>
          </a:ln>
        </p:spPr>
      </p:pic>
      <p:sp>
        <p:nvSpPr>
          <p:cNvPr id="160" name="Google Shape;160;p8"/>
          <p:cNvSpPr/>
          <p:nvPr/>
        </p:nvSpPr>
        <p:spPr>
          <a:xfrm>
            <a:off x="4326936" y="3828157"/>
            <a:ext cx="832219" cy="175022"/>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Orchestration</a:t>
            </a:r>
            <a:endParaRPr b="0" i="0" sz="942" u="none" cap="none" strike="noStrike">
              <a:solidFill>
                <a:schemeClr val="dk1"/>
              </a:solidFill>
              <a:latin typeface="Calibri"/>
              <a:ea typeface="Calibri"/>
              <a:cs typeface="Calibri"/>
              <a:sym typeface="Calibri"/>
            </a:endParaRPr>
          </a:p>
        </p:txBody>
      </p:sp>
      <p:sp>
        <p:nvSpPr>
          <p:cNvPr id="161" name="Google Shape;161;p8"/>
          <p:cNvSpPr/>
          <p:nvPr/>
        </p:nvSpPr>
        <p:spPr>
          <a:xfrm>
            <a:off x="5659217" y="3713857"/>
            <a:ext cx="1359824" cy="403622"/>
          </a:xfrm>
          <a:prstGeom prst="roundRect">
            <a:avLst>
              <a:gd fmla="val 16667" name="adj"/>
            </a:avLst>
          </a:prstGeom>
          <a:solidFill>
            <a:srgbClr val="FFFFFF">
              <a:alpha val="5098"/>
            </a:srgbClr>
          </a:solidFill>
          <a:ln cap="flat" cmpd="sng" w="9525">
            <a:solidFill>
              <a:srgbClr val="00BFFF">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2" name="Google Shape;162;p8"/>
          <p:cNvPicPr preferRelativeResize="0"/>
          <p:nvPr/>
        </p:nvPicPr>
        <p:blipFill rotWithShape="1">
          <a:blip r:embed="rId7">
            <a:alphaModFix/>
          </a:blip>
          <a:srcRect b="0" l="0" r="0" t="0"/>
          <a:stretch/>
        </p:blipFill>
        <p:spPr>
          <a:xfrm>
            <a:off x="5880674" y="3851374"/>
            <a:ext cx="160734" cy="128588"/>
          </a:xfrm>
          <a:prstGeom prst="rect">
            <a:avLst/>
          </a:prstGeom>
          <a:noFill/>
          <a:ln>
            <a:noFill/>
          </a:ln>
        </p:spPr>
      </p:pic>
      <p:sp>
        <p:nvSpPr>
          <p:cNvPr id="163" name="Google Shape;163;p8"/>
          <p:cNvSpPr/>
          <p:nvPr/>
        </p:nvSpPr>
        <p:spPr>
          <a:xfrm>
            <a:off x="6112845" y="3828157"/>
            <a:ext cx="684740" cy="175022"/>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Traceability</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descr="preencoded.png" id="169" name="Google Shape;169;p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70" name="Google Shape;170;p9"/>
          <p:cNvSpPr/>
          <p:nvPr/>
        </p:nvSpPr>
        <p:spPr>
          <a:xfrm>
            <a:off x="571500" y="428625"/>
            <a:ext cx="7143750" cy="408980"/>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Calibri"/>
              <a:buNone/>
            </a:pPr>
            <a:r>
              <a:rPr b="1" i="0" lang="en-US" sz="2121" u="none" cap="none" strike="noStrike">
                <a:solidFill>
                  <a:srgbClr val="FFFFFF"/>
                </a:solidFill>
                <a:latin typeface="Calibri"/>
                <a:ea typeface="Calibri"/>
                <a:cs typeface="Calibri"/>
                <a:sym typeface="Calibri"/>
              </a:rPr>
              <a:t>Why Sub-Agents? The Power of Specialization</a:t>
            </a:r>
            <a:endParaRPr b="0" i="0" sz="2121" u="none" cap="none" strike="noStrike">
              <a:solidFill>
                <a:schemeClr val="dk1"/>
              </a:solidFill>
              <a:latin typeface="Calibri"/>
              <a:ea typeface="Calibri"/>
              <a:cs typeface="Calibri"/>
              <a:sym typeface="Calibri"/>
            </a:endParaRPr>
          </a:p>
        </p:txBody>
      </p:sp>
      <p:sp>
        <p:nvSpPr>
          <p:cNvPr id="171" name="Google Shape;171;p9"/>
          <p:cNvSpPr/>
          <p:nvPr/>
        </p:nvSpPr>
        <p:spPr>
          <a:xfrm>
            <a:off x="4357688" y="2421731"/>
            <a:ext cx="428625" cy="428625"/>
          </a:xfrm>
          <a:prstGeom prst="ellipse">
            <a:avLst/>
          </a:prstGeom>
          <a:solidFill>
            <a:srgbClr val="0D1B2E"/>
          </a:solidFill>
          <a:ln cap="flat" cmpd="sng" w="27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9"/>
          <p:cNvSpPr/>
          <p:nvPr/>
        </p:nvSpPr>
        <p:spPr>
          <a:xfrm>
            <a:off x="4357688" y="2421731"/>
            <a:ext cx="428625" cy="428625"/>
          </a:xfrm>
          <a:prstGeom prst="rect">
            <a:avLst/>
          </a:prstGeom>
          <a:noFill/>
          <a:ln>
            <a:noFill/>
          </a:ln>
        </p:spPr>
        <p:txBody>
          <a:bodyPr anchorCtr="0" anchor="ctr" bIns="0" lIns="0" spcFirstLastPara="1" rIns="0" wrap="square" tIns="0">
            <a:noAutofit/>
          </a:bodyPr>
          <a:lstStyle/>
          <a:p>
            <a:pPr indent="0" lvl="0" marL="0" marR="0" rtl="0" algn="ctr">
              <a:lnSpc>
                <a:spcPct val="141843"/>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VS</a:t>
            </a:r>
            <a:endParaRPr b="0" i="0" sz="987" u="none" cap="none" strike="noStrike">
              <a:solidFill>
                <a:schemeClr val="dk1"/>
              </a:solidFill>
              <a:latin typeface="Calibri"/>
              <a:ea typeface="Calibri"/>
              <a:cs typeface="Calibri"/>
              <a:sym typeface="Calibri"/>
            </a:endParaRPr>
          </a:p>
        </p:txBody>
      </p:sp>
      <p:sp>
        <p:nvSpPr>
          <p:cNvPr id="173" name="Google Shape;173;p9"/>
          <p:cNvSpPr/>
          <p:nvPr/>
        </p:nvSpPr>
        <p:spPr>
          <a:xfrm>
            <a:off x="571500" y="1207294"/>
            <a:ext cx="3857625" cy="2857500"/>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9"/>
          <p:cNvSpPr/>
          <p:nvPr/>
        </p:nvSpPr>
        <p:spPr>
          <a:xfrm>
            <a:off x="571500" y="1207294"/>
            <a:ext cx="3857625" cy="42863"/>
          </a:xfrm>
          <a:prstGeom prst="rect">
            <a:avLst/>
          </a:pr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5" name="Google Shape;175;p9"/>
          <p:cNvPicPr preferRelativeResize="0"/>
          <p:nvPr/>
        </p:nvPicPr>
        <p:blipFill rotWithShape="1">
          <a:blip r:embed="rId4">
            <a:alphaModFix/>
          </a:blip>
          <a:srcRect b="0" l="0" r="0" t="0"/>
          <a:stretch/>
        </p:blipFill>
        <p:spPr>
          <a:xfrm>
            <a:off x="2286000" y="1507331"/>
            <a:ext cx="428625" cy="342900"/>
          </a:xfrm>
          <a:prstGeom prst="rect">
            <a:avLst/>
          </a:prstGeom>
          <a:noFill/>
          <a:ln>
            <a:noFill/>
          </a:ln>
        </p:spPr>
      </p:pic>
      <p:sp>
        <p:nvSpPr>
          <p:cNvPr id="176" name="Google Shape;176;p9"/>
          <p:cNvSpPr/>
          <p:nvPr/>
        </p:nvSpPr>
        <p:spPr>
          <a:xfrm>
            <a:off x="785813" y="1994892"/>
            <a:ext cx="3429000" cy="233958"/>
          </a:xfrm>
          <a:prstGeom prst="rect">
            <a:avLst/>
          </a:prstGeom>
          <a:noFill/>
          <a:ln>
            <a:noFill/>
          </a:ln>
        </p:spPr>
        <p:txBody>
          <a:bodyPr anchorCtr="0" anchor="t" bIns="0" lIns="0" spcFirstLastPara="1" rIns="0" wrap="square" tIns="0">
            <a:noAutofit/>
          </a:bodyPr>
          <a:lstStyle/>
          <a:p>
            <a:pPr indent="0" lvl="0" marL="0" marR="0" rtl="0" algn="ctr">
              <a:lnSpc>
                <a:spcPct val="134115"/>
              </a:lnSpc>
              <a:spcBef>
                <a:spcPts val="0"/>
              </a:spcBef>
              <a:spcAft>
                <a:spcPts val="0"/>
              </a:spcAft>
              <a:buClr>
                <a:srgbClr val="FF5252"/>
              </a:buClr>
              <a:buSzPts val="1193"/>
              <a:buFont typeface="Calibri"/>
              <a:buNone/>
            </a:pPr>
            <a:r>
              <a:rPr b="1" i="0" lang="en-US" sz="1193" u="none" cap="none" strike="noStrike">
                <a:solidFill>
                  <a:srgbClr val="FF5252"/>
                </a:solidFill>
                <a:latin typeface="Calibri"/>
                <a:ea typeface="Calibri"/>
                <a:cs typeface="Calibri"/>
                <a:sym typeface="Calibri"/>
              </a:rPr>
              <a:t>The Generalist</a:t>
            </a:r>
            <a:endParaRPr b="0" i="0" sz="1193" u="none" cap="none" strike="noStrike">
              <a:solidFill>
                <a:schemeClr val="dk1"/>
              </a:solidFill>
              <a:latin typeface="Calibri"/>
              <a:ea typeface="Calibri"/>
              <a:cs typeface="Calibri"/>
              <a:sym typeface="Calibri"/>
            </a:endParaRPr>
          </a:p>
        </p:txBody>
      </p:sp>
      <p:pic>
        <p:nvPicPr>
          <p:cNvPr descr="preencoded.png" id="177" name="Google Shape;177;p9"/>
          <p:cNvPicPr preferRelativeResize="0"/>
          <p:nvPr/>
        </p:nvPicPr>
        <p:blipFill rotWithShape="1">
          <a:blip r:embed="rId5">
            <a:alphaModFix/>
          </a:blip>
          <a:srcRect b="0" l="0" r="0" t="0"/>
          <a:stretch/>
        </p:blipFill>
        <p:spPr>
          <a:xfrm>
            <a:off x="785813" y="2450306"/>
            <a:ext cx="96441" cy="128588"/>
          </a:xfrm>
          <a:prstGeom prst="rect">
            <a:avLst/>
          </a:prstGeom>
          <a:noFill/>
          <a:ln>
            <a:noFill/>
          </a:ln>
        </p:spPr>
      </p:pic>
      <p:sp>
        <p:nvSpPr>
          <p:cNvPr id="178" name="Google Shape;178;p9"/>
          <p:cNvSpPr/>
          <p:nvPr/>
        </p:nvSpPr>
        <p:spPr>
          <a:xfrm>
            <a:off x="989409" y="2414588"/>
            <a:ext cx="677289" cy="385763"/>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CBD5E1"/>
              </a:buClr>
              <a:buSzPts val="885"/>
              <a:buFont typeface="Calibri"/>
              <a:buNone/>
            </a:pPr>
            <a:r>
              <a:rPr b="1" i="0" lang="en-US" sz="885" u="none" cap="none" strike="noStrike">
                <a:solidFill>
                  <a:srgbClr val="CBD5E1"/>
                </a:solidFill>
                <a:latin typeface="Calibri"/>
                <a:ea typeface="Calibri"/>
                <a:cs typeface="Calibri"/>
                <a:sym typeface="Calibri"/>
              </a:rPr>
              <a:t>Context Pollution:</a:t>
            </a:r>
            <a:endParaRPr b="0" i="0" sz="885" u="none" cap="none" strike="noStrike">
              <a:solidFill>
                <a:schemeClr val="dk1"/>
              </a:solidFill>
              <a:latin typeface="Calibri"/>
              <a:ea typeface="Calibri"/>
              <a:cs typeface="Calibri"/>
              <a:sym typeface="Calibri"/>
            </a:endParaRPr>
          </a:p>
        </p:txBody>
      </p:sp>
      <p:sp>
        <p:nvSpPr>
          <p:cNvPr id="179" name="Google Shape;179;p9"/>
          <p:cNvSpPr/>
          <p:nvPr/>
        </p:nvSpPr>
        <p:spPr>
          <a:xfrm>
            <a:off x="1666698" y="2414588"/>
            <a:ext cx="2548114"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Trying to be PM, Designer, and Coder simultaneously leads to confusion.</a:t>
            </a:r>
            <a:endParaRPr b="0" i="0" sz="942" u="none" cap="none" strike="noStrike">
              <a:solidFill>
                <a:schemeClr val="dk1"/>
              </a:solidFill>
              <a:latin typeface="Calibri"/>
              <a:ea typeface="Calibri"/>
              <a:cs typeface="Calibri"/>
              <a:sym typeface="Calibri"/>
            </a:endParaRPr>
          </a:p>
        </p:txBody>
      </p:sp>
      <p:pic>
        <p:nvPicPr>
          <p:cNvPr descr="preencoded.png" id="180" name="Google Shape;180;p9"/>
          <p:cNvPicPr preferRelativeResize="0"/>
          <p:nvPr/>
        </p:nvPicPr>
        <p:blipFill rotWithShape="1">
          <a:blip r:embed="rId5">
            <a:alphaModFix/>
          </a:blip>
          <a:srcRect b="0" l="0" r="0" t="0"/>
          <a:stretch/>
        </p:blipFill>
        <p:spPr>
          <a:xfrm>
            <a:off x="785813" y="2921794"/>
            <a:ext cx="96441" cy="128588"/>
          </a:xfrm>
          <a:prstGeom prst="rect">
            <a:avLst/>
          </a:prstGeom>
          <a:noFill/>
          <a:ln>
            <a:noFill/>
          </a:ln>
        </p:spPr>
      </p:pic>
      <p:sp>
        <p:nvSpPr>
          <p:cNvPr id="181" name="Google Shape;181;p9"/>
          <p:cNvSpPr/>
          <p:nvPr/>
        </p:nvSpPr>
        <p:spPr>
          <a:xfrm>
            <a:off x="989409" y="2886075"/>
            <a:ext cx="1193257" cy="385763"/>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CBD5E1"/>
              </a:buClr>
              <a:buSzPts val="885"/>
              <a:buFont typeface="Calibri"/>
              <a:buNone/>
            </a:pPr>
            <a:r>
              <a:rPr b="1" i="0" lang="en-US" sz="885" u="none" cap="none" strike="noStrike">
                <a:solidFill>
                  <a:srgbClr val="CBD5E1"/>
                </a:solidFill>
                <a:latin typeface="Calibri"/>
                <a:ea typeface="Calibri"/>
                <a:cs typeface="Calibri"/>
                <a:sym typeface="Calibri"/>
              </a:rPr>
              <a:t>Shallow Reasoning:</a:t>
            </a:r>
            <a:endParaRPr b="0" i="0" sz="885" u="none" cap="none" strike="noStrike">
              <a:solidFill>
                <a:schemeClr val="dk1"/>
              </a:solidFill>
              <a:latin typeface="Calibri"/>
              <a:ea typeface="Calibri"/>
              <a:cs typeface="Calibri"/>
              <a:sym typeface="Calibri"/>
            </a:endParaRPr>
          </a:p>
        </p:txBody>
      </p:sp>
      <p:sp>
        <p:nvSpPr>
          <p:cNvPr id="182" name="Google Shape;182;p9"/>
          <p:cNvSpPr/>
          <p:nvPr/>
        </p:nvSpPr>
        <p:spPr>
          <a:xfrm>
            <a:off x="2182667" y="2886075"/>
            <a:ext cx="2032146"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"Jack of all trades, master of none."</a:t>
            </a:r>
            <a:endParaRPr b="0" i="0" sz="942" u="none" cap="none" strike="noStrike">
              <a:solidFill>
                <a:schemeClr val="dk1"/>
              </a:solidFill>
              <a:latin typeface="Calibri"/>
              <a:ea typeface="Calibri"/>
              <a:cs typeface="Calibri"/>
              <a:sym typeface="Calibri"/>
            </a:endParaRPr>
          </a:p>
        </p:txBody>
      </p:sp>
      <p:pic>
        <p:nvPicPr>
          <p:cNvPr descr="preencoded.png" id="183" name="Google Shape;183;p9"/>
          <p:cNvPicPr preferRelativeResize="0"/>
          <p:nvPr/>
        </p:nvPicPr>
        <p:blipFill rotWithShape="1">
          <a:blip r:embed="rId5">
            <a:alphaModFix/>
          </a:blip>
          <a:srcRect b="0" l="0" r="0" t="0"/>
          <a:stretch/>
        </p:blipFill>
        <p:spPr>
          <a:xfrm>
            <a:off x="785813" y="3393281"/>
            <a:ext cx="96441" cy="128588"/>
          </a:xfrm>
          <a:prstGeom prst="rect">
            <a:avLst/>
          </a:prstGeom>
          <a:noFill/>
          <a:ln>
            <a:noFill/>
          </a:ln>
        </p:spPr>
      </p:pic>
      <p:sp>
        <p:nvSpPr>
          <p:cNvPr id="184" name="Google Shape;184;p9"/>
          <p:cNvSpPr/>
          <p:nvPr/>
        </p:nvSpPr>
        <p:spPr>
          <a:xfrm>
            <a:off x="989409" y="3357563"/>
            <a:ext cx="334975"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CBD5E1"/>
              </a:buClr>
              <a:buSzPts val="885"/>
              <a:buFont typeface="Calibri"/>
              <a:buNone/>
            </a:pPr>
            <a:r>
              <a:rPr b="1" i="0" lang="en-US" sz="885" u="none" cap="none" strike="noStrike">
                <a:solidFill>
                  <a:srgbClr val="CBD5E1"/>
                </a:solidFill>
                <a:latin typeface="Calibri"/>
                <a:ea typeface="Calibri"/>
                <a:cs typeface="Calibri"/>
                <a:sym typeface="Calibri"/>
              </a:rPr>
              <a:t>Drift:</a:t>
            </a:r>
            <a:endParaRPr b="0" i="0" sz="885" u="none" cap="none" strike="noStrike">
              <a:solidFill>
                <a:schemeClr val="dk1"/>
              </a:solidFill>
              <a:latin typeface="Calibri"/>
              <a:ea typeface="Calibri"/>
              <a:cs typeface="Calibri"/>
              <a:sym typeface="Calibri"/>
            </a:endParaRPr>
          </a:p>
        </p:txBody>
      </p:sp>
      <p:sp>
        <p:nvSpPr>
          <p:cNvPr id="185" name="Google Shape;185;p9"/>
          <p:cNvSpPr/>
          <p:nvPr/>
        </p:nvSpPr>
        <p:spPr>
          <a:xfrm>
            <a:off x="1324384" y="3357563"/>
            <a:ext cx="2890428"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Forgets the original requirement as the conversation grows.</a:t>
            </a:r>
            <a:endParaRPr b="0" i="0" sz="942" u="none" cap="none" strike="noStrike">
              <a:solidFill>
                <a:schemeClr val="dk1"/>
              </a:solidFill>
              <a:latin typeface="Calibri"/>
              <a:ea typeface="Calibri"/>
              <a:cs typeface="Calibri"/>
              <a:sym typeface="Calibri"/>
            </a:endParaRPr>
          </a:p>
        </p:txBody>
      </p:sp>
      <p:sp>
        <p:nvSpPr>
          <p:cNvPr id="186" name="Google Shape;186;p9"/>
          <p:cNvSpPr/>
          <p:nvPr/>
        </p:nvSpPr>
        <p:spPr>
          <a:xfrm>
            <a:off x="4714875" y="1207294"/>
            <a:ext cx="3857625" cy="2857500"/>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
          <p:cNvSpPr/>
          <p:nvPr/>
        </p:nvSpPr>
        <p:spPr>
          <a:xfrm>
            <a:off x="4714875" y="1207294"/>
            <a:ext cx="3857625" cy="42863"/>
          </a:xfrm>
          <a:prstGeom prst="rect">
            <a:avLst/>
          </a:prstGeom>
          <a:solidFill>
            <a:srgbClr val="00C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8" name="Google Shape;188;p9"/>
          <p:cNvPicPr preferRelativeResize="0"/>
          <p:nvPr/>
        </p:nvPicPr>
        <p:blipFill rotWithShape="1">
          <a:blip r:embed="rId6">
            <a:alphaModFix/>
          </a:blip>
          <a:srcRect b="0" l="0" r="0" t="0"/>
          <a:stretch/>
        </p:blipFill>
        <p:spPr>
          <a:xfrm>
            <a:off x="6429375" y="1507331"/>
            <a:ext cx="428625" cy="342900"/>
          </a:xfrm>
          <a:prstGeom prst="rect">
            <a:avLst/>
          </a:prstGeom>
          <a:noFill/>
          <a:ln>
            <a:noFill/>
          </a:ln>
        </p:spPr>
      </p:pic>
      <p:sp>
        <p:nvSpPr>
          <p:cNvPr id="189" name="Google Shape;189;p9"/>
          <p:cNvSpPr/>
          <p:nvPr/>
        </p:nvSpPr>
        <p:spPr>
          <a:xfrm>
            <a:off x="4929188" y="1994892"/>
            <a:ext cx="3429000" cy="233958"/>
          </a:xfrm>
          <a:prstGeom prst="rect">
            <a:avLst/>
          </a:prstGeom>
          <a:noFill/>
          <a:ln>
            <a:noFill/>
          </a:ln>
        </p:spPr>
        <p:txBody>
          <a:bodyPr anchorCtr="0" anchor="t" bIns="0" lIns="0" spcFirstLastPara="1" rIns="0" wrap="square" tIns="0">
            <a:noAutofit/>
          </a:bodyPr>
          <a:lstStyle/>
          <a:p>
            <a:pPr indent="0" lvl="0" marL="0" marR="0" rtl="0" algn="ctr">
              <a:lnSpc>
                <a:spcPct val="134115"/>
              </a:lnSpc>
              <a:spcBef>
                <a:spcPts val="0"/>
              </a:spcBef>
              <a:spcAft>
                <a:spcPts val="0"/>
              </a:spcAft>
              <a:buClr>
                <a:srgbClr val="00C853"/>
              </a:buClr>
              <a:buSzPts val="1193"/>
              <a:buFont typeface="Calibri"/>
              <a:buNone/>
            </a:pPr>
            <a:r>
              <a:rPr b="1" i="0" lang="en-US" sz="1193" u="none" cap="none" strike="noStrike">
                <a:solidFill>
                  <a:srgbClr val="00C853"/>
                </a:solidFill>
                <a:latin typeface="Calibri"/>
                <a:ea typeface="Calibri"/>
                <a:cs typeface="Calibri"/>
                <a:sym typeface="Calibri"/>
              </a:rPr>
              <a:t>The Specialist Team</a:t>
            </a:r>
            <a:endParaRPr b="0" i="0" sz="1193" u="none" cap="none" strike="noStrike">
              <a:solidFill>
                <a:schemeClr val="dk1"/>
              </a:solidFill>
              <a:latin typeface="Calibri"/>
              <a:ea typeface="Calibri"/>
              <a:cs typeface="Calibri"/>
              <a:sym typeface="Calibri"/>
            </a:endParaRPr>
          </a:p>
        </p:txBody>
      </p:sp>
      <p:pic>
        <p:nvPicPr>
          <p:cNvPr descr="preencoded.png" id="190" name="Google Shape;190;p9"/>
          <p:cNvPicPr preferRelativeResize="0"/>
          <p:nvPr/>
        </p:nvPicPr>
        <p:blipFill rotWithShape="1">
          <a:blip r:embed="rId7">
            <a:alphaModFix/>
          </a:blip>
          <a:srcRect b="0" l="0" r="0" t="0"/>
          <a:stretch/>
        </p:blipFill>
        <p:spPr>
          <a:xfrm>
            <a:off x="4929188" y="2450306"/>
            <a:ext cx="112514" cy="128588"/>
          </a:xfrm>
          <a:prstGeom prst="rect">
            <a:avLst/>
          </a:prstGeom>
          <a:noFill/>
          <a:ln>
            <a:noFill/>
          </a:ln>
        </p:spPr>
      </p:pic>
      <p:sp>
        <p:nvSpPr>
          <p:cNvPr id="191" name="Google Shape;191;p9"/>
          <p:cNvSpPr/>
          <p:nvPr/>
        </p:nvSpPr>
        <p:spPr>
          <a:xfrm>
            <a:off x="5148858" y="2414588"/>
            <a:ext cx="753889" cy="385763"/>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CBD5E1"/>
              </a:buClr>
              <a:buSzPts val="885"/>
              <a:buFont typeface="Calibri"/>
              <a:buNone/>
            </a:pPr>
            <a:r>
              <a:rPr b="1" i="0" lang="en-US" sz="885" u="none" cap="none" strike="noStrike">
                <a:solidFill>
                  <a:srgbClr val="CBD5E1"/>
                </a:solidFill>
                <a:latin typeface="Calibri"/>
                <a:ea typeface="Calibri"/>
                <a:cs typeface="Calibri"/>
                <a:sym typeface="Calibri"/>
              </a:rPr>
              <a:t>Context Isolation:</a:t>
            </a:r>
            <a:endParaRPr b="0" i="0" sz="885" u="none" cap="none" strike="noStrike">
              <a:solidFill>
                <a:schemeClr val="dk1"/>
              </a:solidFill>
              <a:latin typeface="Calibri"/>
              <a:ea typeface="Calibri"/>
              <a:cs typeface="Calibri"/>
              <a:sym typeface="Calibri"/>
            </a:endParaRPr>
          </a:p>
        </p:txBody>
      </p:sp>
      <p:sp>
        <p:nvSpPr>
          <p:cNvPr id="192" name="Google Shape;192;p9"/>
          <p:cNvSpPr/>
          <p:nvPr/>
        </p:nvSpPr>
        <p:spPr>
          <a:xfrm>
            <a:off x="5902747" y="2414588"/>
            <a:ext cx="2455441"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The "SQL Agent" only sees the schema and the query request.</a:t>
            </a:r>
            <a:endParaRPr b="0" i="0" sz="942" u="none" cap="none" strike="noStrike">
              <a:solidFill>
                <a:schemeClr val="dk1"/>
              </a:solidFill>
              <a:latin typeface="Calibri"/>
              <a:ea typeface="Calibri"/>
              <a:cs typeface="Calibri"/>
              <a:sym typeface="Calibri"/>
            </a:endParaRPr>
          </a:p>
        </p:txBody>
      </p:sp>
      <p:pic>
        <p:nvPicPr>
          <p:cNvPr descr="preencoded.png" id="193" name="Google Shape;193;p9"/>
          <p:cNvPicPr preferRelativeResize="0"/>
          <p:nvPr/>
        </p:nvPicPr>
        <p:blipFill rotWithShape="1">
          <a:blip r:embed="rId7">
            <a:alphaModFix/>
          </a:blip>
          <a:srcRect b="0" l="0" r="0" t="0"/>
          <a:stretch/>
        </p:blipFill>
        <p:spPr>
          <a:xfrm>
            <a:off x="4929188" y="2921794"/>
            <a:ext cx="112514" cy="128588"/>
          </a:xfrm>
          <a:prstGeom prst="rect">
            <a:avLst/>
          </a:prstGeom>
          <a:noFill/>
          <a:ln>
            <a:noFill/>
          </a:ln>
        </p:spPr>
      </p:pic>
      <p:sp>
        <p:nvSpPr>
          <p:cNvPr id="194" name="Google Shape;194;p9"/>
          <p:cNvSpPr/>
          <p:nvPr/>
        </p:nvSpPr>
        <p:spPr>
          <a:xfrm>
            <a:off x="5148858" y="2886075"/>
            <a:ext cx="643719" cy="385763"/>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CBD5E1"/>
              </a:buClr>
              <a:buSzPts val="885"/>
              <a:buFont typeface="Calibri"/>
              <a:buNone/>
            </a:pPr>
            <a:r>
              <a:rPr b="1" i="0" lang="en-US" sz="885" u="none" cap="none" strike="noStrike">
                <a:solidFill>
                  <a:srgbClr val="CBD5E1"/>
                </a:solidFill>
                <a:latin typeface="Calibri"/>
                <a:ea typeface="Calibri"/>
                <a:cs typeface="Calibri"/>
                <a:sym typeface="Calibri"/>
              </a:rPr>
              <a:t>Deep Expertise:</a:t>
            </a:r>
            <a:endParaRPr b="0" i="0" sz="885" u="none" cap="none" strike="noStrike">
              <a:solidFill>
                <a:schemeClr val="dk1"/>
              </a:solidFill>
              <a:latin typeface="Calibri"/>
              <a:ea typeface="Calibri"/>
              <a:cs typeface="Calibri"/>
              <a:sym typeface="Calibri"/>
            </a:endParaRPr>
          </a:p>
        </p:txBody>
      </p:sp>
      <p:sp>
        <p:nvSpPr>
          <p:cNvPr id="195" name="Google Shape;195;p9"/>
          <p:cNvSpPr/>
          <p:nvPr/>
        </p:nvSpPr>
        <p:spPr>
          <a:xfrm>
            <a:off x="5792577" y="2886075"/>
            <a:ext cx="2565611"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Prompts are optimized for specific tasks (e.g., "Write secure SQL").</a:t>
            </a:r>
            <a:endParaRPr b="0" i="0" sz="942" u="none" cap="none" strike="noStrike">
              <a:solidFill>
                <a:schemeClr val="dk1"/>
              </a:solidFill>
              <a:latin typeface="Calibri"/>
              <a:ea typeface="Calibri"/>
              <a:cs typeface="Calibri"/>
              <a:sym typeface="Calibri"/>
            </a:endParaRPr>
          </a:p>
        </p:txBody>
      </p:sp>
      <p:pic>
        <p:nvPicPr>
          <p:cNvPr descr="preencoded.png" id="196" name="Google Shape;196;p9"/>
          <p:cNvPicPr preferRelativeResize="0"/>
          <p:nvPr/>
        </p:nvPicPr>
        <p:blipFill rotWithShape="1">
          <a:blip r:embed="rId7">
            <a:alphaModFix/>
          </a:blip>
          <a:srcRect b="0" l="0" r="0" t="0"/>
          <a:stretch/>
        </p:blipFill>
        <p:spPr>
          <a:xfrm>
            <a:off x="4929188" y="3393281"/>
            <a:ext cx="112514" cy="128588"/>
          </a:xfrm>
          <a:prstGeom prst="rect">
            <a:avLst/>
          </a:prstGeom>
          <a:noFill/>
          <a:ln>
            <a:noFill/>
          </a:ln>
        </p:spPr>
      </p:pic>
      <p:sp>
        <p:nvSpPr>
          <p:cNvPr id="197" name="Google Shape;197;p9"/>
          <p:cNvSpPr/>
          <p:nvPr/>
        </p:nvSpPr>
        <p:spPr>
          <a:xfrm>
            <a:off x="5148858" y="3357563"/>
            <a:ext cx="786845" cy="385763"/>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CBD5E1"/>
              </a:buClr>
              <a:buSzPts val="885"/>
              <a:buFont typeface="Calibri"/>
              <a:buNone/>
            </a:pPr>
            <a:r>
              <a:rPr b="1" i="0" lang="en-US" sz="885" u="none" cap="none" strike="noStrike">
                <a:solidFill>
                  <a:srgbClr val="CBD5E1"/>
                </a:solidFill>
                <a:latin typeface="Calibri"/>
                <a:ea typeface="Calibri"/>
                <a:cs typeface="Calibri"/>
                <a:sym typeface="Calibri"/>
              </a:rPr>
              <a:t>Clear Contracts:</a:t>
            </a:r>
            <a:endParaRPr b="0" i="0" sz="885" u="none" cap="none" strike="noStrike">
              <a:solidFill>
                <a:schemeClr val="dk1"/>
              </a:solidFill>
              <a:latin typeface="Calibri"/>
              <a:ea typeface="Calibri"/>
              <a:cs typeface="Calibri"/>
              <a:sym typeface="Calibri"/>
            </a:endParaRPr>
          </a:p>
        </p:txBody>
      </p:sp>
      <p:sp>
        <p:nvSpPr>
          <p:cNvPr id="198" name="Google Shape;198;p9"/>
          <p:cNvSpPr/>
          <p:nvPr/>
        </p:nvSpPr>
        <p:spPr>
          <a:xfrm>
            <a:off x="5935703" y="3357563"/>
            <a:ext cx="2422485"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Inputs and outputs are strictly defined (JSON/YAML).</a:t>
            </a:r>
            <a:endParaRPr b="0" i="0" sz="942" u="none" cap="none" strike="noStrike">
              <a:solidFill>
                <a:schemeClr val="dk1"/>
              </a:solidFill>
              <a:latin typeface="Calibri"/>
              <a:ea typeface="Calibri"/>
              <a:cs typeface="Calibri"/>
              <a:sym typeface="Calibri"/>
            </a:endParaRPr>
          </a:p>
        </p:txBody>
      </p:sp>
      <p:sp>
        <p:nvSpPr>
          <p:cNvPr id="199" name="Google Shape;199;p9"/>
          <p:cNvSpPr/>
          <p:nvPr/>
        </p:nvSpPr>
        <p:spPr>
          <a:xfrm>
            <a:off x="571500" y="4334470"/>
            <a:ext cx="8001000" cy="380405"/>
          </a:xfrm>
          <a:prstGeom prst="rect">
            <a:avLst/>
          </a:prstGeom>
          <a:solidFill>
            <a:srgbClr val="00C853">
              <a:alpha val="10196"/>
            </a:srgbClr>
          </a:solidFill>
          <a:ln cap="flat" cmpd="sng" w="952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571500" y="4334470"/>
            <a:ext cx="8001000" cy="380405"/>
          </a:xfrm>
          <a:prstGeom prst="rect">
            <a:avLst/>
          </a:prstGeom>
          <a:noFill/>
          <a:ln>
            <a:noFill/>
          </a:ln>
        </p:spPr>
        <p:txBody>
          <a:bodyPr anchorCtr="0" anchor="t" bIns="102100" lIns="102100" spcFirstLastPara="1" rIns="102100" wrap="square" tIns="102100">
            <a:noAutofit/>
          </a:bodyPr>
          <a:lstStyle/>
          <a:p>
            <a:pPr indent="0" lvl="0" marL="0" marR="0" rtl="0" algn="ctr">
              <a:lnSpc>
                <a:spcPct val="141843"/>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"Smaller Context = Higher Accuracy. Divide the problem, conquer the code."</a:t>
            </a:r>
            <a:endParaRPr b="0" i="0" sz="987"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descr="preencoded.png" id="206" name="Google Shape;206;p10"/>
          <p:cNvPicPr preferRelativeResize="0"/>
          <p:nvPr/>
        </p:nvPicPr>
        <p:blipFill rotWithShape="1">
          <a:blip r:embed="rId3">
            <a:alphaModFix/>
          </a:blip>
          <a:srcRect b="0" l="0" r="0" t="0"/>
          <a:stretch/>
        </p:blipFill>
        <p:spPr>
          <a:xfrm>
            <a:off x="0" y="0"/>
            <a:ext cx="9144000" cy="5263158"/>
          </a:xfrm>
          <a:prstGeom prst="rect">
            <a:avLst/>
          </a:prstGeom>
          <a:noFill/>
          <a:ln>
            <a:noFill/>
          </a:ln>
        </p:spPr>
      </p:pic>
      <p:sp>
        <p:nvSpPr>
          <p:cNvPr id="207" name="Google Shape;207;p10"/>
          <p:cNvSpPr/>
          <p:nvPr/>
        </p:nvSpPr>
        <p:spPr>
          <a:xfrm>
            <a:off x="571500" y="428625"/>
            <a:ext cx="7143750" cy="408980"/>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Calibri"/>
              <a:buNone/>
            </a:pPr>
            <a:r>
              <a:rPr b="1" i="0" lang="en-US" sz="2121" u="none" cap="none" strike="noStrike">
                <a:solidFill>
                  <a:srgbClr val="FFFFFF"/>
                </a:solidFill>
                <a:latin typeface="Calibri"/>
                <a:ea typeface="Calibri"/>
                <a:cs typeface="Calibri"/>
                <a:sym typeface="Calibri"/>
              </a:rPr>
              <a:t>The Builder Mindset</a:t>
            </a:r>
            <a:endParaRPr b="0" i="0" sz="2121" u="none" cap="none" strike="noStrike">
              <a:solidFill>
                <a:schemeClr val="dk1"/>
              </a:solidFill>
              <a:latin typeface="Calibri"/>
              <a:ea typeface="Calibri"/>
              <a:cs typeface="Calibri"/>
              <a:sym typeface="Calibri"/>
            </a:endParaRPr>
          </a:p>
        </p:txBody>
      </p:sp>
      <p:sp>
        <p:nvSpPr>
          <p:cNvPr id="208" name="Google Shape;208;p10"/>
          <p:cNvSpPr/>
          <p:nvPr/>
        </p:nvSpPr>
        <p:spPr>
          <a:xfrm>
            <a:off x="857250" y="1223367"/>
            <a:ext cx="3357563" cy="2857500"/>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0"/>
          <p:cNvSpPr/>
          <p:nvPr/>
        </p:nvSpPr>
        <p:spPr>
          <a:xfrm>
            <a:off x="857250" y="1223367"/>
            <a:ext cx="3357563" cy="42863"/>
          </a:xfrm>
          <a:prstGeom prst="rect">
            <a:avLst/>
          </a:prstGeom>
          <a:solidFill>
            <a:srgbClr val="A0AA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
          <p:cNvSpPr/>
          <p:nvPr/>
        </p:nvSpPr>
        <p:spPr>
          <a:xfrm>
            <a:off x="4207669" y="1223367"/>
            <a:ext cx="7144" cy="2857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0"/>
          <p:cNvSpPr/>
          <p:nvPr/>
        </p:nvSpPr>
        <p:spPr>
          <a:xfrm>
            <a:off x="857250" y="4073723"/>
            <a:ext cx="3357563"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0"/>
          <p:cNvSpPr/>
          <p:nvPr/>
        </p:nvSpPr>
        <p:spPr>
          <a:xfrm>
            <a:off x="857250" y="1223367"/>
            <a:ext cx="7144" cy="2857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3" name="Google Shape;213;p10"/>
          <p:cNvPicPr preferRelativeResize="0"/>
          <p:nvPr/>
        </p:nvPicPr>
        <p:blipFill rotWithShape="1">
          <a:blip r:embed="rId4">
            <a:alphaModFix/>
          </a:blip>
          <a:srcRect b="0" l="0" r="0" t="0"/>
          <a:stretch/>
        </p:blipFill>
        <p:spPr>
          <a:xfrm>
            <a:off x="2275284" y="1596628"/>
            <a:ext cx="514350" cy="457200"/>
          </a:xfrm>
          <a:prstGeom prst="rect">
            <a:avLst/>
          </a:prstGeom>
          <a:noFill/>
          <a:ln>
            <a:noFill/>
          </a:ln>
        </p:spPr>
      </p:pic>
      <p:sp>
        <p:nvSpPr>
          <p:cNvPr id="214" name="Google Shape;214;p10"/>
          <p:cNvSpPr/>
          <p:nvPr/>
        </p:nvSpPr>
        <p:spPr>
          <a:xfrm>
            <a:off x="1899568" y="2346722"/>
            <a:ext cx="1265783" cy="312539"/>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A0AAB5"/>
              </a:buClr>
              <a:buSzPts val="1602"/>
              <a:buFont typeface="Calibri"/>
              <a:buNone/>
            </a:pPr>
            <a:r>
              <a:rPr b="1" i="0" lang="en-US" sz="1602" u="none" cap="none" strike="noStrike">
                <a:solidFill>
                  <a:srgbClr val="A0AAB5"/>
                </a:solidFill>
                <a:latin typeface="Calibri"/>
                <a:ea typeface="Calibri"/>
                <a:cs typeface="Calibri"/>
                <a:sym typeface="Calibri"/>
              </a:rPr>
              <a:t>The Coder</a:t>
            </a:r>
            <a:endParaRPr b="0" i="0" sz="1602" u="none" cap="none" strike="noStrike">
              <a:solidFill>
                <a:schemeClr val="dk1"/>
              </a:solidFill>
              <a:latin typeface="Calibri"/>
              <a:ea typeface="Calibri"/>
              <a:cs typeface="Calibri"/>
              <a:sym typeface="Calibri"/>
            </a:endParaRPr>
          </a:p>
        </p:txBody>
      </p:sp>
      <p:sp>
        <p:nvSpPr>
          <p:cNvPr id="215" name="Google Shape;215;p10"/>
          <p:cNvSpPr/>
          <p:nvPr/>
        </p:nvSpPr>
        <p:spPr>
          <a:xfrm>
            <a:off x="1143000" y="2802136"/>
            <a:ext cx="2778919" cy="822871"/>
          </a:xfrm>
          <a:prstGeom prst="rect">
            <a:avLst/>
          </a:prstGeom>
          <a:noFill/>
          <a:ln>
            <a:noFill/>
          </a:ln>
        </p:spPr>
        <p:txBody>
          <a:bodyPr anchorCtr="0" anchor="t" bIns="0" lIns="0" spcFirstLastPara="1" rIns="0" wrap="square" tIns="0">
            <a:noAutofit/>
          </a:bodyPr>
          <a:lstStyle/>
          <a:p>
            <a:pPr indent="0" lvl="0" marL="0" marR="0" rtl="0" algn="ctr">
              <a:lnSpc>
                <a:spcPct val="169851"/>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"How do I write this loop?"</a:t>
            </a:r>
            <a:br>
              <a:rPr b="0" i="0" lang="en-US" sz="942" u="none" cap="none" strike="noStrike">
                <a:solidFill>
                  <a:srgbClr val="CBD5E1"/>
                </a:solidFill>
                <a:latin typeface="Calibri"/>
                <a:ea typeface="Calibri"/>
                <a:cs typeface="Calibri"/>
                <a:sym typeface="Calibri"/>
              </a:rPr>
            </a:br>
            <a:br>
              <a:rPr b="0" i="0" lang="en-US" sz="942" u="none" cap="none" strike="noStrike">
                <a:solidFill>
                  <a:srgbClr val="CBD5E1"/>
                </a:solidFill>
                <a:latin typeface="Calibri"/>
                <a:ea typeface="Calibri"/>
                <a:cs typeface="Calibri"/>
                <a:sym typeface="Calibri"/>
              </a:rPr>
            </a:br>
            <a:r>
              <a:rPr b="0" i="0" lang="en-US" sz="942" u="none" cap="none" strike="noStrike">
                <a:solidFill>
                  <a:srgbClr val="CBD5E1"/>
                </a:solidFill>
                <a:latin typeface="Calibri"/>
                <a:ea typeface="Calibri"/>
                <a:cs typeface="Calibri"/>
                <a:sym typeface="Calibri"/>
              </a:rPr>
              <a:t> Focus: Syntax, Libraries, Debugging lines of code.</a:t>
            </a:r>
            <a:endParaRPr b="0" i="0" sz="942" u="none" cap="none" strike="noStrike">
              <a:solidFill>
                <a:schemeClr val="dk1"/>
              </a:solidFill>
              <a:latin typeface="Calibri"/>
              <a:ea typeface="Calibri"/>
              <a:cs typeface="Calibri"/>
              <a:sym typeface="Calibri"/>
            </a:endParaRPr>
          </a:p>
        </p:txBody>
      </p:sp>
      <p:pic>
        <p:nvPicPr>
          <p:cNvPr descr="preencoded.png" id="216" name="Google Shape;216;p10"/>
          <p:cNvPicPr preferRelativeResize="0"/>
          <p:nvPr/>
        </p:nvPicPr>
        <p:blipFill rotWithShape="1">
          <a:blip r:embed="rId5">
            <a:alphaModFix/>
          </a:blip>
          <a:srcRect b="0" l="0" r="0" t="0"/>
          <a:stretch/>
        </p:blipFill>
        <p:spPr>
          <a:xfrm>
            <a:off x="4414838" y="2480667"/>
            <a:ext cx="300038" cy="342900"/>
          </a:xfrm>
          <a:prstGeom prst="rect">
            <a:avLst/>
          </a:prstGeom>
          <a:noFill/>
          <a:ln>
            <a:noFill/>
          </a:ln>
        </p:spPr>
      </p:pic>
      <p:sp>
        <p:nvSpPr>
          <p:cNvPr id="217" name="Google Shape;217;p10"/>
          <p:cNvSpPr/>
          <p:nvPr/>
        </p:nvSpPr>
        <p:spPr>
          <a:xfrm>
            <a:off x="4922044" y="1223367"/>
            <a:ext cx="3364706" cy="2857500"/>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0"/>
          <p:cNvSpPr/>
          <p:nvPr/>
        </p:nvSpPr>
        <p:spPr>
          <a:xfrm>
            <a:off x="4922044" y="1223367"/>
            <a:ext cx="3364706" cy="42863"/>
          </a:xfrm>
          <a:prstGeom prst="rect">
            <a:avLst/>
          </a:prstGeom>
          <a:solidFill>
            <a:srgbClr val="00C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
          <p:cNvSpPr/>
          <p:nvPr/>
        </p:nvSpPr>
        <p:spPr>
          <a:xfrm>
            <a:off x="8279606" y="1223367"/>
            <a:ext cx="7144" cy="2857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
          <p:cNvSpPr/>
          <p:nvPr/>
        </p:nvSpPr>
        <p:spPr>
          <a:xfrm>
            <a:off x="4922044" y="4073723"/>
            <a:ext cx="3364706"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0"/>
          <p:cNvSpPr/>
          <p:nvPr/>
        </p:nvSpPr>
        <p:spPr>
          <a:xfrm>
            <a:off x="4922044" y="1223367"/>
            <a:ext cx="7144" cy="2857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2" name="Google Shape;222;p10"/>
          <p:cNvPicPr preferRelativeResize="0"/>
          <p:nvPr/>
        </p:nvPicPr>
        <p:blipFill rotWithShape="1">
          <a:blip r:embed="rId6">
            <a:alphaModFix/>
          </a:blip>
          <a:srcRect b="0" l="0" r="0" t="0"/>
          <a:stretch/>
        </p:blipFill>
        <p:spPr>
          <a:xfrm>
            <a:off x="6379369" y="1596628"/>
            <a:ext cx="457200" cy="457200"/>
          </a:xfrm>
          <a:prstGeom prst="rect">
            <a:avLst/>
          </a:prstGeom>
          <a:noFill/>
          <a:ln>
            <a:noFill/>
          </a:ln>
        </p:spPr>
      </p:pic>
      <p:sp>
        <p:nvSpPr>
          <p:cNvPr id="223" name="Google Shape;223;p10"/>
          <p:cNvSpPr/>
          <p:nvPr/>
        </p:nvSpPr>
        <p:spPr>
          <a:xfrm>
            <a:off x="5732413" y="2346722"/>
            <a:ext cx="1751084" cy="312539"/>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00C853"/>
              </a:buClr>
              <a:buSzPts val="1602"/>
              <a:buFont typeface="Calibri"/>
              <a:buNone/>
            </a:pPr>
            <a:r>
              <a:rPr b="1" i="0" lang="en-US" sz="1602" u="none" cap="none" strike="noStrike">
                <a:solidFill>
                  <a:srgbClr val="00C853"/>
                </a:solidFill>
                <a:latin typeface="Calibri"/>
                <a:ea typeface="Calibri"/>
                <a:cs typeface="Calibri"/>
                <a:sym typeface="Calibri"/>
              </a:rPr>
              <a:t>The Architect</a:t>
            </a:r>
            <a:endParaRPr b="0" i="0" sz="1602" u="none" cap="none" strike="noStrike">
              <a:solidFill>
                <a:schemeClr val="dk1"/>
              </a:solidFill>
              <a:latin typeface="Calibri"/>
              <a:ea typeface="Calibri"/>
              <a:cs typeface="Calibri"/>
              <a:sym typeface="Calibri"/>
            </a:endParaRPr>
          </a:p>
        </p:txBody>
      </p:sp>
      <p:sp>
        <p:nvSpPr>
          <p:cNvPr id="224" name="Google Shape;224;p10"/>
          <p:cNvSpPr/>
          <p:nvPr/>
        </p:nvSpPr>
        <p:spPr>
          <a:xfrm>
            <a:off x="5214938" y="2802136"/>
            <a:ext cx="2786063" cy="822871"/>
          </a:xfrm>
          <a:prstGeom prst="rect">
            <a:avLst/>
          </a:prstGeom>
          <a:noFill/>
          <a:ln>
            <a:noFill/>
          </a:ln>
        </p:spPr>
        <p:txBody>
          <a:bodyPr anchorCtr="0" anchor="t" bIns="0" lIns="0" spcFirstLastPara="1" rIns="0" wrap="square" tIns="0">
            <a:noAutofit/>
          </a:bodyPr>
          <a:lstStyle/>
          <a:p>
            <a:pPr indent="0" lvl="0" marL="0" marR="0" rtl="0" algn="ctr">
              <a:lnSpc>
                <a:spcPct val="169851"/>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"How does this system scale?"</a:t>
            </a:r>
            <a:br>
              <a:rPr b="0" i="0" lang="en-US" sz="942" u="none" cap="none" strike="noStrike">
                <a:solidFill>
                  <a:srgbClr val="CBD5E1"/>
                </a:solidFill>
                <a:latin typeface="Calibri"/>
                <a:ea typeface="Calibri"/>
                <a:cs typeface="Calibri"/>
                <a:sym typeface="Calibri"/>
              </a:rPr>
            </a:br>
            <a:br>
              <a:rPr b="0" i="0" lang="en-US" sz="942" u="none" cap="none" strike="noStrike">
                <a:solidFill>
                  <a:srgbClr val="CBD5E1"/>
                </a:solidFill>
                <a:latin typeface="Calibri"/>
                <a:ea typeface="Calibri"/>
                <a:cs typeface="Calibri"/>
                <a:sym typeface="Calibri"/>
              </a:rPr>
            </a:br>
            <a:r>
              <a:rPr b="0" i="0" lang="en-US" sz="942" u="none" cap="none" strike="noStrike">
                <a:solidFill>
                  <a:srgbClr val="CBD5E1"/>
                </a:solidFill>
                <a:latin typeface="Calibri"/>
                <a:ea typeface="Calibri"/>
                <a:cs typeface="Calibri"/>
                <a:sym typeface="Calibri"/>
              </a:rPr>
              <a:t> Focus: Requirements, Data Flow, Reviewing Agent Outputs.</a:t>
            </a:r>
            <a:endParaRPr b="0" i="0" sz="942" u="none" cap="none" strike="noStrike">
              <a:solidFill>
                <a:schemeClr val="dk1"/>
              </a:solidFill>
              <a:latin typeface="Calibri"/>
              <a:ea typeface="Calibri"/>
              <a:cs typeface="Calibri"/>
              <a:sym typeface="Calibri"/>
            </a:endParaRPr>
          </a:p>
        </p:txBody>
      </p:sp>
      <p:sp>
        <p:nvSpPr>
          <p:cNvPr id="225" name="Google Shape;225;p10"/>
          <p:cNvSpPr/>
          <p:nvPr/>
        </p:nvSpPr>
        <p:spPr>
          <a:xfrm>
            <a:off x="571500" y="4366617"/>
            <a:ext cx="8001000" cy="467916"/>
          </a:xfrm>
          <a:prstGeom prst="rect">
            <a:avLst/>
          </a:prstGeom>
          <a:noFill/>
          <a:ln>
            <a:noFill/>
          </a:ln>
        </p:spPr>
        <p:txBody>
          <a:bodyPr anchorCtr="0" anchor="t" bIns="0" lIns="0" spcFirstLastPara="1" rIns="0" wrap="square" tIns="0">
            <a:noAutofit/>
          </a:bodyPr>
          <a:lstStyle/>
          <a:p>
            <a:pPr indent="0" lvl="0" marL="0" marR="0" rtl="0" algn="ctr">
              <a:lnSpc>
                <a:spcPct val="126083"/>
              </a:lnSpc>
              <a:spcBef>
                <a:spcPts val="0"/>
              </a:spcBef>
              <a:spcAft>
                <a:spcPts val="0"/>
              </a:spcAft>
              <a:buClr>
                <a:srgbClr val="FFFFFF"/>
              </a:buClr>
              <a:buSzPts val="1269"/>
              <a:buFont typeface="Calibri"/>
              <a:buNone/>
            </a:pPr>
            <a:r>
              <a:rPr b="0" i="1" lang="en-US" sz="1269" u="none" cap="none" strike="noStrike">
                <a:solidFill>
                  <a:srgbClr val="FFFFFF"/>
                </a:solidFill>
                <a:latin typeface="Calibri"/>
                <a:ea typeface="Calibri"/>
                <a:cs typeface="Calibri"/>
                <a:sym typeface="Calibri"/>
              </a:rPr>
              <a:t>"In the AI Era, code is a commodity.</a:t>
            </a:r>
            <a:br>
              <a:rPr b="0" i="1" lang="en-US" sz="1269" u="none" cap="none" strike="noStrike">
                <a:solidFill>
                  <a:srgbClr val="FFFFFF"/>
                </a:solidFill>
                <a:latin typeface="Calibri"/>
                <a:ea typeface="Calibri"/>
                <a:cs typeface="Calibri"/>
                <a:sym typeface="Calibri"/>
              </a:rPr>
            </a:br>
            <a:r>
              <a:rPr b="0" i="1" lang="en-US" sz="1269" u="none" cap="none" strike="noStrike">
                <a:solidFill>
                  <a:srgbClr val="FFFFFF"/>
                </a:solidFill>
                <a:latin typeface="Calibri"/>
                <a:ea typeface="Calibri"/>
                <a:cs typeface="Calibri"/>
                <a:sym typeface="Calibri"/>
              </a:rPr>
              <a:t> </a:t>
            </a:r>
            <a:r>
              <a:rPr b="1" i="1" lang="en-US" sz="1193" u="none" cap="none" strike="noStrike">
                <a:solidFill>
                  <a:srgbClr val="00C853"/>
                </a:solidFill>
                <a:latin typeface="Calibri"/>
                <a:ea typeface="Calibri"/>
                <a:cs typeface="Calibri"/>
                <a:sym typeface="Calibri"/>
              </a:rPr>
              <a:t>Architecture is the asset.</a:t>
            </a:r>
            <a:r>
              <a:rPr b="0" i="1" lang="en-US" sz="1269" u="none" cap="none" strike="noStrike">
                <a:solidFill>
                  <a:srgbClr val="FFFFFF"/>
                </a:solidFill>
                <a:latin typeface="Calibri"/>
                <a:ea typeface="Calibri"/>
                <a:cs typeface="Calibri"/>
                <a:sym typeface="Calibri"/>
              </a:rPr>
              <a:t>"</a:t>
            </a:r>
            <a:endParaRPr b="0" i="0" sz="1269"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descr="preencoded.png" id="231" name="Google Shape;231;p1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32" name="Google Shape;232;p11"/>
          <p:cNvSpPr/>
          <p:nvPr/>
        </p:nvSpPr>
        <p:spPr>
          <a:xfrm>
            <a:off x="428625" y="357188"/>
            <a:ext cx="8286750" cy="369689"/>
          </a:xfrm>
          <a:prstGeom prst="rect">
            <a:avLst/>
          </a:prstGeom>
          <a:noFill/>
          <a:ln>
            <a:noFill/>
          </a:ln>
        </p:spPr>
        <p:txBody>
          <a:bodyPr anchorCtr="0" anchor="t" bIns="0" lIns="0" spcFirstLastPara="1" rIns="0" wrap="square" tIns="0">
            <a:noAutofit/>
          </a:bodyPr>
          <a:lstStyle/>
          <a:p>
            <a:pPr indent="0" lvl="0" marL="0" marR="0" rtl="0" algn="l">
              <a:lnSpc>
                <a:spcPct val="135983"/>
              </a:lnSpc>
              <a:spcBef>
                <a:spcPts val="0"/>
              </a:spcBef>
              <a:spcAft>
                <a:spcPts val="0"/>
              </a:spcAft>
              <a:buClr>
                <a:srgbClr val="FFFFFF"/>
              </a:buClr>
              <a:buSzPts val="1912"/>
              <a:buFont typeface="Calibri"/>
              <a:buNone/>
            </a:pPr>
            <a:r>
              <a:rPr b="1" i="0" lang="en-US" sz="1912" u="none" cap="none" strike="noStrike">
                <a:solidFill>
                  <a:srgbClr val="FFFFFF"/>
                </a:solidFill>
                <a:latin typeface="Calibri"/>
                <a:ea typeface="Calibri"/>
                <a:cs typeface="Calibri"/>
                <a:sym typeface="Calibri"/>
              </a:rPr>
              <a:t>The Granular SDLC Pipeline</a:t>
            </a:r>
            <a:endParaRPr b="0" i="0" sz="1912" u="none" cap="none" strike="noStrike">
              <a:solidFill>
                <a:schemeClr val="dk1"/>
              </a:solidFill>
              <a:latin typeface="Calibri"/>
              <a:ea typeface="Calibri"/>
              <a:cs typeface="Calibri"/>
              <a:sym typeface="Calibri"/>
            </a:endParaRPr>
          </a:p>
        </p:txBody>
      </p:sp>
      <p:sp>
        <p:nvSpPr>
          <p:cNvPr id="233" name="Google Shape;233;p11"/>
          <p:cNvSpPr/>
          <p:nvPr/>
        </p:nvSpPr>
        <p:spPr>
          <a:xfrm>
            <a:off x="428625" y="1098352"/>
            <a:ext cx="1964531" cy="3687961"/>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1"/>
          <p:cNvSpPr/>
          <p:nvPr/>
        </p:nvSpPr>
        <p:spPr>
          <a:xfrm>
            <a:off x="428625" y="1098352"/>
            <a:ext cx="1964531" cy="28575"/>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5" name="Google Shape;235;p11"/>
          <p:cNvPicPr preferRelativeResize="0"/>
          <p:nvPr/>
        </p:nvPicPr>
        <p:blipFill rotWithShape="1">
          <a:blip r:embed="rId4">
            <a:alphaModFix/>
          </a:blip>
          <a:srcRect b="0" l="0" r="0" t="0"/>
          <a:stretch/>
        </p:blipFill>
        <p:spPr>
          <a:xfrm>
            <a:off x="2407444" y="1548408"/>
            <a:ext cx="71438" cy="114300"/>
          </a:xfrm>
          <a:prstGeom prst="rect">
            <a:avLst/>
          </a:prstGeom>
          <a:noFill/>
          <a:ln>
            <a:noFill/>
          </a:ln>
        </p:spPr>
      </p:pic>
      <p:pic>
        <p:nvPicPr>
          <p:cNvPr descr="preencoded.png" id="236" name="Google Shape;236;p11"/>
          <p:cNvPicPr preferRelativeResize="0"/>
          <p:nvPr/>
        </p:nvPicPr>
        <p:blipFill rotWithShape="1">
          <a:blip r:embed="rId5">
            <a:alphaModFix/>
          </a:blip>
          <a:srcRect b="0" l="0" r="0" t="0"/>
          <a:stretch/>
        </p:blipFill>
        <p:spPr>
          <a:xfrm>
            <a:off x="1335881" y="1280517"/>
            <a:ext cx="150019" cy="200025"/>
          </a:xfrm>
          <a:prstGeom prst="rect">
            <a:avLst/>
          </a:prstGeom>
          <a:noFill/>
          <a:ln>
            <a:noFill/>
          </a:ln>
        </p:spPr>
      </p:pic>
      <p:sp>
        <p:nvSpPr>
          <p:cNvPr id="237" name="Google Shape;237;p11"/>
          <p:cNvSpPr/>
          <p:nvPr/>
        </p:nvSpPr>
        <p:spPr>
          <a:xfrm>
            <a:off x="571500" y="1585913"/>
            <a:ext cx="1678781" cy="175022"/>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Spec (Definition)</a:t>
            </a:r>
            <a:endParaRPr b="0" i="0" sz="885" u="none" cap="none" strike="noStrike">
              <a:solidFill>
                <a:schemeClr val="dk1"/>
              </a:solidFill>
              <a:latin typeface="Calibri"/>
              <a:ea typeface="Calibri"/>
              <a:cs typeface="Calibri"/>
              <a:sym typeface="Calibri"/>
            </a:endParaRPr>
          </a:p>
        </p:txBody>
      </p:sp>
      <p:sp>
        <p:nvSpPr>
          <p:cNvPr id="238" name="Google Shape;238;p11"/>
          <p:cNvSpPr/>
          <p:nvPr/>
        </p:nvSpPr>
        <p:spPr>
          <a:xfrm>
            <a:off x="571500" y="2053828"/>
            <a:ext cx="1678781" cy="694339"/>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
          <p:cNvSpPr/>
          <p:nvPr/>
        </p:nvSpPr>
        <p:spPr>
          <a:xfrm>
            <a:off x="514350" y="1996678"/>
            <a:ext cx="142875" cy="142875"/>
          </a:xfrm>
          <a:prstGeom prst="ellipse">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1"/>
          <p:cNvSpPr/>
          <p:nvPr/>
        </p:nvSpPr>
        <p:spPr>
          <a:xfrm>
            <a:off x="514350" y="1996678"/>
            <a:ext cx="142875" cy="142875"/>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0D1B2E"/>
              </a:buClr>
              <a:buSzPts val="534"/>
              <a:buFont typeface="Calibri"/>
              <a:buNone/>
            </a:pPr>
            <a:r>
              <a:rPr b="1" i="0" lang="en-US" sz="534" u="none" cap="none" strike="noStrike">
                <a:solidFill>
                  <a:srgbClr val="0D1B2E"/>
                </a:solidFill>
                <a:latin typeface="Calibri"/>
                <a:ea typeface="Calibri"/>
                <a:cs typeface="Calibri"/>
                <a:sym typeface="Calibri"/>
              </a:rPr>
              <a:t>1</a:t>
            </a:r>
            <a:endParaRPr b="0" i="0" sz="534" u="none" cap="none" strike="noStrike">
              <a:solidFill>
                <a:schemeClr val="dk1"/>
              </a:solidFill>
              <a:latin typeface="Calibri"/>
              <a:ea typeface="Calibri"/>
              <a:cs typeface="Calibri"/>
              <a:sym typeface="Calibri"/>
            </a:endParaRPr>
          </a:p>
        </p:txBody>
      </p:sp>
      <p:sp>
        <p:nvSpPr>
          <p:cNvPr id="241" name="Google Shape;241;p11"/>
          <p:cNvSpPr/>
          <p:nvPr/>
        </p:nvSpPr>
        <p:spPr>
          <a:xfrm>
            <a:off x="657225" y="2139553"/>
            <a:ext cx="1507331"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BRD Generation</a:t>
            </a:r>
            <a:endParaRPr b="0" i="0" sz="683" u="none" cap="none" strike="noStrike">
              <a:solidFill>
                <a:schemeClr val="dk1"/>
              </a:solidFill>
              <a:latin typeface="Calibri"/>
              <a:ea typeface="Calibri"/>
              <a:cs typeface="Calibri"/>
              <a:sym typeface="Calibri"/>
            </a:endParaRPr>
          </a:p>
        </p:txBody>
      </p:sp>
      <p:sp>
        <p:nvSpPr>
          <p:cNvPr id="242" name="Google Shape;242;p11"/>
          <p:cNvSpPr/>
          <p:nvPr/>
        </p:nvSpPr>
        <p:spPr>
          <a:xfrm>
            <a:off x="657225" y="2303859"/>
            <a:ext cx="1507331"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PM &amp; BA Agents</a:t>
            </a:r>
            <a:endParaRPr b="0" i="0" sz="568" u="none" cap="none" strike="noStrike">
              <a:solidFill>
                <a:schemeClr val="dk1"/>
              </a:solidFill>
              <a:latin typeface="Calibri"/>
              <a:ea typeface="Calibri"/>
              <a:cs typeface="Calibri"/>
              <a:sym typeface="Calibri"/>
            </a:endParaRPr>
          </a:p>
        </p:txBody>
      </p:sp>
      <p:sp>
        <p:nvSpPr>
          <p:cNvPr id="243" name="Google Shape;243;p11"/>
          <p:cNvSpPr/>
          <p:nvPr/>
        </p:nvSpPr>
        <p:spPr>
          <a:xfrm>
            <a:off x="657225" y="2439591"/>
            <a:ext cx="1507331" cy="222852"/>
          </a:xfrm>
          <a:prstGeom prst="rect">
            <a:avLst/>
          </a:prstGeom>
          <a:noFill/>
          <a:ln>
            <a:noFill/>
          </a:ln>
        </p:spPr>
        <p:txBody>
          <a:bodyPr anchorCtr="0" anchor="t" bIns="0" lIns="0" spcFirstLastPara="1" rIns="0" wrap="square" tIns="0">
            <a:noAutofit/>
          </a:bodyPr>
          <a:lstStyle/>
          <a:p>
            <a:pPr indent="0" lvl="0" marL="0" marR="0" rtl="0" algn="l">
              <a:lnSpc>
                <a:spcPct val="144927"/>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Define business goals, scope, and user needs.</a:t>
            </a:r>
            <a:endParaRPr b="0" i="0" sz="621" u="none" cap="none" strike="noStrike">
              <a:solidFill>
                <a:schemeClr val="dk1"/>
              </a:solidFill>
              <a:latin typeface="Calibri"/>
              <a:ea typeface="Calibri"/>
              <a:cs typeface="Calibri"/>
              <a:sym typeface="Calibri"/>
            </a:endParaRPr>
          </a:p>
        </p:txBody>
      </p:sp>
      <p:sp>
        <p:nvSpPr>
          <p:cNvPr id="244" name="Google Shape;244;p11"/>
          <p:cNvSpPr/>
          <p:nvPr/>
        </p:nvSpPr>
        <p:spPr>
          <a:xfrm>
            <a:off x="571500" y="2855323"/>
            <a:ext cx="1678781" cy="694339"/>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a:off x="514350" y="2798173"/>
            <a:ext cx="142875" cy="142875"/>
          </a:xfrm>
          <a:prstGeom prst="ellipse">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a:off x="514350" y="2798173"/>
            <a:ext cx="142875" cy="142875"/>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0D1B2E"/>
              </a:buClr>
              <a:buSzPts val="534"/>
              <a:buFont typeface="Calibri"/>
              <a:buNone/>
            </a:pPr>
            <a:r>
              <a:rPr b="1" i="0" lang="en-US" sz="534" u="none" cap="none" strike="noStrike">
                <a:solidFill>
                  <a:srgbClr val="0D1B2E"/>
                </a:solidFill>
                <a:latin typeface="Calibri"/>
                <a:ea typeface="Calibri"/>
                <a:cs typeface="Calibri"/>
                <a:sym typeface="Calibri"/>
              </a:rPr>
              <a:t>2</a:t>
            </a:r>
            <a:endParaRPr b="0" i="0" sz="534" u="none" cap="none" strike="noStrike">
              <a:solidFill>
                <a:schemeClr val="dk1"/>
              </a:solidFill>
              <a:latin typeface="Calibri"/>
              <a:ea typeface="Calibri"/>
              <a:cs typeface="Calibri"/>
              <a:sym typeface="Calibri"/>
            </a:endParaRPr>
          </a:p>
        </p:txBody>
      </p:sp>
      <p:sp>
        <p:nvSpPr>
          <p:cNvPr id="247" name="Google Shape;247;p11"/>
          <p:cNvSpPr/>
          <p:nvPr/>
        </p:nvSpPr>
        <p:spPr>
          <a:xfrm>
            <a:off x="657225" y="2941048"/>
            <a:ext cx="1507331"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TRD Generation</a:t>
            </a:r>
            <a:endParaRPr b="0" i="0" sz="683" u="none" cap="none" strike="noStrike">
              <a:solidFill>
                <a:schemeClr val="dk1"/>
              </a:solidFill>
              <a:latin typeface="Calibri"/>
              <a:ea typeface="Calibri"/>
              <a:cs typeface="Calibri"/>
              <a:sym typeface="Calibri"/>
            </a:endParaRPr>
          </a:p>
        </p:txBody>
      </p:sp>
      <p:sp>
        <p:nvSpPr>
          <p:cNvPr id="248" name="Google Shape;248;p11"/>
          <p:cNvSpPr/>
          <p:nvPr/>
        </p:nvSpPr>
        <p:spPr>
          <a:xfrm>
            <a:off x="657225" y="3105355"/>
            <a:ext cx="1507331"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Tech Lead Agent</a:t>
            </a:r>
            <a:endParaRPr b="0" i="0" sz="568" u="none" cap="none" strike="noStrike">
              <a:solidFill>
                <a:schemeClr val="dk1"/>
              </a:solidFill>
              <a:latin typeface="Calibri"/>
              <a:ea typeface="Calibri"/>
              <a:cs typeface="Calibri"/>
              <a:sym typeface="Calibri"/>
            </a:endParaRPr>
          </a:p>
        </p:txBody>
      </p:sp>
      <p:sp>
        <p:nvSpPr>
          <p:cNvPr id="249" name="Google Shape;249;p11"/>
          <p:cNvSpPr/>
          <p:nvPr/>
        </p:nvSpPr>
        <p:spPr>
          <a:xfrm>
            <a:off x="657225" y="3241086"/>
            <a:ext cx="1507331" cy="222852"/>
          </a:xfrm>
          <a:prstGeom prst="rect">
            <a:avLst/>
          </a:prstGeom>
          <a:noFill/>
          <a:ln>
            <a:noFill/>
          </a:ln>
        </p:spPr>
        <p:txBody>
          <a:bodyPr anchorCtr="0" anchor="t" bIns="0" lIns="0" spcFirstLastPara="1" rIns="0" wrap="square" tIns="0">
            <a:noAutofit/>
          </a:bodyPr>
          <a:lstStyle/>
          <a:p>
            <a:pPr indent="0" lvl="0" marL="0" marR="0" rtl="0" algn="l">
              <a:lnSpc>
                <a:spcPct val="144927"/>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Translate business needs into technical requirements.</a:t>
            </a:r>
            <a:endParaRPr b="0" i="0" sz="621" u="none" cap="none" strike="noStrike">
              <a:solidFill>
                <a:schemeClr val="dk1"/>
              </a:solidFill>
              <a:latin typeface="Calibri"/>
              <a:ea typeface="Calibri"/>
              <a:cs typeface="Calibri"/>
              <a:sym typeface="Calibri"/>
            </a:endParaRPr>
          </a:p>
        </p:txBody>
      </p:sp>
      <p:sp>
        <p:nvSpPr>
          <p:cNvPr id="250" name="Google Shape;250;p11"/>
          <p:cNvSpPr/>
          <p:nvPr/>
        </p:nvSpPr>
        <p:spPr>
          <a:xfrm>
            <a:off x="571500" y="3656819"/>
            <a:ext cx="1678781" cy="694339"/>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a:off x="514350" y="3599669"/>
            <a:ext cx="142875" cy="142875"/>
          </a:xfrm>
          <a:prstGeom prst="ellipse">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a:off x="514350" y="3599669"/>
            <a:ext cx="142875" cy="142875"/>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0D1B2E"/>
              </a:buClr>
              <a:buSzPts val="534"/>
              <a:buFont typeface="Calibri"/>
              <a:buNone/>
            </a:pPr>
            <a:r>
              <a:rPr b="1" i="0" lang="en-US" sz="534" u="none" cap="none" strike="noStrike">
                <a:solidFill>
                  <a:srgbClr val="0D1B2E"/>
                </a:solidFill>
                <a:latin typeface="Calibri"/>
                <a:ea typeface="Calibri"/>
                <a:cs typeface="Calibri"/>
                <a:sym typeface="Calibri"/>
              </a:rPr>
              <a:t>3</a:t>
            </a:r>
            <a:endParaRPr b="0" i="0" sz="534" u="none" cap="none" strike="noStrike">
              <a:solidFill>
                <a:schemeClr val="dk1"/>
              </a:solidFill>
              <a:latin typeface="Calibri"/>
              <a:ea typeface="Calibri"/>
              <a:cs typeface="Calibri"/>
              <a:sym typeface="Calibri"/>
            </a:endParaRPr>
          </a:p>
        </p:txBody>
      </p:sp>
      <p:sp>
        <p:nvSpPr>
          <p:cNvPr id="253" name="Google Shape;253;p11"/>
          <p:cNvSpPr/>
          <p:nvPr/>
        </p:nvSpPr>
        <p:spPr>
          <a:xfrm>
            <a:off x="657225" y="3742544"/>
            <a:ext cx="1507331"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Task Breakdown</a:t>
            </a:r>
            <a:endParaRPr b="0" i="0" sz="683" u="none" cap="none" strike="noStrike">
              <a:solidFill>
                <a:schemeClr val="dk1"/>
              </a:solidFill>
              <a:latin typeface="Calibri"/>
              <a:ea typeface="Calibri"/>
              <a:cs typeface="Calibri"/>
              <a:sym typeface="Calibri"/>
            </a:endParaRPr>
          </a:p>
        </p:txBody>
      </p:sp>
      <p:sp>
        <p:nvSpPr>
          <p:cNvPr id="254" name="Google Shape;254;p11"/>
          <p:cNvSpPr/>
          <p:nvPr/>
        </p:nvSpPr>
        <p:spPr>
          <a:xfrm>
            <a:off x="657225" y="3906850"/>
            <a:ext cx="1507331"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Planner Agent</a:t>
            </a:r>
            <a:endParaRPr b="0" i="0" sz="568" u="none" cap="none" strike="noStrike">
              <a:solidFill>
                <a:schemeClr val="dk1"/>
              </a:solidFill>
              <a:latin typeface="Calibri"/>
              <a:ea typeface="Calibri"/>
              <a:cs typeface="Calibri"/>
              <a:sym typeface="Calibri"/>
            </a:endParaRPr>
          </a:p>
        </p:txBody>
      </p:sp>
      <p:sp>
        <p:nvSpPr>
          <p:cNvPr id="255" name="Google Shape;255;p11"/>
          <p:cNvSpPr/>
          <p:nvPr/>
        </p:nvSpPr>
        <p:spPr>
          <a:xfrm>
            <a:off x="657225" y="4042581"/>
            <a:ext cx="1507331" cy="222852"/>
          </a:xfrm>
          <a:prstGeom prst="rect">
            <a:avLst/>
          </a:prstGeom>
          <a:noFill/>
          <a:ln>
            <a:noFill/>
          </a:ln>
        </p:spPr>
        <p:txBody>
          <a:bodyPr anchorCtr="0" anchor="t" bIns="0" lIns="0" spcFirstLastPara="1" rIns="0" wrap="square" tIns="0">
            <a:noAutofit/>
          </a:bodyPr>
          <a:lstStyle/>
          <a:p>
            <a:pPr indent="0" lvl="0" marL="0" marR="0" rtl="0" algn="l">
              <a:lnSpc>
                <a:spcPct val="144927"/>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Create granular Jira tickets and sprint plan.</a:t>
            </a:r>
            <a:endParaRPr b="0" i="0" sz="621" u="none" cap="none" strike="noStrike">
              <a:solidFill>
                <a:schemeClr val="dk1"/>
              </a:solidFill>
              <a:latin typeface="Calibri"/>
              <a:ea typeface="Calibri"/>
              <a:cs typeface="Calibri"/>
              <a:sym typeface="Calibri"/>
            </a:endParaRPr>
          </a:p>
        </p:txBody>
      </p:sp>
      <p:sp>
        <p:nvSpPr>
          <p:cNvPr id="256" name="Google Shape;256;p11"/>
          <p:cNvSpPr/>
          <p:nvPr/>
        </p:nvSpPr>
        <p:spPr>
          <a:xfrm>
            <a:off x="2536031" y="1098352"/>
            <a:ext cx="1964531" cy="3687961"/>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a:off x="2536031" y="1098352"/>
            <a:ext cx="1964531" cy="2857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8" name="Google Shape;258;p11"/>
          <p:cNvPicPr preferRelativeResize="0"/>
          <p:nvPr/>
        </p:nvPicPr>
        <p:blipFill rotWithShape="1">
          <a:blip r:embed="rId4">
            <a:alphaModFix/>
          </a:blip>
          <a:srcRect b="0" l="0" r="0" t="0"/>
          <a:stretch/>
        </p:blipFill>
        <p:spPr>
          <a:xfrm>
            <a:off x="4514850" y="1548408"/>
            <a:ext cx="71438" cy="114300"/>
          </a:xfrm>
          <a:prstGeom prst="rect">
            <a:avLst/>
          </a:prstGeom>
          <a:noFill/>
          <a:ln>
            <a:noFill/>
          </a:ln>
        </p:spPr>
      </p:pic>
      <p:pic>
        <p:nvPicPr>
          <p:cNvPr descr="preencoded.png" id="259" name="Google Shape;259;p11"/>
          <p:cNvPicPr preferRelativeResize="0"/>
          <p:nvPr/>
        </p:nvPicPr>
        <p:blipFill rotWithShape="1">
          <a:blip r:embed="rId6">
            <a:alphaModFix/>
          </a:blip>
          <a:srcRect b="0" l="0" r="0" t="0"/>
          <a:stretch/>
        </p:blipFill>
        <p:spPr>
          <a:xfrm>
            <a:off x="3418284" y="1280517"/>
            <a:ext cx="200025" cy="200025"/>
          </a:xfrm>
          <a:prstGeom prst="rect">
            <a:avLst/>
          </a:prstGeom>
          <a:noFill/>
          <a:ln>
            <a:noFill/>
          </a:ln>
        </p:spPr>
      </p:pic>
      <p:sp>
        <p:nvSpPr>
          <p:cNvPr id="260" name="Google Shape;260;p11"/>
          <p:cNvSpPr/>
          <p:nvPr/>
        </p:nvSpPr>
        <p:spPr>
          <a:xfrm>
            <a:off x="2678906" y="1585913"/>
            <a:ext cx="1678781" cy="175022"/>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Design (Architecture)</a:t>
            </a:r>
            <a:endParaRPr b="0" i="0" sz="885" u="none" cap="none" strike="noStrike">
              <a:solidFill>
                <a:schemeClr val="dk1"/>
              </a:solidFill>
              <a:latin typeface="Calibri"/>
              <a:ea typeface="Calibri"/>
              <a:cs typeface="Calibri"/>
              <a:sym typeface="Calibri"/>
            </a:endParaRPr>
          </a:p>
        </p:txBody>
      </p:sp>
      <p:sp>
        <p:nvSpPr>
          <p:cNvPr id="261" name="Google Shape;261;p11"/>
          <p:cNvSpPr/>
          <p:nvPr/>
        </p:nvSpPr>
        <p:spPr>
          <a:xfrm>
            <a:off x="2678906" y="2053828"/>
            <a:ext cx="1678781" cy="694339"/>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a:off x="2621756" y="1996678"/>
            <a:ext cx="142875" cy="142875"/>
          </a:xfrm>
          <a:prstGeom prst="ellipse">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1"/>
          <p:cNvSpPr/>
          <p:nvPr/>
        </p:nvSpPr>
        <p:spPr>
          <a:xfrm>
            <a:off x="2621756" y="1996678"/>
            <a:ext cx="142875" cy="142875"/>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0D1B2E"/>
              </a:buClr>
              <a:buSzPts val="534"/>
              <a:buFont typeface="Calibri"/>
              <a:buNone/>
            </a:pPr>
            <a:r>
              <a:rPr b="1" i="0" lang="en-US" sz="534" u="none" cap="none" strike="noStrike">
                <a:solidFill>
                  <a:srgbClr val="0D1B2E"/>
                </a:solidFill>
                <a:latin typeface="Calibri"/>
                <a:ea typeface="Calibri"/>
                <a:cs typeface="Calibri"/>
                <a:sym typeface="Calibri"/>
              </a:rPr>
              <a:t>1</a:t>
            </a:r>
            <a:endParaRPr b="0" i="0" sz="534" u="none" cap="none" strike="noStrike">
              <a:solidFill>
                <a:schemeClr val="dk1"/>
              </a:solidFill>
              <a:latin typeface="Calibri"/>
              <a:ea typeface="Calibri"/>
              <a:cs typeface="Calibri"/>
              <a:sym typeface="Calibri"/>
            </a:endParaRPr>
          </a:p>
        </p:txBody>
      </p:sp>
      <p:sp>
        <p:nvSpPr>
          <p:cNvPr id="264" name="Google Shape;264;p11"/>
          <p:cNvSpPr/>
          <p:nvPr/>
        </p:nvSpPr>
        <p:spPr>
          <a:xfrm>
            <a:off x="2764631" y="2139553"/>
            <a:ext cx="1507331"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System Context</a:t>
            </a:r>
            <a:endParaRPr b="0" i="0" sz="683" u="none" cap="none" strike="noStrike">
              <a:solidFill>
                <a:schemeClr val="dk1"/>
              </a:solidFill>
              <a:latin typeface="Calibri"/>
              <a:ea typeface="Calibri"/>
              <a:cs typeface="Calibri"/>
              <a:sym typeface="Calibri"/>
            </a:endParaRPr>
          </a:p>
        </p:txBody>
      </p:sp>
      <p:sp>
        <p:nvSpPr>
          <p:cNvPr id="265" name="Google Shape;265;p11"/>
          <p:cNvSpPr/>
          <p:nvPr/>
        </p:nvSpPr>
        <p:spPr>
          <a:xfrm>
            <a:off x="2764631" y="2303859"/>
            <a:ext cx="1507331"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Architect Agent</a:t>
            </a:r>
            <a:endParaRPr b="0" i="0" sz="568" u="none" cap="none" strike="noStrike">
              <a:solidFill>
                <a:schemeClr val="dk1"/>
              </a:solidFill>
              <a:latin typeface="Calibri"/>
              <a:ea typeface="Calibri"/>
              <a:cs typeface="Calibri"/>
              <a:sym typeface="Calibri"/>
            </a:endParaRPr>
          </a:p>
        </p:txBody>
      </p:sp>
      <p:sp>
        <p:nvSpPr>
          <p:cNvPr id="266" name="Google Shape;266;p11"/>
          <p:cNvSpPr/>
          <p:nvPr/>
        </p:nvSpPr>
        <p:spPr>
          <a:xfrm>
            <a:off x="2764631" y="2439591"/>
            <a:ext cx="1507331" cy="222852"/>
          </a:xfrm>
          <a:prstGeom prst="rect">
            <a:avLst/>
          </a:prstGeom>
          <a:noFill/>
          <a:ln>
            <a:noFill/>
          </a:ln>
        </p:spPr>
        <p:txBody>
          <a:bodyPr anchorCtr="0" anchor="t" bIns="0" lIns="0" spcFirstLastPara="1" rIns="0" wrap="square" tIns="0">
            <a:noAutofit/>
          </a:bodyPr>
          <a:lstStyle/>
          <a:p>
            <a:pPr indent="0" lvl="0" marL="0" marR="0" rtl="0" algn="l">
              <a:lnSpc>
                <a:spcPct val="144927"/>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Generate C4 diagrams (System, Container, Component).</a:t>
            </a:r>
            <a:endParaRPr b="0" i="0" sz="621" u="none" cap="none" strike="noStrike">
              <a:solidFill>
                <a:schemeClr val="dk1"/>
              </a:solidFill>
              <a:latin typeface="Calibri"/>
              <a:ea typeface="Calibri"/>
              <a:cs typeface="Calibri"/>
              <a:sym typeface="Calibri"/>
            </a:endParaRPr>
          </a:p>
        </p:txBody>
      </p:sp>
      <p:sp>
        <p:nvSpPr>
          <p:cNvPr id="267" name="Google Shape;267;p11"/>
          <p:cNvSpPr/>
          <p:nvPr/>
        </p:nvSpPr>
        <p:spPr>
          <a:xfrm>
            <a:off x="2678906" y="2855323"/>
            <a:ext cx="1678781" cy="694339"/>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1"/>
          <p:cNvSpPr/>
          <p:nvPr/>
        </p:nvSpPr>
        <p:spPr>
          <a:xfrm>
            <a:off x="2621756" y="2798173"/>
            <a:ext cx="142875" cy="142875"/>
          </a:xfrm>
          <a:prstGeom prst="ellipse">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1"/>
          <p:cNvSpPr/>
          <p:nvPr/>
        </p:nvSpPr>
        <p:spPr>
          <a:xfrm>
            <a:off x="2621756" y="2798173"/>
            <a:ext cx="142875" cy="142875"/>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0D1B2E"/>
              </a:buClr>
              <a:buSzPts val="534"/>
              <a:buFont typeface="Calibri"/>
              <a:buNone/>
            </a:pPr>
            <a:r>
              <a:rPr b="1" i="0" lang="en-US" sz="534" u="none" cap="none" strike="noStrike">
                <a:solidFill>
                  <a:srgbClr val="0D1B2E"/>
                </a:solidFill>
                <a:latin typeface="Calibri"/>
                <a:ea typeface="Calibri"/>
                <a:cs typeface="Calibri"/>
                <a:sym typeface="Calibri"/>
              </a:rPr>
              <a:t>2</a:t>
            </a:r>
            <a:endParaRPr b="0" i="0" sz="534" u="none" cap="none" strike="noStrike">
              <a:solidFill>
                <a:schemeClr val="dk1"/>
              </a:solidFill>
              <a:latin typeface="Calibri"/>
              <a:ea typeface="Calibri"/>
              <a:cs typeface="Calibri"/>
              <a:sym typeface="Calibri"/>
            </a:endParaRPr>
          </a:p>
        </p:txBody>
      </p:sp>
      <p:sp>
        <p:nvSpPr>
          <p:cNvPr id="270" name="Google Shape;270;p11"/>
          <p:cNvSpPr/>
          <p:nvPr/>
        </p:nvSpPr>
        <p:spPr>
          <a:xfrm>
            <a:off x="2764631" y="2941048"/>
            <a:ext cx="1507331"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Schema Design</a:t>
            </a:r>
            <a:endParaRPr b="0" i="0" sz="683" u="none" cap="none" strike="noStrike">
              <a:solidFill>
                <a:schemeClr val="dk1"/>
              </a:solidFill>
              <a:latin typeface="Calibri"/>
              <a:ea typeface="Calibri"/>
              <a:cs typeface="Calibri"/>
              <a:sym typeface="Calibri"/>
            </a:endParaRPr>
          </a:p>
        </p:txBody>
      </p:sp>
      <p:sp>
        <p:nvSpPr>
          <p:cNvPr id="271" name="Google Shape;271;p11"/>
          <p:cNvSpPr/>
          <p:nvPr/>
        </p:nvSpPr>
        <p:spPr>
          <a:xfrm>
            <a:off x="2764631" y="3105355"/>
            <a:ext cx="1507331"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DB Agent</a:t>
            </a:r>
            <a:endParaRPr b="0" i="0" sz="568" u="none" cap="none" strike="noStrike">
              <a:solidFill>
                <a:schemeClr val="dk1"/>
              </a:solidFill>
              <a:latin typeface="Calibri"/>
              <a:ea typeface="Calibri"/>
              <a:cs typeface="Calibri"/>
              <a:sym typeface="Calibri"/>
            </a:endParaRPr>
          </a:p>
        </p:txBody>
      </p:sp>
      <p:sp>
        <p:nvSpPr>
          <p:cNvPr id="272" name="Google Shape;272;p11"/>
          <p:cNvSpPr/>
          <p:nvPr/>
        </p:nvSpPr>
        <p:spPr>
          <a:xfrm>
            <a:off x="2764631" y="3241086"/>
            <a:ext cx="1507331" cy="222852"/>
          </a:xfrm>
          <a:prstGeom prst="rect">
            <a:avLst/>
          </a:prstGeom>
          <a:noFill/>
          <a:ln>
            <a:noFill/>
          </a:ln>
        </p:spPr>
        <p:txBody>
          <a:bodyPr anchorCtr="0" anchor="t" bIns="0" lIns="0" spcFirstLastPara="1" rIns="0" wrap="square" tIns="0">
            <a:noAutofit/>
          </a:bodyPr>
          <a:lstStyle/>
          <a:p>
            <a:pPr indent="0" lvl="0" marL="0" marR="0" rtl="0" algn="l">
              <a:lnSpc>
                <a:spcPct val="144927"/>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Create ERD and SQL migration scripts.</a:t>
            </a:r>
            <a:endParaRPr b="0" i="0" sz="621" u="none" cap="none" strike="noStrike">
              <a:solidFill>
                <a:schemeClr val="dk1"/>
              </a:solidFill>
              <a:latin typeface="Calibri"/>
              <a:ea typeface="Calibri"/>
              <a:cs typeface="Calibri"/>
              <a:sym typeface="Calibri"/>
            </a:endParaRPr>
          </a:p>
        </p:txBody>
      </p:sp>
      <p:sp>
        <p:nvSpPr>
          <p:cNvPr id="273" name="Google Shape;273;p11"/>
          <p:cNvSpPr/>
          <p:nvPr/>
        </p:nvSpPr>
        <p:spPr>
          <a:xfrm>
            <a:off x="2678906" y="3656819"/>
            <a:ext cx="1678781" cy="694339"/>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1"/>
          <p:cNvSpPr/>
          <p:nvPr/>
        </p:nvSpPr>
        <p:spPr>
          <a:xfrm>
            <a:off x="2621756" y="3599669"/>
            <a:ext cx="142875" cy="142875"/>
          </a:xfrm>
          <a:prstGeom prst="ellipse">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2621756" y="3599669"/>
            <a:ext cx="142875" cy="142875"/>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0D1B2E"/>
              </a:buClr>
              <a:buSzPts val="534"/>
              <a:buFont typeface="Calibri"/>
              <a:buNone/>
            </a:pPr>
            <a:r>
              <a:rPr b="1" i="0" lang="en-US" sz="534" u="none" cap="none" strike="noStrike">
                <a:solidFill>
                  <a:srgbClr val="0D1B2E"/>
                </a:solidFill>
                <a:latin typeface="Calibri"/>
                <a:ea typeface="Calibri"/>
                <a:cs typeface="Calibri"/>
                <a:sym typeface="Calibri"/>
              </a:rPr>
              <a:t>3</a:t>
            </a:r>
            <a:endParaRPr b="0" i="0" sz="534" u="none" cap="none" strike="noStrike">
              <a:solidFill>
                <a:schemeClr val="dk1"/>
              </a:solidFill>
              <a:latin typeface="Calibri"/>
              <a:ea typeface="Calibri"/>
              <a:cs typeface="Calibri"/>
              <a:sym typeface="Calibri"/>
            </a:endParaRPr>
          </a:p>
        </p:txBody>
      </p:sp>
      <p:sp>
        <p:nvSpPr>
          <p:cNvPr id="276" name="Google Shape;276;p11"/>
          <p:cNvSpPr/>
          <p:nvPr/>
        </p:nvSpPr>
        <p:spPr>
          <a:xfrm>
            <a:off x="2764631" y="3742544"/>
            <a:ext cx="1507331"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API Contract</a:t>
            </a:r>
            <a:endParaRPr b="0" i="0" sz="683" u="none" cap="none" strike="noStrike">
              <a:solidFill>
                <a:schemeClr val="dk1"/>
              </a:solidFill>
              <a:latin typeface="Calibri"/>
              <a:ea typeface="Calibri"/>
              <a:cs typeface="Calibri"/>
              <a:sym typeface="Calibri"/>
            </a:endParaRPr>
          </a:p>
        </p:txBody>
      </p:sp>
      <p:sp>
        <p:nvSpPr>
          <p:cNvPr id="277" name="Google Shape;277;p11"/>
          <p:cNvSpPr/>
          <p:nvPr/>
        </p:nvSpPr>
        <p:spPr>
          <a:xfrm>
            <a:off x="2764631" y="3906850"/>
            <a:ext cx="1507331"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API Agent</a:t>
            </a:r>
            <a:endParaRPr b="0" i="0" sz="568" u="none" cap="none" strike="noStrike">
              <a:solidFill>
                <a:schemeClr val="dk1"/>
              </a:solidFill>
              <a:latin typeface="Calibri"/>
              <a:ea typeface="Calibri"/>
              <a:cs typeface="Calibri"/>
              <a:sym typeface="Calibri"/>
            </a:endParaRPr>
          </a:p>
        </p:txBody>
      </p:sp>
      <p:sp>
        <p:nvSpPr>
          <p:cNvPr id="278" name="Google Shape;278;p11"/>
          <p:cNvSpPr/>
          <p:nvPr/>
        </p:nvSpPr>
        <p:spPr>
          <a:xfrm>
            <a:off x="2764631" y="4042581"/>
            <a:ext cx="1507331" cy="222852"/>
          </a:xfrm>
          <a:prstGeom prst="rect">
            <a:avLst/>
          </a:prstGeom>
          <a:noFill/>
          <a:ln>
            <a:noFill/>
          </a:ln>
        </p:spPr>
        <p:txBody>
          <a:bodyPr anchorCtr="0" anchor="t" bIns="0" lIns="0" spcFirstLastPara="1" rIns="0" wrap="square" tIns="0">
            <a:noAutofit/>
          </a:bodyPr>
          <a:lstStyle/>
          <a:p>
            <a:pPr indent="0" lvl="0" marL="0" marR="0" rtl="0" algn="l">
              <a:lnSpc>
                <a:spcPct val="144927"/>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Define OpenAPI (Swagger) specs for all endpoints.</a:t>
            </a:r>
            <a:endParaRPr b="0" i="0" sz="621" u="none" cap="none" strike="noStrike">
              <a:solidFill>
                <a:schemeClr val="dk1"/>
              </a:solidFill>
              <a:latin typeface="Calibri"/>
              <a:ea typeface="Calibri"/>
              <a:cs typeface="Calibri"/>
              <a:sym typeface="Calibri"/>
            </a:endParaRPr>
          </a:p>
        </p:txBody>
      </p:sp>
      <p:sp>
        <p:nvSpPr>
          <p:cNvPr id="279" name="Google Shape;279;p11"/>
          <p:cNvSpPr/>
          <p:nvPr/>
        </p:nvSpPr>
        <p:spPr>
          <a:xfrm>
            <a:off x="4643438" y="1098352"/>
            <a:ext cx="1964531" cy="3687961"/>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1"/>
          <p:cNvSpPr/>
          <p:nvPr/>
        </p:nvSpPr>
        <p:spPr>
          <a:xfrm>
            <a:off x="4643438" y="1098352"/>
            <a:ext cx="1964531" cy="28575"/>
          </a:xfrm>
          <a:prstGeom prst="rect">
            <a:avLst/>
          </a:prstGeom>
          <a:solidFill>
            <a:srgbClr val="651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1" name="Google Shape;281;p11"/>
          <p:cNvPicPr preferRelativeResize="0"/>
          <p:nvPr/>
        </p:nvPicPr>
        <p:blipFill rotWithShape="1">
          <a:blip r:embed="rId4">
            <a:alphaModFix/>
          </a:blip>
          <a:srcRect b="0" l="0" r="0" t="0"/>
          <a:stretch/>
        </p:blipFill>
        <p:spPr>
          <a:xfrm>
            <a:off x="6622256" y="1548408"/>
            <a:ext cx="71438" cy="114300"/>
          </a:xfrm>
          <a:prstGeom prst="rect">
            <a:avLst/>
          </a:prstGeom>
          <a:noFill/>
          <a:ln>
            <a:noFill/>
          </a:ln>
        </p:spPr>
      </p:pic>
      <p:pic>
        <p:nvPicPr>
          <p:cNvPr descr="preencoded.png" id="282" name="Google Shape;282;p11"/>
          <p:cNvPicPr preferRelativeResize="0"/>
          <p:nvPr/>
        </p:nvPicPr>
        <p:blipFill rotWithShape="1">
          <a:blip r:embed="rId7">
            <a:alphaModFix/>
          </a:blip>
          <a:srcRect b="0" l="0" r="0" t="0"/>
          <a:stretch/>
        </p:blipFill>
        <p:spPr>
          <a:xfrm>
            <a:off x="5513189" y="1280517"/>
            <a:ext cx="225028" cy="200025"/>
          </a:xfrm>
          <a:prstGeom prst="rect">
            <a:avLst/>
          </a:prstGeom>
          <a:noFill/>
          <a:ln>
            <a:noFill/>
          </a:ln>
        </p:spPr>
      </p:pic>
      <p:sp>
        <p:nvSpPr>
          <p:cNvPr id="283" name="Google Shape;283;p11"/>
          <p:cNvSpPr/>
          <p:nvPr/>
        </p:nvSpPr>
        <p:spPr>
          <a:xfrm>
            <a:off x="4786313" y="1585913"/>
            <a:ext cx="1678781" cy="350044"/>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Build (Implementation)</a:t>
            </a:r>
            <a:endParaRPr b="0" i="0" sz="885" u="none" cap="none" strike="noStrike">
              <a:solidFill>
                <a:schemeClr val="dk1"/>
              </a:solidFill>
              <a:latin typeface="Calibri"/>
              <a:ea typeface="Calibri"/>
              <a:cs typeface="Calibri"/>
              <a:sym typeface="Calibri"/>
            </a:endParaRPr>
          </a:p>
        </p:txBody>
      </p:sp>
      <p:sp>
        <p:nvSpPr>
          <p:cNvPr id="284" name="Google Shape;284;p11"/>
          <p:cNvSpPr/>
          <p:nvPr/>
        </p:nvSpPr>
        <p:spPr>
          <a:xfrm>
            <a:off x="4786313" y="2228850"/>
            <a:ext cx="1678781" cy="694339"/>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1"/>
          <p:cNvSpPr/>
          <p:nvPr/>
        </p:nvSpPr>
        <p:spPr>
          <a:xfrm>
            <a:off x="4729163" y="2171700"/>
            <a:ext cx="142875" cy="142875"/>
          </a:xfrm>
          <a:prstGeom prst="ellipse">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1"/>
          <p:cNvSpPr/>
          <p:nvPr/>
        </p:nvSpPr>
        <p:spPr>
          <a:xfrm>
            <a:off x="4729163" y="2171700"/>
            <a:ext cx="142875" cy="142875"/>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0D1B2E"/>
              </a:buClr>
              <a:buSzPts val="534"/>
              <a:buFont typeface="Calibri"/>
              <a:buNone/>
            </a:pPr>
            <a:r>
              <a:rPr b="1" i="0" lang="en-US" sz="534" u="none" cap="none" strike="noStrike">
                <a:solidFill>
                  <a:srgbClr val="0D1B2E"/>
                </a:solidFill>
                <a:latin typeface="Calibri"/>
                <a:ea typeface="Calibri"/>
                <a:cs typeface="Calibri"/>
                <a:sym typeface="Calibri"/>
              </a:rPr>
              <a:t>1</a:t>
            </a:r>
            <a:endParaRPr b="0" i="0" sz="534" u="none" cap="none" strike="noStrike">
              <a:solidFill>
                <a:schemeClr val="dk1"/>
              </a:solidFill>
              <a:latin typeface="Calibri"/>
              <a:ea typeface="Calibri"/>
              <a:cs typeface="Calibri"/>
              <a:sym typeface="Calibri"/>
            </a:endParaRPr>
          </a:p>
        </p:txBody>
      </p:sp>
      <p:sp>
        <p:nvSpPr>
          <p:cNvPr id="287" name="Google Shape;287;p11"/>
          <p:cNvSpPr/>
          <p:nvPr/>
        </p:nvSpPr>
        <p:spPr>
          <a:xfrm>
            <a:off x="4872038" y="2314575"/>
            <a:ext cx="1507331"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Scaffold</a:t>
            </a:r>
            <a:endParaRPr b="0" i="0" sz="683" u="none" cap="none" strike="noStrike">
              <a:solidFill>
                <a:schemeClr val="dk1"/>
              </a:solidFill>
              <a:latin typeface="Calibri"/>
              <a:ea typeface="Calibri"/>
              <a:cs typeface="Calibri"/>
              <a:sym typeface="Calibri"/>
            </a:endParaRPr>
          </a:p>
        </p:txBody>
      </p:sp>
      <p:sp>
        <p:nvSpPr>
          <p:cNvPr id="288" name="Google Shape;288;p11"/>
          <p:cNvSpPr/>
          <p:nvPr/>
        </p:nvSpPr>
        <p:spPr>
          <a:xfrm>
            <a:off x="4872038" y="2478881"/>
            <a:ext cx="1507331"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Tech Lead Agent</a:t>
            </a:r>
            <a:endParaRPr b="0" i="0" sz="568" u="none" cap="none" strike="noStrike">
              <a:solidFill>
                <a:schemeClr val="dk1"/>
              </a:solidFill>
              <a:latin typeface="Calibri"/>
              <a:ea typeface="Calibri"/>
              <a:cs typeface="Calibri"/>
              <a:sym typeface="Calibri"/>
            </a:endParaRPr>
          </a:p>
        </p:txBody>
      </p:sp>
      <p:sp>
        <p:nvSpPr>
          <p:cNvPr id="289" name="Google Shape;289;p11"/>
          <p:cNvSpPr/>
          <p:nvPr/>
        </p:nvSpPr>
        <p:spPr>
          <a:xfrm>
            <a:off x="4872038" y="2614613"/>
            <a:ext cx="1507331" cy="222852"/>
          </a:xfrm>
          <a:prstGeom prst="rect">
            <a:avLst/>
          </a:prstGeom>
          <a:noFill/>
          <a:ln>
            <a:noFill/>
          </a:ln>
        </p:spPr>
        <p:txBody>
          <a:bodyPr anchorCtr="0" anchor="t" bIns="0" lIns="0" spcFirstLastPara="1" rIns="0" wrap="square" tIns="0">
            <a:noAutofit/>
          </a:bodyPr>
          <a:lstStyle/>
          <a:p>
            <a:pPr indent="0" lvl="0" marL="0" marR="0" rtl="0" algn="l">
              <a:lnSpc>
                <a:spcPct val="144927"/>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Set up project structure and boilerplate code.</a:t>
            </a:r>
            <a:endParaRPr b="0" i="0" sz="621" u="none" cap="none" strike="noStrike">
              <a:solidFill>
                <a:schemeClr val="dk1"/>
              </a:solidFill>
              <a:latin typeface="Calibri"/>
              <a:ea typeface="Calibri"/>
              <a:cs typeface="Calibri"/>
              <a:sym typeface="Calibri"/>
            </a:endParaRPr>
          </a:p>
        </p:txBody>
      </p:sp>
      <p:sp>
        <p:nvSpPr>
          <p:cNvPr id="290" name="Google Shape;290;p11"/>
          <p:cNvSpPr/>
          <p:nvPr/>
        </p:nvSpPr>
        <p:spPr>
          <a:xfrm>
            <a:off x="4786313" y="3030345"/>
            <a:ext cx="1678781" cy="694339"/>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1"/>
          <p:cNvSpPr/>
          <p:nvPr/>
        </p:nvSpPr>
        <p:spPr>
          <a:xfrm>
            <a:off x="4729163" y="2973195"/>
            <a:ext cx="142875" cy="142875"/>
          </a:xfrm>
          <a:prstGeom prst="ellipse">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1"/>
          <p:cNvSpPr/>
          <p:nvPr/>
        </p:nvSpPr>
        <p:spPr>
          <a:xfrm>
            <a:off x="4729163" y="2973195"/>
            <a:ext cx="142875" cy="142875"/>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0D1B2E"/>
              </a:buClr>
              <a:buSzPts val="534"/>
              <a:buFont typeface="Calibri"/>
              <a:buNone/>
            </a:pPr>
            <a:r>
              <a:rPr b="1" i="0" lang="en-US" sz="534" u="none" cap="none" strike="noStrike">
                <a:solidFill>
                  <a:srgbClr val="0D1B2E"/>
                </a:solidFill>
                <a:latin typeface="Calibri"/>
                <a:ea typeface="Calibri"/>
                <a:cs typeface="Calibri"/>
                <a:sym typeface="Calibri"/>
              </a:rPr>
              <a:t>2</a:t>
            </a:r>
            <a:endParaRPr b="0" i="0" sz="534" u="none" cap="none" strike="noStrike">
              <a:solidFill>
                <a:schemeClr val="dk1"/>
              </a:solidFill>
              <a:latin typeface="Calibri"/>
              <a:ea typeface="Calibri"/>
              <a:cs typeface="Calibri"/>
              <a:sym typeface="Calibri"/>
            </a:endParaRPr>
          </a:p>
        </p:txBody>
      </p:sp>
      <p:sp>
        <p:nvSpPr>
          <p:cNvPr id="293" name="Google Shape;293;p11"/>
          <p:cNvSpPr/>
          <p:nvPr/>
        </p:nvSpPr>
        <p:spPr>
          <a:xfrm>
            <a:off x="4872038" y="3116070"/>
            <a:ext cx="1507331"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Core Logic</a:t>
            </a:r>
            <a:endParaRPr b="0" i="0" sz="683" u="none" cap="none" strike="noStrike">
              <a:solidFill>
                <a:schemeClr val="dk1"/>
              </a:solidFill>
              <a:latin typeface="Calibri"/>
              <a:ea typeface="Calibri"/>
              <a:cs typeface="Calibri"/>
              <a:sym typeface="Calibri"/>
            </a:endParaRPr>
          </a:p>
        </p:txBody>
      </p:sp>
      <p:sp>
        <p:nvSpPr>
          <p:cNvPr id="294" name="Google Shape;294;p11"/>
          <p:cNvSpPr/>
          <p:nvPr/>
        </p:nvSpPr>
        <p:spPr>
          <a:xfrm>
            <a:off x="4872038" y="3280377"/>
            <a:ext cx="1507331"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Backend Agent</a:t>
            </a:r>
            <a:endParaRPr b="0" i="0" sz="568" u="none" cap="none" strike="noStrike">
              <a:solidFill>
                <a:schemeClr val="dk1"/>
              </a:solidFill>
              <a:latin typeface="Calibri"/>
              <a:ea typeface="Calibri"/>
              <a:cs typeface="Calibri"/>
              <a:sym typeface="Calibri"/>
            </a:endParaRPr>
          </a:p>
        </p:txBody>
      </p:sp>
      <p:sp>
        <p:nvSpPr>
          <p:cNvPr id="295" name="Google Shape;295;p11"/>
          <p:cNvSpPr/>
          <p:nvPr/>
        </p:nvSpPr>
        <p:spPr>
          <a:xfrm>
            <a:off x="4872038" y="3416108"/>
            <a:ext cx="1507331" cy="222852"/>
          </a:xfrm>
          <a:prstGeom prst="rect">
            <a:avLst/>
          </a:prstGeom>
          <a:noFill/>
          <a:ln>
            <a:noFill/>
          </a:ln>
        </p:spPr>
        <p:txBody>
          <a:bodyPr anchorCtr="0" anchor="t" bIns="0" lIns="0" spcFirstLastPara="1" rIns="0" wrap="square" tIns="0">
            <a:noAutofit/>
          </a:bodyPr>
          <a:lstStyle/>
          <a:p>
            <a:pPr indent="0" lvl="0" marL="0" marR="0" rtl="0" algn="l">
              <a:lnSpc>
                <a:spcPct val="144927"/>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Implement business logic, services, and API routes.</a:t>
            </a:r>
            <a:endParaRPr b="0" i="0" sz="621" u="none" cap="none" strike="noStrike">
              <a:solidFill>
                <a:schemeClr val="dk1"/>
              </a:solidFill>
              <a:latin typeface="Calibri"/>
              <a:ea typeface="Calibri"/>
              <a:cs typeface="Calibri"/>
              <a:sym typeface="Calibri"/>
            </a:endParaRPr>
          </a:p>
        </p:txBody>
      </p:sp>
      <p:sp>
        <p:nvSpPr>
          <p:cNvPr id="296" name="Google Shape;296;p11"/>
          <p:cNvSpPr/>
          <p:nvPr/>
        </p:nvSpPr>
        <p:spPr>
          <a:xfrm>
            <a:off x="4786313" y="3831841"/>
            <a:ext cx="1678781" cy="694339"/>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1"/>
          <p:cNvSpPr/>
          <p:nvPr/>
        </p:nvSpPr>
        <p:spPr>
          <a:xfrm>
            <a:off x="4729163" y="3774691"/>
            <a:ext cx="142875" cy="142875"/>
          </a:xfrm>
          <a:prstGeom prst="ellipse">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1"/>
          <p:cNvSpPr/>
          <p:nvPr/>
        </p:nvSpPr>
        <p:spPr>
          <a:xfrm>
            <a:off x="4729163" y="3774691"/>
            <a:ext cx="142875" cy="142875"/>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0D1B2E"/>
              </a:buClr>
              <a:buSzPts val="534"/>
              <a:buFont typeface="Calibri"/>
              <a:buNone/>
            </a:pPr>
            <a:r>
              <a:rPr b="1" i="0" lang="en-US" sz="534" u="none" cap="none" strike="noStrike">
                <a:solidFill>
                  <a:srgbClr val="0D1B2E"/>
                </a:solidFill>
                <a:latin typeface="Calibri"/>
                <a:ea typeface="Calibri"/>
                <a:cs typeface="Calibri"/>
                <a:sym typeface="Calibri"/>
              </a:rPr>
              <a:t>3</a:t>
            </a:r>
            <a:endParaRPr b="0" i="0" sz="534" u="none" cap="none" strike="noStrike">
              <a:solidFill>
                <a:schemeClr val="dk1"/>
              </a:solidFill>
              <a:latin typeface="Calibri"/>
              <a:ea typeface="Calibri"/>
              <a:cs typeface="Calibri"/>
              <a:sym typeface="Calibri"/>
            </a:endParaRPr>
          </a:p>
        </p:txBody>
      </p:sp>
      <p:sp>
        <p:nvSpPr>
          <p:cNvPr id="299" name="Google Shape;299;p11"/>
          <p:cNvSpPr/>
          <p:nvPr/>
        </p:nvSpPr>
        <p:spPr>
          <a:xfrm>
            <a:off x="4872038" y="3917566"/>
            <a:ext cx="1507331"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UI Components</a:t>
            </a:r>
            <a:endParaRPr b="0" i="0" sz="683" u="none" cap="none" strike="noStrike">
              <a:solidFill>
                <a:schemeClr val="dk1"/>
              </a:solidFill>
              <a:latin typeface="Calibri"/>
              <a:ea typeface="Calibri"/>
              <a:cs typeface="Calibri"/>
              <a:sym typeface="Calibri"/>
            </a:endParaRPr>
          </a:p>
        </p:txBody>
      </p:sp>
      <p:sp>
        <p:nvSpPr>
          <p:cNvPr id="300" name="Google Shape;300;p11"/>
          <p:cNvSpPr/>
          <p:nvPr/>
        </p:nvSpPr>
        <p:spPr>
          <a:xfrm>
            <a:off x="4872038" y="4081872"/>
            <a:ext cx="1507331"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Frontend Agent</a:t>
            </a:r>
            <a:endParaRPr b="0" i="0" sz="568" u="none" cap="none" strike="noStrike">
              <a:solidFill>
                <a:schemeClr val="dk1"/>
              </a:solidFill>
              <a:latin typeface="Calibri"/>
              <a:ea typeface="Calibri"/>
              <a:cs typeface="Calibri"/>
              <a:sym typeface="Calibri"/>
            </a:endParaRPr>
          </a:p>
        </p:txBody>
      </p:sp>
      <p:sp>
        <p:nvSpPr>
          <p:cNvPr id="301" name="Google Shape;301;p11"/>
          <p:cNvSpPr/>
          <p:nvPr/>
        </p:nvSpPr>
        <p:spPr>
          <a:xfrm>
            <a:off x="4872038" y="4217603"/>
            <a:ext cx="1507331" cy="222852"/>
          </a:xfrm>
          <a:prstGeom prst="rect">
            <a:avLst/>
          </a:prstGeom>
          <a:noFill/>
          <a:ln>
            <a:noFill/>
          </a:ln>
        </p:spPr>
        <p:txBody>
          <a:bodyPr anchorCtr="0" anchor="t" bIns="0" lIns="0" spcFirstLastPara="1" rIns="0" wrap="square" tIns="0">
            <a:noAutofit/>
          </a:bodyPr>
          <a:lstStyle/>
          <a:p>
            <a:pPr indent="0" lvl="0" marL="0" marR="0" rtl="0" algn="l">
              <a:lnSpc>
                <a:spcPct val="144927"/>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Build React components and integrate with API.</a:t>
            </a:r>
            <a:endParaRPr b="0" i="0" sz="621" u="none" cap="none" strike="noStrike">
              <a:solidFill>
                <a:schemeClr val="dk1"/>
              </a:solidFill>
              <a:latin typeface="Calibri"/>
              <a:ea typeface="Calibri"/>
              <a:cs typeface="Calibri"/>
              <a:sym typeface="Calibri"/>
            </a:endParaRPr>
          </a:p>
        </p:txBody>
      </p:sp>
      <p:sp>
        <p:nvSpPr>
          <p:cNvPr id="302" name="Google Shape;302;p11"/>
          <p:cNvSpPr/>
          <p:nvPr/>
        </p:nvSpPr>
        <p:spPr>
          <a:xfrm>
            <a:off x="6750844" y="1098352"/>
            <a:ext cx="1964531" cy="3687961"/>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a:off x="6750844" y="1098352"/>
            <a:ext cx="1964531" cy="28575"/>
          </a:xfrm>
          <a:prstGeom prst="rect">
            <a:avLst/>
          </a:prstGeom>
          <a:solidFill>
            <a:srgbClr val="00C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4" name="Google Shape;304;p11"/>
          <p:cNvPicPr preferRelativeResize="0"/>
          <p:nvPr/>
        </p:nvPicPr>
        <p:blipFill rotWithShape="1">
          <a:blip r:embed="rId8">
            <a:alphaModFix/>
          </a:blip>
          <a:srcRect b="0" l="0" r="0" t="0"/>
          <a:stretch/>
        </p:blipFill>
        <p:spPr>
          <a:xfrm>
            <a:off x="7645598" y="1280517"/>
            <a:ext cx="175022" cy="200025"/>
          </a:xfrm>
          <a:prstGeom prst="rect">
            <a:avLst/>
          </a:prstGeom>
          <a:noFill/>
          <a:ln>
            <a:noFill/>
          </a:ln>
        </p:spPr>
      </p:pic>
      <p:sp>
        <p:nvSpPr>
          <p:cNvPr id="305" name="Google Shape;305;p11"/>
          <p:cNvSpPr/>
          <p:nvPr/>
        </p:nvSpPr>
        <p:spPr>
          <a:xfrm>
            <a:off x="6893719" y="1585913"/>
            <a:ext cx="1678781" cy="175022"/>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Review (Validation)</a:t>
            </a:r>
            <a:endParaRPr b="0" i="0" sz="885" u="none" cap="none" strike="noStrike">
              <a:solidFill>
                <a:schemeClr val="dk1"/>
              </a:solidFill>
              <a:latin typeface="Calibri"/>
              <a:ea typeface="Calibri"/>
              <a:cs typeface="Calibri"/>
              <a:sym typeface="Calibri"/>
            </a:endParaRPr>
          </a:p>
        </p:txBody>
      </p:sp>
      <p:sp>
        <p:nvSpPr>
          <p:cNvPr id="306" name="Google Shape;306;p11"/>
          <p:cNvSpPr/>
          <p:nvPr/>
        </p:nvSpPr>
        <p:spPr>
          <a:xfrm>
            <a:off x="6893719" y="2053828"/>
            <a:ext cx="1678781" cy="694339"/>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
          <p:cNvSpPr/>
          <p:nvPr/>
        </p:nvSpPr>
        <p:spPr>
          <a:xfrm>
            <a:off x="6836569" y="1996678"/>
            <a:ext cx="142875" cy="142875"/>
          </a:xfrm>
          <a:prstGeom prst="ellipse">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1"/>
          <p:cNvSpPr/>
          <p:nvPr/>
        </p:nvSpPr>
        <p:spPr>
          <a:xfrm>
            <a:off x="6836569" y="1996678"/>
            <a:ext cx="142875" cy="142875"/>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0D1B2E"/>
              </a:buClr>
              <a:buSzPts val="534"/>
              <a:buFont typeface="Calibri"/>
              <a:buNone/>
            </a:pPr>
            <a:r>
              <a:rPr b="1" i="0" lang="en-US" sz="534" u="none" cap="none" strike="noStrike">
                <a:solidFill>
                  <a:srgbClr val="0D1B2E"/>
                </a:solidFill>
                <a:latin typeface="Calibri"/>
                <a:ea typeface="Calibri"/>
                <a:cs typeface="Calibri"/>
                <a:sym typeface="Calibri"/>
              </a:rPr>
              <a:t>1</a:t>
            </a:r>
            <a:endParaRPr b="0" i="0" sz="534" u="none" cap="none" strike="noStrike">
              <a:solidFill>
                <a:schemeClr val="dk1"/>
              </a:solidFill>
              <a:latin typeface="Calibri"/>
              <a:ea typeface="Calibri"/>
              <a:cs typeface="Calibri"/>
              <a:sym typeface="Calibri"/>
            </a:endParaRPr>
          </a:p>
        </p:txBody>
      </p:sp>
      <p:sp>
        <p:nvSpPr>
          <p:cNvPr id="309" name="Google Shape;309;p11"/>
          <p:cNvSpPr/>
          <p:nvPr/>
        </p:nvSpPr>
        <p:spPr>
          <a:xfrm>
            <a:off x="6979444" y="2139553"/>
            <a:ext cx="1507331"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Code Review</a:t>
            </a:r>
            <a:endParaRPr b="0" i="0" sz="683" u="none" cap="none" strike="noStrike">
              <a:solidFill>
                <a:schemeClr val="dk1"/>
              </a:solidFill>
              <a:latin typeface="Calibri"/>
              <a:ea typeface="Calibri"/>
              <a:cs typeface="Calibri"/>
              <a:sym typeface="Calibri"/>
            </a:endParaRPr>
          </a:p>
        </p:txBody>
      </p:sp>
      <p:sp>
        <p:nvSpPr>
          <p:cNvPr id="310" name="Google Shape;310;p11"/>
          <p:cNvSpPr/>
          <p:nvPr/>
        </p:nvSpPr>
        <p:spPr>
          <a:xfrm>
            <a:off x="6979444" y="2303859"/>
            <a:ext cx="1507331"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Linter Agent</a:t>
            </a:r>
            <a:endParaRPr b="0" i="0" sz="568" u="none" cap="none" strike="noStrike">
              <a:solidFill>
                <a:schemeClr val="dk1"/>
              </a:solidFill>
              <a:latin typeface="Calibri"/>
              <a:ea typeface="Calibri"/>
              <a:cs typeface="Calibri"/>
              <a:sym typeface="Calibri"/>
            </a:endParaRPr>
          </a:p>
        </p:txBody>
      </p:sp>
      <p:sp>
        <p:nvSpPr>
          <p:cNvPr id="311" name="Google Shape;311;p11"/>
          <p:cNvSpPr/>
          <p:nvPr/>
        </p:nvSpPr>
        <p:spPr>
          <a:xfrm>
            <a:off x="6979444" y="2439591"/>
            <a:ext cx="1507331" cy="222852"/>
          </a:xfrm>
          <a:prstGeom prst="rect">
            <a:avLst/>
          </a:prstGeom>
          <a:noFill/>
          <a:ln>
            <a:noFill/>
          </a:ln>
        </p:spPr>
        <p:txBody>
          <a:bodyPr anchorCtr="0" anchor="t" bIns="0" lIns="0" spcFirstLastPara="1" rIns="0" wrap="square" tIns="0">
            <a:noAutofit/>
          </a:bodyPr>
          <a:lstStyle/>
          <a:p>
            <a:pPr indent="0" lvl="0" marL="0" marR="0" rtl="0" algn="l">
              <a:lnSpc>
                <a:spcPct val="144927"/>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Static analysis for syntax, style, and best practices.</a:t>
            </a:r>
            <a:endParaRPr b="0" i="0" sz="621" u="none" cap="none" strike="noStrike">
              <a:solidFill>
                <a:schemeClr val="dk1"/>
              </a:solidFill>
              <a:latin typeface="Calibri"/>
              <a:ea typeface="Calibri"/>
              <a:cs typeface="Calibri"/>
              <a:sym typeface="Calibri"/>
            </a:endParaRPr>
          </a:p>
        </p:txBody>
      </p:sp>
      <p:sp>
        <p:nvSpPr>
          <p:cNvPr id="312" name="Google Shape;312;p11"/>
          <p:cNvSpPr/>
          <p:nvPr/>
        </p:nvSpPr>
        <p:spPr>
          <a:xfrm>
            <a:off x="6893719" y="2855323"/>
            <a:ext cx="1678781" cy="694339"/>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1"/>
          <p:cNvSpPr/>
          <p:nvPr/>
        </p:nvSpPr>
        <p:spPr>
          <a:xfrm>
            <a:off x="6836569" y="2798173"/>
            <a:ext cx="142875" cy="142875"/>
          </a:xfrm>
          <a:prstGeom prst="ellipse">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1"/>
          <p:cNvSpPr/>
          <p:nvPr/>
        </p:nvSpPr>
        <p:spPr>
          <a:xfrm>
            <a:off x="6836569" y="2798173"/>
            <a:ext cx="142875" cy="142875"/>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0D1B2E"/>
              </a:buClr>
              <a:buSzPts val="534"/>
              <a:buFont typeface="Calibri"/>
              <a:buNone/>
            </a:pPr>
            <a:r>
              <a:rPr b="1" i="0" lang="en-US" sz="534" u="none" cap="none" strike="noStrike">
                <a:solidFill>
                  <a:srgbClr val="0D1B2E"/>
                </a:solidFill>
                <a:latin typeface="Calibri"/>
                <a:ea typeface="Calibri"/>
                <a:cs typeface="Calibri"/>
                <a:sym typeface="Calibri"/>
              </a:rPr>
              <a:t>2</a:t>
            </a:r>
            <a:endParaRPr b="0" i="0" sz="534" u="none" cap="none" strike="noStrike">
              <a:solidFill>
                <a:schemeClr val="dk1"/>
              </a:solidFill>
              <a:latin typeface="Calibri"/>
              <a:ea typeface="Calibri"/>
              <a:cs typeface="Calibri"/>
              <a:sym typeface="Calibri"/>
            </a:endParaRPr>
          </a:p>
        </p:txBody>
      </p:sp>
      <p:sp>
        <p:nvSpPr>
          <p:cNvPr id="315" name="Google Shape;315;p11"/>
          <p:cNvSpPr/>
          <p:nvPr/>
        </p:nvSpPr>
        <p:spPr>
          <a:xfrm>
            <a:off x="6979444" y="2941048"/>
            <a:ext cx="1507331"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Security Audit</a:t>
            </a:r>
            <a:endParaRPr b="0" i="0" sz="683" u="none" cap="none" strike="noStrike">
              <a:solidFill>
                <a:schemeClr val="dk1"/>
              </a:solidFill>
              <a:latin typeface="Calibri"/>
              <a:ea typeface="Calibri"/>
              <a:cs typeface="Calibri"/>
              <a:sym typeface="Calibri"/>
            </a:endParaRPr>
          </a:p>
        </p:txBody>
      </p:sp>
      <p:sp>
        <p:nvSpPr>
          <p:cNvPr id="316" name="Google Shape;316;p11"/>
          <p:cNvSpPr/>
          <p:nvPr/>
        </p:nvSpPr>
        <p:spPr>
          <a:xfrm>
            <a:off x="6979444" y="3105355"/>
            <a:ext cx="1507331"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OWASP Agent</a:t>
            </a:r>
            <a:endParaRPr b="0" i="0" sz="568" u="none" cap="none" strike="noStrike">
              <a:solidFill>
                <a:schemeClr val="dk1"/>
              </a:solidFill>
              <a:latin typeface="Calibri"/>
              <a:ea typeface="Calibri"/>
              <a:cs typeface="Calibri"/>
              <a:sym typeface="Calibri"/>
            </a:endParaRPr>
          </a:p>
        </p:txBody>
      </p:sp>
      <p:sp>
        <p:nvSpPr>
          <p:cNvPr id="317" name="Google Shape;317;p11"/>
          <p:cNvSpPr/>
          <p:nvPr/>
        </p:nvSpPr>
        <p:spPr>
          <a:xfrm>
            <a:off x="6979444" y="3241086"/>
            <a:ext cx="1507331" cy="222852"/>
          </a:xfrm>
          <a:prstGeom prst="rect">
            <a:avLst/>
          </a:prstGeom>
          <a:noFill/>
          <a:ln>
            <a:noFill/>
          </a:ln>
        </p:spPr>
        <p:txBody>
          <a:bodyPr anchorCtr="0" anchor="t" bIns="0" lIns="0" spcFirstLastPara="1" rIns="0" wrap="square" tIns="0">
            <a:noAutofit/>
          </a:bodyPr>
          <a:lstStyle/>
          <a:p>
            <a:pPr indent="0" lvl="0" marL="0" marR="0" rtl="0" algn="l">
              <a:lnSpc>
                <a:spcPct val="144927"/>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Scan for vulnerabilities (SQLi, XSS, etc.).</a:t>
            </a:r>
            <a:endParaRPr b="0" i="0" sz="621" u="none" cap="none" strike="noStrike">
              <a:solidFill>
                <a:schemeClr val="dk1"/>
              </a:solidFill>
              <a:latin typeface="Calibri"/>
              <a:ea typeface="Calibri"/>
              <a:cs typeface="Calibri"/>
              <a:sym typeface="Calibri"/>
            </a:endParaRPr>
          </a:p>
        </p:txBody>
      </p:sp>
      <p:sp>
        <p:nvSpPr>
          <p:cNvPr id="318" name="Google Shape;318;p11"/>
          <p:cNvSpPr/>
          <p:nvPr/>
        </p:nvSpPr>
        <p:spPr>
          <a:xfrm>
            <a:off x="6893719" y="3656819"/>
            <a:ext cx="1678781" cy="694339"/>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1"/>
          <p:cNvSpPr/>
          <p:nvPr/>
        </p:nvSpPr>
        <p:spPr>
          <a:xfrm>
            <a:off x="6836569" y="3599669"/>
            <a:ext cx="142875" cy="142875"/>
          </a:xfrm>
          <a:prstGeom prst="ellipse">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1"/>
          <p:cNvSpPr/>
          <p:nvPr/>
        </p:nvSpPr>
        <p:spPr>
          <a:xfrm>
            <a:off x="6836569" y="3599669"/>
            <a:ext cx="142875" cy="142875"/>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0D1B2E"/>
              </a:buClr>
              <a:buSzPts val="534"/>
              <a:buFont typeface="Calibri"/>
              <a:buNone/>
            </a:pPr>
            <a:r>
              <a:rPr b="1" i="0" lang="en-US" sz="534" u="none" cap="none" strike="noStrike">
                <a:solidFill>
                  <a:srgbClr val="0D1B2E"/>
                </a:solidFill>
                <a:latin typeface="Calibri"/>
                <a:ea typeface="Calibri"/>
                <a:cs typeface="Calibri"/>
                <a:sym typeface="Calibri"/>
              </a:rPr>
              <a:t>3</a:t>
            </a:r>
            <a:endParaRPr b="0" i="0" sz="534" u="none" cap="none" strike="noStrike">
              <a:solidFill>
                <a:schemeClr val="dk1"/>
              </a:solidFill>
              <a:latin typeface="Calibri"/>
              <a:ea typeface="Calibri"/>
              <a:cs typeface="Calibri"/>
              <a:sym typeface="Calibri"/>
            </a:endParaRPr>
          </a:p>
        </p:txBody>
      </p:sp>
      <p:sp>
        <p:nvSpPr>
          <p:cNvPr id="321" name="Google Shape;321;p11"/>
          <p:cNvSpPr/>
          <p:nvPr/>
        </p:nvSpPr>
        <p:spPr>
          <a:xfrm>
            <a:off x="6979444" y="3742544"/>
            <a:ext cx="1507331"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Compliance Check</a:t>
            </a:r>
            <a:endParaRPr b="0" i="0" sz="683" u="none" cap="none" strike="noStrike">
              <a:solidFill>
                <a:schemeClr val="dk1"/>
              </a:solidFill>
              <a:latin typeface="Calibri"/>
              <a:ea typeface="Calibri"/>
              <a:cs typeface="Calibri"/>
              <a:sym typeface="Calibri"/>
            </a:endParaRPr>
          </a:p>
        </p:txBody>
      </p:sp>
      <p:sp>
        <p:nvSpPr>
          <p:cNvPr id="322" name="Google Shape;322;p11"/>
          <p:cNvSpPr/>
          <p:nvPr/>
        </p:nvSpPr>
        <p:spPr>
          <a:xfrm>
            <a:off x="6979444" y="3906850"/>
            <a:ext cx="1507331"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Traceability Agent</a:t>
            </a:r>
            <a:endParaRPr b="0" i="0" sz="568" u="none" cap="none" strike="noStrike">
              <a:solidFill>
                <a:schemeClr val="dk1"/>
              </a:solidFill>
              <a:latin typeface="Calibri"/>
              <a:ea typeface="Calibri"/>
              <a:cs typeface="Calibri"/>
              <a:sym typeface="Calibri"/>
            </a:endParaRPr>
          </a:p>
        </p:txBody>
      </p:sp>
      <p:sp>
        <p:nvSpPr>
          <p:cNvPr id="323" name="Google Shape;323;p11"/>
          <p:cNvSpPr/>
          <p:nvPr/>
        </p:nvSpPr>
        <p:spPr>
          <a:xfrm>
            <a:off x="6979444" y="4042581"/>
            <a:ext cx="1507331" cy="222852"/>
          </a:xfrm>
          <a:prstGeom prst="rect">
            <a:avLst/>
          </a:prstGeom>
          <a:noFill/>
          <a:ln>
            <a:noFill/>
          </a:ln>
        </p:spPr>
        <p:txBody>
          <a:bodyPr anchorCtr="0" anchor="t" bIns="0" lIns="0" spcFirstLastPara="1" rIns="0" wrap="square" tIns="0">
            <a:noAutofit/>
          </a:bodyPr>
          <a:lstStyle/>
          <a:p>
            <a:pPr indent="0" lvl="0" marL="0" marR="0" rtl="0" algn="l">
              <a:lnSpc>
                <a:spcPct val="144927"/>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Verify implementation matches TRD requirements.</a:t>
            </a:r>
            <a:endParaRPr b="0" i="0" sz="621"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pic>
        <p:nvPicPr>
          <p:cNvPr descr="preencoded.png" id="329" name="Google Shape;329;p1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30" name="Google Shape;330;p12"/>
          <p:cNvSpPr/>
          <p:nvPr/>
        </p:nvSpPr>
        <p:spPr>
          <a:xfrm>
            <a:off x="428625" y="285750"/>
            <a:ext cx="8286750" cy="312539"/>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FFFFFF"/>
              </a:buClr>
              <a:buSzPts val="1602"/>
              <a:buFont typeface="Calibri"/>
              <a:buNone/>
            </a:pPr>
            <a:r>
              <a:rPr b="1" i="0" lang="en-US" sz="1602" u="none" cap="none" strike="noStrike">
                <a:solidFill>
                  <a:srgbClr val="FFFFFF"/>
                </a:solidFill>
                <a:latin typeface="Calibri"/>
                <a:ea typeface="Calibri"/>
                <a:cs typeface="Calibri"/>
                <a:sym typeface="Calibri"/>
              </a:rPr>
              <a:t>Step 1: BRD Creation (Definition)</a:t>
            </a:r>
            <a:endParaRPr b="0" i="0" sz="1602" u="none" cap="none" strike="noStrike">
              <a:solidFill>
                <a:schemeClr val="dk1"/>
              </a:solidFill>
              <a:latin typeface="Calibri"/>
              <a:ea typeface="Calibri"/>
              <a:cs typeface="Calibri"/>
              <a:sym typeface="Calibri"/>
            </a:endParaRPr>
          </a:p>
        </p:txBody>
      </p:sp>
      <p:sp>
        <p:nvSpPr>
          <p:cNvPr id="331" name="Google Shape;331;p12"/>
          <p:cNvSpPr/>
          <p:nvPr/>
        </p:nvSpPr>
        <p:spPr>
          <a:xfrm>
            <a:off x="728663" y="719733"/>
            <a:ext cx="257175" cy="257175"/>
          </a:xfrm>
          <a:prstGeom prst="ellipse">
            <a:avLst/>
          </a:prstGeom>
          <a:solidFill>
            <a:srgbClr val="2979FF"/>
          </a:solidFill>
          <a:ln cap="flat" cmpd="sng" w="182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2"/>
          <p:cNvSpPr/>
          <p:nvPr/>
        </p:nvSpPr>
        <p:spPr>
          <a:xfrm>
            <a:off x="728663" y="719733"/>
            <a:ext cx="257175" cy="257175"/>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FFFFFF"/>
              </a:buClr>
              <a:buSzPts val="584"/>
              <a:buFont typeface="Calibri"/>
              <a:buNone/>
            </a:pPr>
            <a:r>
              <a:rPr b="1" i="0" lang="en-US" sz="584" u="none" cap="none" strike="noStrike">
                <a:solidFill>
                  <a:srgbClr val="FFFFFF"/>
                </a:solidFill>
                <a:latin typeface="Calibri"/>
                <a:ea typeface="Calibri"/>
                <a:cs typeface="Calibri"/>
                <a:sym typeface="Calibri"/>
              </a:rPr>
              <a:t>1</a:t>
            </a:r>
            <a:endParaRPr b="0" i="0" sz="584" u="none" cap="none" strike="noStrike">
              <a:solidFill>
                <a:schemeClr val="dk1"/>
              </a:solidFill>
              <a:latin typeface="Calibri"/>
              <a:ea typeface="Calibri"/>
              <a:cs typeface="Calibri"/>
              <a:sym typeface="Calibri"/>
            </a:endParaRPr>
          </a:p>
        </p:txBody>
      </p:sp>
      <p:sp>
        <p:nvSpPr>
          <p:cNvPr id="333" name="Google Shape;333;p12"/>
          <p:cNvSpPr/>
          <p:nvPr/>
        </p:nvSpPr>
        <p:spPr>
          <a:xfrm>
            <a:off x="644779" y="1012627"/>
            <a:ext cx="424914"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2979FF"/>
              </a:buClr>
              <a:buSzPts val="485"/>
              <a:buFont typeface="Calibri"/>
              <a:buNone/>
            </a:pPr>
            <a:r>
              <a:rPr b="1" i="0" lang="en-US" sz="485" u="none" cap="none" strike="noStrike">
                <a:solidFill>
                  <a:srgbClr val="2979FF"/>
                </a:solidFill>
                <a:latin typeface="Calibri"/>
                <a:ea typeface="Calibri"/>
                <a:cs typeface="Calibri"/>
                <a:sym typeface="Calibri"/>
              </a:rPr>
              <a:t>BRD Create</a:t>
            </a:r>
            <a:endParaRPr b="0" i="0" sz="485" u="none" cap="none" strike="noStrike">
              <a:solidFill>
                <a:schemeClr val="dk1"/>
              </a:solidFill>
              <a:latin typeface="Calibri"/>
              <a:ea typeface="Calibri"/>
              <a:cs typeface="Calibri"/>
              <a:sym typeface="Calibri"/>
            </a:endParaRPr>
          </a:p>
        </p:txBody>
      </p:sp>
      <p:sp>
        <p:nvSpPr>
          <p:cNvPr id="334" name="Google Shape;334;p12"/>
          <p:cNvSpPr/>
          <p:nvPr/>
        </p:nvSpPr>
        <p:spPr>
          <a:xfrm>
            <a:off x="1811443"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2"/>
          <p:cNvSpPr/>
          <p:nvPr/>
        </p:nvSpPr>
        <p:spPr>
          <a:xfrm>
            <a:off x="1811443"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2</a:t>
            </a:r>
            <a:endParaRPr b="0" i="0" sz="584" u="none" cap="none" strike="noStrike">
              <a:solidFill>
                <a:schemeClr val="dk1"/>
              </a:solidFill>
              <a:latin typeface="Calibri"/>
              <a:ea typeface="Calibri"/>
              <a:cs typeface="Calibri"/>
              <a:sym typeface="Calibri"/>
            </a:endParaRPr>
          </a:p>
        </p:txBody>
      </p:sp>
      <p:sp>
        <p:nvSpPr>
          <p:cNvPr id="336" name="Google Shape;336;p12"/>
          <p:cNvSpPr/>
          <p:nvPr/>
        </p:nvSpPr>
        <p:spPr>
          <a:xfrm>
            <a:off x="1706463" y="1012627"/>
            <a:ext cx="424272"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BRD Review</a:t>
            </a:r>
            <a:endParaRPr b="0" i="0" sz="485" u="none" cap="none" strike="noStrike">
              <a:solidFill>
                <a:schemeClr val="dk1"/>
              </a:solidFill>
              <a:latin typeface="Calibri"/>
              <a:ea typeface="Calibri"/>
              <a:cs typeface="Calibri"/>
              <a:sym typeface="Calibri"/>
            </a:endParaRPr>
          </a:p>
        </p:txBody>
      </p:sp>
      <p:sp>
        <p:nvSpPr>
          <p:cNvPr id="337" name="Google Shape;337;p12"/>
          <p:cNvSpPr/>
          <p:nvPr/>
        </p:nvSpPr>
        <p:spPr>
          <a:xfrm>
            <a:off x="2872792"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2"/>
          <p:cNvSpPr/>
          <p:nvPr/>
        </p:nvSpPr>
        <p:spPr>
          <a:xfrm>
            <a:off x="2872792"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3</a:t>
            </a:r>
            <a:endParaRPr b="0" i="0" sz="584" u="none" cap="none" strike="noStrike">
              <a:solidFill>
                <a:schemeClr val="dk1"/>
              </a:solidFill>
              <a:latin typeface="Calibri"/>
              <a:ea typeface="Calibri"/>
              <a:cs typeface="Calibri"/>
              <a:sym typeface="Calibri"/>
            </a:endParaRPr>
          </a:p>
        </p:txBody>
      </p:sp>
      <p:sp>
        <p:nvSpPr>
          <p:cNvPr id="339" name="Google Shape;339;p12"/>
          <p:cNvSpPr/>
          <p:nvPr/>
        </p:nvSpPr>
        <p:spPr>
          <a:xfrm>
            <a:off x="2847873" y="1012627"/>
            <a:ext cx="264123"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Design</a:t>
            </a:r>
            <a:endParaRPr b="0" i="0" sz="485" u="none" cap="none" strike="noStrike">
              <a:solidFill>
                <a:schemeClr val="dk1"/>
              </a:solidFill>
              <a:latin typeface="Calibri"/>
              <a:ea typeface="Calibri"/>
              <a:cs typeface="Calibri"/>
              <a:sym typeface="Calibri"/>
            </a:endParaRPr>
          </a:p>
        </p:txBody>
      </p:sp>
      <p:sp>
        <p:nvSpPr>
          <p:cNvPr id="340" name="Google Shape;340;p12"/>
          <p:cNvSpPr/>
          <p:nvPr/>
        </p:nvSpPr>
        <p:spPr>
          <a:xfrm>
            <a:off x="3934141"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2"/>
          <p:cNvSpPr/>
          <p:nvPr/>
        </p:nvSpPr>
        <p:spPr>
          <a:xfrm>
            <a:off x="3934141"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4</a:t>
            </a:r>
            <a:endParaRPr b="0" i="0" sz="584" u="none" cap="none" strike="noStrike">
              <a:solidFill>
                <a:schemeClr val="dk1"/>
              </a:solidFill>
              <a:latin typeface="Calibri"/>
              <a:ea typeface="Calibri"/>
              <a:cs typeface="Calibri"/>
              <a:sym typeface="Calibri"/>
            </a:endParaRPr>
          </a:p>
        </p:txBody>
      </p:sp>
      <p:sp>
        <p:nvSpPr>
          <p:cNvPr id="342" name="Google Shape;342;p12"/>
          <p:cNvSpPr/>
          <p:nvPr/>
        </p:nvSpPr>
        <p:spPr>
          <a:xfrm>
            <a:off x="3949210" y="1012627"/>
            <a:ext cx="184175"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Plan</a:t>
            </a:r>
            <a:endParaRPr b="0" i="0" sz="485" u="none" cap="none" strike="noStrike">
              <a:solidFill>
                <a:schemeClr val="dk1"/>
              </a:solidFill>
              <a:latin typeface="Calibri"/>
              <a:ea typeface="Calibri"/>
              <a:cs typeface="Calibri"/>
              <a:sym typeface="Calibri"/>
            </a:endParaRPr>
          </a:p>
        </p:txBody>
      </p:sp>
      <p:sp>
        <p:nvSpPr>
          <p:cNvPr id="343" name="Google Shape;343;p12"/>
          <p:cNvSpPr/>
          <p:nvPr/>
        </p:nvSpPr>
        <p:spPr>
          <a:xfrm>
            <a:off x="4995490"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2"/>
          <p:cNvSpPr/>
          <p:nvPr/>
        </p:nvSpPr>
        <p:spPr>
          <a:xfrm>
            <a:off x="4995490"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5</a:t>
            </a:r>
            <a:endParaRPr b="0" i="0" sz="584" u="none" cap="none" strike="noStrike">
              <a:solidFill>
                <a:schemeClr val="dk1"/>
              </a:solidFill>
              <a:latin typeface="Calibri"/>
              <a:ea typeface="Calibri"/>
              <a:cs typeface="Calibri"/>
              <a:sym typeface="Calibri"/>
            </a:endParaRPr>
          </a:p>
        </p:txBody>
      </p:sp>
      <p:sp>
        <p:nvSpPr>
          <p:cNvPr id="345" name="Google Shape;345;p12"/>
          <p:cNvSpPr/>
          <p:nvPr/>
        </p:nvSpPr>
        <p:spPr>
          <a:xfrm>
            <a:off x="5034586" y="1012627"/>
            <a:ext cx="136094"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Dev</a:t>
            </a:r>
            <a:endParaRPr b="0" i="0" sz="485" u="none" cap="none" strike="noStrike">
              <a:solidFill>
                <a:schemeClr val="dk1"/>
              </a:solidFill>
              <a:latin typeface="Calibri"/>
              <a:ea typeface="Calibri"/>
              <a:cs typeface="Calibri"/>
              <a:sym typeface="Calibri"/>
            </a:endParaRPr>
          </a:p>
        </p:txBody>
      </p:sp>
      <p:sp>
        <p:nvSpPr>
          <p:cNvPr id="346" name="Google Shape;346;p12"/>
          <p:cNvSpPr/>
          <p:nvPr/>
        </p:nvSpPr>
        <p:spPr>
          <a:xfrm>
            <a:off x="6056840"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2"/>
          <p:cNvSpPr/>
          <p:nvPr/>
        </p:nvSpPr>
        <p:spPr>
          <a:xfrm>
            <a:off x="6056840"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6</a:t>
            </a:r>
            <a:endParaRPr b="0" i="0" sz="584" u="none" cap="none" strike="noStrike">
              <a:solidFill>
                <a:schemeClr val="dk1"/>
              </a:solidFill>
              <a:latin typeface="Calibri"/>
              <a:ea typeface="Calibri"/>
              <a:cs typeface="Calibri"/>
              <a:sym typeface="Calibri"/>
            </a:endParaRPr>
          </a:p>
        </p:txBody>
      </p:sp>
      <p:sp>
        <p:nvSpPr>
          <p:cNvPr id="348" name="Google Shape;348;p12"/>
          <p:cNvSpPr/>
          <p:nvPr/>
        </p:nvSpPr>
        <p:spPr>
          <a:xfrm>
            <a:off x="6084215" y="1012627"/>
            <a:ext cx="159534"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Test</a:t>
            </a:r>
            <a:endParaRPr b="0" i="0" sz="485" u="none" cap="none" strike="noStrike">
              <a:solidFill>
                <a:schemeClr val="dk1"/>
              </a:solidFill>
              <a:latin typeface="Calibri"/>
              <a:ea typeface="Calibri"/>
              <a:cs typeface="Calibri"/>
              <a:sym typeface="Calibri"/>
            </a:endParaRPr>
          </a:p>
        </p:txBody>
      </p:sp>
      <p:sp>
        <p:nvSpPr>
          <p:cNvPr id="349" name="Google Shape;349;p12"/>
          <p:cNvSpPr/>
          <p:nvPr/>
        </p:nvSpPr>
        <p:spPr>
          <a:xfrm>
            <a:off x="7118189"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2"/>
          <p:cNvSpPr/>
          <p:nvPr/>
        </p:nvSpPr>
        <p:spPr>
          <a:xfrm>
            <a:off x="7118189"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7</a:t>
            </a:r>
            <a:endParaRPr b="0" i="0" sz="584" u="none" cap="none" strike="noStrike">
              <a:solidFill>
                <a:schemeClr val="dk1"/>
              </a:solidFill>
              <a:latin typeface="Calibri"/>
              <a:ea typeface="Calibri"/>
              <a:cs typeface="Calibri"/>
              <a:sym typeface="Calibri"/>
            </a:endParaRPr>
          </a:p>
        </p:txBody>
      </p:sp>
      <p:sp>
        <p:nvSpPr>
          <p:cNvPr id="351" name="Google Shape;351;p12"/>
          <p:cNvSpPr/>
          <p:nvPr/>
        </p:nvSpPr>
        <p:spPr>
          <a:xfrm>
            <a:off x="7094720" y="1012627"/>
            <a:ext cx="261249"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Review</a:t>
            </a:r>
            <a:endParaRPr b="0" i="0" sz="485" u="none" cap="none" strike="noStrike">
              <a:solidFill>
                <a:schemeClr val="dk1"/>
              </a:solidFill>
              <a:latin typeface="Calibri"/>
              <a:ea typeface="Calibri"/>
              <a:cs typeface="Calibri"/>
              <a:sym typeface="Calibri"/>
            </a:endParaRPr>
          </a:p>
        </p:txBody>
      </p:sp>
      <p:sp>
        <p:nvSpPr>
          <p:cNvPr id="352" name="Google Shape;352;p12"/>
          <p:cNvSpPr/>
          <p:nvPr/>
        </p:nvSpPr>
        <p:spPr>
          <a:xfrm>
            <a:off x="8179538"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2"/>
          <p:cNvSpPr/>
          <p:nvPr/>
        </p:nvSpPr>
        <p:spPr>
          <a:xfrm>
            <a:off x="8179538"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8</a:t>
            </a:r>
            <a:endParaRPr b="0" i="0" sz="584" u="none" cap="none" strike="noStrike">
              <a:solidFill>
                <a:schemeClr val="dk1"/>
              </a:solidFill>
              <a:latin typeface="Calibri"/>
              <a:ea typeface="Calibri"/>
              <a:cs typeface="Calibri"/>
              <a:sym typeface="Calibri"/>
            </a:endParaRPr>
          </a:p>
        </p:txBody>
      </p:sp>
      <p:sp>
        <p:nvSpPr>
          <p:cNvPr id="354" name="Google Shape;354;p12"/>
          <p:cNvSpPr/>
          <p:nvPr/>
        </p:nvSpPr>
        <p:spPr>
          <a:xfrm>
            <a:off x="8151800" y="1012627"/>
            <a:ext cx="269760"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Deploy</a:t>
            </a:r>
            <a:endParaRPr b="0" i="0" sz="485" u="none" cap="none" strike="noStrike">
              <a:solidFill>
                <a:schemeClr val="dk1"/>
              </a:solidFill>
              <a:latin typeface="Calibri"/>
              <a:ea typeface="Calibri"/>
              <a:cs typeface="Calibri"/>
              <a:sym typeface="Calibri"/>
            </a:endParaRPr>
          </a:p>
        </p:txBody>
      </p:sp>
      <p:sp>
        <p:nvSpPr>
          <p:cNvPr id="355" name="Google Shape;355;p12"/>
          <p:cNvSpPr/>
          <p:nvPr/>
        </p:nvSpPr>
        <p:spPr>
          <a:xfrm>
            <a:off x="428625" y="1325166"/>
            <a:ext cx="8286750" cy="3532584"/>
          </a:xfrm>
          <a:prstGeom prst="rect">
            <a:avLst/>
          </a:prstGeom>
          <a:solidFill>
            <a:srgbClr val="1A2A3A"/>
          </a:solidFill>
          <a:ln cap="flat" cmpd="sng" w="9525">
            <a:solidFill>
              <a:srgbClr val="FFFFFF">
                <a:alpha val="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2"/>
          <p:cNvSpPr/>
          <p:nvPr/>
        </p:nvSpPr>
        <p:spPr>
          <a:xfrm>
            <a:off x="607219" y="1503759"/>
            <a:ext cx="2366367"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The Squad</a:t>
            </a:r>
            <a:endParaRPr b="0" i="0" sz="683" u="none" cap="none" strike="noStrike">
              <a:solidFill>
                <a:schemeClr val="dk1"/>
              </a:solidFill>
              <a:latin typeface="Calibri"/>
              <a:ea typeface="Calibri"/>
              <a:cs typeface="Calibri"/>
              <a:sym typeface="Calibri"/>
            </a:endParaRPr>
          </a:p>
        </p:txBody>
      </p:sp>
      <p:sp>
        <p:nvSpPr>
          <p:cNvPr id="357" name="Google Shape;357;p12"/>
          <p:cNvSpPr/>
          <p:nvPr/>
        </p:nvSpPr>
        <p:spPr>
          <a:xfrm>
            <a:off x="607219" y="1810941"/>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2"/>
          <p:cNvSpPr/>
          <p:nvPr/>
        </p:nvSpPr>
        <p:spPr>
          <a:xfrm>
            <a:off x="607219" y="1810941"/>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9" name="Google Shape;359;p12"/>
          <p:cNvPicPr preferRelativeResize="0"/>
          <p:nvPr/>
        </p:nvPicPr>
        <p:blipFill rotWithShape="1">
          <a:blip r:embed="rId4">
            <a:alphaModFix/>
          </a:blip>
          <a:srcRect b="0" l="0" r="0" t="0"/>
          <a:stretch/>
        </p:blipFill>
        <p:spPr>
          <a:xfrm>
            <a:off x="722412" y="1956495"/>
            <a:ext cx="112514" cy="128588"/>
          </a:xfrm>
          <a:prstGeom prst="rect">
            <a:avLst/>
          </a:prstGeom>
          <a:noFill/>
          <a:ln>
            <a:noFill/>
          </a:ln>
        </p:spPr>
      </p:pic>
      <p:sp>
        <p:nvSpPr>
          <p:cNvPr id="360" name="Google Shape;360;p12"/>
          <p:cNvSpPr/>
          <p:nvPr/>
        </p:nvSpPr>
        <p:spPr>
          <a:xfrm>
            <a:off x="950119" y="1896666"/>
            <a:ext cx="804732"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Product Manager</a:t>
            </a:r>
            <a:endParaRPr b="0" i="0" sz="634" u="none" cap="none" strike="noStrike">
              <a:solidFill>
                <a:schemeClr val="dk1"/>
              </a:solidFill>
              <a:latin typeface="Calibri"/>
              <a:ea typeface="Calibri"/>
              <a:cs typeface="Calibri"/>
              <a:sym typeface="Calibri"/>
            </a:endParaRPr>
          </a:p>
        </p:txBody>
      </p:sp>
      <p:sp>
        <p:nvSpPr>
          <p:cNvPr id="361" name="Google Shape;361;p12"/>
          <p:cNvSpPr/>
          <p:nvPr/>
        </p:nvSpPr>
        <p:spPr>
          <a:xfrm>
            <a:off x="950119" y="2037755"/>
            <a:ext cx="804732"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Vision &amp; Scope</a:t>
            </a:r>
            <a:endParaRPr b="0" i="0" sz="568" u="none" cap="none" strike="noStrike">
              <a:solidFill>
                <a:schemeClr val="dk1"/>
              </a:solidFill>
              <a:latin typeface="Calibri"/>
              <a:ea typeface="Calibri"/>
              <a:cs typeface="Calibri"/>
              <a:sym typeface="Calibri"/>
            </a:endParaRPr>
          </a:p>
        </p:txBody>
      </p:sp>
      <p:sp>
        <p:nvSpPr>
          <p:cNvPr id="362" name="Google Shape;362;p12"/>
          <p:cNvSpPr/>
          <p:nvPr/>
        </p:nvSpPr>
        <p:spPr>
          <a:xfrm>
            <a:off x="607219" y="2302073"/>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2"/>
          <p:cNvSpPr/>
          <p:nvPr/>
        </p:nvSpPr>
        <p:spPr>
          <a:xfrm>
            <a:off x="607219" y="2302073"/>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4" name="Google Shape;364;p12"/>
          <p:cNvPicPr preferRelativeResize="0"/>
          <p:nvPr/>
        </p:nvPicPr>
        <p:blipFill rotWithShape="1">
          <a:blip r:embed="rId5">
            <a:alphaModFix/>
          </a:blip>
          <a:srcRect b="0" l="0" r="0" t="0"/>
          <a:stretch/>
        </p:blipFill>
        <p:spPr>
          <a:xfrm>
            <a:off x="714375" y="2447627"/>
            <a:ext cx="128588" cy="128588"/>
          </a:xfrm>
          <a:prstGeom prst="rect">
            <a:avLst/>
          </a:prstGeom>
          <a:noFill/>
          <a:ln>
            <a:noFill/>
          </a:ln>
        </p:spPr>
      </p:pic>
      <p:sp>
        <p:nvSpPr>
          <p:cNvPr id="365" name="Google Shape;365;p12"/>
          <p:cNvSpPr/>
          <p:nvPr/>
        </p:nvSpPr>
        <p:spPr>
          <a:xfrm>
            <a:off x="950119" y="2387798"/>
            <a:ext cx="910521"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Business Analyst</a:t>
            </a:r>
            <a:endParaRPr b="0" i="0" sz="634" u="none" cap="none" strike="noStrike">
              <a:solidFill>
                <a:schemeClr val="dk1"/>
              </a:solidFill>
              <a:latin typeface="Calibri"/>
              <a:ea typeface="Calibri"/>
              <a:cs typeface="Calibri"/>
              <a:sym typeface="Calibri"/>
            </a:endParaRPr>
          </a:p>
        </p:txBody>
      </p:sp>
      <p:sp>
        <p:nvSpPr>
          <p:cNvPr id="366" name="Google Shape;366;p12"/>
          <p:cNvSpPr/>
          <p:nvPr/>
        </p:nvSpPr>
        <p:spPr>
          <a:xfrm>
            <a:off x="950119" y="2528888"/>
            <a:ext cx="910521"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Requirements Gathering</a:t>
            </a:r>
            <a:endParaRPr b="0" i="0" sz="568" u="none" cap="none" strike="noStrike">
              <a:solidFill>
                <a:schemeClr val="dk1"/>
              </a:solidFill>
              <a:latin typeface="Calibri"/>
              <a:ea typeface="Calibri"/>
              <a:cs typeface="Calibri"/>
              <a:sym typeface="Calibri"/>
            </a:endParaRPr>
          </a:p>
        </p:txBody>
      </p:sp>
      <p:sp>
        <p:nvSpPr>
          <p:cNvPr id="367" name="Google Shape;367;p12"/>
          <p:cNvSpPr/>
          <p:nvPr/>
        </p:nvSpPr>
        <p:spPr>
          <a:xfrm>
            <a:off x="607219" y="2793206"/>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2"/>
          <p:cNvSpPr/>
          <p:nvPr/>
        </p:nvSpPr>
        <p:spPr>
          <a:xfrm>
            <a:off x="607219" y="2793206"/>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9" name="Google Shape;369;p12"/>
          <p:cNvPicPr preferRelativeResize="0"/>
          <p:nvPr/>
        </p:nvPicPr>
        <p:blipFill rotWithShape="1">
          <a:blip r:embed="rId6">
            <a:alphaModFix/>
          </a:blip>
          <a:srcRect b="0" l="0" r="0" t="0"/>
          <a:stretch/>
        </p:blipFill>
        <p:spPr>
          <a:xfrm>
            <a:off x="714375" y="2938760"/>
            <a:ext cx="128588" cy="128588"/>
          </a:xfrm>
          <a:prstGeom prst="rect">
            <a:avLst/>
          </a:prstGeom>
          <a:noFill/>
          <a:ln>
            <a:noFill/>
          </a:ln>
        </p:spPr>
      </p:pic>
      <p:sp>
        <p:nvSpPr>
          <p:cNvPr id="370" name="Google Shape;370;p12"/>
          <p:cNvSpPr/>
          <p:nvPr/>
        </p:nvSpPr>
        <p:spPr>
          <a:xfrm>
            <a:off x="950119" y="2878931"/>
            <a:ext cx="802388"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User Story Writer</a:t>
            </a:r>
            <a:endParaRPr b="0" i="0" sz="634" u="none" cap="none" strike="noStrike">
              <a:solidFill>
                <a:schemeClr val="dk1"/>
              </a:solidFill>
              <a:latin typeface="Calibri"/>
              <a:ea typeface="Calibri"/>
              <a:cs typeface="Calibri"/>
              <a:sym typeface="Calibri"/>
            </a:endParaRPr>
          </a:p>
        </p:txBody>
      </p:sp>
      <p:sp>
        <p:nvSpPr>
          <p:cNvPr id="371" name="Google Shape;371;p12"/>
          <p:cNvSpPr/>
          <p:nvPr/>
        </p:nvSpPr>
        <p:spPr>
          <a:xfrm>
            <a:off x="950119" y="3020020"/>
            <a:ext cx="802388"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Gherkin Syntax</a:t>
            </a:r>
            <a:endParaRPr b="0" i="0" sz="568" u="none" cap="none" strike="noStrike">
              <a:solidFill>
                <a:schemeClr val="dk1"/>
              </a:solidFill>
              <a:latin typeface="Calibri"/>
              <a:ea typeface="Calibri"/>
              <a:cs typeface="Calibri"/>
              <a:sym typeface="Calibri"/>
            </a:endParaRPr>
          </a:p>
        </p:txBody>
      </p:sp>
      <p:sp>
        <p:nvSpPr>
          <p:cNvPr id="372" name="Google Shape;372;p12"/>
          <p:cNvSpPr/>
          <p:nvPr/>
        </p:nvSpPr>
        <p:spPr>
          <a:xfrm>
            <a:off x="3152180" y="1503759"/>
            <a:ext cx="2839641"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Orchestration Flow</a:t>
            </a:r>
            <a:endParaRPr b="0" i="0" sz="683" u="none" cap="none" strike="noStrike">
              <a:solidFill>
                <a:schemeClr val="dk1"/>
              </a:solidFill>
              <a:latin typeface="Calibri"/>
              <a:ea typeface="Calibri"/>
              <a:cs typeface="Calibri"/>
              <a:sym typeface="Calibri"/>
            </a:endParaRPr>
          </a:p>
        </p:txBody>
      </p:sp>
      <p:sp>
        <p:nvSpPr>
          <p:cNvPr id="373" name="Google Shape;373;p12"/>
          <p:cNvSpPr/>
          <p:nvPr/>
        </p:nvSpPr>
        <p:spPr>
          <a:xfrm>
            <a:off x="3152180" y="1810941"/>
            <a:ext cx="2839641"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2"/>
          <p:cNvSpPr/>
          <p:nvPr/>
        </p:nvSpPr>
        <p:spPr>
          <a:xfrm>
            <a:off x="3237905" y="1942207"/>
            <a:ext cx="157163" cy="157163"/>
          </a:xfrm>
          <a:prstGeom prst="ellipse">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2"/>
          <p:cNvSpPr/>
          <p:nvPr/>
        </p:nvSpPr>
        <p:spPr>
          <a:xfrm>
            <a:off x="3237905" y="1942207"/>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1</a:t>
            </a:r>
            <a:endParaRPr b="0" i="0" sz="534" u="none" cap="none" strike="noStrike">
              <a:solidFill>
                <a:schemeClr val="dk1"/>
              </a:solidFill>
              <a:latin typeface="Calibri"/>
              <a:ea typeface="Calibri"/>
              <a:cs typeface="Calibri"/>
              <a:sym typeface="Calibri"/>
            </a:endParaRPr>
          </a:p>
        </p:txBody>
      </p:sp>
      <p:sp>
        <p:nvSpPr>
          <p:cNvPr id="376" name="Google Shape;376;p12"/>
          <p:cNvSpPr/>
          <p:nvPr/>
        </p:nvSpPr>
        <p:spPr>
          <a:xfrm>
            <a:off x="3480792" y="1896666"/>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Vision Statement</a:t>
            </a:r>
            <a:endParaRPr b="0" i="0" sz="634" u="none" cap="none" strike="noStrike">
              <a:solidFill>
                <a:schemeClr val="dk1"/>
              </a:solidFill>
              <a:latin typeface="Calibri"/>
              <a:ea typeface="Calibri"/>
              <a:cs typeface="Calibri"/>
              <a:sym typeface="Calibri"/>
            </a:endParaRPr>
          </a:p>
        </p:txBody>
      </p:sp>
      <p:sp>
        <p:nvSpPr>
          <p:cNvPr id="377" name="Google Shape;377;p12"/>
          <p:cNvSpPr/>
          <p:nvPr/>
        </p:nvSpPr>
        <p:spPr>
          <a:xfrm>
            <a:off x="3480792" y="2037755"/>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PM defines the core problem and success metrics.</a:t>
            </a:r>
            <a:endParaRPr b="0" i="0" sz="568" u="none" cap="none" strike="noStrike">
              <a:solidFill>
                <a:schemeClr val="dk1"/>
              </a:solidFill>
              <a:latin typeface="Calibri"/>
              <a:ea typeface="Calibri"/>
              <a:cs typeface="Calibri"/>
              <a:sym typeface="Calibri"/>
            </a:endParaRPr>
          </a:p>
        </p:txBody>
      </p:sp>
      <p:sp>
        <p:nvSpPr>
          <p:cNvPr id="378" name="Google Shape;378;p12"/>
          <p:cNvSpPr/>
          <p:nvPr/>
        </p:nvSpPr>
        <p:spPr>
          <a:xfrm>
            <a:off x="3152180" y="2287786"/>
            <a:ext cx="2839641"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2"/>
          <p:cNvSpPr/>
          <p:nvPr/>
        </p:nvSpPr>
        <p:spPr>
          <a:xfrm>
            <a:off x="3237905" y="2419052"/>
            <a:ext cx="157163" cy="157163"/>
          </a:xfrm>
          <a:prstGeom prst="ellipse">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2"/>
          <p:cNvSpPr/>
          <p:nvPr/>
        </p:nvSpPr>
        <p:spPr>
          <a:xfrm>
            <a:off x="3237905" y="2419052"/>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2</a:t>
            </a:r>
            <a:endParaRPr b="0" i="0" sz="534" u="none" cap="none" strike="noStrike">
              <a:solidFill>
                <a:schemeClr val="dk1"/>
              </a:solidFill>
              <a:latin typeface="Calibri"/>
              <a:ea typeface="Calibri"/>
              <a:cs typeface="Calibri"/>
              <a:sym typeface="Calibri"/>
            </a:endParaRPr>
          </a:p>
        </p:txBody>
      </p:sp>
      <p:sp>
        <p:nvSpPr>
          <p:cNvPr id="381" name="Google Shape;381;p12"/>
          <p:cNvSpPr/>
          <p:nvPr/>
        </p:nvSpPr>
        <p:spPr>
          <a:xfrm>
            <a:off x="3480792" y="2373511"/>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Requirement Elicitation</a:t>
            </a:r>
            <a:endParaRPr b="0" i="0" sz="634" u="none" cap="none" strike="noStrike">
              <a:solidFill>
                <a:schemeClr val="dk1"/>
              </a:solidFill>
              <a:latin typeface="Calibri"/>
              <a:ea typeface="Calibri"/>
              <a:cs typeface="Calibri"/>
              <a:sym typeface="Calibri"/>
            </a:endParaRPr>
          </a:p>
        </p:txBody>
      </p:sp>
      <p:sp>
        <p:nvSpPr>
          <p:cNvPr id="382" name="Google Shape;382;p12"/>
          <p:cNvSpPr/>
          <p:nvPr/>
        </p:nvSpPr>
        <p:spPr>
          <a:xfrm>
            <a:off x="3480792" y="2514600"/>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BA expands vision into detailed functional reqs.</a:t>
            </a:r>
            <a:endParaRPr b="0" i="0" sz="568" u="none" cap="none" strike="noStrike">
              <a:solidFill>
                <a:schemeClr val="dk1"/>
              </a:solidFill>
              <a:latin typeface="Calibri"/>
              <a:ea typeface="Calibri"/>
              <a:cs typeface="Calibri"/>
              <a:sym typeface="Calibri"/>
            </a:endParaRPr>
          </a:p>
        </p:txBody>
      </p:sp>
      <p:sp>
        <p:nvSpPr>
          <p:cNvPr id="383" name="Google Shape;383;p12"/>
          <p:cNvSpPr/>
          <p:nvPr/>
        </p:nvSpPr>
        <p:spPr>
          <a:xfrm>
            <a:off x="3152180" y="2764631"/>
            <a:ext cx="2839641"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2"/>
          <p:cNvSpPr/>
          <p:nvPr/>
        </p:nvSpPr>
        <p:spPr>
          <a:xfrm>
            <a:off x="3237905" y="2895898"/>
            <a:ext cx="157163" cy="157163"/>
          </a:xfrm>
          <a:prstGeom prst="ellipse">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2"/>
          <p:cNvSpPr/>
          <p:nvPr/>
        </p:nvSpPr>
        <p:spPr>
          <a:xfrm>
            <a:off x="3237905" y="2895898"/>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3</a:t>
            </a:r>
            <a:endParaRPr b="0" i="0" sz="534" u="none" cap="none" strike="noStrike">
              <a:solidFill>
                <a:schemeClr val="dk1"/>
              </a:solidFill>
              <a:latin typeface="Calibri"/>
              <a:ea typeface="Calibri"/>
              <a:cs typeface="Calibri"/>
              <a:sym typeface="Calibri"/>
            </a:endParaRPr>
          </a:p>
        </p:txBody>
      </p:sp>
      <p:sp>
        <p:nvSpPr>
          <p:cNvPr id="386" name="Google Shape;386;p12"/>
          <p:cNvSpPr/>
          <p:nvPr/>
        </p:nvSpPr>
        <p:spPr>
          <a:xfrm>
            <a:off x="3480792" y="2850356"/>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Story Generation</a:t>
            </a:r>
            <a:endParaRPr b="0" i="0" sz="634" u="none" cap="none" strike="noStrike">
              <a:solidFill>
                <a:schemeClr val="dk1"/>
              </a:solidFill>
              <a:latin typeface="Calibri"/>
              <a:ea typeface="Calibri"/>
              <a:cs typeface="Calibri"/>
              <a:sym typeface="Calibri"/>
            </a:endParaRPr>
          </a:p>
        </p:txBody>
      </p:sp>
      <p:sp>
        <p:nvSpPr>
          <p:cNvPr id="387" name="Google Shape;387;p12"/>
          <p:cNvSpPr/>
          <p:nvPr/>
        </p:nvSpPr>
        <p:spPr>
          <a:xfrm>
            <a:off x="3480792" y="2991445"/>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Writer converts reqs into User Stories (As a... I want...).</a:t>
            </a:r>
            <a:endParaRPr b="0" i="0" sz="568" u="none" cap="none" strike="noStrike">
              <a:solidFill>
                <a:schemeClr val="dk1"/>
              </a:solidFill>
              <a:latin typeface="Calibri"/>
              <a:ea typeface="Calibri"/>
              <a:cs typeface="Calibri"/>
              <a:sym typeface="Calibri"/>
            </a:endParaRPr>
          </a:p>
        </p:txBody>
      </p:sp>
      <p:sp>
        <p:nvSpPr>
          <p:cNvPr id="388" name="Google Shape;388;p12"/>
          <p:cNvSpPr/>
          <p:nvPr/>
        </p:nvSpPr>
        <p:spPr>
          <a:xfrm>
            <a:off x="6170414" y="1503759"/>
            <a:ext cx="2366367"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Key Artifacts</a:t>
            </a:r>
            <a:endParaRPr b="0" i="0" sz="683" u="none" cap="none" strike="noStrike">
              <a:solidFill>
                <a:schemeClr val="dk1"/>
              </a:solidFill>
              <a:latin typeface="Calibri"/>
              <a:ea typeface="Calibri"/>
              <a:cs typeface="Calibri"/>
              <a:sym typeface="Calibri"/>
            </a:endParaRPr>
          </a:p>
        </p:txBody>
      </p:sp>
      <p:sp>
        <p:nvSpPr>
          <p:cNvPr id="389" name="Google Shape;389;p12"/>
          <p:cNvSpPr/>
          <p:nvPr/>
        </p:nvSpPr>
        <p:spPr>
          <a:xfrm>
            <a:off x="6170414" y="1810941"/>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0" name="Google Shape;390;p12"/>
          <p:cNvPicPr preferRelativeResize="0"/>
          <p:nvPr/>
        </p:nvPicPr>
        <p:blipFill rotWithShape="1">
          <a:blip r:embed="rId7">
            <a:alphaModFix/>
          </a:blip>
          <a:srcRect b="0" l="0" r="0" t="0"/>
          <a:stretch/>
        </p:blipFill>
        <p:spPr>
          <a:xfrm>
            <a:off x="6293644" y="1956495"/>
            <a:ext cx="96441" cy="128588"/>
          </a:xfrm>
          <a:prstGeom prst="rect">
            <a:avLst/>
          </a:prstGeom>
          <a:noFill/>
          <a:ln>
            <a:noFill/>
          </a:ln>
        </p:spPr>
      </p:pic>
      <p:sp>
        <p:nvSpPr>
          <p:cNvPr id="391" name="Google Shape;391;p12"/>
          <p:cNvSpPr/>
          <p:nvPr/>
        </p:nvSpPr>
        <p:spPr>
          <a:xfrm>
            <a:off x="6513314" y="1896666"/>
            <a:ext cx="1291484"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Draft BRD</a:t>
            </a:r>
            <a:endParaRPr b="0" i="0" sz="634" u="none" cap="none" strike="noStrike">
              <a:solidFill>
                <a:schemeClr val="dk1"/>
              </a:solidFill>
              <a:latin typeface="Calibri"/>
              <a:ea typeface="Calibri"/>
              <a:cs typeface="Calibri"/>
              <a:sym typeface="Calibri"/>
            </a:endParaRPr>
          </a:p>
        </p:txBody>
      </p:sp>
      <p:sp>
        <p:nvSpPr>
          <p:cNvPr id="392" name="Google Shape;392;p12"/>
          <p:cNvSpPr/>
          <p:nvPr/>
        </p:nvSpPr>
        <p:spPr>
          <a:xfrm>
            <a:off x="6513314" y="2037755"/>
            <a:ext cx="1291484"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Business Requirements Document.</a:t>
            </a:r>
            <a:endParaRPr b="0" i="0" sz="568" u="none" cap="none" strike="noStrike">
              <a:solidFill>
                <a:schemeClr val="dk1"/>
              </a:solidFill>
              <a:latin typeface="Calibri"/>
              <a:ea typeface="Calibri"/>
              <a:cs typeface="Calibri"/>
              <a:sym typeface="Calibri"/>
            </a:endParaRPr>
          </a:p>
        </p:txBody>
      </p:sp>
      <p:sp>
        <p:nvSpPr>
          <p:cNvPr id="393" name="Google Shape;393;p12"/>
          <p:cNvSpPr/>
          <p:nvPr/>
        </p:nvSpPr>
        <p:spPr>
          <a:xfrm>
            <a:off x="6170414" y="2302073"/>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4" name="Google Shape;394;p12"/>
          <p:cNvPicPr preferRelativeResize="0"/>
          <p:nvPr/>
        </p:nvPicPr>
        <p:blipFill rotWithShape="1">
          <a:blip r:embed="rId8">
            <a:alphaModFix/>
          </a:blip>
          <a:srcRect b="0" l="0" r="0" t="0"/>
          <a:stretch/>
        </p:blipFill>
        <p:spPr>
          <a:xfrm>
            <a:off x="6261497" y="2447627"/>
            <a:ext cx="160734" cy="128588"/>
          </a:xfrm>
          <a:prstGeom prst="rect">
            <a:avLst/>
          </a:prstGeom>
          <a:noFill/>
          <a:ln>
            <a:noFill/>
          </a:ln>
        </p:spPr>
      </p:pic>
      <p:sp>
        <p:nvSpPr>
          <p:cNvPr id="395" name="Google Shape;395;p12"/>
          <p:cNvSpPr/>
          <p:nvPr/>
        </p:nvSpPr>
        <p:spPr>
          <a:xfrm>
            <a:off x="6513314" y="2387798"/>
            <a:ext cx="908568"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User Personas</a:t>
            </a:r>
            <a:endParaRPr b="0" i="0" sz="634" u="none" cap="none" strike="noStrike">
              <a:solidFill>
                <a:schemeClr val="dk1"/>
              </a:solidFill>
              <a:latin typeface="Calibri"/>
              <a:ea typeface="Calibri"/>
              <a:cs typeface="Calibri"/>
              <a:sym typeface="Calibri"/>
            </a:endParaRPr>
          </a:p>
        </p:txBody>
      </p:sp>
      <p:sp>
        <p:nvSpPr>
          <p:cNvPr id="396" name="Google Shape;396;p12"/>
          <p:cNvSpPr/>
          <p:nvPr/>
        </p:nvSpPr>
        <p:spPr>
          <a:xfrm>
            <a:off x="6513314" y="2528888"/>
            <a:ext cx="908568"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Target audience profiles.</a:t>
            </a:r>
            <a:endParaRPr b="0" i="0" sz="568" u="none" cap="none" strike="noStrike">
              <a:solidFill>
                <a:schemeClr val="dk1"/>
              </a:solidFill>
              <a:latin typeface="Calibri"/>
              <a:ea typeface="Calibri"/>
              <a:cs typeface="Calibri"/>
              <a:sym typeface="Calibri"/>
            </a:endParaRPr>
          </a:p>
        </p:txBody>
      </p:sp>
      <p:sp>
        <p:nvSpPr>
          <p:cNvPr id="397" name="Google Shape;397;p12"/>
          <p:cNvSpPr/>
          <p:nvPr/>
        </p:nvSpPr>
        <p:spPr>
          <a:xfrm>
            <a:off x="6170414" y="2793206"/>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8" name="Google Shape;398;p12"/>
          <p:cNvPicPr preferRelativeResize="0"/>
          <p:nvPr/>
        </p:nvPicPr>
        <p:blipFill rotWithShape="1">
          <a:blip r:embed="rId9">
            <a:alphaModFix/>
          </a:blip>
          <a:srcRect b="0" l="0" r="0" t="0"/>
          <a:stretch/>
        </p:blipFill>
        <p:spPr>
          <a:xfrm>
            <a:off x="6277570" y="2938760"/>
            <a:ext cx="128588" cy="128588"/>
          </a:xfrm>
          <a:prstGeom prst="rect">
            <a:avLst/>
          </a:prstGeom>
          <a:noFill/>
          <a:ln>
            <a:noFill/>
          </a:ln>
        </p:spPr>
      </p:pic>
      <p:sp>
        <p:nvSpPr>
          <p:cNvPr id="399" name="Google Shape;399;p12"/>
          <p:cNvSpPr/>
          <p:nvPr/>
        </p:nvSpPr>
        <p:spPr>
          <a:xfrm>
            <a:off x="6513314" y="2878931"/>
            <a:ext cx="948165"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Initial Backlog</a:t>
            </a:r>
            <a:endParaRPr b="0" i="0" sz="634" u="none" cap="none" strike="noStrike">
              <a:solidFill>
                <a:schemeClr val="dk1"/>
              </a:solidFill>
              <a:latin typeface="Calibri"/>
              <a:ea typeface="Calibri"/>
              <a:cs typeface="Calibri"/>
              <a:sym typeface="Calibri"/>
            </a:endParaRPr>
          </a:p>
        </p:txBody>
      </p:sp>
      <p:sp>
        <p:nvSpPr>
          <p:cNvPr id="400" name="Google Shape;400;p12"/>
          <p:cNvSpPr/>
          <p:nvPr/>
        </p:nvSpPr>
        <p:spPr>
          <a:xfrm>
            <a:off x="6513314" y="3020020"/>
            <a:ext cx="948165"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List of high-level features.</a:t>
            </a:r>
            <a:endParaRPr b="0" i="0" sz="568"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descr="preencoded.png" id="406" name="Google Shape;406;p1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07" name="Google Shape;407;p13"/>
          <p:cNvSpPr/>
          <p:nvPr/>
        </p:nvSpPr>
        <p:spPr>
          <a:xfrm>
            <a:off x="428625" y="285750"/>
            <a:ext cx="8286750" cy="312539"/>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FFFFFF"/>
              </a:buClr>
              <a:buSzPts val="1602"/>
              <a:buFont typeface="Calibri"/>
              <a:buNone/>
            </a:pPr>
            <a:r>
              <a:rPr b="1" i="0" lang="en-US" sz="1602" u="none" cap="none" strike="noStrike">
                <a:solidFill>
                  <a:srgbClr val="FFFFFF"/>
                </a:solidFill>
                <a:latin typeface="Calibri"/>
                <a:ea typeface="Calibri"/>
                <a:cs typeface="Calibri"/>
                <a:sym typeface="Calibri"/>
              </a:rPr>
              <a:t>Step 2: BRD Review (Human Gate)</a:t>
            </a:r>
            <a:endParaRPr b="0" i="0" sz="1602" u="none" cap="none" strike="noStrike">
              <a:solidFill>
                <a:schemeClr val="dk1"/>
              </a:solidFill>
              <a:latin typeface="Calibri"/>
              <a:ea typeface="Calibri"/>
              <a:cs typeface="Calibri"/>
              <a:sym typeface="Calibri"/>
            </a:endParaRPr>
          </a:p>
        </p:txBody>
      </p:sp>
      <p:sp>
        <p:nvSpPr>
          <p:cNvPr id="408" name="Google Shape;408;p13"/>
          <p:cNvSpPr/>
          <p:nvPr/>
        </p:nvSpPr>
        <p:spPr>
          <a:xfrm>
            <a:off x="750094"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9" name="Google Shape;409;p13"/>
          <p:cNvPicPr preferRelativeResize="0"/>
          <p:nvPr/>
        </p:nvPicPr>
        <p:blipFill rotWithShape="1">
          <a:blip r:embed="rId4">
            <a:alphaModFix/>
          </a:blip>
          <a:srcRect b="0" l="0" r="0" t="0"/>
          <a:stretch/>
        </p:blipFill>
        <p:spPr>
          <a:xfrm>
            <a:off x="819745" y="805458"/>
            <a:ext cx="75009" cy="85725"/>
          </a:xfrm>
          <a:prstGeom prst="rect">
            <a:avLst/>
          </a:prstGeom>
          <a:noFill/>
          <a:ln>
            <a:noFill/>
          </a:ln>
        </p:spPr>
      </p:pic>
      <p:sp>
        <p:nvSpPr>
          <p:cNvPr id="410" name="Google Shape;410;p13"/>
          <p:cNvSpPr/>
          <p:nvPr/>
        </p:nvSpPr>
        <p:spPr>
          <a:xfrm>
            <a:off x="649746" y="1012627"/>
            <a:ext cx="415007"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BRD Create</a:t>
            </a:r>
            <a:endParaRPr b="0" i="0" sz="485" u="none" cap="none" strike="noStrike">
              <a:solidFill>
                <a:schemeClr val="dk1"/>
              </a:solidFill>
              <a:latin typeface="Calibri"/>
              <a:ea typeface="Calibri"/>
              <a:cs typeface="Calibri"/>
              <a:sym typeface="Calibri"/>
            </a:endParaRPr>
          </a:p>
        </p:txBody>
      </p:sp>
      <p:sp>
        <p:nvSpPr>
          <p:cNvPr id="411" name="Google Shape;411;p13"/>
          <p:cNvSpPr/>
          <p:nvPr/>
        </p:nvSpPr>
        <p:spPr>
          <a:xfrm>
            <a:off x="1790012" y="719733"/>
            <a:ext cx="257175" cy="257175"/>
          </a:xfrm>
          <a:prstGeom prst="ellipse">
            <a:avLst/>
          </a:prstGeom>
          <a:solidFill>
            <a:srgbClr val="2979FF"/>
          </a:solidFill>
          <a:ln cap="flat" cmpd="sng" w="182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3"/>
          <p:cNvSpPr/>
          <p:nvPr/>
        </p:nvSpPr>
        <p:spPr>
          <a:xfrm>
            <a:off x="1790012" y="719733"/>
            <a:ext cx="257175" cy="257175"/>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FFFFFF"/>
              </a:buClr>
              <a:buSzPts val="584"/>
              <a:buFont typeface="Calibri"/>
              <a:buNone/>
            </a:pPr>
            <a:r>
              <a:rPr b="1" i="0" lang="en-US" sz="584" u="none" cap="none" strike="noStrike">
                <a:solidFill>
                  <a:srgbClr val="FFFFFF"/>
                </a:solidFill>
                <a:latin typeface="Calibri"/>
                <a:ea typeface="Calibri"/>
                <a:cs typeface="Calibri"/>
                <a:sym typeface="Calibri"/>
              </a:rPr>
              <a:t>2</a:t>
            </a:r>
            <a:endParaRPr b="0" i="0" sz="584" u="none" cap="none" strike="noStrike">
              <a:solidFill>
                <a:schemeClr val="dk1"/>
              </a:solidFill>
              <a:latin typeface="Calibri"/>
              <a:ea typeface="Calibri"/>
              <a:cs typeface="Calibri"/>
              <a:sym typeface="Calibri"/>
            </a:endParaRPr>
          </a:p>
        </p:txBody>
      </p:sp>
      <p:sp>
        <p:nvSpPr>
          <p:cNvPr id="413" name="Google Shape;413;p13"/>
          <p:cNvSpPr/>
          <p:nvPr/>
        </p:nvSpPr>
        <p:spPr>
          <a:xfrm>
            <a:off x="1700045" y="1012627"/>
            <a:ext cx="437080"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2979FF"/>
              </a:buClr>
              <a:buSzPts val="485"/>
              <a:buFont typeface="Calibri"/>
              <a:buNone/>
            </a:pPr>
            <a:r>
              <a:rPr b="1" i="0" lang="en-US" sz="485" u="none" cap="none" strike="noStrike">
                <a:solidFill>
                  <a:srgbClr val="2979FF"/>
                </a:solidFill>
                <a:latin typeface="Calibri"/>
                <a:ea typeface="Calibri"/>
                <a:cs typeface="Calibri"/>
                <a:sym typeface="Calibri"/>
              </a:rPr>
              <a:t>BRD Review</a:t>
            </a:r>
            <a:endParaRPr b="0" i="0" sz="485" u="none" cap="none" strike="noStrike">
              <a:solidFill>
                <a:schemeClr val="dk1"/>
              </a:solidFill>
              <a:latin typeface="Calibri"/>
              <a:ea typeface="Calibri"/>
              <a:cs typeface="Calibri"/>
              <a:sym typeface="Calibri"/>
            </a:endParaRPr>
          </a:p>
        </p:txBody>
      </p:sp>
      <p:sp>
        <p:nvSpPr>
          <p:cNvPr id="414" name="Google Shape;414;p13"/>
          <p:cNvSpPr/>
          <p:nvPr/>
        </p:nvSpPr>
        <p:spPr>
          <a:xfrm>
            <a:off x="2872792"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3"/>
          <p:cNvSpPr/>
          <p:nvPr/>
        </p:nvSpPr>
        <p:spPr>
          <a:xfrm>
            <a:off x="2872792"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3</a:t>
            </a:r>
            <a:endParaRPr b="0" i="0" sz="584" u="none" cap="none" strike="noStrike">
              <a:solidFill>
                <a:schemeClr val="dk1"/>
              </a:solidFill>
              <a:latin typeface="Calibri"/>
              <a:ea typeface="Calibri"/>
              <a:cs typeface="Calibri"/>
              <a:sym typeface="Calibri"/>
            </a:endParaRPr>
          </a:p>
        </p:txBody>
      </p:sp>
      <p:sp>
        <p:nvSpPr>
          <p:cNvPr id="416" name="Google Shape;416;p13"/>
          <p:cNvSpPr/>
          <p:nvPr/>
        </p:nvSpPr>
        <p:spPr>
          <a:xfrm>
            <a:off x="2847873" y="1012627"/>
            <a:ext cx="264123"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Design</a:t>
            </a:r>
            <a:endParaRPr b="0" i="0" sz="485" u="none" cap="none" strike="noStrike">
              <a:solidFill>
                <a:schemeClr val="dk1"/>
              </a:solidFill>
              <a:latin typeface="Calibri"/>
              <a:ea typeface="Calibri"/>
              <a:cs typeface="Calibri"/>
              <a:sym typeface="Calibri"/>
            </a:endParaRPr>
          </a:p>
        </p:txBody>
      </p:sp>
      <p:sp>
        <p:nvSpPr>
          <p:cNvPr id="417" name="Google Shape;417;p13"/>
          <p:cNvSpPr/>
          <p:nvPr/>
        </p:nvSpPr>
        <p:spPr>
          <a:xfrm>
            <a:off x="3934141"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3"/>
          <p:cNvSpPr/>
          <p:nvPr/>
        </p:nvSpPr>
        <p:spPr>
          <a:xfrm>
            <a:off x="3934141"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4</a:t>
            </a:r>
            <a:endParaRPr b="0" i="0" sz="584" u="none" cap="none" strike="noStrike">
              <a:solidFill>
                <a:schemeClr val="dk1"/>
              </a:solidFill>
              <a:latin typeface="Calibri"/>
              <a:ea typeface="Calibri"/>
              <a:cs typeface="Calibri"/>
              <a:sym typeface="Calibri"/>
            </a:endParaRPr>
          </a:p>
        </p:txBody>
      </p:sp>
      <p:sp>
        <p:nvSpPr>
          <p:cNvPr id="419" name="Google Shape;419;p13"/>
          <p:cNvSpPr/>
          <p:nvPr/>
        </p:nvSpPr>
        <p:spPr>
          <a:xfrm>
            <a:off x="3949210" y="1012627"/>
            <a:ext cx="184175"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Plan</a:t>
            </a:r>
            <a:endParaRPr b="0" i="0" sz="485" u="none" cap="none" strike="noStrike">
              <a:solidFill>
                <a:schemeClr val="dk1"/>
              </a:solidFill>
              <a:latin typeface="Calibri"/>
              <a:ea typeface="Calibri"/>
              <a:cs typeface="Calibri"/>
              <a:sym typeface="Calibri"/>
            </a:endParaRPr>
          </a:p>
        </p:txBody>
      </p:sp>
      <p:sp>
        <p:nvSpPr>
          <p:cNvPr id="420" name="Google Shape;420;p13"/>
          <p:cNvSpPr/>
          <p:nvPr/>
        </p:nvSpPr>
        <p:spPr>
          <a:xfrm>
            <a:off x="4995490"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3"/>
          <p:cNvSpPr/>
          <p:nvPr/>
        </p:nvSpPr>
        <p:spPr>
          <a:xfrm>
            <a:off x="4995490"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5</a:t>
            </a:r>
            <a:endParaRPr b="0" i="0" sz="584" u="none" cap="none" strike="noStrike">
              <a:solidFill>
                <a:schemeClr val="dk1"/>
              </a:solidFill>
              <a:latin typeface="Calibri"/>
              <a:ea typeface="Calibri"/>
              <a:cs typeface="Calibri"/>
              <a:sym typeface="Calibri"/>
            </a:endParaRPr>
          </a:p>
        </p:txBody>
      </p:sp>
      <p:sp>
        <p:nvSpPr>
          <p:cNvPr id="422" name="Google Shape;422;p13"/>
          <p:cNvSpPr/>
          <p:nvPr/>
        </p:nvSpPr>
        <p:spPr>
          <a:xfrm>
            <a:off x="5034586" y="1012627"/>
            <a:ext cx="136094"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Dev</a:t>
            </a:r>
            <a:endParaRPr b="0" i="0" sz="485" u="none" cap="none" strike="noStrike">
              <a:solidFill>
                <a:schemeClr val="dk1"/>
              </a:solidFill>
              <a:latin typeface="Calibri"/>
              <a:ea typeface="Calibri"/>
              <a:cs typeface="Calibri"/>
              <a:sym typeface="Calibri"/>
            </a:endParaRPr>
          </a:p>
        </p:txBody>
      </p:sp>
      <p:sp>
        <p:nvSpPr>
          <p:cNvPr id="423" name="Google Shape;423;p13"/>
          <p:cNvSpPr/>
          <p:nvPr/>
        </p:nvSpPr>
        <p:spPr>
          <a:xfrm>
            <a:off x="6056840"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3"/>
          <p:cNvSpPr/>
          <p:nvPr/>
        </p:nvSpPr>
        <p:spPr>
          <a:xfrm>
            <a:off x="6056840"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6</a:t>
            </a:r>
            <a:endParaRPr b="0" i="0" sz="584" u="none" cap="none" strike="noStrike">
              <a:solidFill>
                <a:schemeClr val="dk1"/>
              </a:solidFill>
              <a:latin typeface="Calibri"/>
              <a:ea typeface="Calibri"/>
              <a:cs typeface="Calibri"/>
              <a:sym typeface="Calibri"/>
            </a:endParaRPr>
          </a:p>
        </p:txBody>
      </p:sp>
      <p:sp>
        <p:nvSpPr>
          <p:cNvPr id="425" name="Google Shape;425;p13"/>
          <p:cNvSpPr/>
          <p:nvPr/>
        </p:nvSpPr>
        <p:spPr>
          <a:xfrm>
            <a:off x="6084215" y="1012627"/>
            <a:ext cx="159534"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Test</a:t>
            </a:r>
            <a:endParaRPr b="0" i="0" sz="485" u="none" cap="none" strike="noStrike">
              <a:solidFill>
                <a:schemeClr val="dk1"/>
              </a:solidFill>
              <a:latin typeface="Calibri"/>
              <a:ea typeface="Calibri"/>
              <a:cs typeface="Calibri"/>
              <a:sym typeface="Calibri"/>
            </a:endParaRPr>
          </a:p>
        </p:txBody>
      </p:sp>
      <p:sp>
        <p:nvSpPr>
          <p:cNvPr id="426" name="Google Shape;426;p13"/>
          <p:cNvSpPr/>
          <p:nvPr/>
        </p:nvSpPr>
        <p:spPr>
          <a:xfrm>
            <a:off x="7118189"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3"/>
          <p:cNvSpPr/>
          <p:nvPr/>
        </p:nvSpPr>
        <p:spPr>
          <a:xfrm>
            <a:off x="7118189"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7</a:t>
            </a:r>
            <a:endParaRPr b="0" i="0" sz="584" u="none" cap="none" strike="noStrike">
              <a:solidFill>
                <a:schemeClr val="dk1"/>
              </a:solidFill>
              <a:latin typeface="Calibri"/>
              <a:ea typeface="Calibri"/>
              <a:cs typeface="Calibri"/>
              <a:sym typeface="Calibri"/>
            </a:endParaRPr>
          </a:p>
        </p:txBody>
      </p:sp>
      <p:sp>
        <p:nvSpPr>
          <p:cNvPr id="428" name="Google Shape;428;p13"/>
          <p:cNvSpPr/>
          <p:nvPr/>
        </p:nvSpPr>
        <p:spPr>
          <a:xfrm>
            <a:off x="7094720" y="1012627"/>
            <a:ext cx="261249"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Review</a:t>
            </a:r>
            <a:endParaRPr b="0" i="0" sz="485" u="none" cap="none" strike="noStrike">
              <a:solidFill>
                <a:schemeClr val="dk1"/>
              </a:solidFill>
              <a:latin typeface="Calibri"/>
              <a:ea typeface="Calibri"/>
              <a:cs typeface="Calibri"/>
              <a:sym typeface="Calibri"/>
            </a:endParaRPr>
          </a:p>
        </p:txBody>
      </p:sp>
      <p:sp>
        <p:nvSpPr>
          <p:cNvPr id="429" name="Google Shape;429;p13"/>
          <p:cNvSpPr/>
          <p:nvPr/>
        </p:nvSpPr>
        <p:spPr>
          <a:xfrm>
            <a:off x="8179538"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3"/>
          <p:cNvSpPr/>
          <p:nvPr/>
        </p:nvSpPr>
        <p:spPr>
          <a:xfrm>
            <a:off x="8179538"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8</a:t>
            </a:r>
            <a:endParaRPr b="0" i="0" sz="584" u="none" cap="none" strike="noStrike">
              <a:solidFill>
                <a:schemeClr val="dk1"/>
              </a:solidFill>
              <a:latin typeface="Calibri"/>
              <a:ea typeface="Calibri"/>
              <a:cs typeface="Calibri"/>
              <a:sym typeface="Calibri"/>
            </a:endParaRPr>
          </a:p>
        </p:txBody>
      </p:sp>
      <p:sp>
        <p:nvSpPr>
          <p:cNvPr id="431" name="Google Shape;431;p13"/>
          <p:cNvSpPr/>
          <p:nvPr/>
        </p:nvSpPr>
        <p:spPr>
          <a:xfrm>
            <a:off x="8151800" y="1012627"/>
            <a:ext cx="269760"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Deploy</a:t>
            </a:r>
            <a:endParaRPr b="0" i="0" sz="485" u="none" cap="none" strike="noStrike">
              <a:solidFill>
                <a:schemeClr val="dk1"/>
              </a:solidFill>
              <a:latin typeface="Calibri"/>
              <a:ea typeface="Calibri"/>
              <a:cs typeface="Calibri"/>
              <a:sym typeface="Calibri"/>
            </a:endParaRPr>
          </a:p>
        </p:txBody>
      </p:sp>
      <p:sp>
        <p:nvSpPr>
          <p:cNvPr id="432" name="Google Shape;432;p13"/>
          <p:cNvSpPr/>
          <p:nvPr/>
        </p:nvSpPr>
        <p:spPr>
          <a:xfrm>
            <a:off x="428625" y="1325166"/>
            <a:ext cx="8286750" cy="3532584"/>
          </a:xfrm>
          <a:prstGeom prst="rect">
            <a:avLst/>
          </a:prstGeom>
          <a:solidFill>
            <a:srgbClr val="1A2A3A"/>
          </a:solidFill>
          <a:ln cap="flat" cmpd="sng" w="9525">
            <a:solidFill>
              <a:srgbClr val="FFFFFF">
                <a:alpha val="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3"/>
          <p:cNvSpPr/>
          <p:nvPr/>
        </p:nvSpPr>
        <p:spPr>
          <a:xfrm>
            <a:off x="607219" y="1503759"/>
            <a:ext cx="2366367"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The Squad</a:t>
            </a:r>
            <a:endParaRPr b="0" i="0" sz="683" u="none" cap="none" strike="noStrike">
              <a:solidFill>
                <a:schemeClr val="dk1"/>
              </a:solidFill>
              <a:latin typeface="Calibri"/>
              <a:ea typeface="Calibri"/>
              <a:cs typeface="Calibri"/>
              <a:sym typeface="Calibri"/>
            </a:endParaRPr>
          </a:p>
        </p:txBody>
      </p:sp>
      <p:sp>
        <p:nvSpPr>
          <p:cNvPr id="434" name="Google Shape;434;p13"/>
          <p:cNvSpPr/>
          <p:nvPr/>
        </p:nvSpPr>
        <p:spPr>
          <a:xfrm>
            <a:off x="607219" y="1810941"/>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3"/>
          <p:cNvSpPr/>
          <p:nvPr/>
        </p:nvSpPr>
        <p:spPr>
          <a:xfrm>
            <a:off x="607219" y="1810941"/>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6" name="Google Shape;436;p13"/>
          <p:cNvPicPr preferRelativeResize="0"/>
          <p:nvPr/>
        </p:nvPicPr>
        <p:blipFill rotWithShape="1">
          <a:blip r:embed="rId5">
            <a:alphaModFix/>
          </a:blip>
          <a:srcRect b="0" l="0" r="0" t="0"/>
          <a:stretch/>
        </p:blipFill>
        <p:spPr>
          <a:xfrm>
            <a:off x="698302" y="1956495"/>
            <a:ext cx="160734" cy="128588"/>
          </a:xfrm>
          <a:prstGeom prst="rect">
            <a:avLst/>
          </a:prstGeom>
          <a:noFill/>
          <a:ln>
            <a:noFill/>
          </a:ln>
        </p:spPr>
      </p:pic>
      <p:sp>
        <p:nvSpPr>
          <p:cNvPr id="437" name="Google Shape;437;p13"/>
          <p:cNvSpPr/>
          <p:nvPr/>
        </p:nvSpPr>
        <p:spPr>
          <a:xfrm>
            <a:off x="950119" y="1896666"/>
            <a:ext cx="1039137"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Business Stakeholders</a:t>
            </a:r>
            <a:endParaRPr b="0" i="0" sz="634" u="none" cap="none" strike="noStrike">
              <a:solidFill>
                <a:schemeClr val="dk1"/>
              </a:solidFill>
              <a:latin typeface="Calibri"/>
              <a:ea typeface="Calibri"/>
              <a:cs typeface="Calibri"/>
              <a:sym typeface="Calibri"/>
            </a:endParaRPr>
          </a:p>
        </p:txBody>
      </p:sp>
      <p:sp>
        <p:nvSpPr>
          <p:cNvPr id="438" name="Google Shape;438;p13"/>
          <p:cNvSpPr/>
          <p:nvPr/>
        </p:nvSpPr>
        <p:spPr>
          <a:xfrm>
            <a:off x="950119" y="2037755"/>
            <a:ext cx="1039137"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Approval Authority</a:t>
            </a:r>
            <a:endParaRPr b="0" i="0" sz="568" u="none" cap="none" strike="noStrike">
              <a:solidFill>
                <a:schemeClr val="dk1"/>
              </a:solidFill>
              <a:latin typeface="Calibri"/>
              <a:ea typeface="Calibri"/>
              <a:cs typeface="Calibri"/>
              <a:sym typeface="Calibri"/>
            </a:endParaRPr>
          </a:p>
        </p:txBody>
      </p:sp>
      <p:sp>
        <p:nvSpPr>
          <p:cNvPr id="439" name="Google Shape;439;p13"/>
          <p:cNvSpPr/>
          <p:nvPr/>
        </p:nvSpPr>
        <p:spPr>
          <a:xfrm>
            <a:off x="607219" y="2302073"/>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3"/>
          <p:cNvSpPr/>
          <p:nvPr/>
        </p:nvSpPr>
        <p:spPr>
          <a:xfrm>
            <a:off x="607219" y="2302073"/>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41" name="Google Shape;441;p13"/>
          <p:cNvPicPr preferRelativeResize="0"/>
          <p:nvPr/>
        </p:nvPicPr>
        <p:blipFill rotWithShape="1">
          <a:blip r:embed="rId6">
            <a:alphaModFix/>
          </a:blip>
          <a:srcRect b="0" l="0" r="0" t="0"/>
          <a:stretch/>
        </p:blipFill>
        <p:spPr>
          <a:xfrm>
            <a:off x="722412" y="2447627"/>
            <a:ext cx="112514" cy="128588"/>
          </a:xfrm>
          <a:prstGeom prst="rect">
            <a:avLst/>
          </a:prstGeom>
          <a:noFill/>
          <a:ln>
            <a:noFill/>
          </a:ln>
        </p:spPr>
      </p:pic>
      <p:sp>
        <p:nvSpPr>
          <p:cNvPr id="442" name="Google Shape;442;p13"/>
          <p:cNvSpPr/>
          <p:nvPr/>
        </p:nvSpPr>
        <p:spPr>
          <a:xfrm>
            <a:off x="950119" y="2387798"/>
            <a:ext cx="804732"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Product Manager</a:t>
            </a:r>
            <a:endParaRPr b="0" i="0" sz="634" u="none" cap="none" strike="noStrike">
              <a:solidFill>
                <a:schemeClr val="dk1"/>
              </a:solidFill>
              <a:latin typeface="Calibri"/>
              <a:ea typeface="Calibri"/>
              <a:cs typeface="Calibri"/>
              <a:sym typeface="Calibri"/>
            </a:endParaRPr>
          </a:p>
        </p:txBody>
      </p:sp>
      <p:sp>
        <p:nvSpPr>
          <p:cNvPr id="443" name="Google Shape;443;p13"/>
          <p:cNvSpPr/>
          <p:nvPr/>
        </p:nvSpPr>
        <p:spPr>
          <a:xfrm>
            <a:off x="950119" y="2528888"/>
            <a:ext cx="804732"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Presenter</a:t>
            </a:r>
            <a:endParaRPr b="0" i="0" sz="568" u="none" cap="none" strike="noStrike">
              <a:solidFill>
                <a:schemeClr val="dk1"/>
              </a:solidFill>
              <a:latin typeface="Calibri"/>
              <a:ea typeface="Calibri"/>
              <a:cs typeface="Calibri"/>
              <a:sym typeface="Calibri"/>
            </a:endParaRPr>
          </a:p>
        </p:txBody>
      </p:sp>
      <p:sp>
        <p:nvSpPr>
          <p:cNvPr id="444" name="Google Shape;444;p13"/>
          <p:cNvSpPr/>
          <p:nvPr/>
        </p:nvSpPr>
        <p:spPr>
          <a:xfrm>
            <a:off x="607219" y="2793206"/>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3"/>
          <p:cNvSpPr/>
          <p:nvPr/>
        </p:nvSpPr>
        <p:spPr>
          <a:xfrm>
            <a:off x="607219" y="2793206"/>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46" name="Google Shape;446;p13"/>
          <p:cNvPicPr preferRelativeResize="0"/>
          <p:nvPr/>
        </p:nvPicPr>
        <p:blipFill rotWithShape="1">
          <a:blip r:embed="rId7">
            <a:alphaModFix/>
          </a:blip>
          <a:srcRect b="0" l="0" r="0" t="0"/>
          <a:stretch/>
        </p:blipFill>
        <p:spPr>
          <a:xfrm>
            <a:off x="698302" y="2938760"/>
            <a:ext cx="160734" cy="128588"/>
          </a:xfrm>
          <a:prstGeom prst="rect">
            <a:avLst/>
          </a:prstGeom>
          <a:noFill/>
          <a:ln>
            <a:noFill/>
          </a:ln>
        </p:spPr>
      </p:pic>
      <p:sp>
        <p:nvSpPr>
          <p:cNvPr id="447" name="Google Shape;447;p13"/>
          <p:cNvSpPr/>
          <p:nvPr/>
        </p:nvSpPr>
        <p:spPr>
          <a:xfrm>
            <a:off x="950119" y="2878931"/>
            <a:ext cx="607358"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Tech Lead</a:t>
            </a:r>
            <a:endParaRPr b="0" i="0" sz="634" u="none" cap="none" strike="noStrike">
              <a:solidFill>
                <a:schemeClr val="dk1"/>
              </a:solidFill>
              <a:latin typeface="Calibri"/>
              <a:ea typeface="Calibri"/>
              <a:cs typeface="Calibri"/>
              <a:sym typeface="Calibri"/>
            </a:endParaRPr>
          </a:p>
        </p:txBody>
      </p:sp>
      <p:sp>
        <p:nvSpPr>
          <p:cNvPr id="448" name="Google Shape;448;p13"/>
          <p:cNvSpPr/>
          <p:nvPr/>
        </p:nvSpPr>
        <p:spPr>
          <a:xfrm>
            <a:off x="950119" y="3020020"/>
            <a:ext cx="607358"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Feasibility Check</a:t>
            </a:r>
            <a:endParaRPr b="0" i="0" sz="568" u="none" cap="none" strike="noStrike">
              <a:solidFill>
                <a:schemeClr val="dk1"/>
              </a:solidFill>
              <a:latin typeface="Calibri"/>
              <a:ea typeface="Calibri"/>
              <a:cs typeface="Calibri"/>
              <a:sym typeface="Calibri"/>
            </a:endParaRPr>
          </a:p>
        </p:txBody>
      </p:sp>
      <p:sp>
        <p:nvSpPr>
          <p:cNvPr id="449" name="Google Shape;449;p13"/>
          <p:cNvSpPr/>
          <p:nvPr/>
        </p:nvSpPr>
        <p:spPr>
          <a:xfrm>
            <a:off x="3152180" y="1503759"/>
            <a:ext cx="2839641"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Orchestration Flow</a:t>
            </a:r>
            <a:endParaRPr b="0" i="0" sz="683" u="none" cap="none" strike="noStrike">
              <a:solidFill>
                <a:schemeClr val="dk1"/>
              </a:solidFill>
              <a:latin typeface="Calibri"/>
              <a:ea typeface="Calibri"/>
              <a:cs typeface="Calibri"/>
              <a:sym typeface="Calibri"/>
            </a:endParaRPr>
          </a:p>
        </p:txBody>
      </p:sp>
      <p:sp>
        <p:nvSpPr>
          <p:cNvPr id="450" name="Google Shape;450;p13"/>
          <p:cNvSpPr/>
          <p:nvPr/>
        </p:nvSpPr>
        <p:spPr>
          <a:xfrm>
            <a:off x="3152180" y="1810941"/>
            <a:ext cx="2839641"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3"/>
          <p:cNvSpPr/>
          <p:nvPr/>
        </p:nvSpPr>
        <p:spPr>
          <a:xfrm>
            <a:off x="3237905" y="1942207"/>
            <a:ext cx="157163" cy="157163"/>
          </a:xfrm>
          <a:prstGeom prst="ellipse">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3"/>
          <p:cNvSpPr/>
          <p:nvPr/>
        </p:nvSpPr>
        <p:spPr>
          <a:xfrm>
            <a:off x="3237905" y="1942207"/>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1</a:t>
            </a:r>
            <a:endParaRPr b="0" i="0" sz="534" u="none" cap="none" strike="noStrike">
              <a:solidFill>
                <a:schemeClr val="dk1"/>
              </a:solidFill>
              <a:latin typeface="Calibri"/>
              <a:ea typeface="Calibri"/>
              <a:cs typeface="Calibri"/>
              <a:sym typeface="Calibri"/>
            </a:endParaRPr>
          </a:p>
        </p:txBody>
      </p:sp>
      <p:sp>
        <p:nvSpPr>
          <p:cNvPr id="453" name="Google Shape;453;p13"/>
          <p:cNvSpPr/>
          <p:nvPr/>
        </p:nvSpPr>
        <p:spPr>
          <a:xfrm>
            <a:off x="3480792" y="1896666"/>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Review Session</a:t>
            </a:r>
            <a:endParaRPr b="0" i="0" sz="634" u="none" cap="none" strike="noStrike">
              <a:solidFill>
                <a:schemeClr val="dk1"/>
              </a:solidFill>
              <a:latin typeface="Calibri"/>
              <a:ea typeface="Calibri"/>
              <a:cs typeface="Calibri"/>
              <a:sym typeface="Calibri"/>
            </a:endParaRPr>
          </a:p>
        </p:txBody>
      </p:sp>
      <p:sp>
        <p:nvSpPr>
          <p:cNvPr id="454" name="Google Shape;454;p13"/>
          <p:cNvSpPr/>
          <p:nvPr/>
        </p:nvSpPr>
        <p:spPr>
          <a:xfrm>
            <a:off x="3480792" y="2037755"/>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PM presents Draft BRD to stakeholders.</a:t>
            </a:r>
            <a:endParaRPr b="0" i="0" sz="568" u="none" cap="none" strike="noStrike">
              <a:solidFill>
                <a:schemeClr val="dk1"/>
              </a:solidFill>
              <a:latin typeface="Calibri"/>
              <a:ea typeface="Calibri"/>
              <a:cs typeface="Calibri"/>
              <a:sym typeface="Calibri"/>
            </a:endParaRPr>
          </a:p>
        </p:txBody>
      </p:sp>
      <p:sp>
        <p:nvSpPr>
          <p:cNvPr id="455" name="Google Shape;455;p13"/>
          <p:cNvSpPr/>
          <p:nvPr/>
        </p:nvSpPr>
        <p:spPr>
          <a:xfrm>
            <a:off x="3152180" y="2287786"/>
            <a:ext cx="2839641"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3"/>
          <p:cNvSpPr/>
          <p:nvPr/>
        </p:nvSpPr>
        <p:spPr>
          <a:xfrm>
            <a:off x="3237905" y="2419052"/>
            <a:ext cx="157163" cy="157163"/>
          </a:xfrm>
          <a:prstGeom prst="ellipse">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3"/>
          <p:cNvSpPr/>
          <p:nvPr/>
        </p:nvSpPr>
        <p:spPr>
          <a:xfrm>
            <a:off x="3237905" y="2419052"/>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2</a:t>
            </a:r>
            <a:endParaRPr b="0" i="0" sz="534" u="none" cap="none" strike="noStrike">
              <a:solidFill>
                <a:schemeClr val="dk1"/>
              </a:solidFill>
              <a:latin typeface="Calibri"/>
              <a:ea typeface="Calibri"/>
              <a:cs typeface="Calibri"/>
              <a:sym typeface="Calibri"/>
            </a:endParaRPr>
          </a:p>
        </p:txBody>
      </p:sp>
      <p:sp>
        <p:nvSpPr>
          <p:cNvPr id="458" name="Google Shape;458;p13"/>
          <p:cNvSpPr/>
          <p:nvPr/>
        </p:nvSpPr>
        <p:spPr>
          <a:xfrm>
            <a:off x="3480792" y="2373511"/>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Feedback Loop</a:t>
            </a:r>
            <a:endParaRPr b="0" i="0" sz="634" u="none" cap="none" strike="noStrike">
              <a:solidFill>
                <a:schemeClr val="dk1"/>
              </a:solidFill>
              <a:latin typeface="Calibri"/>
              <a:ea typeface="Calibri"/>
              <a:cs typeface="Calibri"/>
              <a:sym typeface="Calibri"/>
            </a:endParaRPr>
          </a:p>
        </p:txBody>
      </p:sp>
      <p:sp>
        <p:nvSpPr>
          <p:cNvPr id="459" name="Google Shape;459;p13"/>
          <p:cNvSpPr/>
          <p:nvPr/>
        </p:nvSpPr>
        <p:spPr>
          <a:xfrm>
            <a:off x="3480792" y="2514600"/>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Stakeholders request changes or clarifications.</a:t>
            </a:r>
            <a:endParaRPr b="0" i="0" sz="568" u="none" cap="none" strike="noStrike">
              <a:solidFill>
                <a:schemeClr val="dk1"/>
              </a:solidFill>
              <a:latin typeface="Calibri"/>
              <a:ea typeface="Calibri"/>
              <a:cs typeface="Calibri"/>
              <a:sym typeface="Calibri"/>
            </a:endParaRPr>
          </a:p>
        </p:txBody>
      </p:sp>
      <p:sp>
        <p:nvSpPr>
          <p:cNvPr id="460" name="Google Shape;460;p13"/>
          <p:cNvSpPr/>
          <p:nvPr/>
        </p:nvSpPr>
        <p:spPr>
          <a:xfrm>
            <a:off x="3152180" y="2764631"/>
            <a:ext cx="2839641" cy="433983"/>
          </a:xfrm>
          <a:prstGeom prst="rect">
            <a:avLst/>
          </a:prstGeom>
          <a:solidFill>
            <a:srgbClr val="0D1B2E"/>
          </a:solidFill>
          <a:ln cap="flat" cmpd="sng" w="952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3"/>
          <p:cNvSpPr/>
          <p:nvPr/>
        </p:nvSpPr>
        <p:spPr>
          <a:xfrm>
            <a:off x="3237905" y="2895898"/>
            <a:ext cx="157163" cy="157163"/>
          </a:xfrm>
          <a:prstGeom prst="ellipse">
            <a:avLst/>
          </a:pr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3"/>
          <p:cNvSpPr/>
          <p:nvPr/>
        </p:nvSpPr>
        <p:spPr>
          <a:xfrm>
            <a:off x="3237905" y="2895898"/>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3</a:t>
            </a:r>
            <a:endParaRPr b="0" i="0" sz="534" u="none" cap="none" strike="noStrike">
              <a:solidFill>
                <a:schemeClr val="dk1"/>
              </a:solidFill>
              <a:latin typeface="Calibri"/>
              <a:ea typeface="Calibri"/>
              <a:cs typeface="Calibri"/>
              <a:sym typeface="Calibri"/>
            </a:endParaRPr>
          </a:p>
        </p:txBody>
      </p:sp>
      <p:sp>
        <p:nvSpPr>
          <p:cNvPr id="463" name="Google Shape;463;p13"/>
          <p:cNvSpPr/>
          <p:nvPr/>
        </p:nvSpPr>
        <p:spPr>
          <a:xfrm>
            <a:off x="3480792" y="2850356"/>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Approval Gate</a:t>
            </a:r>
            <a:endParaRPr b="0" i="0" sz="634" u="none" cap="none" strike="noStrike">
              <a:solidFill>
                <a:schemeClr val="dk1"/>
              </a:solidFill>
              <a:latin typeface="Calibri"/>
              <a:ea typeface="Calibri"/>
              <a:cs typeface="Calibri"/>
              <a:sym typeface="Calibri"/>
            </a:endParaRPr>
          </a:p>
        </p:txBody>
      </p:sp>
      <p:sp>
        <p:nvSpPr>
          <p:cNvPr id="464" name="Google Shape;464;p13"/>
          <p:cNvSpPr/>
          <p:nvPr/>
        </p:nvSpPr>
        <p:spPr>
          <a:xfrm>
            <a:off x="3480792" y="2991445"/>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Formal sign-off required to proceed to Design.</a:t>
            </a:r>
            <a:endParaRPr b="0" i="0" sz="568" u="none" cap="none" strike="noStrike">
              <a:solidFill>
                <a:schemeClr val="dk1"/>
              </a:solidFill>
              <a:latin typeface="Calibri"/>
              <a:ea typeface="Calibri"/>
              <a:cs typeface="Calibri"/>
              <a:sym typeface="Calibri"/>
            </a:endParaRPr>
          </a:p>
        </p:txBody>
      </p:sp>
      <p:sp>
        <p:nvSpPr>
          <p:cNvPr id="465" name="Google Shape;465;p13"/>
          <p:cNvSpPr/>
          <p:nvPr/>
        </p:nvSpPr>
        <p:spPr>
          <a:xfrm>
            <a:off x="6170414" y="1503759"/>
            <a:ext cx="2366367"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Key Artifacts</a:t>
            </a:r>
            <a:endParaRPr b="0" i="0" sz="683" u="none" cap="none" strike="noStrike">
              <a:solidFill>
                <a:schemeClr val="dk1"/>
              </a:solidFill>
              <a:latin typeface="Calibri"/>
              <a:ea typeface="Calibri"/>
              <a:cs typeface="Calibri"/>
              <a:sym typeface="Calibri"/>
            </a:endParaRPr>
          </a:p>
        </p:txBody>
      </p:sp>
      <p:sp>
        <p:nvSpPr>
          <p:cNvPr id="466" name="Google Shape;466;p13"/>
          <p:cNvSpPr/>
          <p:nvPr/>
        </p:nvSpPr>
        <p:spPr>
          <a:xfrm>
            <a:off x="6170414" y="1810941"/>
            <a:ext cx="2366367" cy="589359"/>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67" name="Google Shape;467;p13"/>
          <p:cNvPicPr preferRelativeResize="0"/>
          <p:nvPr/>
        </p:nvPicPr>
        <p:blipFill rotWithShape="1">
          <a:blip r:embed="rId8">
            <a:alphaModFix/>
          </a:blip>
          <a:srcRect b="0" l="0" r="0" t="0"/>
          <a:stretch/>
        </p:blipFill>
        <p:spPr>
          <a:xfrm>
            <a:off x="6269534" y="2041327"/>
            <a:ext cx="144661" cy="128588"/>
          </a:xfrm>
          <a:prstGeom prst="rect">
            <a:avLst/>
          </a:prstGeom>
          <a:noFill/>
          <a:ln>
            <a:noFill/>
          </a:ln>
        </p:spPr>
      </p:pic>
      <p:sp>
        <p:nvSpPr>
          <p:cNvPr id="468" name="Google Shape;468;p13"/>
          <p:cNvSpPr/>
          <p:nvPr/>
        </p:nvSpPr>
        <p:spPr>
          <a:xfrm>
            <a:off x="6513314" y="1896666"/>
            <a:ext cx="1019296"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Approved BRD</a:t>
            </a:r>
            <a:endParaRPr b="0" i="0" sz="634" u="none" cap="none" strike="noStrike">
              <a:solidFill>
                <a:schemeClr val="dk1"/>
              </a:solidFill>
              <a:latin typeface="Calibri"/>
              <a:ea typeface="Calibri"/>
              <a:cs typeface="Calibri"/>
              <a:sym typeface="Calibri"/>
            </a:endParaRPr>
          </a:p>
        </p:txBody>
      </p:sp>
      <p:sp>
        <p:nvSpPr>
          <p:cNvPr id="469" name="Google Shape;469;p13"/>
          <p:cNvSpPr/>
          <p:nvPr/>
        </p:nvSpPr>
        <p:spPr>
          <a:xfrm>
            <a:off x="6513314" y="2037755"/>
            <a:ext cx="1019296"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Finalized requirements doc.</a:t>
            </a:r>
            <a:endParaRPr b="0" i="0" sz="568" u="none" cap="none" strike="noStrike">
              <a:solidFill>
                <a:schemeClr val="dk1"/>
              </a:solidFill>
              <a:latin typeface="Calibri"/>
              <a:ea typeface="Calibri"/>
              <a:cs typeface="Calibri"/>
              <a:sym typeface="Calibri"/>
            </a:endParaRPr>
          </a:p>
        </p:txBody>
      </p:sp>
      <p:sp>
        <p:nvSpPr>
          <p:cNvPr id="470" name="Google Shape;470;p13"/>
          <p:cNvSpPr/>
          <p:nvPr/>
        </p:nvSpPr>
        <p:spPr>
          <a:xfrm>
            <a:off x="6513314" y="2173486"/>
            <a:ext cx="740606" cy="141089"/>
          </a:xfrm>
          <a:prstGeom prst="rect">
            <a:avLst/>
          </a:prstGeom>
          <a:solidFill>
            <a:srgbClr val="FF5252">
              <a:alpha val="14901"/>
            </a:srgbClr>
          </a:solidFill>
          <a:ln cap="flat" cmpd="sng" w="952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71" name="Google Shape;471;p13"/>
          <p:cNvPicPr preferRelativeResize="0"/>
          <p:nvPr/>
        </p:nvPicPr>
        <p:blipFill rotWithShape="1">
          <a:blip r:embed="rId9">
            <a:alphaModFix/>
          </a:blip>
          <a:srcRect b="0" l="0" r="0" t="0"/>
          <a:stretch/>
        </p:blipFill>
        <p:spPr>
          <a:xfrm>
            <a:off x="6556177" y="2203847"/>
            <a:ext cx="89297" cy="71438"/>
          </a:xfrm>
          <a:prstGeom prst="rect">
            <a:avLst/>
          </a:prstGeom>
          <a:noFill/>
          <a:ln>
            <a:noFill/>
          </a:ln>
        </p:spPr>
      </p:pic>
      <p:sp>
        <p:nvSpPr>
          <p:cNvPr id="472" name="Google Shape;472;p13"/>
          <p:cNvSpPr/>
          <p:nvPr/>
        </p:nvSpPr>
        <p:spPr>
          <a:xfrm>
            <a:off x="6645473" y="2189559"/>
            <a:ext cx="551297" cy="98227"/>
          </a:xfrm>
          <a:prstGeom prst="rect">
            <a:avLst/>
          </a:prstGeom>
          <a:noFill/>
          <a:ln>
            <a:noFill/>
          </a:ln>
        </p:spPr>
        <p:txBody>
          <a:bodyPr anchorCtr="0" anchor="t" bIns="0" lIns="0" spcFirstLastPara="1" rIns="0" wrap="square" tIns="0">
            <a:noAutofit/>
          </a:bodyPr>
          <a:lstStyle/>
          <a:p>
            <a:pPr indent="0" lvl="0" marL="0" marR="0" rtl="0" algn="l">
              <a:lnSpc>
                <a:spcPct val="144329"/>
              </a:lnSpc>
              <a:spcBef>
                <a:spcPts val="0"/>
              </a:spcBef>
              <a:spcAft>
                <a:spcPts val="0"/>
              </a:spcAft>
              <a:buClr>
                <a:srgbClr val="FF5252"/>
              </a:buClr>
              <a:buSzPts val="485"/>
              <a:buFont typeface="Calibri"/>
              <a:buNone/>
            </a:pPr>
            <a:r>
              <a:rPr b="1" i="0" lang="en-US" sz="485" u="none" cap="none" strike="noStrike">
                <a:solidFill>
                  <a:srgbClr val="FF5252"/>
                </a:solidFill>
                <a:latin typeface="Calibri"/>
                <a:ea typeface="Calibri"/>
                <a:cs typeface="Calibri"/>
                <a:sym typeface="Calibri"/>
              </a:rPr>
              <a:t>Human Review</a:t>
            </a:r>
            <a:endParaRPr b="0" i="0" sz="485" u="none" cap="none" strike="noStrike">
              <a:solidFill>
                <a:schemeClr val="dk1"/>
              </a:solidFill>
              <a:latin typeface="Calibri"/>
              <a:ea typeface="Calibri"/>
              <a:cs typeface="Calibri"/>
              <a:sym typeface="Calibri"/>
            </a:endParaRPr>
          </a:p>
        </p:txBody>
      </p:sp>
      <p:sp>
        <p:nvSpPr>
          <p:cNvPr id="473" name="Google Shape;473;p13"/>
          <p:cNvSpPr/>
          <p:nvPr/>
        </p:nvSpPr>
        <p:spPr>
          <a:xfrm>
            <a:off x="6170414" y="2459236"/>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74" name="Google Shape;474;p13"/>
          <p:cNvPicPr preferRelativeResize="0"/>
          <p:nvPr/>
        </p:nvPicPr>
        <p:blipFill rotWithShape="1">
          <a:blip r:embed="rId10">
            <a:alphaModFix/>
          </a:blip>
          <a:srcRect b="0" l="0" r="0" t="0"/>
          <a:stretch/>
        </p:blipFill>
        <p:spPr>
          <a:xfrm>
            <a:off x="6293644" y="2604790"/>
            <a:ext cx="96441" cy="128588"/>
          </a:xfrm>
          <a:prstGeom prst="rect">
            <a:avLst/>
          </a:prstGeom>
          <a:noFill/>
          <a:ln>
            <a:noFill/>
          </a:ln>
        </p:spPr>
      </p:pic>
      <p:sp>
        <p:nvSpPr>
          <p:cNvPr id="475" name="Google Shape;475;p13"/>
          <p:cNvSpPr/>
          <p:nvPr/>
        </p:nvSpPr>
        <p:spPr>
          <a:xfrm>
            <a:off x="6513314" y="2544961"/>
            <a:ext cx="818434"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Sign-off Record</a:t>
            </a:r>
            <a:endParaRPr b="0" i="0" sz="634" u="none" cap="none" strike="noStrike">
              <a:solidFill>
                <a:schemeClr val="dk1"/>
              </a:solidFill>
              <a:latin typeface="Calibri"/>
              <a:ea typeface="Calibri"/>
              <a:cs typeface="Calibri"/>
              <a:sym typeface="Calibri"/>
            </a:endParaRPr>
          </a:p>
        </p:txBody>
      </p:sp>
      <p:sp>
        <p:nvSpPr>
          <p:cNvPr id="476" name="Google Shape;476;p13"/>
          <p:cNvSpPr/>
          <p:nvPr/>
        </p:nvSpPr>
        <p:spPr>
          <a:xfrm>
            <a:off x="6513314" y="2686050"/>
            <a:ext cx="818434"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Audit trail of approval.</a:t>
            </a:r>
            <a:endParaRPr b="0" i="0" sz="568"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pic>
        <p:nvPicPr>
          <p:cNvPr descr="preencoded.png" id="482" name="Google Shape;482;p1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83" name="Google Shape;483;p14"/>
          <p:cNvSpPr/>
          <p:nvPr/>
        </p:nvSpPr>
        <p:spPr>
          <a:xfrm>
            <a:off x="428625" y="285750"/>
            <a:ext cx="8286750" cy="312539"/>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FFFFFF"/>
              </a:buClr>
              <a:buSzPts val="1602"/>
              <a:buFont typeface="Calibri"/>
              <a:buNone/>
            </a:pPr>
            <a:r>
              <a:rPr b="1" i="0" lang="en-US" sz="1602" u="none" cap="none" strike="noStrike">
                <a:solidFill>
                  <a:srgbClr val="FFFFFF"/>
                </a:solidFill>
                <a:latin typeface="Calibri"/>
                <a:ea typeface="Calibri"/>
                <a:cs typeface="Calibri"/>
                <a:sym typeface="Calibri"/>
              </a:rPr>
              <a:t>Step 3: Design Phase (Architecture)</a:t>
            </a:r>
            <a:endParaRPr b="0" i="0" sz="1602" u="none" cap="none" strike="noStrike">
              <a:solidFill>
                <a:schemeClr val="dk1"/>
              </a:solidFill>
              <a:latin typeface="Calibri"/>
              <a:ea typeface="Calibri"/>
              <a:cs typeface="Calibri"/>
              <a:sym typeface="Calibri"/>
            </a:endParaRPr>
          </a:p>
        </p:txBody>
      </p:sp>
      <p:sp>
        <p:nvSpPr>
          <p:cNvPr id="484" name="Google Shape;484;p14"/>
          <p:cNvSpPr/>
          <p:nvPr/>
        </p:nvSpPr>
        <p:spPr>
          <a:xfrm>
            <a:off x="750094"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85" name="Google Shape;485;p14"/>
          <p:cNvPicPr preferRelativeResize="0"/>
          <p:nvPr/>
        </p:nvPicPr>
        <p:blipFill rotWithShape="1">
          <a:blip r:embed="rId4">
            <a:alphaModFix/>
          </a:blip>
          <a:srcRect b="0" l="0" r="0" t="0"/>
          <a:stretch/>
        </p:blipFill>
        <p:spPr>
          <a:xfrm>
            <a:off x="819745" y="805458"/>
            <a:ext cx="75009" cy="85725"/>
          </a:xfrm>
          <a:prstGeom prst="rect">
            <a:avLst/>
          </a:prstGeom>
          <a:noFill/>
          <a:ln>
            <a:noFill/>
          </a:ln>
        </p:spPr>
      </p:pic>
      <p:sp>
        <p:nvSpPr>
          <p:cNvPr id="486" name="Google Shape;486;p14"/>
          <p:cNvSpPr/>
          <p:nvPr/>
        </p:nvSpPr>
        <p:spPr>
          <a:xfrm>
            <a:off x="649746" y="1012627"/>
            <a:ext cx="415007"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BRD Create</a:t>
            </a:r>
            <a:endParaRPr b="0" i="0" sz="485" u="none" cap="none" strike="noStrike">
              <a:solidFill>
                <a:schemeClr val="dk1"/>
              </a:solidFill>
              <a:latin typeface="Calibri"/>
              <a:ea typeface="Calibri"/>
              <a:cs typeface="Calibri"/>
              <a:sym typeface="Calibri"/>
            </a:endParaRPr>
          </a:p>
        </p:txBody>
      </p:sp>
      <p:sp>
        <p:nvSpPr>
          <p:cNvPr id="487" name="Google Shape;487;p14"/>
          <p:cNvSpPr/>
          <p:nvPr/>
        </p:nvSpPr>
        <p:spPr>
          <a:xfrm>
            <a:off x="1811443"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88" name="Google Shape;488;p14"/>
          <p:cNvPicPr preferRelativeResize="0"/>
          <p:nvPr/>
        </p:nvPicPr>
        <p:blipFill rotWithShape="1">
          <a:blip r:embed="rId5">
            <a:alphaModFix/>
          </a:blip>
          <a:srcRect b="0" l="0" r="0" t="0"/>
          <a:stretch/>
        </p:blipFill>
        <p:spPr>
          <a:xfrm>
            <a:off x="1881094" y="805458"/>
            <a:ext cx="75009" cy="85725"/>
          </a:xfrm>
          <a:prstGeom prst="rect">
            <a:avLst/>
          </a:prstGeom>
          <a:noFill/>
          <a:ln>
            <a:noFill/>
          </a:ln>
        </p:spPr>
      </p:pic>
      <p:sp>
        <p:nvSpPr>
          <p:cNvPr id="489" name="Google Shape;489;p14"/>
          <p:cNvSpPr/>
          <p:nvPr/>
        </p:nvSpPr>
        <p:spPr>
          <a:xfrm>
            <a:off x="1706463" y="1012627"/>
            <a:ext cx="424272"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BRD Review</a:t>
            </a:r>
            <a:endParaRPr b="0" i="0" sz="485" u="none" cap="none" strike="noStrike">
              <a:solidFill>
                <a:schemeClr val="dk1"/>
              </a:solidFill>
              <a:latin typeface="Calibri"/>
              <a:ea typeface="Calibri"/>
              <a:cs typeface="Calibri"/>
              <a:sym typeface="Calibri"/>
            </a:endParaRPr>
          </a:p>
        </p:txBody>
      </p:sp>
      <p:sp>
        <p:nvSpPr>
          <p:cNvPr id="490" name="Google Shape;490;p14"/>
          <p:cNvSpPr/>
          <p:nvPr/>
        </p:nvSpPr>
        <p:spPr>
          <a:xfrm>
            <a:off x="2851361" y="719733"/>
            <a:ext cx="257175" cy="257175"/>
          </a:xfrm>
          <a:prstGeom prst="ellipse">
            <a:avLst/>
          </a:prstGeom>
          <a:solidFill>
            <a:srgbClr val="2979FF"/>
          </a:solidFill>
          <a:ln cap="flat" cmpd="sng" w="182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4"/>
          <p:cNvSpPr/>
          <p:nvPr/>
        </p:nvSpPr>
        <p:spPr>
          <a:xfrm>
            <a:off x="2851361" y="719733"/>
            <a:ext cx="257175" cy="257175"/>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FFFFFF"/>
              </a:buClr>
              <a:buSzPts val="584"/>
              <a:buFont typeface="Calibri"/>
              <a:buNone/>
            </a:pPr>
            <a:r>
              <a:rPr b="1" i="0" lang="en-US" sz="584" u="none" cap="none" strike="noStrike">
                <a:solidFill>
                  <a:srgbClr val="FFFFFF"/>
                </a:solidFill>
                <a:latin typeface="Calibri"/>
                <a:ea typeface="Calibri"/>
                <a:cs typeface="Calibri"/>
                <a:sym typeface="Calibri"/>
              </a:rPr>
              <a:t>3</a:t>
            </a:r>
            <a:endParaRPr b="0" i="0" sz="584" u="none" cap="none" strike="noStrike">
              <a:solidFill>
                <a:schemeClr val="dk1"/>
              </a:solidFill>
              <a:latin typeface="Calibri"/>
              <a:ea typeface="Calibri"/>
              <a:cs typeface="Calibri"/>
              <a:sym typeface="Calibri"/>
            </a:endParaRPr>
          </a:p>
        </p:txBody>
      </p:sp>
      <p:sp>
        <p:nvSpPr>
          <p:cNvPr id="492" name="Google Shape;492;p14"/>
          <p:cNvSpPr/>
          <p:nvPr/>
        </p:nvSpPr>
        <p:spPr>
          <a:xfrm>
            <a:off x="2845026" y="1012627"/>
            <a:ext cx="269844"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2979FF"/>
              </a:buClr>
              <a:buSzPts val="485"/>
              <a:buFont typeface="Calibri"/>
              <a:buNone/>
            </a:pPr>
            <a:r>
              <a:rPr b="1" i="0" lang="en-US" sz="485" u="none" cap="none" strike="noStrike">
                <a:solidFill>
                  <a:srgbClr val="2979FF"/>
                </a:solidFill>
                <a:latin typeface="Calibri"/>
                <a:ea typeface="Calibri"/>
                <a:cs typeface="Calibri"/>
                <a:sym typeface="Calibri"/>
              </a:rPr>
              <a:t>Design</a:t>
            </a:r>
            <a:endParaRPr b="0" i="0" sz="485" u="none" cap="none" strike="noStrike">
              <a:solidFill>
                <a:schemeClr val="dk1"/>
              </a:solidFill>
              <a:latin typeface="Calibri"/>
              <a:ea typeface="Calibri"/>
              <a:cs typeface="Calibri"/>
              <a:sym typeface="Calibri"/>
            </a:endParaRPr>
          </a:p>
        </p:txBody>
      </p:sp>
      <p:sp>
        <p:nvSpPr>
          <p:cNvPr id="493" name="Google Shape;493;p14"/>
          <p:cNvSpPr/>
          <p:nvPr/>
        </p:nvSpPr>
        <p:spPr>
          <a:xfrm>
            <a:off x="3934141"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4"/>
          <p:cNvSpPr/>
          <p:nvPr/>
        </p:nvSpPr>
        <p:spPr>
          <a:xfrm>
            <a:off x="3934141"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4</a:t>
            </a:r>
            <a:endParaRPr b="0" i="0" sz="584" u="none" cap="none" strike="noStrike">
              <a:solidFill>
                <a:schemeClr val="dk1"/>
              </a:solidFill>
              <a:latin typeface="Calibri"/>
              <a:ea typeface="Calibri"/>
              <a:cs typeface="Calibri"/>
              <a:sym typeface="Calibri"/>
            </a:endParaRPr>
          </a:p>
        </p:txBody>
      </p:sp>
      <p:sp>
        <p:nvSpPr>
          <p:cNvPr id="495" name="Google Shape;495;p14"/>
          <p:cNvSpPr/>
          <p:nvPr/>
        </p:nvSpPr>
        <p:spPr>
          <a:xfrm>
            <a:off x="3949210" y="1012627"/>
            <a:ext cx="184175"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Plan</a:t>
            </a:r>
            <a:endParaRPr b="0" i="0" sz="485" u="none" cap="none" strike="noStrike">
              <a:solidFill>
                <a:schemeClr val="dk1"/>
              </a:solidFill>
              <a:latin typeface="Calibri"/>
              <a:ea typeface="Calibri"/>
              <a:cs typeface="Calibri"/>
              <a:sym typeface="Calibri"/>
            </a:endParaRPr>
          </a:p>
        </p:txBody>
      </p:sp>
      <p:sp>
        <p:nvSpPr>
          <p:cNvPr id="496" name="Google Shape;496;p14"/>
          <p:cNvSpPr/>
          <p:nvPr/>
        </p:nvSpPr>
        <p:spPr>
          <a:xfrm>
            <a:off x="4995490"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4"/>
          <p:cNvSpPr/>
          <p:nvPr/>
        </p:nvSpPr>
        <p:spPr>
          <a:xfrm>
            <a:off x="4995490"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5</a:t>
            </a:r>
            <a:endParaRPr b="0" i="0" sz="584" u="none" cap="none" strike="noStrike">
              <a:solidFill>
                <a:schemeClr val="dk1"/>
              </a:solidFill>
              <a:latin typeface="Calibri"/>
              <a:ea typeface="Calibri"/>
              <a:cs typeface="Calibri"/>
              <a:sym typeface="Calibri"/>
            </a:endParaRPr>
          </a:p>
        </p:txBody>
      </p:sp>
      <p:sp>
        <p:nvSpPr>
          <p:cNvPr id="498" name="Google Shape;498;p14"/>
          <p:cNvSpPr/>
          <p:nvPr/>
        </p:nvSpPr>
        <p:spPr>
          <a:xfrm>
            <a:off x="5034586" y="1012627"/>
            <a:ext cx="136094"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Dev</a:t>
            </a:r>
            <a:endParaRPr b="0" i="0" sz="485" u="none" cap="none" strike="noStrike">
              <a:solidFill>
                <a:schemeClr val="dk1"/>
              </a:solidFill>
              <a:latin typeface="Calibri"/>
              <a:ea typeface="Calibri"/>
              <a:cs typeface="Calibri"/>
              <a:sym typeface="Calibri"/>
            </a:endParaRPr>
          </a:p>
        </p:txBody>
      </p:sp>
      <p:sp>
        <p:nvSpPr>
          <p:cNvPr id="499" name="Google Shape;499;p14"/>
          <p:cNvSpPr/>
          <p:nvPr/>
        </p:nvSpPr>
        <p:spPr>
          <a:xfrm>
            <a:off x="6056840"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4"/>
          <p:cNvSpPr/>
          <p:nvPr/>
        </p:nvSpPr>
        <p:spPr>
          <a:xfrm>
            <a:off x="6056840"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6</a:t>
            </a:r>
            <a:endParaRPr b="0" i="0" sz="584" u="none" cap="none" strike="noStrike">
              <a:solidFill>
                <a:schemeClr val="dk1"/>
              </a:solidFill>
              <a:latin typeface="Calibri"/>
              <a:ea typeface="Calibri"/>
              <a:cs typeface="Calibri"/>
              <a:sym typeface="Calibri"/>
            </a:endParaRPr>
          </a:p>
        </p:txBody>
      </p:sp>
      <p:sp>
        <p:nvSpPr>
          <p:cNvPr id="501" name="Google Shape;501;p14"/>
          <p:cNvSpPr/>
          <p:nvPr/>
        </p:nvSpPr>
        <p:spPr>
          <a:xfrm>
            <a:off x="6084215" y="1012627"/>
            <a:ext cx="159534"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Test</a:t>
            </a:r>
            <a:endParaRPr b="0" i="0" sz="485" u="none" cap="none" strike="noStrike">
              <a:solidFill>
                <a:schemeClr val="dk1"/>
              </a:solidFill>
              <a:latin typeface="Calibri"/>
              <a:ea typeface="Calibri"/>
              <a:cs typeface="Calibri"/>
              <a:sym typeface="Calibri"/>
            </a:endParaRPr>
          </a:p>
        </p:txBody>
      </p:sp>
      <p:sp>
        <p:nvSpPr>
          <p:cNvPr id="502" name="Google Shape;502;p14"/>
          <p:cNvSpPr/>
          <p:nvPr/>
        </p:nvSpPr>
        <p:spPr>
          <a:xfrm>
            <a:off x="7118189"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4"/>
          <p:cNvSpPr/>
          <p:nvPr/>
        </p:nvSpPr>
        <p:spPr>
          <a:xfrm>
            <a:off x="7118189"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7</a:t>
            </a:r>
            <a:endParaRPr b="0" i="0" sz="584" u="none" cap="none" strike="noStrike">
              <a:solidFill>
                <a:schemeClr val="dk1"/>
              </a:solidFill>
              <a:latin typeface="Calibri"/>
              <a:ea typeface="Calibri"/>
              <a:cs typeface="Calibri"/>
              <a:sym typeface="Calibri"/>
            </a:endParaRPr>
          </a:p>
        </p:txBody>
      </p:sp>
      <p:sp>
        <p:nvSpPr>
          <p:cNvPr id="504" name="Google Shape;504;p14"/>
          <p:cNvSpPr/>
          <p:nvPr/>
        </p:nvSpPr>
        <p:spPr>
          <a:xfrm>
            <a:off x="7094720" y="1012627"/>
            <a:ext cx="261249"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Review</a:t>
            </a:r>
            <a:endParaRPr b="0" i="0" sz="485" u="none" cap="none" strike="noStrike">
              <a:solidFill>
                <a:schemeClr val="dk1"/>
              </a:solidFill>
              <a:latin typeface="Calibri"/>
              <a:ea typeface="Calibri"/>
              <a:cs typeface="Calibri"/>
              <a:sym typeface="Calibri"/>
            </a:endParaRPr>
          </a:p>
        </p:txBody>
      </p:sp>
      <p:sp>
        <p:nvSpPr>
          <p:cNvPr id="505" name="Google Shape;505;p14"/>
          <p:cNvSpPr/>
          <p:nvPr/>
        </p:nvSpPr>
        <p:spPr>
          <a:xfrm>
            <a:off x="8179538"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4"/>
          <p:cNvSpPr/>
          <p:nvPr/>
        </p:nvSpPr>
        <p:spPr>
          <a:xfrm>
            <a:off x="8179538"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8</a:t>
            </a:r>
            <a:endParaRPr b="0" i="0" sz="584" u="none" cap="none" strike="noStrike">
              <a:solidFill>
                <a:schemeClr val="dk1"/>
              </a:solidFill>
              <a:latin typeface="Calibri"/>
              <a:ea typeface="Calibri"/>
              <a:cs typeface="Calibri"/>
              <a:sym typeface="Calibri"/>
            </a:endParaRPr>
          </a:p>
        </p:txBody>
      </p:sp>
      <p:sp>
        <p:nvSpPr>
          <p:cNvPr id="507" name="Google Shape;507;p14"/>
          <p:cNvSpPr/>
          <p:nvPr/>
        </p:nvSpPr>
        <p:spPr>
          <a:xfrm>
            <a:off x="8151800" y="1012627"/>
            <a:ext cx="269760"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Deploy</a:t>
            </a:r>
            <a:endParaRPr b="0" i="0" sz="485" u="none" cap="none" strike="noStrike">
              <a:solidFill>
                <a:schemeClr val="dk1"/>
              </a:solidFill>
              <a:latin typeface="Calibri"/>
              <a:ea typeface="Calibri"/>
              <a:cs typeface="Calibri"/>
              <a:sym typeface="Calibri"/>
            </a:endParaRPr>
          </a:p>
        </p:txBody>
      </p:sp>
      <p:sp>
        <p:nvSpPr>
          <p:cNvPr id="508" name="Google Shape;508;p14"/>
          <p:cNvSpPr/>
          <p:nvPr/>
        </p:nvSpPr>
        <p:spPr>
          <a:xfrm>
            <a:off x="428625" y="1325166"/>
            <a:ext cx="8286750" cy="3532584"/>
          </a:xfrm>
          <a:prstGeom prst="rect">
            <a:avLst/>
          </a:prstGeom>
          <a:solidFill>
            <a:srgbClr val="1A2A3A"/>
          </a:solidFill>
          <a:ln cap="flat" cmpd="sng" w="9525">
            <a:solidFill>
              <a:srgbClr val="FFFFFF">
                <a:alpha val="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4"/>
          <p:cNvSpPr/>
          <p:nvPr/>
        </p:nvSpPr>
        <p:spPr>
          <a:xfrm>
            <a:off x="607219" y="1503759"/>
            <a:ext cx="2366367"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The Squad</a:t>
            </a:r>
            <a:endParaRPr b="0" i="0" sz="683" u="none" cap="none" strike="noStrike">
              <a:solidFill>
                <a:schemeClr val="dk1"/>
              </a:solidFill>
              <a:latin typeface="Calibri"/>
              <a:ea typeface="Calibri"/>
              <a:cs typeface="Calibri"/>
              <a:sym typeface="Calibri"/>
            </a:endParaRPr>
          </a:p>
        </p:txBody>
      </p:sp>
      <p:sp>
        <p:nvSpPr>
          <p:cNvPr id="510" name="Google Shape;510;p14"/>
          <p:cNvSpPr/>
          <p:nvPr/>
        </p:nvSpPr>
        <p:spPr>
          <a:xfrm>
            <a:off x="607219" y="1810941"/>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4"/>
          <p:cNvSpPr/>
          <p:nvPr/>
        </p:nvSpPr>
        <p:spPr>
          <a:xfrm>
            <a:off x="607219" y="1810941"/>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2" name="Google Shape;512;p14"/>
          <p:cNvPicPr preferRelativeResize="0"/>
          <p:nvPr/>
        </p:nvPicPr>
        <p:blipFill rotWithShape="1">
          <a:blip r:embed="rId6">
            <a:alphaModFix/>
          </a:blip>
          <a:srcRect b="0" l="0" r="0" t="0"/>
          <a:stretch/>
        </p:blipFill>
        <p:spPr>
          <a:xfrm>
            <a:off x="706338" y="1956495"/>
            <a:ext cx="144661" cy="128588"/>
          </a:xfrm>
          <a:prstGeom prst="rect">
            <a:avLst/>
          </a:prstGeom>
          <a:noFill/>
          <a:ln>
            <a:noFill/>
          </a:ln>
        </p:spPr>
      </p:pic>
      <p:sp>
        <p:nvSpPr>
          <p:cNvPr id="513" name="Google Shape;513;p14"/>
          <p:cNvSpPr/>
          <p:nvPr/>
        </p:nvSpPr>
        <p:spPr>
          <a:xfrm>
            <a:off x="950119" y="1896666"/>
            <a:ext cx="955002"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System Architect</a:t>
            </a:r>
            <a:endParaRPr b="0" i="0" sz="634" u="none" cap="none" strike="noStrike">
              <a:solidFill>
                <a:schemeClr val="dk1"/>
              </a:solidFill>
              <a:latin typeface="Calibri"/>
              <a:ea typeface="Calibri"/>
              <a:cs typeface="Calibri"/>
              <a:sym typeface="Calibri"/>
            </a:endParaRPr>
          </a:p>
        </p:txBody>
      </p:sp>
      <p:sp>
        <p:nvSpPr>
          <p:cNvPr id="514" name="Google Shape;514;p14"/>
          <p:cNvSpPr/>
          <p:nvPr/>
        </p:nvSpPr>
        <p:spPr>
          <a:xfrm>
            <a:off x="950119" y="2037755"/>
            <a:ext cx="955002"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Orchestrator &amp; C4 Models</a:t>
            </a:r>
            <a:endParaRPr b="0" i="0" sz="568" u="none" cap="none" strike="noStrike">
              <a:solidFill>
                <a:schemeClr val="dk1"/>
              </a:solidFill>
              <a:latin typeface="Calibri"/>
              <a:ea typeface="Calibri"/>
              <a:cs typeface="Calibri"/>
              <a:sym typeface="Calibri"/>
            </a:endParaRPr>
          </a:p>
        </p:txBody>
      </p:sp>
      <p:sp>
        <p:nvSpPr>
          <p:cNvPr id="515" name="Google Shape;515;p14"/>
          <p:cNvSpPr/>
          <p:nvPr/>
        </p:nvSpPr>
        <p:spPr>
          <a:xfrm>
            <a:off x="607219" y="2302073"/>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4"/>
          <p:cNvSpPr/>
          <p:nvPr/>
        </p:nvSpPr>
        <p:spPr>
          <a:xfrm>
            <a:off x="607219" y="2302073"/>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7" name="Google Shape;517;p14"/>
          <p:cNvPicPr preferRelativeResize="0"/>
          <p:nvPr/>
        </p:nvPicPr>
        <p:blipFill rotWithShape="1">
          <a:blip r:embed="rId7">
            <a:alphaModFix/>
          </a:blip>
          <a:srcRect b="0" l="0" r="0" t="0"/>
          <a:stretch/>
        </p:blipFill>
        <p:spPr>
          <a:xfrm>
            <a:off x="722412" y="2447627"/>
            <a:ext cx="112514" cy="128588"/>
          </a:xfrm>
          <a:prstGeom prst="rect">
            <a:avLst/>
          </a:prstGeom>
          <a:noFill/>
          <a:ln>
            <a:noFill/>
          </a:ln>
        </p:spPr>
      </p:pic>
      <p:sp>
        <p:nvSpPr>
          <p:cNvPr id="518" name="Google Shape;518;p14"/>
          <p:cNvSpPr/>
          <p:nvPr/>
        </p:nvSpPr>
        <p:spPr>
          <a:xfrm>
            <a:off x="950119" y="2387798"/>
            <a:ext cx="786929"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DB Designer</a:t>
            </a:r>
            <a:endParaRPr b="0" i="0" sz="634" u="none" cap="none" strike="noStrike">
              <a:solidFill>
                <a:schemeClr val="dk1"/>
              </a:solidFill>
              <a:latin typeface="Calibri"/>
              <a:ea typeface="Calibri"/>
              <a:cs typeface="Calibri"/>
              <a:sym typeface="Calibri"/>
            </a:endParaRPr>
          </a:p>
        </p:txBody>
      </p:sp>
      <p:sp>
        <p:nvSpPr>
          <p:cNvPr id="519" name="Google Shape;519;p14"/>
          <p:cNvSpPr/>
          <p:nvPr/>
        </p:nvSpPr>
        <p:spPr>
          <a:xfrm>
            <a:off x="950119" y="2528888"/>
            <a:ext cx="786929"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Schema &amp; Migrations</a:t>
            </a:r>
            <a:endParaRPr b="0" i="0" sz="568" u="none" cap="none" strike="noStrike">
              <a:solidFill>
                <a:schemeClr val="dk1"/>
              </a:solidFill>
              <a:latin typeface="Calibri"/>
              <a:ea typeface="Calibri"/>
              <a:cs typeface="Calibri"/>
              <a:sym typeface="Calibri"/>
            </a:endParaRPr>
          </a:p>
        </p:txBody>
      </p:sp>
      <p:sp>
        <p:nvSpPr>
          <p:cNvPr id="520" name="Google Shape;520;p14"/>
          <p:cNvSpPr/>
          <p:nvPr/>
        </p:nvSpPr>
        <p:spPr>
          <a:xfrm>
            <a:off x="607219" y="2793206"/>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4"/>
          <p:cNvSpPr/>
          <p:nvPr/>
        </p:nvSpPr>
        <p:spPr>
          <a:xfrm>
            <a:off x="607219" y="2793206"/>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22" name="Google Shape;522;p14"/>
          <p:cNvPicPr preferRelativeResize="0"/>
          <p:nvPr/>
        </p:nvPicPr>
        <p:blipFill rotWithShape="1">
          <a:blip r:embed="rId8">
            <a:alphaModFix/>
          </a:blip>
          <a:srcRect b="0" l="0" r="0" t="0"/>
          <a:stretch/>
        </p:blipFill>
        <p:spPr>
          <a:xfrm>
            <a:off x="698302" y="2938760"/>
            <a:ext cx="160734" cy="128588"/>
          </a:xfrm>
          <a:prstGeom prst="rect">
            <a:avLst/>
          </a:prstGeom>
          <a:noFill/>
          <a:ln>
            <a:noFill/>
          </a:ln>
        </p:spPr>
      </p:pic>
      <p:sp>
        <p:nvSpPr>
          <p:cNvPr id="523" name="Google Shape;523;p14"/>
          <p:cNvSpPr/>
          <p:nvPr/>
        </p:nvSpPr>
        <p:spPr>
          <a:xfrm>
            <a:off x="950119" y="2878931"/>
            <a:ext cx="700255"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API Designer</a:t>
            </a:r>
            <a:endParaRPr b="0" i="0" sz="634" u="none" cap="none" strike="noStrike">
              <a:solidFill>
                <a:schemeClr val="dk1"/>
              </a:solidFill>
              <a:latin typeface="Calibri"/>
              <a:ea typeface="Calibri"/>
              <a:cs typeface="Calibri"/>
              <a:sym typeface="Calibri"/>
            </a:endParaRPr>
          </a:p>
        </p:txBody>
      </p:sp>
      <p:sp>
        <p:nvSpPr>
          <p:cNvPr id="524" name="Google Shape;524;p14"/>
          <p:cNvSpPr/>
          <p:nvPr/>
        </p:nvSpPr>
        <p:spPr>
          <a:xfrm>
            <a:off x="950119" y="3020020"/>
            <a:ext cx="700255"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OpenAPI Contracts</a:t>
            </a:r>
            <a:endParaRPr b="0" i="0" sz="568" u="none" cap="none" strike="noStrike">
              <a:solidFill>
                <a:schemeClr val="dk1"/>
              </a:solidFill>
              <a:latin typeface="Calibri"/>
              <a:ea typeface="Calibri"/>
              <a:cs typeface="Calibri"/>
              <a:sym typeface="Calibri"/>
            </a:endParaRPr>
          </a:p>
        </p:txBody>
      </p:sp>
      <p:sp>
        <p:nvSpPr>
          <p:cNvPr id="525" name="Google Shape;525;p14"/>
          <p:cNvSpPr/>
          <p:nvPr/>
        </p:nvSpPr>
        <p:spPr>
          <a:xfrm>
            <a:off x="3152180" y="1503759"/>
            <a:ext cx="2839641"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Orchestration Flow</a:t>
            </a:r>
            <a:endParaRPr b="0" i="0" sz="683" u="none" cap="none" strike="noStrike">
              <a:solidFill>
                <a:schemeClr val="dk1"/>
              </a:solidFill>
              <a:latin typeface="Calibri"/>
              <a:ea typeface="Calibri"/>
              <a:cs typeface="Calibri"/>
              <a:sym typeface="Calibri"/>
            </a:endParaRPr>
          </a:p>
        </p:txBody>
      </p:sp>
      <p:sp>
        <p:nvSpPr>
          <p:cNvPr id="526" name="Google Shape;526;p14"/>
          <p:cNvSpPr/>
          <p:nvPr/>
        </p:nvSpPr>
        <p:spPr>
          <a:xfrm>
            <a:off x="3152180" y="1810941"/>
            <a:ext cx="2839641"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4"/>
          <p:cNvSpPr/>
          <p:nvPr/>
        </p:nvSpPr>
        <p:spPr>
          <a:xfrm>
            <a:off x="3237905" y="1942207"/>
            <a:ext cx="157163" cy="157163"/>
          </a:xfrm>
          <a:prstGeom prst="ellipse">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4"/>
          <p:cNvSpPr/>
          <p:nvPr/>
        </p:nvSpPr>
        <p:spPr>
          <a:xfrm>
            <a:off x="3237905" y="1942207"/>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1</a:t>
            </a:r>
            <a:endParaRPr b="0" i="0" sz="534" u="none" cap="none" strike="noStrike">
              <a:solidFill>
                <a:schemeClr val="dk1"/>
              </a:solidFill>
              <a:latin typeface="Calibri"/>
              <a:ea typeface="Calibri"/>
              <a:cs typeface="Calibri"/>
              <a:sym typeface="Calibri"/>
            </a:endParaRPr>
          </a:p>
        </p:txBody>
      </p:sp>
      <p:sp>
        <p:nvSpPr>
          <p:cNvPr id="529" name="Google Shape;529;p14"/>
          <p:cNvSpPr/>
          <p:nvPr/>
        </p:nvSpPr>
        <p:spPr>
          <a:xfrm>
            <a:off x="3480792" y="1896666"/>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Context Definition</a:t>
            </a:r>
            <a:endParaRPr b="0" i="0" sz="634" u="none" cap="none" strike="noStrike">
              <a:solidFill>
                <a:schemeClr val="dk1"/>
              </a:solidFill>
              <a:latin typeface="Calibri"/>
              <a:ea typeface="Calibri"/>
              <a:cs typeface="Calibri"/>
              <a:sym typeface="Calibri"/>
            </a:endParaRPr>
          </a:p>
        </p:txBody>
      </p:sp>
      <p:sp>
        <p:nvSpPr>
          <p:cNvPr id="530" name="Google Shape;530;p14"/>
          <p:cNvSpPr/>
          <p:nvPr/>
        </p:nvSpPr>
        <p:spPr>
          <a:xfrm>
            <a:off x="3480792" y="2037755"/>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Architect defines system boundaries &amp; containers.</a:t>
            </a:r>
            <a:endParaRPr b="0" i="0" sz="568" u="none" cap="none" strike="noStrike">
              <a:solidFill>
                <a:schemeClr val="dk1"/>
              </a:solidFill>
              <a:latin typeface="Calibri"/>
              <a:ea typeface="Calibri"/>
              <a:cs typeface="Calibri"/>
              <a:sym typeface="Calibri"/>
            </a:endParaRPr>
          </a:p>
        </p:txBody>
      </p:sp>
      <p:sp>
        <p:nvSpPr>
          <p:cNvPr id="531" name="Google Shape;531;p14"/>
          <p:cNvSpPr/>
          <p:nvPr/>
        </p:nvSpPr>
        <p:spPr>
          <a:xfrm>
            <a:off x="3152180" y="2287786"/>
            <a:ext cx="2839641"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4"/>
          <p:cNvSpPr/>
          <p:nvPr/>
        </p:nvSpPr>
        <p:spPr>
          <a:xfrm>
            <a:off x="3237905" y="2419052"/>
            <a:ext cx="157163" cy="157163"/>
          </a:xfrm>
          <a:prstGeom prst="ellipse">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4"/>
          <p:cNvSpPr/>
          <p:nvPr/>
        </p:nvSpPr>
        <p:spPr>
          <a:xfrm>
            <a:off x="3237905" y="2419052"/>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2</a:t>
            </a:r>
            <a:endParaRPr b="0" i="0" sz="534" u="none" cap="none" strike="noStrike">
              <a:solidFill>
                <a:schemeClr val="dk1"/>
              </a:solidFill>
              <a:latin typeface="Calibri"/>
              <a:ea typeface="Calibri"/>
              <a:cs typeface="Calibri"/>
              <a:sym typeface="Calibri"/>
            </a:endParaRPr>
          </a:p>
        </p:txBody>
      </p:sp>
      <p:sp>
        <p:nvSpPr>
          <p:cNvPr id="534" name="Google Shape;534;p14"/>
          <p:cNvSpPr/>
          <p:nvPr/>
        </p:nvSpPr>
        <p:spPr>
          <a:xfrm>
            <a:off x="3480792" y="2373511"/>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Parallel Design</a:t>
            </a:r>
            <a:endParaRPr b="0" i="0" sz="634" u="none" cap="none" strike="noStrike">
              <a:solidFill>
                <a:schemeClr val="dk1"/>
              </a:solidFill>
              <a:latin typeface="Calibri"/>
              <a:ea typeface="Calibri"/>
              <a:cs typeface="Calibri"/>
              <a:sym typeface="Calibri"/>
            </a:endParaRPr>
          </a:p>
        </p:txBody>
      </p:sp>
      <p:sp>
        <p:nvSpPr>
          <p:cNvPr id="535" name="Google Shape;535;p14"/>
          <p:cNvSpPr/>
          <p:nvPr/>
        </p:nvSpPr>
        <p:spPr>
          <a:xfrm>
            <a:off x="3480792" y="2514600"/>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DB &amp; API agents generate specs concurrently.</a:t>
            </a:r>
            <a:endParaRPr b="0" i="0" sz="568" u="none" cap="none" strike="noStrike">
              <a:solidFill>
                <a:schemeClr val="dk1"/>
              </a:solidFill>
              <a:latin typeface="Calibri"/>
              <a:ea typeface="Calibri"/>
              <a:cs typeface="Calibri"/>
              <a:sym typeface="Calibri"/>
            </a:endParaRPr>
          </a:p>
        </p:txBody>
      </p:sp>
      <p:sp>
        <p:nvSpPr>
          <p:cNvPr id="536" name="Google Shape;536;p14"/>
          <p:cNvSpPr/>
          <p:nvPr/>
        </p:nvSpPr>
        <p:spPr>
          <a:xfrm>
            <a:off x="3152180" y="2764631"/>
            <a:ext cx="2839641"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4"/>
          <p:cNvSpPr/>
          <p:nvPr/>
        </p:nvSpPr>
        <p:spPr>
          <a:xfrm>
            <a:off x="3237905" y="2895898"/>
            <a:ext cx="157163" cy="157163"/>
          </a:xfrm>
          <a:prstGeom prst="ellipse">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4"/>
          <p:cNvSpPr/>
          <p:nvPr/>
        </p:nvSpPr>
        <p:spPr>
          <a:xfrm>
            <a:off x="3237905" y="2895898"/>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3</a:t>
            </a:r>
            <a:endParaRPr b="0" i="0" sz="534" u="none" cap="none" strike="noStrike">
              <a:solidFill>
                <a:schemeClr val="dk1"/>
              </a:solidFill>
              <a:latin typeface="Calibri"/>
              <a:ea typeface="Calibri"/>
              <a:cs typeface="Calibri"/>
              <a:sym typeface="Calibri"/>
            </a:endParaRPr>
          </a:p>
        </p:txBody>
      </p:sp>
      <p:sp>
        <p:nvSpPr>
          <p:cNvPr id="539" name="Google Shape;539;p14"/>
          <p:cNvSpPr/>
          <p:nvPr/>
        </p:nvSpPr>
        <p:spPr>
          <a:xfrm>
            <a:off x="3480792" y="2850356"/>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Consolidation</a:t>
            </a:r>
            <a:endParaRPr b="0" i="0" sz="634" u="none" cap="none" strike="noStrike">
              <a:solidFill>
                <a:schemeClr val="dk1"/>
              </a:solidFill>
              <a:latin typeface="Calibri"/>
              <a:ea typeface="Calibri"/>
              <a:cs typeface="Calibri"/>
              <a:sym typeface="Calibri"/>
            </a:endParaRPr>
          </a:p>
        </p:txBody>
      </p:sp>
      <p:sp>
        <p:nvSpPr>
          <p:cNvPr id="540" name="Google Shape;540;p14"/>
          <p:cNvSpPr/>
          <p:nvPr/>
        </p:nvSpPr>
        <p:spPr>
          <a:xfrm>
            <a:off x="3480792" y="2991445"/>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Architect merges specs into master TRD.</a:t>
            </a:r>
            <a:endParaRPr b="0" i="0" sz="568" u="none" cap="none" strike="noStrike">
              <a:solidFill>
                <a:schemeClr val="dk1"/>
              </a:solidFill>
              <a:latin typeface="Calibri"/>
              <a:ea typeface="Calibri"/>
              <a:cs typeface="Calibri"/>
              <a:sym typeface="Calibri"/>
            </a:endParaRPr>
          </a:p>
        </p:txBody>
      </p:sp>
      <p:sp>
        <p:nvSpPr>
          <p:cNvPr id="541" name="Google Shape;541;p14"/>
          <p:cNvSpPr/>
          <p:nvPr/>
        </p:nvSpPr>
        <p:spPr>
          <a:xfrm>
            <a:off x="3152180" y="3241477"/>
            <a:ext cx="2839641" cy="433983"/>
          </a:xfrm>
          <a:prstGeom prst="rect">
            <a:avLst/>
          </a:prstGeom>
          <a:solidFill>
            <a:srgbClr val="0D1B2E"/>
          </a:solidFill>
          <a:ln cap="flat" cmpd="sng" w="952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4"/>
          <p:cNvSpPr/>
          <p:nvPr/>
        </p:nvSpPr>
        <p:spPr>
          <a:xfrm>
            <a:off x="3237905" y="3372743"/>
            <a:ext cx="157163" cy="157163"/>
          </a:xfrm>
          <a:prstGeom prst="ellipse">
            <a:avLst/>
          </a:pr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4"/>
          <p:cNvSpPr/>
          <p:nvPr/>
        </p:nvSpPr>
        <p:spPr>
          <a:xfrm>
            <a:off x="3237905" y="3372743"/>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4</a:t>
            </a:r>
            <a:endParaRPr b="0" i="0" sz="534" u="none" cap="none" strike="noStrike">
              <a:solidFill>
                <a:schemeClr val="dk1"/>
              </a:solidFill>
              <a:latin typeface="Calibri"/>
              <a:ea typeface="Calibri"/>
              <a:cs typeface="Calibri"/>
              <a:sym typeface="Calibri"/>
            </a:endParaRPr>
          </a:p>
        </p:txBody>
      </p:sp>
      <p:sp>
        <p:nvSpPr>
          <p:cNvPr id="544" name="Google Shape;544;p14"/>
          <p:cNvSpPr/>
          <p:nvPr/>
        </p:nvSpPr>
        <p:spPr>
          <a:xfrm>
            <a:off x="3480792" y="3327202"/>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TRD Review Gate</a:t>
            </a:r>
            <a:endParaRPr b="0" i="0" sz="634" u="none" cap="none" strike="noStrike">
              <a:solidFill>
                <a:schemeClr val="dk1"/>
              </a:solidFill>
              <a:latin typeface="Calibri"/>
              <a:ea typeface="Calibri"/>
              <a:cs typeface="Calibri"/>
              <a:sym typeface="Calibri"/>
            </a:endParaRPr>
          </a:p>
        </p:txBody>
      </p:sp>
      <p:sp>
        <p:nvSpPr>
          <p:cNvPr id="545" name="Google Shape;545;p14"/>
          <p:cNvSpPr/>
          <p:nvPr/>
        </p:nvSpPr>
        <p:spPr>
          <a:xfrm>
            <a:off x="3480792" y="3468291"/>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Core team validates technical feasibility.</a:t>
            </a:r>
            <a:endParaRPr b="0" i="0" sz="568" u="none" cap="none" strike="noStrike">
              <a:solidFill>
                <a:schemeClr val="dk1"/>
              </a:solidFill>
              <a:latin typeface="Calibri"/>
              <a:ea typeface="Calibri"/>
              <a:cs typeface="Calibri"/>
              <a:sym typeface="Calibri"/>
            </a:endParaRPr>
          </a:p>
        </p:txBody>
      </p:sp>
      <p:sp>
        <p:nvSpPr>
          <p:cNvPr id="546" name="Google Shape;546;p14"/>
          <p:cNvSpPr/>
          <p:nvPr/>
        </p:nvSpPr>
        <p:spPr>
          <a:xfrm>
            <a:off x="6170414" y="1503759"/>
            <a:ext cx="2366367"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Key Artifacts</a:t>
            </a:r>
            <a:endParaRPr b="0" i="0" sz="683" u="none" cap="none" strike="noStrike">
              <a:solidFill>
                <a:schemeClr val="dk1"/>
              </a:solidFill>
              <a:latin typeface="Calibri"/>
              <a:ea typeface="Calibri"/>
              <a:cs typeface="Calibri"/>
              <a:sym typeface="Calibri"/>
            </a:endParaRPr>
          </a:p>
        </p:txBody>
      </p:sp>
      <p:sp>
        <p:nvSpPr>
          <p:cNvPr id="547" name="Google Shape;547;p14"/>
          <p:cNvSpPr/>
          <p:nvPr/>
        </p:nvSpPr>
        <p:spPr>
          <a:xfrm>
            <a:off x="6170414" y="1810941"/>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48" name="Google Shape;548;p14"/>
          <p:cNvPicPr preferRelativeResize="0"/>
          <p:nvPr/>
        </p:nvPicPr>
        <p:blipFill rotWithShape="1">
          <a:blip r:embed="rId9">
            <a:alphaModFix/>
          </a:blip>
          <a:srcRect b="0" l="0" r="0" t="0"/>
          <a:stretch/>
        </p:blipFill>
        <p:spPr>
          <a:xfrm>
            <a:off x="6269534" y="1956495"/>
            <a:ext cx="144661" cy="128588"/>
          </a:xfrm>
          <a:prstGeom prst="rect">
            <a:avLst/>
          </a:prstGeom>
          <a:noFill/>
          <a:ln>
            <a:noFill/>
          </a:ln>
        </p:spPr>
      </p:pic>
      <p:sp>
        <p:nvSpPr>
          <p:cNvPr id="549" name="Google Shape;549;p14"/>
          <p:cNvSpPr/>
          <p:nvPr/>
        </p:nvSpPr>
        <p:spPr>
          <a:xfrm>
            <a:off x="6513314" y="1896666"/>
            <a:ext cx="1450935"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C4 Diagrams</a:t>
            </a:r>
            <a:endParaRPr b="0" i="0" sz="634" u="none" cap="none" strike="noStrike">
              <a:solidFill>
                <a:schemeClr val="dk1"/>
              </a:solidFill>
              <a:latin typeface="Calibri"/>
              <a:ea typeface="Calibri"/>
              <a:cs typeface="Calibri"/>
              <a:sym typeface="Calibri"/>
            </a:endParaRPr>
          </a:p>
        </p:txBody>
      </p:sp>
      <p:sp>
        <p:nvSpPr>
          <p:cNvPr id="550" name="Google Shape;550;p14"/>
          <p:cNvSpPr/>
          <p:nvPr/>
        </p:nvSpPr>
        <p:spPr>
          <a:xfrm>
            <a:off x="6513314" y="2037755"/>
            <a:ext cx="1450935"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System, Container &amp; Component views.</a:t>
            </a:r>
            <a:endParaRPr b="0" i="0" sz="568" u="none" cap="none" strike="noStrike">
              <a:solidFill>
                <a:schemeClr val="dk1"/>
              </a:solidFill>
              <a:latin typeface="Calibri"/>
              <a:ea typeface="Calibri"/>
              <a:cs typeface="Calibri"/>
              <a:sym typeface="Calibri"/>
            </a:endParaRPr>
          </a:p>
        </p:txBody>
      </p:sp>
      <p:sp>
        <p:nvSpPr>
          <p:cNvPr id="551" name="Google Shape;551;p14"/>
          <p:cNvSpPr/>
          <p:nvPr/>
        </p:nvSpPr>
        <p:spPr>
          <a:xfrm>
            <a:off x="6170414" y="2302073"/>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52" name="Google Shape;552;p14"/>
          <p:cNvPicPr preferRelativeResize="0"/>
          <p:nvPr/>
        </p:nvPicPr>
        <p:blipFill rotWithShape="1">
          <a:blip r:embed="rId10">
            <a:alphaModFix/>
          </a:blip>
          <a:srcRect b="0" l="0" r="0" t="0"/>
          <a:stretch/>
        </p:blipFill>
        <p:spPr>
          <a:xfrm>
            <a:off x="6277570" y="2447627"/>
            <a:ext cx="128588" cy="128588"/>
          </a:xfrm>
          <a:prstGeom prst="rect">
            <a:avLst/>
          </a:prstGeom>
          <a:noFill/>
          <a:ln>
            <a:noFill/>
          </a:ln>
        </p:spPr>
      </p:pic>
      <p:sp>
        <p:nvSpPr>
          <p:cNvPr id="553" name="Google Shape;553;p14"/>
          <p:cNvSpPr/>
          <p:nvPr/>
        </p:nvSpPr>
        <p:spPr>
          <a:xfrm>
            <a:off x="6513314" y="2387798"/>
            <a:ext cx="1290954"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ERD Schema</a:t>
            </a:r>
            <a:endParaRPr b="0" i="0" sz="634" u="none" cap="none" strike="noStrike">
              <a:solidFill>
                <a:schemeClr val="dk1"/>
              </a:solidFill>
              <a:latin typeface="Calibri"/>
              <a:ea typeface="Calibri"/>
              <a:cs typeface="Calibri"/>
              <a:sym typeface="Calibri"/>
            </a:endParaRPr>
          </a:p>
        </p:txBody>
      </p:sp>
      <p:sp>
        <p:nvSpPr>
          <p:cNvPr id="554" name="Google Shape;554;p14"/>
          <p:cNvSpPr/>
          <p:nvPr/>
        </p:nvSpPr>
        <p:spPr>
          <a:xfrm>
            <a:off x="6513314" y="2528888"/>
            <a:ext cx="1290954"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Entity Relationship Diagram &amp; SQL.</a:t>
            </a:r>
            <a:endParaRPr b="0" i="0" sz="568" u="none" cap="none" strike="noStrike">
              <a:solidFill>
                <a:schemeClr val="dk1"/>
              </a:solidFill>
              <a:latin typeface="Calibri"/>
              <a:ea typeface="Calibri"/>
              <a:cs typeface="Calibri"/>
              <a:sym typeface="Calibri"/>
            </a:endParaRPr>
          </a:p>
        </p:txBody>
      </p:sp>
      <p:sp>
        <p:nvSpPr>
          <p:cNvPr id="555" name="Google Shape;555;p14"/>
          <p:cNvSpPr/>
          <p:nvPr/>
        </p:nvSpPr>
        <p:spPr>
          <a:xfrm>
            <a:off x="6170414" y="2793206"/>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56" name="Google Shape;556;p14"/>
          <p:cNvPicPr preferRelativeResize="0"/>
          <p:nvPr/>
        </p:nvPicPr>
        <p:blipFill rotWithShape="1">
          <a:blip r:embed="rId11">
            <a:alphaModFix/>
          </a:blip>
          <a:srcRect b="0" l="0" r="0" t="0"/>
          <a:stretch/>
        </p:blipFill>
        <p:spPr>
          <a:xfrm>
            <a:off x="6293644" y="2938760"/>
            <a:ext cx="96441" cy="128588"/>
          </a:xfrm>
          <a:prstGeom prst="rect">
            <a:avLst/>
          </a:prstGeom>
          <a:noFill/>
          <a:ln>
            <a:noFill/>
          </a:ln>
        </p:spPr>
      </p:pic>
      <p:sp>
        <p:nvSpPr>
          <p:cNvPr id="557" name="Google Shape;557;p14"/>
          <p:cNvSpPr/>
          <p:nvPr/>
        </p:nvSpPr>
        <p:spPr>
          <a:xfrm>
            <a:off x="6513314" y="2878931"/>
            <a:ext cx="1191220"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OpenAPI Spec</a:t>
            </a:r>
            <a:endParaRPr b="0" i="0" sz="634" u="none" cap="none" strike="noStrike">
              <a:solidFill>
                <a:schemeClr val="dk1"/>
              </a:solidFill>
              <a:latin typeface="Calibri"/>
              <a:ea typeface="Calibri"/>
              <a:cs typeface="Calibri"/>
              <a:sym typeface="Calibri"/>
            </a:endParaRPr>
          </a:p>
        </p:txBody>
      </p:sp>
      <p:sp>
        <p:nvSpPr>
          <p:cNvPr id="558" name="Google Shape;558;p14"/>
          <p:cNvSpPr/>
          <p:nvPr/>
        </p:nvSpPr>
        <p:spPr>
          <a:xfrm>
            <a:off x="6513314" y="3020020"/>
            <a:ext cx="1191220"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Swagger YAML for all endpoints.</a:t>
            </a:r>
            <a:endParaRPr b="0" i="0" sz="568" u="none" cap="none" strike="noStrike">
              <a:solidFill>
                <a:schemeClr val="dk1"/>
              </a:solidFill>
              <a:latin typeface="Calibri"/>
              <a:ea typeface="Calibri"/>
              <a:cs typeface="Calibri"/>
              <a:sym typeface="Calibri"/>
            </a:endParaRPr>
          </a:p>
        </p:txBody>
      </p:sp>
      <p:sp>
        <p:nvSpPr>
          <p:cNvPr id="559" name="Google Shape;559;p14"/>
          <p:cNvSpPr/>
          <p:nvPr/>
        </p:nvSpPr>
        <p:spPr>
          <a:xfrm>
            <a:off x="6170414" y="3284339"/>
            <a:ext cx="2366367" cy="589359"/>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60" name="Google Shape;560;p14"/>
          <p:cNvPicPr preferRelativeResize="0"/>
          <p:nvPr/>
        </p:nvPicPr>
        <p:blipFill rotWithShape="1">
          <a:blip r:embed="rId12">
            <a:alphaModFix/>
          </a:blip>
          <a:srcRect b="0" l="0" r="0" t="0"/>
          <a:stretch/>
        </p:blipFill>
        <p:spPr>
          <a:xfrm>
            <a:off x="6293644" y="3514725"/>
            <a:ext cx="96441" cy="128588"/>
          </a:xfrm>
          <a:prstGeom prst="rect">
            <a:avLst/>
          </a:prstGeom>
          <a:noFill/>
          <a:ln>
            <a:noFill/>
          </a:ln>
        </p:spPr>
      </p:pic>
      <p:sp>
        <p:nvSpPr>
          <p:cNvPr id="561" name="Google Shape;561;p14"/>
          <p:cNvSpPr/>
          <p:nvPr/>
        </p:nvSpPr>
        <p:spPr>
          <a:xfrm>
            <a:off x="6513314" y="3370064"/>
            <a:ext cx="1087022"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Master TRD</a:t>
            </a:r>
            <a:endParaRPr b="0" i="0" sz="634" u="none" cap="none" strike="noStrike">
              <a:solidFill>
                <a:schemeClr val="dk1"/>
              </a:solidFill>
              <a:latin typeface="Calibri"/>
              <a:ea typeface="Calibri"/>
              <a:cs typeface="Calibri"/>
              <a:sym typeface="Calibri"/>
            </a:endParaRPr>
          </a:p>
        </p:txBody>
      </p:sp>
      <p:sp>
        <p:nvSpPr>
          <p:cNvPr id="562" name="Google Shape;562;p14"/>
          <p:cNvSpPr/>
          <p:nvPr/>
        </p:nvSpPr>
        <p:spPr>
          <a:xfrm>
            <a:off x="6513314" y="3511153"/>
            <a:ext cx="1087022"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Full technical spec document.</a:t>
            </a:r>
            <a:endParaRPr b="0" i="0" sz="568" u="none" cap="none" strike="noStrike">
              <a:solidFill>
                <a:schemeClr val="dk1"/>
              </a:solidFill>
              <a:latin typeface="Calibri"/>
              <a:ea typeface="Calibri"/>
              <a:cs typeface="Calibri"/>
              <a:sym typeface="Calibri"/>
            </a:endParaRPr>
          </a:p>
        </p:txBody>
      </p:sp>
      <p:sp>
        <p:nvSpPr>
          <p:cNvPr id="563" name="Google Shape;563;p14"/>
          <p:cNvSpPr/>
          <p:nvPr/>
        </p:nvSpPr>
        <p:spPr>
          <a:xfrm>
            <a:off x="6513314" y="3646884"/>
            <a:ext cx="740606" cy="141089"/>
          </a:xfrm>
          <a:prstGeom prst="rect">
            <a:avLst/>
          </a:prstGeom>
          <a:solidFill>
            <a:srgbClr val="FF5252">
              <a:alpha val="14901"/>
            </a:srgbClr>
          </a:solidFill>
          <a:ln cap="flat" cmpd="sng" w="952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64" name="Google Shape;564;p14"/>
          <p:cNvPicPr preferRelativeResize="0"/>
          <p:nvPr/>
        </p:nvPicPr>
        <p:blipFill rotWithShape="1">
          <a:blip r:embed="rId13">
            <a:alphaModFix/>
          </a:blip>
          <a:srcRect b="0" l="0" r="0" t="0"/>
          <a:stretch/>
        </p:blipFill>
        <p:spPr>
          <a:xfrm>
            <a:off x="6556177" y="3677245"/>
            <a:ext cx="89297" cy="71438"/>
          </a:xfrm>
          <a:prstGeom prst="rect">
            <a:avLst/>
          </a:prstGeom>
          <a:noFill/>
          <a:ln>
            <a:noFill/>
          </a:ln>
        </p:spPr>
      </p:pic>
      <p:sp>
        <p:nvSpPr>
          <p:cNvPr id="565" name="Google Shape;565;p14"/>
          <p:cNvSpPr/>
          <p:nvPr/>
        </p:nvSpPr>
        <p:spPr>
          <a:xfrm>
            <a:off x="6645473" y="3662958"/>
            <a:ext cx="551297" cy="98227"/>
          </a:xfrm>
          <a:prstGeom prst="rect">
            <a:avLst/>
          </a:prstGeom>
          <a:noFill/>
          <a:ln>
            <a:noFill/>
          </a:ln>
        </p:spPr>
        <p:txBody>
          <a:bodyPr anchorCtr="0" anchor="t" bIns="0" lIns="0" spcFirstLastPara="1" rIns="0" wrap="square" tIns="0">
            <a:noAutofit/>
          </a:bodyPr>
          <a:lstStyle/>
          <a:p>
            <a:pPr indent="0" lvl="0" marL="0" marR="0" rtl="0" algn="l">
              <a:lnSpc>
                <a:spcPct val="144329"/>
              </a:lnSpc>
              <a:spcBef>
                <a:spcPts val="0"/>
              </a:spcBef>
              <a:spcAft>
                <a:spcPts val="0"/>
              </a:spcAft>
              <a:buClr>
                <a:srgbClr val="FF5252"/>
              </a:buClr>
              <a:buSzPts val="485"/>
              <a:buFont typeface="Calibri"/>
              <a:buNone/>
            </a:pPr>
            <a:r>
              <a:rPr b="1" i="0" lang="en-US" sz="485" u="none" cap="none" strike="noStrike">
                <a:solidFill>
                  <a:srgbClr val="FF5252"/>
                </a:solidFill>
                <a:latin typeface="Calibri"/>
                <a:ea typeface="Calibri"/>
                <a:cs typeface="Calibri"/>
                <a:sym typeface="Calibri"/>
              </a:rPr>
              <a:t>Human Review</a:t>
            </a:r>
            <a:endParaRPr b="0" i="0" sz="485"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pic>
        <p:nvPicPr>
          <p:cNvPr descr="preencoded.png" id="571" name="Google Shape;571;p1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72" name="Google Shape;572;p15"/>
          <p:cNvSpPr/>
          <p:nvPr/>
        </p:nvSpPr>
        <p:spPr>
          <a:xfrm>
            <a:off x="428625" y="285750"/>
            <a:ext cx="8286750" cy="312539"/>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FFFFFF"/>
              </a:buClr>
              <a:buSzPts val="1602"/>
              <a:buFont typeface="Calibri"/>
              <a:buNone/>
            </a:pPr>
            <a:r>
              <a:rPr b="1" i="0" lang="en-US" sz="1602" u="none" cap="none" strike="noStrike">
                <a:solidFill>
                  <a:srgbClr val="FFFFFF"/>
                </a:solidFill>
                <a:latin typeface="Calibri"/>
                <a:ea typeface="Calibri"/>
                <a:cs typeface="Calibri"/>
                <a:sym typeface="Calibri"/>
              </a:rPr>
              <a:t>Step 4: Plan Phase (Strategy)</a:t>
            </a:r>
            <a:endParaRPr b="0" i="0" sz="1602" u="none" cap="none" strike="noStrike">
              <a:solidFill>
                <a:schemeClr val="dk1"/>
              </a:solidFill>
              <a:latin typeface="Calibri"/>
              <a:ea typeface="Calibri"/>
              <a:cs typeface="Calibri"/>
              <a:sym typeface="Calibri"/>
            </a:endParaRPr>
          </a:p>
        </p:txBody>
      </p:sp>
      <p:sp>
        <p:nvSpPr>
          <p:cNvPr id="573" name="Google Shape;573;p15"/>
          <p:cNvSpPr/>
          <p:nvPr/>
        </p:nvSpPr>
        <p:spPr>
          <a:xfrm>
            <a:off x="750094"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74" name="Google Shape;574;p15"/>
          <p:cNvPicPr preferRelativeResize="0"/>
          <p:nvPr/>
        </p:nvPicPr>
        <p:blipFill rotWithShape="1">
          <a:blip r:embed="rId4">
            <a:alphaModFix/>
          </a:blip>
          <a:srcRect b="0" l="0" r="0" t="0"/>
          <a:stretch/>
        </p:blipFill>
        <p:spPr>
          <a:xfrm>
            <a:off x="819745" y="805458"/>
            <a:ext cx="75009" cy="85725"/>
          </a:xfrm>
          <a:prstGeom prst="rect">
            <a:avLst/>
          </a:prstGeom>
          <a:noFill/>
          <a:ln>
            <a:noFill/>
          </a:ln>
        </p:spPr>
      </p:pic>
      <p:sp>
        <p:nvSpPr>
          <p:cNvPr id="575" name="Google Shape;575;p15"/>
          <p:cNvSpPr/>
          <p:nvPr/>
        </p:nvSpPr>
        <p:spPr>
          <a:xfrm>
            <a:off x="649746" y="1012627"/>
            <a:ext cx="415007"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BRD Create</a:t>
            </a:r>
            <a:endParaRPr b="0" i="0" sz="485" u="none" cap="none" strike="noStrike">
              <a:solidFill>
                <a:schemeClr val="dk1"/>
              </a:solidFill>
              <a:latin typeface="Calibri"/>
              <a:ea typeface="Calibri"/>
              <a:cs typeface="Calibri"/>
              <a:sym typeface="Calibri"/>
            </a:endParaRPr>
          </a:p>
        </p:txBody>
      </p:sp>
      <p:sp>
        <p:nvSpPr>
          <p:cNvPr id="576" name="Google Shape;576;p15"/>
          <p:cNvSpPr/>
          <p:nvPr/>
        </p:nvSpPr>
        <p:spPr>
          <a:xfrm>
            <a:off x="1811443"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77" name="Google Shape;577;p15"/>
          <p:cNvPicPr preferRelativeResize="0"/>
          <p:nvPr/>
        </p:nvPicPr>
        <p:blipFill rotWithShape="1">
          <a:blip r:embed="rId5">
            <a:alphaModFix/>
          </a:blip>
          <a:srcRect b="0" l="0" r="0" t="0"/>
          <a:stretch/>
        </p:blipFill>
        <p:spPr>
          <a:xfrm>
            <a:off x="1881094" y="805458"/>
            <a:ext cx="75009" cy="85725"/>
          </a:xfrm>
          <a:prstGeom prst="rect">
            <a:avLst/>
          </a:prstGeom>
          <a:noFill/>
          <a:ln>
            <a:noFill/>
          </a:ln>
        </p:spPr>
      </p:pic>
      <p:sp>
        <p:nvSpPr>
          <p:cNvPr id="578" name="Google Shape;578;p15"/>
          <p:cNvSpPr/>
          <p:nvPr/>
        </p:nvSpPr>
        <p:spPr>
          <a:xfrm>
            <a:off x="1706463" y="1012627"/>
            <a:ext cx="424272"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BRD Review</a:t>
            </a:r>
            <a:endParaRPr b="0" i="0" sz="485" u="none" cap="none" strike="noStrike">
              <a:solidFill>
                <a:schemeClr val="dk1"/>
              </a:solidFill>
              <a:latin typeface="Calibri"/>
              <a:ea typeface="Calibri"/>
              <a:cs typeface="Calibri"/>
              <a:sym typeface="Calibri"/>
            </a:endParaRPr>
          </a:p>
        </p:txBody>
      </p:sp>
      <p:sp>
        <p:nvSpPr>
          <p:cNvPr id="579" name="Google Shape;579;p15"/>
          <p:cNvSpPr/>
          <p:nvPr/>
        </p:nvSpPr>
        <p:spPr>
          <a:xfrm>
            <a:off x="2872792"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80" name="Google Shape;580;p15"/>
          <p:cNvPicPr preferRelativeResize="0"/>
          <p:nvPr/>
        </p:nvPicPr>
        <p:blipFill rotWithShape="1">
          <a:blip r:embed="rId6">
            <a:alphaModFix/>
          </a:blip>
          <a:srcRect b="0" l="0" r="0" t="0"/>
          <a:stretch/>
        </p:blipFill>
        <p:spPr>
          <a:xfrm>
            <a:off x="2942444" y="805458"/>
            <a:ext cx="75009" cy="85725"/>
          </a:xfrm>
          <a:prstGeom prst="rect">
            <a:avLst/>
          </a:prstGeom>
          <a:noFill/>
          <a:ln>
            <a:noFill/>
          </a:ln>
        </p:spPr>
      </p:pic>
      <p:sp>
        <p:nvSpPr>
          <p:cNvPr id="581" name="Google Shape;581;p15"/>
          <p:cNvSpPr/>
          <p:nvPr/>
        </p:nvSpPr>
        <p:spPr>
          <a:xfrm>
            <a:off x="2847873" y="1012627"/>
            <a:ext cx="264123"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Design</a:t>
            </a:r>
            <a:endParaRPr b="0" i="0" sz="485" u="none" cap="none" strike="noStrike">
              <a:solidFill>
                <a:schemeClr val="dk1"/>
              </a:solidFill>
              <a:latin typeface="Calibri"/>
              <a:ea typeface="Calibri"/>
              <a:cs typeface="Calibri"/>
              <a:sym typeface="Calibri"/>
            </a:endParaRPr>
          </a:p>
        </p:txBody>
      </p:sp>
      <p:sp>
        <p:nvSpPr>
          <p:cNvPr id="582" name="Google Shape;582;p15"/>
          <p:cNvSpPr/>
          <p:nvPr/>
        </p:nvSpPr>
        <p:spPr>
          <a:xfrm>
            <a:off x="3912710" y="719733"/>
            <a:ext cx="257175" cy="257175"/>
          </a:xfrm>
          <a:prstGeom prst="ellipse">
            <a:avLst/>
          </a:prstGeom>
          <a:solidFill>
            <a:srgbClr val="2979FF"/>
          </a:solidFill>
          <a:ln cap="flat" cmpd="sng" w="182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5"/>
          <p:cNvSpPr/>
          <p:nvPr/>
        </p:nvSpPr>
        <p:spPr>
          <a:xfrm>
            <a:off x="3912710" y="719733"/>
            <a:ext cx="257175" cy="257175"/>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FFFFFF"/>
              </a:buClr>
              <a:buSzPts val="584"/>
              <a:buFont typeface="Calibri"/>
              <a:buNone/>
            </a:pPr>
            <a:r>
              <a:rPr b="1" i="0" lang="en-US" sz="584" u="none" cap="none" strike="noStrike">
                <a:solidFill>
                  <a:srgbClr val="FFFFFF"/>
                </a:solidFill>
                <a:latin typeface="Calibri"/>
                <a:ea typeface="Calibri"/>
                <a:cs typeface="Calibri"/>
                <a:sym typeface="Calibri"/>
              </a:rPr>
              <a:t>4</a:t>
            </a:r>
            <a:endParaRPr b="0" i="0" sz="584" u="none" cap="none" strike="noStrike">
              <a:solidFill>
                <a:schemeClr val="dk1"/>
              </a:solidFill>
              <a:latin typeface="Calibri"/>
              <a:ea typeface="Calibri"/>
              <a:cs typeface="Calibri"/>
              <a:sym typeface="Calibri"/>
            </a:endParaRPr>
          </a:p>
        </p:txBody>
      </p:sp>
      <p:sp>
        <p:nvSpPr>
          <p:cNvPr id="584" name="Google Shape;584;p15"/>
          <p:cNvSpPr/>
          <p:nvPr/>
        </p:nvSpPr>
        <p:spPr>
          <a:xfrm>
            <a:off x="3944996" y="1012627"/>
            <a:ext cx="192602"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2979FF"/>
              </a:buClr>
              <a:buSzPts val="485"/>
              <a:buFont typeface="Calibri"/>
              <a:buNone/>
            </a:pPr>
            <a:r>
              <a:rPr b="1" i="0" lang="en-US" sz="485" u="none" cap="none" strike="noStrike">
                <a:solidFill>
                  <a:srgbClr val="2979FF"/>
                </a:solidFill>
                <a:latin typeface="Calibri"/>
                <a:ea typeface="Calibri"/>
                <a:cs typeface="Calibri"/>
                <a:sym typeface="Calibri"/>
              </a:rPr>
              <a:t>Plan</a:t>
            </a:r>
            <a:endParaRPr b="0" i="0" sz="485" u="none" cap="none" strike="noStrike">
              <a:solidFill>
                <a:schemeClr val="dk1"/>
              </a:solidFill>
              <a:latin typeface="Calibri"/>
              <a:ea typeface="Calibri"/>
              <a:cs typeface="Calibri"/>
              <a:sym typeface="Calibri"/>
            </a:endParaRPr>
          </a:p>
        </p:txBody>
      </p:sp>
      <p:sp>
        <p:nvSpPr>
          <p:cNvPr id="585" name="Google Shape;585;p15"/>
          <p:cNvSpPr/>
          <p:nvPr/>
        </p:nvSpPr>
        <p:spPr>
          <a:xfrm>
            <a:off x="4995490"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5"/>
          <p:cNvSpPr/>
          <p:nvPr/>
        </p:nvSpPr>
        <p:spPr>
          <a:xfrm>
            <a:off x="4995490"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5</a:t>
            </a:r>
            <a:endParaRPr b="0" i="0" sz="584" u="none" cap="none" strike="noStrike">
              <a:solidFill>
                <a:schemeClr val="dk1"/>
              </a:solidFill>
              <a:latin typeface="Calibri"/>
              <a:ea typeface="Calibri"/>
              <a:cs typeface="Calibri"/>
              <a:sym typeface="Calibri"/>
            </a:endParaRPr>
          </a:p>
        </p:txBody>
      </p:sp>
      <p:sp>
        <p:nvSpPr>
          <p:cNvPr id="587" name="Google Shape;587;p15"/>
          <p:cNvSpPr/>
          <p:nvPr/>
        </p:nvSpPr>
        <p:spPr>
          <a:xfrm>
            <a:off x="5034586" y="1012627"/>
            <a:ext cx="136094"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Dev</a:t>
            </a:r>
            <a:endParaRPr b="0" i="0" sz="485" u="none" cap="none" strike="noStrike">
              <a:solidFill>
                <a:schemeClr val="dk1"/>
              </a:solidFill>
              <a:latin typeface="Calibri"/>
              <a:ea typeface="Calibri"/>
              <a:cs typeface="Calibri"/>
              <a:sym typeface="Calibri"/>
            </a:endParaRPr>
          </a:p>
        </p:txBody>
      </p:sp>
      <p:sp>
        <p:nvSpPr>
          <p:cNvPr id="588" name="Google Shape;588;p15"/>
          <p:cNvSpPr/>
          <p:nvPr/>
        </p:nvSpPr>
        <p:spPr>
          <a:xfrm>
            <a:off x="6056840"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5"/>
          <p:cNvSpPr/>
          <p:nvPr/>
        </p:nvSpPr>
        <p:spPr>
          <a:xfrm>
            <a:off x="6056840"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6</a:t>
            </a:r>
            <a:endParaRPr b="0" i="0" sz="584" u="none" cap="none" strike="noStrike">
              <a:solidFill>
                <a:schemeClr val="dk1"/>
              </a:solidFill>
              <a:latin typeface="Calibri"/>
              <a:ea typeface="Calibri"/>
              <a:cs typeface="Calibri"/>
              <a:sym typeface="Calibri"/>
            </a:endParaRPr>
          </a:p>
        </p:txBody>
      </p:sp>
      <p:sp>
        <p:nvSpPr>
          <p:cNvPr id="590" name="Google Shape;590;p15"/>
          <p:cNvSpPr/>
          <p:nvPr/>
        </p:nvSpPr>
        <p:spPr>
          <a:xfrm>
            <a:off x="6084215" y="1012627"/>
            <a:ext cx="159534"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Test</a:t>
            </a:r>
            <a:endParaRPr b="0" i="0" sz="485" u="none" cap="none" strike="noStrike">
              <a:solidFill>
                <a:schemeClr val="dk1"/>
              </a:solidFill>
              <a:latin typeface="Calibri"/>
              <a:ea typeface="Calibri"/>
              <a:cs typeface="Calibri"/>
              <a:sym typeface="Calibri"/>
            </a:endParaRPr>
          </a:p>
        </p:txBody>
      </p:sp>
      <p:sp>
        <p:nvSpPr>
          <p:cNvPr id="591" name="Google Shape;591;p15"/>
          <p:cNvSpPr/>
          <p:nvPr/>
        </p:nvSpPr>
        <p:spPr>
          <a:xfrm>
            <a:off x="7118189"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5"/>
          <p:cNvSpPr/>
          <p:nvPr/>
        </p:nvSpPr>
        <p:spPr>
          <a:xfrm>
            <a:off x="7118189"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7</a:t>
            </a:r>
            <a:endParaRPr b="0" i="0" sz="584" u="none" cap="none" strike="noStrike">
              <a:solidFill>
                <a:schemeClr val="dk1"/>
              </a:solidFill>
              <a:latin typeface="Calibri"/>
              <a:ea typeface="Calibri"/>
              <a:cs typeface="Calibri"/>
              <a:sym typeface="Calibri"/>
            </a:endParaRPr>
          </a:p>
        </p:txBody>
      </p:sp>
      <p:sp>
        <p:nvSpPr>
          <p:cNvPr id="593" name="Google Shape;593;p15"/>
          <p:cNvSpPr/>
          <p:nvPr/>
        </p:nvSpPr>
        <p:spPr>
          <a:xfrm>
            <a:off x="7094720" y="1012627"/>
            <a:ext cx="261249"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Review</a:t>
            </a:r>
            <a:endParaRPr b="0" i="0" sz="485" u="none" cap="none" strike="noStrike">
              <a:solidFill>
                <a:schemeClr val="dk1"/>
              </a:solidFill>
              <a:latin typeface="Calibri"/>
              <a:ea typeface="Calibri"/>
              <a:cs typeface="Calibri"/>
              <a:sym typeface="Calibri"/>
            </a:endParaRPr>
          </a:p>
        </p:txBody>
      </p:sp>
      <p:sp>
        <p:nvSpPr>
          <p:cNvPr id="594" name="Google Shape;594;p15"/>
          <p:cNvSpPr/>
          <p:nvPr/>
        </p:nvSpPr>
        <p:spPr>
          <a:xfrm>
            <a:off x="8179538"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5"/>
          <p:cNvSpPr/>
          <p:nvPr/>
        </p:nvSpPr>
        <p:spPr>
          <a:xfrm>
            <a:off x="8179538"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8</a:t>
            </a:r>
            <a:endParaRPr b="0" i="0" sz="584" u="none" cap="none" strike="noStrike">
              <a:solidFill>
                <a:schemeClr val="dk1"/>
              </a:solidFill>
              <a:latin typeface="Calibri"/>
              <a:ea typeface="Calibri"/>
              <a:cs typeface="Calibri"/>
              <a:sym typeface="Calibri"/>
            </a:endParaRPr>
          </a:p>
        </p:txBody>
      </p:sp>
      <p:sp>
        <p:nvSpPr>
          <p:cNvPr id="596" name="Google Shape;596;p15"/>
          <p:cNvSpPr/>
          <p:nvPr/>
        </p:nvSpPr>
        <p:spPr>
          <a:xfrm>
            <a:off x="8151800" y="1012627"/>
            <a:ext cx="269760"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Deploy</a:t>
            </a:r>
            <a:endParaRPr b="0" i="0" sz="485" u="none" cap="none" strike="noStrike">
              <a:solidFill>
                <a:schemeClr val="dk1"/>
              </a:solidFill>
              <a:latin typeface="Calibri"/>
              <a:ea typeface="Calibri"/>
              <a:cs typeface="Calibri"/>
              <a:sym typeface="Calibri"/>
            </a:endParaRPr>
          </a:p>
        </p:txBody>
      </p:sp>
      <p:sp>
        <p:nvSpPr>
          <p:cNvPr id="597" name="Google Shape;597;p15"/>
          <p:cNvSpPr/>
          <p:nvPr/>
        </p:nvSpPr>
        <p:spPr>
          <a:xfrm>
            <a:off x="428625" y="1325166"/>
            <a:ext cx="8286750" cy="3532584"/>
          </a:xfrm>
          <a:prstGeom prst="rect">
            <a:avLst/>
          </a:prstGeom>
          <a:solidFill>
            <a:srgbClr val="1A2A3A"/>
          </a:solidFill>
          <a:ln cap="flat" cmpd="sng" w="9525">
            <a:solidFill>
              <a:srgbClr val="FFFFFF">
                <a:alpha val="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5"/>
          <p:cNvSpPr/>
          <p:nvPr/>
        </p:nvSpPr>
        <p:spPr>
          <a:xfrm>
            <a:off x="607219" y="1503759"/>
            <a:ext cx="2366367"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The Squad</a:t>
            </a:r>
            <a:endParaRPr b="0" i="0" sz="683" u="none" cap="none" strike="noStrike">
              <a:solidFill>
                <a:schemeClr val="dk1"/>
              </a:solidFill>
              <a:latin typeface="Calibri"/>
              <a:ea typeface="Calibri"/>
              <a:cs typeface="Calibri"/>
              <a:sym typeface="Calibri"/>
            </a:endParaRPr>
          </a:p>
        </p:txBody>
      </p:sp>
      <p:sp>
        <p:nvSpPr>
          <p:cNvPr id="599" name="Google Shape;599;p15"/>
          <p:cNvSpPr/>
          <p:nvPr/>
        </p:nvSpPr>
        <p:spPr>
          <a:xfrm>
            <a:off x="607219" y="1810941"/>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5"/>
          <p:cNvSpPr/>
          <p:nvPr/>
        </p:nvSpPr>
        <p:spPr>
          <a:xfrm>
            <a:off x="607219" y="1810941"/>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01" name="Google Shape;601;p15"/>
          <p:cNvPicPr preferRelativeResize="0"/>
          <p:nvPr/>
        </p:nvPicPr>
        <p:blipFill rotWithShape="1">
          <a:blip r:embed="rId7">
            <a:alphaModFix/>
          </a:blip>
          <a:srcRect b="0" l="0" r="0" t="0"/>
          <a:stretch/>
        </p:blipFill>
        <p:spPr>
          <a:xfrm>
            <a:off x="714375" y="1956495"/>
            <a:ext cx="128588" cy="128588"/>
          </a:xfrm>
          <a:prstGeom prst="rect">
            <a:avLst/>
          </a:prstGeom>
          <a:noFill/>
          <a:ln>
            <a:noFill/>
          </a:ln>
        </p:spPr>
      </p:pic>
      <p:sp>
        <p:nvSpPr>
          <p:cNvPr id="602" name="Google Shape;602;p15"/>
          <p:cNvSpPr/>
          <p:nvPr/>
        </p:nvSpPr>
        <p:spPr>
          <a:xfrm>
            <a:off x="950119" y="1896666"/>
            <a:ext cx="665038"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Planner Agent</a:t>
            </a:r>
            <a:endParaRPr b="0" i="0" sz="634" u="none" cap="none" strike="noStrike">
              <a:solidFill>
                <a:schemeClr val="dk1"/>
              </a:solidFill>
              <a:latin typeface="Calibri"/>
              <a:ea typeface="Calibri"/>
              <a:cs typeface="Calibri"/>
              <a:sym typeface="Calibri"/>
            </a:endParaRPr>
          </a:p>
        </p:txBody>
      </p:sp>
      <p:sp>
        <p:nvSpPr>
          <p:cNvPr id="603" name="Google Shape;603;p15"/>
          <p:cNvSpPr/>
          <p:nvPr/>
        </p:nvSpPr>
        <p:spPr>
          <a:xfrm>
            <a:off x="950119" y="2037755"/>
            <a:ext cx="665038"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Task Breakdown</a:t>
            </a:r>
            <a:endParaRPr b="0" i="0" sz="568" u="none" cap="none" strike="noStrike">
              <a:solidFill>
                <a:schemeClr val="dk1"/>
              </a:solidFill>
              <a:latin typeface="Calibri"/>
              <a:ea typeface="Calibri"/>
              <a:cs typeface="Calibri"/>
              <a:sym typeface="Calibri"/>
            </a:endParaRPr>
          </a:p>
        </p:txBody>
      </p:sp>
      <p:sp>
        <p:nvSpPr>
          <p:cNvPr id="604" name="Google Shape;604;p15"/>
          <p:cNvSpPr/>
          <p:nvPr/>
        </p:nvSpPr>
        <p:spPr>
          <a:xfrm>
            <a:off x="607219" y="2302073"/>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5"/>
          <p:cNvSpPr/>
          <p:nvPr/>
        </p:nvSpPr>
        <p:spPr>
          <a:xfrm>
            <a:off x="607219" y="2302073"/>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06" name="Google Shape;606;p15"/>
          <p:cNvPicPr preferRelativeResize="0"/>
          <p:nvPr/>
        </p:nvPicPr>
        <p:blipFill rotWithShape="1">
          <a:blip r:embed="rId8">
            <a:alphaModFix/>
          </a:blip>
          <a:srcRect b="0" l="0" r="0" t="0"/>
          <a:stretch/>
        </p:blipFill>
        <p:spPr>
          <a:xfrm>
            <a:off x="698302" y="2447627"/>
            <a:ext cx="160734" cy="128588"/>
          </a:xfrm>
          <a:prstGeom prst="rect">
            <a:avLst/>
          </a:prstGeom>
          <a:noFill/>
          <a:ln>
            <a:noFill/>
          </a:ln>
        </p:spPr>
      </p:pic>
      <p:sp>
        <p:nvSpPr>
          <p:cNvPr id="607" name="Google Shape;607;p15"/>
          <p:cNvSpPr/>
          <p:nvPr/>
        </p:nvSpPr>
        <p:spPr>
          <a:xfrm>
            <a:off x="950119" y="2387798"/>
            <a:ext cx="928046"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Tech Lead</a:t>
            </a:r>
            <a:endParaRPr b="0" i="0" sz="634" u="none" cap="none" strike="noStrike">
              <a:solidFill>
                <a:schemeClr val="dk1"/>
              </a:solidFill>
              <a:latin typeface="Calibri"/>
              <a:ea typeface="Calibri"/>
              <a:cs typeface="Calibri"/>
              <a:sym typeface="Calibri"/>
            </a:endParaRPr>
          </a:p>
        </p:txBody>
      </p:sp>
      <p:sp>
        <p:nvSpPr>
          <p:cNvPr id="608" name="Google Shape;608;p15"/>
          <p:cNvSpPr/>
          <p:nvPr/>
        </p:nvSpPr>
        <p:spPr>
          <a:xfrm>
            <a:off x="950119" y="2528888"/>
            <a:ext cx="928046"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Estimation &amp; Assignment</a:t>
            </a:r>
            <a:endParaRPr b="0" i="0" sz="568" u="none" cap="none" strike="noStrike">
              <a:solidFill>
                <a:schemeClr val="dk1"/>
              </a:solidFill>
              <a:latin typeface="Calibri"/>
              <a:ea typeface="Calibri"/>
              <a:cs typeface="Calibri"/>
              <a:sym typeface="Calibri"/>
            </a:endParaRPr>
          </a:p>
        </p:txBody>
      </p:sp>
      <p:sp>
        <p:nvSpPr>
          <p:cNvPr id="609" name="Google Shape;609;p15"/>
          <p:cNvSpPr/>
          <p:nvPr/>
        </p:nvSpPr>
        <p:spPr>
          <a:xfrm>
            <a:off x="3152180" y="1503759"/>
            <a:ext cx="2839641"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Orchestration Flow</a:t>
            </a:r>
            <a:endParaRPr b="0" i="0" sz="683" u="none" cap="none" strike="noStrike">
              <a:solidFill>
                <a:schemeClr val="dk1"/>
              </a:solidFill>
              <a:latin typeface="Calibri"/>
              <a:ea typeface="Calibri"/>
              <a:cs typeface="Calibri"/>
              <a:sym typeface="Calibri"/>
            </a:endParaRPr>
          </a:p>
        </p:txBody>
      </p:sp>
      <p:sp>
        <p:nvSpPr>
          <p:cNvPr id="610" name="Google Shape;610;p15"/>
          <p:cNvSpPr/>
          <p:nvPr/>
        </p:nvSpPr>
        <p:spPr>
          <a:xfrm>
            <a:off x="3152180" y="1810941"/>
            <a:ext cx="2839641"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5"/>
          <p:cNvSpPr/>
          <p:nvPr/>
        </p:nvSpPr>
        <p:spPr>
          <a:xfrm>
            <a:off x="3237905" y="1942207"/>
            <a:ext cx="157163" cy="157163"/>
          </a:xfrm>
          <a:prstGeom prst="ellipse">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5"/>
          <p:cNvSpPr/>
          <p:nvPr/>
        </p:nvSpPr>
        <p:spPr>
          <a:xfrm>
            <a:off x="3237905" y="1942207"/>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1</a:t>
            </a:r>
            <a:endParaRPr b="0" i="0" sz="534" u="none" cap="none" strike="noStrike">
              <a:solidFill>
                <a:schemeClr val="dk1"/>
              </a:solidFill>
              <a:latin typeface="Calibri"/>
              <a:ea typeface="Calibri"/>
              <a:cs typeface="Calibri"/>
              <a:sym typeface="Calibri"/>
            </a:endParaRPr>
          </a:p>
        </p:txBody>
      </p:sp>
      <p:sp>
        <p:nvSpPr>
          <p:cNvPr id="613" name="Google Shape;613;p15"/>
          <p:cNvSpPr/>
          <p:nvPr/>
        </p:nvSpPr>
        <p:spPr>
          <a:xfrm>
            <a:off x="3480792" y="1896666"/>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Decomposition</a:t>
            </a:r>
            <a:endParaRPr b="0" i="0" sz="634" u="none" cap="none" strike="noStrike">
              <a:solidFill>
                <a:schemeClr val="dk1"/>
              </a:solidFill>
              <a:latin typeface="Calibri"/>
              <a:ea typeface="Calibri"/>
              <a:cs typeface="Calibri"/>
              <a:sym typeface="Calibri"/>
            </a:endParaRPr>
          </a:p>
        </p:txBody>
      </p:sp>
      <p:sp>
        <p:nvSpPr>
          <p:cNvPr id="614" name="Google Shape;614;p15"/>
          <p:cNvSpPr/>
          <p:nvPr/>
        </p:nvSpPr>
        <p:spPr>
          <a:xfrm>
            <a:off x="3480792" y="2037755"/>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Planner breaks TRD into atomic tasks (Task.md).</a:t>
            </a:r>
            <a:endParaRPr b="0" i="0" sz="568" u="none" cap="none" strike="noStrike">
              <a:solidFill>
                <a:schemeClr val="dk1"/>
              </a:solidFill>
              <a:latin typeface="Calibri"/>
              <a:ea typeface="Calibri"/>
              <a:cs typeface="Calibri"/>
              <a:sym typeface="Calibri"/>
            </a:endParaRPr>
          </a:p>
        </p:txBody>
      </p:sp>
      <p:sp>
        <p:nvSpPr>
          <p:cNvPr id="615" name="Google Shape;615;p15"/>
          <p:cNvSpPr/>
          <p:nvPr/>
        </p:nvSpPr>
        <p:spPr>
          <a:xfrm>
            <a:off x="3152180" y="2287786"/>
            <a:ext cx="2839641"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5"/>
          <p:cNvSpPr/>
          <p:nvPr/>
        </p:nvSpPr>
        <p:spPr>
          <a:xfrm>
            <a:off x="3237905" y="2419052"/>
            <a:ext cx="157163" cy="157163"/>
          </a:xfrm>
          <a:prstGeom prst="ellipse">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5"/>
          <p:cNvSpPr/>
          <p:nvPr/>
        </p:nvSpPr>
        <p:spPr>
          <a:xfrm>
            <a:off x="3237905" y="2419052"/>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2</a:t>
            </a:r>
            <a:endParaRPr b="0" i="0" sz="534" u="none" cap="none" strike="noStrike">
              <a:solidFill>
                <a:schemeClr val="dk1"/>
              </a:solidFill>
              <a:latin typeface="Calibri"/>
              <a:ea typeface="Calibri"/>
              <a:cs typeface="Calibri"/>
              <a:sym typeface="Calibri"/>
            </a:endParaRPr>
          </a:p>
        </p:txBody>
      </p:sp>
      <p:sp>
        <p:nvSpPr>
          <p:cNvPr id="618" name="Google Shape;618;p15"/>
          <p:cNvSpPr/>
          <p:nvPr/>
        </p:nvSpPr>
        <p:spPr>
          <a:xfrm>
            <a:off x="3480792" y="2373511"/>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Dependency Mapping</a:t>
            </a:r>
            <a:endParaRPr b="0" i="0" sz="634" u="none" cap="none" strike="noStrike">
              <a:solidFill>
                <a:schemeClr val="dk1"/>
              </a:solidFill>
              <a:latin typeface="Calibri"/>
              <a:ea typeface="Calibri"/>
              <a:cs typeface="Calibri"/>
              <a:sym typeface="Calibri"/>
            </a:endParaRPr>
          </a:p>
        </p:txBody>
      </p:sp>
      <p:sp>
        <p:nvSpPr>
          <p:cNvPr id="619" name="Google Shape;619;p15"/>
          <p:cNvSpPr/>
          <p:nvPr/>
        </p:nvSpPr>
        <p:spPr>
          <a:xfrm>
            <a:off x="3480792" y="2514600"/>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Identify blockers (e.g., API must exist before UI).</a:t>
            </a:r>
            <a:endParaRPr b="0" i="0" sz="568" u="none" cap="none" strike="noStrike">
              <a:solidFill>
                <a:schemeClr val="dk1"/>
              </a:solidFill>
              <a:latin typeface="Calibri"/>
              <a:ea typeface="Calibri"/>
              <a:cs typeface="Calibri"/>
              <a:sym typeface="Calibri"/>
            </a:endParaRPr>
          </a:p>
        </p:txBody>
      </p:sp>
      <p:sp>
        <p:nvSpPr>
          <p:cNvPr id="620" name="Google Shape;620;p15"/>
          <p:cNvSpPr/>
          <p:nvPr/>
        </p:nvSpPr>
        <p:spPr>
          <a:xfrm>
            <a:off x="3152180" y="2764631"/>
            <a:ext cx="2839641"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5"/>
          <p:cNvSpPr/>
          <p:nvPr/>
        </p:nvSpPr>
        <p:spPr>
          <a:xfrm>
            <a:off x="3237905" y="2895898"/>
            <a:ext cx="157163" cy="157163"/>
          </a:xfrm>
          <a:prstGeom prst="ellipse">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5"/>
          <p:cNvSpPr/>
          <p:nvPr/>
        </p:nvSpPr>
        <p:spPr>
          <a:xfrm>
            <a:off x="3237905" y="2895898"/>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3</a:t>
            </a:r>
            <a:endParaRPr b="0" i="0" sz="534" u="none" cap="none" strike="noStrike">
              <a:solidFill>
                <a:schemeClr val="dk1"/>
              </a:solidFill>
              <a:latin typeface="Calibri"/>
              <a:ea typeface="Calibri"/>
              <a:cs typeface="Calibri"/>
              <a:sym typeface="Calibri"/>
            </a:endParaRPr>
          </a:p>
        </p:txBody>
      </p:sp>
      <p:sp>
        <p:nvSpPr>
          <p:cNvPr id="623" name="Google Shape;623;p15"/>
          <p:cNvSpPr/>
          <p:nvPr/>
        </p:nvSpPr>
        <p:spPr>
          <a:xfrm>
            <a:off x="3480792" y="2850356"/>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Sprint Allocation</a:t>
            </a:r>
            <a:endParaRPr b="0" i="0" sz="634" u="none" cap="none" strike="noStrike">
              <a:solidFill>
                <a:schemeClr val="dk1"/>
              </a:solidFill>
              <a:latin typeface="Calibri"/>
              <a:ea typeface="Calibri"/>
              <a:cs typeface="Calibri"/>
              <a:sym typeface="Calibri"/>
            </a:endParaRPr>
          </a:p>
        </p:txBody>
      </p:sp>
      <p:sp>
        <p:nvSpPr>
          <p:cNvPr id="624" name="Google Shape;624;p15"/>
          <p:cNvSpPr/>
          <p:nvPr/>
        </p:nvSpPr>
        <p:spPr>
          <a:xfrm>
            <a:off x="3480792" y="2991445"/>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Assign tasks to Backend/Frontend agents.</a:t>
            </a:r>
            <a:endParaRPr b="0" i="0" sz="568" u="none" cap="none" strike="noStrike">
              <a:solidFill>
                <a:schemeClr val="dk1"/>
              </a:solidFill>
              <a:latin typeface="Calibri"/>
              <a:ea typeface="Calibri"/>
              <a:cs typeface="Calibri"/>
              <a:sym typeface="Calibri"/>
            </a:endParaRPr>
          </a:p>
        </p:txBody>
      </p:sp>
      <p:sp>
        <p:nvSpPr>
          <p:cNvPr id="625" name="Google Shape;625;p15"/>
          <p:cNvSpPr/>
          <p:nvPr/>
        </p:nvSpPr>
        <p:spPr>
          <a:xfrm>
            <a:off x="6170414" y="1503759"/>
            <a:ext cx="2366367"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Key Artifacts</a:t>
            </a:r>
            <a:endParaRPr b="0" i="0" sz="683" u="none" cap="none" strike="noStrike">
              <a:solidFill>
                <a:schemeClr val="dk1"/>
              </a:solidFill>
              <a:latin typeface="Calibri"/>
              <a:ea typeface="Calibri"/>
              <a:cs typeface="Calibri"/>
              <a:sym typeface="Calibri"/>
            </a:endParaRPr>
          </a:p>
        </p:txBody>
      </p:sp>
      <p:sp>
        <p:nvSpPr>
          <p:cNvPr id="626" name="Google Shape;626;p15"/>
          <p:cNvSpPr/>
          <p:nvPr/>
        </p:nvSpPr>
        <p:spPr>
          <a:xfrm>
            <a:off x="6170414" y="1810941"/>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27" name="Google Shape;627;p15"/>
          <p:cNvPicPr preferRelativeResize="0"/>
          <p:nvPr/>
        </p:nvPicPr>
        <p:blipFill rotWithShape="1">
          <a:blip r:embed="rId9">
            <a:alphaModFix/>
          </a:blip>
          <a:srcRect b="0" l="0" r="0" t="0"/>
          <a:stretch/>
        </p:blipFill>
        <p:spPr>
          <a:xfrm>
            <a:off x="6277570" y="1956495"/>
            <a:ext cx="128588" cy="128588"/>
          </a:xfrm>
          <a:prstGeom prst="rect">
            <a:avLst/>
          </a:prstGeom>
          <a:noFill/>
          <a:ln>
            <a:noFill/>
          </a:ln>
        </p:spPr>
      </p:pic>
      <p:sp>
        <p:nvSpPr>
          <p:cNvPr id="628" name="Google Shape;628;p15"/>
          <p:cNvSpPr/>
          <p:nvPr/>
        </p:nvSpPr>
        <p:spPr>
          <a:xfrm>
            <a:off x="6513314" y="1896666"/>
            <a:ext cx="1120732"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Task.md</a:t>
            </a:r>
            <a:endParaRPr b="0" i="0" sz="634" u="none" cap="none" strike="noStrike">
              <a:solidFill>
                <a:schemeClr val="dk1"/>
              </a:solidFill>
              <a:latin typeface="Calibri"/>
              <a:ea typeface="Calibri"/>
              <a:cs typeface="Calibri"/>
              <a:sym typeface="Calibri"/>
            </a:endParaRPr>
          </a:p>
        </p:txBody>
      </p:sp>
      <p:sp>
        <p:nvSpPr>
          <p:cNvPr id="629" name="Google Shape;629;p15"/>
          <p:cNvSpPr/>
          <p:nvPr/>
        </p:nvSpPr>
        <p:spPr>
          <a:xfrm>
            <a:off x="6513314" y="2037755"/>
            <a:ext cx="1120732"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Detailed implementation plan.</a:t>
            </a:r>
            <a:endParaRPr b="0" i="0" sz="568" u="none" cap="none" strike="noStrike">
              <a:solidFill>
                <a:schemeClr val="dk1"/>
              </a:solidFill>
              <a:latin typeface="Calibri"/>
              <a:ea typeface="Calibri"/>
              <a:cs typeface="Calibri"/>
              <a:sym typeface="Calibri"/>
            </a:endParaRPr>
          </a:p>
        </p:txBody>
      </p:sp>
      <p:sp>
        <p:nvSpPr>
          <p:cNvPr id="630" name="Google Shape;630;p15"/>
          <p:cNvSpPr/>
          <p:nvPr/>
        </p:nvSpPr>
        <p:spPr>
          <a:xfrm>
            <a:off x="6170414" y="2302073"/>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31" name="Google Shape;631;p15"/>
          <p:cNvPicPr preferRelativeResize="0"/>
          <p:nvPr/>
        </p:nvPicPr>
        <p:blipFill rotWithShape="1">
          <a:blip r:embed="rId10">
            <a:alphaModFix/>
          </a:blip>
          <a:srcRect b="0" l="0" r="0" t="0"/>
          <a:stretch/>
        </p:blipFill>
        <p:spPr>
          <a:xfrm>
            <a:off x="6269534" y="2447627"/>
            <a:ext cx="144661" cy="128588"/>
          </a:xfrm>
          <a:prstGeom prst="rect">
            <a:avLst/>
          </a:prstGeom>
          <a:noFill/>
          <a:ln>
            <a:noFill/>
          </a:ln>
        </p:spPr>
      </p:pic>
      <p:sp>
        <p:nvSpPr>
          <p:cNvPr id="632" name="Google Shape;632;p15"/>
          <p:cNvSpPr/>
          <p:nvPr/>
        </p:nvSpPr>
        <p:spPr>
          <a:xfrm>
            <a:off x="6513314" y="2387798"/>
            <a:ext cx="801160"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Jira Tickets</a:t>
            </a:r>
            <a:endParaRPr b="0" i="0" sz="634" u="none" cap="none" strike="noStrike">
              <a:solidFill>
                <a:schemeClr val="dk1"/>
              </a:solidFill>
              <a:latin typeface="Calibri"/>
              <a:ea typeface="Calibri"/>
              <a:cs typeface="Calibri"/>
              <a:sym typeface="Calibri"/>
            </a:endParaRPr>
          </a:p>
        </p:txBody>
      </p:sp>
      <p:sp>
        <p:nvSpPr>
          <p:cNvPr id="633" name="Google Shape;633;p15"/>
          <p:cNvSpPr/>
          <p:nvPr/>
        </p:nvSpPr>
        <p:spPr>
          <a:xfrm>
            <a:off x="6513314" y="2528888"/>
            <a:ext cx="801160"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Trackable work items.</a:t>
            </a:r>
            <a:endParaRPr b="0" i="0" sz="568" u="none" cap="none" strike="noStrike">
              <a:solidFill>
                <a:schemeClr val="dk1"/>
              </a:solidFill>
              <a:latin typeface="Calibri"/>
              <a:ea typeface="Calibri"/>
              <a:cs typeface="Calibri"/>
              <a:sym typeface="Calibri"/>
            </a:endParaRPr>
          </a:p>
        </p:txBody>
      </p:sp>
      <p:sp>
        <p:nvSpPr>
          <p:cNvPr id="634" name="Google Shape;634;p15"/>
          <p:cNvSpPr/>
          <p:nvPr/>
        </p:nvSpPr>
        <p:spPr>
          <a:xfrm>
            <a:off x="6170414" y="2793206"/>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35" name="Google Shape;635;p15"/>
          <p:cNvPicPr preferRelativeResize="0"/>
          <p:nvPr/>
        </p:nvPicPr>
        <p:blipFill rotWithShape="1">
          <a:blip r:embed="rId11">
            <a:alphaModFix/>
          </a:blip>
          <a:srcRect b="0" l="0" r="0" t="0"/>
          <a:stretch/>
        </p:blipFill>
        <p:spPr>
          <a:xfrm>
            <a:off x="6285607" y="2938760"/>
            <a:ext cx="112514" cy="128588"/>
          </a:xfrm>
          <a:prstGeom prst="rect">
            <a:avLst/>
          </a:prstGeom>
          <a:noFill/>
          <a:ln>
            <a:noFill/>
          </a:ln>
        </p:spPr>
      </p:pic>
      <p:sp>
        <p:nvSpPr>
          <p:cNvPr id="636" name="Google Shape;636;p15"/>
          <p:cNvSpPr/>
          <p:nvPr/>
        </p:nvSpPr>
        <p:spPr>
          <a:xfrm>
            <a:off x="6513314" y="2878931"/>
            <a:ext cx="1032802"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Sprint Backlog</a:t>
            </a:r>
            <a:endParaRPr b="0" i="0" sz="634" u="none" cap="none" strike="noStrike">
              <a:solidFill>
                <a:schemeClr val="dk1"/>
              </a:solidFill>
              <a:latin typeface="Calibri"/>
              <a:ea typeface="Calibri"/>
              <a:cs typeface="Calibri"/>
              <a:sym typeface="Calibri"/>
            </a:endParaRPr>
          </a:p>
        </p:txBody>
      </p:sp>
      <p:sp>
        <p:nvSpPr>
          <p:cNvPr id="637" name="Google Shape;637;p15"/>
          <p:cNvSpPr/>
          <p:nvPr/>
        </p:nvSpPr>
        <p:spPr>
          <a:xfrm>
            <a:off x="6513314" y="3020020"/>
            <a:ext cx="1032802"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Prioritized list for execution.</a:t>
            </a:r>
            <a:endParaRPr b="0" i="0" sz="568"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pic>
        <p:nvPicPr>
          <p:cNvPr descr="preencoded.png" id="643" name="Google Shape;643;p1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44" name="Google Shape;644;p16"/>
          <p:cNvSpPr/>
          <p:nvPr/>
        </p:nvSpPr>
        <p:spPr>
          <a:xfrm>
            <a:off x="428625" y="285750"/>
            <a:ext cx="8286750" cy="312539"/>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FFFFFF"/>
              </a:buClr>
              <a:buSzPts val="1602"/>
              <a:buFont typeface="Calibri"/>
              <a:buNone/>
            </a:pPr>
            <a:r>
              <a:rPr b="1" i="0" lang="en-US" sz="1602" u="none" cap="none" strike="noStrike">
                <a:solidFill>
                  <a:srgbClr val="FFFFFF"/>
                </a:solidFill>
                <a:latin typeface="Calibri"/>
                <a:ea typeface="Calibri"/>
                <a:cs typeface="Calibri"/>
                <a:sym typeface="Calibri"/>
              </a:rPr>
              <a:t>Step 5: Development (Implementation)</a:t>
            </a:r>
            <a:endParaRPr b="0" i="0" sz="1602" u="none" cap="none" strike="noStrike">
              <a:solidFill>
                <a:schemeClr val="dk1"/>
              </a:solidFill>
              <a:latin typeface="Calibri"/>
              <a:ea typeface="Calibri"/>
              <a:cs typeface="Calibri"/>
              <a:sym typeface="Calibri"/>
            </a:endParaRPr>
          </a:p>
        </p:txBody>
      </p:sp>
      <p:sp>
        <p:nvSpPr>
          <p:cNvPr id="645" name="Google Shape;645;p16"/>
          <p:cNvSpPr/>
          <p:nvPr/>
        </p:nvSpPr>
        <p:spPr>
          <a:xfrm>
            <a:off x="750094"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46" name="Google Shape;646;p16"/>
          <p:cNvPicPr preferRelativeResize="0"/>
          <p:nvPr/>
        </p:nvPicPr>
        <p:blipFill rotWithShape="1">
          <a:blip r:embed="rId4">
            <a:alphaModFix/>
          </a:blip>
          <a:srcRect b="0" l="0" r="0" t="0"/>
          <a:stretch/>
        </p:blipFill>
        <p:spPr>
          <a:xfrm>
            <a:off x="819745" y="805458"/>
            <a:ext cx="75009" cy="85725"/>
          </a:xfrm>
          <a:prstGeom prst="rect">
            <a:avLst/>
          </a:prstGeom>
          <a:noFill/>
          <a:ln>
            <a:noFill/>
          </a:ln>
        </p:spPr>
      </p:pic>
      <p:sp>
        <p:nvSpPr>
          <p:cNvPr id="647" name="Google Shape;647;p16"/>
          <p:cNvSpPr/>
          <p:nvPr/>
        </p:nvSpPr>
        <p:spPr>
          <a:xfrm>
            <a:off x="649746" y="1012627"/>
            <a:ext cx="415007"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BRD Create</a:t>
            </a:r>
            <a:endParaRPr b="0" i="0" sz="485" u="none" cap="none" strike="noStrike">
              <a:solidFill>
                <a:schemeClr val="dk1"/>
              </a:solidFill>
              <a:latin typeface="Calibri"/>
              <a:ea typeface="Calibri"/>
              <a:cs typeface="Calibri"/>
              <a:sym typeface="Calibri"/>
            </a:endParaRPr>
          </a:p>
        </p:txBody>
      </p:sp>
      <p:sp>
        <p:nvSpPr>
          <p:cNvPr id="648" name="Google Shape;648;p16"/>
          <p:cNvSpPr/>
          <p:nvPr/>
        </p:nvSpPr>
        <p:spPr>
          <a:xfrm>
            <a:off x="1811443"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49" name="Google Shape;649;p16"/>
          <p:cNvPicPr preferRelativeResize="0"/>
          <p:nvPr/>
        </p:nvPicPr>
        <p:blipFill rotWithShape="1">
          <a:blip r:embed="rId5">
            <a:alphaModFix/>
          </a:blip>
          <a:srcRect b="0" l="0" r="0" t="0"/>
          <a:stretch/>
        </p:blipFill>
        <p:spPr>
          <a:xfrm>
            <a:off x="1881094" y="805458"/>
            <a:ext cx="75009" cy="85725"/>
          </a:xfrm>
          <a:prstGeom prst="rect">
            <a:avLst/>
          </a:prstGeom>
          <a:noFill/>
          <a:ln>
            <a:noFill/>
          </a:ln>
        </p:spPr>
      </p:pic>
      <p:sp>
        <p:nvSpPr>
          <p:cNvPr id="650" name="Google Shape;650;p16"/>
          <p:cNvSpPr/>
          <p:nvPr/>
        </p:nvSpPr>
        <p:spPr>
          <a:xfrm>
            <a:off x="1706463" y="1012627"/>
            <a:ext cx="424272"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BRD Review</a:t>
            </a:r>
            <a:endParaRPr b="0" i="0" sz="485" u="none" cap="none" strike="noStrike">
              <a:solidFill>
                <a:schemeClr val="dk1"/>
              </a:solidFill>
              <a:latin typeface="Calibri"/>
              <a:ea typeface="Calibri"/>
              <a:cs typeface="Calibri"/>
              <a:sym typeface="Calibri"/>
            </a:endParaRPr>
          </a:p>
        </p:txBody>
      </p:sp>
      <p:sp>
        <p:nvSpPr>
          <p:cNvPr id="651" name="Google Shape;651;p16"/>
          <p:cNvSpPr/>
          <p:nvPr/>
        </p:nvSpPr>
        <p:spPr>
          <a:xfrm>
            <a:off x="2872792"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52" name="Google Shape;652;p16"/>
          <p:cNvPicPr preferRelativeResize="0"/>
          <p:nvPr/>
        </p:nvPicPr>
        <p:blipFill rotWithShape="1">
          <a:blip r:embed="rId6">
            <a:alphaModFix/>
          </a:blip>
          <a:srcRect b="0" l="0" r="0" t="0"/>
          <a:stretch/>
        </p:blipFill>
        <p:spPr>
          <a:xfrm>
            <a:off x="2942444" y="805458"/>
            <a:ext cx="75009" cy="85725"/>
          </a:xfrm>
          <a:prstGeom prst="rect">
            <a:avLst/>
          </a:prstGeom>
          <a:noFill/>
          <a:ln>
            <a:noFill/>
          </a:ln>
        </p:spPr>
      </p:pic>
      <p:sp>
        <p:nvSpPr>
          <p:cNvPr id="653" name="Google Shape;653;p16"/>
          <p:cNvSpPr/>
          <p:nvPr/>
        </p:nvSpPr>
        <p:spPr>
          <a:xfrm>
            <a:off x="2847873" y="1012627"/>
            <a:ext cx="264123"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Design</a:t>
            </a:r>
            <a:endParaRPr b="0" i="0" sz="485" u="none" cap="none" strike="noStrike">
              <a:solidFill>
                <a:schemeClr val="dk1"/>
              </a:solidFill>
              <a:latin typeface="Calibri"/>
              <a:ea typeface="Calibri"/>
              <a:cs typeface="Calibri"/>
              <a:sym typeface="Calibri"/>
            </a:endParaRPr>
          </a:p>
        </p:txBody>
      </p:sp>
      <p:sp>
        <p:nvSpPr>
          <p:cNvPr id="654" name="Google Shape;654;p16"/>
          <p:cNvSpPr/>
          <p:nvPr/>
        </p:nvSpPr>
        <p:spPr>
          <a:xfrm>
            <a:off x="3934141"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55" name="Google Shape;655;p16"/>
          <p:cNvPicPr preferRelativeResize="0"/>
          <p:nvPr/>
        </p:nvPicPr>
        <p:blipFill rotWithShape="1">
          <a:blip r:embed="rId7">
            <a:alphaModFix/>
          </a:blip>
          <a:srcRect b="0" l="0" r="0" t="0"/>
          <a:stretch/>
        </p:blipFill>
        <p:spPr>
          <a:xfrm>
            <a:off x="4003793" y="805458"/>
            <a:ext cx="75009" cy="85725"/>
          </a:xfrm>
          <a:prstGeom prst="rect">
            <a:avLst/>
          </a:prstGeom>
          <a:noFill/>
          <a:ln>
            <a:noFill/>
          </a:ln>
        </p:spPr>
      </p:pic>
      <p:sp>
        <p:nvSpPr>
          <p:cNvPr id="656" name="Google Shape;656;p16"/>
          <p:cNvSpPr/>
          <p:nvPr/>
        </p:nvSpPr>
        <p:spPr>
          <a:xfrm>
            <a:off x="3949210" y="1012627"/>
            <a:ext cx="184175"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Plan</a:t>
            </a:r>
            <a:endParaRPr b="0" i="0" sz="485" u="none" cap="none" strike="noStrike">
              <a:solidFill>
                <a:schemeClr val="dk1"/>
              </a:solidFill>
              <a:latin typeface="Calibri"/>
              <a:ea typeface="Calibri"/>
              <a:cs typeface="Calibri"/>
              <a:sym typeface="Calibri"/>
            </a:endParaRPr>
          </a:p>
        </p:txBody>
      </p:sp>
      <p:sp>
        <p:nvSpPr>
          <p:cNvPr id="657" name="Google Shape;657;p16"/>
          <p:cNvSpPr/>
          <p:nvPr/>
        </p:nvSpPr>
        <p:spPr>
          <a:xfrm>
            <a:off x="4974059" y="719733"/>
            <a:ext cx="257175" cy="257175"/>
          </a:xfrm>
          <a:prstGeom prst="ellipse">
            <a:avLst/>
          </a:prstGeom>
          <a:solidFill>
            <a:srgbClr val="2979FF"/>
          </a:solidFill>
          <a:ln cap="flat" cmpd="sng" w="182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6"/>
          <p:cNvSpPr/>
          <p:nvPr/>
        </p:nvSpPr>
        <p:spPr>
          <a:xfrm>
            <a:off x="4974059" y="719733"/>
            <a:ext cx="257175" cy="257175"/>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FFFFFF"/>
              </a:buClr>
              <a:buSzPts val="584"/>
              <a:buFont typeface="Calibri"/>
              <a:buNone/>
            </a:pPr>
            <a:r>
              <a:rPr b="1" i="0" lang="en-US" sz="584" u="none" cap="none" strike="noStrike">
                <a:solidFill>
                  <a:srgbClr val="FFFFFF"/>
                </a:solidFill>
                <a:latin typeface="Calibri"/>
                <a:ea typeface="Calibri"/>
                <a:cs typeface="Calibri"/>
                <a:sym typeface="Calibri"/>
              </a:rPr>
              <a:t>5</a:t>
            </a:r>
            <a:endParaRPr b="0" i="0" sz="584" u="none" cap="none" strike="noStrike">
              <a:solidFill>
                <a:schemeClr val="dk1"/>
              </a:solidFill>
              <a:latin typeface="Calibri"/>
              <a:ea typeface="Calibri"/>
              <a:cs typeface="Calibri"/>
              <a:sym typeface="Calibri"/>
            </a:endParaRPr>
          </a:p>
        </p:txBody>
      </p:sp>
      <p:sp>
        <p:nvSpPr>
          <p:cNvPr id="659" name="Google Shape;659;p16"/>
          <p:cNvSpPr/>
          <p:nvPr/>
        </p:nvSpPr>
        <p:spPr>
          <a:xfrm>
            <a:off x="5032995" y="1012627"/>
            <a:ext cx="139303"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2979FF"/>
              </a:buClr>
              <a:buSzPts val="485"/>
              <a:buFont typeface="Calibri"/>
              <a:buNone/>
            </a:pPr>
            <a:r>
              <a:rPr b="1" i="0" lang="en-US" sz="485" u="none" cap="none" strike="noStrike">
                <a:solidFill>
                  <a:srgbClr val="2979FF"/>
                </a:solidFill>
                <a:latin typeface="Calibri"/>
                <a:ea typeface="Calibri"/>
                <a:cs typeface="Calibri"/>
                <a:sym typeface="Calibri"/>
              </a:rPr>
              <a:t>Dev</a:t>
            </a:r>
            <a:endParaRPr b="0" i="0" sz="485" u="none" cap="none" strike="noStrike">
              <a:solidFill>
                <a:schemeClr val="dk1"/>
              </a:solidFill>
              <a:latin typeface="Calibri"/>
              <a:ea typeface="Calibri"/>
              <a:cs typeface="Calibri"/>
              <a:sym typeface="Calibri"/>
            </a:endParaRPr>
          </a:p>
        </p:txBody>
      </p:sp>
      <p:sp>
        <p:nvSpPr>
          <p:cNvPr id="660" name="Google Shape;660;p16"/>
          <p:cNvSpPr/>
          <p:nvPr/>
        </p:nvSpPr>
        <p:spPr>
          <a:xfrm>
            <a:off x="6056840"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6"/>
          <p:cNvSpPr/>
          <p:nvPr/>
        </p:nvSpPr>
        <p:spPr>
          <a:xfrm>
            <a:off x="6056840"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6</a:t>
            </a:r>
            <a:endParaRPr b="0" i="0" sz="584" u="none" cap="none" strike="noStrike">
              <a:solidFill>
                <a:schemeClr val="dk1"/>
              </a:solidFill>
              <a:latin typeface="Calibri"/>
              <a:ea typeface="Calibri"/>
              <a:cs typeface="Calibri"/>
              <a:sym typeface="Calibri"/>
            </a:endParaRPr>
          </a:p>
        </p:txBody>
      </p:sp>
      <p:sp>
        <p:nvSpPr>
          <p:cNvPr id="662" name="Google Shape;662;p16"/>
          <p:cNvSpPr/>
          <p:nvPr/>
        </p:nvSpPr>
        <p:spPr>
          <a:xfrm>
            <a:off x="6084215" y="1012627"/>
            <a:ext cx="159534"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Test</a:t>
            </a:r>
            <a:endParaRPr b="0" i="0" sz="485" u="none" cap="none" strike="noStrike">
              <a:solidFill>
                <a:schemeClr val="dk1"/>
              </a:solidFill>
              <a:latin typeface="Calibri"/>
              <a:ea typeface="Calibri"/>
              <a:cs typeface="Calibri"/>
              <a:sym typeface="Calibri"/>
            </a:endParaRPr>
          </a:p>
        </p:txBody>
      </p:sp>
      <p:sp>
        <p:nvSpPr>
          <p:cNvPr id="663" name="Google Shape;663;p16"/>
          <p:cNvSpPr/>
          <p:nvPr/>
        </p:nvSpPr>
        <p:spPr>
          <a:xfrm>
            <a:off x="7118189"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6"/>
          <p:cNvSpPr/>
          <p:nvPr/>
        </p:nvSpPr>
        <p:spPr>
          <a:xfrm>
            <a:off x="7118189"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7</a:t>
            </a:r>
            <a:endParaRPr b="0" i="0" sz="584" u="none" cap="none" strike="noStrike">
              <a:solidFill>
                <a:schemeClr val="dk1"/>
              </a:solidFill>
              <a:latin typeface="Calibri"/>
              <a:ea typeface="Calibri"/>
              <a:cs typeface="Calibri"/>
              <a:sym typeface="Calibri"/>
            </a:endParaRPr>
          </a:p>
        </p:txBody>
      </p:sp>
      <p:sp>
        <p:nvSpPr>
          <p:cNvPr id="665" name="Google Shape;665;p16"/>
          <p:cNvSpPr/>
          <p:nvPr/>
        </p:nvSpPr>
        <p:spPr>
          <a:xfrm>
            <a:off x="7094720" y="1012627"/>
            <a:ext cx="261249"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Review</a:t>
            </a:r>
            <a:endParaRPr b="0" i="0" sz="485" u="none" cap="none" strike="noStrike">
              <a:solidFill>
                <a:schemeClr val="dk1"/>
              </a:solidFill>
              <a:latin typeface="Calibri"/>
              <a:ea typeface="Calibri"/>
              <a:cs typeface="Calibri"/>
              <a:sym typeface="Calibri"/>
            </a:endParaRPr>
          </a:p>
        </p:txBody>
      </p:sp>
      <p:sp>
        <p:nvSpPr>
          <p:cNvPr id="666" name="Google Shape;666;p16"/>
          <p:cNvSpPr/>
          <p:nvPr/>
        </p:nvSpPr>
        <p:spPr>
          <a:xfrm>
            <a:off x="8179538"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6"/>
          <p:cNvSpPr/>
          <p:nvPr/>
        </p:nvSpPr>
        <p:spPr>
          <a:xfrm>
            <a:off x="8179538"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8</a:t>
            </a:r>
            <a:endParaRPr b="0" i="0" sz="584" u="none" cap="none" strike="noStrike">
              <a:solidFill>
                <a:schemeClr val="dk1"/>
              </a:solidFill>
              <a:latin typeface="Calibri"/>
              <a:ea typeface="Calibri"/>
              <a:cs typeface="Calibri"/>
              <a:sym typeface="Calibri"/>
            </a:endParaRPr>
          </a:p>
        </p:txBody>
      </p:sp>
      <p:sp>
        <p:nvSpPr>
          <p:cNvPr id="668" name="Google Shape;668;p16"/>
          <p:cNvSpPr/>
          <p:nvPr/>
        </p:nvSpPr>
        <p:spPr>
          <a:xfrm>
            <a:off x="8151800" y="1012627"/>
            <a:ext cx="269760"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Deploy</a:t>
            </a:r>
            <a:endParaRPr b="0" i="0" sz="485" u="none" cap="none" strike="noStrike">
              <a:solidFill>
                <a:schemeClr val="dk1"/>
              </a:solidFill>
              <a:latin typeface="Calibri"/>
              <a:ea typeface="Calibri"/>
              <a:cs typeface="Calibri"/>
              <a:sym typeface="Calibri"/>
            </a:endParaRPr>
          </a:p>
        </p:txBody>
      </p:sp>
      <p:sp>
        <p:nvSpPr>
          <p:cNvPr id="669" name="Google Shape;669;p16"/>
          <p:cNvSpPr/>
          <p:nvPr/>
        </p:nvSpPr>
        <p:spPr>
          <a:xfrm>
            <a:off x="428625" y="1325166"/>
            <a:ext cx="8286750" cy="3532584"/>
          </a:xfrm>
          <a:prstGeom prst="rect">
            <a:avLst/>
          </a:prstGeom>
          <a:solidFill>
            <a:srgbClr val="1A2A3A"/>
          </a:solidFill>
          <a:ln cap="flat" cmpd="sng" w="9525">
            <a:solidFill>
              <a:srgbClr val="FFFFFF">
                <a:alpha val="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6"/>
          <p:cNvSpPr/>
          <p:nvPr/>
        </p:nvSpPr>
        <p:spPr>
          <a:xfrm>
            <a:off x="607219" y="1503759"/>
            <a:ext cx="2366367"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The Squad</a:t>
            </a:r>
            <a:endParaRPr b="0" i="0" sz="683" u="none" cap="none" strike="noStrike">
              <a:solidFill>
                <a:schemeClr val="dk1"/>
              </a:solidFill>
              <a:latin typeface="Calibri"/>
              <a:ea typeface="Calibri"/>
              <a:cs typeface="Calibri"/>
              <a:sym typeface="Calibri"/>
            </a:endParaRPr>
          </a:p>
        </p:txBody>
      </p:sp>
      <p:sp>
        <p:nvSpPr>
          <p:cNvPr id="671" name="Google Shape;671;p16"/>
          <p:cNvSpPr/>
          <p:nvPr/>
        </p:nvSpPr>
        <p:spPr>
          <a:xfrm>
            <a:off x="607219" y="1810941"/>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6"/>
          <p:cNvSpPr/>
          <p:nvPr/>
        </p:nvSpPr>
        <p:spPr>
          <a:xfrm>
            <a:off x="607219" y="1810941"/>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73" name="Google Shape;673;p16"/>
          <p:cNvPicPr preferRelativeResize="0"/>
          <p:nvPr/>
        </p:nvPicPr>
        <p:blipFill rotWithShape="1">
          <a:blip r:embed="rId8">
            <a:alphaModFix/>
          </a:blip>
          <a:srcRect b="0" l="0" r="0" t="0"/>
          <a:stretch/>
        </p:blipFill>
        <p:spPr>
          <a:xfrm>
            <a:off x="698302" y="1956495"/>
            <a:ext cx="160734" cy="128588"/>
          </a:xfrm>
          <a:prstGeom prst="rect">
            <a:avLst/>
          </a:prstGeom>
          <a:noFill/>
          <a:ln>
            <a:noFill/>
          </a:ln>
        </p:spPr>
      </p:pic>
      <p:sp>
        <p:nvSpPr>
          <p:cNvPr id="674" name="Google Shape;674;p16"/>
          <p:cNvSpPr/>
          <p:nvPr/>
        </p:nvSpPr>
        <p:spPr>
          <a:xfrm>
            <a:off x="950119" y="1896666"/>
            <a:ext cx="871956"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Tech Lead</a:t>
            </a:r>
            <a:endParaRPr b="0" i="0" sz="634" u="none" cap="none" strike="noStrike">
              <a:solidFill>
                <a:schemeClr val="dk1"/>
              </a:solidFill>
              <a:latin typeface="Calibri"/>
              <a:ea typeface="Calibri"/>
              <a:cs typeface="Calibri"/>
              <a:sym typeface="Calibri"/>
            </a:endParaRPr>
          </a:p>
        </p:txBody>
      </p:sp>
      <p:sp>
        <p:nvSpPr>
          <p:cNvPr id="675" name="Google Shape;675;p16"/>
          <p:cNvSpPr/>
          <p:nvPr/>
        </p:nvSpPr>
        <p:spPr>
          <a:xfrm>
            <a:off x="950119" y="2037755"/>
            <a:ext cx="871956"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Scaffolding &amp; Oversight</a:t>
            </a:r>
            <a:endParaRPr b="0" i="0" sz="568" u="none" cap="none" strike="noStrike">
              <a:solidFill>
                <a:schemeClr val="dk1"/>
              </a:solidFill>
              <a:latin typeface="Calibri"/>
              <a:ea typeface="Calibri"/>
              <a:cs typeface="Calibri"/>
              <a:sym typeface="Calibri"/>
            </a:endParaRPr>
          </a:p>
        </p:txBody>
      </p:sp>
      <p:sp>
        <p:nvSpPr>
          <p:cNvPr id="676" name="Google Shape;676;p16"/>
          <p:cNvSpPr/>
          <p:nvPr/>
        </p:nvSpPr>
        <p:spPr>
          <a:xfrm>
            <a:off x="607219" y="2302073"/>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6"/>
          <p:cNvSpPr/>
          <p:nvPr/>
        </p:nvSpPr>
        <p:spPr>
          <a:xfrm>
            <a:off x="607219" y="2302073"/>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78" name="Google Shape;678;p16"/>
          <p:cNvPicPr preferRelativeResize="0"/>
          <p:nvPr/>
        </p:nvPicPr>
        <p:blipFill rotWithShape="1">
          <a:blip r:embed="rId9">
            <a:alphaModFix/>
          </a:blip>
          <a:srcRect b="0" l="0" r="0" t="0"/>
          <a:stretch/>
        </p:blipFill>
        <p:spPr>
          <a:xfrm>
            <a:off x="714375" y="2447627"/>
            <a:ext cx="128588" cy="128588"/>
          </a:xfrm>
          <a:prstGeom prst="rect">
            <a:avLst/>
          </a:prstGeom>
          <a:noFill/>
          <a:ln>
            <a:noFill/>
          </a:ln>
        </p:spPr>
      </p:pic>
      <p:sp>
        <p:nvSpPr>
          <p:cNvPr id="679" name="Google Shape;679;p16"/>
          <p:cNvSpPr/>
          <p:nvPr/>
        </p:nvSpPr>
        <p:spPr>
          <a:xfrm>
            <a:off x="950119" y="2387798"/>
            <a:ext cx="701734"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Backend Agent</a:t>
            </a:r>
            <a:endParaRPr b="0" i="0" sz="634" u="none" cap="none" strike="noStrike">
              <a:solidFill>
                <a:schemeClr val="dk1"/>
              </a:solidFill>
              <a:latin typeface="Calibri"/>
              <a:ea typeface="Calibri"/>
              <a:cs typeface="Calibri"/>
              <a:sym typeface="Calibri"/>
            </a:endParaRPr>
          </a:p>
        </p:txBody>
      </p:sp>
      <p:sp>
        <p:nvSpPr>
          <p:cNvPr id="680" name="Google Shape;680;p16"/>
          <p:cNvSpPr/>
          <p:nvPr/>
        </p:nvSpPr>
        <p:spPr>
          <a:xfrm>
            <a:off x="950119" y="2528888"/>
            <a:ext cx="701734"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API &amp; Logic</a:t>
            </a:r>
            <a:endParaRPr b="0" i="0" sz="568" u="none" cap="none" strike="noStrike">
              <a:solidFill>
                <a:schemeClr val="dk1"/>
              </a:solidFill>
              <a:latin typeface="Calibri"/>
              <a:ea typeface="Calibri"/>
              <a:cs typeface="Calibri"/>
              <a:sym typeface="Calibri"/>
            </a:endParaRPr>
          </a:p>
        </p:txBody>
      </p:sp>
      <p:sp>
        <p:nvSpPr>
          <p:cNvPr id="681" name="Google Shape;681;p16"/>
          <p:cNvSpPr/>
          <p:nvPr/>
        </p:nvSpPr>
        <p:spPr>
          <a:xfrm>
            <a:off x="607219" y="2793206"/>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6"/>
          <p:cNvSpPr/>
          <p:nvPr/>
        </p:nvSpPr>
        <p:spPr>
          <a:xfrm>
            <a:off x="607219" y="2793206"/>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83" name="Google Shape;683;p16"/>
          <p:cNvPicPr preferRelativeResize="0"/>
          <p:nvPr/>
        </p:nvPicPr>
        <p:blipFill rotWithShape="1">
          <a:blip r:embed="rId10">
            <a:alphaModFix/>
          </a:blip>
          <a:srcRect b="0" l="0" r="0" t="0"/>
          <a:stretch/>
        </p:blipFill>
        <p:spPr>
          <a:xfrm>
            <a:off x="706338" y="2938760"/>
            <a:ext cx="144661" cy="128588"/>
          </a:xfrm>
          <a:prstGeom prst="rect">
            <a:avLst/>
          </a:prstGeom>
          <a:noFill/>
          <a:ln>
            <a:noFill/>
          </a:ln>
        </p:spPr>
      </p:pic>
      <p:sp>
        <p:nvSpPr>
          <p:cNvPr id="684" name="Google Shape;684;p16"/>
          <p:cNvSpPr/>
          <p:nvPr/>
        </p:nvSpPr>
        <p:spPr>
          <a:xfrm>
            <a:off x="950119" y="2878931"/>
            <a:ext cx="728021"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Frontend Agent</a:t>
            </a:r>
            <a:endParaRPr b="0" i="0" sz="634" u="none" cap="none" strike="noStrike">
              <a:solidFill>
                <a:schemeClr val="dk1"/>
              </a:solidFill>
              <a:latin typeface="Calibri"/>
              <a:ea typeface="Calibri"/>
              <a:cs typeface="Calibri"/>
              <a:sym typeface="Calibri"/>
            </a:endParaRPr>
          </a:p>
        </p:txBody>
      </p:sp>
      <p:sp>
        <p:nvSpPr>
          <p:cNvPr id="685" name="Google Shape;685;p16"/>
          <p:cNvSpPr/>
          <p:nvPr/>
        </p:nvSpPr>
        <p:spPr>
          <a:xfrm>
            <a:off x="950119" y="3020020"/>
            <a:ext cx="728021"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UI Components</a:t>
            </a:r>
            <a:endParaRPr b="0" i="0" sz="568" u="none" cap="none" strike="noStrike">
              <a:solidFill>
                <a:schemeClr val="dk1"/>
              </a:solidFill>
              <a:latin typeface="Calibri"/>
              <a:ea typeface="Calibri"/>
              <a:cs typeface="Calibri"/>
              <a:sym typeface="Calibri"/>
            </a:endParaRPr>
          </a:p>
        </p:txBody>
      </p:sp>
      <p:sp>
        <p:nvSpPr>
          <p:cNvPr id="686" name="Google Shape;686;p16"/>
          <p:cNvSpPr/>
          <p:nvPr/>
        </p:nvSpPr>
        <p:spPr>
          <a:xfrm>
            <a:off x="3152180" y="1503759"/>
            <a:ext cx="2839641"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Orchestration Flow</a:t>
            </a:r>
            <a:endParaRPr b="0" i="0" sz="683" u="none" cap="none" strike="noStrike">
              <a:solidFill>
                <a:schemeClr val="dk1"/>
              </a:solidFill>
              <a:latin typeface="Calibri"/>
              <a:ea typeface="Calibri"/>
              <a:cs typeface="Calibri"/>
              <a:sym typeface="Calibri"/>
            </a:endParaRPr>
          </a:p>
        </p:txBody>
      </p:sp>
      <p:sp>
        <p:nvSpPr>
          <p:cNvPr id="687" name="Google Shape;687;p16"/>
          <p:cNvSpPr/>
          <p:nvPr/>
        </p:nvSpPr>
        <p:spPr>
          <a:xfrm>
            <a:off x="3152180" y="1810941"/>
            <a:ext cx="2839641"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6"/>
          <p:cNvSpPr/>
          <p:nvPr/>
        </p:nvSpPr>
        <p:spPr>
          <a:xfrm>
            <a:off x="3237905" y="1942207"/>
            <a:ext cx="157163" cy="157163"/>
          </a:xfrm>
          <a:prstGeom prst="ellipse">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6"/>
          <p:cNvSpPr/>
          <p:nvPr/>
        </p:nvSpPr>
        <p:spPr>
          <a:xfrm>
            <a:off x="3237905" y="1942207"/>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1</a:t>
            </a:r>
            <a:endParaRPr b="0" i="0" sz="534" u="none" cap="none" strike="noStrike">
              <a:solidFill>
                <a:schemeClr val="dk1"/>
              </a:solidFill>
              <a:latin typeface="Calibri"/>
              <a:ea typeface="Calibri"/>
              <a:cs typeface="Calibri"/>
              <a:sym typeface="Calibri"/>
            </a:endParaRPr>
          </a:p>
        </p:txBody>
      </p:sp>
      <p:sp>
        <p:nvSpPr>
          <p:cNvPr id="690" name="Google Shape;690;p16"/>
          <p:cNvSpPr/>
          <p:nvPr/>
        </p:nvSpPr>
        <p:spPr>
          <a:xfrm>
            <a:off x="3480792" y="1896666"/>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Scaffold</a:t>
            </a:r>
            <a:endParaRPr b="0" i="0" sz="634" u="none" cap="none" strike="noStrike">
              <a:solidFill>
                <a:schemeClr val="dk1"/>
              </a:solidFill>
              <a:latin typeface="Calibri"/>
              <a:ea typeface="Calibri"/>
              <a:cs typeface="Calibri"/>
              <a:sym typeface="Calibri"/>
            </a:endParaRPr>
          </a:p>
        </p:txBody>
      </p:sp>
      <p:sp>
        <p:nvSpPr>
          <p:cNvPr id="691" name="Google Shape;691;p16"/>
          <p:cNvSpPr/>
          <p:nvPr/>
        </p:nvSpPr>
        <p:spPr>
          <a:xfrm>
            <a:off x="3480792" y="2037755"/>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Tech Lead sets up repo, linting, and CI/CD.</a:t>
            </a:r>
            <a:endParaRPr b="0" i="0" sz="568" u="none" cap="none" strike="noStrike">
              <a:solidFill>
                <a:schemeClr val="dk1"/>
              </a:solidFill>
              <a:latin typeface="Calibri"/>
              <a:ea typeface="Calibri"/>
              <a:cs typeface="Calibri"/>
              <a:sym typeface="Calibri"/>
            </a:endParaRPr>
          </a:p>
        </p:txBody>
      </p:sp>
      <p:sp>
        <p:nvSpPr>
          <p:cNvPr id="692" name="Google Shape;692;p16"/>
          <p:cNvSpPr/>
          <p:nvPr/>
        </p:nvSpPr>
        <p:spPr>
          <a:xfrm>
            <a:off x="3152180" y="2287786"/>
            <a:ext cx="2839641"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6"/>
          <p:cNvSpPr/>
          <p:nvPr/>
        </p:nvSpPr>
        <p:spPr>
          <a:xfrm>
            <a:off x="3237905" y="2419052"/>
            <a:ext cx="157163" cy="157163"/>
          </a:xfrm>
          <a:prstGeom prst="ellipse">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6"/>
          <p:cNvSpPr/>
          <p:nvPr/>
        </p:nvSpPr>
        <p:spPr>
          <a:xfrm>
            <a:off x="3237905" y="2419052"/>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2</a:t>
            </a:r>
            <a:endParaRPr b="0" i="0" sz="534" u="none" cap="none" strike="noStrike">
              <a:solidFill>
                <a:schemeClr val="dk1"/>
              </a:solidFill>
              <a:latin typeface="Calibri"/>
              <a:ea typeface="Calibri"/>
              <a:cs typeface="Calibri"/>
              <a:sym typeface="Calibri"/>
            </a:endParaRPr>
          </a:p>
        </p:txBody>
      </p:sp>
      <p:sp>
        <p:nvSpPr>
          <p:cNvPr id="695" name="Google Shape;695;p16"/>
          <p:cNvSpPr/>
          <p:nvPr/>
        </p:nvSpPr>
        <p:spPr>
          <a:xfrm>
            <a:off x="3480792" y="2373511"/>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Parallel Build</a:t>
            </a:r>
            <a:endParaRPr b="0" i="0" sz="634" u="none" cap="none" strike="noStrike">
              <a:solidFill>
                <a:schemeClr val="dk1"/>
              </a:solidFill>
              <a:latin typeface="Calibri"/>
              <a:ea typeface="Calibri"/>
              <a:cs typeface="Calibri"/>
              <a:sym typeface="Calibri"/>
            </a:endParaRPr>
          </a:p>
        </p:txBody>
      </p:sp>
      <p:sp>
        <p:nvSpPr>
          <p:cNvPr id="696" name="Google Shape;696;p16"/>
          <p:cNvSpPr/>
          <p:nvPr/>
        </p:nvSpPr>
        <p:spPr>
          <a:xfrm>
            <a:off x="3480792" y="2514600"/>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Backend builds API; Frontend builds UI (mocked).</a:t>
            </a:r>
            <a:endParaRPr b="0" i="0" sz="568" u="none" cap="none" strike="noStrike">
              <a:solidFill>
                <a:schemeClr val="dk1"/>
              </a:solidFill>
              <a:latin typeface="Calibri"/>
              <a:ea typeface="Calibri"/>
              <a:cs typeface="Calibri"/>
              <a:sym typeface="Calibri"/>
            </a:endParaRPr>
          </a:p>
        </p:txBody>
      </p:sp>
      <p:sp>
        <p:nvSpPr>
          <p:cNvPr id="697" name="Google Shape;697;p16"/>
          <p:cNvSpPr/>
          <p:nvPr/>
        </p:nvSpPr>
        <p:spPr>
          <a:xfrm>
            <a:off x="3152180" y="2764631"/>
            <a:ext cx="2839641"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6"/>
          <p:cNvSpPr/>
          <p:nvPr/>
        </p:nvSpPr>
        <p:spPr>
          <a:xfrm>
            <a:off x="3237905" y="2895898"/>
            <a:ext cx="157163" cy="157163"/>
          </a:xfrm>
          <a:prstGeom prst="ellipse">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6"/>
          <p:cNvSpPr/>
          <p:nvPr/>
        </p:nvSpPr>
        <p:spPr>
          <a:xfrm>
            <a:off x="3237905" y="2895898"/>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3</a:t>
            </a:r>
            <a:endParaRPr b="0" i="0" sz="534" u="none" cap="none" strike="noStrike">
              <a:solidFill>
                <a:schemeClr val="dk1"/>
              </a:solidFill>
              <a:latin typeface="Calibri"/>
              <a:ea typeface="Calibri"/>
              <a:cs typeface="Calibri"/>
              <a:sym typeface="Calibri"/>
            </a:endParaRPr>
          </a:p>
        </p:txBody>
      </p:sp>
      <p:sp>
        <p:nvSpPr>
          <p:cNvPr id="700" name="Google Shape;700;p16"/>
          <p:cNvSpPr/>
          <p:nvPr/>
        </p:nvSpPr>
        <p:spPr>
          <a:xfrm>
            <a:off x="3480792" y="2850356"/>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Integration</a:t>
            </a:r>
            <a:endParaRPr b="0" i="0" sz="634" u="none" cap="none" strike="noStrike">
              <a:solidFill>
                <a:schemeClr val="dk1"/>
              </a:solidFill>
              <a:latin typeface="Calibri"/>
              <a:ea typeface="Calibri"/>
              <a:cs typeface="Calibri"/>
              <a:sym typeface="Calibri"/>
            </a:endParaRPr>
          </a:p>
        </p:txBody>
      </p:sp>
      <p:sp>
        <p:nvSpPr>
          <p:cNvPr id="701" name="Google Shape;701;p16"/>
          <p:cNvSpPr/>
          <p:nvPr/>
        </p:nvSpPr>
        <p:spPr>
          <a:xfrm>
            <a:off x="3480792" y="2991445"/>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Connect UI to real API endpoints.</a:t>
            </a:r>
            <a:endParaRPr b="0" i="0" sz="568" u="none" cap="none" strike="noStrike">
              <a:solidFill>
                <a:schemeClr val="dk1"/>
              </a:solidFill>
              <a:latin typeface="Calibri"/>
              <a:ea typeface="Calibri"/>
              <a:cs typeface="Calibri"/>
              <a:sym typeface="Calibri"/>
            </a:endParaRPr>
          </a:p>
        </p:txBody>
      </p:sp>
      <p:sp>
        <p:nvSpPr>
          <p:cNvPr id="702" name="Google Shape;702;p16"/>
          <p:cNvSpPr/>
          <p:nvPr/>
        </p:nvSpPr>
        <p:spPr>
          <a:xfrm>
            <a:off x="6170414" y="1503759"/>
            <a:ext cx="2366367"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Key Artifacts</a:t>
            </a:r>
            <a:endParaRPr b="0" i="0" sz="683" u="none" cap="none" strike="noStrike">
              <a:solidFill>
                <a:schemeClr val="dk1"/>
              </a:solidFill>
              <a:latin typeface="Calibri"/>
              <a:ea typeface="Calibri"/>
              <a:cs typeface="Calibri"/>
              <a:sym typeface="Calibri"/>
            </a:endParaRPr>
          </a:p>
        </p:txBody>
      </p:sp>
      <p:sp>
        <p:nvSpPr>
          <p:cNvPr id="703" name="Google Shape;703;p16"/>
          <p:cNvSpPr/>
          <p:nvPr/>
        </p:nvSpPr>
        <p:spPr>
          <a:xfrm>
            <a:off x="6170414" y="1810941"/>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04" name="Google Shape;704;p16"/>
          <p:cNvPicPr preferRelativeResize="0"/>
          <p:nvPr/>
        </p:nvPicPr>
        <p:blipFill rotWithShape="1">
          <a:blip r:embed="rId11">
            <a:alphaModFix/>
          </a:blip>
          <a:srcRect b="0" l="0" r="0" t="0"/>
          <a:stretch/>
        </p:blipFill>
        <p:spPr>
          <a:xfrm>
            <a:off x="6261497" y="1956495"/>
            <a:ext cx="160734" cy="128588"/>
          </a:xfrm>
          <a:prstGeom prst="rect">
            <a:avLst/>
          </a:prstGeom>
          <a:noFill/>
          <a:ln>
            <a:noFill/>
          </a:ln>
        </p:spPr>
      </p:pic>
      <p:sp>
        <p:nvSpPr>
          <p:cNvPr id="705" name="Google Shape;705;p16"/>
          <p:cNvSpPr/>
          <p:nvPr/>
        </p:nvSpPr>
        <p:spPr>
          <a:xfrm>
            <a:off x="6513314" y="1896666"/>
            <a:ext cx="1111690"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Source Code</a:t>
            </a:r>
            <a:endParaRPr b="0" i="0" sz="634" u="none" cap="none" strike="noStrike">
              <a:solidFill>
                <a:schemeClr val="dk1"/>
              </a:solidFill>
              <a:latin typeface="Calibri"/>
              <a:ea typeface="Calibri"/>
              <a:cs typeface="Calibri"/>
              <a:sym typeface="Calibri"/>
            </a:endParaRPr>
          </a:p>
        </p:txBody>
      </p:sp>
      <p:sp>
        <p:nvSpPr>
          <p:cNvPr id="706" name="Google Shape;706;p16"/>
          <p:cNvSpPr/>
          <p:nvPr/>
        </p:nvSpPr>
        <p:spPr>
          <a:xfrm>
            <a:off x="6513314" y="2037755"/>
            <a:ext cx="1111690"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Clean, documented codebase.</a:t>
            </a:r>
            <a:endParaRPr b="0" i="0" sz="568" u="none" cap="none" strike="noStrike">
              <a:solidFill>
                <a:schemeClr val="dk1"/>
              </a:solidFill>
              <a:latin typeface="Calibri"/>
              <a:ea typeface="Calibri"/>
              <a:cs typeface="Calibri"/>
              <a:sym typeface="Calibri"/>
            </a:endParaRPr>
          </a:p>
        </p:txBody>
      </p:sp>
      <p:sp>
        <p:nvSpPr>
          <p:cNvPr id="707" name="Google Shape;707;p16"/>
          <p:cNvSpPr/>
          <p:nvPr/>
        </p:nvSpPr>
        <p:spPr>
          <a:xfrm>
            <a:off x="6170414" y="2302073"/>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08" name="Google Shape;708;p16"/>
          <p:cNvPicPr preferRelativeResize="0"/>
          <p:nvPr/>
        </p:nvPicPr>
        <p:blipFill rotWithShape="1">
          <a:blip r:embed="rId12">
            <a:alphaModFix/>
          </a:blip>
          <a:srcRect b="0" l="0" r="0" t="0"/>
          <a:stretch/>
        </p:blipFill>
        <p:spPr>
          <a:xfrm>
            <a:off x="6277570" y="2447627"/>
            <a:ext cx="128588" cy="128588"/>
          </a:xfrm>
          <a:prstGeom prst="rect">
            <a:avLst/>
          </a:prstGeom>
          <a:noFill/>
          <a:ln>
            <a:noFill/>
          </a:ln>
        </p:spPr>
      </p:pic>
      <p:sp>
        <p:nvSpPr>
          <p:cNvPr id="709" name="Google Shape;709;p16"/>
          <p:cNvSpPr/>
          <p:nvPr/>
        </p:nvSpPr>
        <p:spPr>
          <a:xfrm>
            <a:off x="6513314" y="2387798"/>
            <a:ext cx="1005371"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Unit Tests</a:t>
            </a:r>
            <a:endParaRPr b="0" i="0" sz="634" u="none" cap="none" strike="noStrike">
              <a:solidFill>
                <a:schemeClr val="dk1"/>
              </a:solidFill>
              <a:latin typeface="Calibri"/>
              <a:ea typeface="Calibri"/>
              <a:cs typeface="Calibri"/>
              <a:sym typeface="Calibri"/>
            </a:endParaRPr>
          </a:p>
        </p:txBody>
      </p:sp>
      <p:sp>
        <p:nvSpPr>
          <p:cNvPr id="710" name="Google Shape;710;p16"/>
          <p:cNvSpPr/>
          <p:nvPr/>
        </p:nvSpPr>
        <p:spPr>
          <a:xfrm>
            <a:off x="6513314" y="2528888"/>
            <a:ext cx="1005371"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Jest/Pytest coverage &gt; 80%.</a:t>
            </a:r>
            <a:endParaRPr b="0" i="0" sz="568" u="none" cap="none" strike="noStrike">
              <a:solidFill>
                <a:schemeClr val="dk1"/>
              </a:solidFill>
              <a:latin typeface="Calibri"/>
              <a:ea typeface="Calibri"/>
              <a:cs typeface="Calibri"/>
              <a:sym typeface="Calibri"/>
            </a:endParaRPr>
          </a:p>
        </p:txBody>
      </p:sp>
      <p:sp>
        <p:nvSpPr>
          <p:cNvPr id="711" name="Google Shape;711;p16"/>
          <p:cNvSpPr/>
          <p:nvPr/>
        </p:nvSpPr>
        <p:spPr>
          <a:xfrm>
            <a:off x="6170414" y="2793206"/>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12" name="Google Shape;712;p16"/>
          <p:cNvPicPr preferRelativeResize="0"/>
          <p:nvPr/>
        </p:nvPicPr>
        <p:blipFill rotWithShape="1">
          <a:blip r:embed="rId13">
            <a:alphaModFix/>
          </a:blip>
          <a:srcRect b="0" l="0" r="0" t="0"/>
          <a:stretch/>
        </p:blipFill>
        <p:spPr>
          <a:xfrm>
            <a:off x="6285607" y="2938760"/>
            <a:ext cx="112514" cy="128588"/>
          </a:xfrm>
          <a:prstGeom prst="rect">
            <a:avLst/>
          </a:prstGeom>
          <a:noFill/>
          <a:ln>
            <a:noFill/>
          </a:ln>
        </p:spPr>
      </p:pic>
      <p:sp>
        <p:nvSpPr>
          <p:cNvPr id="713" name="Google Shape;713;p16"/>
          <p:cNvSpPr/>
          <p:nvPr/>
        </p:nvSpPr>
        <p:spPr>
          <a:xfrm>
            <a:off x="6513314" y="2878931"/>
            <a:ext cx="1095198"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Pull Requests</a:t>
            </a:r>
            <a:endParaRPr b="0" i="0" sz="634" u="none" cap="none" strike="noStrike">
              <a:solidFill>
                <a:schemeClr val="dk1"/>
              </a:solidFill>
              <a:latin typeface="Calibri"/>
              <a:ea typeface="Calibri"/>
              <a:cs typeface="Calibri"/>
              <a:sym typeface="Calibri"/>
            </a:endParaRPr>
          </a:p>
        </p:txBody>
      </p:sp>
      <p:sp>
        <p:nvSpPr>
          <p:cNvPr id="714" name="Google Shape;714;p16"/>
          <p:cNvSpPr/>
          <p:nvPr/>
        </p:nvSpPr>
        <p:spPr>
          <a:xfrm>
            <a:off x="6513314" y="3020020"/>
            <a:ext cx="1095198"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Atomic commits linked to Jira.</a:t>
            </a:r>
            <a:endParaRPr b="0" i="0" sz="568"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pic>
        <p:nvPicPr>
          <p:cNvPr descr="preencoded.png" id="720" name="Google Shape;720;p1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721" name="Google Shape;721;p17"/>
          <p:cNvSpPr/>
          <p:nvPr/>
        </p:nvSpPr>
        <p:spPr>
          <a:xfrm>
            <a:off x="428625" y="285750"/>
            <a:ext cx="8286750" cy="312539"/>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FFFFFF"/>
              </a:buClr>
              <a:buSzPts val="1602"/>
              <a:buFont typeface="Calibri"/>
              <a:buNone/>
            </a:pPr>
            <a:r>
              <a:rPr b="1" i="0" lang="en-US" sz="1602" u="none" cap="none" strike="noStrike">
                <a:solidFill>
                  <a:srgbClr val="FFFFFF"/>
                </a:solidFill>
                <a:latin typeface="Calibri"/>
                <a:ea typeface="Calibri"/>
                <a:cs typeface="Calibri"/>
                <a:sym typeface="Calibri"/>
              </a:rPr>
              <a:t>Step 6: Testing Phase (System Gate)</a:t>
            </a:r>
            <a:endParaRPr b="0" i="0" sz="1602" u="none" cap="none" strike="noStrike">
              <a:solidFill>
                <a:schemeClr val="dk1"/>
              </a:solidFill>
              <a:latin typeface="Calibri"/>
              <a:ea typeface="Calibri"/>
              <a:cs typeface="Calibri"/>
              <a:sym typeface="Calibri"/>
            </a:endParaRPr>
          </a:p>
        </p:txBody>
      </p:sp>
      <p:sp>
        <p:nvSpPr>
          <p:cNvPr id="722" name="Google Shape;722;p17"/>
          <p:cNvSpPr/>
          <p:nvPr/>
        </p:nvSpPr>
        <p:spPr>
          <a:xfrm>
            <a:off x="750094"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23" name="Google Shape;723;p17"/>
          <p:cNvPicPr preferRelativeResize="0"/>
          <p:nvPr/>
        </p:nvPicPr>
        <p:blipFill rotWithShape="1">
          <a:blip r:embed="rId4">
            <a:alphaModFix/>
          </a:blip>
          <a:srcRect b="0" l="0" r="0" t="0"/>
          <a:stretch/>
        </p:blipFill>
        <p:spPr>
          <a:xfrm>
            <a:off x="819745" y="805458"/>
            <a:ext cx="75009" cy="85725"/>
          </a:xfrm>
          <a:prstGeom prst="rect">
            <a:avLst/>
          </a:prstGeom>
          <a:noFill/>
          <a:ln>
            <a:noFill/>
          </a:ln>
        </p:spPr>
      </p:pic>
      <p:sp>
        <p:nvSpPr>
          <p:cNvPr id="724" name="Google Shape;724;p17"/>
          <p:cNvSpPr/>
          <p:nvPr/>
        </p:nvSpPr>
        <p:spPr>
          <a:xfrm>
            <a:off x="649746" y="1012627"/>
            <a:ext cx="415007"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BRD Create</a:t>
            </a:r>
            <a:endParaRPr b="0" i="0" sz="485" u="none" cap="none" strike="noStrike">
              <a:solidFill>
                <a:schemeClr val="dk1"/>
              </a:solidFill>
              <a:latin typeface="Calibri"/>
              <a:ea typeface="Calibri"/>
              <a:cs typeface="Calibri"/>
              <a:sym typeface="Calibri"/>
            </a:endParaRPr>
          </a:p>
        </p:txBody>
      </p:sp>
      <p:sp>
        <p:nvSpPr>
          <p:cNvPr id="725" name="Google Shape;725;p17"/>
          <p:cNvSpPr/>
          <p:nvPr/>
        </p:nvSpPr>
        <p:spPr>
          <a:xfrm>
            <a:off x="1811443"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26" name="Google Shape;726;p17"/>
          <p:cNvPicPr preferRelativeResize="0"/>
          <p:nvPr/>
        </p:nvPicPr>
        <p:blipFill rotWithShape="1">
          <a:blip r:embed="rId5">
            <a:alphaModFix/>
          </a:blip>
          <a:srcRect b="0" l="0" r="0" t="0"/>
          <a:stretch/>
        </p:blipFill>
        <p:spPr>
          <a:xfrm>
            <a:off x="1881094" y="805458"/>
            <a:ext cx="75009" cy="85725"/>
          </a:xfrm>
          <a:prstGeom prst="rect">
            <a:avLst/>
          </a:prstGeom>
          <a:noFill/>
          <a:ln>
            <a:noFill/>
          </a:ln>
        </p:spPr>
      </p:pic>
      <p:sp>
        <p:nvSpPr>
          <p:cNvPr id="727" name="Google Shape;727;p17"/>
          <p:cNvSpPr/>
          <p:nvPr/>
        </p:nvSpPr>
        <p:spPr>
          <a:xfrm>
            <a:off x="1706463" y="1012627"/>
            <a:ext cx="424272"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BRD Review</a:t>
            </a:r>
            <a:endParaRPr b="0" i="0" sz="485" u="none" cap="none" strike="noStrike">
              <a:solidFill>
                <a:schemeClr val="dk1"/>
              </a:solidFill>
              <a:latin typeface="Calibri"/>
              <a:ea typeface="Calibri"/>
              <a:cs typeface="Calibri"/>
              <a:sym typeface="Calibri"/>
            </a:endParaRPr>
          </a:p>
        </p:txBody>
      </p:sp>
      <p:sp>
        <p:nvSpPr>
          <p:cNvPr id="728" name="Google Shape;728;p17"/>
          <p:cNvSpPr/>
          <p:nvPr/>
        </p:nvSpPr>
        <p:spPr>
          <a:xfrm>
            <a:off x="2872792"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29" name="Google Shape;729;p17"/>
          <p:cNvPicPr preferRelativeResize="0"/>
          <p:nvPr/>
        </p:nvPicPr>
        <p:blipFill rotWithShape="1">
          <a:blip r:embed="rId6">
            <a:alphaModFix/>
          </a:blip>
          <a:srcRect b="0" l="0" r="0" t="0"/>
          <a:stretch/>
        </p:blipFill>
        <p:spPr>
          <a:xfrm>
            <a:off x="2942444" y="805458"/>
            <a:ext cx="75009" cy="85725"/>
          </a:xfrm>
          <a:prstGeom prst="rect">
            <a:avLst/>
          </a:prstGeom>
          <a:noFill/>
          <a:ln>
            <a:noFill/>
          </a:ln>
        </p:spPr>
      </p:pic>
      <p:sp>
        <p:nvSpPr>
          <p:cNvPr id="730" name="Google Shape;730;p17"/>
          <p:cNvSpPr/>
          <p:nvPr/>
        </p:nvSpPr>
        <p:spPr>
          <a:xfrm>
            <a:off x="2847873" y="1012627"/>
            <a:ext cx="264123"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Design</a:t>
            </a:r>
            <a:endParaRPr b="0" i="0" sz="485" u="none" cap="none" strike="noStrike">
              <a:solidFill>
                <a:schemeClr val="dk1"/>
              </a:solidFill>
              <a:latin typeface="Calibri"/>
              <a:ea typeface="Calibri"/>
              <a:cs typeface="Calibri"/>
              <a:sym typeface="Calibri"/>
            </a:endParaRPr>
          </a:p>
        </p:txBody>
      </p:sp>
      <p:sp>
        <p:nvSpPr>
          <p:cNvPr id="731" name="Google Shape;731;p17"/>
          <p:cNvSpPr/>
          <p:nvPr/>
        </p:nvSpPr>
        <p:spPr>
          <a:xfrm>
            <a:off x="3934141"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32" name="Google Shape;732;p17"/>
          <p:cNvPicPr preferRelativeResize="0"/>
          <p:nvPr/>
        </p:nvPicPr>
        <p:blipFill rotWithShape="1">
          <a:blip r:embed="rId7">
            <a:alphaModFix/>
          </a:blip>
          <a:srcRect b="0" l="0" r="0" t="0"/>
          <a:stretch/>
        </p:blipFill>
        <p:spPr>
          <a:xfrm>
            <a:off x="4003793" y="805458"/>
            <a:ext cx="75009" cy="85725"/>
          </a:xfrm>
          <a:prstGeom prst="rect">
            <a:avLst/>
          </a:prstGeom>
          <a:noFill/>
          <a:ln>
            <a:noFill/>
          </a:ln>
        </p:spPr>
      </p:pic>
      <p:sp>
        <p:nvSpPr>
          <p:cNvPr id="733" name="Google Shape;733;p17"/>
          <p:cNvSpPr/>
          <p:nvPr/>
        </p:nvSpPr>
        <p:spPr>
          <a:xfrm>
            <a:off x="3949210" y="1012627"/>
            <a:ext cx="184175"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Plan</a:t>
            </a:r>
            <a:endParaRPr b="0" i="0" sz="485" u="none" cap="none" strike="noStrike">
              <a:solidFill>
                <a:schemeClr val="dk1"/>
              </a:solidFill>
              <a:latin typeface="Calibri"/>
              <a:ea typeface="Calibri"/>
              <a:cs typeface="Calibri"/>
              <a:sym typeface="Calibri"/>
            </a:endParaRPr>
          </a:p>
        </p:txBody>
      </p:sp>
      <p:sp>
        <p:nvSpPr>
          <p:cNvPr id="734" name="Google Shape;734;p17"/>
          <p:cNvSpPr/>
          <p:nvPr/>
        </p:nvSpPr>
        <p:spPr>
          <a:xfrm>
            <a:off x="4995490"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35" name="Google Shape;735;p17"/>
          <p:cNvPicPr preferRelativeResize="0"/>
          <p:nvPr/>
        </p:nvPicPr>
        <p:blipFill rotWithShape="1">
          <a:blip r:embed="rId8">
            <a:alphaModFix/>
          </a:blip>
          <a:srcRect b="0" l="0" r="0" t="0"/>
          <a:stretch/>
        </p:blipFill>
        <p:spPr>
          <a:xfrm>
            <a:off x="5065142" y="805458"/>
            <a:ext cx="75009" cy="85725"/>
          </a:xfrm>
          <a:prstGeom prst="rect">
            <a:avLst/>
          </a:prstGeom>
          <a:noFill/>
          <a:ln>
            <a:noFill/>
          </a:ln>
        </p:spPr>
      </p:pic>
      <p:sp>
        <p:nvSpPr>
          <p:cNvPr id="736" name="Google Shape;736;p17"/>
          <p:cNvSpPr/>
          <p:nvPr/>
        </p:nvSpPr>
        <p:spPr>
          <a:xfrm>
            <a:off x="5034586" y="1012627"/>
            <a:ext cx="136094"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Dev</a:t>
            </a:r>
            <a:endParaRPr b="0" i="0" sz="485" u="none" cap="none" strike="noStrike">
              <a:solidFill>
                <a:schemeClr val="dk1"/>
              </a:solidFill>
              <a:latin typeface="Calibri"/>
              <a:ea typeface="Calibri"/>
              <a:cs typeface="Calibri"/>
              <a:sym typeface="Calibri"/>
            </a:endParaRPr>
          </a:p>
        </p:txBody>
      </p:sp>
      <p:sp>
        <p:nvSpPr>
          <p:cNvPr id="737" name="Google Shape;737;p17"/>
          <p:cNvSpPr/>
          <p:nvPr/>
        </p:nvSpPr>
        <p:spPr>
          <a:xfrm>
            <a:off x="6035408" y="719733"/>
            <a:ext cx="257175" cy="257175"/>
          </a:xfrm>
          <a:prstGeom prst="ellipse">
            <a:avLst/>
          </a:prstGeom>
          <a:solidFill>
            <a:srgbClr val="2979FF"/>
          </a:solidFill>
          <a:ln cap="flat" cmpd="sng" w="182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7"/>
          <p:cNvSpPr/>
          <p:nvPr/>
        </p:nvSpPr>
        <p:spPr>
          <a:xfrm>
            <a:off x="6035408" y="719733"/>
            <a:ext cx="257175" cy="257175"/>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FFFFFF"/>
              </a:buClr>
              <a:buSzPts val="584"/>
              <a:buFont typeface="Calibri"/>
              <a:buNone/>
            </a:pPr>
            <a:r>
              <a:rPr b="1" i="0" lang="en-US" sz="584" u="none" cap="none" strike="noStrike">
                <a:solidFill>
                  <a:srgbClr val="FFFFFF"/>
                </a:solidFill>
                <a:latin typeface="Calibri"/>
                <a:ea typeface="Calibri"/>
                <a:cs typeface="Calibri"/>
                <a:sym typeface="Calibri"/>
              </a:rPr>
              <a:t>6</a:t>
            </a:r>
            <a:endParaRPr b="0" i="0" sz="584" u="none" cap="none" strike="noStrike">
              <a:solidFill>
                <a:schemeClr val="dk1"/>
              </a:solidFill>
              <a:latin typeface="Calibri"/>
              <a:ea typeface="Calibri"/>
              <a:cs typeface="Calibri"/>
              <a:sym typeface="Calibri"/>
            </a:endParaRPr>
          </a:p>
        </p:txBody>
      </p:sp>
      <p:sp>
        <p:nvSpPr>
          <p:cNvPr id="739" name="Google Shape;739;p17"/>
          <p:cNvSpPr/>
          <p:nvPr/>
        </p:nvSpPr>
        <p:spPr>
          <a:xfrm>
            <a:off x="6082931" y="1012627"/>
            <a:ext cx="162102"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2979FF"/>
              </a:buClr>
              <a:buSzPts val="485"/>
              <a:buFont typeface="Calibri"/>
              <a:buNone/>
            </a:pPr>
            <a:r>
              <a:rPr b="1" i="0" lang="en-US" sz="485" u="none" cap="none" strike="noStrike">
                <a:solidFill>
                  <a:srgbClr val="2979FF"/>
                </a:solidFill>
                <a:latin typeface="Calibri"/>
                <a:ea typeface="Calibri"/>
                <a:cs typeface="Calibri"/>
                <a:sym typeface="Calibri"/>
              </a:rPr>
              <a:t>Test</a:t>
            </a:r>
            <a:endParaRPr b="0" i="0" sz="485" u="none" cap="none" strike="noStrike">
              <a:solidFill>
                <a:schemeClr val="dk1"/>
              </a:solidFill>
              <a:latin typeface="Calibri"/>
              <a:ea typeface="Calibri"/>
              <a:cs typeface="Calibri"/>
              <a:sym typeface="Calibri"/>
            </a:endParaRPr>
          </a:p>
        </p:txBody>
      </p:sp>
      <p:sp>
        <p:nvSpPr>
          <p:cNvPr id="740" name="Google Shape;740;p17"/>
          <p:cNvSpPr/>
          <p:nvPr/>
        </p:nvSpPr>
        <p:spPr>
          <a:xfrm>
            <a:off x="7118189"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7"/>
          <p:cNvSpPr/>
          <p:nvPr/>
        </p:nvSpPr>
        <p:spPr>
          <a:xfrm>
            <a:off x="7118189"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7</a:t>
            </a:r>
            <a:endParaRPr b="0" i="0" sz="584" u="none" cap="none" strike="noStrike">
              <a:solidFill>
                <a:schemeClr val="dk1"/>
              </a:solidFill>
              <a:latin typeface="Calibri"/>
              <a:ea typeface="Calibri"/>
              <a:cs typeface="Calibri"/>
              <a:sym typeface="Calibri"/>
            </a:endParaRPr>
          </a:p>
        </p:txBody>
      </p:sp>
      <p:sp>
        <p:nvSpPr>
          <p:cNvPr id="742" name="Google Shape;742;p17"/>
          <p:cNvSpPr/>
          <p:nvPr/>
        </p:nvSpPr>
        <p:spPr>
          <a:xfrm>
            <a:off x="7094720" y="1012627"/>
            <a:ext cx="261249"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Review</a:t>
            </a:r>
            <a:endParaRPr b="0" i="0" sz="485" u="none" cap="none" strike="noStrike">
              <a:solidFill>
                <a:schemeClr val="dk1"/>
              </a:solidFill>
              <a:latin typeface="Calibri"/>
              <a:ea typeface="Calibri"/>
              <a:cs typeface="Calibri"/>
              <a:sym typeface="Calibri"/>
            </a:endParaRPr>
          </a:p>
        </p:txBody>
      </p:sp>
      <p:sp>
        <p:nvSpPr>
          <p:cNvPr id="743" name="Google Shape;743;p17"/>
          <p:cNvSpPr/>
          <p:nvPr/>
        </p:nvSpPr>
        <p:spPr>
          <a:xfrm>
            <a:off x="8179538"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7"/>
          <p:cNvSpPr/>
          <p:nvPr/>
        </p:nvSpPr>
        <p:spPr>
          <a:xfrm>
            <a:off x="8179538"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8</a:t>
            </a:r>
            <a:endParaRPr b="0" i="0" sz="584" u="none" cap="none" strike="noStrike">
              <a:solidFill>
                <a:schemeClr val="dk1"/>
              </a:solidFill>
              <a:latin typeface="Calibri"/>
              <a:ea typeface="Calibri"/>
              <a:cs typeface="Calibri"/>
              <a:sym typeface="Calibri"/>
            </a:endParaRPr>
          </a:p>
        </p:txBody>
      </p:sp>
      <p:sp>
        <p:nvSpPr>
          <p:cNvPr id="745" name="Google Shape;745;p17"/>
          <p:cNvSpPr/>
          <p:nvPr/>
        </p:nvSpPr>
        <p:spPr>
          <a:xfrm>
            <a:off x="8151800" y="1012627"/>
            <a:ext cx="269760"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Deploy</a:t>
            </a:r>
            <a:endParaRPr b="0" i="0" sz="485" u="none" cap="none" strike="noStrike">
              <a:solidFill>
                <a:schemeClr val="dk1"/>
              </a:solidFill>
              <a:latin typeface="Calibri"/>
              <a:ea typeface="Calibri"/>
              <a:cs typeface="Calibri"/>
              <a:sym typeface="Calibri"/>
            </a:endParaRPr>
          </a:p>
        </p:txBody>
      </p:sp>
      <p:sp>
        <p:nvSpPr>
          <p:cNvPr id="746" name="Google Shape;746;p17"/>
          <p:cNvSpPr/>
          <p:nvPr/>
        </p:nvSpPr>
        <p:spPr>
          <a:xfrm>
            <a:off x="428625" y="1325166"/>
            <a:ext cx="8286750" cy="3532584"/>
          </a:xfrm>
          <a:prstGeom prst="rect">
            <a:avLst/>
          </a:prstGeom>
          <a:solidFill>
            <a:srgbClr val="1A2A3A"/>
          </a:solidFill>
          <a:ln cap="flat" cmpd="sng" w="9525">
            <a:solidFill>
              <a:srgbClr val="FFFFFF">
                <a:alpha val="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7"/>
          <p:cNvSpPr/>
          <p:nvPr/>
        </p:nvSpPr>
        <p:spPr>
          <a:xfrm>
            <a:off x="607219" y="1503759"/>
            <a:ext cx="2366367"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The Squad</a:t>
            </a:r>
            <a:endParaRPr b="0" i="0" sz="683" u="none" cap="none" strike="noStrike">
              <a:solidFill>
                <a:schemeClr val="dk1"/>
              </a:solidFill>
              <a:latin typeface="Calibri"/>
              <a:ea typeface="Calibri"/>
              <a:cs typeface="Calibri"/>
              <a:sym typeface="Calibri"/>
            </a:endParaRPr>
          </a:p>
        </p:txBody>
      </p:sp>
      <p:sp>
        <p:nvSpPr>
          <p:cNvPr id="748" name="Google Shape;748;p17"/>
          <p:cNvSpPr/>
          <p:nvPr/>
        </p:nvSpPr>
        <p:spPr>
          <a:xfrm>
            <a:off x="607219" y="1810941"/>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7"/>
          <p:cNvSpPr/>
          <p:nvPr/>
        </p:nvSpPr>
        <p:spPr>
          <a:xfrm>
            <a:off x="607219" y="1810941"/>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50" name="Google Shape;750;p17"/>
          <p:cNvPicPr preferRelativeResize="0"/>
          <p:nvPr/>
        </p:nvPicPr>
        <p:blipFill rotWithShape="1">
          <a:blip r:embed="rId9">
            <a:alphaModFix/>
          </a:blip>
          <a:srcRect b="0" l="0" r="0" t="0"/>
          <a:stretch/>
        </p:blipFill>
        <p:spPr>
          <a:xfrm>
            <a:off x="714375" y="1956495"/>
            <a:ext cx="128588" cy="128588"/>
          </a:xfrm>
          <a:prstGeom prst="rect">
            <a:avLst/>
          </a:prstGeom>
          <a:noFill/>
          <a:ln>
            <a:noFill/>
          </a:ln>
        </p:spPr>
      </p:pic>
      <p:sp>
        <p:nvSpPr>
          <p:cNvPr id="751" name="Google Shape;751;p17"/>
          <p:cNvSpPr/>
          <p:nvPr/>
        </p:nvSpPr>
        <p:spPr>
          <a:xfrm>
            <a:off x="950119" y="1896666"/>
            <a:ext cx="753442"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QA Planner</a:t>
            </a:r>
            <a:endParaRPr b="0" i="0" sz="634" u="none" cap="none" strike="noStrike">
              <a:solidFill>
                <a:schemeClr val="dk1"/>
              </a:solidFill>
              <a:latin typeface="Calibri"/>
              <a:ea typeface="Calibri"/>
              <a:cs typeface="Calibri"/>
              <a:sym typeface="Calibri"/>
            </a:endParaRPr>
          </a:p>
        </p:txBody>
      </p:sp>
      <p:sp>
        <p:nvSpPr>
          <p:cNvPr id="752" name="Google Shape;752;p17"/>
          <p:cNvSpPr/>
          <p:nvPr/>
        </p:nvSpPr>
        <p:spPr>
          <a:xfrm>
            <a:off x="950119" y="2037755"/>
            <a:ext cx="753442"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Strategy &amp; Coverage</a:t>
            </a:r>
            <a:endParaRPr b="0" i="0" sz="568" u="none" cap="none" strike="noStrike">
              <a:solidFill>
                <a:schemeClr val="dk1"/>
              </a:solidFill>
              <a:latin typeface="Calibri"/>
              <a:ea typeface="Calibri"/>
              <a:cs typeface="Calibri"/>
              <a:sym typeface="Calibri"/>
            </a:endParaRPr>
          </a:p>
        </p:txBody>
      </p:sp>
      <p:sp>
        <p:nvSpPr>
          <p:cNvPr id="753" name="Google Shape;753;p17"/>
          <p:cNvSpPr/>
          <p:nvPr/>
        </p:nvSpPr>
        <p:spPr>
          <a:xfrm>
            <a:off x="607219" y="2302073"/>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7"/>
          <p:cNvSpPr/>
          <p:nvPr/>
        </p:nvSpPr>
        <p:spPr>
          <a:xfrm>
            <a:off x="607219" y="2302073"/>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55" name="Google Shape;755;p17"/>
          <p:cNvPicPr preferRelativeResize="0"/>
          <p:nvPr/>
        </p:nvPicPr>
        <p:blipFill rotWithShape="1">
          <a:blip r:embed="rId10">
            <a:alphaModFix/>
          </a:blip>
          <a:srcRect b="0" l="0" r="0" t="0"/>
          <a:stretch/>
        </p:blipFill>
        <p:spPr>
          <a:xfrm>
            <a:off x="714375" y="2447627"/>
            <a:ext cx="128588" cy="128588"/>
          </a:xfrm>
          <a:prstGeom prst="rect">
            <a:avLst/>
          </a:prstGeom>
          <a:noFill/>
          <a:ln>
            <a:noFill/>
          </a:ln>
        </p:spPr>
      </p:pic>
      <p:sp>
        <p:nvSpPr>
          <p:cNvPr id="756" name="Google Shape;756;p17"/>
          <p:cNvSpPr/>
          <p:nvPr/>
        </p:nvSpPr>
        <p:spPr>
          <a:xfrm>
            <a:off x="950119" y="2387798"/>
            <a:ext cx="709519"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Test Writer</a:t>
            </a:r>
            <a:endParaRPr b="0" i="0" sz="634" u="none" cap="none" strike="noStrike">
              <a:solidFill>
                <a:schemeClr val="dk1"/>
              </a:solidFill>
              <a:latin typeface="Calibri"/>
              <a:ea typeface="Calibri"/>
              <a:cs typeface="Calibri"/>
              <a:sym typeface="Calibri"/>
            </a:endParaRPr>
          </a:p>
        </p:txBody>
      </p:sp>
      <p:sp>
        <p:nvSpPr>
          <p:cNvPr id="757" name="Google Shape;757;p17"/>
          <p:cNvSpPr/>
          <p:nvPr/>
        </p:nvSpPr>
        <p:spPr>
          <a:xfrm>
            <a:off x="950119" y="2528888"/>
            <a:ext cx="709519"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Cypress/Playwright</a:t>
            </a:r>
            <a:endParaRPr b="0" i="0" sz="568" u="none" cap="none" strike="noStrike">
              <a:solidFill>
                <a:schemeClr val="dk1"/>
              </a:solidFill>
              <a:latin typeface="Calibri"/>
              <a:ea typeface="Calibri"/>
              <a:cs typeface="Calibri"/>
              <a:sym typeface="Calibri"/>
            </a:endParaRPr>
          </a:p>
        </p:txBody>
      </p:sp>
      <p:sp>
        <p:nvSpPr>
          <p:cNvPr id="758" name="Google Shape;758;p17"/>
          <p:cNvSpPr/>
          <p:nvPr/>
        </p:nvSpPr>
        <p:spPr>
          <a:xfrm>
            <a:off x="607219" y="2793206"/>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7"/>
          <p:cNvSpPr/>
          <p:nvPr/>
        </p:nvSpPr>
        <p:spPr>
          <a:xfrm>
            <a:off x="607219" y="2793206"/>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60" name="Google Shape;760;p17"/>
          <p:cNvPicPr preferRelativeResize="0"/>
          <p:nvPr/>
        </p:nvPicPr>
        <p:blipFill rotWithShape="1">
          <a:blip r:embed="rId11">
            <a:alphaModFix/>
          </a:blip>
          <a:srcRect b="0" l="0" r="0" t="0"/>
          <a:stretch/>
        </p:blipFill>
        <p:spPr>
          <a:xfrm>
            <a:off x="698302" y="2938760"/>
            <a:ext cx="160734" cy="128588"/>
          </a:xfrm>
          <a:prstGeom prst="rect">
            <a:avLst/>
          </a:prstGeom>
          <a:noFill/>
          <a:ln>
            <a:noFill/>
          </a:ln>
        </p:spPr>
      </p:pic>
      <p:sp>
        <p:nvSpPr>
          <p:cNvPr id="761" name="Google Shape;761;p17"/>
          <p:cNvSpPr/>
          <p:nvPr/>
        </p:nvSpPr>
        <p:spPr>
          <a:xfrm>
            <a:off x="950119" y="2878931"/>
            <a:ext cx="776074"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E2E Agent</a:t>
            </a:r>
            <a:endParaRPr b="0" i="0" sz="634" u="none" cap="none" strike="noStrike">
              <a:solidFill>
                <a:schemeClr val="dk1"/>
              </a:solidFill>
              <a:latin typeface="Calibri"/>
              <a:ea typeface="Calibri"/>
              <a:cs typeface="Calibri"/>
              <a:sym typeface="Calibri"/>
            </a:endParaRPr>
          </a:p>
        </p:txBody>
      </p:sp>
      <p:sp>
        <p:nvSpPr>
          <p:cNvPr id="762" name="Google Shape;762;p17"/>
          <p:cNvSpPr/>
          <p:nvPr/>
        </p:nvSpPr>
        <p:spPr>
          <a:xfrm>
            <a:off x="950119" y="3020020"/>
            <a:ext cx="776074"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User Flow Simulation</a:t>
            </a:r>
            <a:endParaRPr b="0" i="0" sz="568" u="none" cap="none" strike="noStrike">
              <a:solidFill>
                <a:schemeClr val="dk1"/>
              </a:solidFill>
              <a:latin typeface="Calibri"/>
              <a:ea typeface="Calibri"/>
              <a:cs typeface="Calibri"/>
              <a:sym typeface="Calibri"/>
            </a:endParaRPr>
          </a:p>
        </p:txBody>
      </p:sp>
      <p:sp>
        <p:nvSpPr>
          <p:cNvPr id="763" name="Google Shape;763;p17"/>
          <p:cNvSpPr/>
          <p:nvPr/>
        </p:nvSpPr>
        <p:spPr>
          <a:xfrm>
            <a:off x="3152180" y="1503759"/>
            <a:ext cx="2839641"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Orchestration Flow</a:t>
            </a:r>
            <a:endParaRPr b="0" i="0" sz="683" u="none" cap="none" strike="noStrike">
              <a:solidFill>
                <a:schemeClr val="dk1"/>
              </a:solidFill>
              <a:latin typeface="Calibri"/>
              <a:ea typeface="Calibri"/>
              <a:cs typeface="Calibri"/>
              <a:sym typeface="Calibri"/>
            </a:endParaRPr>
          </a:p>
        </p:txBody>
      </p:sp>
      <p:sp>
        <p:nvSpPr>
          <p:cNvPr id="764" name="Google Shape;764;p17"/>
          <p:cNvSpPr/>
          <p:nvPr/>
        </p:nvSpPr>
        <p:spPr>
          <a:xfrm>
            <a:off x="3152180" y="1810941"/>
            <a:ext cx="2839641"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7"/>
          <p:cNvSpPr/>
          <p:nvPr/>
        </p:nvSpPr>
        <p:spPr>
          <a:xfrm>
            <a:off x="3237905" y="1942207"/>
            <a:ext cx="157163" cy="157163"/>
          </a:xfrm>
          <a:prstGeom prst="ellipse">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7"/>
          <p:cNvSpPr/>
          <p:nvPr/>
        </p:nvSpPr>
        <p:spPr>
          <a:xfrm>
            <a:off x="3237905" y="1942207"/>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1</a:t>
            </a:r>
            <a:endParaRPr b="0" i="0" sz="534" u="none" cap="none" strike="noStrike">
              <a:solidFill>
                <a:schemeClr val="dk1"/>
              </a:solidFill>
              <a:latin typeface="Calibri"/>
              <a:ea typeface="Calibri"/>
              <a:cs typeface="Calibri"/>
              <a:sym typeface="Calibri"/>
            </a:endParaRPr>
          </a:p>
        </p:txBody>
      </p:sp>
      <p:sp>
        <p:nvSpPr>
          <p:cNvPr id="767" name="Google Shape;767;p17"/>
          <p:cNvSpPr/>
          <p:nvPr/>
        </p:nvSpPr>
        <p:spPr>
          <a:xfrm>
            <a:off x="3480792" y="1896666"/>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Test Plan Generation</a:t>
            </a:r>
            <a:endParaRPr b="0" i="0" sz="634" u="none" cap="none" strike="noStrike">
              <a:solidFill>
                <a:schemeClr val="dk1"/>
              </a:solidFill>
              <a:latin typeface="Calibri"/>
              <a:ea typeface="Calibri"/>
              <a:cs typeface="Calibri"/>
              <a:sym typeface="Calibri"/>
            </a:endParaRPr>
          </a:p>
        </p:txBody>
      </p:sp>
      <p:sp>
        <p:nvSpPr>
          <p:cNvPr id="768" name="Google Shape;768;p17"/>
          <p:cNvSpPr/>
          <p:nvPr/>
        </p:nvSpPr>
        <p:spPr>
          <a:xfrm>
            <a:off x="3480792" y="2037755"/>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QA Planner maps User Stories to Test Cases.</a:t>
            </a:r>
            <a:endParaRPr b="0" i="0" sz="568" u="none" cap="none" strike="noStrike">
              <a:solidFill>
                <a:schemeClr val="dk1"/>
              </a:solidFill>
              <a:latin typeface="Calibri"/>
              <a:ea typeface="Calibri"/>
              <a:cs typeface="Calibri"/>
              <a:sym typeface="Calibri"/>
            </a:endParaRPr>
          </a:p>
        </p:txBody>
      </p:sp>
      <p:sp>
        <p:nvSpPr>
          <p:cNvPr id="769" name="Google Shape;769;p17"/>
          <p:cNvSpPr/>
          <p:nvPr/>
        </p:nvSpPr>
        <p:spPr>
          <a:xfrm>
            <a:off x="3152180" y="2287786"/>
            <a:ext cx="2839641"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7"/>
          <p:cNvSpPr/>
          <p:nvPr/>
        </p:nvSpPr>
        <p:spPr>
          <a:xfrm>
            <a:off x="3237905" y="2419052"/>
            <a:ext cx="157163" cy="157163"/>
          </a:xfrm>
          <a:prstGeom prst="ellipse">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7"/>
          <p:cNvSpPr/>
          <p:nvPr/>
        </p:nvSpPr>
        <p:spPr>
          <a:xfrm>
            <a:off x="3237905" y="2419052"/>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2</a:t>
            </a:r>
            <a:endParaRPr b="0" i="0" sz="534" u="none" cap="none" strike="noStrike">
              <a:solidFill>
                <a:schemeClr val="dk1"/>
              </a:solidFill>
              <a:latin typeface="Calibri"/>
              <a:ea typeface="Calibri"/>
              <a:cs typeface="Calibri"/>
              <a:sym typeface="Calibri"/>
            </a:endParaRPr>
          </a:p>
        </p:txBody>
      </p:sp>
      <p:sp>
        <p:nvSpPr>
          <p:cNvPr id="772" name="Google Shape;772;p17"/>
          <p:cNvSpPr/>
          <p:nvPr/>
        </p:nvSpPr>
        <p:spPr>
          <a:xfrm>
            <a:off x="3480792" y="2373511"/>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Execution</a:t>
            </a:r>
            <a:endParaRPr b="0" i="0" sz="634" u="none" cap="none" strike="noStrike">
              <a:solidFill>
                <a:schemeClr val="dk1"/>
              </a:solidFill>
              <a:latin typeface="Calibri"/>
              <a:ea typeface="Calibri"/>
              <a:cs typeface="Calibri"/>
              <a:sym typeface="Calibri"/>
            </a:endParaRPr>
          </a:p>
        </p:txBody>
      </p:sp>
      <p:sp>
        <p:nvSpPr>
          <p:cNvPr id="773" name="Google Shape;773;p17"/>
          <p:cNvSpPr/>
          <p:nvPr/>
        </p:nvSpPr>
        <p:spPr>
          <a:xfrm>
            <a:off x="3480792" y="2514600"/>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Run Unit, Integration, and E2E suites.</a:t>
            </a:r>
            <a:endParaRPr b="0" i="0" sz="568" u="none" cap="none" strike="noStrike">
              <a:solidFill>
                <a:schemeClr val="dk1"/>
              </a:solidFill>
              <a:latin typeface="Calibri"/>
              <a:ea typeface="Calibri"/>
              <a:cs typeface="Calibri"/>
              <a:sym typeface="Calibri"/>
            </a:endParaRPr>
          </a:p>
        </p:txBody>
      </p:sp>
      <p:sp>
        <p:nvSpPr>
          <p:cNvPr id="774" name="Google Shape;774;p17"/>
          <p:cNvSpPr/>
          <p:nvPr/>
        </p:nvSpPr>
        <p:spPr>
          <a:xfrm>
            <a:off x="3152180" y="2764631"/>
            <a:ext cx="2839641" cy="433983"/>
          </a:xfrm>
          <a:prstGeom prst="rect">
            <a:avLst/>
          </a:prstGeom>
          <a:solidFill>
            <a:srgbClr val="0D1B2E"/>
          </a:solidFill>
          <a:ln cap="flat" cmpd="sng" w="952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7"/>
          <p:cNvSpPr/>
          <p:nvPr/>
        </p:nvSpPr>
        <p:spPr>
          <a:xfrm>
            <a:off x="3237905" y="2895898"/>
            <a:ext cx="157163" cy="157163"/>
          </a:xfrm>
          <a:prstGeom prst="ellipse">
            <a:avLst/>
          </a:pr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7"/>
          <p:cNvSpPr/>
          <p:nvPr/>
        </p:nvSpPr>
        <p:spPr>
          <a:xfrm>
            <a:off x="3237905" y="2895898"/>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3</a:t>
            </a:r>
            <a:endParaRPr b="0" i="0" sz="534" u="none" cap="none" strike="noStrike">
              <a:solidFill>
                <a:schemeClr val="dk1"/>
              </a:solidFill>
              <a:latin typeface="Calibri"/>
              <a:ea typeface="Calibri"/>
              <a:cs typeface="Calibri"/>
              <a:sym typeface="Calibri"/>
            </a:endParaRPr>
          </a:p>
        </p:txBody>
      </p:sp>
      <p:sp>
        <p:nvSpPr>
          <p:cNvPr id="777" name="Google Shape;777;p17"/>
          <p:cNvSpPr/>
          <p:nvPr/>
        </p:nvSpPr>
        <p:spPr>
          <a:xfrm>
            <a:off x="3480792" y="2850356"/>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Quality Gate</a:t>
            </a:r>
            <a:endParaRPr b="0" i="0" sz="634" u="none" cap="none" strike="noStrike">
              <a:solidFill>
                <a:schemeClr val="dk1"/>
              </a:solidFill>
              <a:latin typeface="Calibri"/>
              <a:ea typeface="Calibri"/>
              <a:cs typeface="Calibri"/>
              <a:sym typeface="Calibri"/>
            </a:endParaRPr>
          </a:p>
        </p:txBody>
      </p:sp>
      <p:sp>
        <p:nvSpPr>
          <p:cNvPr id="778" name="Google Shape;778;p17"/>
          <p:cNvSpPr/>
          <p:nvPr/>
        </p:nvSpPr>
        <p:spPr>
          <a:xfrm>
            <a:off x="3480792" y="2991445"/>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Block release if Critical/High bugs exist.</a:t>
            </a:r>
            <a:endParaRPr b="0" i="0" sz="568" u="none" cap="none" strike="noStrike">
              <a:solidFill>
                <a:schemeClr val="dk1"/>
              </a:solidFill>
              <a:latin typeface="Calibri"/>
              <a:ea typeface="Calibri"/>
              <a:cs typeface="Calibri"/>
              <a:sym typeface="Calibri"/>
            </a:endParaRPr>
          </a:p>
        </p:txBody>
      </p:sp>
      <p:sp>
        <p:nvSpPr>
          <p:cNvPr id="779" name="Google Shape;779;p17"/>
          <p:cNvSpPr/>
          <p:nvPr/>
        </p:nvSpPr>
        <p:spPr>
          <a:xfrm>
            <a:off x="6170414" y="1503759"/>
            <a:ext cx="2366367"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Key Artifacts</a:t>
            </a:r>
            <a:endParaRPr b="0" i="0" sz="683" u="none" cap="none" strike="noStrike">
              <a:solidFill>
                <a:schemeClr val="dk1"/>
              </a:solidFill>
              <a:latin typeface="Calibri"/>
              <a:ea typeface="Calibri"/>
              <a:cs typeface="Calibri"/>
              <a:sym typeface="Calibri"/>
            </a:endParaRPr>
          </a:p>
        </p:txBody>
      </p:sp>
      <p:sp>
        <p:nvSpPr>
          <p:cNvPr id="780" name="Google Shape;780;p17"/>
          <p:cNvSpPr/>
          <p:nvPr/>
        </p:nvSpPr>
        <p:spPr>
          <a:xfrm>
            <a:off x="6170414" y="1810941"/>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81" name="Google Shape;781;p17"/>
          <p:cNvPicPr preferRelativeResize="0"/>
          <p:nvPr/>
        </p:nvPicPr>
        <p:blipFill rotWithShape="1">
          <a:blip r:embed="rId12">
            <a:alphaModFix/>
          </a:blip>
          <a:srcRect b="0" l="0" r="0" t="0"/>
          <a:stretch/>
        </p:blipFill>
        <p:spPr>
          <a:xfrm>
            <a:off x="6293644" y="1956495"/>
            <a:ext cx="96441" cy="128588"/>
          </a:xfrm>
          <a:prstGeom prst="rect">
            <a:avLst/>
          </a:prstGeom>
          <a:noFill/>
          <a:ln>
            <a:noFill/>
          </a:ln>
        </p:spPr>
      </p:pic>
      <p:sp>
        <p:nvSpPr>
          <p:cNvPr id="782" name="Google Shape;782;p17"/>
          <p:cNvSpPr/>
          <p:nvPr/>
        </p:nvSpPr>
        <p:spPr>
          <a:xfrm>
            <a:off x="6513314" y="1896666"/>
            <a:ext cx="880049"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Test Plan</a:t>
            </a:r>
            <a:endParaRPr b="0" i="0" sz="634" u="none" cap="none" strike="noStrike">
              <a:solidFill>
                <a:schemeClr val="dk1"/>
              </a:solidFill>
              <a:latin typeface="Calibri"/>
              <a:ea typeface="Calibri"/>
              <a:cs typeface="Calibri"/>
              <a:sym typeface="Calibri"/>
            </a:endParaRPr>
          </a:p>
        </p:txBody>
      </p:sp>
      <p:sp>
        <p:nvSpPr>
          <p:cNvPr id="783" name="Google Shape;783;p17"/>
          <p:cNvSpPr/>
          <p:nvPr/>
        </p:nvSpPr>
        <p:spPr>
          <a:xfrm>
            <a:off x="6513314" y="2037755"/>
            <a:ext cx="880049"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Scope and strategy doc.</a:t>
            </a:r>
            <a:endParaRPr b="0" i="0" sz="568" u="none" cap="none" strike="noStrike">
              <a:solidFill>
                <a:schemeClr val="dk1"/>
              </a:solidFill>
              <a:latin typeface="Calibri"/>
              <a:ea typeface="Calibri"/>
              <a:cs typeface="Calibri"/>
              <a:sym typeface="Calibri"/>
            </a:endParaRPr>
          </a:p>
        </p:txBody>
      </p:sp>
      <p:sp>
        <p:nvSpPr>
          <p:cNvPr id="784" name="Google Shape;784;p17"/>
          <p:cNvSpPr/>
          <p:nvPr/>
        </p:nvSpPr>
        <p:spPr>
          <a:xfrm>
            <a:off x="6170414" y="2302073"/>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85" name="Google Shape;785;p17"/>
          <p:cNvPicPr preferRelativeResize="0"/>
          <p:nvPr/>
        </p:nvPicPr>
        <p:blipFill rotWithShape="1">
          <a:blip r:embed="rId13">
            <a:alphaModFix/>
          </a:blip>
          <a:srcRect b="0" l="0" r="0" t="0"/>
          <a:stretch/>
        </p:blipFill>
        <p:spPr>
          <a:xfrm>
            <a:off x="6277570" y="2447627"/>
            <a:ext cx="128588" cy="128588"/>
          </a:xfrm>
          <a:prstGeom prst="rect">
            <a:avLst/>
          </a:prstGeom>
          <a:noFill/>
          <a:ln>
            <a:noFill/>
          </a:ln>
        </p:spPr>
      </p:pic>
      <p:sp>
        <p:nvSpPr>
          <p:cNvPr id="786" name="Google Shape;786;p17"/>
          <p:cNvSpPr/>
          <p:nvPr/>
        </p:nvSpPr>
        <p:spPr>
          <a:xfrm>
            <a:off x="6513314" y="2387798"/>
            <a:ext cx="793682"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Execution Report</a:t>
            </a:r>
            <a:endParaRPr b="0" i="0" sz="634" u="none" cap="none" strike="noStrike">
              <a:solidFill>
                <a:schemeClr val="dk1"/>
              </a:solidFill>
              <a:latin typeface="Calibri"/>
              <a:ea typeface="Calibri"/>
              <a:cs typeface="Calibri"/>
              <a:sym typeface="Calibri"/>
            </a:endParaRPr>
          </a:p>
        </p:txBody>
      </p:sp>
      <p:sp>
        <p:nvSpPr>
          <p:cNvPr id="787" name="Google Shape;787;p17"/>
          <p:cNvSpPr/>
          <p:nvPr/>
        </p:nvSpPr>
        <p:spPr>
          <a:xfrm>
            <a:off x="6513314" y="2528888"/>
            <a:ext cx="793682"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Pass/Fail metrics.</a:t>
            </a:r>
            <a:endParaRPr b="0" i="0" sz="568" u="none" cap="none" strike="noStrike">
              <a:solidFill>
                <a:schemeClr val="dk1"/>
              </a:solidFill>
              <a:latin typeface="Calibri"/>
              <a:ea typeface="Calibri"/>
              <a:cs typeface="Calibri"/>
              <a:sym typeface="Calibri"/>
            </a:endParaRPr>
          </a:p>
        </p:txBody>
      </p:sp>
      <p:sp>
        <p:nvSpPr>
          <p:cNvPr id="788" name="Google Shape;788;p17"/>
          <p:cNvSpPr/>
          <p:nvPr/>
        </p:nvSpPr>
        <p:spPr>
          <a:xfrm>
            <a:off x="6170414" y="2793206"/>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89" name="Google Shape;789;p17"/>
          <p:cNvPicPr preferRelativeResize="0"/>
          <p:nvPr/>
        </p:nvPicPr>
        <p:blipFill rotWithShape="1">
          <a:blip r:embed="rId14">
            <a:alphaModFix/>
          </a:blip>
          <a:srcRect b="0" l="0" r="0" t="0"/>
          <a:stretch/>
        </p:blipFill>
        <p:spPr>
          <a:xfrm>
            <a:off x="6277570" y="2938760"/>
            <a:ext cx="128588" cy="128588"/>
          </a:xfrm>
          <a:prstGeom prst="rect">
            <a:avLst/>
          </a:prstGeom>
          <a:noFill/>
          <a:ln>
            <a:noFill/>
          </a:ln>
        </p:spPr>
      </p:pic>
      <p:sp>
        <p:nvSpPr>
          <p:cNvPr id="790" name="Google Shape;790;p17"/>
          <p:cNvSpPr/>
          <p:nvPr/>
        </p:nvSpPr>
        <p:spPr>
          <a:xfrm>
            <a:off x="6513314" y="2878931"/>
            <a:ext cx="986200"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Bug Tickets</a:t>
            </a:r>
            <a:endParaRPr b="0" i="0" sz="634" u="none" cap="none" strike="noStrike">
              <a:solidFill>
                <a:schemeClr val="dk1"/>
              </a:solidFill>
              <a:latin typeface="Calibri"/>
              <a:ea typeface="Calibri"/>
              <a:cs typeface="Calibri"/>
              <a:sym typeface="Calibri"/>
            </a:endParaRPr>
          </a:p>
        </p:txBody>
      </p:sp>
      <p:sp>
        <p:nvSpPr>
          <p:cNvPr id="791" name="Google Shape;791;p17"/>
          <p:cNvSpPr/>
          <p:nvPr/>
        </p:nvSpPr>
        <p:spPr>
          <a:xfrm>
            <a:off x="6513314" y="3020020"/>
            <a:ext cx="986200"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Auto-generated Jira issues.</a:t>
            </a:r>
            <a:endParaRPr b="0" i="0" sz="568"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pic>
        <p:nvPicPr>
          <p:cNvPr descr="preencoded.png" id="797" name="Google Shape;797;p1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798" name="Google Shape;798;p18"/>
          <p:cNvSpPr/>
          <p:nvPr/>
        </p:nvSpPr>
        <p:spPr>
          <a:xfrm>
            <a:off x="428625" y="285750"/>
            <a:ext cx="8286750" cy="312539"/>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FFFFFF"/>
              </a:buClr>
              <a:buSzPts val="1602"/>
              <a:buFont typeface="Calibri"/>
              <a:buNone/>
            </a:pPr>
            <a:r>
              <a:rPr b="1" i="0" lang="en-US" sz="1602" u="none" cap="none" strike="noStrike">
                <a:solidFill>
                  <a:srgbClr val="FFFFFF"/>
                </a:solidFill>
                <a:latin typeface="Calibri"/>
                <a:ea typeface="Calibri"/>
                <a:cs typeface="Calibri"/>
                <a:sym typeface="Calibri"/>
              </a:rPr>
              <a:t>Step 7: Review Phase (Validation)</a:t>
            </a:r>
            <a:endParaRPr b="0" i="0" sz="1602" u="none" cap="none" strike="noStrike">
              <a:solidFill>
                <a:schemeClr val="dk1"/>
              </a:solidFill>
              <a:latin typeface="Calibri"/>
              <a:ea typeface="Calibri"/>
              <a:cs typeface="Calibri"/>
              <a:sym typeface="Calibri"/>
            </a:endParaRPr>
          </a:p>
        </p:txBody>
      </p:sp>
      <p:sp>
        <p:nvSpPr>
          <p:cNvPr id="799" name="Google Shape;799;p18"/>
          <p:cNvSpPr/>
          <p:nvPr/>
        </p:nvSpPr>
        <p:spPr>
          <a:xfrm>
            <a:off x="750094"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00" name="Google Shape;800;p18"/>
          <p:cNvPicPr preferRelativeResize="0"/>
          <p:nvPr/>
        </p:nvPicPr>
        <p:blipFill rotWithShape="1">
          <a:blip r:embed="rId4">
            <a:alphaModFix/>
          </a:blip>
          <a:srcRect b="0" l="0" r="0" t="0"/>
          <a:stretch/>
        </p:blipFill>
        <p:spPr>
          <a:xfrm>
            <a:off x="819745" y="805458"/>
            <a:ext cx="75009" cy="85725"/>
          </a:xfrm>
          <a:prstGeom prst="rect">
            <a:avLst/>
          </a:prstGeom>
          <a:noFill/>
          <a:ln>
            <a:noFill/>
          </a:ln>
        </p:spPr>
      </p:pic>
      <p:sp>
        <p:nvSpPr>
          <p:cNvPr id="801" name="Google Shape;801;p18"/>
          <p:cNvSpPr/>
          <p:nvPr/>
        </p:nvSpPr>
        <p:spPr>
          <a:xfrm>
            <a:off x="649746" y="1012627"/>
            <a:ext cx="415007"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BRD Create</a:t>
            </a:r>
            <a:endParaRPr b="0" i="0" sz="485" u="none" cap="none" strike="noStrike">
              <a:solidFill>
                <a:schemeClr val="dk1"/>
              </a:solidFill>
              <a:latin typeface="Calibri"/>
              <a:ea typeface="Calibri"/>
              <a:cs typeface="Calibri"/>
              <a:sym typeface="Calibri"/>
            </a:endParaRPr>
          </a:p>
        </p:txBody>
      </p:sp>
      <p:sp>
        <p:nvSpPr>
          <p:cNvPr id="802" name="Google Shape;802;p18"/>
          <p:cNvSpPr/>
          <p:nvPr/>
        </p:nvSpPr>
        <p:spPr>
          <a:xfrm>
            <a:off x="1811443"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03" name="Google Shape;803;p18"/>
          <p:cNvPicPr preferRelativeResize="0"/>
          <p:nvPr/>
        </p:nvPicPr>
        <p:blipFill rotWithShape="1">
          <a:blip r:embed="rId5">
            <a:alphaModFix/>
          </a:blip>
          <a:srcRect b="0" l="0" r="0" t="0"/>
          <a:stretch/>
        </p:blipFill>
        <p:spPr>
          <a:xfrm>
            <a:off x="1881094" y="805458"/>
            <a:ext cx="75009" cy="85725"/>
          </a:xfrm>
          <a:prstGeom prst="rect">
            <a:avLst/>
          </a:prstGeom>
          <a:noFill/>
          <a:ln>
            <a:noFill/>
          </a:ln>
        </p:spPr>
      </p:pic>
      <p:sp>
        <p:nvSpPr>
          <p:cNvPr id="804" name="Google Shape;804;p18"/>
          <p:cNvSpPr/>
          <p:nvPr/>
        </p:nvSpPr>
        <p:spPr>
          <a:xfrm>
            <a:off x="1706463" y="1012627"/>
            <a:ext cx="424272"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BRD Review</a:t>
            </a:r>
            <a:endParaRPr b="0" i="0" sz="485" u="none" cap="none" strike="noStrike">
              <a:solidFill>
                <a:schemeClr val="dk1"/>
              </a:solidFill>
              <a:latin typeface="Calibri"/>
              <a:ea typeface="Calibri"/>
              <a:cs typeface="Calibri"/>
              <a:sym typeface="Calibri"/>
            </a:endParaRPr>
          </a:p>
        </p:txBody>
      </p:sp>
      <p:sp>
        <p:nvSpPr>
          <p:cNvPr id="805" name="Google Shape;805;p18"/>
          <p:cNvSpPr/>
          <p:nvPr/>
        </p:nvSpPr>
        <p:spPr>
          <a:xfrm>
            <a:off x="2872792"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06" name="Google Shape;806;p18"/>
          <p:cNvPicPr preferRelativeResize="0"/>
          <p:nvPr/>
        </p:nvPicPr>
        <p:blipFill rotWithShape="1">
          <a:blip r:embed="rId6">
            <a:alphaModFix/>
          </a:blip>
          <a:srcRect b="0" l="0" r="0" t="0"/>
          <a:stretch/>
        </p:blipFill>
        <p:spPr>
          <a:xfrm>
            <a:off x="2942444" y="805458"/>
            <a:ext cx="75009" cy="85725"/>
          </a:xfrm>
          <a:prstGeom prst="rect">
            <a:avLst/>
          </a:prstGeom>
          <a:noFill/>
          <a:ln>
            <a:noFill/>
          </a:ln>
        </p:spPr>
      </p:pic>
      <p:sp>
        <p:nvSpPr>
          <p:cNvPr id="807" name="Google Shape;807;p18"/>
          <p:cNvSpPr/>
          <p:nvPr/>
        </p:nvSpPr>
        <p:spPr>
          <a:xfrm>
            <a:off x="2847873" y="1012627"/>
            <a:ext cx="264123"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Design</a:t>
            </a:r>
            <a:endParaRPr b="0" i="0" sz="485" u="none" cap="none" strike="noStrike">
              <a:solidFill>
                <a:schemeClr val="dk1"/>
              </a:solidFill>
              <a:latin typeface="Calibri"/>
              <a:ea typeface="Calibri"/>
              <a:cs typeface="Calibri"/>
              <a:sym typeface="Calibri"/>
            </a:endParaRPr>
          </a:p>
        </p:txBody>
      </p:sp>
      <p:sp>
        <p:nvSpPr>
          <p:cNvPr id="808" name="Google Shape;808;p18"/>
          <p:cNvSpPr/>
          <p:nvPr/>
        </p:nvSpPr>
        <p:spPr>
          <a:xfrm>
            <a:off x="3934141"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09" name="Google Shape;809;p18"/>
          <p:cNvPicPr preferRelativeResize="0"/>
          <p:nvPr/>
        </p:nvPicPr>
        <p:blipFill rotWithShape="1">
          <a:blip r:embed="rId7">
            <a:alphaModFix/>
          </a:blip>
          <a:srcRect b="0" l="0" r="0" t="0"/>
          <a:stretch/>
        </p:blipFill>
        <p:spPr>
          <a:xfrm>
            <a:off x="4003793" y="805458"/>
            <a:ext cx="75009" cy="85725"/>
          </a:xfrm>
          <a:prstGeom prst="rect">
            <a:avLst/>
          </a:prstGeom>
          <a:noFill/>
          <a:ln>
            <a:noFill/>
          </a:ln>
        </p:spPr>
      </p:pic>
      <p:sp>
        <p:nvSpPr>
          <p:cNvPr id="810" name="Google Shape;810;p18"/>
          <p:cNvSpPr/>
          <p:nvPr/>
        </p:nvSpPr>
        <p:spPr>
          <a:xfrm>
            <a:off x="3949210" y="1012627"/>
            <a:ext cx="184175"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Plan</a:t>
            </a:r>
            <a:endParaRPr b="0" i="0" sz="485" u="none" cap="none" strike="noStrike">
              <a:solidFill>
                <a:schemeClr val="dk1"/>
              </a:solidFill>
              <a:latin typeface="Calibri"/>
              <a:ea typeface="Calibri"/>
              <a:cs typeface="Calibri"/>
              <a:sym typeface="Calibri"/>
            </a:endParaRPr>
          </a:p>
        </p:txBody>
      </p:sp>
      <p:sp>
        <p:nvSpPr>
          <p:cNvPr id="811" name="Google Shape;811;p18"/>
          <p:cNvSpPr/>
          <p:nvPr/>
        </p:nvSpPr>
        <p:spPr>
          <a:xfrm>
            <a:off x="4995490"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12" name="Google Shape;812;p18"/>
          <p:cNvPicPr preferRelativeResize="0"/>
          <p:nvPr/>
        </p:nvPicPr>
        <p:blipFill rotWithShape="1">
          <a:blip r:embed="rId8">
            <a:alphaModFix/>
          </a:blip>
          <a:srcRect b="0" l="0" r="0" t="0"/>
          <a:stretch/>
        </p:blipFill>
        <p:spPr>
          <a:xfrm>
            <a:off x="5065142" y="805458"/>
            <a:ext cx="75009" cy="85725"/>
          </a:xfrm>
          <a:prstGeom prst="rect">
            <a:avLst/>
          </a:prstGeom>
          <a:noFill/>
          <a:ln>
            <a:noFill/>
          </a:ln>
        </p:spPr>
      </p:pic>
      <p:sp>
        <p:nvSpPr>
          <p:cNvPr id="813" name="Google Shape;813;p18"/>
          <p:cNvSpPr/>
          <p:nvPr/>
        </p:nvSpPr>
        <p:spPr>
          <a:xfrm>
            <a:off x="5034586" y="1012627"/>
            <a:ext cx="136094"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Dev</a:t>
            </a:r>
            <a:endParaRPr b="0" i="0" sz="485" u="none" cap="none" strike="noStrike">
              <a:solidFill>
                <a:schemeClr val="dk1"/>
              </a:solidFill>
              <a:latin typeface="Calibri"/>
              <a:ea typeface="Calibri"/>
              <a:cs typeface="Calibri"/>
              <a:sym typeface="Calibri"/>
            </a:endParaRPr>
          </a:p>
        </p:txBody>
      </p:sp>
      <p:sp>
        <p:nvSpPr>
          <p:cNvPr id="814" name="Google Shape;814;p18"/>
          <p:cNvSpPr/>
          <p:nvPr/>
        </p:nvSpPr>
        <p:spPr>
          <a:xfrm>
            <a:off x="6056840"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15" name="Google Shape;815;p18"/>
          <p:cNvPicPr preferRelativeResize="0"/>
          <p:nvPr/>
        </p:nvPicPr>
        <p:blipFill rotWithShape="1">
          <a:blip r:embed="rId9">
            <a:alphaModFix/>
          </a:blip>
          <a:srcRect b="0" l="0" r="0" t="0"/>
          <a:stretch/>
        </p:blipFill>
        <p:spPr>
          <a:xfrm>
            <a:off x="6126491" y="805458"/>
            <a:ext cx="75009" cy="85725"/>
          </a:xfrm>
          <a:prstGeom prst="rect">
            <a:avLst/>
          </a:prstGeom>
          <a:noFill/>
          <a:ln>
            <a:noFill/>
          </a:ln>
        </p:spPr>
      </p:pic>
      <p:sp>
        <p:nvSpPr>
          <p:cNvPr id="816" name="Google Shape;816;p18"/>
          <p:cNvSpPr/>
          <p:nvPr/>
        </p:nvSpPr>
        <p:spPr>
          <a:xfrm>
            <a:off x="6084215" y="1012627"/>
            <a:ext cx="159534"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Test</a:t>
            </a:r>
            <a:endParaRPr b="0" i="0" sz="485" u="none" cap="none" strike="noStrike">
              <a:solidFill>
                <a:schemeClr val="dk1"/>
              </a:solidFill>
              <a:latin typeface="Calibri"/>
              <a:ea typeface="Calibri"/>
              <a:cs typeface="Calibri"/>
              <a:sym typeface="Calibri"/>
            </a:endParaRPr>
          </a:p>
        </p:txBody>
      </p:sp>
      <p:sp>
        <p:nvSpPr>
          <p:cNvPr id="817" name="Google Shape;817;p18"/>
          <p:cNvSpPr/>
          <p:nvPr/>
        </p:nvSpPr>
        <p:spPr>
          <a:xfrm>
            <a:off x="7096758" y="719733"/>
            <a:ext cx="257175" cy="257175"/>
          </a:xfrm>
          <a:prstGeom prst="ellipse">
            <a:avLst/>
          </a:prstGeom>
          <a:solidFill>
            <a:srgbClr val="2979FF"/>
          </a:solidFill>
          <a:ln cap="flat" cmpd="sng" w="182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8"/>
          <p:cNvSpPr/>
          <p:nvPr/>
        </p:nvSpPr>
        <p:spPr>
          <a:xfrm>
            <a:off x="7096758" y="719733"/>
            <a:ext cx="257175" cy="257175"/>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FFFFFF"/>
              </a:buClr>
              <a:buSzPts val="584"/>
              <a:buFont typeface="Calibri"/>
              <a:buNone/>
            </a:pPr>
            <a:r>
              <a:rPr b="1" i="0" lang="en-US" sz="584" u="none" cap="none" strike="noStrike">
                <a:solidFill>
                  <a:srgbClr val="FFFFFF"/>
                </a:solidFill>
                <a:latin typeface="Calibri"/>
                <a:ea typeface="Calibri"/>
                <a:cs typeface="Calibri"/>
                <a:sym typeface="Calibri"/>
              </a:rPr>
              <a:t>7</a:t>
            </a:r>
            <a:endParaRPr b="0" i="0" sz="584" u="none" cap="none" strike="noStrike">
              <a:solidFill>
                <a:schemeClr val="dk1"/>
              </a:solidFill>
              <a:latin typeface="Calibri"/>
              <a:ea typeface="Calibri"/>
              <a:cs typeface="Calibri"/>
              <a:sym typeface="Calibri"/>
            </a:endParaRPr>
          </a:p>
        </p:txBody>
      </p:sp>
      <p:sp>
        <p:nvSpPr>
          <p:cNvPr id="819" name="Google Shape;819;p18"/>
          <p:cNvSpPr/>
          <p:nvPr/>
        </p:nvSpPr>
        <p:spPr>
          <a:xfrm>
            <a:off x="7090088" y="1012627"/>
            <a:ext cx="270486"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2979FF"/>
              </a:buClr>
              <a:buSzPts val="485"/>
              <a:buFont typeface="Calibri"/>
              <a:buNone/>
            </a:pPr>
            <a:r>
              <a:rPr b="1" i="0" lang="en-US" sz="485" u="none" cap="none" strike="noStrike">
                <a:solidFill>
                  <a:srgbClr val="2979FF"/>
                </a:solidFill>
                <a:latin typeface="Calibri"/>
                <a:ea typeface="Calibri"/>
                <a:cs typeface="Calibri"/>
                <a:sym typeface="Calibri"/>
              </a:rPr>
              <a:t>Review</a:t>
            </a:r>
            <a:endParaRPr b="0" i="0" sz="485" u="none" cap="none" strike="noStrike">
              <a:solidFill>
                <a:schemeClr val="dk1"/>
              </a:solidFill>
              <a:latin typeface="Calibri"/>
              <a:ea typeface="Calibri"/>
              <a:cs typeface="Calibri"/>
              <a:sym typeface="Calibri"/>
            </a:endParaRPr>
          </a:p>
        </p:txBody>
      </p:sp>
      <p:sp>
        <p:nvSpPr>
          <p:cNvPr id="820" name="Google Shape;820;p18"/>
          <p:cNvSpPr/>
          <p:nvPr/>
        </p:nvSpPr>
        <p:spPr>
          <a:xfrm>
            <a:off x="8179538" y="741164"/>
            <a:ext cx="214313" cy="214313"/>
          </a:xfrm>
          <a:prstGeom prst="ellipse">
            <a:avLst/>
          </a:prstGeom>
          <a:solidFill>
            <a:srgbClr val="1A2A3A"/>
          </a:solidFill>
          <a:ln cap="flat" cmpd="sng" w="1827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8"/>
          <p:cNvSpPr/>
          <p:nvPr/>
        </p:nvSpPr>
        <p:spPr>
          <a:xfrm>
            <a:off x="8179538" y="741164"/>
            <a:ext cx="214313" cy="214313"/>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A0AAB5"/>
              </a:buClr>
              <a:buSzPts val="584"/>
              <a:buFont typeface="Calibri"/>
              <a:buNone/>
            </a:pPr>
            <a:r>
              <a:rPr b="1" i="0" lang="en-US" sz="584" u="none" cap="none" strike="noStrike">
                <a:solidFill>
                  <a:srgbClr val="A0AAB5"/>
                </a:solidFill>
                <a:latin typeface="Calibri"/>
                <a:ea typeface="Calibri"/>
                <a:cs typeface="Calibri"/>
                <a:sym typeface="Calibri"/>
              </a:rPr>
              <a:t>8</a:t>
            </a:r>
            <a:endParaRPr b="0" i="0" sz="584" u="none" cap="none" strike="noStrike">
              <a:solidFill>
                <a:schemeClr val="dk1"/>
              </a:solidFill>
              <a:latin typeface="Calibri"/>
              <a:ea typeface="Calibri"/>
              <a:cs typeface="Calibri"/>
              <a:sym typeface="Calibri"/>
            </a:endParaRPr>
          </a:p>
        </p:txBody>
      </p:sp>
      <p:sp>
        <p:nvSpPr>
          <p:cNvPr id="822" name="Google Shape;822;p18"/>
          <p:cNvSpPr/>
          <p:nvPr/>
        </p:nvSpPr>
        <p:spPr>
          <a:xfrm>
            <a:off x="8151800" y="1012627"/>
            <a:ext cx="269760"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A0AAB5"/>
              </a:buClr>
              <a:buSzPts val="485"/>
              <a:buFont typeface="Calibri"/>
              <a:buNone/>
            </a:pPr>
            <a:r>
              <a:rPr b="1" i="0" lang="en-US" sz="485" u="none" cap="none" strike="noStrike">
                <a:solidFill>
                  <a:srgbClr val="A0AAB5"/>
                </a:solidFill>
                <a:latin typeface="Calibri"/>
                <a:ea typeface="Calibri"/>
                <a:cs typeface="Calibri"/>
                <a:sym typeface="Calibri"/>
              </a:rPr>
              <a:t>Deploy</a:t>
            </a:r>
            <a:endParaRPr b="0" i="0" sz="485" u="none" cap="none" strike="noStrike">
              <a:solidFill>
                <a:schemeClr val="dk1"/>
              </a:solidFill>
              <a:latin typeface="Calibri"/>
              <a:ea typeface="Calibri"/>
              <a:cs typeface="Calibri"/>
              <a:sym typeface="Calibri"/>
            </a:endParaRPr>
          </a:p>
        </p:txBody>
      </p:sp>
      <p:sp>
        <p:nvSpPr>
          <p:cNvPr id="823" name="Google Shape;823;p18"/>
          <p:cNvSpPr/>
          <p:nvPr/>
        </p:nvSpPr>
        <p:spPr>
          <a:xfrm>
            <a:off x="428625" y="1325166"/>
            <a:ext cx="8286750" cy="3532584"/>
          </a:xfrm>
          <a:prstGeom prst="rect">
            <a:avLst/>
          </a:prstGeom>
          <a:solidFill>
            <a:srgbClr val="1A2A3A"/>
          </a:solidFill>
          <a:ln cap="flat" cmpd="sng" w="9525">
            <a:solidFill>
              <a:srgbClr val="FFFFFF">
                <a:alpha val="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8"/>
          <p:cNvSpPr/>
          <p:nvPr/>
        </p:nvSpPr>
        <p:spPr>
          <a:xfrm>
            <a:off x="607219" y="1503759"/>
            <a:ext cx="2366367"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The Squad</a:t>
            </a:r>
            <a:endParaRPr b="0" i="0" sz="683" u="none" cap="none" strike="noStrike">
              <a:solidFill>
                <a:schemeClr val="dk1"/>
              </a:solidFill>
              <a:latin typeface="Calibri"/>
              <a:ea typeface="Calibri"/>
              <a:cs typeface="Calibri"/>
              <a:sym typeface="Calibri"/>
            </a:endParaRPr>
          </a:p>
        </p:txBody>
      </p:sp>
      <p:sp>
        <p:nvSpPr>
          <p:cNvPr id="825" name="Google Shape;825;p18"/>
          <p:cNvSpPr/>
          <p:nvPr/>
        </p:nvSpPr>
        <p:spPr>
          <a:xfrm>
            <a:off x="607219" y="1810941"/>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8"/>
          <p:cNvSpPr/>
          <p:nvPr/>
        </p:nvSpPr>
        <p:spPr>
          <a:xfrm>
            <a:off x="607219" y="1810941"/>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27" name="Google Shape;827;p18"/>
          <p:cNvPicPr preferRelativeResize="0"/>
          <p:nvPr/>
        </p:nvPicPr>
        <p:blipFill rotWithShape="1">
          <a:blip r:embed="rId10">
            <a:alphaModFix/>
          </a:blip>
          <a:srcRect b="0" l="0" r="0" t="0"/>
          <a:stretch/>
        </p:blipFill>
        <p:spPr>
          <a:xfrm>
            <a:off x="714375" y="1956495"/>
            <a:ext cx="128588" cy="128588"/>
          </a:xfrm>
          <a:prstGeom prst="rect">
            <a:avLst/>
          </a:prstGeom>
          <a:noFill/>
          <a:ln>
            <a:noFill/>
          </a:ln>
        </p:spPr>
      </p:pic>
      <p:sp>
        <p:nvSpPr>
          <p:cNvPr id="828" name="Google Shape;828;p18"/>
          <p:cNvSpPr/>
          <p:nvPr/>
        </p:nvSpPr>
        <p:spPr>
          <a:xfrm>
            <a:off x="950119" y="1896666"/>
            <a:ext cx="754754"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Security Auditor</a:t>
            </a:r>
            <a:endParaRPr b="0" i="0" sz="634" u="none" cap="none" strike="noStrike">
              <a:solidFill>
                <a:schemeClr val="dk1"/>
              </a:solidFill>
              <a:latin typeface="Calibri"/>
              <a:ea typeface="Calibri"/>
              <a:cs typeface="Calibri"/>
              <a:sym typeface="Calibri"/>
            </a:endParaRPr>
          </a:p>
        </p:txBody>
      </p:sp>
      <p:sp>
        <p:nvSpPr>
          <p:cNvPr id="829" name="Google Shape;829;p18"/>
          <p:cNvSpPr/>
          <p:nvPr/>
        </p:nvSpPr>
        <p:spPr>
          <a:xfrm>
            <a:off x="950119" y="2037755"/>
            <a:ext cx="754754"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OWASP Scan</a:t>
            </a:r>
            <a:endParaRPr b="0" i="0" sz="568" u="none" cap="none" strike="noStrike">
              <a:solidFill>
                <a:schemeClr val="dk1"/>
              </a:solidFill>
              <a:latin typeface="Calibri"/>
              <a:ea typeface="Calibri"/>
              <a:cs typeface="Calibri"/>
              <a:sym typeface="Calibri"/>
            </a:endParaRPr>
          </a:p>
        </p:txBody>
      </p:sp>
      <p:sp>
        <p:nvSpPr>
          <p:cNvPr id="830" name="Google Shape;830;p18"/>
          <p:cNvSpPr/>
          <p:nvPr/>
        </p:nvSpPr>
        <p:spPr>
          <a:xfrm>
            <a:off x="607219" y="2302073"/>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8"/>
          <p:cNvSpPr/>
          <p:nvPr/>
        </p:nvSpPr>
        <p:spPr>
          <a:xfrm>
            <a:off x="607219" y="2302073"/>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32" name="Google Shape;832;p18"/>
          <p:cNvPicPr preferRelativeResize="0"/>
          <p:nvPr/>
        </p:nvPicPr>
        <p:blipFill rotWithShape="1">
          <a:blip r:embed="rId11">
            <a:alphaModFix/>
          </a:blip>
          <a:srcRect b="0" l="0" r="0" t="0"/>
          <a:stretch/>
        </p:blipFill>
        <p:spPr>
          <a:xfrm>
            <a:off x="698302" y="2447627"/>
            <a:ext cx="160734" cy="128588"/>
          </a:xfrm>
          <a:prstGeom prst="rect">
            <a:avLst/>
          </a:prstGeom>
          <a:noFill/>
          <a:ln>
            <a:noFill/>
          </a:ln>
        </p:spPr>
      </p:pic>
      <p:sp>
        <p:nvSpPr>
          <p:cNvPr id="833" name="Google Shape;833;p18"/>
          <p:cNvSpPr/>
          <p:nvPr/>
        </p:nvSpPr>
        <p:spPr>
          <a:xfrm>
            <a:off x="950119" y="2387798"/>
            <a:ext cx="846227"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Compliance Agent</a:t>
            </a:r>
            <a:endParaRPr b="0" i="0" sz="634" u="none" cap="none" strike="noStrike">
              <a:solidFill>
                <a:schemeClr val="dk1"/>
              </a:solidFill>
              <a:latin typeface="Calibri"/>
              <a:ea typeface="Calibri"/>
              <a:cs typeface="Calibri"/>
              <a:sym typeface="Calibri"/>
            </a:endParaRPr>
          </a:p>
        </p:txBody>
      </p:sp>
      <p:sp>
        <p:nvSpPr>
          <p:cNvPr id="834" name="Google Shape;834;p18"/>
          <p:cNvSpPr/>
          <p:nvPr/>
        </p:nvSpPr>
        <p:spPr>
          <a:xfrm>
            <a:off x="950119" y="2528888"/>
            <a:ext cx="846227"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Traceability Check</a:t>
            </a:r>
            <a:endParaRPr b="0" i="0" sz="568" u="none" cap="none" strike="noStrike">
              <a:solidFill>
                <a:schemeClr val="dk1"/>
              </a:solidFill>
              <a:latin typeface="Calibri"/>
              <a:ea typeface="Calibri"/>
              <a:cs typeface="Calibri"/>
              <a:sym typeface="Calibri"/>
            </a:endParaRPr>
          </a:p>
        </p:txBody>
      </p:sp>
      <p:sp>
        <p:nvSpPr>
          <p:cNvPr id="835" name="Google Shape;835;p18"/>
          <p:cNvSpPr/>
          <p:nvPr/>
        </p:nvSpPr>
        <p:spPr>
          <a:xfrm>
            <a:off x="607219" y="2793206"/>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8"/>
          <p:cNvSpPr/>
          <p:nvPr/>
        </p:nvSpPr>
        <p:spPr>
          <a:xfrm>
            <a:off x="607219" y="2793206"/>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37" name="Google Shape;837;p18"/>
          <p:cNvPicPr preferRelativeResize="0"/>
          <p:nvPr/>
        </p:nvPicPr>
        <p:blipFill rotWithShape="1">
          <a:blip r:embed="rId12">
            <a:alphaModFix/>
          </a:blip>
          <a:srcRect b="0" l="0" r="0" t="0"/>
          <a:stretch/>
        </p:blipFill>
        <p:spPr>
          <a:xfrm>
            <a:off x="698302" y="2938760"/>
            <a:ext cx="160734" cy="128588"/>
          </a:xfrm>
          <a:prstGeom prst="rect">
            <a:avLst/>
          </a:prstGeom>
          <a:noFill/>
          <a:ln>
            <a:noFill/>
          </a:ln>
        </p:spPr>
      </p:pic>
      <p:sp>
        <p:nvSpPr>
          <p:cNvPr id="838" name="Google Shape;838;p18"/>
          <p:cNvSpPr/>
          <p:nvPr/>
        </p:nvSpPr>
        <p:spPr>
          <a:xfrm>
            <a:off x="950119" y="2878931"/>
            <a:ext cx="789580"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Human Reviewer</a:t>
            </a:r>
            <a:endParaRPr b="0" i="0" sz="634" u="none" cap="none" strike="noStrike">
              <a:solidFill>
                <a:schemeClr val="dk1"/>
              </a:solidFill>
              <a:latin typeface="Calibri"/>
              <a:ea typeface="Calibri"/>
              <a:cs typeface="Calibri"/>
              <a:sym typeface="Calibri"/>
            </a:endParaRPr>
          </a:p>
        </p:txBody>
      </p:sp>
      <p:sp>
        <p:nvSpPr>
          <p:cNvPr id="839" name="Google Shape;839;p18"/>
          <p:cNvSpPr/>
          <p:nvPr/>
        </p:nvSpPr>
        <p:spPr>
          <a:xfrm>
            <a:off x="950119" y="3020020"/>
            <a:ext cx="789580"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Final Sign-off</a:t>
            </a:r>
            <a:endParaRPr b="0" i="0" sz="568" u="none" cap="none" strike="noStrike">
              <a:solidFill>
                <a:schemeClr val="dk1"/>
              </a:solidFill>
              <a:latin typeface="Calibri"/>
              <a:ea typeface="Calibri"/>
              <a:cs typeface="Calibri"/>
              <a:sym typeface="Calibri"/>
            </a:endParaRPr>
          </a:p>
        </p:txBody>
      </p:sp>
      <p:sp>
        <p:nvSpPr>
          <p:cNvPr id="840" name="Google Shape;840;p18"/>
          <p:cNvSpPr/>
          <p:nvPr/>
        </p:nvSpPr>
        <p:spPr>
          <a:xfrm>
            <a:off x="3152180" y="1503759"/>
            <a:ext cx="2839641"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Orchestration Flow</a:t>
            </a:r>
            <a:endParaRPr b="0" i="0" sz="683" u="none" cap="none" strike="noStrike">
              <a:solidFill>
                <a:schemeClr val="dk1"/>
              </a:solidFill>
              <a:latin typeface="Calibri"/>
              <a:ea typeface="Calibri"/>
              <a:cs typeface="Calibri"/>
              <a:sym typeface="Calibri"/>
            </a:endParaRPr>
          </a:p>
        </p:txBody>
      </p:sp>
      <p:sp>
        <p:nvSpPr>
          <p:cNvPr id="841" name="Google Shape;841;p18"/>
          <p:cNvSpPr/>
          <p:nvPr/>
        </p:nvSpPr>
        <p:spPr>
          <a:xfrm>
            <a:off x="3152180" y="1810941"/>
            <a:ext cx="2839641"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8"/>
          <p:cNvSpPr/>
          <p:nvPr/>
        </p:nvSpPr>
        <p:spPr>
          <a:xfrm>
            <a:off x="3237905" y="1942207"/>
            <a:ext cx="157163" cy="157163"/>
          </a:xfrm>
          <a:prstGeom prst="ellipse">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8"/>
          <p:cNvSpPr/>
          <p:nvPr/>
        </p:nvSpPr>
        <p:spPr>
          <a:xfrm>
            <a:off x="3237905" y="1942207"/>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1</a:t>
            </a:r>
            <a:endParaRPr b="0" i="0" sz="534" u="none" cap="none" strike="noStrike">
              <a:solidFill>
                <a:schemeClr val="dk1"/>
              </a:solidFill>
              <a:latin typeface="Calibri"/>
              <a:ea typeface="Calibri"/>
              <a:cs typeface="Calibri"/>
              <a:sym typeface="Calibri"/>
            </a:endParaRPr>
          </a:p>
        </p:txBody>
      </p:sp>
      <p:sp>
        <p:nvSpPr>
          <p:cNvPr id="844" name="Google Shape;844;p18"/>
          <p:cNvSpPr/>
          <p:nvPr/>
        </p:nvSpPr>
        <p:spPr>
          <a:xfrm>
            <a:off x="3480792" y="1896666"/>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Security Scan</a:t>
            </a:r>
            <a:endParaRPr b="0" i="0" sz="634" u="none" cap="none" strike="noStrike">
              <a:solidFill>
                <a:schemeClr val="dk1"/>
              </a:solidFill>
              <a:latin typeface="Calibri"/>
              <a:ea typeface="Calibri"/>
              <a:cs typeface="Calibri"/>
              <a:sym typeface="Calibri"/>
            </a:endParaRPr>
          </a:p>
        </p:txBody>
      </p:sp>
      <p:sp>
        <p:nvSpPr>
          <p:cNvPr id="845" name="Google Shape;845;p18"/>
          <p:cNvSpPr/>
          <p:nvPr/>
        </p:nvSpPr>
        <p:spPr>
          <a:xfrm>
            <a:off x="3480792" y="2037755"/>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Automated vulnerability assessment (SAST/DAST).</a:t>
            </a:r>
            <a:endParaRPr b="0" i="0" sz="568" u="none" cap="none" strike="noStrike">
              <a:solidFill>
                <a:schemeClr val="dk1"/>
              </a:solidFill>
              <a:latin typeface="Calibri"/>
              <a:ea typeface="Calibri"/>
              <a:cs typeface="Calibri"/>
              <a:sym typeface="Calibri"/>
            </a:endParaRPr>
          </a:p>
        </p:txBody>
      </p:sp>
      <p:sp>
        <p:nvSpPr>
          <p:cNvPr id="846" name="Google Shape;846;p18"/>
          <p:cNvSpPr/>
          <p:nvPr/>
        </p:nvSpPr>
        <p:spPr>
          <a:xfrm>
            <a:off x="3152180" y="2287786"/>
            <a:ext cx="2839641"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8"/>
          <p:cNvSpPr/>
          <p:nvPr/>
        </p:nvSpPr>
        <p:spPr>
          <a:xfrm>
            <a:off x="3237905" y="2419052"/>
            <a:ext cx="157163" cy="157163"/>
          </a:xfrm>
          <a:prstGeom prst="ellipse">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8"/>
          <p:cNvSpPr/>
          <p:nvPr/>
        </p:nvSpPr>
        <p:spPr>
          <a:xfrm>
            <a:off x="3237905" y="2419052"/>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2</a:t>
            </a:r>
            <a:endParaRPr b="0" i="0" sz="534" u="none" cap="none" strike="noStrike">
              <a:solidFill>
                <a:schemeClr val="dk1"/>
              </a:solidFill>
              <a:latin typeface="Calibri"/>
              <a:ea typeface="Calibri"/>
              <a:cs typeface="Calibri"/>
              <a:sym typeface="Calibri"/>
            </a:endParaRPr>
          </a:p>
        </p:txBody>
      </p:sp>
      <p:sp>
        <p:nvSpPr>
          <p:cNvPr id="849" name="Google Shape;849;p18"/>
          <p:cNvSpPr/>
          <p:nvPr/>
        </p:nvSpPr>
        <p:spPr>
          <a:xfrm>
            <a:off x="3480792" y="2373511"/>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Compliance Audit</a:t>
            </a:r>
            <a:endParaRPr b="0" i="0" sz="634" u="none" cap="none" strike="noStrike">
              <a:solidFill>
                <a:schemeClr val="dk1"/>
              </a:solidFill>
              <a:latin typeface="Calibri"/>
              <a:ea typeface="Calibri"/>
              <a:cs typeface="Calibri"/>
              <a:sym typeface="Calibri"/>
            </a:endParaRPr>
          </a:p>
        </p:txBody>
      </p:sp>
      <p:sp>
        <p:nvSpPr>
          <p:cNvPr id="850" name="Google Shape;850;p18"/>
          <p:cNvSpPr/>
          <p:nvPr/>
        </p:nvSpPr>
        <p:spPr>
          <a:xfrm>
            <a:off x="3480792" y="2514600"/>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Verify code matches TRD requirements.</a:t>
            </a:r>
            <a:endParaRPr b="0" i="0" sz="568" u="none" cap="none" strike="noStrike">
              <a:solidFill>
                <a:schemeClr val="dk1"/>
              </a:solidFill>
              <a:latin typeface="Calibri"/>
              <a:ea typeface="Calibri"/>
              <a:cs typeface="Calibri"/>
              <a:sym typeface="Calibri"/>
            </a:endParaRPr>
          </a:p>
        </p:txBody>
      </p:sp>
      <p:sp>
        <p:nvSpPr>
          <p:cNvPr id="851" name="Google Shape;851;p18"/>
          <p:cNvSpPr/>
          <p:nvPr/>
        </p:nvSpPr>
        <p:spPr>
          <a:xfrm>
            <a:off x="3152180" y="2764631"/>
            <a:ext cx="2839641" cy="433983"/>
          </a:xfrm>
          <a:prstGeom prst="rect">
            <a:avLst/>
          </a:prstGeom>
          <a:solidFill>
            <a:srgbClr val="0D1B2E"/>
          </a:solidFill>
          <a:ln cap="flat" cmpd="sng" w="952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8"/>
          <p:cNvSpPr/>
          <p:nvPr/>
        </p:nvSpPr>
        <p:spPr>
          <a:xfrm>
            <a:off x="3237905" y="2895898"/>
            <a:ext cx="157163" cy="157163"/>
          </a:xfrm>
          <a:prstGeom prst="ellipse">
            <a:avLst/>
          </a:pr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8"/>
          <p:cNvSpPr/>
          <p:nvPr/>
        </p:nvSpPr>
        <p:spPr>
          <a:xfrm>
            <a:off x="3237905" y="2895898"/>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3</a:t>
            </a:r>
            <a:endParaRPr b="0" i="0" sz="534" u="none" cap="none" strike="noStrike">
              <a:solidFill>
                <a:schemeClr val="dk1"/>
              </a:solidFill>
              <a:latin typeface="Calibri"/>
              <a:ea typeface="Calibri"/>
              <a:cs typeface="Calibri"/>
              <a:sym typeface="Calibri"/>
            </a:endParaRPr>
          </a:p>
        </p:txBody>
      </p:sp>
      <p:sp>
        <p:nvSpPr>
          <p:cNvPr id="854" name="Google Shape;854;p18"/>
          <p:cNvSpPr/>
          <p:nvPr/>
        </p:nvSpPr>
        <p:spPr>
          <a:xfrm>
            <a:off x="3480792" y="2850356"/>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Final Approval</a:t>
            </a:r>
            <a:endParaRPr b="0" i="0" sz="634" u="none" cap="none" strike="noStrike">
              <a:solidFill>
                <a:schemeClr val="dk1"/>
              </a:solidFill>
              <a:latin typeface="Calibri"/>
              <a:ea typeface="Calibri"/>
              <a:cs typeface="Calibri"/>
              <a:sym typeface="Calibri"/>
            </a:endParaRPr>
          </a:p>
        </p:txBody>
      </p:sp>
      <p:sp>
        <p:nvSpPr>
          <p:cNvPr id="855" name="Google Shape;855;p18"/>
          <p:cNvSpPr/>
          <p:nvPr/>
        </p:nvSpPr>
        <p:spPr>
          <a:xfrm>
            <a:off x="3480792" y="2991445"/>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Human Tech Lead merges PR to Main.</a:t>
            </a:r>
            <a:endParaRPr b="0" i="0" sz="568" u="none" cap="none" strike="noStrike">
              <a:solidFill>
                <a:schemeClr val="dk1"/>
              </a:solidFill>
              <a:latin typeface="Calibri"/>
              <a:ea typeface="Calibri"/>
              <a:cs typeface="Calibri"/>
              <a:sym typeface="Calibri"/>
            </a:endParaRPr>
          </a:p>
        </p:txBody>
      </p:sp>
      <p:sp>
        <p:nvSpPr>
          <p:cNvPr id="856" name="Google Shape;856;p18"/>
          <p:cNvSpPr/>
          <p:nvPr/>
        </p:nvSpPr>
        <p:spPr>
          <a:xfrm>
            <a:off x="6170414" y="1503759"/>
            <a:ext cx="2366367"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Key Artifacts</a:t>
            </a:r>
            <a:endParaRPr b="0" i="0" sz="683" u="none" cap="none" strike="noStrike">
              <a:solidFill>
                <a:schemeClr val="dk1"/>
              </a:solidFill>
              <a:latin typeface="Calibri"/>
              <a:ea typeface="Calibri"/>
              <a:cs typeface="Calibri"/>
              <a:sym typeface="Calibri"/>
            </a:endParaRPr>
          </a:p>
        </p:txBody>
      </p:sp>
      <p:sp>
        <p:nvSpPr>
          <p:cNvPr id="857" name="Google Shape;857;p18"/>
          <p:cNvSpPr/>
          <p:nvPr/>
        </p:nvSpPr>
        <p:spPr>
          <a:xfrm>
            <a:off x="6170414" y="1810941"/>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58" name="Google Shape;858;p18"/>
          <p:cNvPicPr preferRelativeResize="0"/>
          <p:nvPr/>
        </p:nvPicPr>
        <p:blipFill rotWithShape="1">
          <a:blip r:embed="rId13">
            <a:alphaModFix/>
          </a:blip>
          <a:srcRect b="0" l="0" r="0" t="0"/>
          <a:stretch/>
        </p:blipFill>
        <p:spPr>
          <a:xfrm>
            <a:off x="6285607" y="1956495"/>
            <a:ext cx="112514" cy="128588"/>
          </a:xfrm>
          <a:prstGeom prst="rect">
            <a:avLst/>
          </a:prstGeom>
          <a:noFill/>
          <a:ln>
            <a:noFill/>
          </a:ln>
        </p:spPr>
      </p:pic>
      <p:sp>
        <p:nvSpPr>
          <p:cNvPr id="859" name="Google Shape;859;p18"/>
          <p:cNvSpPr/>
          <p:nvPr/>
        </p:nvSpPr>
        <p:spPr>
          <a:xfrm>
            <a:off x="6513314" y="1896666"/>
            <a:ext cx="935831"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Security Report</a:t>
            </a:r>
            <a:endParaRPr b="0" i="0" sz="634" u="none" cap="none" strike="noStrike">
              <a:solidFill>
                <a:schemeClr val="dk1"/>
              </a:solidFill>
              <a:latin typeface="Calibri"/>
              <a:ea typeface="Calibri"/>
              <a:cs typeface="Calibri"/>
              <a:sym typeface="Calibri"/>
            </a:endParaRPr>
          </a:p>
        </p:txBody>
      </p:sp>
      <p:sp>
        <p:nvSpPr>
          <p:cNvPr id="860" name="Google Shape;860;p18"/>
          <p:cNvSpPr/>
          <p:nvPr/>
        </p:nvSpPr>
        <p:spPr>
          <a:xfrm>
            <a:off x="6513314" y="2037755"/>
            <a:ext cx="935831"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Vulnerability assessment.</a:t>
            </a:r>
            <a:endParaRPr b="0" i="0" sz="568" u="none" cap="none" strike="noStrike">
              <a:solidFill>
                <a:schemeClr val="dk1"/>
              </a:solidFill>
              <a:latin typeface="Calibri"/>
              <a:ea typeface="Calibri"/>
              <a:cs typeface="Calibri"/>
              <a:sym typeface="Calibri"/>
            </a:endParaRPr>
          </a:p>
        </p:txBody>
      </p:sp>
      <p:sp>
        <p:nvSpPr>
          <p:cNvPr id="861" name="Google Shape;861;p18"/>
          <p:cNvSpPr/>
          <p:nvPr/>
        </p:nvSpPr>
        <p:spPr>
          <a:xfrm>
            <a:off x="6170414" y="2302073"/>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62" name="Google Shape;862;p18"/>
          <p:cNvPicPr preferRelativeResize="0"/>
          <p:nvPr/>
        </p:nvPicPr>
        <p:blipFill rotWithShape="1">
          <a:blip r:embed="rId14">
            <a:alphaModFix/>
          </a:blip>
          <a:srcRect b="0" l="0" r="0" t="0"/>
          <a:stretch/>
        </p:blipFill>
        <p:spPr>
          <a:xfrm>
            <a:off x="6285607" y="2447627"/>
            <a:ext cx="112514" cy="128588"/>
          </a:xfrm>
          <a:prstGeom prst="rect">
            <a:avLst/>
          </a:prstGeom>
          <a:noFill/>
          <a:ln>
            <a:noFill/>
          </a:ln>
        </p:spPr>
      </p:pic>
      <p:sp>
        <p:nvSpPr>
          <p:cNvPr id="863" name="Google Shape;863;p18"/>
          <p:cNvSpPr/>
          <p:nvPr/>
        </p:nvSpPr>
        <p:spPr>
          <a:xfrm>
            <a:off x="6513314" y="2387798"/>
            <a:ext cx="875305"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Compliance Matrix</a:t>
            </a:r>
            <a:endParaRPr b="0" i="0" sz="634" u="none" cap="none" strike="noStrike">
              <a:solidFill>
                <a:schemeClr val="dk1"/>
              </a:solidFill>
              <a:latin typeface="Calibri"/>
              <a:ea typeface="Calibri"/>
              <a:cs typeface="Calibri"/>
              <a:sym typeface="Calibri"/>
            </a:endParaRPr>
          </a:p>
        </p:txBody>
      </p:sp>
      <p:sp>
        <p:nvSpPr>
          <p:cNvPr id="864" name="Google Shape;864;p18"/>
          <p:cNvSpPr/>
          <p:nvPr/>
        </p:nvSpPr>
        <p:spPr>
          <a:xfrm>
            <a:off x="6513314" y="2528888"/>
            <a:ext cx="875305"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Req-to-Code mapping.</a:t>
            </a:r>
            <a:endParaRPr b="0" i="0" sz="568" u="none" cap="none" strike="noStrike">
              <a:solidFill>
                <a:schemeClr val="dk1"/>
              </a:solidFill>
              <a:latin typeface="Calibri"/>
              <a:ea typeface="Calibri"/>
              <a:cs typeface="Calibri"/>
              <a:sym typeface="Calibri"/>
            </a:endParaRPr>
          </a:p>
        </p:txBody>
      </p:sp>
      <p:sp>
        <p:nvSpPr>
          <p:cNvPr id="865" name="Google Shape;865;p18"/>
          <p:cNvSpPr/>
          <p:nvPr/>
        </p:nvSpPr>
        <p:spPr>
          <a:xfrm>
            <a:off x="6170414" y="2793206"/>
            <a:ext cx="2366367" cy="589359"/>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66" name="Google Shape;866;p18"/>
          <p:cNvPicPr preferRelativeResize="0"/>
          <p:nvPr/>
        </p:nvPicPr>
        <p:blipFill rotWithShape="1">
          <a:blip r:embed="rId15">
            <a:alphaModFix/>
          </a:blip>
          <a:srcRect b="0" l="0" r="0" t="0"/>
          <a:stretch/>
        </p:blipFill>
        <p:spPr>
          <a:xfrm>
            <a:off x="6277570" y="3023592"/>
            <a:ext cx="128588" cy="128588"/>
          </a:xfrm>
          <a:prstGeom prst="rect">
            <a:avLst/>
          </a:prstGeom>
          <a:noFill/>
          <a:ln>
            <a:noFill/>
          </a:ln>
        </p:spPr>
      </p:pic>
      <p:sp>
        <p:nvSpPr>
          <p:cNvPr id="867" name="Google Shape;867;p18"/>
          <p:cNvSpPr/>
          <p:nvPr/>
        </p:nvSpPr>
        <p:spPr>
          <a:xfrm>
            <a:off x="6513314" y="2878931"/>
            <a:ext cx="846339"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Merge Approval</a:t>
            </a:r>
            <a:endParaRPr b="0" i="0" sz="634" u="none" cap="none" strike="noStrike">
              <a:solidFill>
                <a:schemeClr val="dk1"/>
              </a:solidFill>
              <a:latin typeface="Calibri"/>
              <a:ea typeface="Calibri"/>
              <a:cs typeface="Calibri"/>
              <a:sym typeface="Calibri"/>
            </a:endParaRPr>
          </a:p>
        </p:txBody>
      </p:sp>
      <p:sp>
        <p:nvSpPr>
          <p:cNvPr id="868" name="Google Shape;868;p18"/>
          <p:cNvSpPr/>
          <p:nvPr/>
        </p:nvSpPr>
        <p:spPr>
          <a:xfrm>
            <a:off x="6513314" y="3020020"/>
            <a:ext cx="846339"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Green light for release.</a:t>
            </a:r>
            <a:endParaRPr b="0" i="0" sz="568" u="none" cap="none" strike="noStrike">
              <a:solidFill>
                <a:schemeClr val="dk1"/>
              </a:solidFill>
              <a:latin typeface="Calibri"/>
              <a:ea typeface="Calibri"/>
              <a:cs typeface="Calibri"/>
              <a:sym typeface="Calibri"/>
            </a:endParaRPr>
          </a:p>
        </p:txBody>
      </p:sp>
      <p:sp>
        <p:nvSpPr>
          <p:cNvPr id="869" name="Google Shape;869;p18"/>
          <p:cNvSpPr/>
          <p:nvPr/>
        </p:nvSpPr>
        <p:spPr>
          <a:xfrm>
            <a:off x="6513314" y="3155752"/>
            <a:ext cx="740606" cy="141089"/>
          </a:xfrm>
          <a:prstGeom prst="rect">
            <a:avLst/>
          </a:prstGeom>
          <a:solidFill>
            <a:srgbClr val="FF5252">
              <a:alpha val="14901"/>
            </a:srgbClr>
          </a:solidFill>
          <a:ln cap="flat" cmpd="sng" w="952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70" name="Google Shape;870;p18"/>
          <p:cNvPicPr preferRelativeResize="0"/>
          <p:nvPr/>
        </p:nvPicPr>
        <p:blipFill rotWithShape="1">
          <a:blip r:embed="rId16">
            <a:alphaModFix/>
          </a:blip>
          <a:srcRect b="0" l="0" r="0" t="0"/>
          <a:stretch/>
        </p:blipFill>
        <p:spPr>
          <a:xfrm>
            <a:off x="6556177" y="3186113"/>
            <a:ext cx="89297" cy="71438"/>
          </a:xfrm>
          <a:prstGeom prst="rect">
            <a:avLst/>
          </a:prstGeom>
          <a:noFill/>
          <a:ln>
            <a:noFill/>
          </a:ln>
        </p:spPr>
      </p:pic>
      <p:sp>
        <p:nvSpPr>
          <p:cNvPr id="871" name="Google Shape;871;p18"/>
          <p:cNvSpPr/>
          <p:nvPr/>
        </p:nvSpPr>
        <p:spPr>
          <a:xfrm>
            <a:off x="6645473" y="3171825"/>
            <a:ext cx="551297" cy="98227"/>
          </a:xfrm>
          <a:prstGeom prst="rect">
            <a:avLst/>
          </a:prstGeom>
          <a:noFill/>
          <a:ln>
            <a:noFill/>
          </a:ln>
        </p:spPr>
        <p:txBody>
          <a:bodyPr anchorCtr="0" anchor="t" bIns="0" lIns="0" spcFirstLastPara="1" rIns="0" wrap="square" tIns="0">
            <a:noAutofit/>
          </a:bodyPr>
          <a:lstStyle/>
          <a:p>
            <a:pPr indent="0" lvl="0" marL="0" marR="0" rtl="0" algn="l">
              <a:lnSpc>
                <a:spcPct val="144329"/>
              </a:lnSpc>
              <a:spcBef>
                <a:spcPts val="0"/>
              </a:spcBef>
              <a:spcAft>
                <a:spcPts val="0"/>
              </a:spcAft>
              <a:buClr>
                <a:srgbClr val="FF5252"/>
              </a:buClr>
              <a:buSzPts val="485"/>
              <a:buFont typeface="Calibri"/>
              <a:buNone/>
            </a:pPr>
            <a:r>
              <a:rPr b="1" i="0" lang="en-US" sz="485" u="none" cap="none" strike="noStrike">
                <a:solidFill>
                  <a:srgbClr val="FF5252"/>
                </a:solidFill>
                <a:latin typeface="Calibri"/>
                <a:ea typeface="Calibri"/>
                <a:cs typeface="Calibri"/>
                <a:sym typeface="Calibri"/>
              </a:rPr>
              <a:t>Human Review</a:t>
            </a:r>
            <a:endParaRPr b="0" i="0" sz="485"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pic>
        <p:nvPicPr>
          <p:cNvPr descr="preencoded.png" id="877" name="Google Shape;877;p1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878" name="Google Shape;878;p19"/>
          <p:cNvSpPr/>
          <p:nvPr/>
        </p:nvSpPr>
        <p:spPr>
          <a:xfrm>
            <a:off x="428625" y="285750"/>
            <a:ext cx="8286750" cy="312539"/>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FFFFFF"/>
              </a:buClr>
              <a:buSzPts val="1602"/>
              <a:buFont typeface="Calibri"/>
              <a:buNone/>
            </a:pPr>
            <a:r>
              <a:rPr b="1" i="0" lang="en-US" sz="1602" u="none" cap="none" strike="noStrike">
                <a:solidFill>
                  <a:srgbClr val="FFFFFF"/>
                </a:solidFill>
                <a:latin typeface="Calibri"/>
                <a:ea typeface="Calibri"/>
                <a:cs typeface="Calibri"/>
                <a:sym typeface="Calibri"/>
              </a:rPr>
              <a:t>Step 8: Deployment Phase (Launch)</a:t>
            </a:r>
            <a:endParaRPr b="0" i="0" sz="1602" u="none" cap="none" strike="noStrike">
              <a:solidFill>
                <a:schemeClr val="dk1"/>
              </a:solidFill>
              <a:latin typeface="Calibri"/>
              <a:ea typeface="Calibri"/>
              <a:cs typeface="Calibri"/>
              <a:sym typeface="Calibri"/>
            </a:endParaRPr>
          </a:p>
        </p:txBody>
      </p:sp>
      <p:sp>
        <p:nvSpPr>
          <p:cNvPr id="879" name="Google Shape;879;p19"/>
          <p:cNvSpPr/>
          <p:nvPr/>
        </p:nvSpPr>
        <p:spPr>
          <a:xfrm>
            <a:off x="750094"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80" name="Google Shape;880;p19"/>
          <p:cNvPicPr preferRelativeResize="0"/>
          <p:nvPr/>
        </p:nvPicPr>
        <p:blipFill rotWithShape="1">
          <a:blip r:embed="rId4">
            <a:alphaModFix/>
          </a:blip>
          <a:srcRect b="0" l="0" r="0" t="0"/>
          <a:stretch/>
        </p:blipFill>
        <p:spPr>
          <a:xfrm>
            <a:off x="819745" y="805458"/>
            <a:ext cx="75009" cy="85725"/>
          </a:xfrm>
          <a:prstGeom prst="rect">
            <a:avLst/>
          </a:prstGeom>
          <a:noFill/>
          <a:ln>
            <a:noFill/>
          </a:ln>
        </p:spPr>
      </p:pic>
      <p:sp>
        <p:nvSpPr>
          <p:cNvPr id="881" name="Google Shape;881;p19"/>
          <p:cNvSpPr/>
          <p:nvPr/>
        </p:nvSpPr>
        <p:spPr>
          <a:xfrm>
            <a:off x="649746" y="1012627"/>
            <a:ext cx="415007"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BRD Create</a:t>
            </a:r>
            <a:endParaRPr b="0" i="0" sz="485" u="none" cap="none" strike="noStrike">
              <a:solidFill>
                <a:schemeClr val="dk1"/>
              </a:solidFill>
              <a:latin typeface="Calibri"/>
              <a:ea typeface="Calibri"/>
              <a:cs typeface="Calibri"/>
              <a:sym typeface="Calibri"/>
            </a:endParaRPr>
          </a:p>
        </p:txBody>
      </p:sp>
      <p:sp>
        <p:nvSpPr>
          <p:cNvPr id="882" name="Google Shape;882;p19"/>
          <p:cNvSpPr/>
          <p:nvPr/>
        </p:nvSpPr>
        <p:spPr>
          <a:xfrm>
            <a:off x="1811443"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83" name="Google Shape;883;p19"/>
          <p:cNvPicPr preferRelativeResize="0"/>
          <p:nvPr/>
        </p:nvPicPr>
        <p:blipFill rotWithShape="1">
          <a:blip r:embed="rId5">
            <a:alphaModFix/>
          </a:blip>
          <a:srcRect b="0" l="0" r="0" t="0"/>
          <a:stretch/>
        </p:blipFill>
        <p:spPr>
          <a:xfrm>
            <a:off x="1881094" y="805458"/>
            <a:ext cx="75009" cy="85725"/>
          </a:xfrm>
          <a:prstGeom prst="rect">
            <a:avLst/>
          </a:prstGeom>
          <a:noFill/>
          <a:ln>
            <a:noFill/>
          </a:ln>
        </p:spPr>
      </p:pic>
      <p:sp>
        <p:nvSpPr>
          <p:cNvPr id="884" name="Google Shape;884;p19"/>
          <p:cNvSpPr/>
          <p:nvPr/>
        </p:nvSpPr>
        <p:spPr>
          <a:xfrm>
            <a:off x="1706463" y="1012627"/>
            <a:ext cx="424272"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BRD Review</a:t>
            </a:r>
            <a:endParaRPr b="0" i="0" sz="485" u="none" cap="none" strike="noStrike">
              <a:solidFill>
                <a:schemeClr val="dk1"/>
              </a:solidFill>
              <a:latin typeface="Calibri"/>
              <a:ea typeface="Calibri"/>
              <a:cs typeface="Calibri"/>
              <a:sym typeface="Calibri"/>
            </a:endParaRPr>
          </a:p>
        </p:txBody>
      </p:sp>
      <p:sp>
        <p:nvSpPr>
          <p:cNvPr id="885" name="Google Shape;885;p19"/>
          <p:cNvSpPr/>
          <p:nvPr/>
        </p:nvSpPr>
        <p:spPr>
          <a:xfrm>
            <a:off x="2872792"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86" name="Google Shape;886;p19"/>
          <p:cNvPicPr preferRelativeResize="0"/>
          <p:nvPr/>
        </p:nvPicPr>
        <p:blipFill rotWithShape="1">
          <a:blip r:embed="rId6">
            <a:alphaModFix/>
          </a:blip>
          <a:srcRect b="0" l="0" r="0" t="0"/>
          <a:stretch/>
        </p:blipFill>
        <p:spPr>
          <a:xfrm>
            <a:off x="2942444" y="805458"/>
            <a:ext cx="75009" cy="85725"/>
          </a:xfrm>
          <a:prstGeom prst="rect">
            <a:avLst/>
          </a:prstGeom>
          <a:noFill/>
          <a:ln>
            <a:noFill/>
          </a:ln>
        </p:spPr>
      </p:pic>
      <p:sp>
        <p:nvSpPr>
          <p:cNvPr id="887" name="Google Shape;887;p19"/>
          <p:cNvSpPr/>
          <p:nvPr/>
        </p:nvSpPr>
        <p:spPr>
          <a:xfrm>
            <a:off x="2847873" y="1012627"/>
            <a:ext cx="264123"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Design</a:t>
            </a:r>
            <a:endParaRPr b="0" i="0" sz="485" u="none" cap="none" strike="noStrike">
              <a:solidFill>
                <a:schemeClr val="dk1"/>
              </a:solidFill>
              <a:latin typeface="Calibri"/>
              <a:ea typeface="Calibri"/>
              <a:cs typeface="Calibri"/>
              <a:sym typeface="Calibri"/>
            </a:endParaRPr>
          </a:p>
        </p:txBody>
      </p:sp>
      <p:sp>
        <p:nvSpPr>
          <p:cNvPr id="888" name="Google Shape;888;p19"/>
          <p:cNvSpPr/>
          <p:nvPr/>
        </p:nvSpPr>
        <p:spPr>
          <a:xfrm>
            <a:off x="3934141"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89" name="Google Shape;889;p19"/>
          <p:cNvPicPr preferRelativeResize="0"/>
          <p:nvPr/>
        </p:nvPicPr>
        <p:blipFill rotWithShape="1">
          <a:blip r:embed="rId7">
            <a:alphaModFix/>
          </a:blip>
          <a:srcRect b="0" l="0" r="0" t="0"/>
          <a:stretch/>
        </p:blipFill>
        <p:spPr>
          <a:xfrm>
            <a:off x="4003793" y="805458"/>
            <a:ext cx="75009" cy="85725"/>
          </a:xfrm>
          <a:prstGeom prst="rect">
            <a:avLst/>
          </a:prstGeom>
          <a:noFill/>
          <a:ln>
            <a:noFill/>
          </a:ln>
        </p:spPr>
      </p:pic>
      <p:sp>
        <p:nvSpPr>
          <p:cNvPr id="890" name="Google Shape;890;p19"/>
          <p:cNvSpPr/>
          <p:nvPr/>
        </p:nvSpPr>
        <p:spPr>
          <a:xfrm>
            <a:off x="3949210" y="1012627"/>
            <a:ext cx="184175"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Plan</a:t>
            </a:r>
            <a:endParaRPr b="0" i="0" sz="485" u="none" cap="none" strike="noStrike">
              <a:solidFill>
                <a:schemeClr val="dk1"/>
              </a:solidFill>
              <a:latin typeface="Calibri"/>
              <a:ea typeface="Calibri"/>
              <a:cs typeface="Calibri"/>
              <a:sym typeface="Calibri"/>
            </a:endParaRPr>
          </a:p>
        </p:txBody>
      </p:sp>
      <p:sp>
        <p:nvSpPr>
          <p:cNvPr id="891" name="Google Shape;891;p19"/>
          <p:cNvSpPr/>
          <p:nvPr/>
        </p:nvSpPr>
        <p:spPr>
          <a:xfrm>
            <a:off x="4995490"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92" name="Google Shape;892;p19"/>
          <p:cNvPicPr preferRelativeResize="0"/>
          <p:nvPr/>
        </p:nvPicPr>
        <p:blipFill rotWithShape="1">
          <a:blip r:embed="rId8">
            <a:alphaModFix/>
          </a:blip>
          <a:srcRect b="0" l="0" r="0" t="0"/>
          <a:stretch/>
        </p:blipFill>
        <p:spPr>
          <a:xfrm>
            <a:off x="5065142" y="805458"/>
            <a:ext cx="75009" cy="85725"/>
          </a:xfrm>
          <a:prstGeom prst="rect">
            <a:avLst/>
          </a:prstGeom>
          <a:noFill/>
          <a:ln>
            <a:noFill/>
          </a:ln>
        </p:spPr>
      </p:pic>
      <p:sp>
        <p:nvSpPr>
          <p:cNvPr id="893" name="Google Shape;893;p19"/>
          <p:cNvSpPr/>
          <p:nvPr/>
        </p:nvSpPr>
        <p:spPr>
          <a:xfrm>
            <a:off x="5034586" y="1012627"/>
            <a:ext cx="136094"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Dev</a:t>
            </a:r>
            <a:endParaRPr b="0" i="0" sz="485" u="none" cap="none" strike="noStrike">
              <a:solidFill>
                <a:schemeClr val="dk1"/>
              </a:solidFill>
              <a:latin typeface="Calibri"/>
              <a:ea typeface="Calibri"/>
              <a:cs typeface="Calibri"/>
              <a:sym typeface="Calibri"/>
            </a:endParaRPr>
          </a:p>
        </p:txBody>
      </p:sp>
      <p:sp>
        <p:nvSpPr>
          <p:cNvPr id="894" name="Google Shape;894;p19"/>
          <p:cNvSpPr/>
          <p:nvPr/>
        </p:nvSpPr>
        <p:spPr>
          <a:xfrm>
            <a:off x="6056840"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95" name="Google Shape;895;p19"/>
          <p:cNvPicPr preferRelativeResize="0"/>
          <p:nvPr/>
        </p:nvPicPr>
        <p:blipFill rotWithShape="1">
          <a:blip r:embed="rId9">
            <a:alphaModFix/>
          </a:blip>
          <a:srcRect b="0" l="0" r="0" t="0"/>
          <a:stretch/>
        </p:blipFill>
        <p:spPr>
          <a:xfrm>
            <a:off x="6126491" y="805458"/>
            <a:ext cx="75009" cy="85725"/>
          </a:xfrm>
          <a:prstGeom prst="rect">
            <a:avLst/>
          </a:prstGeom>
          <a:noFill/>
          <a:ln>
            <a:noFill/>
          </a:ln>
        </p:spPr>
      </p:pic>
      <p:sp>
        <p:nvSpPr>
          <p:cNvPr id="896" name="Google Shape;896;p19"/>
          <p:cNvSpPr/>
          <p:nvPr/>
        </p:nvSpPr>
        <p:spPr>
          <a:xfrm>
            <a:off x="6084215" y="1012627"/>
            <a:ext cx="159534"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Test</a:t>
            </a:r>
            <a:endParaRPr b="0" i="0" sz="485" u="none" cap="none" strike="noStrike">
              <a:solidFill>
                <a:schemeClr val="dk1"/>
              </a:solidFill>
              <a:latin typeface="Calibri"/>
              <a:ea typeface="Calibri"/>
              <a:cs typeface="Calibri"/>
              <a:sym typeface="Calibri"/>
            </a:endParaRPr>
          </a:p>
        </p:txBody>
      </p:sp>
      <p:sp>
        <p:nvSpPr>
          <p:cNvPr id="897" name="Google Shape;897;p19"/>
          <p:cNvSpPr/>
          <p:nvPr/>
        </p:nvSpPr>
        <p:spPr>
          <a:xfrm>
            <a:off x="7118189" y="741164"/>
            <a:ext cx="214313" cy="214313"/>
          </a:xfrm>
          <a:prstGeom prst="ellipse">
            <a:avLst/>
          </a:prstGeom>
          <a:solidFill>
            <a:srgbClr val="00C853"/>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98" name="Google Shape;898;p19"/>
          <p:cNvPicPr preferRelativeResize="0"/>
          <p:nvPr/>
        </p:nvPicPr>
        <p:blipFill rotWithShape="1">
          <a:blip r:embed="rId5">
            <a:alphaModFix/>
          </a:blip>
          <a:srcRect b="0" l="0" r="0" t="0"/>
          <a:stretch/>
        </p:blipFill>
        <p:spPr>
          <a:xfrm>
            <a:off x="7187840" y="805458"/>
            <a:ext cx="75009" cy="85725"/>
          </a:xfrm>
          <a:prstGeom prst="rect">
            <a:avLst/>
          </a:prstGeom>
          <a:noFill/>
          <a:ln>
            <a:noFill/>
          </a:ln>
        </p:spPr>
      </p:pic>
      <p:sp>
        <p:nvSpPr>
          <p:cNvPr id="899" name="Google Shape;899;p19"/>
          <p:cNvSpPr/>
          <p:nvPr/>
        </p:nvSpPr>
        <p:spPr>
          <a:xfrm>
            <a:off x="7094720" y="1012627"/>
            <a:ext cx="261249"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00C853"/>
              </a:buClr>
              <a:buSzPts val="485"/>
              <a:buFont typeface="Calibri"/>
              <a:buNone/>
            </a:pPr>
            <a:r>
              <a:rPr b="1" i="0" lang="en-US" sz="485" u="none" cap="none" strike="noStrike">
                <a:solidFill>
                  <a:srgbClr val="00C853"/>
                </a:solidFill>
                <a:latin typeface="Calibri"/>
                <a:ea typeface="Calibri"/>
                <a:cs typeface="Calibri"/>
                <a:sym typeface="Calibri"/>
              </a:rPr>
              <a:t>Review</a:t>
            </a:r>
            <a:endParaRPr b="0" i="0" sz="485" u="none" cap="none" strike="noStrike">
              <a:solidFill>
                <a:schemeClr val="dk1"/>
              </a:solidFill>
              <a:latin typeface="Calibri"/>
              <a:ea typeface="Calibri"/>
              <a:cs typeface="Calibri"/>
              <a:sym typeface="Calibri"/>
            </a:endParaRPr>
          </a:p>
        </p:txBody>
      </p:sp>
      <p:sp>
        <p:nvSpPr>
          <p:cNvPr id="900" name="Google Shape;900;p19"/>
          <p:cNvSpPr/>
          <p:nvPr/>
        </p:nvSpPr>
        <p:spPr>
          <a:xfrm>
            <a:off x="8158107" y="719733"/>
            <a:ext cx="257175" cy="257175"/>
          </a:xfrm>
          <a:prstGeom prst="ellipse">
            <a:avLst/>
          </a:prstGeom>
          <a:solidFill>
            <a:srgbClr val="2979FF"/>
          </a:solidFill>
          <a:ln cap="flat" cmpd="sng" w="182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9"/>
          <p:cNvSpPr/>
          <p:nvPr/>
        </p:nvSpPr>
        <p:spPr>
          <a:xfrm>
            <a:off x="8158107" y="719733"/>
            <a:ext cx="257175" cy="257175"/>
          </a:xfrm>
          <a:prstGeom prst="rect">
            <a:avLst/>
          </a:prstGeom>
          <a:noFill/>
          <a:ln>
            <a:noFill/>
          </a:ln>
        </p:spPr>
        <p:txBody>
          <a:bodyPr anchorCtr="0" anchor="ctr" bIns="0" lIns="0" spcFirstLastPara="1" rIns="0" wrap="square" tIns="0">
            <a:noAutofit/>
          </a:bodyPr>
          <a:lstStyle/>
          <a:p>
            <a:pPr indent="0" lvl="0" marL="0" marR="0" rtl="0" algn="ctr">
              <a:lnSpc>
                <a:spcPct val="136986"/>
              </a:lnSpc>
              <a:spcBef>
                <a:spcPts val="0"/>
              </a:spcBef>
              <a:spcAft>
                <a:spcPts val="0"/>
              </a:spcAft>
              <a:buClr>
                <a:srgbClr val="FFFFFF"/>
              </a:buClr>
              <a:buSzPts val="584"/>
              <a:buFont typeface="Calibri"/>
              <a:buNone/>
            </a:pPr>
            <a:r>
              <a:rPr b="1" i="0" lang="en-US" sz="584" u="none" cap="none" strike="noStrike">
                <a:solidFill>
                  <a:srgbClr val="FFFFFF"/>
                </a:solidFill>
                <a:latin typeface="Calibri"/>
                <a:ea typeface="Calibri"/>
                <a:cs typeface="Calibri"/>
                <a:sym typeface="Calibri"/>
              </a:rPr>
              <a:t>8</a:t>
            </a:r>
            <a:endParaRPr b="0" i="0" sz="584" u="none" cap="none" strike="noStrike">
              <a:solidFill>
                <a:schemeClr val="dk1"/>
              </a:solidFill>
              <a:latin typeface="Calibri"/>
              <a:ea typeface="Calibri"/>
              <a:cs typeface="Calibri"/>
              <a:sym typeface="Calibri"/>
            </a:endParaRPr>
          </a:p>
        </p:txBody>
      </p:sp>
      <p:sp>
        <p:nvSpPr>
          <p:cNvPr id="902" name="Google Shape;902;p19"/>
          <p:cNvSpPr/>
          <p:nvPr/>
        </p:nvSpPr>
        <p:spPr>
          <a:xfrm>
            <a:off x="8147977" y="1012627"/>
            <a:ext cx="277406" cy="98227"/>
          </a:xfrm>
          <a:prstGeom prst="rect">
            <a:avLst/>
          </a:prstGeom>
          <a:noFill/>
          <a:ln>
            <a:noFill/>
          </a:ln>
        </p:spPr>
        <p:txBody>
          <a:bodyPr anchorCtr="0" anchor="t" bIns="0" lIns="0" spcFirstLastPara="1" rIns="0" wrap="square" tIns="0">
            <a:noAutofit/>
          </a:bodyPr>
          <a:lstStyle/>
          <a:p>
            <a:pPr indent="0" lvl="0" marL="0" marR="0" rtl="0" algn="ctr">
              <a:lnSpc>
                <a:spcPct val="144329"/>
              </a:lnSpc>
              <a:spcBef>
                <a:spcPts val="0"/>
              </a:spcBef>
              <a:spcAft>
                <a:spcPts val="0"/>
              </a:spcAft>
              <a:buClr>
                <a:srgbClr val="2979FF"/>
              </a:buClr>
              <a:buSzPts val="485"/>
              <a:buFont typeface="Calibri"/>
              <a:buNone/>
            </a:pPr>
            <a:r>
              <a:rPr b="1" i="0" lang="en-US" sz="485" u="none" cap="none" strike="noStrike">
                <a:solidFill>
                  <a:srgbClr val="2979FF"/>
                </a:solidFill>
                <a:latin typeface="Calibri"/>
                <a:ea typeface="Calibri"/>
                <a:cs typeface="Calibri"/>
                <a:sym typeface="Calibri"/>
              </a:rPr>
              <a:t>Deploy</a:t>
            </a:r>
            <a:endParaRPr b="0" i="0" sz="485" u="none" cap="none" strike="noStrike">
              <a:solidFill>
                <a:schemeClr val="dk1"/>
              </a:solidFill>
              <a:latin typeface="Calibri"/>
              <a:ea typeface="Calibri"/>
              <a:cs typeface="Calibri"/>
              <a:sym typeface="Calibri"/>
            </a:endParaRPr>
          </a:p>
        </p:txBody>
      </p:sp>
      <p:sp>
        <p:nvSpPr>
          <p:cNvPr id="903" name="Google Shape;903;p19"/>
          <p:cNvSpPr/>
          <p:nvPr/>
        </p:nvSpPr>
        <p:spPr>
          <a:xfrm>
            <a:off x="428625" y="1325166"/>
            <a:ext cx="8286750" cy="3532584"/>
          </a:xfrm>
          <a:prstGeom prst="rect">
            <a:avLst/>
          </a:prstGeom>
          <a:solidFill>
            <a:srgbClr val="1A2A3A"/>
          </a:solidFill>
          <a:ln cap="flat" cmpd="sng" w="9525">
            <a:solidFill>
              <a:srgbClr val="FFFFFF">
                <a:alpha val="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9"/>
          <p:cNvSpPr/>
          <p:nvPr/>
        </p:nvSpPr>
        <p:spPr>
          <a:xfrm>
            <a:off x="607219" y="1503759"/>
            <a:ext cx="2366367"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The Squad</a:t>
            </a:r>
            <a:endParaRPr b="0" i="0" sz="683" u="none" cap="none" strike="noStrike">
              <a:solidFill>
                <a:schemeClr val="dk1"/>
              </a:solidFill>
              <a:latin typeface="Calibri"/>
              <a:ea typeface="Calibri"/>
              <a:cs typeface="Calibri"/>
              <a:sym typeface="Calibri"/>
            </a:endParaRPr>
          </a:p>
        </p:txBody>
      </p:sp>
      <p:sp>
        <p:nvSpPr>
          <p:cNvPr id="905" name="Google Shape;905;p19"/>
          <p:cNvSpPr/>
          <p:nvPr/>
        </p:nvSpPr>
        <p:spPr>
          <a:xfrm>
            <a:off x="607219" y="1810941"/>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9"/>
          <p:cNvSpPr/>
          <p:nvPr/>
        </p:nvSpPr>
        <p:spPr>
          <a:xfrm>
            <a:off x="607219" y="1810941"/>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07" name="Google Shape;907;p19"/>
          <p:cNvPicPr preferRelativeResize="0"/>
          <p:nvPr/>
        </p:nvPicPr>
        <p:blipFill rotWithShape="1">
          <a:blip r:embed="rId10">
            <a:alphaModFix/>
          </a:blip>
          <a:srcRect b="0" l="0" r="0" t="0"/>
          <a:stretch/>
        </p:blipFill>
        <p:spPr>
          <a:xfrm>
            <a:off x="714375" y="1956495"/>
            <a:ext cx="128588" cy="128588"/>
          </a:xfrm>
          <a:prstGeom prst="rect">
            <a:avLst/>
          </a:prstGeom>
          <a:noFill/>
          <a:ln>
            <a:noFill/>
          </a:ln>
        </p:spPr>
      </p:pic>
      <p:sp>
        <p:nvSpPr>
          <p:cNvPr id="908" name="Google Shape;908;p19"/>
          <p:cNvSpPr/>
          <p:nvPr/>
        </p:nvSpPr>
        <p:spPr>
          <a:xfrm>
            <a:off x="950119" y="1896666"/>
            <a:ext cx="797282"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Release Manager</a:t>
            </a:r>
            <a:endParaRPr b="0" i="0" sz="634" u="none" cap="none" strike="noStrike">
              <a:solidFill>
                <a:schemeClr val="dk1"/>
              </a:solidFill>
              <a:latin typeface="Calibri"/>
              <a:ea typeface="Calibri"/>
              <a:cs typeface="Calibri"/>
              <a:sym typeface="Calibri"/>
            </a:endParaRPr>
          </a:p>
        </p:txBody>
      </p:sp>
      <p:sp>
        <p:nvSpPr>
          <p:cNvPr id="909" name="Google Shape;909;p19"/>
          <p:cNvSpPr/>
          <p:nvPr/>
        </p:nvSpPr>
        <p:spPr>
          <a:xfrm>
            <a:off x="950119" y="2037755"/>
            <a:ext cx="797282"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Go/No-Go Decision</a:t>
            </a:r>
            <a:endParaRPr b="0" i="0" sz="568" u="none" cap="none" strike="noStrike">
              <a:solidFill>
                <a:schemeClr val="dk1"/>
              </a:solidFill>
              <a:latin typeface="Calibri"/>
              <a:ea typeface="Calibri"/>
              <a:cs typeface="Calibri"/>
              <a:sym typeface="Calibri"/>
            </a:endParaRPr>
          </a:p>
        </p:txBody>
      </p:sp>
      <p:sp>
        <p:nvSpPr>
          <p:cNvPr id="910" name="Google Shape;910;p19"/>
          <p:cNvSpPr/>
          <p:nvPr/>
        </p:nvSpPr>
        <p:spPr>
          <a:xfrm>
            <a:off x="607219" y="2302073"/>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9"/>
          <p:cNvSpPr/>
          <p:nvPr/>
        </p:nvSpPr>
        <p:spPr>
          <a:xfrm>
            <a:off x="607219" y="2302073"/>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12" name="Google Shape;912;p19"/>
          <p:cNvPicPr preferRelativeResize="0"/>
          <p:nvPr/>
        </p:nvPicPr>
        <p:blipFill rotWithShape="1">
          <a:blip r:embed="rId11">
            <a:alphaModFix/>
          </a:blip>
          <a:srcRect b="0" l="0" r="0" t="0"/>
          <a:stretch/>
        </p:blipFill>
        <p:spPr>
          <a:xfrm>
            <a:off x="698302" y="2447627"/>
            <a:ext cx="160734" cy="128588"/>
          </a:xfrm>
          <a:prstGeom prst="rect">
            <a:avLst/>
          </a:prstGeom>
          <a:noFill/>
          <a:ln>
            <a:noFill/>
          </a:ln>
        </p:spPr>
      </p:pic>
      <p:sp>
        <p:nvSpPr>
          <p:cNvPr id="913" name="Google Shape;913;p19"/>
          <p:cNvSpPr/>
          <p:nvPr/>
        </p:nvSpPr>
        <p:spPr>
          <a:xfrm>
            <a:off x="950119" y="2387798"/>
            <a:ext cx="681391"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DevOps Agent</a:t>
            </a:r>
            <a:endParaRPr b="0" i="0" sz="634" u="none" cap="none" strike="noStrike">
              <a:solidFill>
                <a:schemeClr val="dk1"/>
              </a:solidFill>
              <a:latin typeface="Calibri"/>
              <a:ea typeface="Calibri"/>
              <a:cs typeface="Calibri"/>
              <a:sym typeface="Calibri"/>
            </a:endParaRPr>
          </a:p>
        </p:txBody>
      </p:sp>
      <p:sp>
        <p:nvSpPr>
          <p:cNvPr id="914" name="Google Shape;914;p19"/>
          <p:cNvSpPr/>
          <p:nvPr/>
        </p:nvSpPr>
        <p:spPr>
          <a:xfrm>
            <a:off x="950119" y="2528888"/>
            <a:ext cx="681391"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Terraform &amp; CI/CD</a:t>
            </a:r>
            <a:endParaRPr b="0" i="0" sz="568" u="none" cap="none" strike="noStrike">
              <a:solidFill>
                <a:schemeClr val="dk1"/>
              </a:solidFill>
              <a:latin typeface="Calibri"/>
              <a:ea typeface="Calibri"/>
              <a:cs typeface="Calibri"/>
              <a:sym typeface="Calibri"/>
            </a:endParaRPr>
          </a:p>
        </p:txBody>
      </p:sp>
      <p:sp>
        <p:nvSpPr>
          <p:cNvPr id="915" name="Google Shape;915;p19"/>
          <p:cNvSpPr/>
          <p:nvPr/>
        </p:nvSpPr>
        <p:spPr>
          <a:xfrm>
            <a:off x="607219" y="2793206"/>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9"/>
          <p:cNvSpPr/>
          <p:nvPr/>
        </p:nvSpPr>
        <p:spPr>
          <a:xfrm>
            <a:off x="607219" y="2793206"/>
            <a:ext cx="21431" cy="419695"/>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17" name="Google Shape;917;p19"/>
          <p:cNvPicPr preferRelativeResize="0"/>
          <p:nvPr/>
        </p:nvPicPr>
        <p:blipFill rotWithShape="1">
          <a:blip r:embed="rId12">
            <a:alphaModFix/>
          </a:blip>
          <a:srcRect b="0" l="0" r="0" t="0"/>
          <a:stretch/>
        </p:blipFill>
        <p:spPr>
          <a:xfrm>
            <a:off x="722412" y="2938760"/>
            <a:ext cx="112514" cy="128588"/>
          </a:xfrm>
          <a:prstGeom prst="rect">
            <a:avLst/>
          </a:prstGeom>
          <a:noFill/>
          <a:ln>
            <a:noFill/>
          </a:ln>
        </p:spPr>
      </p:pic>
      <p:sp>
        <p:nvSpPr>
          <p:cNvPr id="918" name="Google Shape;918;p19"/>
          <p:cNvSpPr/>
          <p:nvPr/>
        </p:nvSpPr>
        <p:spPr>
          <a:xfrm>
            <a:off x="950119" y="2878931"/>
            <a:ext cx="531791"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Tech Writer</a:t>
            </a:r>
            <a:endParaRPr b="0" i="0" sz="634" u="none" cap="none" strike="noStrike">
              <a:solidFill>
                <a:schemeClr val="dk1"/>
              </a:solidFill>
              <a:latin typeface="Calibri"/>
              <a:ea typeface="Calibri"/>
              <a:cs typeface="Calibri"/>
              <a:sym typeface="Calibri"/>
            </a:endParaRPr>
          </a:p>
        </p:txBody>
      </p:sp>
      <p:sp>
        <p:nvSpPr>
          <p:cNvPr id="919" name="Google Shape;919;p19"/>
          <p:cNvSpPr/>
          <p:nvPr/>
        </p:nvSpPr>
        <p:spPr>
          <a:xfrm>
            <a:off x="950119" y="3020020"/>
            <a:ext cx="531791"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User Manuals</a:t>
            </a:r>
            <a:endParaRPr b="0" i="0" sz="568" u="none" cap="none" strike="noStrike">
              <a:solidFill>
                <a:schemeClr val="dk1"/>
              </a:solidFill>
              <a:latin typeface="Calibri"/>
              <a:ea typeface="Calibri"/>
              <a:cs typeface="Calibri"/>
              <a:sym typeface="Calibri"/>
            </a:endParaRPr>
          </a:p>
        </p:txBody>
      </p:sp>
      <p:sp>
        <p:nvSpPr>
          <p:cNvPr id="920" name="Google Shape;920;p19"/>
          <p:cNvSpPr/>
          <p:nvPr/>
        </p:nvSpPr>
        <p:spPr>
          <a:xfrm>
            <a:off x="3152180" y="1503759"/>
            <a:ext cx="2839641"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Orchestration Flow</a:t>
            </a:r>
            <a:endParaRPr b="0" i="0" sz="683" u="none" cap="none" strike="noStrike">
              <a:solidFill>
                <a:schemeClr val="dk1"/>
              </a:solidFill>
              <a:latin typeface="Calibri"/>
              <a:ea typeface="Calibri"/>
              <a:cs typeface="Calibri"/>
              <a:sym typeface="Calibri"/>
            </a:endParaRPr>
          </a:p>
        </p:txBody>
      </p:sp>
      <p:sp>
        <p:nvSpPr>
          <p:cNvPr id="921" name="Google Shape;921;p19"/>
          <p:cNvSpPr/>
          <p:nvPr/>
        </p:nvSpPr>
        <p:spPr>
          <a:xfrm>
            <a:off x="3152180" y="1810941"/>
            <a:ext cx="2839641"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9"/>
          <p:cNvSpPr/>
          <p:nvPr/>
        </p:nvSpPr>
        <p:spPr>
          <a:xfrm>
            <a:off x="3237905" y="1942207"/>
            <a:ext cx="157163" cy="157163"/>
          </a:xfrm>
          <a:prstGeom prst="ellipse">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9"/>
          <p:cNvSpPr/>
          <p:nvPr/>
        </p:nvSpPr>
        <p:spPr>
          <a:xfrm>
            <a:off x="3237905" y="1942207"/>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1</a:t>
            </a:r>
            <a:endParaRPr b="0" i="0" sz="534" u="none" cap="none" strike="noStrike">
              <a:solidFill>
                <a:schemeClr val="dk1"/>
              </a:solidFill>
              <a:latin typeface="Calibri"/>
              <a:ea typeface="Calibri"/>
              <a:cs typeface="Calibri"/>
              <a:sym typeface="Calibri"/>
            </a:endParaRPr>
          </a:p>
        </p:txBody>
      </p:sp>
      <p:sp>
        <p:nvSpPr>
          <p:cNvPr id="924" name="Google Shape;924;p19"/>
          <p:cNvSpPr/>
          <p:nvPr/>
        </p:nvSpPr>
        <p:spPr>
          <a:xfrm>
            <a:off x="3480792" y="1896666"/>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Provisioning</a:t>
            </a:r>
            <a:endParaRPr b="0" i="0" sz="634" u="none" cap="none" strike="noStrike">
              <a:solidFill>
                <a:schemeClr val="dk1"/>
              </a:solidFill>
              <a:latin typeface="Calibri"/>
              <a:ea typeface="Calibri"/>
              <a:cs typeface="Calibri"/>
              <a:sym typeface="Calibri"/>
            </a:endParaRPr>
          </a:p>
        </p:txBody>
      </p:sp>
      <p:sp>
        <p:nvSpPr>
          <p:cNvPr id="925" name="Google Shape;925;p19"/>
          <p:cNvSpPr/>
          <p:nvPr/>
        </p:nvSpPr>
        <p:spPr>
          <a:xfrm>
            <a:off x="3480792" y="2037755"/>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DevOps spins up Prod environment (IaC).</a:t>
            </a:r>
            <a:endParaRPr b="0" i="0" sz="568" u="none" cap="none" strike="noStrike">
              <a:solidFill>
                <a:schemeClr val="dk1"/>
              </a:solidFill>
              <a:latin typeface="Calibri"/>
              <a:ea typeface="Calibri"/>
              <a:cs typeface="Calibri"/>
              <a:sym typeface="Calibri"/>
            </a:endParaRPr>
          </a:p>
        </p:txBody>
      </p:sp>
      <p:sp>
        <p:nvSpPr>
          <p:cNvPr id="926" name="Google Shape;926;p19"/>
          <p:cNvSpPr/>
          <p:nvPr/>
        </p:nvSpPr>
        <p:spPr>
          <a:xfrm>
            <a:off x="3152180" y="2287786"/>
            <a:ext cx="2839641"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9"/>
          <p:cNvSpPr/>
          <p:nvPr/>
        </p:nvSpPr>
        <p:spPr>
          <a:xfrm>
            <a:off x="3237905" y="2419052"/>
            <a:ext cx="157163" cy="157163"/>
          </a:xfrm>
          <a:prstGeom prst="ellipse">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19"/>
          <p:cNvSpPr/>
          <p:nvPr/>
        </p:nvSpPr>
        <p:spPr>
          <a:xfrm>
            <a:off x="3237905" y="2419052"/>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2</a:t>
            </a:r>
            <a:endParaRPr b="0" i="0" sz="534" u="none" cap="none" strike="noStrike">
              <a:solidFill>
                <a:schemeClr val="dk1"/>
              </a:solidFill>
              <a:latin typeface="Calibri"/>
              <a:ea typeface="Calibri"/>
              <a:cs typeface="Calibri"/>
              <a:sym typeface="Calibri"/>
            </a:endParaRPr>
          </a:p>
        </p:txBody>
      </p:sp>
      <p:sp>
        <p:nvSpPr>
          <p:cNvPr id="929" name="Google Shape;929;p19"/>
          <p:cNvSpPr/>
          <p:nvPr/>
        </p:nvSpPr>
        <p:spPr>
          <a:xfrm>
            <a:off x="3480792" y="2373511"/>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Deployment</a:t>
            </a:r>
            <a:endParaRPr b="0" i="0" sz="634" u="none" cap="none" strike="noStrike">
              <a:solidFill>
                <a:schemeClr val="dk1"/>
              </a:solidFill>
              <a:latin typeface="Calibri"/>
              <a:ea typeface="Calibri"/>
              <a:cs typeface="Calibri"/>
              <a:sym typeface="Calibri"/>
            </a:endParaRPr>
          </a:p>
        </p:txBody>
      </p:sp>
      <p:sp>
        <p:nvSpPr>
          <p:cNvPr id="930" name="Google Shape;930;p19"/>
          <p:cNvSpPr/>
          <p:nvPr/>
        </p:nvSpPr>
        <p:spPr>
          <a:xfrm>
            <a:off x="3480792" y="2514600"/>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Blue/Green deployment strategy.</a:t>
            </a:r>
            <a:endParaRPr b="0" i="0" sz="568" u="none" cap="none" strike="noStrike">
              <a:solidFill>
                <a:schemeClr val="dk1"/>
              </a:solidFill>
              <a:latin typeface="Calibri"/>
              <a:ea typeface="Calibri"/>
              <a:cs typeface="Calibri"/>
              <a:sym typeface="Calibri"/>
            </a:endParaRPr>
          </a:p>
        </p:txBody>
      </p:sp>
      <p:sp>
        <p:nvSpPr>
          <p:cNvPr id="931" name="Google Shape;931;p19"/>
          <p:cNvSpPr/>
          <p:nvPr/>
        </p:nvSpPr>
        <p:spPr>
          <a:xfrm>
            <a:off x="3152180" y="2764631"/>
            <a:ext cx="2839641"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19"/>
          <p:cNvSpPr/>
          <p:nvPr/>
        </p:nvSpPr>
        <p:spPr>
          <a:xfrm>
            <a:off x="3237905" y="2895898"/>
            <a:ext cx="157163" cy="157163"/>
          </a:xfrm>
          <a:prstGeom prst="ellipse">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9"/>
          <p:cNvSpPr/>
          <p:nvPr/>
        </p:nvSpPr>
        <p:spPr>
          <a:xfrm>
            <a:off x="3237905" y="2895898"/>
            <a:ext cx="157163" cy="157163"/>
          </a:xfrm>
          <a:prstGeom prst="rect">
            <a:avLst/>
          </a:prstGeom>
          <a:noFill/>
          <a:ln>
            <a:noFill/>
          </a:ln>
        </p:spPr>
        <p:txBody>
          <a:bodyPr anchorCtr="0" anchor="ctr" bIns="0" lIns="0" spcFirstLastPara="1" rIns="0" wrap="square" tIns="0">
            <a:noAutofit/>
          </a:bodyPr>
          <a:lstStyle/>
          <a:p>
            <a:pPr indent="0" lvl="0" marL="0" marR="0" rtl="0" algn="ctr">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3</a:t>
            </a:r>
            <a:endParaRPr b="0" i="0" sz="534" u="none" cap="none" strike="noStrike">
              <a:solidFill>
                <a:schemeClr val="dk1"/>
              </a:solidFill>
              <a:latin typeface="Calibri"/>
              <a:ea typeface="Calibri"/>
              <a:cs typeface="Calibri"/>
              <a:sym typeface="Calibri"/>
            </a:endParaRPr>
          </a:p>
        </p:txBody>
      </p:sp>
      <p:sp>
        <p:nvSpPr>
          <p:cNvPr id="934" name="Google Shape;934;p19"/>
          <p:cNvSpPr/>
          <p:nvPr/>
        </p:nvSpPr>
        <p:spPr>
          <a:xfrm>
            <a:off x="3480792" y="2850356"/>
            <a:ext cx="2425303"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Documentation</a:t>
            </a:r>
            <a:endParaRPr b="0" i="0" sz="634" u="none" cap="none" strike="noStrike">
              <a:solidFill>
                <a:schemeClr val="dk1"/>
              </a:solidFill>
              <a:latin typeface="Calibri"/>
              <a:ea typeface="Calibri"/>
              <a:cs typeface="Calibri"/>
              <a:sym typeface="Calibri"/>
            </a:endParaRPr>
          </a:p>
        </p:txBody>
      </p:sp>
      <p:sp>
        <p:nvSpPr>
          <p:cNvPr id="935" name="Google Shape;935;p19"/>
          <p:cNvSpPr/>
          <p:nvPr/>
        </p:nvSpPr>
        <p:spPr>
          <a:xfrm>
            <a:off x="3480792" y="2991445"/>
            <a:ext cx="2425303"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Generate Release Notes &amp; User Guides.</a:t>
            </a:r>
            <a:endParaRPr b="0" i="0" sz="568" u="none" cap="none" strike="noStrike">
              <a:solidFill>
                <a:schemeClr val="dk1"/>
              </a:solidFill>
              <a:latin typeface="Calibri"/>
              <a:ea typeface="Calibri"/>
              <a:cs typeface="Calibri"/>
              <a:sym typeface="Calibri"/>
            </a:endParaRPr>
          </a:p>
        </p:txBody>
      </p:sp>
      <p:sp>
        <p:nvSpPr>
          <p:cNvPr id="936" name="Google Shape;936;p19"/>
          <p:cNvSpPr/>
          <p:nvPr/>
        </p:nvSpPr>
        <p:spPr>
          <a:xfrm>
            <a:off x="6170414" y="1503759"/>
            <a:ext cx="2366367" cy="200025"/>
          </a:xfrm>
          <a:prstGeom prst="rect">
            <a:avLst/>
          </a:prstGeom>
          <a:noFill/>
          <a:ln>
            <a:noFill/>
          </a:ln>
        </p:spPr>
        <p:txBody>
          <a:bodyPr anchorCtr="0" anchor="t" bIns="68050" lIns="0" spcFirstLastPara="1" rIns="0" wrap="square" tIns="0">
            <a:noAutofit/>
          </a:bodyPr>
          <a:lstStyle/>
          <a:p>
            <a:pPr indent="0" lvl="0" marL="0" marR="0" rtl="0" algn="l">
              <a:lnSpc>
                <a:spcPct val="131771"/>
              </a:lnSpc>
              <a:spcBef>
                <a:spcPts val="0"/>
              </a:spcBef>
              <a:spcAft>
                <a:spcPts val="0"/>
              </a:spcAft>
              <a:buClr>
                <a:srgbClr val="2979FF"/>
              </a:buClr>
              <a:buSzPts val="683"/>
              <a:buFont typeface="Calibri"/>
              <a:buNone/>
            </a:pPr>
            <a:r>
              <a:rPr b="1" i="0" lang="en-US" sz="683" u="none" cap="none" strike="noStrike">
                <a:solidFill>
                  <a:srgbClr val="2979FF"/>
                </a:solidFill>
                <a:latin typeface="Calibri"/>
                <a:ea typeface="Calibri"/>
                <a:cs typeface="Calibri"/>
                <a:sym typeface="Calibri"/>
              </a:rPr>
              <a:t>Key Artifacts</a:t>
            </a:r>
            <a:endParaRPr b="0" i="0" sz="683" u="none" cap="none" strike="noStrike">
              <a:solidFill>
                <a:schemeClr val="dk1"/>
              </a:solidFill>
              <a:latin typeface="Calibri"/>
              <a:ea typeface="Calibri"/>
              <a:cs typeface="Calibri"/>
              <a:sym typeface="Calibri"/>
            </a:endParaRPr>
          </a:p>
        </p:txBody>
      </p:sp>
      <p:sp>
        <p:nvSpPr>
          <p:cNvPr id="937" name="Google Shape;937;p19"/>
          <p:cNvSpPr/>
          <p:nvPr/>
        </p:nvSpPr>
        <p:spPr>
          <a:xfrm>
            <a:off x="6170414" y="1810941"/>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38" name="Google Shape;938;p19"/>
          <p:cNvPicPr preferRelativeResize="0"/>
          <p:nvPr/>
        </p:nvPicPr>
        <p:blipFill rotWithShape="1">
          <a:blip r:embed="rId13">
            <a:alphaModFix/>
          </a:blip>
          <a:srcRect b="0" l="0" r="0" t="0"/>
          <a:stretch/>
        </p:blipFill>
        <p:spPr>
          <a:xfrm>
            <a:off x="6277570" y="1956495"/>
            <a:ext cx="128588" cy="128588"/>
          </a:xfrm>
          <a:prstGeom prst="rect">
            <a:avLst/>
          </a:prstGeom>
          <a:noFill/>
          <a:ln>
            <a:noFill/>
          </a:ln>
        </p:spPr>
      </p:pic>
      <p:sp>
        <p:nvSpPr>
          <p:cNvPr id="939" name="Google Shape;939;p19"/>
          <p:cNvSpPr/>
          <p:nvPr/>
        </p:nvSpPr>
        <p:spPr>
          <a:xfrm>
            <a:off x="6513314" y="1896666"/>
            <a:ext cx="769237"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Release Notes</a:t>
            </a:r>
            <a:endParaRPr b="0" i="0" sz="634" u="none" cap="none" strike="noStrike">
              <a:solidFill>
                <a:schemeClr val="dk1"/>
              </a:solidFill>
              <a:latin typeface="Calibri"/>
              <a:ea typeface="Calibri"/>
              <a:cs typeface="Calibri"/>
              <a:sym typeface="Calibri"/>
            </a:endParaRPr>
          </a:p>
        </p:txBody>
      </p:sp>
      <p:sp>
        <p:nvSpPr>
          <p:cNvPr id="940" name="Google Shape;940;p19"/>
          <p:cNvSpPr/>
          <p:nvPr/>
        </p:nvSpPr>
        <p:spPr>
          <a:xfrm>
            <a:off x="6513314" y="2037755"/>
            <a:ext cx="769237"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Changelog for users.</a:t>
            </a:r>
            <a:endParaRPr b="0" i="0" sz="568" u="none" cap="none" strike="noStrike">
              <a:solidFill>
                <a:schemeClr val="dk1"/>
              </a:solidFill>
              <a:latin typeface="Calibri"/>
              <a:ea typeface="Calibri"/>
              <a:cs typeface="Calibri"/>
              <a:sym typeface="Calibri"/>
            </a:endParaRPr>
          </a:p>
        </p:txBody>
      </p:sp>
      <p:sp>
        <p:nvSpPr>
          <p:cNvPr id="941" name="Google Shape;941;p19"/>
          <p:cNvSpPr/>
          <p:nvPr/>
        </p:nvSpPr>
        <p:spPr>
          <a:xfrm>
            <a:off x="6170414" y="2302073"/>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42" name="Google Shape;942;p19"/>
          <p:cNvPicPr preferRelativeResize="0"/>
          <p:nvPr/>
        </p:nvPicPr>
        <p:blipFill rotWithShape="1">
          <a:blip r:embed="rId14">
            <a:alphaModFix/>
          </a:blip>
          <a:srcRect b="0" l="0" r="0" t="0"/>
          <a:stretch/>
        </p:blipFill>
        <p:spPr>
          <a:xfrm>
            <a:off x="6277570" y="2447627"/>
            <a:ext cx="128588" cy="128588"/>
          </a:xfrm>
          <a:prstGeom prst="rect">
            <a:avLst/>
          </a:prstGeom>
          <a:noFill/>
          <a:ln>
            <a:noFill/>
          </a:ln>
        </p:spPr>
      </p:pic>
      <p:sp>
        <p:nvSpPr>
          <p:cNvPr id="943" name="Google Shape;943;p19"/>
          <p:cNvSpPr/>
          <p:nvPr/>
        </p:nvSpPr>
        <p:spPr>
          <a:xfrm>
            <a:off x="6513314" y="2387798"/>
            <a:ext cx="781097"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Live URL</a:t>
            </a:r>
            <a:endParaRPr b="0" i="0" sz="634" u="none" cap="none" strike="noStrike">
              <a:solidFill>
                <a:schemeClr val="dk1"/>
              </a:solidFill>
              <a:latin typeface="Calibri"/>
              <a:ea typeface="Calibri"/>
              <a:cs typeface="Calibri"/>
              <a:sym typeface="Calibri"/>
            </a:endParaRPr>
          </a:p>
        </p:txBody>
      </p:sp>
      <p:sp>
        <p:nvSpPr>
          <p:cNvPr id="944" name="Google Shape;944;p19"/>
          <p:cNvSpPr/>
          <p:nvPr/>
        </p:nvSpPr>
        <p:spPr>
          <a:xfrm>
            <a:off x="6513314" y="2528888"/>
            <a:ext cx="781097"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Production endpoint.</a:t>
            </a:r>
            <a:endParaRPr b="0" i="0" sz="568" u="none" cap="none" strike="noStrike">
              <a:solidFill>
                <a:schemeClr val="dk1"/>
              </a:solidFill>
              <a:latin typeface="Calibri"/>
              <a:ea typeface="Calibri"/>
              <a:cs typeface="Calibri"/>
              <a:sym typeface="Calibri"/>
            </a:endParaRPr>
          </a:p>
        </p:txBody>
      </p:sp>
      <p:sp>
        <p:nvSpPr>
          <p:cNvPr id="945" name="Google Shape;945;p19"/>
          <p:cNvSpPr/>
          <p:nvPr/>
        </p:nvSpPr>
        <p:spPr>
          <a:xfrm>
            <a:off x="6170414" y="2793206"/>
            <a:ext cx="2366367" cy="419695"/>
          </a:xfrm>
          <a:prstGeom prst="rect">
            <a:avLst/>
          </a:prstGeom>
          <a:solidFill>
            <a:srgbClr val="0D1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46" name="Google Shape;946;p19"/>
          <p:cNvPicPr preferRelativeResize="0"/>
          <p:nvPr/>
        </p:nvPicPr>
        <p:blipFill rotWithShape="1">
          <a:blip r:embed="rId15">
            <a:alphaModFix/>
          </a:blip>
          <a:srcRect b="0" l="0" r="0" t="0"/>
          <a:stretch/>
        </p:blipFill>
        <p:spPr>
          <a:xfrm>
            <a:off x="6269534" y="2938760"/>
            <a:ext cx="144661" cy="128588"/>
          </a:xfrm>
          <a:prstGeom prst="rect">
            <a:avLst/>
          </a:prstGeom>
          <a:noFill/>
          <a:ln>
            <a:noFill/>
          </a:ln>
        </p:spPr>
      </p:pic>
      <p:sp>
        <p:nvSpPr>
          <p:cNvPr id="947" name="Google Shape;947;p19"/>
          <p:cNvSpPr/>
          <p:nvPr/>
        </p:nvSpPr>
        <p:spPr>
          <a:xfrm>
            <a:off x="6513314" y="2878931"/>
            <a:ext cx="713845"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User Manual</a:t>
            </a:r>
            <a:endParaRPr b="0" i="0" sz="634" u="none" cap="none" strike="noStrike">
              <a:solidFill>
                <a:schemeClr val="dk1"/>
              </a:solidFill>
              <a:latin typeface="Calibri"/>
              <a:ea typeface="Calibri"/>
              <a:cs typeface="Calibri"/>
              <a:sym typeface="Calibri"/>
            </a:endParaRPr>
          </a:p>
        </p:txBody>
      </p:sp>
      <p:sp>
        <p:nvSpPr>
          <p:cNvPr id="948" name="Google Shape;948;p19"/>
          <p:cNvSpPr/>
          <p:nvPr/>
        </p:nvSpPr>
        <p:spPr>
          <a:xfrm>
            <a:off x="6513314" y="3020020"/>
            <a:ext cx="713845" cy="107156"/>
          </a:xfrm>
          <a:prstGeom prst="rect">
            <a:avLst/>
          </a:prstGeom>
          <a:noFill/>
          <a:ln>
            <a:noFill/>
          </a:ln>
        </p:spPr>
        <p:txBody>
          <a:bodyPr anchorCtr="0" anchor="t" bIns="0" lIns="0" spcFirstLastPara="1" rIns="0" wrap="square" tIns="0">
            <a:noAutofit/>
          </a:bodyPr>
          <a:lstStyle/>
          <a:p>
            <a:pPr indent="0" lvl="0" marL="0" marR="0" rtl="0" algn="l">
              <a:lnSpc>
                <a:spcPct val="123239"/>
              </a:lnSpc>
              <a:spcBef>
                <a:spcPts val="0"/>
              </a:spcBef>
              <a:spcAft>
                <a:spcPts val="0"/>
              </a:spcAft>
              <a:buClr>
                <a:srgbClr val="A0AAB5"/>
              </a:buClr>
              <a:buSzPts val="568"/>
              <a:buFont typeface="Calibri"/>
              <a:buNone/>
            </a:pPr>
            <a:r>
              <a:rPr b="0" i="0" lang="en-US" sz="568" u="none" cap="none" strike="noStrike">
                <a:solidFill>
                  <a:srgbClr val="A0AAB5"/>
                </a:solidFill>
                <a:latin typeface="Calibri"/>
                <a:ea typeface="Calibri"/>
                <a:cs typeface="Calibri"/>
                <a:sym typeface="Calibri"/>
              </a:rPr>
              <a:t>Updated help docs.</a:t>
            </a:r>
            <a:endParaRPr b="0" i="0" sz="568"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pic>
        <p:nvPicPr>
          <p:cNvPr descr="preencoded.png" id="954" name="Google Shape;954;p2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955" name="Google Shape;955;p20"/>
          <p:cNvSpPr/>
          <p:nvPr/>
        </p:nvSpPr>
        <p:spPr>
          <a:xfrm>
            <a:off x="571500" y="428625"/>
            <a:ext cx="7143750" cy="408980"/>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Calibri"/>
              <a:buNone/>
            </a:pPr>
            <a:r>
              <a:rPr b="1" i="0" lang="en-US" sz="2121" u="none" cap="none" strike="noStrike">
                <a:solidFill>
                  <a:srgbClr val="FFFFFF"/>
                </a:solidFill>
                <a:latin typeface="Calibri"/>
                <a:ea typeface="Calibri"/>
                <a:cs typeface="Calibri"/>
                <a:sym typeface="Calibri"/>
              </a:rPr>
              <a:t>Bidirectional Sync: Keeping Docs Alive</a:t>
            </a:r>
            <a:endParaRPr b="0" i="0" sz="2121" u="none" cap="none" strike="noStrike">
              <a:solidFill>
                <a:schemeClr val="dk1"/>
              </a:solidFill>
              <a:latin typeface="Calibri"/>
              <a:ea typeface="Calibri"/>
              <a:cs typeface="Calibri"/>
              <a:sym typeface="Calibri"/>
            </a:endParaRPr>
          </a:p>
        </p:txBody>
      </p:sp>
      <p:sp>
        <p:nvSpPr>
          <p:cNvPr id="956" name="Google Shape;956;p20"/>
          <p:cNvSpPr/>
          <p:nvPr/>
        </p:nvSpPr>
        <p:spPr>
          <a:xfrm>
            <a:off x="4036219" y="2433340"/>
            <a:ext cx="1071563" cy="1071563"/>
          </a:xfrm>
          <a:prstGeom prst="ellipse">
            <a:avLst/>
          </a:prstGeom>
          <a:solidFill>
            <a:srgbClr val="0D1B2E"/>
          </a:solidFill>
          <a:ln cap="flat" cmpd="sng" w="2742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57" name="Google Shape;957;p20"/>
          <p:cNvPicPr preferRelativeResize="0"/>
          <p:nvPr/>
        </p:nvPicPr>
        <p:blipFill rotWithShape="1">
          <a:blip r:embed="rId4">
            <a:alphaModFix/>
          </a:blip>
          <a:srcRect b="0" l="0" r="0" t="0"/>
          <a:stretch/>
        </p:blipFill>
        <p:spPr>
          <a:xfrm>
            <a:off x="4400550" y="2797671"/>
            <a:ext cx="342900" cy="342900"/>
          </a:xfrm>
          <a:prstGeom prst="rect">
            <a:avLst/>
          </a:prstGeom>
          <a:noFill/>
          <a:ln>
            <a:noFill/>
          </a:ln>
        </p:spPr>
      </p:pic>
      <p:sp>
        <p:nvSpPr>
          <p:cNvPr id="958" name="Google Shape;958;p20"/>
          <p:cNvSpPr/>
          <p:nvPr/>
        </p:nvSpPr>
        <p:spPr>
          <a:xfrm>
            <a:off x="3857625" y="1366242"/>
            <a:ext cx="1428750" cy="857250"/>
          </a:xfrm>
          <a:prstGeom prst="rect">
            <a:avLst/>
          </a:prstGeom>
          <a:solidFill>
            <a:srgbClr val="1A2A3A"/>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59" name="Google Shape;959;p20"/>
          <p:cNvPicPr preferRelativeResize="0"/>
          <p:nvPr/>
        </p:nvPicPr>
        <p:blipFill rotWithShape="1">
          <a:blip r:embed="rId5">
            <a:alphaModFix/>
          </a:blip>
          <a:srcRect b="0" l="0" r="0" t="0"/>
          <a:stretch/>
        </p:blipFill>
        <p:spPr>
          <a:xfrm>
            <a:off x="4486275" y="1560016"/>
            <a:ext cx="171450" cy="228600"/>
          </a:xfrm>
          <a:prstGeom prst="rect">
            <a:avLst/>
          </a:prstGeom>
          <a:noFill/>
          <a:ln>
            <a:noFill/>
          </a:ln>
        </p:spPr>
      </p:pic>
      <p:sp>
        <p:nvSpPr>
          <p:cNvPr id="960" name="Google Shape;960;p20"/>
          <p:cNvSpPr/>
          <p:nvPr/>
        </p:nvSpPr>
        <p:spPr>
          <a:xfrm>
            <a:off x="4069649" y="1899345"/>
            <a:ext cx="1004674" cy="175022"/>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Documentation</a:t>
            </a:r>
            <a:endParaRPr b="0" i="0" sz="885" u="none" cap="none" strike="noStrike">
              <a:solidFill>
                <a:schemeClr val="dk1"/>
              </a:solidFill>
              <a:latin typeface="Calibri"/>
              <a:ea typeface="Calibri"/>
              <a:cs typeface="Calibri"/>
              <a:sym typeface="Calibri"/>
            </a:endParaRPr>
          </a:p>
        </p:txBody>
      </p:sp>
      <p:sp>
        <p:nvSpPr>
          <p:cNvPr id="961" name="Google Shape;961;p20"/>
          <p:cNvSpPr/>
          <p:nvPr/>
        </p:nvSpPr>
        <p:spPr>
          <a:xfrm>
            <a:off x="6429375" y="2652117"/>
            <a:ext cx="1428750" cy="857250"/>
          </a:xfrm>
          <a:prstGeom prst="rect">
            <a:avLst/>
          </a:prstGeom>
          <a:solidFill>
            <a:srgbClr val="1A2A3A"/>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62" name="Google Shape;962;p20"/>
          <p:cNvPicPr preferRelativeResize="0"/>
          <p:nvPr/>
        </p:nvPicPr>
        <p:blipFill rotWithShape="1">
          <a:blip r:embed="rId6">
            <a:alphaModFix/>
          </a:blip>
          <a:srcRect b="0" l="0" r="0" t="0"/>
          <a:stretch/>
        </p:blipFill>
        <p:spPr>
          <a:xfrm>
            <a:off x="7000875" y="2845891"/>
            <a:ext cx="285750" cy="228600"/>
          </a:xfrm>
          <a:prstGeom prst="rect">
            <a:avLst/>
          </a:prstGeom>
          <a:noFill/>
          <a:ln>
            <a:noFill/>
          </a:ln>
        </p:spPr>
      </p:pic>
      <p:sp>
        <p:nvSpPr>
          <p:cNvPr id="963" name="Google Shape;963;p20"/>
          <p:cNvSpPr/>
          <p:nvPr/>
        </p:nvSpPr>
        <p:spPr>
          <a:xfrm>
            <a:off x="6751151" y="3185220"/>
            <a:ext cx="785171" cy="175022"/>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Source Code</a:t>
            </a:r>
            <a:endParaRPr b="0" i="0" sz="885" u="none" cap="none" strike="noStrike">
              <a:solidFill>
                <a:schemeClr val="dk1"/>
              </a:solidFill>
              <a:latin typeface="Calibri"/>
              <a:ea typeface="Calibri"/>
              <a:cs typeface="Calibri"/>
              <a:sym typeface="Calibri"/>
            </a:endParaRPr>
          </a:p>
        </p:txBody>
      </p:sp>
      <p:sp>
        <p:nvSpPr>
          <p:cNvPr id="964" name="Google Shape;964;p20"/>
          <p:cNvSpPr/>
          <p:nvPr/>
        </p:nvSpPr>
        <p:spPr>
          <a:xfrm>
            <a:off x="1285875" y="2652117"/>
            <a:ext cx="1428750" cy="857250"/>
          </a:xfrm>
          <a:prstGeom prst="rect">
            <a:avLst/>
          </a:prstGeom>
          <a:solidFill>
            <a:srgbClr val="1A2A3A"/>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65" name="Google Shape;965;p20"/>
          <p:cNvPicPr preferRelativeResize="0"/>
          <p:nvPr/>
        </p:nvPicPr>
        <p:blipFill rotWithShape="1">
          <a:blip r:embed="rId7">
            <a:alphaModFix/>
          </a:blip>
          <a:srcRect b="0" l="0" r="0" t="0"/>
          <a:stretch/>
        </p:blipFill>
        <p:spPr>
          <a:xfrm>
            <a:off x="1885950" y="2845891"/>
            <a:ext cx="228600" cy="228600"/>
          </a:xfrm>
          <a:prstGeom prst="rect">
            <a:avLst/>
          </a:prstGeom>
          <a:noFill/>
          <a:ln>
            <a:noFill/>
          </a:ln>
        </p:spPr>
      </p:pic>
      <p:sp>
        <p:nvSpPr>
          <p:cNvPr id="966" name="Google Shape;966;p20"/>
          <p:cNvSpPr/>
          <p:nvPr/>
        </p:nvSpPr>
        <p:spPr>
          <a:xfrm>
            <a:off x="1689748" y="3185220"/>
            <a:ext cx="620976" cy="175022"/>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Test Suite</a:t>
            </a:r>
            <a:endParaRPr b="0" i="0" sz="885" u="none" cap="none" strike="noStrike">
              <a:solidFill>
                <a:schemeClr val="dk1"/>
              </a:solidFill>
              <a:latin typeface="Calibri"/>
              <a:ea typeface="Calibri"/>
              <a:cs typeface="Calibri"/>
              <a:sym typeface="Calibri"/>
            </a:endParaRPr>
          </a:p>
        </p:txBody>
      </p:sp>
      <p:sp>
        <p:nvSpPr>
          <p:cNvPr id="967" name="Google Shape;967;p20"/>
          <p:cNvSpPr/>
          <p:nvPr/>
        </p:nvSpPr>
        <p:spPr>
          <a:xfrm>
            <a:off x="2756120" y="4279106"/>
            <a:ext cx="3631760" cy="578644"/>
          </a:xfrm>
          <a:prstGeom prst="rect">
            <a:avLst/>
          </a:prstGeom>
          <a:solidFill>
            <a:srgbClr val="00C853">
              <a:alpha val="10196"/>
            </a:srgbClr>
          </a:solidFill>
          <a:ln cap="flat" cmpd="sng" w="952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0"/>
          <p:cNvSpPr/>
          <p:nvPr/>
        </p:nvSpPr>
        <p:spPr>
          <a:xfrm>
            <a:off x="2756120" y="4279106"/>
            <a:ext cx="3631760" cy="578644"/>
          </a:xfrm>
          <a:prstGeom prst="rect">
            <a:avLst/>
          </a:prstGeom>
          <a:noFill/>
          <a:ln>
            <a:noFill/>
          </a:ln>
        </p:spPr>
        <p:txBody>
          <a:bodyPr anchorCtr="0" anchor="t" bIns="127500" lIns="255125" spcFirstLastPara="1" rIns="255125" wrap="square" tIns="127500">
            <a:noAutofit/>
          </a:bodyPr>
          <a:lstStyle/>
          <a:p>
            <a:pPr indent="0" lvl="0" marL="0" marR="0" rtl="0" algn="ctr">
              <a:lnSpc>
                <a:spcPct val="127388"/>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"If the Code changes, the Docs update automatically.</a:t>
            </a:r>
            <a:br>
              <a:rPr b="0" i="0" lang="en-US" sz="942" u="none" cap="none" strike="noStrike">
                <a:solidFill>
                  <a:srgbClr val="FFFFFF"/>
                </a:solidFill>
                <a:latin typeface="Calibri"/>
                <a:ea typeface="Calibri"/>
                <a:cs typeface="Calibri"/>
                <a:sym typeface="Calibri"/>
              </a:rPr>
            </a:br>
            <a:r>
              <a:rPr b="0" i="0" lang="en-US" sz="942" u="none" cap="none" strike="noStrike">
                <a:solidFill>
                  <a:srgbClr val="FFFFFF"/>
                </a:solidFill>
                <a:latin typeface="Calibri"/>
                <a:ea typeface="Calibri"/>
                <a:cs typeface="Calibri"/>
                <a:sym typeface="Calibri"/>
              </a:rPr>
              <a:t> If the Docs change, the Tests update automatically."</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pic>
        <p:nvPicPr>
          <p:cNvPr descr="preencoded.png" id="974" name="Google Shape;974;p2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975" name="Google Shape;975;p21"/>
          <p:cNvSpPr/>
          <p:nvPr/>
        </p:nvSpPr>
        <p:spPr>
          <a:xfrm>
            <a:off x="571500" y="428625"/>
            <a:ext cx="7143750" cy="408980"/>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Calibri"/>
              <a:buNone/>
            </a:pPr>
            <a:r>
              <a:rPr b="1" i="0" lang="en-US" sz="2121" u="none" cap="none" strike="noStrike">
                <a:solidFill>
                  <a:srgbClr val="FFFFFF"/>
                </a:solidFill>
                <a:latin typeface="Calibri"/>
                <a:ea typeface="Calibri"/>
                <a:cs typeface="Calibri"/>
                <a:sym typeface="Calibri"/>
              </a:rPr>
              <a:t>The Workforce: 39+ Specialized Agents</a:t>
            </a:r>
            <a:endParaRPr b="0" i="0" sz="2121" u="none" cap="none" strike="noStrike">
              <a:solidFill>
                <a:schemeClr val="dk1"/>
              </a:solidFill>
              <a:latin typeface="Calibri"/>
              <a:ea typeface="Calibri"/>
              <a:cs typeface="Calibri"/>
              <a:sym typeface="Calibri"/>
            </a:endParaRPr>
          </a:p>
        </p:txBody>
      </p:sp>
      <p:sp>
        <p:nvSpPr>
          <p:cNvPr id="976" name="Google Shape;976;p21"/>
          <p:cNvSpPr/>
          <p:nvPr/>
        </p:nvSpPr>
        <p:spPr>
          <a:xfrm>
            <a:off x="571500" y="1223367"/>
            <a:ext cx="1893094" cy="3102173"/>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1"/>
          <p:cNvSpPr/>
          <p:nvPr/>
        </p:nvSpPr>
        <p:spPr>
          <a:xfrm>
            <a:off x="571500" y="1223367"/>
            <a:ext cx="1893094" cy="28575"/>
          </a:xfrm>
          <a:prstGeom prst="rect">
            <a:avLst/>
          </a:prstGeom>
          <a:solidFill>
            <a:srgbClr val="00C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78" name="Google Shape;978;p21"/>
          <p:cNvPicPr preferRelativeResize="0"/>
          <p:nvPr/>
        </p:nvPicPr>
        <p:blipFill rotWithShape="1">
          <a:blip r:embed="rId4">
            <a:alphaModFix/>
          </a:blip>
          <a:srcRect b="0" l="0" r="0" t="0"/>
          <a:stretch/>
        </p:blipFill>
        <p:spPr>
          <a:xfrm>
            <a:off x="714375" y="1392138"/>
            <a:ext cx="107156" cy="142875"/>
          </a:xfrm>
          <a:prstGeom prst="rect">
            <a:avLst/>
          </a:prstGeom>
          <a:noFill/>
          <a:ln>
            <a:noFill/>
          </a:ln>
        </p:spPr>
      </p:pic>
      <p:sp>
        <p:nvSpPr>
          <p:cNvPr id="979" name="Google Shape;979;p21"/>
          <p:cNvSpPr/>
          <p:nvPr/>
        </p:nvSpPr>
        <p:spPr>
          <a:xfrm>
            <a:off x="892969" y="1366242"/>
            <a:ext cx="1004701" cy="194667"/>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Requirements</a:t>
            </a:r>
            <a:endParaRPr b="0" i="0" sz="987" u="none" cap="none" strike="noStrike">
              <a:solidFill>
                <a:schemeClr val="dk1"/>
              </a:solidFill>
              <a:latin typeface="Calibri"/>
              <a:ea typeface="Calibri"/>
              <a:cs typeface="Calibri"/>
              <a:sym typeface="Calibri"/>
            </a:endParaRPr>
          </a:p>
        </p:txBody>
      </p:sp>
      <p:sp>
        <p:nvSpPr>
          <p:cNvPr id="980" name="Google Shape;980;p21"/>
          <p:cNvSpPr/>
          <p:nvPr/>
        </p:nvSpPr>
        <p:spPr>
          <a:xfrm>
            <a:off x="714375" y="1703784"/>
            <a:ext cx="1607344" cy="278606"/>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81" name="Google Shape;981;p21"/>
          <p:cNvPicPr preferRelativeResize="0"/>
          <p:nvPr/>
        </p:nvPicPr>
        <p:blipFill rotWithShape="1">
          <a:blip r:embed="rId5">
            <a:alphaModFix/>
          </a:blip>
          <a:srcRect b="0" l="0" r="0" t="0"/>
          <a:stretch/>
        </p:blipFill>
        <p:spPr>
          <a:xfrm>
            <a:off x="821531" y="1800225"/>
            <a:ext cx="75009" cy="85725"/>
          </a:xfrm>
          <a:prstGeom prst="rect">
            <a:avLst/>
          </a:prstGeom>
          <a:noFill/>
          <a:ln>
            <a:noFill/>
          </a:ln>
        </p:spPr>
      </p:pic>
      <p:sp>
        <p:nvSpPr>
          <p:cNvPr id="982" name="Google Shape;982;p21"/>
          <p:cNvSpPr/>
          <p:nvPr/>
        </p:nvSpPr>
        <p:spPr>
          <a:xfrm>
            <a:off x="967978" y="1775222"/>
            <a:ext cx="817708"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Product Manager</a:t>
            </a:r>
            <a:endParaRPr b="0" i="0" sz="727" u="none" cap="none" strike="noStrike">
              <a:solidFill>
                <a:schemeClr val="dk1"/>
              </a:solidFill>
              <a:latin typeface="Calibri"/>
              <a:ea typeface="Calibri"/>
              <a:cs typeface="Calibri"/>
              <a:sym typeface="Calibri"/>
            </a:endParaRPr>
          </a:p>
        </p:txBody>
      </p:sp>
      <p:sp>
        <p:nvSpPr>
          <p:cNvPr id="983" name="Google Shape;983;p21"/>
          <p:cNvSpPr/>
          <p:nvPr/>
        </p:nvSpPr>
        <p:spPr>
          <a:xfrm>
            <a:off x="714375" y="2053828"/>
            <a:ext cx="1607344" cy="278606"/>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84" name="Google Shape;984;p21"/>
          <p:cNvPicPr preferRelativeResize="0"/>
          <p:nvPr/>
        </p:nvPicPr>
        <p:blipFill rotWithShape="1">
          <a:blip r:embed="rId6">
            <a:alphaModFix/>
          </a:blip>
          <a:srcRect b="0" l="0" r="0" t="0"/>
          <a:stretch/>
        </p:blipFill>
        <p:spPr>
          <a:xfrm>
            <a:off x="821531" y="2150269"/>
            <a:ext cx="85725" cy="85725"/>
          </a:xfrm>
          <a:prstGeom prst="rect">
            <a:avLst/>
          </a:prstGeom>
          <a:noFill/>
          <a:ln>
            <a:noFill/>
          </a:ln>
        </p:spPr>
      </p:pic>
      <p:sp>
        <p:nvSpPr>
          <p:cNvPr id="985" name="Google Shape;985;p21"/>
          <p:cNvSpPr/>
          <p:nvPr/>
        </p:nvSpPr>
        <p:spPr>
          <a:xfrm>
            <a:off x="978694" y="2125266"/>
            <a:ext cx="783217"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Business Analyst</a:t>
            </a:r>
            <a:endParaRPr b="0" i="0" sz="727" u="none" cap="none" strike="noStrike">
              <a:solidFill>
                <a:schemeClr val="dk1"/>
              </a:solidFill>
              <a:latin typeface="Calibri"/>
              <a:ea typeface="Calibri"/>
              <a:cs typeface="Calibri"/>
              <a:sym typeface="Calibri"/>
            </a:endParaRPr>
          </a:p>
        </p:txBody>
      </p:sp>
      <p:sp>
        <p:nvSpPr>
          <p:cNvPr id="986" name="Google Shape;986;p21"/>
          <p:cNvSpPr/>
          <p:nvPr/>
        </p:nvSpPr>
        <p:spPr>
          <a:xfrm>
            <a:off x="714375" y="2403872"/>
            <a:ext cx="1607344" cy="278606"/>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87" name="Google Shape;987;p21"/>
          <p:cNvPicPr preferRelativeResize="0"/>
          <p:nvPr/>
        </p:nvPicPr>
        <p:blipFill rotWithShape="1">
          <a:blip r:embed="rId7">
            <a:alphaModFix/>
          </a:blip>
          <a:srcRect b="0" l="0" r="0" t="0"/>
          <a:stretch/>
        </p:blipFill>
        <p:spPr>
          <a:xfrm>
            <a:off x="821531" y="2500313"/>
            <a:ext cx="75009" cy="85725"/>
          </a:xfrm>
          <a:prstGeom prst="rect">
            <a:avLst/>
          </a:prstGeom>
          <a:noFill/>
          <a:ln>
            <a:noFill/>
          </a:ln>
        </p:spPr>
      </p:pic>
      <p:sp>
        <p:nvSpPr>
          <p:cNvPr id="988" name="Google Shape;988;p21"/>
          <p:cNvSpPr/>
          <p:nvPr/>
        </p:nvSpPr>
        <p:spPr>
          <a:xfrm>
            <a:off x="967978" y="2475309"/>
            <a:ext cx="807523"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User Story Writer</a:t>
            </a:r>
            <a:endParaRPr b="0" i="0" sz="727" u="none" cap="none" strike="noStrike">
              <a:solidFill>
                <a:schemeClr val="dk1"/>
              </a:solidFill>
              <a:latin typeface="Calibri"/>
              <a:ea typeface="Calibri"/>
              <a:cs typeface="Calibri"/>
              <a:sym typeface="Calibri"/>
            </a:endParaRPr>
          </a:p>
        </p:txBody>
      </p:sp>
      <p:sp>
        <p:nvSpPr>
          <p:cNvPr id="989" name="Google Shape;989;p21"/>
          <p:cNvSpPr/>
          <p:nvPr/>
        </p:nvSpPr>
        <p:spPr>
          <a:xfrm>
            <a:off x="714375" y="2753916"/>
            <a:ext cx="1607344" cy="278606"/>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90" name="Google Shape;990;p21"/>
          <p:cNvPicPr preferRelativeResize="0"/>
          <p:nvPr/>
        </p:nvPicPr>
        <p:blipFill rotWithShape="1">
          <a:blip r:embed="rId8">
            <a:alphaModFix/>
          </a:blip>
          <a:srcRect b="0" l="0" r="0" t="0"/>
          <a:stretch/>
        </p:blipFill>
        <p:spPr>
          <a:xfrm>
            <a:off x="821531" y="2850356"/>
            <a:ext cx="75009" cy="85725"/>
          </a:xfrm>
          <a:prstGeom prst="rect">
            <a:avLst/>
          </a:prstGeom>
          <a:noFill/>
          <a:ln>
            <a:noFill/>
          </a:ln>
        </p:spPr>
      </p:pic>
      <p:sp>
        <p:nvSpPr>
          <p:cNvPr id="991" name="Google Shape;991;p21"/>
          <p:cNvSpPr/>
          <p:nvPr/>
        </p:nvSpPr>
        <p:spPr>
          <a:xfrm>
            <a:off x="967978" y="2825353"/>
            <a:ext cx="716412"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Project Planner</a:t>
            </a:r>
            <a:endParaRPr b="0" i="0" sz="727" u="none" cap="none" strike="noStrike">
              <a:solidFill>
                <a:schemeClr val="dk1"/>
              </a:solidFill>
              <a:latin typeface="Calibri"/>
              <a:ea typeface="Calibri"/>
              <a:cs typeface="Calibri"/>
              <a:sym typeface="Calibri"/>
            </a:endParaRPr>
          </a:p>
        </p:txBody>
      </p:sp>
      <p:sp>
        <p:nvSpPr>
          <p:cNvPr id="992" name="Google Shape;992;p21"/>
          <p:cNvSpPr/>
          <p:nvPr/>
        </p:nvSpPr>
        <p:spPr>
          <a:xfrm>
            <a:off x="2607469" y="1223367"/>
            <a:ext cx="1893094" cy="3102173"/>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1"/>
          <p:cNvSpPr/>
          <p:nvPr/>
        </p:nvSpPr>
        <p:spPr>
          <a:xfrm>
            <a:off x="2607469" y="1223367"/>
            <a:ext cx="1893094" cy="28575"/>
          </a:xfrm>
          <a:prstGeom prst="rect">
            <a:avLst/>
          </a:prstGeom>
          <a:solidFill>
            <a:srgbClr val="00C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94" name="Google Shape;994;p21"/>
          <p:cNvPicPr preferRelativeResize="0"/>
          <p:nvPr/>
        </p:nvPicPr>
        <p:blipFill rotWithShape="1">
          <a:blip r:embed="rId9">
            <a:alphaModFix/>
          </a:blip>
          <a:srcRect b="0" l="0" r="0" t="0"/>
          <a:stretch/>
        </p:blipFill>
        <p:spPr>
          <a:xfrm>
            <a:off x="2750344" y="1392138"/>
            <a:ext cx="142875" cy="142875"/>
          </a:xfrm>
          <a:prstGeom prst="rect">
            <a:avLst/>
          </a:prstGeom>
          <a:noFill/>
          <a:ln>
            <a:noFill/>
          </a:ln>
        </p:spPr>
      </p:pic>
      <p:sp>
        <p:nvSpPr>
          <p:cNvPr id="995" name="Google Shape;995;p21"/>
          <p:cNvSpPr/>
          <p:nvPr/>
        </p:nvSpPr>
        <p:spPr>
          <a:xfrm>
            <a:off x="2964656" y="1366242"/>
            <a:ext cx="489068" cy="194667"/>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Design</a:t>
            </a:r>
            <a:endParaRPr b="0" i="0" sz="987" u="none" cap="none" strike="noStrike">
              <a:solidFill>
                <a:schemeClr val="dk1"/>
              </a:solidFill>
              <a:latin typeface="Calibri"/>
              <a:ea typeface="Calibri"/>
              <a:cs typeface="Calibri"/>
              <a:sym typeface="Calibri"/>
            </a:endParaRPr>
          </a:p>
        </p:txBody>
      </p:sp>
      <p:sp>
        <p:nvSpPr>
          <p:cNvPr id="996" name="Google Shape;996;p21"/>
          <p:cNvSpPr/>
          <p:nvPr/>
        </p:nvSpPr>
        <p:spPr>
          <a:xfrm>
            <a:off x="2750344" y="1703784"/>
            <a:ext cx="1607344" cy="278606"/>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97" name="Google Shape;997;p21"/>
          <p:cNvPicPr preferRelativeResize="0"/>
          <p:nvPr/>
        </p:nvPicPr>
        <p:blipFill rotWithShape="1">
          <a:blip r:embed="rId10">
            <a:alphaModFix/>
          </a:blip>
          <a:srcRect b="0" l="0" r="0" t="0"/>
          <a:stretch/>
        </p:blipFill>
        <p:spPr>
          <a:xfrm>
            <a:off x="2857500" y="1800225"/>
            <a:ext cx="96441" cy="85725"/>
          </a:xfrm>
          <a:prstGeom prst="rect">
            <a:avLst/>
          </a:prstGeom>
          <a:noFill/>
          <a:ln>
            <a:noFill/>
          </a:ln>
        </p:spPr>
      </p:pic>
      <p:sp>
        <p:nvSpPr>
          <p:cNvPr id="998" name="Google Shape;998;p21"/>
          <p:cNvSpPr/>
          <p:nvPr/>
        </p:nvSpPr>
        <p:spPr>
          <a:xfrm>
            <a:off x="3025378" y="1775222"/>
            <a:ext cx="781320"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System Architect</a:t>
            </a:r>
            <a:endParaRPr b="0" i="0" sz="727" u="none" cap="none" strike="noStrike">
              <a:solidFill>
                <a:schemeClr val="dk1"/>
              </a:solidFill>
              <a:latin typeface="Calibri"/>
              <a:ea typeface="Calibri"/>
              <a:cs typeface="Calibri"/>
              <a:sym typeface="Calibri"/>
            </a:endParaRPr>
          </a:p>
        </p:txBody>
      </p:sp>
      <p:sp>
        <p:nvSpPr>
          <p:cNvPr id="999" name="Google Shape;999;p21"/>
          <p:cNvSpPr/>
          <p:nvPr/>
        </p:nvSpPr>
        <p:spPr>
          <a:xfrm>
            <a:off x="2750344" y="2053828"/>
            <a:ext cx="1607344" cy="278606"/>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00" name="Google Shape;1000;p21"/>
          <p:cNvPicPr preferRelativeResize="0"/>
          <p:nvPr/>
        </p:nvPicPr>
        <p:blipFill rotWithShape="1">
          <a:blip r:embed="rId11">
            <a:alphaModFix/>
          </a:blip>
          <a:srcRect b="0" l="0" r="0" t="0"/>
          <a:stretch/>
        </p:blipFill>
        <p:spPr>
          <a:xfrm>
            <a:off x="2857500" y="2150269"/>
            <a:ext cx="75009" cy="85725"/>
          </a:xfrm>
          <a:prstGeom prst="rect">
            <a:avLst/>
          </a:prstGeom>
          <a:noFill/>
          <a:ln>
            <a:noFill/>
          </a:ln>
        </p:spPr>
      </p:pic>
      <p:sp>
        <p:nvSpPr>
          <p:cNvPr id="1001" name="Google Shape;1001;p21"/>
          <p:cNvSpPr/>
          <p:nvPr/>
        </p:nvSpPr>
        <p:spPr>
          <a:xfrm>
            <a:off x="3003947" y="2125266"/>
            <a:ext cx="588187"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DB Designer</a:t>
            </a:r>
            <a:endParaRPr b="0" i="0" sz="727" u="none" cap="none" strike="noStrike">
              <a:solidFill>
                <a:schemeClr val="dk1"/>
              </a:solidFill>
              <a:latin typeface="Calibri"/>
              <a:ea typeface="Calibri"/>
              <a:cs typeface="Calibri"/>
              <a:sym typeface="Calibri"/>
            </a:endParaRPr>
          </a:p>
        </p:txBody>
      </p:sp>
      <p:sp>
        <p:nvSpPr>
          <p:cNvPr id="1002" name="Google Shape;1002;p21"/>
          <p:cNvSpPr/>
          <p:nvPr/>
        </p:nvSpPr>
        <p:spPr>
          <a:xfrm>
            <a:off x="2750344" y="2403872"/>
            <a:ext cx="1607344" cy="278606"/>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03" name="Google Shape;1003;p21"/>
          <p:cNvPicPr preferRelativeResize="0"/>
          <p:nvPr/>
        </p:nvPicPr>
        <p:blipFill rotWithShape="1">
          <a:blip r:embed="rId12">
            <a:alphaModFix/>
          </a:blip>
          <a:srcRect b="0" l="0" r="0" t="0"/>
          <a:stretch/>
        </p:blipFill>
        <p:spPr>
          <a:xfrm>
            <a:off x="2857500" y="2500313"/>
            <a:ext cx="107156" cy="85725"/>
          </a:xfrm>
          <a:prstGeom prst="rect">
            <a:avLst/>
          </a:prstGeom>
          <a:noFill/>
          <a:ln>
            <a:noFill/>
          </a:ln>
        </p:spPr>
      </p:pic>
      <p:sp>
        <p:nvSpPr>
          <p:cNvPr id="1004" name="Google Shape;1004;p21"/>
          <p:cNvSpPr/>
          <p:nvPr/>
        </p:nvSpPr>
        <p:spPr>
          <a:xfrm>
            <a:off x="3036094" y="2475309"/>
            <a:ext cx="608502"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API Designer</a:t>
            </a:r>
            <a:endParaRPr b="0" i="0" sz="727" u="none" cap="none" strike="noStrike">
              <a:solidFill>
                <a:schemeClr val="dk1"/>
              </a:solidFill>
              <a:latin typeface="Calibri"/>
              <a:ea typeface="Calibri"/>
              <a:cs typeface="Calibri"/>
              <a:sym typeface="Calibri"/>
            </a:endParaRPr>
          </a:p>
        </p:txBody>
      </p:sp>
      <p:sp>
        <p:nvSpPr>
          <p:cNvPr id="1005" name="Google Shape;1005;p21"/>
          <p:cNvSpPr/>
          <p:nvPr/>
        </p:nvSpPr>
        <p:spPr>
          <a:xfrm>
            <a:off x="2750344" y="2753916"/>
            <a:ext cx="1607344" cy="278606"/>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06" name="Google Shape;1006;p21"/>
          <p:cNvPicPr preferRelativeResize="0"/>
          <p:nvPr/>
        </p:nvPicPr>
        <p:blipFill rotWithShape="1">
          <a:blip r:embed="rId13">
            <a:alphaModFix/>
          </a:blip>
          <a:srcRect b="0" l="0" r="0" t="0"/>
          <a:stretch/>
        </p:blipFill>
        <p:spPr>
          <a:xfrm>
            <a:off x="2857500" y="2850356"/>
            <a:ext cx="85725" cy="85725"/>
          </a:xfrm>
          <a:prstGeom prst="rect">
            <a:avLst/>
          </a:prstGeom>
          <a:noFill/>
          <a:ln>
            <a:noFill/>
          </a:ln>
        </p:spPr>
      </p:pic>
      <p:sp>
        <p:nvSpPr>
          <p:cNvPr id="1007" name="Google Shape;1007;p21"/>
          <p:cNvSpPr/>
          <p:nvPr/>
        </p:nvSpPr>
        <p:spPr>
          <a:xfrm>
            <a:off x="3014663" y="2825353"/>
            <a:ext cx="726095"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UX/UI Designer</a:t>
            </a:r>
            <a:endParaRPr b="0" i="0" sz="727" u="none" cap="none" strike="noStrike">
              <a:solidFill>
                <a:schemeClr val="dk1"/>
              </a:solidFill>
              <a:latin typeface="Calibri"/>
              <a:ea typeface="Calibri"/>
              <a:cs typeface="Calibri"/>
              <a:sym typeface="Calibri"/>
            </a:endParaRPr>
          </a:p>
        </p:txBody>
      </p:sp>
      <p:sp>
        <p:nvSpPr>
          <p:cNvPr id="1008" name="Google Shape;1008;p21"/>
          <p:cNvSpPr/>
          <p:nvPr/>
        </p:nvSpPr>
        <p:spPr>
          <a:xfrm>
            <a:off x="4643438" y="1223367"/>
            <a:ext cx="1893094" cy="3102173"/>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1"/>
          <p:cNvSpPr/>
          <p:nvPr/>
        </p:nvSpPr>
        <p:spPr>
          <a:xfrm>
            <a:off x="4643438" y="1223367"/>
            <a:ext cx="1893094" cy="28575"/>
          </a:xfrm>
          <a:prstGeom prst="rect">
            <a:avLst/>
          </a:prstGeom>
          <a:solidFill>
            <a:srgbClr val="00C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10" name="Google Shape;1010;p21"/>
          <p:cNvPicPr preferRelativeResize="0"/>
          <p:nvPr/>
        </p:nvPicPr>
        <p:blipFill rotWithShape="1">
          <a:blip r:embed="rId14">
            <a:alphaModFix/>
          </a:blip>
          <a:srcRect b="0" l="0" r="0" t="0"/>
          <a:stretch/>
        </p:blipFill>
        <p:spPr>
          <a:xfrm>
            <a:off x="4786313" y="1392138"/>
            <a:ext cx="178594" cy="142875"/>
          </a:xfrm>
          <a:prstGeom prst="rect">
            <a:avLst/>
          </a:prstGeom>
          <a:noFill/>
          <a:ln>
            <a:noFill/>
          </a:ln>
        </p:spPr>
      </p:pic>
      <p:sp>
        <p:nvSpPr>
          <p:cNvPr id="1011" name="Google Shape;1011;p21"/>
          <p:cNvSpPr/>
          <p:nvPr/>
        </p:nvSpPr>
        <p:spPr>
          <a:xfrm>
            <a:off x="5036344" y="1366242"/>
            <a:ext cx="956146" cy="194667"/>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Development</a:t>
            </a:r>
            <a:endParaRPr b="0" i="0" sz="987" u="none" cap="none" strike="noStrike">
              <a:solidFill>
                <a:schemeClr val="dk1"/>
              </a:solidFill>
              <a:latin typeface="Calibri"/>
              <a:ea typeface="Calibri"/>
              <a:cs typeface="Calibri"/>
              <a:sym typeface="Calibri"/>
            </a:endParaRPr>
          </a:p>
        </p:txBody>
      </p:sp>
      <p:sp>
        <p:nvSpPr>
          <p:cNvPr id="1012" name="Google Shape;1012;p21"/>
          <p:cNvSpPr/>
          <p:nvPr/>
        </p:nvSpPr>
        <p:spPr>
          <a:xfrm>
            <a:off x="4786313" y="1703784"/>
            <a:ext cx="1607344" cy="278606"/>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13" name="Google Shape;1013;p21"/>
          <p:cNvPicPr preferRelativeResize="0"/>
          <p:nvPr/>
        </p:nvPicPr>
        <p:blipFill rotWithShape="1">
          <a:blip r:embed="rId15">
            <a:alphaModFix/>
          </a:blip>
          <a:srcRect b="0" l="0" r="0" t="0"/>
          <a:stretch/>
        </p:blipFill>
        <p:spPr>
          <a:xfrm>
            <a:off x="4893469" y="1800225"/>
            <a:ext cx="85725" cy="85725"/>
          </a:xfrm>
          <a:prstGeom prst="rect">
            <a:avLst/>
          </a:prstGeom>
          <a:noFill/>
          <a:ln>
            <a:noFill/>
          </a:ln>
        </p:spPr>
      </p:pic>
      <p:sp>
        <p:nvSpPr>
          <p:cNvPr id="1014" name="Google Shape;1014;p21"/>
          <p:cNvSpPr/>
          <p:nvPr/>
        </p:nvSpPr>
        <p:spPr>
          <a:xfrm>
            <a:off x="5050631" y="1775222"/>
            <a:ext cx="606493"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Backend Dev</a:t>
            </a:r>
            <a:endParaRPr b="0" i="0" sz="727" u="none" cap="none" strike="noStrike">
              <a:solidFill>
                <a:schemeClr val="dk1"/>
              </a:solidFill>
              <a:latin typeface="Calibri"/>
              <a:ea typeface="Calibri"/>
              <a:cs typeface="Calibri"/>
              <a:sym typeface="Calibri"/>
            </a:endParaRPr>
          </a:p>
        </p:txBody>
      </p:sp>
      <p:sp>
        <p:nvSpPr>
          <p:cNvPr id="1015" name="Google Shape;1015;p21"/>
          <p:cNvSpPr/>
          <p:nvPr/>
        </p:nvSpPr>
        <p:spPr>
          <a:xfrm>
            <a:off x="4786313" y="2053828"/>
            <a:ext cx="1607344" cy="278606"/>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16" name="Google Shape;1016;p21"/>
          <p:cNvPicPr preferRelativeResize="0"/>
          <p:nvPr/>
        </p:nvPicPr>
        <p:blipFill rotWithShape="1">
          <a:blip r:embed="rId16">
            <a:alphaModFix/>
          </a:blip>
          <a:srcRect b="0" l="0" r="0" t="0"/>
          <a:stretch/>
        </p:blipFill>
        <p:spPr>
          <a:xfrm>
            <a:off x="4893469" y="2150269"/>
            <a:ext cx="107156" cy="85725"/>
          </a:xfrm>
          <a:prstGeom prst="rect">
            <a:avLst/>
          </a:prstGeom>
          <a:noFill/>
          <a:ln>
            <a:noFill/>
          </a:ln>
        </p:spPr>
      </p:pic>
      <p:sp>
        <p:nvSpPr>
          <p:cNvPr id="1017" name="Google Shape;1017;p21"/>
          <p:cNvSpPr/>
          <p:nvPr/>
        </p:nvSpPr>
        <p:spPr>
          <a:xfrm>
            <a:off x="5072063" y="2125266"/>
            <a:ext cx="633589"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Frontend Dev</a:t>
            </a:r>
            <a:endParaRPr b="0" i="0" sz="727" u="none" cap="none" strike="noStrike">
              <a:solidFill>
                <a:schemeClr val="dk1"/>
              </a:solidFill>
              <a:latin typeface="Calibri"/>
              <a:ea typeface="Calibri"/>
              <a:cs typeface="Calibri"/>
              <a:sym typeface="Calibri"/>
            </a:endParaRPr>
          </a:p>
        </p:txBody>
      </p:sp>
      <p:sp>
        <p:nvSpPr>
          <p:cNvPr id="1018" name="Google Shape;1018;p21"/>
          <p:cNvSpPr/>
          <p:nvPr/>
        </p:nvSpPr>
        <p:spPr>
          <a:xfrm>
            <a:off x="4786313" y="2403872"/>
            <a:ext cx="1607344" cy="278606"/>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19" name="Google Shape;1019;p21"/>
          <p:cNvPicPr preferRelativeResize="0"/>
          <p:nvPr/>
        </p:nvPicPr>
        <p:blipFill rotWithShape="1">
          <a:blip r:embed="rId17">
            <a:alphaModFix/>
          </a:blip>
          <a:srcRect b="0" l="0" r="0" t="0"/>
          <a:stretch/>
        </p:blipFill>
        <p:spPr>
          <a:xfrm>
            <a:off x="4893469" y="2500313"/>
            <a:ext cx="64294" cy="85725"/>
          </a:xfrm>
          <a:prstGeom prst="rect">
            <a:avLst/>
          </a:prstGeom>
          <a:noFill/>
          <a:ln>
            <a:noFill/>
          </a:ln>
        </p:spPr>
      </p:pic>
      <p:sp>
        <p:nvSpPr>
          <p:cNvPr id="1020" name="Google Shape;1020;p21"/>
          <p:cNvSpPr/>
          <p:nvPr/>
        </p:nvSpPr>
        <p:spPr>
          <a:xfrm>
            <a:off x="5029200" y="2475309"/>
            <a:ext cx="993735"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Integration Specialist</a:t>
            </a:r>
            <a:endParaRPr b="0" i="0" sz="727" u="none" cap="none" strike="noStrike">
              <a:solidFill>
                <a:schemeClr val="dk1"/>
              </a:solidFill>
              <a:latin typeface="Calibri"/>
              <a:ea typeface="Calibri"/>
              <a:cs typeface="Calibri"/>
              <a:sym typeface="Calibri"/>
            </a:endParaRPr>
          </a:p>
        </p:txBody>
      </p:sp>
      <p:sp>
        <p:nvSpPr>
          <p:cNvPr id="1021" name="Google Shape;1021;p21"/>
          <p:cNvSpPr/>
          <p:nvPr/>
        </p:nvSpPr>
        <p:spPr>
          <a:xfrm>
            <a:off x="4786313" y="2753916"/>
            <a:ext cx="1607344" cy="278606"/>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22" name="Google Shape;1022;p21"/>
          <p:cNvPicPr preferRelativeResize="0"/>
          <p:nvPr/>
        </p:nvPicPr>
        <p:blipFill rotWithShape="1">
          <a:blip r:embed="rId18">
            <a:alphaModFix/>
          </a:blip>
          <a:srcRect b="0" l="0" r="0" t="0"/>
          <a:stretch/>
        </p:blipFill>
        <p:spPr>
          <a:xfrm>
            <a:off x="4893469" y="2850356"/>
            <a:ext cx="107156" cy="85725"/>
          </a:xfrm>
          <a:prstGeom prst="rect">
            <a:avLst/>
          </a:prstGeom>
          <a:noFill/>
          <a:ln>
            <a:noFill/>
          </a:ln>
        </p:spPr>
      </p:pic>
      <p:sp>
        <p:nvSpPr>
          <p:cNvPr id="1023" name="Google Shape;1023;p21"/>
          <p:cNvSpPr/>
          <p:nvPr/>
        </p:nvSpPr>
        <p:spPr>
          <a:xfrm>
            <a:off x="5072063" y="2825353"/>
            <a:ext cx="922018"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Migration Specialist</a:t>
            </a:r>
            <a:endParaRPr b="0" i="0" sz="727" u="none" cap="none" strike="noStrike">
              <a:solidFill>
                <a:schemeClr val="dk1"/>
              </a:solidFill>
              <a:latin typeface="Calibri"/>
              <a:ea typeface="Calibri"/>
              <a:cs typeface="Calibri"/>
              <a:sym typeface="Calibri"/>
            </a:endParaRPr>
          </a:p>
        </p:txBody>
      </p:sp>
      <p:sp>
        <p:nvSpPr>
          <p:cNvPr id="1024" name="Google Shape;1024;p21"/>
          <p:cNvSpPr/>
          <p:nvPr/>
        </p:nvSpPr>
        <p:spPr>
          <a:xfrm>
            <a:off x="6679406" y="1223367"/>
            <a:ext cx="1893094" cy="3102173"/>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1"/>
          <p:cNvSpPr/>
          <p:nvPr/>
        </p:nvSpPr>
        <p:spPr>
          <a:xfrm>
            <a:off x="6679406" y="1223367"/>
            <a:ext cx="1893094" cy="28575"/>
          </a:xfrm>
          <a:prstGeom prst="rect">
            <a:avLst/>
          </a:prstGeom>
          <a:solidFill>
            <a:srgbClr val="00C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26" name="Google Shape;1026;p21"/>
          <p:cNvPicPr preferRelativeResize="0"/>
          <p:nvPr/>
        </p:nvPicPr>
        <p:blipFill rotWithShape="1">
          <a:blip r:embed="rId19">
            <a:alphaModFix/>
          </a:blip>
          <a:srcRect b="0" l="0" r="0" t="0"/>
          <a:stretch/>
        </p:blipFill>
        <p:spPr>
          <a:xfrm>
            <a:off x="6822281" y="1392138"/>
            <a:ext cx="142875" cy="142875"/>
          </a:xfrm>
          <a:prstGeom prst="rect">
            <a:avLst/>
          </a:prstGeom>
          <a:noFill/>
          <a:ln>
            <a:noFill/>
          </a:ln>
        </p:spPr>
      </p:pic>
      <p:sp>
        <p:nvSpPr>
          <p:cNvPr id="1027" name="Google Shape;1027;p21"/>
          <p:cNvSpPr/>
          <p:nvPr/>
        </p:nvSpPr>
        <p:spPr>
          <a:xfrm>
            <a:off x="7036594" y="1366242"/>
            <a:ext cx="524368" cy="194667"/>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Quality</a:t>
            </a:r>
            <a:endParaRPr b="0" i="0" sz="987" u="none" cap="none" strike="noStrike">
              <a:solidFill>
                <a:schemeClr val="dk1"/>
              </a:solidFill>
              <a:latin typeface="Calibri"/>
              <a:ea typeface="Calibri"/>
              <a:cs typeface="Calibri"/>
              <a:sym typeface="Calibri"/>
            </a:endParaRPr>
          </a:p>
        </p:txBody>
      </p:sp>
      <p:sp>
        <p:nvSpPr>
          <p:cNvPr id="1028" name="Google Shape;1028;p21"/>
          <p:cNvSpPr/>
          <p:nvPr/>
        </p:nvSpPr>
        <p:spPr>
          <a:xfrm>
            <a:off x="6822281" y="1703784"/>
            <a:ext cx="1607344" cy="278606"/>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29" name="Google Shape;1029;p21"/>
          <p:cNvPicPr preferRelativeResize="0"/>
          <p:nvPr/>
        </p:nvPicPr>
        <p:blipFill rotWithShape="1">
          <a:blip r:embed="rId20">
            <a:alphaModFix/>
          </a:blip>
          <a:srcRect b="0" l="0" r="0" t="0"/>
          <a:stretch/>
        </p:blipFill>
        <p:spPr>
          <a:xfrm>
            <a:off x="6929438" y="1800225"/>
            <a:ext cx="64294" cy="85725"/>
          </a:xfrm>
          <a:prstGeom prst="rect">
            <a:avLst/>
          </a:prstGeom>
          <a:noFill/>
          <a:ln>
            <a:noFill/>
          </a:ln>
        </p:spPr>
      </p:pic>
      <p:sp>
        <p:nvSpPr>
          <p:cNvPr id="1030" name="Google Shape;1030;p21"/>
          <p:cNvSpPr/>
          <p:nvPr/>
        </p:nvSpPr>
        <p:spPr>
          <a:xfrm>
            <a:off x="7065169" y="1775222"/>
            <a:ext cx="529782"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QA Planner</a:t>
            </a:r>
            <a:endParaRPr b="0" i="0" sz="727" u="none" cap="none" strike="noStrike">
              <a:solidFill>
                <a:schemeClr val="dk1"/>
              </a:solidFill>
              <a:latin typeface="Calibri"/>
              <a:ea typeface="Calibri"/>
              <a:cs typeface="Calibri"/>
              <a:sym typeface="Calibri"/>
            </a:endParaRPr>
          </a:p>
        </p:txBody>
      </p:sp>
      <p:sp>
        <p:nvSpPr>
          <p:cNvPr id="1031" name="Google Shape;1031;p21"/>
          <p:cNvSpPr/>
          <p:nvPr/>
        </p:nvSpPr>
        <p:spPr>
          <a:xfrm>
            <a:off x="6822281" y="2053828"/>
            <a:ext cx="1607344" cy="278606"/>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32" name="Google Shape;1032;p21"/>
          <p:cNvPicPr preferRelativeResize="0"/>
          <p:nvPr/>
        </p:nvPicPr>
        <p:blipFill rotWithShape="1">
          <a:blip r:embed="rId21">
            <a:alphaModFix/>
          </a:blip>
          <a:srcRect b="0" l="0" r="0" t="0"/>
          <a:stretch/>
        </p:blipFill>
        <p:spPr>
          <a:xfrm>
            <a:off x="6929438" y="2150269"/>
            <a:ext cx="85725" cy="85725"/>
          </a:xfrm>
          <a:prstGeom prst="rect">
            <a:avLst/>
          </a:prstGeom>
          <a:noFill/>
          <a:ln>
            <a:noFill/>
          </a:ln>
        </p:spPr>
      </p:pic>
      <p:sp>
        <p:nvSpPr>
          <p:cNvPr id="1033" name="Google Shape;1033;p21"/>
          <p:cNvSpPr/>
          <p:nvPr/>
        </p:nvSpPr>
        <p:spPr>
          <a:xfrm>
            <a:off x="7086600" y="2125266"/>
            <a:ext cx="730811"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Unit Test Writer</a:t>
            </a:r>
            <a:endParaRPr b="0" i="0" sz="727" u="none" cap="none" strike="noStrike">
              <a:solidFill>
                <a:schemeClr val="dk1"/>
              </a:solidFill>
              <a:latin typeface="Calibri"/>
              <a:ea typeface="Calibri"/>
              <a:cs typeface="Calibri"/>
              <a:sym typeface="Calibri"/>
            </a:endParaRPr>
          </a:p>
        </p:txBody>
      </p:sp>
      <p:sp>
        <p:nvSpPr>
          <p:cNvPr id="1034" name="Google Shape;1034;p21"/>
          <p:cNvSpPr/>
          <p:nvPr/>
        </p:nvSpPr>
        <p:spPr>
          <a:xfrm>
            <a:off x="6822281" y="2403872"/>
            <a:ext cx="1607344" cy="278606"/>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35" name="Google Shape;1035;p21"/>
          <p:cNvPicPr preferRelativeResize="0"/>
          <p:nvPr/>
        </p:nvPicPr>
        <p:blipFill rotWithShape="1">
          <a:blip r:embed="rId22">
            <a:alphaModFix/>
          </a:blip>
          <a:srcRect b="0" l="0" r="0" t="0"/>
          <a:stretch/>
        </p:blipFill>
        <p:spPr>
          <a:xfrm>
            <a:off x="6929438" y="2500313"/>
            <a:ext cx="107156" cy="85725"/>
          </a:xfrm>
          <a:prstGeom prst="rect">
            <a:avLst/>
          </a:prstGeom>
          <a:noFill/>
          <a:ln>
            <a:noFill/>
          </a:ln>
        </p:spPr>
      </p:pic>
      <p:sp>
        <p:nvSpPr>
          <p:cNvPr id="1036" name="Google Shape;1036;p21"/>
          <p:cNvSpPr/>
          <p:nvPr/>
        </p:nvSpPr>
        <p:spPr>
          <a:xfrm>
            <a:off x="7108031" y="2475309"/>
            <a:ext cx="702404"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E2E Test Writer</a:t>
            </a:r>
            <a:endParaRPr b="0" i="0" sz="727" u="none" cap="none" strike="noStrike">
              <a:solidFill>
                <a:schemeClr val="dk1"/>
              </a:solidFill>
              <a:latin typeface="Calibri"/>
              <a:ea typeface="Calibri"/>
              <a:cs typeface="Calibri"/>
              <a:sym typeface="Calibri"/>
            </a:endParaRPr>
          </a:p>
        </p:txBody>
      </p:sp>
      <p:sp>
        <p:nvSpPr>
          <p:cNvPr id="1037" name="Google Shape;1037;p21"/>
          <p:cNvSpPr/>
          <p:nvPr/>
        </p:nvSpPr>
        <p:spPr>
          <a:xfrm>
            <a:off x="6822281" y="2753916"/>
            <a:ext cx="1607344" cy="278606"/>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38" name="Google Shape;1038;p21"/>
          <p:cNvPicPr preferRelativeResize="0"/>
          <p:nvPr/>
        </p:nvPicPr>
        <p:blipFill rotWithShape="1">
          <a:blip r:embed="rId23">
            <a:alphaModFix/>
          </a:blip>
          <a:srcRect b="0" l="0" r="0" t="0"/>
          <a:stretch/>
        </p:blipFill>
        <p:spPr>
          <a:xfrm>
            <a:off x="6929438" y="2850356"/>
            <a:ext cx="75009" cy="85725"/>
          </a:xfrm>
          <a:prstGeom prst="rect">
            <a:avLst/>
          </a:prstGeom>
          <a:noFill/>
          <a:ln>
            <a:noFill/>
          </a:ln>
        </p:spPr>
      </p:pic>
      <p:sp>
        <p:nvSpPr>
          <p:cNvPr id="1039" name="Google Shape;1039;p21"/>
          <p:cNvSpPr/>
          <p:nvPr/>
        </p:nvSpPr>
        <p:spPr>
          <a:xfrm>
            <a:off x="7075884" y="2825353"/>
            <a:ext cx="752298"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Security Auditor</a:t>
            </a:r>
            <a:endParaRPr b="0" i="0" sz="727" u="none" cap="none" strike="noStrike">
              <a:solidFill>
                <a:schemeClr val="dk1"/>
              </a:solidFill>
              <a:latin typeface="Calibri"/>
              <a:ea typeface="Calibri"/>
              <a:cs typeface="Calibri"/>
              <a:sym typeface="Calibri"/>
            </a:endParaRPr>
          </a:p>
        </p:txBody>
      </p:sp>
      <p:sp>
        <p:nvSpPr>
          <p:cNvPr id="1040" name="Google Shape;1040;p21"/>
          <p:cNvSpPr/>
          <p:nvPr/>
        </p:nvSpPr>
        <p:spPr>
          <a:xfrm>
            <a:off x="571500" y="4539853"/>
            <a:ext cx="8001000" cy="175022"/>
          </a:xfrm>
          <a:prstGeom prst="rect">
            <a:avLst/>
          </a:prstGeom>
          <a:noFill/>
          <a:ln>
            <a:noFill/>
          </a:ln>
        </p:spPr>
        <p:txBody>
          <a:bodyPr anchorCtr="0" anchor="t" bIns="0" lIns="0" spcFirstLastPara="1" rIns="0" wrap="square" tIns="0">
            <a:noAutofit/>
          </a:bodyPr>
          <a:lstStyle/>
          <a:p>
            <a:pPr indent="0" lvl="0" marL="0" marR="0" rtl="0" algn="ctr">
              <a:lnSpc>
                <a:spcPct val="127388"/>
              </a:lnSpc>
              <a:spcBef>
                <a:spcPts val="0"/>
              </a:spcBef>
              <a:spcAft>
                <a:spcPts val="0"/>
              </a:spcAft>
              <a:buClr>
                <a:srgbClr val="A0AAB5"/>
              </a:buClr>
              <a:buSzPts val="942"/>
              <a:buFont typeface="Calibri"/>
              <a:buNone/>
            </a:pPr>
            <a:r>
              <a:rPr b="0" i="1" lang="en-US" sz="942" u="none" cap="none" strike="noStrike">
                <a:solidFill>
                  <a:srgbClr val="A0AAB5"/>
                </a:solidFill>
                <a:latin typeface="Calibri"/>
                <a:ea typeface="Calibri"/>
                <a:cs typeface="Calibri"/>
                <a:sym typeface="Calibri"/>
              </a:rPr>
              <a:t>"From Strategy to Security, every role is covered by a specialized AI agent."</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pic>
        <p:nvPicPr>
          <p:cNvPr descr="preencoded.png" id="1046" name="Google Shape;1046;p22"/>
          <p:cNvPicPr preferRelativeResize="0"/>
          <p:nvPr/>
        </p:nvPicPr>
        <p:blipFill rotWithShape="1">
          <a:blip r:embed="rId3">
            <a:alphaModFix/>
          </a:blip>
          <a:srcRect b="0" l="0" r="0" t="0"/>
          <a:stretch/>
        </p:blipFill>
        <p:spPr>
          <a:xfrm>
            <a:off x="0" y="0"/>
            <a:ext cx="9144000" cy="5482828"/>
          </a:xfrm>
          <a:prstGeom prst="rect">
            <a:avLst/>
          </a:prstGeom>
          <a:noFill/>
          <a:ln>
            <a:noFill/>
          </a:ln>
        </p:spPr>
      </p:pic>
      <p:sp>
        <p:nvSpPr>
          <p:cNvPr id="1047" name="Google Shape;1047;p22"/>
          <p:cNvSpPr/>
          <p:nvPr/>
        </p:nvSpPr>
        <p:spPr>
          <a:xfrm>
            <a:off x="571500" y="428625"/>
            <a:ext cx="7143750" cy="408980"/>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Calibri"/>
              <a:buNone/>
            </a:pPr>
            <a:r>
              <a:rPr b="1" i="0" lang="en-US" sz="2121" u="none" cap="none" strike="noStrike">
                <a:solidFill>
                  <a:srgbClr val="FFFFFF"/>
                </a:solidFill>
                <a:latin typeface="Calibri"/>
                <a:ea typeface="Calibri"/>
                <a:cs typeface="Calibri"/>
                <a:sym typeface="Calibri"/>
              </a:rPr>
              <a:t>Two-Layer Orchestration</a:t>
            </a:r>
            <a:endParaRPr b="0" i="0" sz="2121" u="none" cap="none" strike="noStrike">
              <a:solidFill>
                <a:schemeClr val="dk1"/>
              </a:solidFill>
              <a:latin typeface="Calibri"/>
              <a:ea typeface="Calibri"/>
              <a:cs typeface="Calibri"/>
              <a:sym typeface="Calibri"/>
            </a:endParaRPr>
          </a:p>
        </p:txBody>
      </p:sp>
      <p:sp>
        <p:nvSpPr>
          <p:cNvPr id="1048" name="Google Shape;1048;p22"/>
          <p:cNvSpPr/>
          <p:nvPr/>
        </p:nvSpPr>
        <p:spPr>
          <a:xfrm>
            <a:off x="3500438" y="1223367"/>
            <a:ext cx="2143125" cy="1519833"/>
          </a:xfrm>
          <a:prstGeom prst="rect">
            <a:avLst/>
          </a:prstGeom>
          <a:solidFill>
            <a:srgbClr val="1A2A3A"/>
          </a:solidFill>
          <a:ln cap="flat" cmpd="sng" w="27425">
            <a:solidFill>
              <a:srgbClr val="00B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49" name="Google Shape;1049;p22"/>
          <p:cNvPicPr preferRelativeResize="0"/>
          <p:nvPr/>
        </p:nvPicPr>
        <p:blipFill rotWithShape="1">
          <a:blip r:embed="rId4">
            <a:alphaModFix/>
          </a:blip>
          <a:srcRect b="0" l="0" r="0" t="0"/>
          <a:stretch/>
        </p:blipFill>
        <p:spPr>
          <a:xfrm>
            <a:off x="4400550" y="1430536"/>
            <a:ext cx="342900" cy="342900"/>
          </a:xfrm>
          <a:prstGeom prst="rect">
            <a:avLst/>
          </a:prstGeom>
          <a:noFill/>
          <a:ln>
            <a:noFill/>
          </a:ln>
        </p:spPr>
      </p:pic>
      <p:sp>
        <p:nvSpPr>
          <p:cNvPr id="1050" name="Google Shape;1050;p22"/>
          <p:cNvSpPr/>
          <p:nvPr/>
        </p:nvSpPr>
        <p:spPr>
          <a:xfrm>
            <a:off x="3786188" y="1903809"/>
            <a:ext cx="1571625" cy="467916"/>
          </a:xfrm>
          <a:prstGeom prst="rect">
            <a:avLst/>
          </a:prstGeom>
          <a:noFill/>
          <a:ln>
            <a:noFill/>
          </a:ln>
        </p:spPr>
        <p:txBody>
          <a:bodyPr anchorCtr="0" anchor="t" bIns="0" lIns="0" spcFirstLastPara="1" rIns="0" wrap="square" tIns="0">
            <a:noAutofit/>
          </a:bodyPr>
          <a:lstStyle/>
          <a:p>
            <a:pPr indent="0" lvl="0" marL="0" marR="0" rtl="0" algn="ctr">
              <a:lnSpc>
                <a:spcPct val="134115"/>
              </a:lnSpc>
              <a:spcBef>
                <a:spcPts val="0"/>
              </a:spcBef>
              <a:spcAft>
                <a:spcPts val="0"/>
              </a:spcAft>
              <a:buClr>
                <a:srgbClr val="FFFFFF"/>
              </a:buClr>
              <a:buSzPts val="1193"/>
              <a:buFont typeface="Calibri"/>
              <a:buNone/>
            </a:pPr>
            <a:r>
              <a:rPr b="1" i="0" lang="en-US" sz="1193" u="none" cap="none" strike="noStrike">
                <a:solidFill>
                  <a:srgbClr val="FFFFFF"/>
                </a:solidFill>
                <a:latin typeface="Calibri"/>
                <a:ea typeface="Calibri"/>
                <a:cs typeface="Calibri"/>
                <a:sym typeface="Calibri"/>
              </a:rPr>
              <a:t>Master Orchestrator</a:t>
            </a:r>
            <a:endParaRPr b="0" i="0" sz="1193" u="none" cap="none" strike="noStrike">
              <a:solidFill>
                <a:schemeClr val="dk1"/>
              </a:solidFill>
              <a:latin typeface="Calibri"/>
              <a:ea typeface="Calibri"/>
              <a:cs typeface="Calibri"/>
              <a:sym typeface="Calibri"/>
            </a:endParaRPr>
          </a:p>
        </p:txBody>
      </p:sp>
      <p:sp>
        <p:nvSpPr>
          <p:cNvPr id="1051" name="Google Shape;1051;p22"/>
          <p:cNvSpPr/>
          <p:nvPr/>
        </p:nvSpPr>
        <p:spPr>
          <a:xfrm>
            <a:off x="3786188" y="2407444"/>
            <a:ext cx="1571625" cy="135731"/>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A0AAB5"/>
              </a:buClr>
              <a:buSzPts val="727"/>
              <a:buFont typeface="Calibri"/>
              <a:buNone/>
            </a:pPr>
            <a:r>
              <a:rPr b="0" i="0" lang="en-US" sz="727" u="none" cap="none" strike="noStrike">
                <a:solidFill>
                  <a:srgbClr val="A0AAB5"/>
                </a:solidFill>
                <a:latin typeface="Calibri"/>
                <a:ea typeface="Calibri"/>
                <a:cs typeface="Calibri"/>
                <a:sym typeface="Calibri"/>
              </a:rPr>
              <a:t>Routes User Intent (/plan, /test)</a:t>
            </a:r>
            <a:endParaRPr b="0" i="0" sz="727" u="none" cap="none" strike="noStrike">
              <a:solidFill>
                <a:schemeClr val="dk1"/>
              </a:solidFill>
              <a:latin typeface="Calibri"/>
              <a:ea typeface="Calibri"/>
              <a:cs typeface="Calibri"/>
              <a:sym typeface="Calibri"/>
            </a:endParaRPr>
          </a:p>
        </p:txBody>
      </p:sp>
      <p:sp>
        <p:nvSpPr>
          <p:cNvPr id="1052" name="Google Shape;1052;p22"/>
          <p:cNvSpPr/>
          <p:nvPr/>
        </p:nvSpPr>
        <p:spPr>
          <a:xfrm>
            <a:off x="1714500" y="3114675"/>
            <a:ext cx="5715000" cy="28575"/>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2"/>
          <p:cNvSpPr/>
          <p:nvPr/>
        </p:nvSpPr>
        <p:spPr>
          <a:xfrm>
            <a:off x="1000125" y="3429000"/>
            <a:ext cx="1428750" cy="971550"/>
          </a:xfrm>
          <a:prstGeom prst="rect">
            <a:avLst/>
          </a:prstGeom>
          <a:solidFill>
            <a:srgbClr val="1A2A3A"/>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54" name="Google Shape;1054;p22"/>
          <p:cNvPicPr preferRelativeResize="0"/>
          <p:nvPr/>
        </p:nvPicPr>
        <p:blipFill rotWithShape="1">
          <a:blip r:embed="rId5">
            <a:alphaModFix/>
          </a:blip>
          <a:srcRect b="0" l="0" r="0" t="0"/>
          <a:stretch/>
        </p:blipFill>
        <p:spPr>
          <a:xfrm>
            <a:off x="1650206" y="3568303"/>
            <a:ext cx="128588" cy="171450"/>
          </a:xfrm>
          <a:prstGeom prst="rect">
            <a:avLst/>
          </a:prstGeom>
          <a:noFill/>
          <a:ln>
            <a:noFill/>
          </a:ln>
        </p:spPr>
      </p:pic>
      <p:sp>
        <p:nvSpPr>
          <p:cNvPr id="1055" name="Google Shape;1055;p22"/>
          <p:cNvSpPr/>
          <p:nvPr/>
        </p:nvSpPr>
        <p:spPr>
          <a:xfrm>
            <a:off x="1107281" y="3841552"/>
            <a:ext cx="1214438" cy="155377"/>
          </a:xfrm>
          <a:prstGeom prst="rect">
            <a:avLst/>
          </a:prstGeom>
          <a:noFill/>
          <a:ln>
            <a:noFill/>
          </a:ln>
        </p:spPr>
        <p:txBody>
          <a:bodyPr anchorCtr="0" anchor="t" bIns="0" lIns="0" spcFirstLastPara="1" rIns="0" wrap="square" tIns="0">
            <a:noAutofit/>
          </a:bodyPr>
          <a:lstStyle/>
          <a:p>
            <a:pPr indent="0" lvl="0" marL="0" marR="0" rtl="0" algn="ctr">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Product Lead</a:t>
            </a:r>
            <a:endParaRPr b="0" i="0" sz="784" u="none" cap="none" strike="noStrike">
              <a:solidFill>
                <a:schemeClr val="dk1"/>
              </a:solidFill>
              <a:latin typeface="Calibri"/>
              <a:ea typeface="Calibri"/>
              <a:cs typeface="Calibri"/>
              <a:sym typeface="Calibri"/>
            </a:endParaRPr>
          </a:p>
        </p:txBody>
      </p:sp>
      <p:sp>
        <p:nvSpPr>
          <p:cNvPr id="1056" name="Google Shape;1056;p22"/>
          <p:cNvSpPr/>
          <p:nvPr/>
        </p:nvSpPr>
        <p:spPr>
          <a:xfrm>
            <a:off x="1107281" y="4032647"/>
            <a:ext cx="1214438" cy="232172"/>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Manages PM, Analyst, Story Writer</a:t>
            </a:r>
            <a:endParaRPr b="0" i="0" sz="621" u="none" cap="none" strike="noStrike">
              <a:solidFill>
                <a:schemeClr val="dk1"/>
              </a:solidFill>
              <a:latin typeface="Calibri"/>
              <a:ea typeface="Calibri"/>
              <a:cs typeface="Calibri"/>
              <a:sym typeface="Calibri"/>
            </a:endParaRPr>
          </a:p>
        </p:txBody>
      </p:sp>
      <p:sp>
        <p:nvSpPr>
          <p:cNvPr id="1057" name="Google Shape;1057;p22"/>
          <p:cNvSpPr/>
          <p:nvPr/>
        </p:nvSpPr>
        <p:spPr>
          <a:xfrm>
            <a:off x="2905106" y="3429000"/>
            <a:ext cx="1428750" cy="971550"/>
          </a:xfrm>
          <a:prstGeom prst="rect">
            <a:avLst/>
          </a:prstGeom>
          <a:solidFill>
            <a:srgbClr val="1A2A3A"/>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58" name="Google Shape;1058;p22"/>
          <p:cNvPicPr preferRelativeResize="0"/>
          <p:nvPr/>
        </p:nvPicPr>
        <p:blipFill rotWithShape="1">
          <a:blip r:embed="rId6">
            <a:alphaModFix/>
          </a:blip>
          <a:srcRect b="0" l="0" r="0" t="0"/>
          <a:stretch/>
        </p:blipFill>
        <p:spPr>
          <a:xfrm>
            <a:off x="3533756" y="3568303"/>
            <a:ext cx="171450" cy="171450"/>
          </a:xfrm>
          <a:prstGeom prst="rect">
            <a:avLst/>
          </a:prstGeom>
          <a:noFill/>
          <a:ln>
            <a:noFill/>
          </a:ln>
        </p:spPr>
      </p:pic>
      <p:sp>
        <p:nvSpPr>
          <p:cNvPr id="1059" name="Google Shape;1059;p22"/>
          <p:cNvSpPr/>
          <p:nvPr/>
        </p:nvSpPr>
        <p:spPr>
          <a:xfrm>
            <a:off x="3012263" y="3841552"/>
            <a:ext cx="1214438" cy="155377"/>
          </a:xfrm>
          <a:prstGeom prst="rect">
            <a:avLst/>
          </a:prstGeom>
          <a:noFill/>
          <a:ln>
            <a:noFill/>
          </a:ln>
        </p:spPr>
        <p:txBody>
          <a:bodyPr anchorCtr="0" anchor="t" bIns="0" lIns="0" spcFirstLastPara="1" rIns="0" wrap="square" tIns="0">
            <a:noAutofit/>
          </a:bodyPr>
          <a:lstStyle/>
          <a:p>
            <a:pPr indent="0" lvl="0" marL="0" marR="0" rtl="0" algn="ctr">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Design Lead</a:t>
            </a:r>
            <a:endParaRPr b="0" i="0" sz="784" u="none" cap="none" strike="noStrike">
              <a:solidFill>
                <a:schemeClr val="dk1"/>
              </a:solidFill>
              <a:latin typeface="Calibri"/>
              <a:ea typeface="Calibri"/>
              <a:cs typeface="Calibri"/>
              <a:sym typeface="Calibri"/>
            </a:endParaRPr>
          </a:p>
        </p:txBody>
      </p:sp>
      <p:sp>
        <p:nvSpPr>
          <p:cNvPr id="1060" name="Google Shape;1060;p22"/>
          <p:cNvSpPr/>
          <p:nvPr/>
        </p:nvSpPr>
        <p:spPr>
          <a:xfrm>
            <a:off x="3012263" y="4032647"/>
            <a:ext cx="1214438" cy="116086"/>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Manages Architect, UI/UX, DB</a:t>
            </a:r>
            <a:endParaRPr b="0" i="0" sz="621" u="none" cap="none" strike="noStrike">
              <a:solidFill>
                <a:schemeClr val="dk1"/>
              </a:solidFill>
              <a:latin typeface="Calibri"/>
              <a:ea typeface="Calibri"/>
              <a:cs typeface="Calibri"/>
              <a:sym typeface="Calibri"/>
            </a:endParaRPr>
          </a:p>
        </p:txBody>
      </p:sp>
      <p:sp>
        <p:nvSpPr>
          <p:cNvPr id="1061" name="Google Shape;1061;p22"/>
          <p:cNvSpPr/>
          <p:nvPr/>
        </p:nvSpPr>
        <p:spPr>
          <a:xfrm>
            <a:off x="4810088" y="3429000"/>
            <a:ext cx="1428750" cy="971550"/>
          </a:xfrm>
          <a:prstGeom prst="rect">
            <a:avLst/>
          </a:prstGeom>
          <a:solidFill>
            <a:srgbClr val="1A2A3A"/>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62" name="Google Shape;1062;p22"/>
          <p:cNvPicPr preferRelativeResize="0"/>
          <p:nvPr/>
        </p:nvPicPr>
        <p:blipFill rotWithShape="1">
          <a:blip r:embed="rId7">
            <a:alphaModFix/>
          </a:blip>
          <a:srcRect b="0" l="0" r="0" t="0"/>
          <a:stretch/>
        </p:blipFill>
        <p:spPr>
          <a:xfrm>
            <a:off x="5417307" y="3568303"/>
            <a:ext cx="214313" cy="171450"/>
          </a:xfrm>
          <a:prstGeom prst="rect">
            <a:avLst/>
          </a:prstGeom>
          <a:noFill/>
          <a:ln>
            <a:noFill/>
          </a:ln>
        </p:spPr>
      </p:pic>
      <p:sp>
        <p:nvSpPr>
          <p:cNvPr id="1063" name="Google Shape;1063;p22"/>
          <p:cNvSpPr/>
          <p:nvPr/>
        </p:nvSpPr>
        <p:spPr>
          <a:xfrm>
            <a:off x="4917244" y="3841552"/>
            <a:ext cx="1214438" cy="155377"/>
          </a:xfrm>
          <a:prstGeom prst="rect">
            <a:avLst/>
          </a:prstGeom>
          <a:noFill/>
          <a:ln>
            <a:noFill/>
          </a:ln>
        </p:spPr>
        <p:txBody>
          <a:bodyPr anchorCtr="0" anchor="t" bIns="0" lIns="0" spcFirstLastPara="1" rIns="0" wrap="square" tIns="0">
            <a:noAutofit/>
          </a:bodyPr>
          <a:lstStyle/>
          <a:p>
            <a:pPr indent="0" lvl="0" marL="0" marR="0" rtl="0" algn="ctr">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Tech Lead</a:t>
            </a:r>
            <a:endParaRPr b="0" i="0" sz="784" u="none" cap="none" strike="noStrike">
              <a:solidFill>
                <a:schemeClr val="dk1"/>
              </a:solidFill>
              <a:latin typeface="Calibri"/>
              <a:ea typeface="Calibri"/>
              <a:cs typeface="Calibri"/>
              <a:sym typeface="Calibri"/>
            </a:endParaRPr>
          </a:p>
        </p:txBody>
      </p:sp>
      <p:sp>
        <p:nvSpPr>
          <p:cNvPr id="1064" name="Google Shape;1064;p22"/>
          <p:cNvSpPr/>
          <p:nvPr/>
        </p:nvSpPr>
        <p:spPr>
          <a:xfrm>
            <a:off x="4917244" y="4032647"/>
            <a:ext cx="1214438" cy="232172"/>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Manages Backend, Frontend, DevOps</a:t>
            </a:r>
            <a:endParaRPr b="0" i="0" sz="621" u="none" cap="none" strike="noStrike">
              <a:solidFill>
                <a:schemeClr val="dk1"/>
              </a:solidFill>
              <a:latin typeface="Calibri"/>
              <a:ea typeface="Calibri"/>
              <a:cs typeface="Calibri"/>
              <a:sym typeface="Calibri"/>
            </a:endParaRPr>
          </a:p>
        </p:txBody>
      </p:sp>
      <p:sp>
        <p:nvSpPr>
          <p:cNvPr id="1065" name="Google Shape;1065;p22"/>
          <p:cNvSpPr/>
          <p:nvPr/>
        </p:nvSpPr>
        <p:spPr>
          <a:xfrm>
            <a:off x="6715069" y="3429000"/>
            <a:ext cx="1428750" cy="942975"/>
          </a:xfrm>
          <a:prstGeom prst="rect">
            <a:avLst/>
          </a:prstGeom>
          <a:solidFill>
            <a:srgbClr val="1A2A3A"/>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66" name="Google Shape;1066;p22"/>
          <p:cNvPicPr preferRelativeResize="0"/>
          <p:nvPr/>
        </p:nvPicPr>
        <p:blipFill rotWithShape="1">
          <a:blip r:embed="rId8">
            <a:alphaModFix/>
          </a:blip>
          <a:srcRect b="0" l="0" r="0" t="0"/>
          <a:stretch/>
        </p:blipFill>
        <p:spPr>
          <a:xfrm>
            <a:off x="7343719" y="3568303"/>
            <a:ext cx="171450" cy="171450"/>
          </a:xfrm>
          <a:prstGeom prst="rect">
            <a:avLst/>
          </a:prstGeom>
          <a:noFill/>
          <a:ln>
            <a:noFill/>
          </a:ln>
        </p:spPr>
      </p:pic>
      <p:sp>
        <p:nvSpPr>
          <p:cNvPr id="1067" name="Google Shape;1067;p22"/>
          <p:cNvSpPr/>
          <p:nvPr/>
        </p:nvSpPr>
        <p:spPr>
          <a:xfrm>
            <a:off x="6822225" y="3841552"/>
            <a:ext cx="1214438" cy="155377"/>
          </a:xfrm>
          <a:prstGeom prst="rect">
            <a:avLst/>
          </a:prstGeom>
          <a:noFill/>
          <a:ln>
            <a:noFill/>
          </a:ln>
        </p:spPr>
        <p:txBody>
          <a:bodyPr anchorCtr="0" anchor="t" bIns="0" lIns="0" spcFirstLastPara="1" rIns="0" wrap="square" tIns="0">
            <a:noAutofit/>
          </a:bodyPr>
          <a:lstStyle/>
          <a:p>
            <a:pPr indent="0" lvl="0" marL="0" marR="0" rtl="0" algn="ctr">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QA Lead</a:t>
            </a:r>
            <a:endParaRPr b="0" i="0" sz="784" u="none" cap="none" strike="noStrike">
              <a:solidFill>
                <a:schemeClr val="dk1"/>
              </a:solidFill>
              <a:latin typeface="Calibri"/>
              <a:ea typeface="Calibri"/>
              <a:cs typeface="Calibri"/>
              <a:sym typeface="Calibri"/>
            </a:endParaRPr>
          </a:p>
        </p:txBody>
      </p:sp>
      <p:sp>
        <p:nvSpPr>
          <p:cNvPr id="1068" name="Google Shape;1068;p22"/>
          <p:cNvSpPr/>
          <p:nvPr/>
        </p:nvSpPr>
        <p:spPr>
          <a:xfrm>
            <a:off x="6822225" y="4032647"/>
            <a:ext cx="1214438" cy="116086"/>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Manages Unit, E2E, Security</a:t>
            </a:r>
            <a:endParaRPr b="0" i="0" sz="621" u="none" cap="none" strike="noStrike">
              <a:solidFill>
                <a:schemeClr val="dk1"/>
              </a:solidFill>
              <a:latin typeface="Calibri"/>
              <a:ea typeface="Calibri"/>
              <a:cs typeface="Calibri"/>
              <a:sym typeface="Calibri"/>
            </a:endParaRPr>
          </a:p>
        </p:txBody>
      </p:sp>
      <p:sp>
        <p:nvSpPr>
          <p:cNvPr id="1069" name="Google Shape;1069;p22"/>
          <p:cNvSpPr/>
          <p:nvPr/>
        </p:nvSpPr>
        <p:spPr>
          <a:xfrm>
            <a:off x="571500" y="4564856"/>
            <a:ext cx="8001000" cy="403622"/>
          </a:xfrm>
          <a:prstGeom prst="rect">
            <a:avLst/>
          </a:prstGeom>
          <a:solidFill>
            <a:srgbClr val="00BFFF">
              <a:alpha val="10196"/>
            </a:srgbClr>
          </a:solidFill>
          <a:ln cap="flat" cmpd="sng" w="9525">
            <a:solidFill>
              <a:srgbClr val="00B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2"/>
          <p:cNvSpPr/>
          <p:nvPr/>
        </p:nvSpPr>
        <p:spPr>
          <a:xfrm>
            <a:off x="571500" y="4564856"/>
            <a:ext cx="8001000" cy="403622"/>
          </a:xfrm>
          <a:prstGeom prst="rect">
            <a:avLst/>
          </a:prstGeom>
          <a:noFill/>
          <a:ln>
            <a:noFill/>
          </a:ln>
        </p:spPr>
        <p:txBody>
          <a:bodyPr anchorCtr="0" anchor="t" bIns="127500" lIns="127500" spcFirstLastPara="1" rIns="127500" wrap="square" tIns="127500">
            <a:noAutofit/>
          </a:bodyPr>
          <a:lstStyle/>
          <a:p>
            <a:pPr indent="0" lvl="0" marL="0" marR="0" rtl="0" algn="ctr">
              <a:lnSpc>
                <a:spcPct val="127388"/>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"You talk to the Master. The Master talks to the Leads. The Leads manage the Workers."</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pic>
        <p:nvPicPr>
          <p:cNvPr descr="preencoded.png" id="1076" name="Google Shape;1076;p2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077" name="Google Shape;1077;p23"/>
          <p:cNvSpPr/>
          <p:nvPr/>
        </p:nvSpPr>
        <p:spPr>
          <a:xfrm>
            <a:off x="571500" y="428625"/>
            <a:ext cx="7143750" cy="408980"/>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Calibri"/>
              <a:buNone/>
            </a:pPr>
            <a:r>
              <a:rPr b="1" i="0" lang="en-US" sz="2121" u="none" cap="none" strike="noStrike">
                <a:solidFill>
                  <a:srgbClr val="FFFFFF"/>
                </a:solidFill>
                <a:latin typeface="Calibri"/>
                <a:ea typeface="Calibri"/>
                <a:cs typeface="Calibri"/>
                <a:sym typeface="Calibri"/>
              </a:rPr>
              <a:t>Quality Gates: Blocking Bad Code</a:t>
            </a:r>
            <a:endParaRPr b="0" i="0" sz="2121" u="none" cap="none" strike="noStrike">
              <a:solidFill>
                <a:schemeClr val="dk1"/>
              </a:solidFill>
              <a:latin typeface="Calibri"/>
              <a:ea typeface="Calibri"/>
              <a:cs typeface="Calibri"/>
              <a:sym typeface="Calibri"/>
            </a:endParaRPr>
          </a:p>
        </p:txBody>
      </p:sp>
      <p:sp>
        <p:nvSpPr>
          <p:cNvPr id="1078" name="Google Shape;1078;p23"/>
          <p:cNvSpPr/>
          <p:nvPr/>
        </p:nvSpPr>
        <p:spPr>
          <a:xfrm>
            <a:off x="571500" y="1877020"/>
            <a:ext cx="1571625" cy="1494830"/>
          </a:xfrm>
          <a:prstGeom prst="rect">
            <a:avLst/>
          </a:prstGeom>
          <a:solidFill>
            <a:srgbClr val="1A2A3A"/>
          </a:solidFill>
          <a:ln cap="flat" cmpd="sng" w="1827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79" name="Google Shape;1079;p23"/>
          <p:cNvPicPr preferRelativeResize="0"/>
          <p:nvPr/>
        </p:nvPicPr>
        <p:blipFill rotWithShape="1">
          <a:blip r:embed="rId4">
            <a:alphaModFix/>
          </a:blip>
          <a:srcRect b="0" l="0" r="0" t="0"/>
          <a:stretch/>
        </p:blipFill>
        <p:spPr>
          <a:xfrm>
            <a:off x="1271588" y="2078831"/>
            <a:ext cx="171450" cy="228600"/>
          </a:xfrm>
          <a:prstGeom prst="rect">
            <a:avLst/>
          </a:prstGeom>
          <a:noFill/>
          <a:ln>
            <a:noFill/>
          </a:ln>
        </p:spPr>
      </p:pic>
      <p:sp>
        <p:nvSpPr>
          <p:cNvPr id="1080" name="Google Shape;1080;p23"/>
          <p:cNvSpPr/>
          <p:nvPr/>
        </p:nvSpPr>
        <p:spPr>
          <a:xfrm>
            <a:off x="714375" y="2453878"/>
            <a:ext cx="1285875" cy="175022"/>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Spec Gate</a:t>
            </a:r>
            <a:endParaRPr b="0" i="0" sz="885" u="none" cap="none" strike="noStrike">
              <a:solidFill>
                <a:schemeClr val="dk1"/>
              </a:solidFill>
              <a:latin typeface="Calibri"/>
              <a:ea typeface="Calibri"/>
              <a:cs typeface="Calibri"/>
              <a:sym typeface="Calibri"/>
            </a:endParaRPr>
          </a:p>
        </p:txBody>
      </p:sp>
      <p:sp>
        <p:nvSpPr>
          <p:cNvPr id="1081" name="Google Shape;1081;p23"/>
          <p:cNvSpPr/>
          <p:nvPr/>
        </p:nvSpPr>
        <p:spPr>
          <a:xfrm>
            <a:off x="785813" y="2700338"/>
            <a:ext cx="1214438" cy="135731"/>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CBD5E1"/>
              </a:buClr>
              <a:buSzPts val="674"/>
              <a:buFont typeface="Calibri"/>
              <a:buNone/>
            </a:pPr>
            <a:r>
              <a:rPr b="0" i="0" lang="en-US" sz="674" u="none" cap="none" strike="noStrike">
                <a:solidFill>
                  <a:srgbClr val="CBD5E1"/>
                </a:solidFill>
                <a:latin typeface="Calibri"/>
                <a:ea typeface="Calibri"/>
                <a:cs typeface="Calibri"/>
                <a:sym typeface="Calibri"/>
              </a:rPr>
              <a:t>No ambiguous terms</a:t>
            </a:r>
            <a:endParaRPr b="0" i="0" sz="674" u="none" cap="none" strike="noStrike">
              <a:solidFill>
                <a:schemeClr val="dk1"/>
              </a:solidFill>
              <a:latin typeface="Calibri"/>
              <a:ea typeface="Calibri"/>
              <a:cs typeface="Calibri"/>
              <a:sym typeface="Calibri"/>
            </a:endParaRPr>
          </a:p>
        </p:txBody>
      </p:sp>
      <p:sp>
        <p:nvSpPr>
          <p:cNvPr id="1082" name="Google Shape;1082;p23"/>
          <p:cNvSpPr/>
          <p:nvPr/>
        </p:nvSpPr>
        <p:spPr>
          <a:xfrm>
            <a:off x="785813" y="2871788"/>
            <a:ext cx="1214438" cy="135731"/>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CBD5E1"/>
              </a:buClr>
              <a:buSzPts val="674"/>
              <a:buFont typeface="Calibri"/>
              <a:buNone/>
            </a:pPr>
            <a:r>
              <a:rPr b="0" i="0" lang="en-US" sz="674" u="none" cap="none" strike="noStrike">
                <a:solidFill>
                  <a:srgbClr val="CBD5E1"/>
                </a:solidFill>
                <a:latin typeface="Calibri"/>
                <a:ea typeface="Calibri"/>
                <a:cs typeface="Calibri"/>
                <a:sym typeface="Calibri"/>
              </a:rPr>
              <a:t>Complete user stories</a:t>
            </a:r>
            <a:endParaRPr b="0" i="0" sz="674" u="none" cap="none" strike="noStrike">
              <a:solidFill>
                <a:schemeClr val="dk1"/>
              </a:solidFill>
              <a:latin typeface="Calibri"/>
              <a:ea typeface="Calibri"/>
              <a:cs typeface="Calibri"/>
              <a:sym typeface="Calibri"/>
            </a:endParaRPr>
          </a:p>
        </p:txBody>
      </p:sp>
      <p:sp>
        <p:nvSpPr>
          <p:cNvPr id="1083" name="Google Shape;1083;p23"/>
          <p:cNvSpPr/>
          <p:nvPr/>
        </p:nvSpPr>
        <p:spPr>
          <a:xfrm>
            <a:off x="785813" y="3043238"/>
            <a:ext cx="1214438" cy="135731"/>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CBD5E1"/>
              </a:buClr>
              <a:buSzPts val="674"/>
              <a:buFont typeface="Calibri"/>
              <a:buNone/>
            </a:pPr>
            <a:r>
              <a:rPr b="0" i="0" lang="en-US" sz="674" u="none" cap="none" strike="noStrike">
                <a:solidFill>
                  <a:srgbClr val="CBD5E1"/>
                </a:solidFill>
                <a:latin typeface="Calibri"/>
                <a:ea typeface="Calibri"/>
                <a:cs typeface="Calibri"/>
                <a:sym typeface="Calibri"/>
              </a:rPr>
              <a:t>Feasibility check</a:t>
            </a:r>
            <a:endParaRPr b="0" i="0" sz="674" u="none" cap="none" strike="noStrike">
              <a:solidFill>
                <a:schemeClr val="dk1"/>
              </a:solidFill>
              <a:latin typeface="Calibri"/>
              <a:ea typeface="Calibri"/>
              <a:cs typeface="Calibri"/>
              <a:sym typeface="Calibri"/>
            </a:endParaRPr>
          </a:p>
        </p:txBody>
      </p:sp>
      <p:sp>
        <p:nvSpPr>
          <p:cNvPr id="1084" name="Google Shape;1084;p23"/>
          <p:cNvSpPr/>
          <p:nvPr/>
        </p:nvSpPr>
        <p:spPr>
          <a:xfrm>
            <a:off x="2714625" y="1877020"/>
            <a:ext cx="1571625" cy="1494830"/>
          </a:xfrm>
          <a:prstGeom prst="rect">
            <a:avLst/>
          </a:prstGeom>
          <a:solidFill>
            <a:srgbClr val="1A2A3A"/>
          </a:solidFill>
          <a:ln cap="flat" cmpd="sng" w="1827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85" name="Google Shape;1085;p23"/>
          <p:cNvPicPr preferRelativeResize="0"/>
          <p:nvPr/>
        </p:nvPicPr>
        <p:blipFill rotWithShape="1">
          <a:blip r:embed="rId5">
            <a:alphaModFix/>
          </a:blip>
          <a:srcRect b="0" l="0" r="0" t="0"/>
          <a:stretch/>
        </p:blipFill>
        <p:spPr>
          <a:xfrm>
            <a:off x="3386138" y="2078831"/>
            <a:ext cx="228600" cy="228600"/>
          </a:xfrm>
          <a:prstGeom prst="rect">
            <a:avLst/>
          </a:prstGeom>
          <a:noFill/>
          <a:ln>
            <a:noFill/>
          </a:ln>
        </p:spPr>
      </p:pic>
      <p:sp>
        <p:nvSpPr>
          <p:cNvPr id="1086" name="Google Shape;1086;p23"/>
          <p:cNvSpPr/>
          <p:nvPr/>
        </p:nvSpPr>
        <p:spPr>
          <a:xfrm>
            <a:off x="2857500" y="2453878"/>
            <a:ext cx="1285875" cy="175022"/>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Design Gate</a:t>
            </a:r>
            <a:endParaRPr b="0" i="0" sz="885" u="none" cap="none" strike="noStrike">
              <a:solidFill>
                <a:schemeClr val="dk1"/>
              </a:solidFill>
              <a:latin typeface="Calibri"/>
              <a:ea typeface="Calibri"/>
              <a:cs typeface="Calibri"/>
              <a:sym typeface="Calibri"/>
            </a:endParaRPr>
          </a:p>
        </p:txBody>
      </p:sp>
      <p:sp>
        <p:nvSpPr>
          <p:cNvPr id="1087" name="Google Shape;1087;p23"/>
          <p:cNvSpPr/>
          <p:nvPr/>
        </p:nvSpPr>
        <p:spPr>
          <a:xfrm>
            <a:off x="2928938" y="2700338"/>
            <a:ext cx="1214438" cy="135731"/>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CBD5E1"/>
              </a:buClr>
              <a:buSzPts val="674"/>
              <a:buFont typeface="Calibri"/>
              <a:buNone/>
            </a:pPr>
            <a:r>
              <a:rPr b="0" i="0" lang="en-US" sz="674" u="none" cap="none" strike="noStrike">
                <a:solidFill>
                  <a:srgbClr val="CBD5E1"/>
                </a:solidFill>
                <a:latin typeface="Calibri"/>
                <a:ea typeface="Calibri"/>
                <a:cs typeface="Calibri"/>
                <a:sym typeface="Calibri"/>
              </a:rPr>
              <a:t>Schema normalized</a:t>
            </a:r>
            <a:endParaRPr b="0" i="0" sz="674" u="none" cap="none" strike="noStrike">
              <a:solidFill>
                <a:schemeClr val="dk1"/>
              </a:solidFill>
              <a:latin typeface="Calibri"/>
              <a:ea typeface="Calibri"/>
              <a:cs typeface="Calibri"/>
              <a:sym typeface="Calibri"/>
            </a:endParaRPr>
          </a:p>
        </p:txBody>
      </p:sp>
      <p:sp>
        <p:nvSpPr>
          <p:cNvPr id="1088" name="Google Shape;1088;p23"/>
          <p:cNvSpPr/>
          <p:nvPr/>
        </p:nvSpPr>
        <p:spPr>
          <a:xfrm>
            <a:off x="2928938" y="2871788"/>
            <a:ext cx="1214438" cy="135731"/>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CBD5E1"/>
              </a:buClr>
              <a:buSzPts val="674"/>
              <a:buFont typeface="Calibri"/>
              <a:buNone/>
            </a:pPr>
            <a:r>
              <a:rPr b="0" i="0" lang="en-US" sz="674" u="none" cap="none" strike="noStrike">
                <a:solidFill>
                  <a:srgbClr val="CBD5E1"/>
                </a:solidFill>
                <a:latin typeface="Calibri"/>
                <a:ea typeface="Calibri"/>
                <a:cs typeface="Calibri"/>
                <a:sym typeface="Calibri"/>
              </a:rPr>
              <a:t>API follows REST</a:t>
            </a:r>
            <a:endParaRPr b="0" i="0" sz="674" u="none" cap="none" strike="noStrike">
              <a:solidFill>
                <a:schemeClr val="dk1"/>
              </a:solidFill>
              <a:latin typeface="Calibri"/>
              <a:ea typeface="Calibri"/>
              <a:cs typeface="Calibri"/>
              <a:sym typeface="Calibri"/>
            </a:endParaRPr>
          </a:p>
        </p:txBody>
      </p:sp>
      <p:sp>
        <p:nvSpPr>
          <p:cNvPr id="1089" name="Google Shape;1089;p23"/>
          <p:cNvSpPr/>
          <p:nvPr/>
        </p:nvSpPr>
        <p:spPr>
          <a:xfrm>
            <a:off x="2928938" y="3043238"/>
            <a:ext cx="1214438" cy="135731"/>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CBD5E1"/>
              </a:buClr>
              <a:buSzPts val="674"/>
              <a:buFont typeface="Calibri"/>
              <a:buNone/>
            </a:pPr>
            <a:r>
              <a:rPr b="0" i="0" lang="en-US" sz="674" u="none" cap="none" strike="noStrike">
                <a:solidFill>
                  <a:srgbClr val="CBD5E1"/>
                </a:solidFill>
                <a:latin typeface="Calibri"/>
                <a:ea typeface="Calibri"/>
                <a:cs typeface="Calibri"/>
                <a:sym typeface="Calibri"/>
              </a:rPr>
              <a:t>Security review</a:t>
            </a:r>
            <a:endParaRPr b="0" i="0" sz="674" u="none" cap="none" strike="noStrike">
              <a:solidFill>
                <a:schemeClr val="dk1"/>
              </a:solidFill>
              <a:latin typeface="Calibri"/>
              <a:ea typeface="Calibri"/>
              <a:cs typeface="Calibri"/>
              <a:sym typeface="Calibri"/>
            </a:endParaRPr>
          </a:p>
        </p:txBody>
      </p:sp>
      <p:sp>
        <p:nvSpPr>
          <p:cNvPr id="1090" name="Google Shape;1090;p23"/>
          <p:cNvSpPr/>
          <p:nvPr/>
        </p:nvSpPr>
        <p:spPr>
          <a:xfrm>
            <a:off x="4857750" y="1877020"/>
            <a:ext cx="1571625" cy="1494830"/>
          </a:xfrm>
          <a:prstGeom prst="rect">
            <a:avLst/>
          </a:prstGeom>
          <a:solidFill>
            <a:srgbClr val="1A2A3A"/>
          </a:solidFill>
          <a:ln cap="flat" cmpd="sng" w="1827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91" name="Google Shape;1091;p23"/>
          <p:cNvPicPr preferRelativeResize="0"/>
          <p:nvPr/>
        </p:nvPicPr>
        <p:blipFill rotWithShape="1">
          <a:blip r:embed="rId6">
            <a:alphaModFix/>
          </a:blip>
          <a:srcRect b="0" l="0" r="0" t="0"/>
          <a:stretch/>
        </p:blipFill>
        <p:spPr>
          <a:xfrm>
            <a:off x="5543550" y="2078831"/>
            <a:ext cx="200025" cy="228600"/>
          </a:xfrm>
          <a:prstGeom prst="rect">
            <a:avLst/>
          </a:prstGeom>
          <a:noFill/>
          <a:ln>
            <a:noFill/>
          </a:ln>
        </p:spPr>
      </p:pic>
      <p:sp>
        <p:nvSpPr>
          <p:cNvPr id="1092" name="Google Shape;1092;p23"/>
          <p:cNvSpPr/>
          <p:nvPr/>
        </p:nvSpPr>
        <p:spPr>
          <a:xfrm>
            <a:off x="5000625" y="2453878"/>
            <a:ext cx="1285875" cy="175022"/>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Code Gate</a:t>
            </a:r>
            <a:endParaRPr b="0" i="0" sz="885" u="none" cap="none" strike="noStrike">
              <a:solidFill>
                <a:schemeClr val="dk1"/>
              </a:solidFill>
              <a:latin typeface="Calibri"/>
              <a:ea typeface="Calibri"/>
              <a:cs typeface="Calibri"/>
              <a:sym typeface="Calibri"/>
            </a:endParaRPr>
          </a:p>
        </p:txBody>
      </p:sp>
      <p:sp>
        <p:nvSpPr>
          <p:cNvPr id="1093" name="Google Shape;1093;p23"/>
          <p:cNvSpPr/>
          <p:nvPr/>
        </p:nvSpPr>
        <p:spPr>
          <a:xfrm>
            <a:off x="5072063" y="2700338"/>
            <a:ext cx="1214438" cy="135731"/>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CBD5E1"/>
              </a:buClr>
              <a:buSzPts val="674"/>
              <a:buFont typeface="Calibri"/>
              <a:buNone/>
            </a:pPr>
            <a:r>
              <a:rPr b="0" i="0" lang="en-US" sz="674" u="none" cap="none" strike="noStrike">
                <a:solidFill>
                  <a:srgbClr val="CBD5E1"/>
                </a:solidFill>
                <a:latin typeface="Calibri"/>
                <a:ea typeface="Calibri"/>
                <a:cs typeface="Calibri"/>
                <a:sym typeface="Calibri"/>
              </a:rPr>
              <a:t>Linting passes</a:t>
            </a:r>
            <a:endParaRPr b="0" i="0" sz="674" u="none" cap="none" strike="noStrike">
              <a:solidFill>
                <a:schemeClr val="dk1"/>
              </a:solidFill>
              <a:latin typeface="Calibri"/>
              <a:ea typeface="Calibri"/>
              <a:cs typeface="Calibri"/>
              <a:sym typeface="Calibri"/>
            </a:endParaRPr>
          </a:p>
        </p:txBody>
      </p:sp>
      <p:sp>
        <p:nvSpPr>
          <p:cNvPr id="1094" name="Google Shape;1094;p23"/>
          <p:cNvSpPr/>
          <p:nvPr/>
        </p:nvSpPr>
        <p:spPr>
          <a:xfrm>
            <a:off x="5072063" y="2871788"/>
            <a:ext cx="1214438" cy="135731"/>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CBD5E1"/>
              </a:buClr>
              <a:buSzPts val="674"/>
              <a:buFont typeface="Calibri"/>
              <a:buNone/>
            </a:pPr>
            <a:r>
              <a:rPr b="0" i="0" lang="en-US" sz="674" u="none" cap="none" strike="noStrike">
                <a:solidFill>
                  <a:srgbClr val="CBD5E1"/>
                </a:solidFill>
                <a:latin typeface="Calibri"/>
                <a:ea typeface="Calibri"/>
                <a:cs typeface="Calibri"/>
                <a:sym typeface="Calibri"/>
              </a:rPr>
              <a:t>Unit tests &gt; 80%</a:t>
            </a:r>
            <a:endParaRPr b="0" i="0" sz="674" u="none" cap="none" strike="noStrike">
              <a:solidFill>
                <a:schemeClr val="dk1"/>
              </a:solidFill>
              <a:latin typeface="Calibri"/>
              <a:ea typeface="Calibri"/>
              <a:cs typeface="Calibri"/>
              <a:sym typeface="Calibri"/>
            </a:endParaRPr>
          </a:p>
        </p:txBody>
      </p:sp>
      <p:sp>
        <p:nvSpPr>
          <p:cNvPr id="1095" name="Google Shape;1095;p23"/>
          <p:cNvSpPr/>
          <p:nvPr/>
        </p:nvSpPr>
        <p:spPr>
          <a:xfrm>
            <a:off x="5072063" y="3043238"/>
            <a:ext cx="1214438" cy="135731"/>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CBD5E1"/>
              </a:buClr>
              <a:buSzPts val="674"/>
              <a:buFont typeface="Calibri"/>
              <a:buNone/>
            </a:pPr>
            <a:r>
              <a:rPr b="0" i="0" lang="en-US" sz="674" u="none" cap="none" strike="noStrike">
                <a:solidFill>
                  <a:srgbClr val="CBD5E1"/>
                </a:solidFill>
                <a:latin typeface="Calibri"/>
                <a:ea typeface="Calibri"/>
                <a:cs typeface="Calibri"/>
                <a:sym typeface="Calibri"/>
              </a:rPr>
              <a:t>No hardcoded secrets</a:t>
            </a:r>
            <a:endParaRPr b="0" i="0" sz="674" u="none" cap="none" strike="noStrike">
              <a:solidFill>
                <a:schemeClr val="dk1"/>
              </a:solidFill>
              <a:latin typeface="Calibri"/>
              <a:ea typeface="Calibri"/>
              <a:cs typeface="Calibri"/>
              <a:sym typeface="Calibri"/>
            </a:endParaRPr>
          </a:p>
        </p:txBody>
      </p:sp>
      <p:sp>
        <p:nvSpPr>
          <p:cNvPr id="1096" name="Google Shape;1096;p23"/>
          <p:cNvSpPr/>
          <p:nvPr/>
        </p:nvSpPr>
        <p:spPr>
          <a:xfrm>
            <a:off x="7000875" y="1877020"/>
            <a:ext cx="1571625" cy="1494830"/>
          </a:xfrm>
          <a:prstGeom prst="rect">
            <a:avLst/>
          </a:prstGeom>
          <a:solidFill>
            <a:srgbClr val="1A2A3A"/>
          </a:solidFill>
          <a:ln cap="flat" cmpd="sng" w="1827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97" name="Google Shape;1097;p23"/>
          <p:cNvPicPr preferRelativeResize="0"/>
          <p:nvPr/>
        </p:nvPicPr>
        <p:blipFill rotWithShape="1">
          <a:blip r:embed="rId7">
            <a:alphaModFix/>
          </a:blip>
          <a:srcRect b="0" l="0" r="0" t="0"/>
          <a:stretch/>
        </p:blipFill>
        <p:spPr>
          <a:xfrm>
            <a:off x="7672388" y="2078831"/>
            <a:ext cx="228600" cy="228600"/>
          </a:xfrm>
          <a:prstGeom prst="rect">
            <a:avLst/>
          </a:prstGeom>
          <a:noFill/>
          <a:ln>
            <a:noFill/>
          </a:ln>
        </p:spPr>
      </p:pic>
      <p:sp>
        <p:nvSpPr>
          <p:cNvPr id="1098" name="Google Shape;1098;p23"/>
          <p:cNvSpPr/>
          <p:nvPr/>
        </p:nvSpPr>
        <p:spPr>
          <a:xfrm>
            <a:off x="7143750" y="2453878"/>
            <a:ext cx="1285875" cy="175022"/>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Deploy Gate</a:t>
            </a:r>
            <a:endParaRPr b="0" i="0" sz="885" u="none" cap="none" strike="noStrike">
              <a:solidFill>
                <a:schemeClr val="dk1"/>
              </a:solidFill>
              <a:latin typeface="Calibri"/>
              <a:ea typeface="Calibri"/>
              <a:cs typeface="Calibri"/>
              <a:sym typeface="Calibri"/>
            </a:endParaRPr>
          </a:p>
        </p:txBody>
      </p:sp>
      <p:sp>
        <p:nvSpPr>
          <p:cNvPr id="1099" name="Google Shape;1099;p23"/>
          <p:cNvSpPr/>
          <p:nvPr/>
        </p:nvSpPr>
        <p:spPr>
          <a:xfrm>
            <a:off x="7215188" y="2700338"/>
            <a:ext cx="1214438" cy="135731"/>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CBD5E1"/>
              </a:buClr>
              <a:buSzPts val="674"/>
              <a:buFont typeface="Calibri"/>
              <a:buNone/>
            </a:pPr>
            <a:r>
              <a:rPr b="0" i="0" lang="en-US" sz="674" u="none" cap="none" strike="noStrike">
                <a:solidFill>
                  <a:srgbClr val="CBD5E1"/>
                </a:solidFill>
                <a:latin typeface="Calibri"/>
                <a:ea typeface="Calibri"/>
                <a:cs typeface="Calibri"/>
                <a:sym typeface="Calibri"/>
              </a:rPr>
              <a:t>E2E tests pass</a:t>
            </a:r>
            <a:endParaRPr b="0" i="0" sz="674" u="none" cap="none" strike="noStrike">
              <a:solidFill>
                <a:schemeClr val="dk1"/>
              </a:solidFill>
              <a:latin typeface="Calibri"/>
              <a:ea typeface="Calibri"/>
              <a:cs typeface="Calibri"/>
              <a:sym typeface="Calibri"/>
            </a:endParaRPr>
          </a:p>
        </p:txBody>
      </p:sp>
      <p:sp>
        <p:nvSpPr>
          <p:cNvPr id="1100" name="Google Shape;1100;p23"/>
          <p:cNvSpPr/>
          <p:nvPr/>
        </p:nvSpPr>
        <p:spPr>
          <a:xfrm>
            <a:off x="7215188" y="2871788"/>
            <a:ext cx="1214438" cy="135731"/>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CBD5E1"/>
              </a:buClr>
              <a:buSzPts val="674"/>
              <a:buFont typeface="Calibri"/>
              <a:buNone/>
            </a:pPr>
            <a:r>
              <a:rPr b="0" i="0" lang="en-US" sz="674" u="none" cap="none" strike="noStrike">
                <a:solidFill>
                  <a:srgbClr val="CBD5E1"/>
                </a:solidFill>
                <a:latin typeface="Calibri"/>
                <a:ea typeface="Calibri"/>
                <a:cs typeface="Calibri"/>
                <a:sym typeface="Calibri"/>
              </a:rPr>
              <a:t>Performance check</a:t>
            </a:r>
            <a:endParaRPr b="0" i="0" sz="674" u="none" cap="none" strike="noStrike">
              <a:solidFill>
                <a:schemeClr val="dk1"/>
              </a:solidFill>
              <a:latin typeface="Calibri"/>
              <a:ea typeface="Calibri"/>
              <a:cs typeface="Calibri"/>
              <a:sym typeface="Calibri"/>
            </a:endParaRPr>
          </a:p>
        </p:txBody>
      </p:sp>
      <p:sp>
        <p:nvSpPr>
          <p:cNvPr id="1101" name="Google Shape;1101;p23"/>
          <p:cNvSpPr/>
          <p:nvPr/>
        </p:nvSpPr>
        <p:spPr>
          <a:xfrm>
            <a:off x="7215188" y="3043238"/>
            <a:ext cx="1214438" cy="135731"/>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CBD5E1"/>
              </a:buClr>
              <a:buSzPts val="674"/>
              <a:buFont typeface="Calibri"/>
              <a:buNone/>
            </a:pPr>
            <a:r>
              <a:rPr b="0" i="0" lang="en-US" sz="674" u="none" cap="none" strike="noStrike">
                <a:solidFill>
                  <a:srgbClr val="CBD5E1"/>
                </a:solidFill>
                <a:latin typeface="Calibri"/>
                <a:ea typeface="Calibri"/>
                <a:cs typeface="Calibri"/>
                <a:sym typeface="Calibri"/>
              </a:rPr>
              <a:t>Rollback plan ready</a:t>
            </a:r>
            <a:endParaRPr b="0" i="0" sz="674" u="none" cap="none" strike="noStrike">
              <a:solidFill>
                <a:schemeClr val="dk1"/>
              </a:solidFill>
              <a:latin typeface="Calibri"/>
              <a:ea typeface="Calibri"/>
              <a:cs typeface="Calibri"/>
              <a:sym typeface="Calibri"/>
            </a:endParaRPr>
          </a:p>
        </p:txBody>
      </p:sp>
      <p:sp>
        <p:nvSpPr>
          <p:cNvPr id="1102" name="Google Shape;1102;p23"/>
          <p:cNvSpPr/>
          <p:nvPr/>
        </p:nvSpPr>
        <p:spPr>
          <a:xfrm>
            <a:off x="571500" y="4311253"/>
            <a:ext cx="8001000" cy="403622"/>
          </a:xfrm>
          <a:prstGeom prst="rect">
            <a:avLst/>
          </a:prstGeom>
          <a:solidFill>
            <a:srgbClr val="FF5252">
              <a:alpha val="10196"/>
            </a:srgbClr>
          </a:solidFill>
          <a:ln cap="flat" cmpd="sng" w="952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3"/>
          <p:cNvSpPr/>
          <p:nvPr/>
        </p:nvSpPr>
        <p:spPr>
          <a:xfrm>
            <a:off x="571500" y="4311253"/>
            <a:ext cx="8001000" cy="403622"/>
          </a:xfrm>
          <a:prstGeom prst="rect">
            <a:avLst/>
          </a:prstGeom>
          <a:noFill/>
          <a:ln>
            <a:noFill/>
          </a:ln>
        </p:spPr>
        <p:txBody>
          <a:bodyPr anchorCtr="0" anchor="t" bIns="127500" lIns="127500" spcFirstLastPara="1" rIns="127500" wrap="square" tIns="127500">
            <a:noAutofit/>
          </a:bodyPr>
          <a:lstStyle/>
          <a:p>
            <a:pPr indent="0" lvl="0" marL="0" marR="0" rtl="0" algn="ctr">
              <a:lnSpc>
                <a:spcPct val="127388"/>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"If a gate fails, the pipeline stops. No bad code moves downstream."</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pic>
        <p:nvPicPr>
          <p:cNvPr descr="preencoded.png" id="1109" name="Google Shape;1109;p2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110" name="Google Shape;1110;p24"/>
          <p:cNvSpPr/>
          <p:nvPr/>
        </p:nvSpPr>
        <p:spPr>
          <a:xfrm>
            <a:off x="571500" y="428625"/>
            <a:ext cx="7143750" cy="408980"/>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Calibri"/>
              <a:buNone/>
            </a:pPr>
            <a:r>
              <a:rPr b="1" i="0" lang="en-US" sz="2121" u="none" cap="none" strike="noStrike">
                <a:solidFill>
                  <a:srgbClr val="FFFFFF"/>
                </a:solidFill>
                <a:latin typeface="Calibri"/>
                <a:ea typeface="Calibri"/>
                <a:cs typeface="Calibri"/>
                <a:sym typeface="Calibri"/>
              </a:rPr>
              <a:t>Human-in-the-Loop: The Critical Checkpoints</a:t>
            </a:r>
            <a:endParaRPr b="0" i="0" sz="2121" u="none" cap="none" strike="noStrike">
              <a:solidFill>
                <a:schemeClr val="dk1"/>
              </a:solidFill>
              <a:latin typeface="Calibri"/>
              <a:ea typeface="Calibri"/>
              <a:cs typeface="Calibri"/>
              <a:sym typeface="Calibri"/>
            </a:endParaRPr>
          </a:p>
        </p:txBody>
      </p:sp>
      <p:sp>
        <p:nvSpPr>
          <p:cNvPr id="1111" name="Google Shape;1111;p24"/>
          <p:cNvSpPr/>
          <p:nvPr/>
        </p:nvSpPr>
        <p:spPr>
          <a:xfrm>
            <a:off x="1071563" y="1509117"/>
            <a:ext cx="571500" cy="571500"/>
          </a:xfrm>
          <a:prstGeom prst="ellipse">
            <a:avLst/>
          </a:prstGeom>
          <a:solidFill>
            <a:srgbClr val="1A2A3A"/>
          </a:solidFill>
          <a:ln cap="flat" cmpd="sng" w="27425">
            <a:solidFill>
              <a:srgbClr val="F5C51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12" name="Google Shape;1112;p24"/>
          <p:cNvPicPr preferRelativeResize="0"/>
          <p:nvPr/>
        </p:nvPicPr>
        <p:blipFill rotWithShape="1">
          <a:blip r:embed="rId4">
            <a:alphaModFix/>
          </a:blip>
          <a:srcRect b="0" l="0" r="0" t="0"/>
          <a:stretch/>
        </p:blipFill>
        <p:spPr>
          <a:xfrm>
            <a:off x="1271588" y="1680567"/>
            <a:ext cx="171450" cy="228600"/>
          </a:xfrm>
          <a:prstGeom prst="rect">
            <a:avLst/>
          </a:prstGeom>
          <a:noFill/>
          <a:ln>
            <a:noFill/>
          </a:ln>
        </p:spPr>
      </p:pic>
      <p:sp>
        <p:nvSpPr>
          <p:cNvPr id="1113" name="Google Shape;1113;p24"/>
          <p:cNvSpPr/>
          <p:nvPr/>
        </p:nvSpPr>
        <p:spPr>
          <a:xfrm>
            <a:off x="789915" y="2223492"/>
            <a:ext cx="1134796" cy="175022"/>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Business Problem</a:t>
            </a:r>
            <a:endParaRPr b="0" i="0" sz="885" u="none" cap="none" strike="noStrike">
              <a:solidFill>
                <a:schemeClr val="dk1"/>
              </a:solidFill>
              <a:latin typeface="Calibri"/>
              <a:ea typeface="Calibri"/>
              <a:cs typeface="Calibri"/>
              <a:sym typeface="Calibri"/>
            </a:endParaRPr>
          </a:p>
        </p:txBody>
      </p:sp>
      <p:sp>
        <p:nvSpPr>
          <p:cNvPr id="1114" name="Google Shape;1114;p24"/>
          <p:cNvSpPr/>
          <p:nvPr/>
        </p:nvSpPr>
        <p:spPr>
          <a:xfrm>
            <a:off x="571500" y="2469952"/>
            <a:ext cx="1571625" cy="550069"/>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4"/>
          <p:cNvSpPr/>
          <p:nvPr/>
        </p:nvSpPr>
        <p:spPr>
          <a:xfrm>
            <a:off x="571500" y="2469952"/>
            <a:ext cx="14288" cy="550069"/>
          </a:xfrm>
          <a:prstGeom prst="rect">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4"/>
          <p:cNvSpPr/>
          <p:nvPr/>
        </p:nvSpPr>
        <p:spPr>
          <a:xfrm>
            <a:off x="571500" y="2469952"/>
            <a:ext cx="1571625" cy="550069"/>
          </a:xfrm>
          <a:prstGeom prst="rect">
            <a:avLst/>
          </a:prstGeom>
          <a:noFill/>
          <a:ln>
            <a:noFill/>
          </a:ln>
        </p:spPr>
        <p:txBody>
          <a:bodyPr anchorCtr="0" anchor="t" bIns="85075" lIns="85075" spcFirstLastPara="1" rIns="85075" wrap="square" tIns="85075">
            <a:noAutofit/>
          </a:bodyPr>
          <a:lstStyle/>
          <a:p>
            <a:pPr indent="0" lvl="0" marL="0" marR="0" rtl="0" algn="ctr">
              <a:lnSpc>
                <a:spcPct val="123796"/>
              </a:lnSpc>
              <a:spcBef>
                <a:spcPts val="0"/>
              </a:spcBef>
              <a:spcAft>
                <a:spcPts val="0"/>
              </a:spcAft>
              <a:buClr>
                <a:srgbClr val="CBD5E1"/>
              </a:buClr>
              <a:buSzPts val="683"/>
              <a:buFont typeface="Calibri"/>
              <a:buNone/>
            </a:pPr>
            <a:r>
              <a:rPr b="1" i="0" lang="en-US" sz="683" u="none" cap="none" strike="noStrike">
                <a:solidFill>
                  <a:srgbClr val="CBD5E1"/>
                </a:solidFill>
                <a:latin typeface="Calibri"/>
                <a:ea typeface="Calibri"/>
                <a:cs typeface="Calibri"/>
                <a:sym typeface="Calibri"/>
              </a:rPr>
              <a:t>Stakeholder Review:</a:t>
            </a:r>
            <a:br>
              <a:rPr b="0" i="0" lang="en-US" sz="727" u="none" cap="none" strike="noStrike">
                <a:solidFill>
                  <a:srgbClr val="CBD5E1"/>
                </a:solidFill>
                <a:latin typeface="Calibri"/>
                <a:ea typeface="Calibri"/>
                <a:cs typeface="Calibri"/>
                <a:sym typeface="Calibri"/>
              </a:rPr>
            </a:br>
            <a:r>
              <a:rPr b="0" i="0" lang="en-US" sz="727" u="none" cap="none" strike="noStrike">
                <a:solidFill>
                  <a:srgbClr val="CBD5E1"/>
                </a:solidFill>
                <a:latin typeface="Calibri"/>
                <a:ea typeface="Calibri"/>
                <a:cs typeface="Calibri"/>
                <a:sym typeface="Calibri"/>
              </a:rPr>
              <a:t> "Are we solving the right problem? Is the scope clear?"</a:t>
            </a:r>
            <a:endParaRPr b="0" i="0" sz="727" u="none" cap="none" strike="noStrike">
              <a:solidFill>
                <a:schemeClr val="dk1"/>
              </a:solidFill>
              <a:latin typeface="Calibri"/>
              <a:ea typeface="Calibri"/>
              <a:cs typeface="Calibri"/>
              <a:sym typeface="Calibri"/>
            </a:endParaRPr>
          </a:p>
        </p:txBody>
      </p:sp>
      <p:sp>
        <p:nvSpPr>
          <p:cNvPr id="1117" name="Google Shape;1117;p24"/>
          <p:cNvSpPr/>
          <p:nvPr/>
        </p:nvSpPr>
        <p:spPr>
          <a:xfrm>
            <a:off x="3214688" y="1509117"/>
            <a:ext cx="571500" cy="571500"/>
          </a:xfrm>
          <a:prstGeom prst="ellipse">
            <a:avLst/>
          </a:prstGeom>
          <a:solidFill>
            <a:srgbClr val="1A2A3A"/>
          </a:solidFill>
          <a:ln cap="flat" cmpd="sng" w="27425">
            <a:solidFill>
              <a:srgbClr val="F5C51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18" name="Google Shape;1118;p24"/>
          <p:cNvPicPr preferRelativeResize="0"/>
          <p:nvPr/>
        </p:nvPicPr>
        <p:blipFill rotWithShape="1">
          <a:blip r:embed="rId5">
            <a:alphaModFix/>
          </a:blip>
          <a:srcRect b="0" l="0" r="0" t="0"/>
          <a:stretch/>
        </p:blipFill>
        <p:spPr>
          <a:xfrm>
            <a:off x="3371850" y="1680567"/>
            <a:ext cx="257175" cy="228600"/>
          </a:xfrm>
          <a:prstGeom prst="rect">
            <a:avLst/>
          </a:prstGeom>
          <a:noFill/>
          <a:ln>
            <a:noFill/>
          </a:ln>
        </p:spPr>
      </p:pic>
      <p:sp>
        <p:nvSpPr>
          <p:cNvPr id="1119" name="Google Shape;1119;p24"/>
          <p:cNvSpPr/>
          <p:nvPr/>
        </p:nvSpPr>
        <p:spPr>
          <a:xfrm>
            <a:off x="3123409" y="2223492"/>
            <a:ext cx="754056" cy="175022"/>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BRD Review</a:t>
            </a:r>
            <a:endParaRPr b="0" i="0" sz="885" u="none" cap="none" strike="noStrike">
              <a:solidFill>
                <a:schemeClr val="dk1"/>
              </a:solidFill>
              <a:latin typeface="Calibri"/>
              <a:ea typeface="Calibri"/>
              <a:cs typeface="Calibri"/>
              <a:sym typeface="Calibri"/>
            </a:endParaRPr>
          </a:p>
        </p:txBody>
      </p:sp>
      <p:sp>
        <p:nvSpPr>
          <p:cNvPr id="1120" name="Google Shape;1120;p24"/>
          <p:cNvSpPr/>
          <p:nvPr/>
        </p:nvSpPr>
        <p:spPr>
          <a:xfrm>
            <a:off x="2714625" y="2469952"/>
            <a:ext cx="1571625" cy="550069"/>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4"/>
          <p:cNvSpPr/>
          <p:nvPr/>
        </p:nvSpPr>
        <p:spPr>
          <a:xfrm>
            <a:off x="2714625" y="2469952"/>
            <a:ext cx="14288" cy="550069"/>
          </a:xfrm>
          <a:prstGeom prst="rect">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4"/>
          <p:cNvSpPr/>
          <p:nvPr/>
        </p:nvSpPr>
        <p:spPr>
          <a:xfrm>
            <a:off x="2714625" y="2469952"/>
            <a:ext cx="1571625" cy="550069"/>
          </a:xfrm>
          <a:prstGeom prst="rect">
            <a:avLst/>
          </a:prstGeom>
          <a:noFill/>
          <a:ln>
            <a:noFill/>
          </a:ln>
        </p:spPr>
        <p:txBody>
          <a:bodyPr anchorCtr="0" anchor="t" bIns="85075" lIns="85075" spcFirstLastPara="1" rIns="85075" wrap="square" tIns="85075">
            <a:noAutofit/>
          </a:bodyPr>
          <a:lstStyle/>
          <a:p>
            <a:pPr indent="0" lvl="0" marL="0" marR="0" rtl="0" algn="ctr">
              <a:lnSpc>
                <a:spcPct val="123796"/>
              </a:lnSpc>
              <a:spcBef>
                <a:spcPts val="0"/>
              </a:spcBef>
              <a:spcAft>
                <a:spcPts val="0"/>
              </a:spcAft>
              <a:buClr>
                <a:srgbClr val="CBD5E1"/>
              </a:buClr>
              <a:buSzPts val="683"/>
              <a:buFont typeface="Calibri"/>
              <a:buNone/>
            </a:pPr>
            <a:r>
              <a:rPr b="1" i="0" lang="en-US" sz="683" u="none" cap="none" strike="noStrike">
                <a:solidFill>
                  <a:srgbClr val="CBD5E1"/>
                </a:solidFill>
                <a:latin typeface="Calibri"/>
                <a:ea typeface="Calibri"/>
                <a:cs typeface="Calibri"/>
                <a:sym typeface="Calibri"/>
              </a:rPr>
              <a:t>Product Manager Review:</a:t>
            </a:r>
            <a:br>
              <a:rPr b="0" i="0" lang="en-US" sz="727" u="none" cap="none" strike="noStrike">
                <a:solidFill>
                  <a:srgbClr val="CBD5E1"/>
                </a:solidFill>
                <a:latin typeface="Calibri"/>
                <a:ea typeface="Calibri"/>
                <a:cs typeface="Calibri"/>
                <a:sym typeface="Calibri"/>
              </a:rPr>
            </a:br>
            <a:r>
              <a:rPr b="0" i="0" lang="en-US" sz="727" u="none" cap="none" strike="noStrike">
                <a:solidFill>
                  <a:srgbClr val="CBD5E1"/>
                </a:solidFill>
                <a:latin typeface="Calibri"/>
                <a:ea typeface="Calibri"/>
                <a:cs typeface="Calibri"/>
                <a:sym typeface="Calibri"/>
              </a:rPr>
              <a:t> "Did the AI miss any edge cases or business rules?"</a:t>
            </a:r>
            <a:endParaRPr b="0" i="0" sz="727" u="none" cap="none" strike="noStrike">
              <a:solidFill>
                <a:schemeClr val="dk1"/>
              </a:solidFill>
              <a:latin typeface="Calibri"/>
              <a:ea typeface="Calibri"/>
              <a:cs typeface="Calibri"/>
              <a:sym typeface="Calibri"/>
            </a:endParaRPr>
          </a:p>
        </p:txBody>
      </p:sp>
      <p:sp>
        <p:nvSpPr>
          <p:cNvPr id="1123" name="Google Shape;1123;p24"/>
          <p:cNvSpPr/>
          <p:nvPr/>
        </p:nvSpPr>
        <p:spPr>
          <a:xfrm>
            <a:off x="5357813" y="1509117"/>
            <a:ext cx="571500" cy="571500"/>
          </a:xfrm>
          <a:prstGeom prst="ellipse">
            <a:avLst/>
          </a:prstGeom>
          <a:solidFill>
            <a:srgbClr val="1A2A3A"/>
          </a:solidFill>
          <a:ln cap="flat" cmpd="sng" w="27425">
            <a:solidFill>
              <a:srgbClr val="F5C51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24" name="Google Shape;1124;p24"/>
          <p:cNvPicPr preferRelativeResize="0"/>
          <p:nvPr/>
        </p:nvPicPr>
        <p:blipFill rotWithShape="1">
          <a:blip r:embed="rId6">
            <a:alphaModFix/>
          </a:blip>
          <a:srcRect b="0" l="0" r="0" t="0"/>
          <a:stretch/>
        </p:blipFill>
        <p:spPr>
          <a:xfrm>
            <a:off x="5529263" y="1680567"/>
            <a:ext cx="228600" cy="228600"/>
          </a:xfrm>
          <a:prstGeom prst="rect">
            <a:avLst/>
          </a:prstGeom>
          <a:noFill/>
          <a:ln>
            <a:noFill/>
          </a:ln>
        </p:spPr>
      </p:pic>
      <p:sp>
        <p:nvSpPr>
          <p:cNvPr id="1125" name="Google Shape;1125;p24"/>
          <p:cNvSpPr/>
          <p:nvPr/>
        </p:nvSpPr>
        <p:spPr>
          <a:xfrm>
            <a:off x="5179665" y="2223492"/>
            <a:ext cx="927767" cy="175022"/>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Design Review</a:t>
            </a:r>
            <a:endParaRPr b="0" i="0" sz="885" u="none" cap="none" strike="noStrike">
              <a:solidFill>
                <a:schemeClr val="dk1"/>
              </a:solidFill>
              <a:latin typeface="Calibri"/>
              <a:ea typeface="Calibri"/>
              <a:cs typeface="Calibri"/>
              <a:sym typeface="Calibri"/>
            </a:endParaRPr>
          </a:p>
        </p:txBody>
      </p:sp>
      <p:sp>
        <p:nvSpPr>
          <p:cNvPr id="1126" name="Google Shape;1126;p24"/>
          <p:cNvSpPr/>
          <p:nvPr/>
        </p:nvSpPr>
        <p:spPr>
          <a:xfrm>
            <a:off x="4857750" y="2469952"/>
            <a:ext cx="1571625" cy="550069"/>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4"/>
          <p:cNvSpPr/>
          <p:nvPr/>
        </p:nvSpPr>
        <p:spPr>
          <a:xfrm>
            <a:off x="4857750" y="2469952"/>
            <a:ext cx="14288" cy="550069"/>
          </a:xfrm>
          <a:prstGeom prst="rect">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4"/>
          <p:cNvSpPr/>
          <p:nvPr/>
        </p:nvSpPr>
        <p:spPr>
          <a:xfrm>
            <a:off x="4857750" y="2469952"/>
            <a:ext cx="1571625" cy="550069"/>
          </a:xfrm>
          <a:prstGeom prst="rect">
            <a:avLst/>
          </a:prstGeom>
          <a:noFill/>
          <a:ln>
            <a:noFill/>
          </a:ln>
        </p:spPr>
        <p:txBody>
          <a:bodyPr anchorCtr="0" anchor="t" bIns="85075" lIns="85075" spcFirstLastPara="1" rIns="85075" wrap="square" tIns="85075">
            <a:noAutofit/>
          </a:bodyPr>
          <a:lstStyle/>
          <a:p>
            <a:pPr indent="0" lvl="0" marL="0" marR="0" rtl="0" algn="ctr">
              <a:lnSpc>
                <a:spcPct val="123796"/>
              </a:lnSpc>
              <a:spcBef>
                <a:spcPts val="0"/>
              </a:spcBef>
              <a:spcAft>
                <a:spcPts val="0"/>
              </a:spcAft>
              <a:buClr>
                <a:srgbClr val="CBD5E1"/>
              </a:buClr>
              <a:buSzPts val="683"/>
              <a:buFont typeface="Calibri"/>
              <a:buNone/>
            </a:pPr>
            <a:r>
              <a:rPr b="1" i="0" lang="en-US" sz="683" u="none" cap="none" strike="noStrike">
                <a:solidFill>
                  <a:srgbClr val="CBD5E1"/>
                </a:solidFill>
                <a:latin typeface="Calibri"/>
                <a:ea typeface="Calibri"/>
                <a:cs typeface="Calibri"/>
                <a:sym typeface="Calibri"/>
              </a:rPr>
              <a:t>UX/UI Review:</a:t>
            </a:r>
            <a:br>
              <a:rPr b="0" i="0" lang="en-US" sz="727" u="none" cap="none" strike="noStrike">
                <a:solidFill>
                  <a:srgbClr val="CBD5E1"/>
                </a:solidFill>
                <a:latin typeface="Calibri"/>
                <a:ea typeface="Calibri"/>
                <a:cs typeface="Calibri"/>
                <a:sym typeface="Calibri"/>
              </a:rPr>
            </a:br>
            <a:r>
              <a:rPr b="0" i="0" lang="en-US" sz="727" u="none" cap="none" strike="noStrike">
                <a:solidFill>
                  <a:srgbClr val="CBD5E1"/>
                </a:solidFill>
                <a:latin typeface="Calibri"/>
                <a:ea typeface="Calibri"/>
                <a:cs typeface="Calibri"/>
                <a:sym typeface="Calibri"/>
              </a:rPr>
              <a:t> "Is the mockup intuitive? Does it match the brand?"</a:t>
            </a:r>
            <a:endParaRPr b="0" i="0" sz="727" u="none" cap="none" strike="noStrike">
              <a:solidFill>
                <a:schemeClr val="dk1"/>
              </a:solidFill>
              <a:latin typeface="Calibri"/>
              <a:ea typeface="Calibri"/>
              <a:cs typeface="Calibri"/>
              <a:sym typeface="Calibri"/>
            </a:endParaRPr>
          </a:p>
        </p:txBody>
      </p:sp>
      <p:sp>
        <p:nvSpPr>
          <p:cNvPr id="1129" name="Google Shape;1129;p24"/>
          <p:cNvSpPr/>
          <p:nvPr/>
        </p:nvSpPr>
        <p:spPr>
          <a:xfrm>
            <a:off x="7500938" y="1509117"/>
            <a:ext cx="571500" cy="571500"/>
          </a:xfrm>
          <a:prstGeom prst="ellipse">
            <a:avLst/>
          </a:prstGeom>
          <a:solidFill>
            <a:srgbClr val="1A2A3A"/>
          </a:solidFill>
          <a:ln cap="flat" cmpd="sng" w="27425">
            <a:solidFill>
              <a:srgbClr val="F5C51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30" name="Google Shape;1130;p24"/>
          <p:cNvPicPr preferRelativeResize="0"/>
          <p:nvPr/>
        </p:nvPicPr>
        <p:blipFill rotWithShape="1">
          <a:blip r:embed="rId7">
            <a:alphaModFix/>
          </a:blip>
          <a:srcRect b="0" l="0" r="0" t="0"/>
          <a:stretch/>
        </p:blipFill>
        <p:spPr>
          <a:xfrm>
            <a:off x="7643813" y="1680567"/>
            <a:ext cx="285750" cy="228600"/>
          </a:xfrm>
          <a:prstGeom prst="rect">
            <a:avLst/>
          </a:prstGeom>
          <a:noFill/>
          <a:ln>
            <a:noFill/>
          </a:ln>
        </p:spPr>
      </p:pic>
      <p:sp>
        <p:nvSpPr>
          <p:cNvPr id="1131" name="Google Shape;1131;p24"/>
          <p:cNvSpPr/>
          <p:nvPr/>
        </p:nvSpPr>
        <p:spPr>
          <a:xfrm>
            <a:off x="7415631" y="2223492"/>
            <a:ext cx="742085" cy="175022"/>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TRD Review</a:t>
            </a:r>
            <a:endParaRPr b="0" i="0" sz="885" u="none" cap="none" strike="noStrike">
              <a:solidFill>
                <a:schemeClr val="dk1"/>
              </a:solidFill>
              <a:latin typeface="Calibri"/>
              <a:ea typeface="Calibri"/>
              <a:cs typeface="Calibri"/>
              <a:sym typeface="Calibri"/>
            </a:endParaRPr>
          </a:p>
        </p:txBody>
      </p:sp>
      <p:sp>
        <p:nvSpPr>
          <p:cNvPr id="1132" name="Google Shape;1132;p24"/>
          <p:cNvSpPr/>
          <p:nvPr/>
        </p:nvSpPr>
        <p:spPr>
          <a:xfrm>
            <a:off x="7000875" y="2469952"/>
            <a:ext cx="1571625" cy="550069"/>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4"/>
          <p:cNvSpPr/>
          <p:nvPr/>
        </p:nvSpPr>
        <p:spPr>
          <a:xfrm>
            <a:off x="7000875" y="2469952"/>
            <a:ext cx="14288" cy="550069"/>
          </a:xfrm>
          <a:prstGeom prst="rect">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4"/>
          <p:cNvSpPr/>
          <p:nvPr/>
        </p:nvSpPr>
        <p:spPr>
          <a:xfrm>
            <a:off x="7000875" y="2469952"/>
            <a:ext cx="1571625" cy="550069"/>
          </a:xfrm>
          <a:prstGeom prst="rect">
            <a:avLst/>
          </a:prstGeom>
          <a:noFill/>
          <a:ln>
            <a:noFill/>
          </a:ln>
        </p:spPr>
        <p:txBody>
          <a:bodyPr anchorCtr="0" anchor="t" bIns="85075" lIns="85075" spcFirstLastPara="1" rIns="85075" wrap="square" tIns="85075">
            <a:noAutofit/>
          </a:bodyPr>
          <a:lstStyle/>
          <a:p>
            <a:pPr indent="0" lvl="0" marL="0" marR="0" rtl="0" algn="ctr">
              <a:lnSpc>
                <a:spcPct val="123796"/>
              </a:lnSpc>
              <a:spcBef>
                <a:spcPts val="0"/>
              </a:spcBef>
              <a:spcAft>
                <a:spcPts val="0"/>
              </a:spcAft>
              <a:buClr>
                <a:srgbClr val="CBD5E1"/>
              </a:buClr>
              <a:buSzPts val="683"/>
              <a:buFont typeface="Calibri"/>
              <a:buNone/>
            </a:pPr>
            <a:r>
              <a:rPr b="1" i="0" lang="en-US" sz="683" u="none" cap="none" strike="noStrike">
                <a:solidFill>
                  <a:srgbClr val="CBD5E1"/>
                </a:solidFill>
                <a:latin typeface="Calibri"/>
                <a:ea typeface="Calibri"/>
                <a:cs typeface="Calibri"/>
                <a:sym typeface="Calibri"/>
              </a:rPr>
              <a:t>Tech Lead Review:</a:t>
            </a:r>
            <a:br>
              <a:rPr b="0" i="0" lang="en-US" sz="727" u="none" cap="none" strike="noStrike">
                <a:solidFill>
                  <a:srgbClr val="CBD5E1"/>
                </a:solidFill>
                <a:latin typeface="Calibri"/>
                <a:ea typeface="Calibri"/>
                <a:cs typeface="Calibri"/>
                <a:sym typeface="Calibri"/>
              </a:rPr>
            </a:br>
            <a:r>
              <a:rPr b="0" i="0" lang="en-US" sz="727" u="none" cap="none" strike="noStrike">
                <a:solidFill>
                  <a:srgbClr val="CBD5E1"/>
                </a:solidFill>
                <a:latin typeface="Calibri"/>
                <a:ea typeface="Calibri"/>
                <a:cs typeface="Calibri"/>
                <a:sym typeface="Calibri"/>
              </a:rPr>
              <a:t> "Is the schema normalized? Are the API contracts valid?"</a:t>
            </a:r>
            <a:endParaRPr b="0" i="0" sz="727" u="none" cap="none" strike="noStrike">
              <a:solidFill>
                <a:schemeClr val="dk1"/>
              </a:solidFill>
              <a:latin typeface="Calibri"/>
              <a:ea typeface="Calibri"/>
              <a:cs typeface="Calibri"/>
              <a:sym typeface="Calibri"/>
            </a:endParaRPr>
          </a:p>
        </p:txBody>
      </p:sp>
      <p:sp>
        <p:nvSpPr>
          <p:cNvPr id="1135" name="Google Shape;1135;p24"/>
          <p:cNvSpPr/>
          <p:nvPr/>
        </p:nvSpPr>
        <p:spPr>
          <a:xfrm>
            <a:off x="571500" y="3448645"/>
            <a:ext cx="8001000" cy="494705"/>
          </a:xfrm>
          <a:prstGeom prst="rect">
            <a:avLst/>
          </a:prstGeom>
          <a:solidFill>
            <a:srgbClr val="F5C518">
              <a:alpha val="10196"/>
            </a:srgbClr>
          </a:solidFill>
          <a:ln cap="flat" cmpd="sng" w="9525">
            <a:solidFill>
              <a:srgbClr val="F5C51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4"/>
          <p:cNvSpPr/>
          <p:nvPr/>
        </p:nvSpPr>
        <p:spPr>
          <a:xfrm>
            <a:off x="571500" y="3448645"/>
            <a:ext cx="8001000" cy="494705"/>
          </a:xfrm>
          <a:prstGeom prst="rect">
            <a:avLst/>
          </a:prstGeom>
          <a:noFill/>
          <a:ln>
            <a:noFill/>
          </a:ln>
        </p:spPr>
        <p:txBody>
          <a:bodyPr anchorCtr="0" anchor="t" bIns="170050" lIns="170050" spcFirstLastPara="1" rIns="170050" wrap="square" tIns="170050">
            <a:noAutofit/>
          </a:bodyPr>
          <a:lstStyle/>
          <a:p>
            <a:pPr indent="0" lvl="0" marL="0" marR="0" rtl="0" algn="ctr">
              <a:lnSpc>
                <a:spcPct val="133333"/>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"The AI generates the artifacts. The Human provides the </a:t>
            </a:r>
            <a:r>
              <a:rPr b="1" i="0" lang="en-US" sz="987" u="none" cap="none" strike="noStrike">
                <a:solidFill>
                  <a:srgbClr val="FFFFFF"/>
                </a:solidFill>
                <a:latin typeface="Calibri"/>
                <a:ea typeface="Calibri"/>
                <a:cs typeface="Calibri"/>
                <a:sym typeface="Calibri"/>
              </a:rPr>
              <a:t>judgment</a:t>
            </a:r>
            <a:r>
              <a:rPr b="0" i="0" lang="en-US" sz="1050" u="none" cap="none" strike="noStrike">
                <a:solidFill>
                  <a:srgbClr val="FFFFFF"/>
                </a:solidFill>
                <a:latin typeface="Calibri"/>
                <a:ea typeface="Calibri"/>
                <a:cs typeface="Calibri"/>
                <a:sym typeface="Calibri"/>
              </a:rPr>
              <a: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pic>
        <p:nvPicPr>
          <p:cNvPr descr="preencoded.png" id="1142" name="Google Shape;1142;p2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143" name="Google Shape;1143;p25"/>
          <p:cNvSpPr/>
          <p:nvPr/>
        </p:nvSpPr>
        <p:spPr>
          <a:xfrm>
            <a:off x="571500" y="428625"/>
            <a:ext cx="7143750" cy="408980"/>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Calibri"/>
              <a:buNone/>
            </a:pPr>
            <a:r>
              <a:rPr b="1" i="0" lang="en-US" sz="2121" u="none" cap="none" strike="noStrike">
                <a:solidFill>
                  <a:srgbClr val="FFFFFF"/>
                </a:solidFill>
                <a:latin typeface="Calibri"/>
                <a:ea typeface="Calibri"/>
                <a:cs typeface="Calibri"/>
                <a:sym typeface="Calibri"/>
              </a:rPr>
              <a:t>DevNavHub: Reusable Agent Skills</a:t>
            </a:r>
            <a:endParaRPr b="0" i="0" sz="2121" u="none" cap="none" strike="noStrike">
              <a:solidFill>
                <a:schemeClr val="dk1"/>
              </a:solidFill>
              <a:latin typeface="Calibri"/>
              <a:ea typeface="Calibri"/>
              <a:cs typeface="Calibri"/>
              <a:sym typeface="Calibri"/>
            </a:endParaRPr>
          </a:p>
        </p:txBody>
      </p:sp>
      <p:sp>
        <p:nvSpPr>
          <p:cNvPr id="1144" name="Google Shape;1144;p25"/>
          <p:cNvSpPr/>
          <p:nvPr/>
        </p:nvSpPr>
        <p:spPr>
          <a:xfrm>
            <a:off x="571500" y="1223367"/>
            <a:ext cx="3500438" cy="2873573"/>
          </a:xfrm>
          <a:prstGeom prst="rect">
            <a:avLst/>
          </a:prstGeom>
          <a:solidFill>
            <a:srgbClr val="1A2A3A"/>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45" name="Google Shape;1145;p25"/>
          <p:cNvPicPr preferRelativeResize="0"/>
          <p:nvPr/>
        </p:nvPicPr>
        <p:blipFill rotWithShape="1">
          <a:blip r:embed="rId4">
            <a:alphaModFix/>
          </a:blip>
          <a:srcRect b="0" l="0" r="0" t="0"/>
          <a:stretch/>
        </p:blipFill>
        <p:spPr>
          <a:xfrm>
            <a:off x="785813" y="1468934"/>
            <a:ext cx="192881" cy="171450"/>
          </a:xfrm>
          <a:prstGeom prst="rect">
            <a:avLst/>
          </a:prstGeom>
          <a:noFill/>
          <a:ln>
            <a:noFill/>
          </a:ln>
        </p:spPr>
      </p:pic>
      <p:sp>
        <p:nvSpPr>
          <p:cNvPr id="1146" name="Google Shape;1146;p25"/>
          <p:cNvSpPr/>
          <p:nvPr/>
        </p:nvSpPr>
        <p:spPr>
          <a:xfrm>
            <a:off x="1050131" y="1437680"/>
            <a:ext cx="1013296" cy="233958"/>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00BFFF"/>
              </a:buClr>
              <a:buSzPts val="1193"/>
              <a:buFont typeface="Calibri"/>
              <a:buNone/>
            </a:pPr>
            <a:r>
              <a:rPr b="1" i="0" lang="en-US" sz="1193" u="none" cap="none" strike="noStrike">
                <a:solidFill>
                  <a:srgbClr val="00BFFF"/>
                </a:solidFill>
                <a:latin typeface="Calibri"/>
                <a:ea typeface="Calibri"/>
                <a:cs typeface="Calibri"/>
                <a:sym typeface="Calibri"/>
              </a:rPr>
              <a:t>Skill Library</a:t>
            </a:r>
            <a:endParaRPr b="0" i="0" sz="1193" u="none" cap="none" strike="noStrike">
              <a:solidFill>
                <a:schemeClr val="dk1"/>
              </a:solidFill>
              <a:latin typeface="Calibri"/>
              <a:ea typeface="Calibri"/>
              <a:cs typeface="Calibri"/>
              <a:sym typeface="Calibri"/>
            </a:endParaRPr>
          </a:p>
        </p:txBody>
      </p:sp>
      <p:sp>
        <p:nvSpPr>
          <p:cNvPr id="1147" name="Google Shape;1147;p25"/>
          <p:cNvSpPr/>
          <p:nvPr/>
        </p:nvSpPr>
        <p:spPr>
          <a:xfrm>
            <a:off x="785813" y="1814513"/>
            <a:ext cx="1482328" cy="480417"/>
          </a:xfrm>
          <a:prstGeom prst="rect">
            <a:avLst/>
          </a:prstGeom>
          <a:solidFill>
            <a:srgbClr val="FFFFFF">
              <a:alpha val="5098"/>
            </a:srgbClr>
          </a:solidFill>
          <a:ln cap="flat" cmpd="sng" w="9525">
            <a:solidFill>
              <a:srgbClr val="00B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48" name="Google Shape;1148;p25"/>
          <p:cNvPicPr preferRelativeResize="0"/>
          <p:nvPr/>
        </p:nvPicPr>
        <p:blipFill rotWithShape="1">
          <a:blip r:embed="rId5">
            <a:alphaModFix/>
          </a:blip>
          <a:srcRect b="0" l="0" r="0" t="0"/>
          <a:stretch/>
        </p:blipFill>
        <p:spPr>
          <a:xfrm>
            <a:off x="892969" y="1969889"/>
            <a:ext cx="214313" cy="171450"/>
          </a:xfrm>
          <a:prstGeom prst="rect">
            <a:avLst/>
          </a:prstGeom>
          <a:noFill/>
          <a:ln>
            <a:noFill/>
          </a:ln>
        </p:spPr>
      </p:pic>
      <p:sp>
        <p:nvSpPr>
          <p:cNvPr id="1149" name="Google Shape;1149;p25"/>
          <p:cNvSpPr/>
          <p:nvPr/>
        </p:nvSpPr>
        <p:spPr>
          <a:xfrm>
            <a:off x="1214438" y="1928813"/>
            <a:ext cx="946547"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Stripe Payments</a:t>
            </a:r>
            <a:endParaRPr b="0" i="0" sz="683" u="none" cap="none" strike="noStrike">
              <a:solidFill>
                <a:schemeClr val="dk1"/>
              </a:solidFill>
              <a:latin typeface="Calibri"/>
              <a:ea typeface="Calibri"/>
              <a:cs typeface="Calibri"/>
              <a:sym typeface="Calibri"/>
            </a:endParaRPr>
          </a:p>
        </p:txBody>
      </p:sp>
      <p:sp>
        <p:nvSpPr>
          <p:cNvPr id="1150" name="Google Shape;1150;p25"/>
          <p:cNvSpPr/>
          <p:nvPr/>
        </p:nvSpPr>
        <p:spPr>
          <a:xfrm>
            <a:off x="1214438" y="2064544"/>
            <a:ext cx="946547"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Secure checkout flow</a:t>
            </a:r>
            <a:endParaRPr b="0" i="0" sz="621" u="none" cap="none" strike="noStrike">
              <a:solidFill>
                <a:schemeClr val="dk1"/>
              </a:solidFill>
              <a:latin typeface="Calibri"/>
              <a:ea typeface="Calibri"/>
              <a:cs typeface="Calibri"/>
              <a:sym typeface="Calibri"/>
            </a:endParaRPr>
          </a:p>
        </p:txBody>
      </p:sp>
      <p:sp>
        <p:nvSpPr>
          <p:cNvPr id="1151" name="Google Shape;1151;p25"/>
          <p:cNvSpPr/>
          <p:nvPr/>
        </p:nvSpPr>
        <p:spPr>
          <a:xfrm>
            <a:off x="2375297" y="1814513"/>
            <a:ext cx="1482328" cy="480417"/>
          </a:xfrm>
          <a:prstGeom prst="rect">
            <a:avLst/>
          </a:prstGeom>
          <a:solidFill>
            <a:srgbClr val="FFFFFF">
              <a:alpha val="5098"/>
            </a:srgbClr>
          </a:solidFill>
          <a:ln cap="flat" cmpd="sng" w="9525">
            <a:solidFill>
              <a:srgbClr val="00B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52" name="Google Shape;1152;p25"/>
          <p:cNvPicPr preferRelativeResize="0"/>
          <p:nvPr/>
        </p:nvPicPr>
        <p:blipFill rotWithShape="1">
          <a:blip r:embed="rId6">
            <a:alphaModFix/>
          </a:blip>
          <a:srcRect b="0" l="0" r="0" t="0"/>
          <a:stretch/>
        </p:blipFill>
        <p:spPr>
          <a:xfrm>
            <a:off x="2503884" y="1962745"/>
            <a:ext cx="171450" cy="171450"/>
          </a:xfrm>
          <a:prstGeom prst="rect">
            <a:avLst/>
          </a:prstGeom>
          <a:noFill/>
          <a:ln>
            <a:noFill/>
          </a:ln>
        </p:spPr>
      </p:pic>
      <p:sp>
        <p:nvSpPr>
          <p:cNvPr id="1153" name="Google Shape;1153;p25"/>
          <p:cNvSpPr/>
          <p:nvPr/>
        </p:nvSpPr>
        <p:spPr>
          <a:xfrm>
            <a:off x="2803922" y="1921669"/>
            <a:ext cx="946547"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Auth0 Login</a:t>
            </a:r>
            <a:endParaRPr b="0" i="0" sz="683" u="none" cap="none" strike="noStrike">
              <a:solidFill>
                <a:schemeClr val="dk1"/>
              </a:solidFill>
              <a:latin typeface="Calibri"/>
              <a:ea typeface="Calibri"/>
              <a:cs typeface="Calibri"/>
              <a:sym typeface="Calibri"/>
            </a:endParaRPr>
          </a:p>
        </p:txBody>
      </p:sp>
      <p:sp>
        <p:nvSpPr>
          <p:cNvPr id="1154" name="Google Shape;1154;p25"/>
          <p:cNvSpPr/>
          <p:nvPr/>
        </p:nvSpPr>
        <p:spPr>
          <a:xfrm>
            <a:off x="2803922" y="2057400"/>
            <a:ext cx="946547"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OIDC Authentication</a:t>
            </a:r>
            <a:endParaRPr b="0" i="0" sz="621" u="none" cap="none" strike="noStrike">
              <a:solidFill>
                <a:schemeClr val="dk1"/>
              </a:solidFill>
              <a:latin typeface="Calibri"/>
              <a:ea typeface="Calibri"/>
              <a:cs typeface="Calibri"/>
              <a:sym typeface="Calibri"/>
            </a:endParaRPr>
          </a:p>
        </p:txBody>
      </p:sp>
      <p:sp>
        <p:nvSpPr>
          <p:cNvPr id="1155" name="Google Shape;1155;p25"/>
          <p:cNvSpPr/>
          <p:nvPr/>
        </p:nvSpPr>
        <p:spPr>
          <a:xfrm>
            <a:off x="785813" y="2387798"/>
            <a:ext cx="1482328" cy="480417"/>
          </a:xfrm>
          <a:prstGeom prst="rect">
            <a:avLst/>
          </a:prstGeom>
          <a:solidFill>
            <a:srgbClr val="FFFFFF">
              <a:alpha val="5098"/>
            </a:srgbClr>
          </a:solidFill>
          <a:ln cap="flat" cmpd="sng" w="9525">
            <a:solidFill>
              <a:srgbClr val="00B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56" name="Google Shape;1156;p25"/>
          <p:cNvPicPr preferRelativeResize="0"/>
          <p:nvPr/>
        </p:nvPicPr>
        <p:blipFill rotWithShape="1">
          <a:blip r:embed="rId7">
            <a:alphaModFix/>
          </a:blip>
          <a:srcRect b="0" l="0" r="0" t="0"/>
          <a:stretch/>
        </p:blipFill>
        <p:spPr>
          <a:xfrm>
            <a:off x="892969" y="2543175"/>
            <a:ext cx="214313" cy="171450"/>
          </a:xfrm>
          <a:prstGeom prst="rect">
            <a:avLst/>
          </a:prstGeom>
          <a:noFill/>
          <a:ln>
            <a:noFill/>
          </a:ln>
        </p:spPr>
      </p:pic>
      <p:sp>
        <p:nvSpPr>
          <p:cNvPr id="1157" name="Google Shape;1157;p25"/>
          <p:cNvSpPr/>
          <p:nvPr/>
        </p:nvSpPr>
        <p:spPr>
          <a:xfrm>
            <a:off x="1214438" y="2502098"/>
            <a:ext cx="946547"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AWS Lambda</a:t>
            </a:r>
            <a:endParaRPr b="0" i="0" sz="683" u="none" cap="none" strike="noStrike">
              <a:solidFill>
                <a:schemeClr val="dk1"/>
              </a:solidFill>
              <a:latin typeface="Calibri"/>
              <a:ea typeface="Calibri"/>
              <a:cs typeface="Calibri"/>
              <a:sym typeface="Calibri"/>
            </a:endParaRPr>
          </a:p>
        </p:txBody>
      </p:sp>
      <p:sp>
        <p:nvSpPr>
          <p:cNvPr id="1158" name="Google Shape;1158;p25"/>
          <p:cNvSpPr/>
          <p:nvPr/>
        </p:nvSpPr>
        <p:spPr>
          <a:xfrm>
            <a:off x="1214438" y="2637830"/>
            <a:ext cx="946547"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Serverless deploy</a:t>
            </a:r>
            <a:endParaRPr b="0" i="0" sz="621" u="none" cap="none" strike="noStrike">
              <a:solidFill>
                <a:schemeClr val="dk1"/>
              </a:solidFill>
              <a:latin typeface="Calibri"/>
              <a:ea typeface="Calibri"/>
              <a:cs typeface="Calibri"/>
              <a:sym typeface="Calibri"/>
            </a:endParaRPr>
          </a:p>
        </p:txBody>
      </p:sp>
      <p:sp>
        <p:nvSpPr>
          <p:cNvPr id="1159" name="Google Shape;1159;p25"/>
          <p:cNvSpPr/>
          <p:nvPr/>
        </p:nvSpPr>
        <p:spPr>
          <a:xfrm>
            <a:off x="2375297" y="2387798"/>
            <a:ext cx="1482328" cy="480417"/>
          </a:xfrm>
          <a:prstGeom prst="rect">
            <a:avLst/>
          </a:prstGeom>
          <a:solidFill>
            <a:srgbClr val="FFFFFF">
              <a:alpha val="5098"/>
            </a:srgbClr>
          </a:solidFill>
          <a:ln cap="flat" cmpd="sng" w="9525">
            <a:solidFill>
              <a:srgbClr val="00B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60" name="Google Shape;1160;p25"/>
          <p:cNvPicPr preferRelativeResize="0"/>
          <p:nvPr/>
        </p:nvPicPr>
        <p:blipFill rotWithShape="1">
          <a:blip r:embed="rId8">
            <a:alphaModFix/>
          </a:blip>
          <a:srcRect b="0" l="0" r="0" t="0"/>
          <a:stretch/>
        </p:blipFill>
        <p:spPr>
          <a:xfrm>
            <a:off x="2503884" y="2536031"/>
            <a:ext cx="171450" cy="171450"/>
          </a:xfrm>
          <a:prstGeom prst="rect">
            <a:avLst/>
          </a:prstGeom>
          <a:noFill/>
          <a:ln>
            <a:noFill/>
          </a:ln>
        </p:spPr>
      </p:pic>
      <p:sp>
        <p:nvSpPr>
          <p:cNvPr id="1161" name="Google Shape;1161;p25"/>
          <p:cNvSpPr/>
          <p:nvPr/>
        </p:nvSpPr>
        <p:spPr>
          <a:xfrm>
            <a:off x="2803922" y="2494955"/>
            <a:ext cx="946547"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Analytics</a:t>
            </a:r>
            <a:endParaRPr b="0" i="0" sz="683" u="none" cap="none" strike="noStrike">
              <a:solidFill>
                <a:schemeClr val="dk1"/>
              </a:solidFill>
              <a:latin typeface="Calibri"/>
              <a:ea typeface="Calibri"/>
              <a:cs typeface="Calibri"/>
              <a:sym typeface="Calibri"/>
            </a:endParaRPr>
          </a:p>
        </p:txBody>
      </p:sp>
      <p:sp>
        <p:nvSpPr>
          <p:cNvPr id="1162" name="Google Shape;1162;p25"/>
          <p:cNvSpPr/>
          <p:nvPr/>
        </p:nvSpPr>
        <p:spPr>
          <a:xfrm>
            <a:off x="2803922" y="2630686"/>
            <a:ext cx="946547"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Mixpanel setup</a:t>
            </a:r>
            <a:endParaRPr b="0" i="0" sz="621" u="none" cap="none" strike="noStrike">
              <a:solidFill>
                <a:schemeClr val="dk1"/>
              </a:solidFill>
              <a:latin typeface="Calibri"/>
              <a:ea typeface="Calibri"/>
              <a:cs typeface="Calibri"/>
              <a:sym typeface="Calibri"/>
            </a:endParaRPr>
          </a:p>
        </p:txBody>
      </p:sp>
      <p:pic>
        <p:nvPicPr>
          <p:cNvPr descr="preencoded.png" id="1163" name="Google Shape;1163;p25"/>
          <p:cNvPicPr preferRelativeResize="0"/>
          <p:nvPr/>
        </p:nvPicPr>
        <p:blipFill rotWithShape="1">
          <a:blip r:embed="rId9">
            <a:alphaModFix/>
          </a:blip>
          <a:srcRect b="0" l="0" r="0" t="0"/>
          <a:stretch/>
        </p:blipFill>
        <p:spPr>
          <a:xfrm>
            <a:off x="4421981" y="2488704"/>
            <a:ext cx="300038" cy="342900"/>
          </a:xfrm>
          <a:prstGeom prst="rect">
            <a:avLst/>
          </a:prstGeom>
          <a:noFill/>
          <a:ln>
            <a:noFill/>
          </a:ln>
        </p:spPr>
      </p:pic>
      <p:sp>
        <p:nvSpPr>
          <p:cNvPr id="1164" name="Google Shape;1164;p25"/>
          <p:cNvSpPr/>
          <p:nvPr/>
        </p:nvSpPr>
        <p:spPr>
          <a:xfrm>
            <a:off x="5072063" y="1223367"/>
            <a:ext cx="3500438" cy="2873573"/>
          </a:xfrm>
          <a:prstGeom prst="rect">
            <a:avLst/>
          </a:prstGeom>
          <a:solidFill>
            <a:srgbClr val="1A2A3A"/>
          </a:solidFill>
          <a:ln cap="flat" cmpd="sng" w="18275">
            <a:solidFill>
              <a:srgbClr val="00C853"/>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65" name="Google Shape;1165;p25"/>
          <p:cNvPicPr preferRelativeResize="0"/>
          <p:nvPr/>
        </p:nvPicPr>
        <p:blipFill rotWithShape="1">
          <a:blip r:embed="rId10">
            <a:alphaModFix/>
          </a:blip>
          <a:srcRect b="0" l="0" r="0" t="0"/>
          <a:stretch/>
        </p:blipFill>
        <p:spPr>
          <a:xfrm>
            <a:off x="6593681" y="1867588"/>
            <a:ext cx="457200" cy="457200"/>
          </a:xfrm>
          <a:prstGeom prst="rect">
            <a:avLst/>
          </a:prstGeom>
          <a:noFill/>
          <a:ln>
            <a:noFill/>
          </a:ln>
        </p:spPr>
      </p:pic>
      <p:sp>
        <p:nvSpPr>
          <p:cNvPr id="1166" name="Google Shape;1166;p25"/>
          <p:cNvSpPr/>
          <p:nvPr/>
        </p:nvSpPr>
        <p:spPr>
          <a:xfrm>
            <a:off x="6300285" y="2546245"/>
            <a:ext cx="1043964" cy="233958"/>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FFFF"/>
              </a:buClr>
              <a:buSzPts val="1193"/>
              <a:buFont typeface="Calibri"/>
              <a:buNone/>
            </a:pPr>
            <a:r>
              <a:rPr b="1" i="0" lang="en-US" sz="1193" u="none" cap="none" strike="noStrike">
                <a:solidFill>
                  <a:srgbClr val="FFFFFF"/>
                </a:solidFill>
                <a:latin typeface="Calibri"/>
                <a:ea typeface="Calibri"/>
                <a:cs typeface="Calibri"/>
                <a:sym typeface="Calibri"/>
              </a:rPr>
              <a:t>Your Project</a:t>
            </a:r>
            <a:endParaRPr b="0" i="0" sz="1193" u="none" cap="none" strike="noStrike">
              <a:solidFill>
                <a:schemeClr val="dk1"/>
              </a:solidFill>
              <a:latin typeface="Calibri"/>
              <a:ea typeface="Calibri"/>
              <a:cs typeface="Calibri"/>
              <a:sym typeface="Calibri"/>
            </a:endParaRPr>
          </a:p>
        </p:txBody>
      </p:sp>
      <p:sp>
        <p:nvSpPr>
          <p:cNvPr id="1167" name="Google Shape;1167;p25"/>
          <p:cNvSpPr/>
          <p:nvPr/>
        </p:nvSpPr>
        <p:spPr>
          <a:xfrm>
            <a:off x="5286375" y="2923077"/>
            <a:ext cx="3071813" cy="617153"/>
          </a:xfrm>
          <a:prstGeom prst="rect">
            <a:avLst/>
          </a:prstGeom>
          <a:noFill/>
          <a:ln>
            <a:noFill/>
          </a:ln>
        </p:spPr>
        <p:txBody>
          <a:bodyPr anchorCtr="0" anchor="t" bIns="0" lIns="0" spcFirstLastPara="1" rIns="0" wrap="square" tIns="0">
            <a:noAutofit/>
          </a:bodyPr>
          <a:lstStyle/>
          <a:p>
            <a:pPr indent="0" lvl="0" marL="0" marR="0" rtl="0" algn="ctr">
              <a:lnSpc>
                <a:spcPct val="169851"/>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Don't reinvent the wheel.</a:t>
            </a:r>
            <a:br>
              <a:rPr b="0" i="0" lang="en-US" sz="942" u="none" cap="none" strike="noStrike">
                <a:solidFill>
                  <a:srgbClr val="CBD5E1"/>
                </a:solidFill>
                <a:latin typeface="Calibri"/>
                <a:ea typeface="Calibri"/>
                <a:cs typeface="Calibri"/>
                <a:sym typeface="Calibri"/>
              </a:rPr>
            </a:br>
            <a:r>
              <a:rPr b="0" i="0" lang="en-US" sz="942" u="none" cap="none" strike="noStrike">
                <a:solidFill>
                  <a:srgbClr val="CBD5E1"/>
                </a:solidFill>
                <a:latin typeface="Calibri"/>
                <a:ea typeface="Calibri"/>
                <a:cs typeface="Calibri"/>
                <a:sym typeface="Calibri"/>
              </a:rPr>
              <a:t> </a:t>
            </a:r>
            <a:r>
              <a:rPr b="1" i="0" lang="en-US" sz="885" u="none" cap="none" strike="noStrike">
                <a:solidFill>
                  <a:srgbClr val="CBD5E1"/>
                </a:solidFill>
                <a:latin typeface="Calibri"/>
                <a:ea typeface="Calibri"/>
                <a:cs typeface="Calibri"/>
                <a:sym typeface="Calibri"/>
              </a:rPr>
              <a:t>Inject proven skills</a:t>
            </a:r>
            <a:r>
              <a:rPr b="0" i="0" lang="en-US" sz="942" u="none" cap="none" strike="noStrike">
                <a:solidFill>
                  <a:srgbClr val="CBD5E1"/>
                </a:solidFill>
                <a:latin typeface="Calibri"/>
                <a:ea typeface="Calibri"/>
                <a:cs typeface="Calibri"/>
                <a:sym typeface="Calibri"/>
              </a:rPr>
              <a:t> directly into your agent's context.</a:t>
            </a:r>
            <a:endParaRPr b="0" i="0" sz="942" u="none" cap="none" strike="noStrike">
              <a:solidFill>
                <a:schemeClr val="dk1"/>
              </a:solidFill>
              <a:latin typeface="Calibri"/>
              <a:ea typeface="Calibri"/>
              <a:cs typeface="Calibri"/>
              <a:sym typeface="Calibri"/>
            </a:endParaRPr>
          </a:p>
        </p:txBody>
      </p:sp>
      <p:sp>
        <p:nvSpPr>
          <p:cNvPr id="1168" name="Google Shape;1168;p25"/>
          <p:cNvSpPr/>
          <p:nvPr/>
        </p:nvSpPr>
        <p:spPr>
          <a:xfrm>
            <a:off x="571500" y="4311253"/>
            <a:ext cx="8001000" cy="403622"/>
          </a:xfrm>
          <a:prstGeom prst="rect">
            <a:avLst/>
          </a:prstGeom>
          <a:solidFill>
            <a:srgbClr val="00C853">
              <a:alpha val="10196"/>
            </a:srgbClr>
          </a:solidFill>
          <a:ln cap="flat" cmpd="sng" w="952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5"/>
          <p:cNvSpPr/>
          <p:nvPr/>
        </p:nvSpPr>
        <p:spPr>
          <a:xfrm>
            <a:off x="571500" y="4311253"/>
            <a:ext cx="8001000" cy="403622"/>
          </a:xfrm>
          <a:prstGeom prst="rect">
            <a:avLst/>
          </a:prstGeom>
          <a:noFill/>
          <a:ln>
            <a:noFill/>
          </a:ln>
        </p:spPr>
        <p:txBody>
          <a:bodyPr anchorCtr="0" anchor="t" bIns="127500" lIns="127500" spcFirstLastPara="1" rIns="127500" wrap="square" tIns="127500">
            <a:noAutofit/>
          </a:bodyPr>
          <a:lstStyle/>
          <a:p>
            <a:pPr indent="0" lvl="0" marL="0" marR="0" rtl="0" algn="ctr">
              <a:lnSpc>
                <a:spcPct val="127388"/>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"Why write a login system from scratch? Just download the 'Auth Skill' and let the agent implement it."</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4" name="Shape 1174"/>
        <p:cNvGrpSpPr/>
        <p:nvPr/>
      </p:nvGrpSpPr>
      <p:grpSpPr>
        <a:xfrm>
          <a:off x="0" y="0"/>
          <a:ext cx="0" cy="0"/>
          <a:chOff x="0" y="0"/>
          <a:chExt cx="0" cy="0"/>
        </a:xfrm>
      </p:grpSpPr>
      <p:pic>
        <p:nvPicPr>
          <p:cNvPr descr="preencoded.png" id="1175" name="Google Shape;1175;p2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176" name="Google Shape;1176;p26"/>
          <p:cNvSpPr/>
          <p:nvPr/>
        </p:nvSpPr>
        <p:spPr>
          <a:xfrm>
            <a:off x="571500" y="428625"/>
            <a:ext cx="7143750" cy="408980"/>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Calibri"/>
              <a:buNone/>
            </a:pPr>
            <a:r>
              <a:rPr b="1" i="0" lang="en-US" sz="2121" u="none" cap="none" strike="noStrike">
                <a:solidFill>
                  <a:srgbClr val="FFFFFF"/>
                </a:solidFill>
                <a:latin typeface="Calibri"/>
                <a:ea typeface="Calibri"/>
                <a:cs typeface="Calibri"/>
                <a:sym typeface="Calibri"/>
              </a:rPr>
              <a:t>Parallel Streams: Speed at Scale</a:t>
            </a:r>
            <a:endParaRPr b="0" i="0" sz="2121" u="none" cap="none" strike="noStrike">
              <a:solidFill>
                <a:schemeClr val="dk1"/>
              </a:solidFill>
              <a:latin typeface="Calibri"/>
              <a:ea typeface="Calibri"/>
              <a:cs typeface="Calibri"/>
              <a:sym typeface="Calibri"/>
            </a:endParaRPr>
          </a:p>
        </p:txBody>
      </p:sp>
      <p:sp>
        <p:nvSpPr>
          <p:cNvPr id="1177" name="Google Shape;1177;p26"/>
          <p:cNvSpPr/>
          <p:nvPr/>
        </p:nvSpPr>
        <p:spPr>
          <a:xfrm>
            <a:off x="571500" y="1366242"/>
            <a:ext cx="8001000" cy="59828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6"/>
          <p:cNvSpPr/>
          <p:nvPr/>
        </p:nvSpPr>
        <p:spPr>
          <a:xfrm>
            <a:off x="571500" y="1366242"/>
            <a:ext cx="42863" cy="598289"/>
          </a:xfrm>
          <a:prstGeom prst="rect">
            <a:avLst/>
          </a:prstGeom>
          <a:solidFill>
            <a:srgbClr val="00C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79" name="Google Shape;1179;p26"/>
          <p:cNvPicPr preferRelativeResize="0"/>
          <p:nvPr/>
        </p:nvPicPr>
        <p:blipFill rotWithShape="1">
          <a:blip r:embed="rId4">
            <a:alphaModFix/>
          </a:blip>
          <a:srcRect b="0" l="0" r="0" t="0"/>
          <a:stretch/>
        </p:blipFill>
        <p:spPr>
          <a:xfrm>
            <a:off x="757238" y="1553766"/>
            <a:ext cx="200025" cy="228600"/>
          </a:xfrm>
          <a:prstGeom prst="rect">
            <a:avLst/>
          </a:prstGeom>
          <a:noFill/>
          <a:ln>
            <a:noFill/>
          </a:ln>
        </p:spPr>
      </p:pic>
      <p:sp>
        <p:nvSpPr>
          <p:cNvPr id="1180" name="Google Shape;1180;p26"/>
          <p:cNvSpPr/>
          <p:nvPr/>
        </p:nvSpPr>
        <p:spPr>
          <a:xfrm>
            <a:off x="1143000" y="1510010"/>
            <a:ext cx="1785938" cy="175022"/>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Auth System</a:t>
            </a:r>
            <a:endParaRPr b="0" i="0" sz="885" u="none" cap="none" strike="noStrike">
              <a:solidFill>
                <a:schemeClr val="dk1"/>
              </a:solidFill>
              <a:latin typeface="Calibri"/>
              <a:ea typeface="Calibri"/>
              <a:cs typeface="Calibri"/>
              <a:sym typeface="Calibri"/>
            </a:endParaRPr>
          </a:p>
        </p:txBody>
      </p:sp>
      <p:sp>
        <p:nvSpPr>
          <p:cNvPr id="1181" name="Google Shape;1181;p26"/>
          <p:cNvSpPr/>
          <p:nvPr/>
        </p:nvSpPr>
        <p:spPr>
          <a:xfrm>
            <a:off x="1143000" y="1685032"/>
            <a:ext cx="1785938"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AB5"/>
              </a:buClr>
              <a:buSzPts val="727"/>
              <a:buFont typeface="Calibri"/>
              <a:buNone/>
            </a:pPr>
            <a:r>
              <a:rPr b="0" i="0" lang="en-US" sz="727" u="none" cap="none" strike="noStrike">
                <a:solidFill>
                  <a:srgbClr val="A0AAB5"/>
                </a:solidFill>
                <a:latin typeface="Calibri"/>
                <a:ea typeface="Calibri"/>
                <a:cs typeface="Calibri"/>
                <a:sym typeface="Calibri"/>
              </a:rPr>
              <a:t>Dev Agent A</a:t>
            </a:r>
            <a:endParaRPr b="0" i="0" sz="727" u="none" cap="none" strike="noStrike">
              <a:solidFill>
                <a:schemeClr val="dk1"/>
              </a:solidFill>
              <a:latin typeface="Calibri"/>
              <a:ea typeface="Calibri"/>
              <a:cs typeface="Calibri"/>
              <a:sym typeface="Calibri"/>
            </a:endParaRPr>
          </a:p>
        </p:txBody>
      </p:sp>
      <p:sp>
        <p:nvSpPr>
          <p:cNvPr id="1182" name="Google Shape;1182;p26"/>
          <p:cNvSpPr/>
          <p:nvPr/>
        </p:nvSpPr>
        <p:spPr>
          <a:xfrm>
            <a:off x="3143250" y="1622524"/>
            <a:ext cx="4838300" cy="85725"/>
          </a:xfrm>
          <a:prstGeom prst="roundRect">
            <a:avLst>
              <a:gd fmla="val 16667" name="adj"/>
            </a:avLst>
          </a:prstGeom>
          <a:solidFill>
            <a:srgbClr val="FFFF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26"/>
          <p:cNvSpPr/>
          <p:nvPr/>
        </p:nvSpPr>
        <p:spPr>
          <a:xfrm>
            <a:off x="3143250" y="1622524"/>
            <a:ext cx="4112540" cy="85725"/>
          </a:xfrm>
          <a:prstGeom prst="roundRect">
            <a:avLst>
              <a:gd fmla="val 16667" name="adj"/>
            </a:avLst>
          </a:prstGeom>
          <a:solidFill>
            <a:srgbClr val="00C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6"/>
          <p:cNvSpPr/>
          <p:nvPr/>
        </p:nvSpPr>
        <p:spPr>
          <a:xfrm>
            <a:off x="3143250" y="1622524"/>
            <a:ext cx="4076067" cy="85725"/>
          </a:xfrm>
          <a:prstGeom prst="rect">
            <a:avLst/>
          </a:prstGeom>
          <a:solidFill>
            <a:srgbClr val="FFFFFF">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6"/>
          <p:cNvSpPr/>
          <p:nvPr/>
        </p:nvSpPr>
        <p:spPr>
          <a:xfrm>
            <a:off x="8195863" y="1587698"/>
            <a:ext cx="233762"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00C853"/>
              </a:buClr>
              <a:buSzPts val="784"/>
              <a:buFont typeface="Calibri"/>
              <a:buNone/>
            </a:pPr>
            <a:r>
              <a:rPr b="1" i="0" lang="en-US" sz="784" u="none" cap="none" strike="noStrike">
                <a:solidFill>
                  <a:srgbClr val="00C853"/>
                </a:solidFill>
                <a:latin typeface="Calibri"/>
                <a:ea typeface="Calibri"/>
                <a:cs typeface="Calibri"/>
                <a:sym typeface="Calibri"/>
              </a:rPr>
              <a:t>85%</a:t>
            </a:r>
            <a:endParaRPr b="0" i="0" sz="784" u="none" cap="none" strike="noStrike">
              <a:solidFill>
                <a:schemeClr val="dk1"/>
              </a:solidFill>
              <a:latin typeface="Calibri"/>
              <a:ea typeface="Calibri"/>
              <a:cs typeface="Calibri"/>
              <a:sym typeface="Calibri"/>
            </a:endParaRPr>
          </a:p>
        </p:txBody>
      </p:sp>
      <p:sp>
        <p:nvSpPr>
          <p:cNvPr id="1186" name="Google Shape;1186;p26"/>
          <p:cNvSpPr/>
          <p:nvPr/>
        </p:nvSpPr>
        <p:spPr>
          <a:xfrm>
            <a:off x="571500" y="2178844"/>
            <a:ext cx="8001000" cy="59828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6"/>
          <p:cNvSpPr/>
          <p:nvPr/>
        </p:nvSpPr>
        <p:spPr>
          <a:xfrm>
            <a:off x="571500" y="2178844"/>
            <a:ext cx="42863" cy="598289"/>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88" name="Google Shape;1188;p26"/>
          <p:cNvPicPr preferRelativeResize="0"/>
          <p:nvPr/>
        </p:nvPicPr>
        <p:blipFill rotWithShape="1">
          <a:blip r:embed="rId5">
            <a:alphaModFix/>
          </a:blip>
          <a:srcRect b="0" l="0" r="0" t="0"/>
          <a:stretch/>
        </p:blipFill>
        <p:spPr>
          <a:xfrm>
            <a:off x="728663" y="2366367"/>
            <a:ext cx="257175" cy="228600"/>
          </a:xfrm>
          <a:prstGeom prst="rect">
            <a:avLst/>
          </a:prstGeom>
          <a:noFill/>
          <a:ln>
            <a:noFill/>
          </a:ln>
        </p:spPr>
      </p:pic>
      <p:sp>
        <p:nvSpPr>
          <p:cNvPr id="1189" name="Google Shape;1189;p26"/>
          <p:cNvSpPr/>
          <p:nvPr/>
        </p:nvSpPr>
        <p:spPr>
          <a:xfrm>
            <a:off x="1143000" y="2322612"/>
            <a:ext cx="1785938" cy="175022"/>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Payments</a:t>
            </a:r>
            <a:endParaRPr b="0" i="0" sz="885" u="none" cap="none" strike="noStrike">
              <a:solidFill>
                <a:schemeClr val="dk1"/>
              </a:solidFill>
              <a:latin typeface="Calibri"/>
              <a:ea typeface="Calibri"/>
              <a:cs typeface="Calibri"/>
              <a:sym typeface="Calibri"/>
            </a:endParaRPr>
          </a:p>
        </p:txBody>
      </p:sp>
      <p:sp>
        <p:nvSpPr>
          <p:cNvPr id="1190" name="Google Shape;1190;p26"/>
          <p:cNvSpPr/>
          <p:nvPr/>
        </p:nvSpPr>
        <p:spPr>
          <a:xfrm>
            <a:off x="1143000" y="2497634"/>
            <a:ext cx="1785938"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AB5"/>
              </a:buClr>
              <a:buSzPts val="727"/>
              <a:buFont typeface="Calibri"/>
              <a:buNone/>
            </a:pPr>
            <a:r>
              <a:rPr b="0" i="0" lang="en-US" sz="727" u="none" cap="none" strike="noStrike">
                <a:solidFill>
                  <a:srgbClr val="A0AAB5"/>
                </a:solidFill>
                <a:latin typeface="Calibri"/>
                <a:ea typeface="Calibri"/>
                <a:cs typeface="Calibri"/>
                <a:sym typeface="Calibri"/>
              </a:rPr>
              <a:t>Dev Agent B</a:t>
            </a:r>
            <a:endParaRPr b="0" i="0" sz="727" u="none" cap="none" strike="noStrike">
              <a:solidFill>
                <a:schemeClr val="dk1"/>
              </a:solidFill>
              <a:latin typeface="Calibri"/>
              <a:ea typeface="Calibri"/>
              <a:cs typeface="Calibri"/>
              <a:sym typeface="Calibri"/>
            </a:endParaRPr>
          </a:p>
        </p:txBody>
      </p:sp>
      <p:sp>
        <p:nvSpPr>
          <p:cNvPr id="1191" name="Google Shape;1191;p26"/>
          <p:cNvSpPr/>
          <p:nvPr/>
        </p:nvSpPr>
        <p:spPr>
          <a:xfrm>
            <a:off x="3143250" y="2435126"/>
            <a:ext cx="4838300" cy="85725"/>
          </a:xfrm>
          <a:prstGeom prst="roundRect">
            <a:avLst>
              <a:gd fmla="val 16667" name="adj"/>
            </a:avLst>
          </a:prstGeom>
          <a:solidFill>
            <a:srgbClr val="FFFF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6"/>
          <p:cNvSpPr/>
          <p:nvPr/>
        </p:nvSpPr>
        <p:spPr>
          <a:xfrm>
            <a:off x="3143250" y="2435126"/>
            <a:ext cx="2902958" cy="85725"/>
          </a:xfrm>
          <a:prstGeom prst="roundRect">
            <a:avLst>
              <a:gd fmla="val 16667" name="adj"/>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26"/>
          <p:cNvSpPr/>
          <p:nvPr/>
        </p:nvSpPr>
        <p:spPr>
          <a:xfrm>
            <a:off x="3143250" y="2435126"/>
            <a:ext cx="2877257" cy="85725"/>
          </a:xfrm>
          <a:prstGeom prst="rect">
            <a:avLst/>
          </a:prstGeom>
          <a:solidFill>
            <a:srgbClr val="FFFFFF">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6"/>
          <p:cNvSpPr/>
          <p:nvPr/>
        </p:nvSpPr>
        <p:spPr>
          <a:xfrm>
            <a:off x="8195863" y="2400300"/>
            <a:ext cx="233762"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00BFFF"/>
              </a:buClr>
              <a:buSzPts val="784"/>
              <a:buFont typeface="Calibri"/>
              <a:buNone/>
            </a:pPr>
            <a:r>
              <a:rPr b="1" i="0" lang="en-US" sz="784" u="none" cap="none" strike="noStrike">
                <a:solidFill>
                  <a:srgbClr val="00BFFF"/>
                </a:solidFill>
                <a:latin typeface="Calibri"/>
                <a:ea typeface="Calibri"/>
                <a:cs typeface="Calibri"/>
                <a:sym typeface="Calibri"/>
              </a:rPr>
              <a:t>60%</a:t>
            </a:r>
            <a:endParaRPr b="0" i="0" sz="784" u="none" cap="none" strike="noStrike">
              <a:solidFill>
                <a:schemeClr val="dk1"/>
              </a:solidFill>
              <a:latin typeface="Calibri"/>
              <a:ea typeface="Calibri"/>
              <a:cs typeface="Calibri"/>
              <a:sym typeface="Calibri"/>
            </a:endParaRPr>
          </a:p>
        </p:txBody>
      </p:sp>
      <p:sp>
        <p:nvSpPr>
          <p:cNvPr id="1195" name="Google Shape;1195;p26"/>
          <p:cNvSpPr/>
          <p:nvPr/>
        </p:nvSpPr>
        <p:spPr>
          <a:xfrm>
            <a:off x="571500" y="2991445"/>
            <a:ext cx="8001000" cy="59828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6"/>
          <p:cNvSpPr/>
          <p:nvPr/>
        </p:nvSpPr>
        <p:spPr>
          <a:xfrm>
            <a:off x="571500" y="2991445"/>
            <a:ext cx="42863" cy="598289"/>
          </a:xfrm>
          <a:prstGeom prst="rect">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97" name="Google Shape;1197;p26"/>
          <p:cNvPicPr preferRelativeResize="0"/>
          <p:nvPr/>
        </p:nvPicPr>
        <p:blipFill rotWithShape="1">
          <a:blip r:embed="rId6">
            <a:alphaModFix/>
          </a:blip>
          <a:srcRect b="0" l="0" r="0" t="0"/>
          <a:stretch/>
        </p:blipFill>
        <p:spPr>
          <a:xfrm>
            <a:off x="742950" y="3178969"/>
            <a:ext cx="228600" cy="228600"/>
          </a:xfrm>
          <a:prstGeom prst="rect">
            <a:avLst/>
          </a:prstGeom>
          <a:noFill/>
          <a:ln>
            <a:noFill/>
          </a:ln>
        </p:spPr>
      </p:pic>
      <p:sp>
        <p:nvSpPr>
          <p:cNvPr id="1198" name="Google Shape;1198;p26"/>
          <p:cNvSpPr/>
          <p:nvPr/>
        </p:nvSpPr>
        <p:spPr>
          <a:xfrm>
            <a:off x="1143000" y="3135213"/>
            <a:ext cx="1785938" cy="175022"/>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Dashboard</a:t>
            </a:r>
            <a:endParaRPr b="0" i="0" sz="885" u="none" cap="none" strike="noStrike">
              <a:solidFill>
                <a:schemeClr val="dk1"/>
              </a:solidFill>
              <a:latin typeface="Calibri"/>
              <a:ea typeface="Calibri"/>
              <a:cs typeface="Calibri"/>
              <a:sym typeface="Calibri"/>
            </a:endParaRPr>
          </a:p>
        </p:txBody>
      </p:sp>
      <p:sp>
        <p:nvSpPr>
          <p:cNvPr id="1199" name="Google Shape;1199;p26"/>
          <p:cNvSpPr/>
          <p:nvPr/>
        </p:nvSpPr>
        <p:spPr>
          <a:xfrm>
            <a:off x="1143000" y="3310235"/>
            <a:ext cx="1785938"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AB5"/>
              </a:buClr>
              <a:buSzPts val="727"/>
              <a:buFont typeface="Calibri"/>
              <a:buNone/>
            </a:pPr>
            <a:r>
              <a:rPr b="0" i="0" lang="en-US" sz="727" u="none" cap="none" strike="noStrike">
                <a:solidFill>
                  <a:srgbClr val="A0AAB5"/>
                </a:solidFill>
                <a:latin typeface="Calibri"/>
                <a:ea typeface="Calibri"/>
                <a:cs typeface="Calibri"/>
                <a:sym typeface="Calibri"/>
              </a:rPr>
              <a:t>Dev Agent C</a:t>
            </a:r>
            <a:endParaRPr b="0" i="0" sz="727" u="none" cap="none" strike="noStrike">
              <a:solidFill>
                <a:schemeClr val="dk1"/>
              </a:solidFill>
              <a:latin typeface="Calibri"/>
              <a:ea typeface="Calibri"/>
              <a:cs typeface="Calibri"/>
              <a:sym typeface="Calibri"/>
            </a:endParaRPr>
          </a:p>
        </p:txBody>
      </p:sp>
      <p:sp>
        <p:nvSpPr>
          <p:cNvPr id="1200" name="Google Shape;1200;p26"/>
          <p:cNvSpPr/>
          <p:nvPr/>
        </p:nvSpPr>
        <p:spPr>
          <a:xfrm>
            <a:off x="3143250" y="3247727"/>
            <a:ext cx="4838300" cy="85725"/>
          </a:xfrm>
          <a:prstGeom prst="roundRect">
            <a:avLst>
              <a:gd fmla="val 16667" name="adj"/>
            </a:avLst>
          </a:prstGeom>
          <a:solidFill>
            <a:srgbClr val="FFFF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6"/>
          <p:cNvSpPr/>
          <p:nvPr/>
        </p:nvSpPr>
        <p:spPr>
          <a:xfrm>
            <a:off x="3143250" y="3247727"/>
            <a:ext cx="1935314" cy="85725"/>
          </a:xfrm>
          <a:prstGeom prst="roundRect">
            <a:avLst>
              <a:gd fmla="val 16667" name="adj"/>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6"/>
          <p:cNvSpPr/>
          <p:nvPr/>
        </p:nvSpPr>
        <p:spPr>
          <a:xfrm>
            <a:off x="3143250" y="3247727"/>
            <a:ext cx="1918153" cy="85725"/>
          </a:xfrm>
          <a:prstGeom prst="rect">
            <a:avLst/>
          </a:prstGeom>
          <a:solidFill>
            <a:srgbClr val="FFFFFF">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6"/>
          <p:cNvSpPr/>
          <p:nvPr/>
        </p:nvSpPr>
        <p:spPr>
          <a:xfrm>
            <a:off x="8195863" y="3212902"/>
            <a:ext cx="233762"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5C518"/>
              </a:buClr>
              <a:buSzPts val="784"/>
              <a:buFont typeface="Calibri"/>
              <a:buNone/>
            </a:pPr>
            <a:r>
              <a:rPr b="1" i="0" lang="en-US" sz="784" u="none" cap="none" strike="noStrike">
                <a:solidFill>
                  <a:srgbClr val="F5C518"/>
                </a:solidFill>
                <a:latin typeface="Calibri"/>
                <a:ea typeface="Calibri"/>
                <a:cs typeface="Calibri"/>
                <a:sym typeface="Calibri"/>
              </a:rPr>
              <a:t>40%</a:t>
            </a:r>
            <a:endParaRPr b="0" i="0" sz="784" u="none" cap="none" strike="noStrike">
              <a:solidFill>
                <a:schemeClr val="dk1"/>
              </a:solidFill>
              <a:latin typeface="Calibri"/>
              <a:ea typeface="Calibri"/>
              <a:cs typeface="Calibri"/>
              <a:sym typeface="Calibri"/>
            </a:endParaRPr>
          </a:p>
        </p:txBody>
      </p:sp>
      <p:sp>
        <p:nvSpPr>
          <p:cNvPr id="1204" name="Google Shape;1204;p26"/>
          <p:cNvSpPr/>
          <p:nvPr/>
        </p:nvSpPr>
        <p:spPr>
          <a:xfrm>
            <a:off x="571500" y="4291608"/>
            <a:ext cx="8001000" cy="423267"/>
          </a:xfrm>
          <a:prstGeom prst="rect">
            <a:avLst/>
          </a:prstGeom>
          <a:solidFill>
            <a:srgbClr val="00C853">
              <a:alpha val="10196"/>
            </a:srgbClr>
          </a:solidFill>
          <a:ln cap="flat" cmpd="sng" w="952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6"/>
          <p:cNvSpPr/>
          <p:nvPr/>
        </p:nvSpPr>
        <p:spPr>
          <a:xfrm>
            <a:off x="571500" y="4291608"/>
            <a:ext cx="8001000" cy="423267"/>
          </a:xfrm>
          <a:prstGeom prst="rect">
            <a:avLst/>
          </a:prstGeom>
          <a:noFill/>
          <a:ln>
            <a:noFill/>
          </a:ln>
        </p:spPr>
        <p:txBody>
          <a:bodyPr anchorCtr="0" anchor="t" bIns="127500" lIns="127500" spcFirstLastPara="1" rIns="127500" wrap="square" tIns="127500">
            <a:noAutofit/>
          </a:bodyPr>
          <a:lstStyle/>
          <a:p>
            <a:pPr indent="0" lvl="0" marL="0" marR="0" rtl="0" algn="ctr">
              <a:lnSpc>
                <a:spcPct val="133333"/>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"Why build sequentially? Spin up 3 agents and build 3 features at once."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pic>
        <p:nvPicPr>
          <p:cNvPr descr="preencoded.png" id="1211" name="Google Shape;1211;p27"/>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1212" name="Google Shape;1212;p27"/>
          <p:cNvPicPr preferRelativeResize="0"/>
          <p:nvPr/>
        </p:nvPicPr>
        <p:blipFill rotWithShape="1">
          <a:blip r:embed="rId4">
            <a:alphaModFix/>
          </a:blip>
          <a:srcRect b="0" l="0" r="0" t="0"/>
          <a:stretch/>
        </p:blipFill>
        <p:spPr>
          <a:xfrm>
            <a:off x="4214813" y="1163538"/>
            <a:ext cx="714375" cy="714375"/>
          </a:xfrm>
          <a:prstGeom prst="rect">
            <a:avLst/>
          </a:prstGeom>
          <a:noFill/>
          <a:ln>
            <a:noFill/>
          </a:ln>
        </p:spPr>
      </p:pic>
      <p:sp>
        <p:nvSpPr>
          <p:cNvPr id="1213" name="Google Shape;1213;p27"/>
          <p:cNvSpPr/>
          <p:nvPr/>
        </p:nvSpPr>
        <p:spPr>
          <a:xfrm>
            <a:off x="3477639" y="2285107"/>
            <a:ext cx="2188694" cy="544711"/>
          </a:xfrm>
          <a:prstGeom prst="rect">
            <a:avLst/>
          </a:prstGeom>
          <a:noFill/>
          <a:ln>
            <a:noFill/>
          </a:ln>
        </p:spPr>
        <p:txBody>
          <a:bodyPr anchorCtr="0" anchor="t" bIns="0" lIns="0" spcFirstLastPara="1" rIns="0" wrap="square" tIns="0">
            <a:noAutofit/>
          </a:bodyPr>
          <a:lstStyle/>
          <a:p>
            <a:pPr indent="0" lvl="0" marL="0" marR="0" rtl="0" algn="ctr">
              <a:lnSpc>
                <a:spcPct val="132774"/>
              </a:lnSpc>
              <a:spcBef>
                <a:spcPts val="0"/>
              </a:spcBef>
              <a:spcAft>
                <a:spcPts val="0"/>
              </a:spcAft>
              <a:buClr>
                <a:srgbClr val="FFFFFF"/>
              </a:buClr>
              <a:buSzPts val="2862"/>
              <a:buFont typeface="Calibri"/>
              <a:buNone/>
            </a:pPr>
            <a:r>
              <a:rPr b="1" i="0" lang="en-US" sz="2862" u="none" cap="none" strike="noStrike">
                <a:solidFill>
                  <a:srgbClr val="FFFFFF"/>
                </a:solidFill>
                <a:latin typeface="Calibri"/>
                <a:ea typeface="Calibri"/>
                <a:cs typeface="Calibri"/>
                <a:sym typeface="Calibri"/>
              </a:rPr>
              <a:t>The Future</a:t>
            </a:r>
            <a:endParaRPr b="0" i="0" sz="2862" u="none" cap="none" strike="noStrike">
              <a:solidFill>
                <a:schemeClr val="dk1"/>
              </a:solidFill>
              <a:latin typeface="Calibri"/>
              <a:ea typeface="Calibri"/>
              <a:cs typeface="Calibri"/>
              <a:sym typeface="Calibri"/>
            </a:endParaRPr>
          </a:p>
        </p:txBody>
      </p:sp>
      <p:sp>
        <p:nvSpPr>
          <p:cNvPr id="1214" name="Google Shape;1214;p27"/>
          <p:cNvSpPr/>
          <p:nvPr/>
        </p:nvSpPr>
        <p:spPr>
          <a:xfrm>
            <a:off x="3172746" y="2972693"/>
            <a:ext cx="2798480" cy="312539"/>
          </a:xfrm>
          <a:prstGeom prst="rect">
            <a:avLst/>
          </a:prstGeom>
          <a:noFill/>
          <a:ln>
            <a:noFill/>
          </a:ln>
        </p:spPr>
        <p:txBody>
          <a:bodyPr anchorCtr="0" anchor="t" bIns="0" lIns="0" spcFirstLastPara="1" rIns="0" wrap="square" tIns="0">
            <a:noAutofit/>
          </a:bodyPr>
          <a:lstStyle/>
          <a:p>
            <a:pPr indent="0" lvl="0" marL="0" marR="0" rtl="0" algn="ctr">
              <a:lnSpc>
                <a:spcPct val="129107"/>
              </a:lnSpc>
              <a:spcBef>
                <a:spcPts val="0"/>
              </a:spcBef>
              <a:spcAft>
                <a:spcPts val="0"/>
              </a:spcAft>
              <a:buClr>
                <a:srgbClr val="FF9800"/>
              </a:buClr>
              <a:buSzPts val="1704"/>
              <a:buFont typeface="Calibri"/>
              <a:buNone/>
            </a:pPr>
            <a:r>
              <a:rPr b="0" i="0" lang="en-US" sz="1704" u="none" cap="none" strike="noStrike">
                <a:solidFill>
                  <a:srgbClr val="FF9800"/>
                </a:solidFill>
                <a:latin typeface="Calibri"/>
                <a:ea typeface="Calibri"/>
                <a:cs typeface="Calibri"/>
                <a:sym typeface="Calibri"/>
              </a:rPr>
              <a:t>Scaling Human Potential</a:t>
            </a:r>
            <a:endParaRPr b="0" i="0" sz="1704" u="none" cap="none" strike="noStrike">
              <a:solidFill>
                <a:schemeClr val="dk1"/>
              </a:solidFill>
              <a:latin typeface="Calibri"/>
              <a:ea typeface="Calibri"/>
              <a:cs typeface="Calibri"/>
              <a:sym typeface="Calibri"/>
            </a:endParaRPr>
          </a:p>
        </p:txBody>
      </p:sp>
      <p:sp>
        <p:nvSpPr>
          <p:cNvPr id="1215" name="Google Shape;1215;p27"/>
          <p:cNvSpPr/>
          <p:nvPr/>
        </p:nvSpPr>
        <p:spPr>
          <a:xfrm>
            <a:off x="2014649" y="3713857"/>
            <a:ext cx="1551422" cy="403622"/>
          </a:xfrm>
          <a:prstGeom prst="roundRect">
            <a:avLst>
              <a:gd fmla="val 16667" name="adj"/>
            </a:avLst>
          </a:prstGeom>
          <a:solidFill>
            <a:srgbClr val="FFFFFF">
              <a:alpha val="5098"/>
            </a:srgbClr>
          </a:solidFill>
          <a:ln cap="flat" cmpd="sng" w="9525">
            <a:solidFill>
              <a:srgbClr val="F5C518">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16" name="Google Shape;1216;p27"/>
          <p:cNvPicPr preferRelativeResize="0"/>
          <p:nvPr/>
        </p:nvPicPr>
        <p:blipFill rotWithShape="1">
          <a:blip r:embed="rId5">
            <a:alphaModFix/>
          </a:blip>
          <a:srcRect b="0" l="0" r="0" t="0"/>
          <a:stretch/>
        </p:blipFill>
        <p:spPr>
          <a:xfrm>
            <a:off x="2236105" y="3851374"/>
            <a:ext cx="112514" cy="128588"/>
          </a:xfrm>
          <a:prstGeom prst="rect">
            <a:avLst/>
          </a:prstGeom>
          <a:noFill/>
          <a:ln>
            <a:noFill/>
          </a:ln>
        </p:spPr>
      </p:pic>
      <p:sp>
        <p:nvSpPr>
          <p:cNvPr id="1217" name="Google Shape;1217;p27"/>
          <p:cNvSpPr/>
          <p:nvPr/>
        </p:nvSpPr>
        <p:spPr>
          <a:xfrm>
            <a:off x="2420057" y="3828157"/>
            <a:ext cx="924558" cy="175022"/>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100x Engineers</a:t>
            </a:r>
            <a:endParaRPr b="0" i="0" sz="942" u="none" cap="none" strike="noStrike">
              <a:solidFill>
                <a:schemeClr val="dk1"/>
              </a:solidFill>
              <a:latin typeface="Calibri"/>
              <a:ea typeface="Calibri"/>
              <a:cs typeface="Calibri"/>
              <a:sym typeface="Calibri"/>
            </a:endParaRPr>
          </a:p>
        </p:txBody>
      </p:sp>
      <p:sp>
        <p:nvSpPr>
          <p:cNvPr id="1218" name="Google Shape;1218;p27"/>
          <p:cNvSpPr/>
          <p:nvPr/>
        </p:nvSpPr>
        <p:spPr>
          <a:xfrm>
            <a:off x="3844677" y="3713857"/>
            <a:ext cx="1609939" cy="403622"/>
          </a:xfrm>
          <a:prstGeom prst="roundRect">
            <a:avLst>
              <a:gd fmla="val 16667" name="adj"/>
            </a:avLst>
          </a:prstGeom>
          <a:solidFill>
            <a:srgbClr val="FFFFFF">
              <a:alpha val="5098"/>
            </a:srgbClr>
          </a:solidFill>
          <a:ln cap="flat" cmpd="sng" w="9525">
            <a:solidFill>
              <a:srgbClr val="F5C518">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19" name="Google Shape;1219;p27"/>
          <p:cNvPicPr preferRelativeResize="0"/>
          <p:nvPr/>
        </p:nvPicPr>
        <p:blipFill rotWithShape="1">
          <a:blip r:embed="rId6">
            <a:alphaModFix/>
          </a:blip>
          <a:srcRect b="0" l="0" r="0" t="0"/>
          <a:stretch/>
        </p:blipFill>
        <p:spPr>
          <a:xfrm>
            <a:off x="4066133" y="3851374"/>
            <a:ext cx="160734" cy="128588"/>
          </a:xfrm>
          <a:prstGeom prst="rect">
            <a:avLst/>
          </a:prstGeom>
          <a:noFill/>
          <a:ln>
            <a:noFill/>
          </a:ln>
        </p:spPr>
      </p:pic>
      <p:sp>
        <p:nvSpPr>
          <p:cNvPr id="1220" name="Google Shape;1220;p27"/>
          <p:cNvSpPr/>
          <p:nvPr/>
        </p:nvSpPr>
        <p:spPr>
          <a:xfrm>
            <a:off x="4298305" y="3828157"/>
            <a:ext cx="934855" cy="175022"/>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Infinite Context</a:t>
            </a:r>
            <a:endParaRPr b="0" i="0" sz="942" u="none" cap="none" strike="noStrike">
              <a:solidFill>
                <a:schemeClr val="dk1"/>
              </a:solidFill>
              <a:latin typeface="Calibri"/>
              <a:ea typeface="Calibri"/>
              <a:cs typeface="Calibri"/>
              <a:sym typeface="Calibri"/>
            </a:endParaRPr>
          </a:p>
        </p:txBody>
      </p:sp>
      <p:sp>
        <p:nvSpPr>
          <p:cNvPr id="1221" name="Google Shape;1221;p27"/>
          <p:cNvSpPr/>
          <p:nvPr/>
        </p:nvSpPr>
        <p:spPr>
          <a:xfrm>
            <a:off x="5733222" y="3713857"/>
            <a:ext cx="1381813" cy="403622"/>
          </a:xfrm>
          <a:prstGeom prst="roundRect">
            <a:avLst>
              <a:gd fmla="val 16667" name="adj"/>
            </a:avLst>
          </a:prstGeom>
          <a:solidFill>
            <a:srgbClr val="FFFFFF">
              <a:alpha val="5098"/>
            </a:srgbClr>
          </a:solidFill>
          <a:ln cap="flat" cmpd="sng" w="9525">
            <a:solidFill>
              <a:srgbClr val="F5C518">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22" name="Google Shape;1222;p27"/>
          <p:cNvPicPr preferRelativeResize="0"/>
          <p:nvPr/>
        </p:nvPicPr>
        <p:blipFill rotWithShape="1">
          <a:blip r:embed="rId7">
            <a:alphaModFix/>
          </a:blip>
          <a:srcRect b="0" l="0" r="0" t="0"/>
          <a:stretch/>
        </p:blipFill>
        <p:spPr>
          <a:xfrm>
            <a:off x="5954678" y="3851374"/>
            <a:ext cx="144661" cy="128588"/>
          </a:xfrm>
          <a:prstGeom prst="rect">
            <a:avLst/>
          </a:prstGeom>
          <a:noFill/>
          <a:ln>
            <a:noFill/>
          </a:ln>
        </p:spPr>
      </p:pic>
      <p:sp>
        <p:nvSpPr>
          <p:cNvPr id="1223" name="Google Shape;1223;p27"/>
          <p:cNvSpPr/>
          <p:nvPr/>
        </p:nvSpPr>
        <p:spPr>
          <a:xfrm>
            <a:off x="6170777" y="3828157"/>
            <a:ext cx="722802" cy="175022"/>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Spec-Driven</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pic>
        <p:nvPicPr>
          <p:cNvPr descr="preencoded.png" id="1229" name="Google Shape;1229;p2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230" name="Google Shape;1230;p28"/>
          <p:cNvSpPr/>
          <p:nvPr/>
        </p:nvSpPr>
        <p:spPr>
          <a:xfrm>
            <a:off x="571500" y="428625"/>
            <a:ext cx="7143750" cy="408980"/>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Calibri"/>
              <a:buNone/>
            </a:pPr>
            <a:r>
              <a:rPr b="1" i="0" lang="en-US" sz="2121" u="none" cap="none" strike="noStrike">
                <a:solidFill>
                  <a:srgbClr val="FFFFFF"/>
                </a:solidFill>
                <a:latin typeface="Calibri"/>
                <a:ea typeface="Calibri"/>
                <a:cs typeface="Calibri"/>
                <a:sym typeface="Calibri"/>
              </a:rPr>
              <a:t>The Force Multiplier: Scaling Output</a:t>
            </a:r>
            <a:endParaRPr b="0" i="0" sz="2121" u="none" cap="none" strike="noStrike">
              <a:solidFill>
                <a:schemeClr val="dk1"/>
              </a:solidFill>
              <a:latin typeface="Calibri"/>
              <a:ea typeface="Calibri"/>
              <a:cs typeface="Calibri"/>
              <a:sym typeface="Calibri"/>
            </a:endParaRPr>
          </a:p>
        </p:txBody>
      </p:sp>
      <p:sp>
        <p:nvSpPr>
          <p:cNvPr id="1231" name="Google Shape;1231;p28"/>
          <p:cNvSpPr/>
          <p:nvPr/>
        </p:nvSpPr>
        <p:spPr>
          <a:xfrm>
            <a:off x="571500" y="1080492"/>
            <a:ext cx="8001000" cy="3634383"/>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8"/>
          <p:cNvSpPr/>
          <p:nvPr/>
        </p:nvSpPr>
        <p:spPr>
          <a:xfrm>
            <a:off x="571500" y="4700588"/>
            <a:ext cx="8001000"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8"/>
          <p:cNvSpPr/>
          <p:nvPr/>
        </p:nvSpPr>
        <p:spPr>
          <a:xfrm>
            <a:off x="1265281" y="3184327"/>
            <a:ext cx="269760" cy="312539"/>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FFFFFF"/>
              </a:buClr>
              <a:buSzPts val="1602"/>
              <a:buFont typeface="Calibri"/>
              <a:buNone/>
            </a:pPr>
            <a:r>
              <a:rPr b="1" i="0" lang="en-US" sz="1602" u="none" cap="none" strike="noStrike">
                <a:solidFill>
                  <a:srgbClr val="FFFFFF"/>
                </a:solidFill>
                <a:latin typeface="Calibri"/>
                <a:ea typeface="Calibri"/>
                <a:cs typeface="Calibri"/>
                <a:sym typeface="Calibri"/>
              </a:rPr>
              <a:t>1x</a:t>
            </a:r>
            <a:endParaRPr b="0" i="0" sz="1602" u="none" cap="none" strike="noStrike">
              <a:solidFill>
                <a:schemeClr val="dk1"/>
              </a:solidFill>
              <a:latin typeface="Calibri"/>
              <a:ea typeface="Calibri"/>
              <a:cs typeface="Calibri"/>
              <a:sym typeface="Calibri"/>
            </a:endParaRPr>
          </a:p>
        </p:txBody>
      </p:sp>
      <p:sp>
        <p:nvSpPr>
          <p:cNvPr id="1234" name="Google Shape;1234;p28"/>
          <p:cNvSpPr/>
          <p:nvPr/>
        </p:nvSpPr>
        <p:spPr>
          <a:xfrm>
            <a:off x="1042988" y="3441502"/>
            <a:ext cx="714375" cy="571500"/>
          </a:xfrm>
          <a:prstGeom prst="rect">
            <a:avLst/>
          </a:prstGeom>
          <a:solidFill>
            <a:srgbClr val="CBD5E1">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35" name="Google Shape;1235;p28"/>
          <p:cNvPicPr preferRelativeResize="0"/>
          <p:nvPr/>
        </p:nvPicPr>
        <p:blipFill rotWithShape="1">
          <a:blip r:embed="rId4">
            <a:alphaModFix/>
          </a:blip>
          <a:srcRect b="0" l="0" r="0" t="0"/>
          <a:stretch/>
        </p:blipFill>
        <p:spPr>
          <a:xfrm>
            <a:off x="1300163" y="3655814"/>
            <a:ext cx="200025" cy="228600"/>
          </a:xfrm>
          <a:prstGeom prst="rect">
            <a:avLst/>
          </a:prstGeom>
          <a:noFill/>
          <a:ln>
            <a:noFill/>
          </a:ln>
        </p:spPr>
      </p:pic>
      <p:sp>
        <p:nvSpPr>
          <p:cNvPr id="1236" name="Google Shape;1236;p28"/>
          <p:cNvSpPr/>
          <p:nvPr/>
        </p:nvSpPr>
        <p:spPr>
          <a:xfrm>
            <a:off x="902680" y="4141589"/>
            <a:ext cx="994990" cy="194667"/>
          </a:xfrm>
          <a:prstGeom prst="rect">
            <a:avLst/>
          </a:prstGeom>
          <a:noFill/>
          <a:ln>
            <a:noFill/>
          </a:ln>
        </p:spPr>
        <p:txBody>
          <a:bodyPr anchorCtr="0" anchor="t" bIns="0" lIns="0" spcFirstLastPara="1" rIns="0" wrap="square" tIns="0">
            <a:noAutofit/>
          </a:bodyPr>
          <a:lstStyle/>
          <a:p>
            <a:pPr indent="0" lvl="0" marL="0" marR="0" rtl="0" algn="ctr">
              <a:lnSpc>
                <a:spcPct val="141843"/>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Manual Coder</a:t>
            </a:r>
            <a:endParaRPr b="0" i="0" sz="987" u="none" cap="none" strike="noStrike">
              <a:solidFill>
                <a:schemeClr val="dk1"/>
              </a:solidFill>
              <a:latin typeface="Calibri"/>
              <a:ea typeface="Calibri"/>
              <a:cs typeface="Calibri"/>
              <a:sym typeface="Calibri"/>
            </a:endParaRPr>
          </a:p>
        </p:txBody>
      </p:sp>
      <p:sp>
        <p:nvSpPr>
          <p:cNvPr id="1237" name="Google Shape;1237;p28"/>
          <p:cNvSpPr/>
          <p:nvPr/>
        </p:nvSpPr>
        <p:spPr>
          <a:xfrm>
            <a:off x="902680" y="4371975"/>
            <a:ext cx="994990" cy="271463"/>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A0AAB5"/>
              </a:buClr>
              <a:buSzPts val="727"/>
              <a:buFont typeface="Calibri"/>
              <a:buNone/>
            </a:pPr>
            <a:r>
              <a:rPr b="0" i="0" lang="en-US" sz="727" u="none" cap="none" strike="noStrike">
                <a:solidFill>
                  <a:srgbClr val="A0AAB5"/>
                </a:solidFill>
                <a:latin typeface="Calibri"/>
                <a:ea typeface="Calibri"/>
                <a:cs typeface="Calibri"/>
                <a:sym typeface="Calibri"/>
              </a:rPr>
              <a:t>Writes every line.</a:t>
            </a:r>
            <a:br>
              <a:rPr b="0" i="0" lang="en-US" sz="727" u="none" cap="none" strike="noStrike">
                <a:solidFill>
                  <a:srgbClr val="A0AAB5"/>
                </a:solidFill>
                <a:latin typeface="Calibri"/>
                <a:ea typeface="Calibri"/>
                <a:cs typeface="Calibri"/>
                <a:sym typeface="Calibri"/>
              </a:rPr>
            </a:br>
            <a:r>
              <a:rPr b="0" i="0" lang="en-US" sz="727" u="none" cap="none" strike="noStrike">
                <a:solidFill>
                  <a:srgbClr val="A0AAB5"/>
                </a:solidFill>
                <a:latin typeface="Calibri"/>
                <a:ea typeface="Calibri"/>
                <a:cs typeface="Calibri"/>
                <a:sym typeface="Calibri"/>
              </a:rPr>
              <a:t>1 Feature / Week</a:t>
            </a:r>
            <a:endParaRPr b="0" i="0" sz="727" u="none" cap="none" strike="noStrike">
              <a:solidFill>
                <a:schemeClr val="dk1"/>
              </a:solidFill>
              <a:latin typeface="Calibri"/>
              <a:ea typeface="Calibri"/>
              <a:cs typeface="Calibri"/>
              <a:sym typeface="Calibri"/>
            </a:endParaRPr>
          </a:p>
        </p:txBody>
      </p:sp>
      <p:sp>
        <p:nvSpPr>
          <p:cNvPr id="1238" name="Google Shape;1238;p28"/>
          <p:cNvSpPr/>
          <p:nvPr/>
        </p:nvSpPr>
        <p:spPr>
          <a:xfrm>
            <a:off x="3142329" y="2184202"/>
            <a:ext cx="401892" cy="312539"/>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FFFFFF"/>
              </a:buClr>
              <a:buSzPts val="1602"/>
              <a:buFont typeface="Calibri"/>
              <a:buNone/>
            </a:pPr>
            <a:r>
              <a:rPr b="1" i="0" lang="en-US" sz="1602" u="none" cap="none" strike="noStrike">
                <a:solidFill>
                  <a:srgbClr val="FFFFFF"/>
                </a:solidFill>
                <a:latin typeface="Calibri"/>
                <a:ea typeface="Calibri"/>
                <a:cs typeface="Calibri"/>
                <a:sym typeface="Calibri"/>
              </a:rPr>
              <a:t>10x</a:t>
            </a:r>
            <a:endParaRPr b="0" i="0" sz="1602" u="none" cap="none" strike="noStrike">
              <a:solidFill>
                <a:schemeClr val="dk1"/>
              </a:solidFill>
              <a:latin typeface="Calibri"/>
              <a:ea typeface="Calibri"/>
              <a:cs typeface="Calibri"/>
              <a:sym typeface="Calibri"/>
            </a:endParaRPr>
          </a:p>
        </p:txBody>
      </p:sp>
      <p:sp>
        <p:nvSpPr>
          <p:cNvPr id="1239" name="Google Shape;1239;p28"/>
          <p:cNvSpPr/>
          <p:nvPr/>
        </p:nvSpPr>
        <p:spPr>
          <a:xfrm>
            <a:off x="2986088" y="2441377"/>
            <a:ext cx="714375" cy="1571625"/>
          </a:xfrm>
          <a:prstGeom prst="rect">
            <a:avLst/>
          </a:prstGeom>
          <a:solidFill>
            <a:srgbClr val="F5C518">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40" name="Google Shape;1240;p28"/>
          <p:cNvPicPr preferRelativeResize="0"/>
          <p:nvPr/>
        </p:nvPicPr>
        <p:blipFill rotWithShape="1">
          <a:blip r:embed="rId5">
            <a:alphaModFix/>
          </a:blip>
          <a:srcRect b="0" l="0" r="0" t="0"/>
          <a:stretch/>
        </p:blipFill>
        <p:spPr>
          <a:xfrm>
            <a:off x="3200400" y="3655814"/>
            <a:ext cx="285750" cy="228600"/>
          </a:xfrm>
          <a:prstGeom prst="rect">
            <a:avLst/>
          </a:prstGeom>
          <a:noFill/>
          <a:ln>
            <a:noFill/>
          </a:ln>
        </p:spPr>
      </p:pic>
      <p:sp>
        <p:nvSpPr>
          <p:cNvPr id="1241" name="Google Shape;1241;p28"/>
          <p:cNvSpPr/>
          <p:nvPr/>
        </p:nvSpPr>
        <p:spPr>
          <a:xfrm>
            <a:off x="2896846" y="4141589"/>
            <a:ext cx="892829" cy="194667"/>
          </a:xfrm>
          <a:prstGeom prst="rect">
            <a:avLst/>
          </a:prstGeom>
          <a:noFill/>
          <a:ln>
            <a:noFill/>
          </a:ln>
        </p:spPr>
        <p:txBody>
          <a:bodyPr anchorCtr="0" anchor="t" bIns="0" lIns="0" spcFirstLastPara="1" rIns="0" wrap="square" tIns="0">
            <a:noAutofit/>
          </a:bodyPr>
          <a:lstStyle/>
          <a:p>
            <a:pPr indent="0" lvl="0" marL="0" marR="0" rtl="0" algn="ctr">
              <a:lnSpc>
                <a:spcPct val="141843"/>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AI Assisted</a:t>
            </a:r>
            <a:endParaRPr b="0" i="0" sz="987" u="none" cap="none" strike="noStrike">
              <a:solidFill>
                <a:schemeClr val="dk1"/>
              </a:solidFill>
              <a:latin typeface="Calibri"/>
              <a:ea typeface="Calibri"/>
              <a:cs typeface="Calibri"/>
              <a:sym typeface="Calibri"/>
            </a:endParaRPr>
          </a:p>
        </p:txBody>
      </p:sp>
      <p:sp>
        <p:nvSpPr>
          <p:cNvPr id="1242" name="Google Shape;1242;p28"/>
          <p:cNvSpPr/>
          <p:nvPr/>
        </p:nvSpPr>
        <p:spPr>
          <a:xfrm>
            <a:off x="2896846" y="4371975"/>
            <a:ext cx="892829" cy="271463"/>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A0AAB5"/>
              </a:buClr>
              <a:buSzPts val="727"/>
              <a:buFont typeface="Calibri"/>
              <a:buNone/>
            </a:pPr>
            <a:r>
              <a:rPr b="0" i="0" lang="en-US" sz="727" u="none" cap="none" strike="noStrike">
                <a:solidFill>
                  <a:srgbClr val="A0AAB5"/>
                </a:solidFill>
                <a:latin typeface="Calibri"/>
                <a:ea typeface="Calibri"/>
                <a:cs typeface="Calibri"/>
                <a:sym typeface="Calibri"/>
              </a:rPr>
              <a:t>Copilot / Chat.</a:t>
            </a:r>
            <a:br>
              <a:rPr b="0" i="0" lang="en-US" sz="727" u="none" cap="none" strike="noStrike">
                <a:solidFill>
                  <a:srgbClr val="A0AAB5"/>
                </a:solidFill>
                <a:latin typeface="Calibri"/>
                <a:ea typeface="Calibri"/>
                <a:cs typeface="Calibri"/>
                <a:sym typeface="Calibri"/>
              </a:rPr>
            </a:br>
            <a:r>
              <a:rPr b="0" i="0" lang="en-US" sz="727" u="none" cap="none" strike="noStrike">
                <a:solidFill>
                  <a:srgbClr val="A0AAB5"/>
                </a:solidFill>
                <a:latin typeface="Calibri"/>
                <a:ea typeface="Calibri"/>
                <a:cs typeface="Calibri"/>
                <a:sym typeface="Calibri"/>
              </a:rPr>
              <a:t>10 Features / Week</a:t>
            </a:r>
            <a:endParaRPr b="0" i="0" sz="727" u="none" cap="none" strike="noStrike">
              <a:solidFill>
                <a:schemeClr val="dk1"/>
              </a:solidFill>
              <a:latin typeface="Calibri"/>
              <a:ea typeface="Calibri"/>
              <a:cs typeface="Calibri"/>
              <a:sym typeface="Calibri"/>
            </a:endParaRPr>
          </a:p>
        </p:txBody>
      </p:sp>
      <p:sp>
        <p:nvSpPr>
          <p:cNvPr id="1243" name="Google Shape;1243;p28"/>
          <p:cNvSpPr/>
          <p:nvPr/>
        </p:nvSpPr>
        <p:spPr>
          <a:xfrm>
            <a:off x="5019349" y="1398389"/>
            <a:ext cx="534023" cy="312539"/>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FFFFFF"/>
              </a:buClr>
              <a:buSzPts val="1602"/>
              <a:buFont typeface="Calibri"/>
              <a:buNone/>
            </a:pPr>
            <a:r>
              <a:rPr b="1" i="0" lang="en-US" sz="1602" u="none" cap="none" strike="noStrike">
                <a:solidFill>
                  <a:srgbClr val="FFFFFF"/>
                </a:solidFill>
                <a:latin typeface="Calibri"/>
                <a:ea typeface="Calibri"/>
                <a:cs typeface="Calibri"/>
                <a:sym typeface="Calibri"/>
              </a:rPr>
              <a:t>100x</a:t>
            </a:r>
            <a:endParaRPr b="0" i="0" sz="1602" u="none" cap="none" strike="noStrike">
              <a:solidFill>
                <a:schemeClr val="dk1"/>
              </a:solidFill>
              <a:latin typeface="Calibri"/>
              <a:ea typeface="Calibri"/>
              <a:cs typeface="Calibri"/>
              <a:sym typeface="Calibri"/>
            </a:endParaRPr>
          </a:p>
        </p:txBody>
      </p:sp>
      <p:sp>
        <p:nvSpPr>
          <p:cNvPr id="1244" name="Google Shape;1244;p28"/>
          <p:cNvSpPr/>
          <p:nvPr/>
        </p:nvSpPr>
        <p:spPr>
          <a:xfrm>
            <a:off x="4929188" y="1655564"/>
            <a:ext cx="714375" cy="2357438"/>
          </a:xfrm>
          <a:prstGeom prst="rect">
            <a:avLst/>
          </a:prstGeom>
          <a:solidFill>
            <a:srgbClr val="FF5252">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45" name="Google Shape;1245;p28"/>
          <p:cNvPicPr preferRelativeResize="0"/>
          <p:nvPr/>
        </p:nvPicPr>
        <p:blipFill rotWithShape="1">
          <a:blip r:embed="rId6">
            <a:alphaModFix/>
          </a:blip>
          <a:srcRect b="0" l="0" r="0" t="0"/>
          <a:stretch/>
        </p:blipFill>
        <p:spPr>
          <a:xfrm>
            <a:off x="5143500" y="3655814"/>
            <a:ext cx="285750" cy="228600"/>
          </a:xfrm>
          <a:prstGeom prst="rect">
            <a:avLst/>
          </a:prstGeom>
          <a:noFill/>
          <a:ln>
            <a:noFill/>
          </a:ln>
        </p:spPr>
      </p:pic>
      <p:sp>
        <p:nvSpPr>
          <p:cNvPr id="1246" name="Google Shape;1246;p28"/>
          <p:cNvSpPr/>
          <p:nvPr/>
        </p:nvSpPr>
        <p:spPr>
          <a:xfrm>
            <a:off x="4591059" y="4141589"/>
            <a:ext cx="1390603" cy="194667"/>
          </a:xfrm>
          <a:prstGeom prst="rect">
            <a:avLst/>
          </a:prstGeom>
          <a:noFill/>
          <a:ln>
            <a:noFill/>
          </a:ln>
        </p:spPr>
        <p:txBody>
          <a:bodyPr anchorCtr="0" anchor="t" bIns="0" lIns="0" spcFirstLastPara="1" rIns="0" wrap="square" tIns="0">
            <a:noAutofit/>
          </a:bodyPr>
          <a:lstStyle/>
          <a:p>
            <a:pPr indent="0" lvl="0" marL="0" marR="0" rtl="0" algn="ctr">
              <a:lnSpc>
                <a:spcPct val="141843"/>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Agent Orchestrator</a:t>
            </a:r>
            <a:endParaRPr b="0" i="0" sz="987" u="none" cap="none" strike="noStrike">
              <a:solidFill>
                <a:schemeClr val="dk1"/>
              </a:solidFill>
              <a:latin typeface="Calibri"/>
              <a:ea typeface="Calibri"/>
              <a:cs typeface="Calibri"/>
              <a:sym typeface="Calibri"/>
            </a:endParaRPr>
          </a:p>
        </p:txBody>
      </p:sp>
      <p:sp>
        <p:nvSpPr>
          <p:cNvPr id="1247" name="Google Shape;1247;p28"/>
          <p:cNvSpPr/>
          <p:nvPr/>
        </p:nvSpPr>
        <p:spPr>
          <a:xfrm>
            <a:off x="4591059" y="4371975"/>
            <a:ext cx="1390603" cy="271463"/>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A0AAB5"/>
              </a:buClr>
              <a:buSzPts val="727"/>
              <a:buFont typeface="Calibri"/>
              <a:buNone/>
            </a:pPr>
            <a:r>
              <a:rPr b="0" i="0" lang="en-US" sz="727" u="none" cap="none" strike="noStrike">
                <a:solidFill>
                  <a:srgbClr val="A0AAB5"/>
                </a:solidFill>
                <a:latin typeface="Calibri"/>
                <a:ea typeface="Calibri"/>
                <a:cs typeface="Calibri"/>
                <a:sym typeface="Calibri"/>
              </a:rPr>
              <a:t>Manages the swarm.</a:t>
            </a:r>
            <a:br>
              <a:rPr b="0" i="0" lang="en-US" sz="727" u="none" cap="none" strike="noStrike">
                <a:solidFill>
                  <a:srgbClr val="A0AAB5"/>
                </a:solidFill>
                <a:latin typeface="Calibri"/>
                <a:ea typeface="Calibri"/>
                <a:cs typeface="Calibri"/>
                <a:sym typeface="Calibri"/>
              </a:rPr>
            </a:br>
            <a:r>
              <a:rPr b="0" i="0" lang="en-US" sz="727" u="none" cap="none" strike="noStrike">
                <a:solidFill>
                  <a:srgbClr val="A0AAB5"/>
                </a:solidFill>
                <a:latin typeface="Calibri"/>
                <a:ea typeface="Calibri"/>
                <a:cs typeface="Calibri"/>
                <a:sym typeface="Calibri"/>
              </a:rPr>
              <a:t>100 Features / Week</a:t>
            </a:r>
            <a:endParaRPr b="0" i="0" sz="727" u="none" cap="none" strike="noStrike">
              <a:solidFill>
                <a:schemeClr val="dk1"/>
              </a:solidFill>
              <a:latin typeface="Calibri"/>
              <a:ea typeface="Calibri"/>
              <a:cs typeface="Calibri"/>
              <a:sym typeface="Calibri"/>
            </a:endParaRPr>
          </a:p>
        </p:txBody>
      </p:sp>
      <p:sp>
        <p:nvSpPr>
          <p:cNvPr id="1248" name="Google Shape;1248;p28"/>
          <p:cNvSpPr/>
          <p:nvPr/>
        </p:nvSpPr>
        <p:spPr>
          <a:xfrm>
            <a:off x="6393656" y="3679031"/>
            <a:ext cx="2143125" cy="964406"/>
          </a:xfrm>
          <a:prstGeom prst="rect">
            <a:avLst/>
          </a:prstGeom>
          <a:solidFill>
            <a:srgbClr val="FF9800">
              <a:alpha val="10196"/>
            </a:srgbClr>
          </a:solidFill>
          <a:ln cap="flat" cmpd="sng" w="9525">
            <a:solidFill>
              <a:srgbClr val="FF9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8"/>
          <p:cNvSpPr/>
          <p:nvPr/>
        </p:nvSpPr>
        <p:spPr>
          <a:xfrm>
            <a:off x="6393656" y="3679031"/>
            <a:ext cx="2143125" cy="964406"/>
          </a:xfrm>
          <a:prstGeom prst="rect">
            <a:avLst/>
          </a:prstGeom>
          <a:noFill/>
          <a:ln>
            <a:noFill/>
          </a:ln>
        </p:spPr>
        <p:txBody>
          <a:bodyPr anchorCtr="0" anchor="t" bIns="102100" lIns="102100" spcFirstLastPara="1" rIns="102100" wrap="square" tIns="102100">
            <a:noAutofit/>
          </a:bodyPr>
          <a:lstStyle/>
          <a:p>
            <a:pPr indent="0" lvl="0" marL="0" marR="0" rtl="0" algn="ctr">
              <a:lnSpc>
                <a:spcPct val="133333"/>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"You are no longer a bricklayer. You are the </a:t>
            </a:r>
            <a:r>
              <a:rPr b="1" i="0" lang="en-US" sz="987" u="none" cap="none" strike="noStrike">
                <a:solidFill>
                  <a:srgbClr val="FFFFFF"/>
                </a:solidFill>
                <a:latin typeface="Calibri"/>
                <a:ea typeface="Calibri"/>
                <a:cs typeface="Calibri"/>
                <a:sym typeface="Calibri"/>
              </a:rPr>
              <a:t>Foreman</a:t>
            </a:r>
            <a:r>
              <a:rPr b="0" i="0" lang="en-US" sz="1050" u="none" cap="none" strike="noStrike">
                <a:solidFill>
                  <a:srgbClr val="FFFFFF"/>
                </a:solidFill>
                <a:latin typeface="Calibri"/>
                <a:ea typeface="Calibri"/>
                <a:cs typeface="Calibri"/>
                <a:sym typeface="Calibri"/>
              </a:rPr>
              <a:t> of a digital workforce."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pic>
        <p:nvPicPr>
          <p:cNvPr descr="preencoded.png" id="1255" name="Google Shape;1255;p2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256" name="Google Shape;1256;p29"/>
          <p:cNvSpPr/>
          <p:nvPr/>
        </p:nvSpPr>
        <p:spPr>
          <a:xfrm>
            <a:off x="571500" y="428625"/>
            <a:ext cx="7143750" cy="408980"/>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Calibri"/>
              <a:buNone/>
            </a:pPr>
            <a:r>
              <a:rPr b="1" i="0" lang="en-US" sz="2121" u="none" cap="none" strike="noStrike">
                <a:solidFill>
                  <a:srgbClr val="FFFFFF"/>
                </a:solidFill>
                <a:latin typeface="Calibri"/>
                <a:ea typeface="Calibri"/>
                <a:cs typeface="Calibri"/>
                <a:sym typeface="Calibri"/>
              </a:rPr>
              <a:t>Training Your Teams: The New Curriculum</a:t>
            </a:r>
            <a:endParaRPr b="0" i="0" sz="2121" u="none" cap="none" strike="noStrike">
              <a:solidFill>
                <a:schemeClr val="dk1"/>
              </a:solidFill>
              <a:latin typeface="Calibri"/>
              <a:ea typeface="Calibri"/>
              <a:cs typeface="Calibri"/>
              <a:sym typeface="Calibri"/>
            </a:endParaRPr>
          </a:p>
        </p:txBody>
      </p:sp>
      <p:sp>
        <p:nvSpPr>
          <p:cNvPr id="1257" name="Google Shape;1257;p29"/>
          <p:cNvSpPr/>
          <p:nvPr/>
        </p:nvSpPr>
        <p:spPr>
          <a:xfrm>
            <a:off x="571500" y="1223367"/>
            <a:ext cx="2524116" cy="2853928"/>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9"/>
          <p:cNvSpPr/>
          <p:nvPr/>
        </p:nvSpPr>
        <p:spPr>
          <a:xfrm>
            <a:off x="571500" y="1223367"/>
            <a:ext cx="2524116" cy="42863"/>
          </a:xfrm>
          <a:prstGeom prst="rect">
            <a:avLst/>
          </a:pr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59" name="Google Shape;1259;p29"/>
          <p:cNvPicPr preferRelativeResize="0"/>
          <p:nvPr/>
        </p:nvPicPr>
        <p:blipFill rotWithShape="1">
          <a:blip r:embed="rId4">
            <a:alphaModFix/>
          </a:blip>
          <a:srcRect b="0" l="0" r="0" t="0"/>
          <a:stretch/>
        </p:blipFill>
        <p:spPr>
          <a:xfrm>
            <a:off x="1662094" y="1501973"/>
            <a:ext cx="342900" cy="342900"/>
          </a:xfrm>
          <a:prstGeom prst="rect">
            <a:avLst/>
          </a:prstGeom>
          <a:noFill/>
          <a:ln>
            <a:noFill/>
          </a:ln>
        </p:spPr>
      </p:pic>
      <p:sp>
        <p:nvSpPr>
          <p:cNvPr id="1260" name="Google Shape;1260;p29"/>
          <p:cNvSpPr/>
          <p:nvPr/>
        </p:nvSpPr>
        <p:spPr>
          <a:xfrm>
            <a:off x="785813" y="2046684"/>
            <a:ext cx="2095491" cy="233958"/>
          </a:xfrm>
          <a:prstGeom prst="rect">
            <a:avLst/>
          </a:prstGeom>
          <a:noFill/>
          <a:ln>
            <a:noFill/>
          </a:ln>
        </p:spPr>
        <p:txBody>
          <a:bodyPr anchorCtr="0" anchor="t" bIns="0" lIns="0" spcFirstLastPara="1" rIns="0" wrap="square" tIns="0">
            <a:noAutofit/>
          </a:bodyPr>
          <a:lstStyle/>
          <a:p>
            <a:pPr indent="0" lvl="0" marL="0" marR="0" rtl="0" algn="ctr">
              <a:lnSpc>
                <a:spcPct val="134115"/>
              </a:lnSpc>
              <a:spcBef>
                <a:spcPts val="0"/>
              </a:spcBef>
              <a:spcAft>
                <a:spcPts val="0"/>
              </a:spcAft>
              <a:buClr>
                <a:srgbClr val="FF5252"/>
              </a:buClr>
              <a:buSzPts val="1193"/>
              <a:buFont typeface="Calibri"/>
              <a:buNone/>
            </a:pPr>
            <a:r>
              <a:rPr b="1" i="0" lang="en-US" sz="1193" u="none" cap="none" strike="noStrike">
                <a:solidFill>
                  <a:srgbClr val="FF5252"/>
                </a:solidFill>
                <a:latin typeface="Calibri"/>
                <a:ea typeface="Calibri"/>
                <a:cs typeface="Calibri"/>
                <a:sym typeface="Calibri"/>
              </a:rPr>
              <a:t>Stop</a:t>
            </a:r>
            <a:endParaRPr b="0" i="0" sz="1193" u="none" cap="none" strike="noStrike">
              <a:solidFill>
                <a:schemeClr val="dk1"/>
              </a:solidFill>
              <a:latin typeface="Calibri"/>
              <a:ea typeface="Calibri"/>
              <a:cs typeface="Calibri"/>
              <a:sym typeface="Calibri"/>
            </a:endParaRPr>
          </a:p>
        </p:txBody>
      </p:sp>
      <p:pic>
        <p:nvPicPr>
          <p:cNvPr descr="preencoded.png" id="1261" name="Google Shape;1261;p29"/>
          <p:cNvPicPr preferRelativeResize="0"/>
          <p:nvPr/>
        </p:nvPicPr>
        <p:blipFill rotWithShape="1">
          <a:blip r:embed="rId5">
            <a:alphaModFix/>
          </a:blip>
          <a:srcRect b="0" l="0" r="0" t="0"/>
          <a:stretch/>
        </p:blipFill>
        <p:spPr>
          <a:xfrm>
            <a:off x="785813" y="2530673"/>
            <a:ext cx="96441" cy="128588"/>
          </a:xfrm>
          <a:prstGeom prst="rect">
            <a:avLst/>
          </a:prstGeom>
          <a:noFill/>
          <a:ln>
            <a:noFill/>
          </a:ln>
        </p:spPr>
      </p:pic>
      <p:sp>
        <p:nvSpPr>
          <p:cNvPr id="1262" name="Google Shape;1262;p29"/>
          <p:cNvSpPr/>
          <p:nvPr/>
        </p:nvSpPr>
        <p:spPr>
          <a:xfrm>
            <a:off x="989409" y="2494955"/>
            <a:ext cx="1161278" cy="192881"/>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Memorizing Syntax</a:t>
            </a:r>
            <a:endParaRPr b="0" i="0" sz="942" u="none" cap="none" strike="noStrike">
              <a:solidFill>
                <a:schemeClr val="dk1"/>
              </a:solidFill>
              <a:latin typeface="Calibri"/>
              <a:ea typeface="Calibri"/>
              <a:cs typeface="Calibri"/>
              <a:sym typeface="Calibri"/>
            </a:endParaRPr>
          </a:p>
        </p:txBody>
      </p:sp>
      <p:pic>
        <p:nvPicPr>
          <p:cNvPr descr="preencoded.png" id="1263" name="Google Shape;1263;p29"/>
          <p:cNvPicPr preferRelativeResize="0"/>
          <p:nvPr/>
        </p:nvPicPr>
        <p:blipFill rotWithShape="1">
          <a:blip r:embed="rId5">
            <a:alphaModFix/>
          </a:blip>
          <a:srcRect b="0" l="0" r="0" t="0"/>
          <a:stretch/>
        </p:blipFill>
        <p:spPr>
          <a:xfrm>
            <a:off x="785813" y="2830711"/>
            <a:ext cx="96441" cy="128588"/>
          </a:xfrm>
          <a:prstGeom prst="rect">
            <a:avLst/>
          </a:prstGeom>
          <a:noFill/>
          <a:ln>
            <a:noFill/>
          </a:ln>
        </p:spPr>
      </p:pic>
      <p:sp>
        <p:nvSpPr>
          <p:cNvPr id="1264" name="Google Shape;1264;p29"/>
          <p:cNvSpPr/>
          <p:nvPr/>
        </p:nvSpPr>
        <p:spPr>
          <a:xfrm>
            <a:off x="989409" y="2794992"/>
            <a:ext cx="1221218" cy="192881"/>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Rote LeetCode Drills</a:t>
            </a:r>
            <a:endParaRPr b="0" i="0" sz="942" u="none" cap="none" strike="noStrike">
              <a:solidFill>
                <a:schemeClr val="dk1"/>
              </a:solidFill>
              <a:latin typeface="Calibri"/>
              <a:ea typeface="Calibri"/>
              <a:cs typeface="Calibri"/>
              <a:sym typeface="Calibri"/>
            </a:endParaRPr>
          </a:p>
        </p:txBody>
      </p:sp>
      <p:pic>
        <p:nvPicPr>
          <p:cNvPr descr="preencoded.png" id="1265" name="Google Shape;1265;p29"/>
          <p:cNvPicPr preferRelativeResize="0"/>
          <p:nvPr/>
        </p:nvPicPr>
        <p:blipFill rotWithShape="1">
          <a:blip r:embed="rId5">
            <a:alphaModFix/>
          </a:blip>
          <a:srcRect b="0" l="0" r="0" t="0"/>
          <a:stretch/>
        </p:blipFill>
        <p:spPr>
          <a:xfrm>
            <a:off x="785813" y="3130748"/>
            <a:ext cx="96441" cy="128588"/>
          </a:xfrm>
          <a:prstGeom prst="rect">
            <a:avLst/>
          </a:prstGeom>
          <a:noFill/>
          <a:ln>
            <a:noFill/>
          </a:ln>
        </p:spPr>
      </p:pic>
      <p:sp>
        <p:nvSpPr>
          <p:cNvPr id="1266" name="Google Shape;1266;p29"/>
          <p:cNvSpPr/>
          <p:nvPr/>
        </p:nvSpPr>
        <p:spPr>
          <a:xfrm>
            <a:off x="989409" y="3095030"/>
            <a:ext cx="1143167" cy="192881"/>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Manual Boilerplate</a:t>
            </a:r>
            <a:endParaRPr b="0" i="0" sz="942" u="none" cap="none" strike="noStrike">
              <a:solidFill>
                <a:schemeClr val="dk1"/>
              </a:solidFill>
              <a:latin typeface="Calibri"/>
              <a:ea typeface="Calibri"/>
              <a:cs typeface="Calibri"/>
              <a:sym typeface="Calibri"/>
            </a:endParaRPr>
          </a:p>
        </p:txBody>
      </p:sp>
      <p:sp>
        <p:nvSpPr>
          <p:cNvPr id="1267" name="Google Shape;1267;p29"/>
          <p:cNvSpPr/>
          <p:nvPr/>
        </p:nvSpPr>
        <p:spPr>
          <a:xfrm>
            <a:off x="3309928" y="1223367"/>
            <a:ext cx="2524116" cy="2853928"/>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9"/>
          <p:cNvSpPr/>
          <p:nvPr/>
        </p:nvSpPr>
        <p:spPr>
          <a:xfrm>
            <a:off x="3309928" y="1223367"/>
            <a:ext cx="2524116" cy="42863"/>
          </a:xfrm>
          <a:prstGeom prst="rect">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69" name="Google Shape;1269;p29"/>
          <p:cNvPicPr preferRelativeResize="0"/>
          <p:nvPr/>
        </p:nvPicPr>
        <p:blipFill rotWithShape="1">
          <a:blip r:embed="rId6">
            <a:alphaModFix/>
          </a:blip>
          <a:srcRect b="0" l="0" r="0" t="0"/>
          <a:stretch/>
        </p:blipFill>
        <p:spPr>
          <a:xfrm>
            <a:off x="4443385" y="1501973"/>
            <a:ext cx="257175" cy="342900"/>
          </a:xfrm>
          <a:prstGeom prst="rect">
            <a:avLst/>
          </a:prstGeom>
          <a:noFill/>
          <a:ln>
            <a:noFill/>
          </a:ln>
        </p:spPr>
      </p:pic>
      <p:sp>
        <p:nvSpPr>
          <p:cNvPr id="1270" name="Google Shape;1270;p29"/>
          <p:cNvSpPr/>
          <p:nvPr/>
        </p:nvSpPr>
        <p:spPr>
          <a:xfrm>
            <a:off x="3524241" y="2046684"/>
            <a:ext cx="2095491" cy="233958"/>
          </a:xfrm>
          <a:prstGeom prst="rect">
            <a:avLst/>
          </a:prstGeom>
          <a:noFill/>
          <a:ln>
            <a:noFill/>
          </a:ln>
        </p:spPr>
        <p:txBody>
          <a:bodyPr anchorCtr="0" anchor="t" bIns="0" lIns="0" spcFirstLastPara="1" rIns="0" wrap="square" tIns="0">
            <a:noAutofit/>
          </a:bodyPr>
          <a:lstStyle/>
          <a:p>
            <a:pPr indent="0" lvl="0" marL="0" marR="0" rtl="0" algn="ctr">
              <a:lnSpc>
                <a:spcPct val="134115"/>
              </a:lnSpc>
              <a:spcBef>
                <a:spcPts val="0"/>
              </a:spcBef>
              <a:spcAft>
                <a:spcPts val="0"/>
              </a:spcAft>
              <a:buClr>
                <a:srgbClr val="F5C518"/>
              </a:buClr>
              <a:buSzPts val="1193"/>
              <a:buFont typeface="Calibri"/>
              <a:buNone/>
            </a:pPr>
            <a:r>
              <a:rPr b="1" i="0" lang="en-US" sz="1193" u="none" cap="none" strike="noStrike">
                <a:solidFill>
                  <a:srgbClr val="F5C518"/>
                </a:solidFill>
                <a:latin typeface="Calibri"/>
                <a:ea typeface="Calibri"/>
                <a:cs typeface="Calibri"/>
                <a:sym typeface="Calibri"/>
              </a:rPr>
              <a:t>Start</a:t>
            </a:r>
            <a:endParaRPr b="0" i="0" sz="1193" u="none" cap="none" strike="noStrike">
              <a:solidFill>
                <a:schemeClr val="dk1"/>
              </a:solidFill>
              <a:latin typeface="Calibri"/>
              <a:ea typeface="Calibri"/>
              <a:cs typeface="Calibri"/>
              <a:sym typeface="Calibri"/>
            </a:endParaRPr>
          </a:p>
        </p:txBody>
      </p:sp>
      <p:pic>
        <p:nvPicPr>
          <p:cNvPr descr="preencoded.png" id="1271" name="Google Shape;1271;p29"/>
          <p:cNvPicPr preferRelativeResize="0"/>
          <p:nvPr/>
        </p:nvPicPr>
        <p:blipFill rotWithShape="1">
          <a:blip r:embed="rId7">
            <a:alphaModFix/>
          </a:blip>
          <a:srcRect b="0" l="0" r="0" t="0"/>
          <a:stretch/>
        </p:blipFill>
        <p:spPr>
          <a:xfrm>
            <a:off x="3524241" y="2530673"/>
            <a:ext cx="112514" cy="128588"/>
          </a:xfrm>
          <a:prstGeom prst="rect">
            <a:avLst/>
          </a:prstGeom>
          <a:noFill/>
          <a:ln>
            <a:noFill/>
          </a:ln>
        </p:spPr>
      </p:pic>
      <p:sp>
        <p:nvSpPr>
          <p:cNvPr id="1272" name="Google Shape;1272;p29"/>
          <p:cNvSpPr/>
          <p:nvPr/>
        </p:nvSpPr>
        <p:spPr>
          <a:xfrm>
            <a:off x="3743911" y="2494955"/>
            <a:ext cx="1155502" cy="192881"/>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System Design (C4)</a:t>
            </a:r>
            <a:endParaRPr b="0" i="0" sz="942" u="none" cap="none" strike="noStrike">
              <a:solidFill>
                <a:schemeClr val="dk1"/>
              </a:solidFill>
              <a:latin typeface="Calibri"/>
              <a:ea typeface="Calibri"/>
              <a:cs typeface="Calibri"/>
              <a:sym typeface="Calibri"/>
            </a:endParaRPr>
          </a:p>
        </p:txBody>
      </p:sp>
      <p:pic>
        <p:nvPicPr>
          <p:cNvPr descr="preencoded.png" id="1273" name="Google Shape;1273;p29"/>
          <p:cNvPicPr preferRelativeResize="0"/>
          <p:nvPr/>
        </p:nvPicPr>
        <p:blipFill rotWithShape="1">
          <a:blip r:embed="rId7">
            <a:alphaModFix/>
          </a:blip>
          <a:srcRect b="0" l="0" r="0" t="0"/>
          <a:stretch/>
        </p:blipFill>
        <p:spPr>
          <a:xfrm>
            <a:off x="3524241" y="2830711"/>
            <a:ext cx="112514" cy="128588"/>
          </a:xfrm>
          <a:prstGeom prst="rect">
            <a:avLst/>
          </a:prstGeom>
          <a:noFill/>
          <a:ln>
            <a:noFill/>
          </a:ln>
        </p:spPr>
      </p:pic>
      <p:sp>
        <p:nvSpPr>
          <p:cNvPr id="1274" name="Google Shape;1274;p29"/>
          <p:cNvSpPr/>
          <p:nvPr/>
        </p:nvSpPr>
        <p:spPr>
          <a:xfrm>
            <a:off x="3743911" y="2794992"/>
            <a:ext cx="1217870" cy="192881"/>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Prompt Engineering</a:t>
            </a:r>
            <a:endParaRPr b="0" i="0" sz="942" u="none" cap="none" strike="noStrike">
              <a:solidFill>
                <a:schemeClr val="dk1"/>
              </a:solidFill>
              <a:latin typeface="Calibri"/>
              <a:ea typeface="Calibri"/>
              <a:cs typeface="Calibri"/>
              <a:sym typeface="Calibri"/>
            </a:endParaRPr>
          </a:p>
        </p:txBody>
      </p:sp>
      <p:pic>
        <p:nvPicPr>
          <p:cNvPr descr="preencoded.png" id="1275" name="Google Shape;1275;p29"/>
          <p:cNvPicPr preferRelativeResize="0"/>
          <p:nvPr/>
        </p:nvPicPr>
        <p:blipFill rotWithShape="1">
          <a:blip r:embed="rId7">
            <a:alphaModFix/>
          </a:blip>
          <a:srcRect b="0" l="0" r="0" t="0"/>
          <a:stretch/>
        </p:blipFill>
        <p:spPr>
          <a:xfrm>
            <a:off x="3524241" y="3130748"/>
            <a:ext cx="112514" cy="128588"/>
          </a:xfrm>
          <a:prstGeom prst="rect">
            <a:avLst/>
          </a:prstGeom>
          <a:noFill/>
          <a:ln>
            <a:noFill/>
          </a:ln>
        </p:spPr>
      </p:pic>
      <p:sp>
        <p:nvSpPr>
          <p:cNvPr id="1276" name="Google Shape;1276;p29"/>
          <p:cNvSpPr/>
          <p:nvPr/>
        </p:nvSpPr>
        <p:spPr>
          <a:xfrm>
            <a:off x="3743911" y="3095030"/>
            <a:ext cx="1433773" cy="192881"/>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High-Level Code Review</a:t>
            </a:r>
            <a:endParaRPr b="0" i="0" sz="942" u="none" cap="none" strike="noStrike">
              <a:solidFill>
                <a:schemeClr val="dk1"/>
              </a:solidFill>
              <a:latin typeface="Calibri"/>
              <a:ea typeface="Calibri"/>
              <a:cs typeface="Calibri"/>
              <a:sym typeface="Calibri"/>
            </a:endParaRPr>
          </a:p>
        </p:txBody>
      </p:sp>
      <p:sp>
        <p:nvSpPr>
          <p:cNvPr id="1277" name="Google Shape;1277;p29"/>
          <p:cNvSpPr/>
          <p:nvPr/>
        </p:nvSpPr>
        <p:spPr>
          <a:xfrm>
            <a:off x="6048356" y="1223367"/>
            <a:ext cx="2524144" cy="2853928"/>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9"/>
          <p:cNvSpPr/>
          <p:nvPr/>
        </p:nvSpPr>
        <p:spPr>
          <a:xfrm>
            <a:off x="6048356" y="1223367"/>
            <a:ext cx="2524144" cy="42863"/>
          </a:xfrm>
          <a:prstGeom prst="rect">
            <a:avLst/>
          </a:prstGeom>
          <a:solidFill>
            <a:srgbClr val="00C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79" name="Google Shape;1279;p29"/>
          <p:cNvPicPr preferRelativeResize="0"/>
          <p:nvPr/>
        </p:nvPicPr>
        <p:blipFill rotWithShape="1">
          <a:blip r:embed="rId8">
            <a:alphaModFix/>
          </a:blip>
          <a:srcRect b="0" l="0" r="0" t="0"/>
          <a:stretch/>
        </p:blipFill>
        <p:spPr>
          <a:xfrm>
            <a:off x="7138978" y="1501973"/>
            <a:ext cx="342900" cy="342900"/>
          </a:xfrm>
          <a:prstGeom prst="rect">
            <a:avLst/>
          </a:prstGeom>
          <a:noFill/>
          <a:ln>
            <a:noFill/>
          </a:ln>
        </p:spPr>
      </p:pic>
      <p:sp>
        <p:nvSpPr>
          <p:cNvPr id="1280" name="Google Shape;1280;p29"/>
          <p:cNvSpPr/>
          <p:nvPr/>
        </p:nvSpPr>
        <p:spPr>
          <a:xfrm>
            <a:off x="6262669" y="2046684"/>
            <a:ext cx="2095519" cy="233958"/>
          </a:xfrm>
          <a:prstGeom prst="rect">
            <a:avLst/>
          </a:prstGeom>
          <a:noFill/>
          <a:ln>
            <a:noFill/>
          </a:ln>
        </p:spPr>
        <p:txBody>
          <a:bodyPr anchorCtr="0" anchor="t" bIns="0" lIns="0" spcFirstLastPara="1" rIns="0" wrap="square" tIns="0">
            <a:noAutofit/>
          </a:bodyPr>
          <a:lstStyle/>
          <a:p>
            <a:pPr indent="0" lvl="0" marL="0" marR="0" rtl="0" algn="ctr">
              <a:lnSpc>
                <a:spcPct val="134115"/>
              </a:lnSpc>
              <a:spcBef>
                <a:spcPts val="0"/>
              </a:spcBef>
              <a:spcAft>
                <a:spcPts val="0"/>
              </a:spcAft>
              <a:buClr>
                <a:srgbClr val="00C853"/>
              </a:buClr>
              <a:buSzPts val="1193"/>
              <a:buFont typeface="Calibri"/>
              <a:buNone/>
            </a:pPr>
            <a:r>
              <a:rPr b="1" i="0" lang="en-US" sz="1193" u="none" cap="none" strike="noStrike">
                <a:solidFill>
                  <a:srgbClr val="00C853"/>
                </a:solidFill>
                <a:latin typeface="Calibri"/>
                <a:ea typeface="Calibri"/>
                <a:cs typeface="Calibri"/>
                <a:sym typeface="Calibri"/>
              </a:rPr>
              <a:t>Accelerate</a:t>
            </a:r>
            <a:endParaRPr b="0" i="0" sz="1193" u="none" cap="none" strike="noStrike">
              <a:solidFill>
                <a:schemeClr val="dk1"/>
              </a:solidFill>
              <a:latin typeface="Calibri"/>
              <a:ea typeface="Calibri"/>
              <a:cs typeface="Calibri"/>
              <a:sym typeface="Calibri"/>
            </a:endParaRPr>
          </a:p>
        </p:txBody>
      </p:sp>
      <p:pic>
        <p:nvPicPr>
          <p:cNvPr descr="preencoded.png" id="1281" name="Google Shape;1281;p29"/>
          <p:cNvPicPr preferRelativeResize="0"/>
          <p:nvPr/>
        </p:nvPicPr>
        <p:blipFill rotWithShape="1">
          <a:blip r:embed="rId9">
            <a:alphaModFix/>
          </a:blip>
          <a:srcRect b="0" l="0" r="0" t="0"/>
          <a:stretch/>
        </p:blipFill>
        <p:spPr>
          <a:xfrm>
            <a:off x="6262669" y="2530673"/>
            <a:ext cx="128588" cy="128588"/>
          </a:xfrm>
          <a:prstGeom prst="rect">
            <a:avLst/>
          </a:prstGeom>
          <a:noFill/>
          <a:ln>
            <a:noFill/>
          </a:ln>
        </p:spPr>
      </p:pic>
      <p:sp>
        <p:nvSpPr>
          <p:cNvPr id="1282" name="Google Shape;1282;p29"/>
          <p:cNvSpPr/>
          <p:nvPr/>
        </p:nvSpPr>
        <p:spPr>
          <a:xfrm>
            <a:off x="6498413" y="2494955"/>
            <a:ext cx="1067935" cy="192881"/>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Agent Debugging</a:t>
            </a:r>
            <a:endParaRPr b="0" i="0" sz="942" u="none" cap="none" strike="noStrike">
              <a:solidFill>
                <a:schemeClr val="dk1"/>
              </a:solidFill>
              <a:latin typeface="Calibri"/>
              <a:ea typeface="Calibri"/>
              <a:cs typeface="Calibri"/>
              <a:sym typeface="Calibri"/>
            </a:endParaRPr>
          </a:p>
        </p:txBody>
      </p:sp>
      <p:pic>
        <p:nvPicPr>
          <p:cNvPr descr="preencoded.png" id="1283" name="Google Shape;1283;p29"/>
          <p:cNvPicPr preferRelativeResize="0"/>
          <p:nvPr/>
        </p:nvPicPr>
        <p:blipFill rotWithShape="1">
          <a:blip r:embed="rId9">
            <a:alphaModFix/>
          </a:blip>
          <a:srcRect b="0" l="0" r="0" t="0"/>
          <a:stretch/>
        </p:blipFill>
        <p:spPr>
          <a:xfrm>
            <a:off x="6262669" y="2830711"/>
            <a:ext cx="128588" cy="128588"/>
          </a:xfrm>
          <a:prstGeom prst="rect">
            <a:avLst/>
          </a:prstGeom>
          <a:noFill/>
          <a:ln>
            <a:noFill/>
          </a:ln>
        </p:spPr>
      </p:pic>
      <p:sp>
        <p:nvSpPr>
          <p:cNvPr id="1284" name="Google Shape;1284;p29"/>
          <p:cNvSpPr/>
          <p:nvPr/>
        </p:nvSpPr>
        <p:spPr>
          <a:xfrm>
            <a:off x="6498413" y="2794992"/>
            <a:ext cx="1279596" cy="192881"/>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Architecture Patterns</a:t>
            </a:r>
            <a:endParaRPr b="0" i="0" sz="942" u="none" cap="none" strike="noStrike">
              <a:solidFill>
                <a:schemeClr val="dk1"/>
              </a:solidFill>
              <a:latin typeface="Calibri"/>
              <a:ea typeface="Calibri"/>
              <a:cs typeface="Calibri"/>
              <a:sym typeface="Calibri"/>
            </a:endParaRPr>
          </a:p>
        </p:txBody>
      </p:sp>
      <p:pic>
        <p:nvPicPr>
          <p:cNvPr descr="preencoded.png" id="1285" name="Google Shape;1285;p29"/>
          <p:cNvPicPr preferRelativeResize="0"/>
          <p:nvPr/>
        </p:nvPicPr>
        <p:blipFill rotWithShape="1">
          <a:blip r:embed="rId9">
            <a:alphaModFix/>
          </a:blip>
          <a:srcRect b="0" l="0" r="0" t="0"/>
          <a:stretch/>
        </p:blipFill>
        <p:spPr>
          <a:xfrm>
            <a:off x="6262669" y="3130748"/>
            <a:ext cx="128588" cy="128588"/>
          </a:xfrm>
          <a:prstGeom prst="rect">
            <a:avLst/>
          </a:prstGeom>
          <a:noFill/>
          <a:ln>
            <a:noFill/>
          </a:ln>
        </p:spPr>
      </p:pic>
      <p:sp>
        <p:nvSpPr>
          <p:cNvPr id="1286" name="Google Shape;1286;p29"/>
          <p:cNvSpPr/>
          <p:nvPr/>
        </p:nvSpPr>
        <p:spPr>
          <a:xfrm>
            <a:off x="6498413" y="3095030"/>
            <a:ext cx="760084" cy="192881"/>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Spec Writing</a:t>
            </a:r>
            <a:endParaRPr b="0" i="0" sz="942" u="none" cap="none" strike="noStrike">
              <a:solidFill>
                <a:schemeClr val="dk1"/>
              </a:solidFill>
              <a:latin typeface="Calibri"/>
              <a:ea typeface="Calibri"/>
              <a:cs typeface="Calibri"/>
              <a:sym typeface="Calibri"/>
            </a:endParaRPr>
          </a:p>
        </p:txBody>
      </p:sp>
      <p:sp>
        <p:nvSpPr>
          <p:cNvPr id="1287" name="Google Shape;1287;p29"/>
          <p:cNvSpPr/>
          <p:nvPr/>
        </p:nvSpPr>
        <p:spPr>
          <a:xfrm>
            <a:off x="571500" y="4291608"/>
            <a:ext cx="8001000" cy="423267"/>
          </a:xfrm>
          <a:prstGeom prst="rect">
            <a:avLst/>
          </a:prstGeom>
          <a:solidFill>
            <a:srgbClr val="FF9800">
              <a:alpha val="10196"/>
            </a:srgbClr>
          </a:solidFill>
          <a:ln cap="flat" cmpd="sng" w="9525">
            <a:solidFill>
              <a:srgbClr val="FF9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29"/>
          <p:cNvSpPr/>
          <p:nvPr/>
        </p:nvSpPr>
        <p:spPr>
          <a:xfrm>
            <a:off x="571500" y="4291608"/>
            <a:ext cx="8001000" cy="423267"/>
          </a:xfrm>
          <a:prstGeom prst="rect">
            <a:avLst/>
          </a:prstGeom>
          <a:noFill/>
          <a:ln>
            <a:noFill/>
          </a:ln>
        </p:spPr>
        <p:txBody>
          <a:bodyPr anchorCtr="0" anchor="t" bIns="127500" lIns="127500" spcFirstLastPara="1" rIns="127500" wrap="square" tIns="127500">
            <a:noAutofit/>
          </a:bodyPr>
          <a:lstStyle/>
          <a:p>
            <a:pPr indent="0" lvl="0" marL="0" marR="0" rtl="0" algn="ctr">
              <a:lnSpc>
                <a:spcPct val="133333"/>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"Shift focus from </a:t>
            </a:r>
            <a:r>
              <a:rPr b="1" i="0" lang="en-US" sz="987" u="none" cap="none" strike="noStrike">
                <a:solidFill>
                  <a:srgbClr val="FFFFFF"/>
                </a:solidFill>
                <a:latin typeface="Calibri"/>
                <a:ea typeface="Calibri"/>
                <a:cs typeface="Calibri"/>
                <a:sym typeface="Calibri"/>
              </a:rPr>
              <a:t>How</a:t>
            </a:r>
            <a:r>
              <a:rPr b="0" i="0" lang="en-US" sz="1050" u="none" cap="none" strike="noStrike">
                <a:solidFill>
                  <a:srgbClr val="FFFFFF"/>
                </a:solidFill>
                <a:latin typeface="Calibri"/>
                <a:ea typeface="Calibri"/>
                <a:cs typeface="Calibri"/>
                <a:sym typeface="Calibri"/>
              </a:rPr>
              <a:t> to code (Syntax) to </a:t>
            </a:r>
            <a:r>
              <a:rPr b="1" i="0" lang="en-US" sz="987" u="none" cap="none" strike="noStrike">
                <a:solidFill>
                  <a:srgbClr val="FFFFFF"/>
                </a:solidFill>
                <a:latin typeface="Calibri"/>
                <a:ea typeface="Calibri"/>
                <a:cs typeface="Calibri"/>
                <a:sym typeface="Calibri"/>
              </a:rPr>
              <a:t>What</a:t>
            </a:r>
            <a:r>
              <a:rPr b="0" i="0" lang="en-US" sz="1050" u="none" cap="none" strike="noStrike">
                <a:solidFill>
                  <a:srgbClr val="FFFFFF"/>
                </a:solidFill>
                <a:latin typeface="Calibri"/>
                <a:ea typeface="Calibri"/>
                <a:cs typeface="Calibri"/>
                <a:sym typeface="Calibri"/>
              </a:rPr>
              <a:t> to code (Architecture)."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3" name="Shape 1293"/>
        <p:cNvGrpSpPr/>
        <p:nvPr/>
      </p:nvGrpSpPr>
      <p:grpSpPr>
        <a:xfrm>
          <a:off x="0" y="0"/>
          <a:ext cx="0" cy="0"/>
          <a:chOff x="0" y="0"/>
          <a:chExt cx="0" cy="0"/>
        </a:xfrm>
      </p:grpSpPr>
      <p:pic>
        <p:nvPicPr>
          <p:cNvPr descr="preencoded.png" id="1294" name="Google Shape;1294;p3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295" name="Google Shape;1295;p30"/>
          <p:cNvSpPr/>
          <p:nvPr/>
        </p:nvSpPr>
        <p:spPr>
          <a:xfrm>
            <a:off x="571500" y="428625"/>
            <a:ext cx="7143750" cy="408980"/>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Calibri"/>
              <a:buNone/>
            </a:pPr>
            <a:r>
              <a:rPr b="1" i="0" lang="en-US" sz="2121" u="none" cap="none" strike="noStrike">
                <a:solidFill>
                  <a:srgbClr val="FFFFFF"/>
                </a:solidFill>
                <a:latin typeface="Calibri"/>
                <a:ea typeface="Calibri"/>
                <a:cs typeface="Calibri"/>
                <a:sym typeface="Calibri"/>
              </a:rPr>
              <a:t>LLM Challenges: The Road Ahead</a:t>
            </a:r>
            <a:endParaRPr b="0" i="0" sz="2121" u="none" cap="none" strike="noStrike">
              <a:solidFill>
                <a:schemeClr val="dk1"/>
              </a:solidFill>
              <a:latin typeface="Calibri"/>
              <a:ea typeface="Calibri"/>
              <a:cs typeface="Calibri"/>
              <a:sym typeface="Calibri"/>
            </a:endParaRPr>
          </a:p>
        </p:txBody>
      </p:sp>
      <p:sp>
        <p:nvSpPr>
          <p:cNvPr id="1296" name="Google Shape;1296;p30"/>
          <p:cNvSpPr/>
          <p:nvPr/>
        </p:nvSpPr>
        <p:spPr>
          <a:xfrm>
            <a:off x="571500" y="1223367"/>
            <a:ext cx="3500438" cy="2853928"/>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0"/>
          <p:cNvSpPr/>
          <p:nvPr/>
        </p:nvSpPr>
        <p:spPr>
          <a:xfrm>
            <a:off x="571500" y="1223367"/>
            <a:ext cx="3500438" cy="42863"/>
          </a:xfrm>
          <a:prstGeom prst="rect">
            <a:avLst/>
          </a:pr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30"/>
          <p:cNvSpPr/>
          <p:nvPr/>
        </p:nvSpPr>
        <p:spPr>
          <a:xfrm>
            <a:off x="785813" y="1437680"/>
            <a:ext cx="3071813" cy="233958"/>
          </a:xfrm>
          <a:prstGeom prst="rect">
            <a:avLst/>
          </a:prstGeom>
          <a:noFill/>
          <a:ln>
            <a:noFill/>
          </a:ln>
        </p:spPr>
        <p:txBody>
          <a:bodyPr anchorCtr="0" anchor="t" bIns="0" lIns="0" spcFirstLastPara="1" rIns="0" wrap="square" tIns="0">
            <a:noAutofit/>
          </a:bodyPr>
          <a:lstStyle/>
          <a:p>
            <a:pPr indent="0" lvl="0" marL="0" marR="0" rtl="0" algn="ctr">
              <a:lnSpc>
                <a:spcPct val="134115"/>
              </a:lnSpc>
              <a:spcBef>
                <a:spcPts val="0"/>
              </a:spcBef>
              <a:spcAft>
                <a:spcPts val="0"/>
              </a:spcAft>
              <a:buClr>
                <a:srgbClr val="FF5252"/>
              </a:buClr>
              <a:buSzPts val="1193"/>
              <a:buFont typeface="Calibri"/>
              <a:buNone/>
            </a:pPr>
            <a:r>
              <a:rPr b="1" i="0" lang="en-US" sz="1193" u="none" cap="none" strike="noStrike">
                <a:solidFill>
                  <a:srgbClr val="FF5252"/>
                </a:solidFill>
                <a:latin typeface="Calibri"/>
                <a:ea typeface="Calibri"/>
                <a:cs typeface="Calibri"/>
                <a:sym typeface="Calibri"/>
              </a:rPr>
              <a:t>Today: Scarcity</a:t>
            </a:r>
            <a:endParaRPr b="0" i="0" sz="1193" u="none" cap="none" strike="noStrike">
              <a:solidFill>
                <a:schemeClr val="dk1"/>
              </a:solidFill>
              <a:latin typeface="Calibri"/>
              <a:ea typeface="Calibri"/>
              <a:cs typeface="Calibri"/>
              <a:sym typeface="Calibri"/>
            </a:endParaRPr>
          </a:p>
        </p:txBody>
      </p:sp>
      <p:pic>
        <p:nvPicPr>
          <p:cNvPr descr="preencoded.png" id="1299" name="Google Shape;1299;p30"/>
          <p:cNvPicPr preferRelativeResize="0"/>
          <p:nvPr/>
        </p:nvPicPr>
        <p:blipFill rotWithShape="1">
          <a:blip r:embed="rId4">
            <a:alphaModFix/>
          </a:blip>
          <a:srcRect b="0" l="0" r="0" t="0"/>
          <a:stretch/>
        </p:blipFill>
        <p:spPr>
          <a:xfrm>
            <a:off x="878681" y="1974354"/>
            <a:ext cx="171450" cy="171450"/>
          </a:xfrm>
          <a:prstGeom prst="rect">
            <a:avLst/>
          </a:prstGeom>
          <a:noFill/>
          <a:ln>
            <a:noFill/>
          </a:ln>
        </p:spPr>
      </p:pic>
      <p:sp>
        <p:nvSpPr>
          <p:cNvPr id="1300" name="Google Shape;1300;p30"/>
          <p:cNvSpPr/>
          <p:nvPr/>
        </p:nvSpPr>
        <p:spPr>
          <a:xfrm>
            <a:off x="1250156" y="1885950"/>
            <a:ext cx="1608125" cy="175022"/>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Limited Context</a:t>
            </a:r>
            <a:endParaRPr b="0" i="0" sz="942" u="none" cap="none" strike="noStrike">
              <a:solidFill>
                <a:schemeClr val="dk1"/>
              </a:solidFill>
              <a:latin typeface="Calibri"/>
              <a:ea typeface="Calibri"/>
              <a:cs typeface="Calibri"/>
              <a:sym typeface="Calibri"/>
            </a:endParaRPr>
          </a:p>
        </p:txBody>
      </p:sp>
      <p:sp>
        <p:nvSpPr>
          <p:cNvPr id="1301" name="Google Shape;1301;p30"/>
          <p:cNvSpPr/>
          <p:nvPr/>
        </p:nvSpPr>
        <p:spPr>
          <a:xfrm>
            <a:off x="1250156" y="2096691"/>
            <a:ext cx="1608125"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AB5"/>
              </a:buClr>
              <a:buSzPts val="727"/>
              <a:buFont typeface="Calibri"/>
              <a:buNone/>
            </a:pPr>
            <a:r>
              <a:rPr b="0" i="0" lang="en-US" sz="727" u="none" cap="none" strike="noStrike">
                <a:solidFill>
                  <a:srgbClr val="A0AAB5"/>
                </a:solidFill>
                <a:latin typeface="Calibri"/>
                <a:ea typeface="Calibri"/>
                <a:cs typeface="Calibri"/>
                <a:sym typeface="Calibri"/>
              </a:rPr>
              <a:t>"Lost in the Middle" phenomenon.</a:t>
            </a:r>
            <a:endParaRPr b="0" i="0" sz="727" u="none" cap="none" strike="noStrike">
              <a:solidFill>
                <a:schemeClr val="dk1"/>
              </a:solidFill>
              <a:latin typeface="Calibri"/>
              <a:ea typeface="Calibri"/>
              <a:cs typeface="Calibri"/>
              <a:sym typeface="Calibri"/>
            </a:endParaRPr>
          </a:p>
        </p:txBody>
      </p:sp>
      <p:pic>
        <p:nvPicPr>
          <p:cNvPr descr="preencoded.png" id="1302" name="Google Shape;1302;p30"/>
          <p:cNvPicPr preferRelativeResize="0"/>
          <p:nvPr/>
        </p:nvPicPr>
        <p:blipFill rotWithShape="1">
          <a:blip r:embed="rId5">
            <a:alphaModFix/>
          </a:blip>
          <a:srcRect b="0" l="0" r="0" t="0"/>
          <a:stretch/>
        </p:blipFill>
        <p:spPr>
          <a:xfrm>
            <a:off x="878681" y="2613720"/>
            <a:ext cx="171450" cy="171450"/>
          </a:xfrm>
          <a:prstGeom prst="rect">
            <a:avLst/>
          </a:prstGeom>
          <a:noFill/>
          <a:ln>
            <a:noFill/>
          </a:ln>
        </p:spPr>
      </p:pic>
      <p:sp>
        <p:nvSpPr>
          <p:cNvPr id="1303" name="Google Shape;1303;p30"/>
          <p:cNvSpPr/>
          <p:nvPr/>
        </p:nvSpPr>
        <p:spPr>
          <a:xfrm>
            <a:off x="1250156" y="2525316"/>
            <a:ext cx="1370986" cy="175022"/>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Reasoning Drift</a:t>
            </a:r>
            <a:endParaRPr b="0" i="0" sz="942" u="none" cap="none" strike="noStrike">
              <a:solidFill>
                <a:schemeClr val="dk1"/>
              </a:solidFill>
              <a:latin typeface="Calibri"/>
              <a:ea typeface="Calibri"/>
              <a:cs typeface="Calibri"/>
              <a:sym typeface="Calibri"/>
            </a:endParaRPr>
          </a:p>
        </p:txBody>
      </p:sp>
      <p:sp>
        <p:nvSpPr>
          <p:cNvPr id="1304" name="Google Shape;1304;p30"/>
          <p:cNvSpPr/>
          <p:nvPr/>
        </p:nvSpPr>
        <p:spPr>
          <a:xfrm>
            <a:off x="1250156" y="2736056"/>
            <a:ext cx="1370986"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AB5"/>
              </a:buClr>
              <a:buSzPts val="727"/>
              <a:buFont typeface="Calibri"/>
              <a:buNone/>
            </a:pPr>
            <a:r>
              <a:rPr b="0" i="0" lang="en-US" sz="727" u="none" cap="none" strike="noStrike">
                <a:solidFill>
                  <a:srgbClr val="A0AAB5"/>
                </a:solidFill>
                <a:latin typeface="Calibri"/>
                <a:ea typeface="Calibri"/>
                <a:cs typeface="Calibri"/>
                <a:sym typeface="Calibri"/>
              </a:rPr>
              <a:t>Hallucinations in long chains.</a:t>
            </a:r>
            <a:endParaRPr b="0" i="0" sz="727" u="none" cap="none" strike="noStrike">
              <a:solidFill>
                <a:schemeClr val="dk1"/>
              </a:solidFill>
              <a:latin typeface="Calibri"/>
              <a:ea typeface="Calibri"/>
              <a:cs typeface="Calibri"/>
              <a:sym typeface="Calibri"/>
            </a:endParaRPr>
          </a:p>
        </p:txBody>
      </p:sp>
      <p:pic>
        <p:nvPicPr>
          <p:cNvPr descr="preencoded.png" id="1305" name="Google Shape;1305;p30"/>
          <p:cNvPicPr preferRelativeResize="0"/>
          <p:nvPr/>
        </p:nvPicPr>
        <p:blipFill rotWithShape="1">
          <a:blip r:embed="rId6">
            <a:alphaModFix/>
          </a:blip>
          <a:srcRect b="0" l="0" r="0" t="0"/>
          <a:stretch/>
        </p:blipFill>
        <p:spPr>
          <a:xfrm>
            <a:off x="878681" y="3253085"/>
            <a:ext cx="171450" cy="171450"/>
          </a:xfrm>
          <a:prstGeom prst="rect">
            <a:avLst/>
          </a:prstGeom>
          <a:noFill/>
          <a:ln>
            <a:noFill/>
          </a:ln>
        </p:spPr>
      </p:pic>
      <p:sp>
        <p:nvSpPr>
          <p:cNvPr id="1306" name="Google Shape;1306;p30"/>
          <p:cNvSpPr/>
          <p:nvPr/>
        </p:nvSpPr>
        <p:spPr>
          <a:xfrm>
            <a:off x="1250156" y="3164681"/>
            <a:ext cx="1063442" cy="175022"/>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Fragmented RAG</a:t>
            </a:r>
            <a:endParaRPr b="0" i="0" sz="942" u="none" cap="none" strike="noStrike">
              <a:solidFill>
                <a:schemeClr val="dk1"/>
              </a:solidFill>
              <a:latin typeface="Calibri"/>
              <a:ea typeface="Calibri"/>
              <a:cs typeface="Calibri"/>
              <a:sym typeface="Calibri"/>
            </a:endParaRPr>
          </a:p>
        </p:txBody>
      </p:sp>
      <p:sp>
        <p:nvSpPr>
          <p:cNvPr id="1307" name="Google Shape;1307;p30"/>
          <p:cNvSpPr/>
          <p:nvPr/>
        </p:nvSpPr>
        <p:spPr>
          <a:xfrm>
            <a:off x="1250156" y="3375422"/>
            <a:ext cx="1063442"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AB5"/>
              </a:buClr>
              <a:buSzPts val="727"/>
              <a:buFont typeface="Calibri"/>
              <a:buNone/>
            </a:pPr>
            <a:r>
              <a:rPr b="0" i="0" lang="en-US" sz="727" u="none" cap="none" strike="noStrike">
                <a:solidFill>
                  <a:srgbClr val="A0AAB5"/>
                </a:solidFill>
                <a:latin typeface="Calibri"/>
                <a:ea typeface="Calibri"/>
                <a:cs typeface="Calibri"/>
                <a:sym typeface="Calibri"/>
              </a:rPr>
              <a:t>Lossy retrieval of docs.</a:t>
            </a:r>
            <a:endParaRPr b="0" i="0" sz="727" u="none" cap="none" strike="noStrike">
              <a:solidFill>
                <a:schemeClr val="dk1"/>
              </a:solidFill>
              <a:latin typeface="Calibri"/>
              <a:ea typeface="Calibri"/>
              <a:cs typeface="Calibri"/>
              <a:sym typeface="Calibri"/>
            </a:endParaRPr>
          </a:p>
        </p:txBody>
      </p:sp>
      <p:pic>
        <p:nvPicPr>
          <p:cNvPr descr="preencoded.png" id="1308" name="Google Shape;1308;p30"/>
          <p:cNvPicPr preferRelativeResize="0"/>
          <p:nvPr/>
        </p:nvPicPr>
        <p:blipFill rotWithShape="1">
          <a:blip r:embed="rId7">
            <a:alphaModFix/>
          </a:blip>
          <a:srcRect b="0" l="0" r="0" t="0"/>
          <a:stretch/>
        </p:blipFill>
        <p:spPr>
          <a:xfrm>
            <a:off x="4421981" y="2478881"/>
            <a:ext cx="300038" cy="342900"/>
          </a:xfrm>
          <a:prstGeom prst="rect">
            <a:avLst/>
          </a:prstGeom>
          <a:noFill/>
          <a:ln>
            <a:noFill/>
          </a:ln>
        </p:spPr>
      </p:pic>
      <p:sp>
        <p:nvSpPr>
          <p:cNvPr id="1309" name="Google Shape;1309;p30"/>
          <p:cNvSpPr/>
          <p:nvPr/>
        </p:nvSpPr>
        <p:spPr>
          <a:xfrm>
            <a:off x="5072063" y="1223367"/>
            <a:ext cx="3500438" cy="2853928"/>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30"/>
          <p:cNvSpPr/>
          <p:nvPr/>
        </p:nvSpPr>
        <p:spPr>
          <a:xfrm>
            <a:off x="5072063" y="1223367"/>
            <a:ext cx="3500438" cy="42863"/>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30"/>
          <p:cNvSpPr/>
          <p:nvPr/>
        </p:nvSpPr>
        <p:spPr>
          <a:xfrm>
            <a:off x="5286375" y="1437680"/>
            <a:ext cx="3071813" cy="233958"/>
          </a:xfrm>
          <a:prstGeom prst="rect">
            <a:avLst/>
          </a:prstGeom>
          <a:noFill/>
          <a:ln>
            <a:noFill/>
          </a:ln>
        </p:spPr>
        <p:txBody>
          <a:bodyPr anchorCtr="0" anchor="t" bIns="0" lIns="0" spcFirstLastPara="1" rIns="0" wrap="square" tIns="0">
            <a:noAutofit/>
          </a:bodyPr>
          <a:lstStyle/>
          <a:p>
            <a:pPr indent="0" lvl="0" marL="0" marR="0" rtl="0" algn="ctr">
              <a:lnSpc>
                <a:spcPct val="134115"/>
              </a:lnSpc>
              <a:spcBef>
                <a:spcPts val="0"/>
              </a:spcBef>
              <a:spcAft>
                <a:spcPts val="0"/>
              </a:spcAft>
              <a:buClr>
                <a:srgbClr val="00BFFF"/>
              </a:buClr>
              <a:buSzPts val="1193"/>
              <a:buFont typeface="Calibri"/>
              <a:buNone/>
            </a:pPr>
            <a:r>
              <a:rPr b="1" i="0" lang="en-US" sz="1193" u="none" cap="none" strike="noStrike">
                <a:solidFill>
                  <a:srgbClr val="00BFFF"/>
                </a:solidFill>
                <a:latin typeface="Calibri"/>
                <a:ea typeface="Calibri"/>
                <a:cs typeface="Calibri"/>
                <a:sym typeface="Calibri"/>
              </a:rPr>
              <a:t>Tomorrow: Abundance</a:t>
            </a:r>
            <a:endParaRPr b="0" i="0" sz="1193" u="none" cap="none" strike="noStrike">
              <a:solidFill>
                <a:schemeClr val="dk1"/>
              </a:solidFill>
              <a:latin typeface="Calibri"/>
              <a:ea typeface="Calibri"/>
              <a:cs typeface="Calibri"/>
              <a:sym typeface="Calibri"/>
            </a:endParaRPr>
          </a:p>
        </p:txBody>
      </p:sp>
      <p:sp>
        <p:nvSpPr>
          <p:cNvPr id="1312" name="Google Shape;1312;p30"/>
          <p:cNvSpPr/>
          <p:nvPr/>
        </p:nvSpPr>
        <p:spPr>
          <a:xfrm>
            <a:off x="5286375" y="1885950"/>
            <a:ext cx="3071813" cy="460772"/>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30"/>
          <p:cNvSpPr/>
          <p:nvPr/>
        </p:nvSpPr>
        <p:spPr>
          <a:xfrm>
            <a:off x="5286375" y="2339578"/>
            <a:ext cx="3071813"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14" name="Google Shape;1314;p30"/>
          <p:cNvPicPr preferRelativeResize="0"/>
          <p:nvPr/>
        </p:nvPicPr>
        <p:blipFill rotWithShape="1">
          <a:blip r:embed="rId8">
            <a:alphaModFix/>
          </a:blip>
          <a:srcRect b="0" l="0" r="0" t="0"/>
          <a:stretch/>
        </p:blipFill>
        <p:spPr>
          <a:xfrm>
            <a:off x="5357813" y="1974354"/>
            <a:ext cx="214313" cy="171450"/>
          </a:xfrm>
          <a:prstGeom prst="rect">
            <a:avLst/>
          </a:prstGeom>
          <a:noFill/>
          <a:ln>
            <a:noFill/>
          </a:ln>
        </p:spPr>
      </p:pic>
      <p:sp>
        <p:nvSpPr>
          <p:cNvPr id="1315" name="Google Shape;1315;p30"/>
          <p:cNvSpPr/>
          <p:nvPr/>
        </p:nvSpPr>
        <p:spPr>
          <a:xfrm>
            <a:off x="5750719" y="1885950"/>
            <a:ext cx="1272871" cy="175022"/>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Infinite Context</a:t>
            </a:r>
            <a:endParaRPr b="0" i="0" sz="942" u="none" cap="none" strike="noStrike">
              <a:solidFill>
                <a:schemeClr val="dk1"/>
              </a:solidFill>
              <a:latin typeface="Calibri"/>
              <a:ea typeface="Calibri"/>
              <a:cs typeface="Calibri"/>
              <a:sym typeface="Calibri"/>
            </a:endParaRPr>
          </a:p>
        </p:txBody>
      </p:sp>
      <p:sp>
        <p:nvSpPr>
          <p:cNvPr id="1316" name="Google Shape;1316;p30"/>
          <p:cNvSpPr/>
          <p:nvPr/>
        </p:nvSpPr>
        <p:spPr>
          <a:xfrm>
            <a:off x="5750719" y="2096691"/>
            <a:ext cx="1272871"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AB5"/>
              </a:buClr>
              <a:buSzPts val="727"/>
              <a:buFont typeface="Calibri"/>
              <a:buNone/>
            </a:pPr>
            <a:r>
              <a:rPr b="0" i="0" lang="en-US" sz="727" u="none" cap="none" strike="noStrike">
                <a:solidFill>
                  <a:srgbClr val="A0AAB5"/>
                </a:solidFill>
                <a:latin typeface="Calibri"/>
                <a:ea typeface="Calibri"/>
                <a:cs typeface="Calibri"/>
                <a:sym typeface="Calibri"/>
              </a:rPr>
              <a:t>1M+ Tokens. Perfect Recall.</a:t>
            </a:r>
            <a:endParaRPr b="0" i="0" sz="727" u="none" cap="none" strike="noStrike">
              <a:solidFill>
                <a:schemeClr val="dk1"/>
              </a:solidFill>
              <a:latin typeface="Calibri"/>
              <a:ea typeface="Calibri"/>
              <a:cs typeface="Calibri"/>
              <a:sym typeface="Calibri"/>
            </a:endParaRPr>
          </a:p>
        </p:txBody>
      </p:sp>
      <p:sp>
        <p:nvSpPr>
          <p:cNvPr id="1317" name="Google Shape;1317;p30"/>
          <p:cNvSpPr/>
          <p:nvPr/>
        </p:nvSpPr>
        <p:spPr>
          <a:xfrm>
            <a:off x="5286375" y="2518172"/>
            <a:ext cx="3071813" cy="460772"/>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30"/>
          <p:cNvSpPr/>
          <p:nvPr/>
        </p:nvSpPr>
        <p:spPr>
          <a:xfrm>
            <a:off x="5286375" y="2971800"/>
            <a:ext cx="3071813"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19" name="Google Shape;1319;p30"/>
          <p:cNvPicPr preferRelativeResize="0"/>
          <p:nvPr/>
        </p:nvPicPr>
        <p:blipFill rotWithShape="1">
          <a:blip r:embed="rId9">
            <a:alphaModFix/>
          </a:blip>
          <a:srcRect b="0" l="0" r="0" t="0"/>
          <a:stretch/>
        </p:blipFill>
        <p:spPr>
          <a:xfrm>
            <a:off x="5357813" y="2606576"/>
            <a:ext cx="214313" cy="171450"/>
          </a:xfrm>
          <a:prstGeom prst="rect">
            <a:avLst/>
          </a:prstGeom>
          <a:noFill/>
          <a:ln>
            <a:noFill/>
          </a:ln>
        </p:spPr>
      </p:pic>
      <p:sp>
        <p:nvSpPr>
          <p:cNvPr id="1320" name="Google Shape;1320;p30"/>
          <p:cNvSpPr/>
          <p:nvPr/>
        </p:nvSpPr>
        <p:spPr>
          <a:xfrm>
            <a:off x="5750719" y="2518172"/>
            <a:ext cx="1239162" cy="175022"/>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System 2 Thinking</a:t>
            </a:r>
            <a:endParaRPr b="0" i="0" sz="942" u="none" cap="none" strike="noStrike">
              <a:solidFill>
                <a:schemeClr val="dk1"/>
              </a:solidFill>
              <a:latin typeface="Calibri"/>
              <a:ea typeface="Calibri"/>
              <a:cs typeface="Calibri"/>
              <a:sym typeface="Calibri"/>
            </a:endParaRPr>
          </a:p>
        </p:txBody>
      </p:sp>
      <p:sp>
        <p:nvSpPr>
          <p:cNvPr id="1321" name="Google Shape;1321;p30"/>
          <p:cNvSpPr/>
          <p:nvPr/>
        </p:nvSpPr>
        <p:spPr>
          <a:xfrm>
            <a:off x="5750719" y="2728913"/>
            <a:ext cx="1239162"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AB5"/>
              </a:buClr>
              <a:buSzPts val="727"/>
              <a:buFont typeface="Calibri"/>
              <a:buNone/>
            </a:pPr>
            <a:r>
              <a:rPr b="0" i="0" lang="en-US" sz="727" u="none" cap="none" strike="noStrike">
                <a:solidFill>
                  <a:srgbClr val="A0AAB5"/>
                </a:solidFill>
                <a:latin typeface="Calibri"/>
                <a:ea typeface="Calibri"/>
                <a:cs typeface="Calibri"/>
                <a:sym typeface="Calibri"/>
              </a:rPr>
              <a:t>Self-correcting logic loops.</a:t>
            </a:r>
            <a:endParaRPr b="0" i="0" sz="727" u="none" cap="none" strike="noStrike">
              <a:solidFill>
                <a:schemeClr val="dk1"/>
              </a:solidFill>
              <a:latin typeface="Calibri"/>
              <a:ea typeface="Calibri"/>
              <a:cs typeface="Calibri"/>
              <a:sym typeface="Calibri"/>
            </a:endParaRPr>
          </a:p>
        </p:txBody>
      </p:sp>
      <p:pic>
        <p:nvPicPr>
          <p:cNvPr descr="preencoded.png" id="1322" name="Google Shape;1322;p30"/>
          <p:cNvPicPr preferRelativeResize="0"/>
          <p:nvPr/>
        </p:nvPicPr>
        <p:blipFill rotWithShape="1">
          <a:blip r:embed="rId10">
            <a:alphaModFix/>
          </a:blip>
          <a:srcRect b="0" l="0" r="0" t="0"/>
          <a:stretch/>
        </p:blipFill>
        <p:spPr>
          <a:xfrm>
            <a:off x="5368528" y="3238798"/>
            <a:ext cx="192881" cy="171450"/>
          </a:xfrm>
          <a:prstGeom prst="rect">
            <a:avLst/>
          </a:prstGeom>
          <a:noFill/>
          <a:ln>
            <a:noFill/>
          </a:ln>
        </p:spPr>
      </p:pic>
      <p:sp>
        <p:nvSpPr>
          <p:cNvPr id="1323" name="Google Shape;1323;p30"/>
          <p:cNvSpPr/>
          <p:nvPr/>
        </p:nvSpPr>
        <p:spPr>
          <a:xfrm>
            <a:off x="5750719" y="3150394"/>
            <a:ext cx="1445884" cy="175022"/>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CBD5E1"/>
              </a:buClr>
              <a:buSzPts val="942"/>
              <a:buFont typeface="Calibri"/>
              <a:buNone/>
            </a:pPr>
            <a:r>
              <a:rPr b="0" i="0" lang="en-US" sz="942" u="none" cap="none" strike="noStrike">
                <a:solidFill>
                  <a:srgbClr val="CBD5E1"/>
                </a:solidFill>
                <a:latin typeface="Calibri"/>
                <a:ea typeface="Calibri"/>
                <a:cs typeface="Calibri"/>
                <a:sym typeface="Calibri"/>
              </a:rPr>
              <a:t>Graph Memory</a:t>
            </a:r>
            <a:endParaRPr b="0" i="0" sz="942" u="none" cap="none" strike="noStrike">
              <a:solidFill>
                <a:schemeClr val="dk1"/>
              </a:solidFill>
              <a:latin typeface="Calibri"/>
              <a:ea typeface="Calibri"/>
              <a:cs typeface="Calibri"/>
              <a:sym typeface="Calibri"/>
            </a:endParaRPr>
          </a:p>
        </p:txBody>
      </p:sp>
      <p:sp>
        <p:nvSpPr>
          <p:cNvPr id="1324" name="Google Shape;1324;p30"/>
          <p:cNvSpPr/>
          <p:nvPr/>
        </p:nvSpPr>
        <p:spPr>
          <a:xfrm>
            <a:off x="5750719" y="3361134"/>
            <a:ext cx="1445884"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AB5"/>
              </a:buClr>
              <a:buSzPts val="727"/>
              <a:buFont typeface="Calibri"/>
              <a:buNone/>
            </a:pPr>
            <a:r>
              <a:rPr b="0" i="0" lang="en-US" sz="727" u="none" cap="none" strike="noStrike">
                <a:solidFill>
                  <a:srgbClr val="A0AAB5"/>
                </a:solidFill>
                <a:latin typeface="Calibri"/>
                <a:ea typeface="Calibri"/>
                <a:cs typeface="Calibri"/>
                <a:sym typeface="Calibri"/>
              </a:rPr>
              <a:t>Holistic project understanding.</a:t>
            </a:r>
            <a:endParaRPr b="0" i="0" sz="727" u="none" cap="none" strike="noStrike">
              <a:solidFill>
                <a:schemeClr val="dk1"/>
              </a:solidFill>
              <a:latin typeface="Calibri"/>
              <a:ea typeface="Calibri"/>
              <a:cs typeface="Calibri"/>
              <a:sym typeface="Calibri"/>
            </a:endParaRPr>
          </a:p>
        </p:txBody>
      </p:sp>
      <p:sp>
        <p:nvSpPr>
          <p:cNvPr id="1325" name="Google Shape;1325;p30"/>
          <p:cNvSpPr/>
          <p:nvPr/>
        </p:nvSpPr>
        <p:spPr>
          <a:xfrm>
            <a:off x="571500" y="4291608"/>
            <a:ext cx="8001000" cy="423267"/>
          </a:xfrm>
          <a:prstGeom prst="rect">
            <a:avLst/>
          </a:prstGeom>
          <a:solidFill>
            <a:srgbClr val="00BFFF">
              <a:alpha val="10196"/>
            </a:srgbClr>
          </a:solidFill>
          <a:ln cap="flat" cmpd="sng" w="9525">
            <a:solidFill>
              <a:srgbClr val="00B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0"/>
          <p:cNvSpPr/>
          <p:nvPr/>
        </p:nvSpPr>
        <p:spPr>
          <a:xfrm>
            <a:off x="571500" y="4291608"/>
            <a:ext cx="8001000" cy="423267"/>
          </a:xfrm>
          <a:prstGeom prst="rect">
            <a:avLst/>
          </a:prstGeom>
          <a:noFill/>
          <a:ln>
            <a:noFill/>
          </a:ln>
        </p:spPr>
        <p:txBody>
          <a:bodyPr anchorCtr="0" anchor="t" bIns="127500" lIns="127500" spcFirstLastPara="1" rIns="127500" wrap="square" tIns="127500">
            <a:noAutofit/>
          </a:bodyPr>
          <a:lstStyle/>
          <a:p>
            <a:pPr indent="0" lvl="0" marL="0" marR="0" rtl="0" algn="ctr">
              <a:lnSpc>
                <a:spcPct val="133333"/>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"The bottleneck shifts from </a:t>
            </a:r>
            <a:r>
              <a:rPr b="1" i="0" lang="en-US" sz="987" u="none" cap="none" strike="noStrike">
                <a:solidFill>
                  <a:srgbClr val="FFFFFF"/>
                </a:solidFill>
                <a:latin typeface="Calibri"/>
                <a:ea typeface="Calibri"/>
                <a:cs typeface="Calibri"/>
                <a:sym typeface="Calibri"/>
              </a:rPr>
              <a:t>Memory</a:t>
            </a:r>
            <a:r>
              <a:rPr b="0" i="0" lang="en-US" sz="1050" u="none" cap="none" strike="noStrike">
                <a:solidFill>
                  <a:srgbClr val="FFFFFF"/>
                </a:solidFill>
                <a:latin typeface="Calibri"/>
                <a:ea typeface="Calibri"/>
                <a:cs typeface="Calibri"/>
                <a:sym typeface="Calibri"/>
              </a:rPr>
              <a:t> to </a:t>
            </a:r>
            <a:r>
              <a:rPr b="1" i="0" lang="en-US" sz="987" u="none" cap="none" strike="noStrike">
                <a:solidFill>
                  <a:srgbClr val="FFFFFF"/>
                </a:solidFill>
                <a:latin typeface="Calibri"/>
                <a:ea typeface="Calibri"/>
                <a:cs typeface="Calibri"/>
                <a:sym typeface="Calibri"/>
              </a:rPr>
              <a:t>Specification Accuracy</a:t>
            </a:r>
            <a:r>
              <a:rPr b="0" i="0" lang="en-US" sz="1050" u="none" cap="none" strike="noStrike">
                <a:solidFill>
                  <a:srgbClr val="FFFFFF"/>
                </a:solidFill>
                <a:latin typeface="Calibri"/>
                <a:ea typeface="Calibri"/>
                <a:cs typeface="Calibri"/>
                <a:sym typeface="Calibri"/>
              </a:rPr>
              <a: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pic>
        <p:nvPicPr>
          <p:cNvPr descr="preencoded.png" id="1332" name="Google Shape;1332;p3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333" name="Google Shape;1333;p31"/>
          <p:cNvSpPr/>
          <p:nvPr/>
        </p:nvSpPr>
        <p:spPr>
          <a:xfrm>
            <a:off x="571500" y="428625"/>
            <a:ext cx="7143750" cy="408980"/>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Calibri"/>
              <a:buNone/>
            </a:pPr>
            <a:r>
              <a:rPr b="1" i="0" lang="en-US" sz="2121" u="none" cap="none" strike="noStrike">
                <a:solidFill>
                  <a:srgbClr val="FFFFFF"/>
                </a:solidFill>
                <a:latin typeface="Calibri"/>
                <a:ea typeface="Calibri"/>
                <a:cs typeface="Calibri"/>
                <a:sym typeface="Calibri"/>
              </a:rPr>
              <a:t>What's Next: The 12-Month Horizon</a:t>
            </a:r>
            <a:endParaRPr b="0" i="0" sz="2121" u="none" cap="none" strike="noStrike">
              <a:solidFill>
                <a:schemeClr val="dk1"/>
              </a:solidFill>
              <a:latin typeface="Calibri"/>
              <a:ea typeface="Calibri"/>
              <a:cs typeface="Calibri"/>
              <a:sym typeface="Calibri"/>
            </a:endParaRPr>
          </a:p>
        </p:txBody>
      </p:sp>
      <p:sp>
        <p:nvSpPr>
          <p:cNvPr id="1334" name="Google Shape;1334;p31"/>
          <p:cNvSpPr/>
          <p:nvPr/>
        </p:nvSpPr>
        <p:spPr>
          <a:xfrm>
            <a:off x="1178719" y="1509117"/>
            <a:ext cx="571500" cy="571500"/>
          </a:xfrm>
          <a:prstGeom prst="ellipse">
            <a:avLst/>
          </a:prstGeom>
          <a:solidFill>
            <a:srgbClr val="1A2A3A"/>
          </a:solidFill>
          <a:ln cap="flat" cmpd="sng" w="27425">
            <a:solidFill>
              <a:srgbClr val="FF9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35" name="Google Shape;1335;p31"/>
          <p:cNvPicPr preferRelativeResize="0"/>
          <p:nvPr/>
        </p:nvPicPr>
        <p:blipFill rotWithShape="1">
          <a:blip r:embed="rId4">
            <a:alphaModFix/>
          </a:blip>
          <a:srcRect b="0" l="0" r="0" t="0"/>
          <a:stretch/>
        </p:blipFill>
        <p:spPr>
          <a:xfrm>
            <a:off x="1350169" y="1680567"/>
            <a:ext cx="228600" cy="228600"/>
          </a:xfrm>
          <a:prstGeom prst="rect">
            <a:avLst/>
          </a:prstGeom>
          <a:noFill/>
          <a:ln>
            <a:noFill/>
          </a:ln>
        </p:spPr>
      </p:pic>
      <p:sp>
        <p:nvSpPr>
          <p:cNvPr id="1336" name="Google Shape;1336;p31"/>
          <p:cNvSpPr/>
          <p:nvPr/>
        </p:nvSpPr>
        <p:spPr>
          <a:xfrm>
            <a:off x="1002525" y="2223492"/>
            <a:ext cx="923860"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AB5"/>
              </a:buClr>
              <a:buSzPts val="727"/>
              <a:buFont typeface="Calibri"/>
              <a:buNone/>
            </a:pPr>
            <a:r>
              <a:rPr b="0" i="0" lang="en-US" sz="727" u="none" cap="none" strike="noStrike">
                <a:solidFill>
                  <a:srgbClr val="A0AAB5"/>
                </a:solidFill>
                <a:latin typeface="Calibri"/>
                <a:ea typeface="Calibri"/>
                <a:cs typeface="Calibri"/>
                <a:sym typeface="Calibri"/>
              </a:rPr>
              <a:t>Now (Q1/2 2026)</a:t>
            </a:r>
            <a:endParaRPr b="0" i="0" sz="727" u="none" cap="none" strike="noStrike">
              <a:solidFill>
                <a:schemeClr val="dk1"/>
              </a:solidFill>
              <a:latin typeface="Calibri"/>
              <a:ea typeface="Calibri"/>
              <a:cs typeface="Calibri"/>
              <a:sym typeface="Calibri"/>
            </a:endParaRPr>
          </a:p>
        </p:txBody>
      </p:sp>
      <p:sp>
        <p:nvSpPr>
          <p:cNvPr id="1337" name="Google Shape;1337;p31"/>
          <p:cNvSpPr/>
          <p:nvPr/>
        </p:nvSpPr>
        <p:spPr>
          <a:xfrm>
            <a:off x="571500" y="2394942"/>
            <a:ext cx="1785938" cy="584002"/>
          </a:xfrm>
          <a:prstGeom prst="rect">
            <a:avLst/>
          </a:prstGeom>
          <a:noFill/>
          <a:ln>
            <a:noFill/>
          </a:ln>
        </p:spPr>
        <p:txBody>
          <a:bodyPr anchorCtr="0" anchor="t" bIns="0" lIns="0" spcFirstLastPara="1" rIns="0" wrap="square" tIns="0">
            <a:noAutofit/>
          </a:bodyPr>
          <a:lstStyle/>
          <a:p>
            <a:pPr indent="0" lvl="0" marL="0" marR="0" rtl="0" algn="ctr">
              <a:lnSpc>
                <a:spcPct val="141843"/>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Integrate Agentic workflows into Development</a:t>
            </a:r>
            <a:endParaRPr b="0" i="0" sz="987" u="none" cap="none" strike="noStrike">
              <a:solidFill>
                <a:schemeClr val="dk1"/>
              </a:solidFill>
              <a:latin typeface="Calibri"/>
              <a:ea typeface="Calibri"/>
              <a:cs typeface="Calibri"/>
              <a:sym typeface="Calibri"/>
            </a:endParaRPr>
          </a:p>
        </p:txBody>
      </p:sp>
      <p:sp>
        <p:nvSpPr>
          <p:cNvPr id="1338" name="Google Shape;1338;p31"/>
          <p:cNvSpPr/>
          <p:nvPr/>
        </p:nvSpPr>
        <p:spPr>
          <a:xfrm>
            <a:off x="4286250" y="1509117"/>
            <a:ext cx="571500" cy="571500"/>
          </a:xfrm>
          <a:prstGeom prst="ellipse">
            <a:avLst/>
          </a:prstGeom>
          <a:solidFill>
            <a:srgbClr val="1A2A3A"/>
          </a:solidFill>
          <a:ln cap="flat" cmpd="sng" w="27425">
            <a:solidFill>
              <a:srgbClr val="FF9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39" name="Google Shape;1339;p31"/>
          <p:cNvPicPr preferRelativeResize="0"/>
          <p:nvPr/>
        </p:nvPicPr>
        <p:blipFill rotWithShape="1">
          <a:blip r:embed="rId5">
            <a:alphaModFix/>
          </a:blip>
          <a:srcRect b="0" l="0" r="0" t="0"/>
          <a:stretch/>
        </p:blipFill>
        <p:spPr>
          <a:xfrm>
            <a:off x="4429125" y="1680567"/>
            <a:ext cx="285750" cy="228600"/>
          </a:xfrm>
          <a:prstGeom prst="rect">
            <a:avLst/>
          </a:prstGeom>
          <a:noFill/>
          <a:ln>
            <a:noFill/>
          </a:ln>
        </p:spPr>
      </p:pic>
      <p:sp>
        <p:nvSpPr>
          <p:cNvPr id="1340" name="Google Shape;1340;p31"/>
          <p:cNvSpPr/>
          <p:nvPr/>
        </p:nvSpPr>
        <p:spPr>
          <a:xfrm>
            <a:off x="4106624" y="2223492"/>
            <a:ext cx="930725"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AB5"/>
              </a:buClr>
              <a:buSzPts val="727"/>
              <a:buFont typeface="Calibri"/>
              <a:buNone/>
            </a:pPr>
            <a:r>
              <a:rPr b="0" i="0" lang="en-US" sz="727" u="none" cap="none" strike="noStrike">
                <a:solidFill>
                  <a:srgbClr val="A0AAB5"/>
                </a:solidFill>
                <a:latin typeface="Calibri"/>
                <a:ea typeface="Calibri"/>
                <a:cs typeface="Calibri"/>
                <a:sym typeface="Calibri"/>
              </a:rPr>
              <a:t>Next (Q3/4 2026)</a:t>
            </a:r>
            <a:endParaRPr b="0" i="0" sz="727" u="none" cap="none" strike="noStrike">
              <a:solidFill>
                <a:schemeClr val="dk1"/>
              </a:solidFill>
              <a:latin typeface="Calibri"/>
              <a:ea typeface="Calibri"/>
              <a:cs typeface="Calibri"/>
              <a:sym typeface="Calibri"/>
            </a:endParaRPr>
          </a:p>
        </p:txBody>
      </p:sp>
      <p:sp>
        <p:nvSpPr>
          <p:cNvPr id="1341" name="Google Shape;1341;p31"/>
          <p:cNvSpPr/>
          <p:nvPr/>
        </p:nvSpPr>
        <p:spPr>
          <a:xfrm>
            <a:off x="3545225" y="2394942"/>
            <a:ext cx="2053549" cy="584002"/>
          </a:xfrm>
          <a:prstGeom prst="rect">
            <a:avLst/>
          </a:prstGeom>
          <a:noFill/>
          <a:ln>
            <a:noFill/>
          </a:ln>
        </p:spPr>
        <p:txBody>
          <a:bodyPr anchorCtr="0" anchor="t" bIns="0" lIns="0" spcFirstLastPara="1" rIns="0" wrap="square" tIns="0">
            <a:noAutofit/>
          </a:bodyPr>
          <a:lstStyle/>
          <a:p>
            <a:pPr indent="0" lvl="0" marL="0" marR="0" rtl="0" algn="ctr">
              <a:lnSpc>
                <a:spcPct val="141843"/>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Integrate Agentic workflows for quality gates/release workflows</a:t>
            </a:r>
            <a:endParaRPr b="0" i="0" sz="987" u="none" cap="none" strike="noStrike">
              <a:solidFill>
                <a:schemeClr val="dk1"/>
              </a:solidFill>
              <a:latin typeface="Calibri"/>
              <a:ea typeface="Calibri"/>
              <a:cs typeface="Calibri"/>
              <a:sym typeface="Calibri"/>
            </a:endParaRPr>
          </a:p>
        </p:txBody>
      </p:sp>
      <p:sp>
        <p:nvSpPr>
          <p:cNvPr id="1342" name="Google Shape;1342;p31"/>
          <p:cNvSpPr/>
          <p:nvPr/>
        </p:nvSpPr>
        <p:spPr>
          <a:xfrm>
            <a:off x="7393781" y="1509117"/>
            <a:ext cx="571500" cy="571500"/>
          </a:xfrm>
          <a:prstGeom prst="ellipse">
            <a:avLst/>
          </a:prstGeom>
          <a:solidFill>
            <a:srgbClr val="1A2A3A"/>
          </a:solidFill>
          <a:ln cap="flat" cmpd="sng" w="27425">
            <a:solidFill>
              <a:srgbClr val="FF9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43" name="Google Shape;1343;p31"/>
          <p:cNvPicPr preferRelativeResize="0"/>
          <p:nvPr/>
        </p:nvPicPr>
        <p:blipFill rotWithShape="1">
          <a:blip r:embed="rId6">
            <a:alphaModFix/>
          </a:blip>
          <a:srcRect b="0" l="0" r="0" t="0"/>
          <a:stretch/>
        </p:blipFill>
        <p:spPr>
          <a:xfrm>
            <a:off x="7565231" y="1680567"/>
            <a:ext cx="228600" cy="228600"/>
          </a:xfrm>
          <a:prstGeom prst="rect">
            <a:avLst/>
          </a:prstGeom>
          <a:noFill/>
          <a:ln>
            <a:noFill/>
          </a:ln>
        </p:spPr>
      </p:pic>
      <p:sp>
        <p:nvSpPr>
          <p:cNvPr id="1344" name="Google Shape;1344;p31"/>
          <p:cNvSpPr/>
          <p:nvPr/>
        </p:nvSpPr>
        <p:spPr>
          <a:xfrm>
            <a:off x="7257715" y="2223492"/>
            <a:ext cx="843632"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A0AAB5"/>
              </a:buClr>
              <a:buSzPts val="727"/>
              <a:buFont typeface="Calibri"/>
              <a:buNone/>
            </a:pPr>
            <a:r>
              <a:rPr b="0" i="0" lang="en-US" sz="727" u="none" cap="none" strike="noStrike">
                <a:solidFill>
                  <a:srgbClr val="A0AAB5"/>
                </a:solidFill>
                <a:latin typeface="Calibri"/>
                <a:ea typeface="Calibri"/>
                <a:cs typeface="Calibri"/>
                <a:sym typeface="Calibri"/>
              </a:rPr>
              <a:t>Future (2027+)</a:t>
            </a:r>
            <a:endParaRPr b="0" i="0" sz="727" u="none" cap="none" strike="noStrike">
              <a:solidFill>
                <a:schemeClr val="dk1"/>
              </a:solidFill>
              <a:latin typeface="Calibri"/>
              <a:ea typeface="Calibri"/>
              <a:cs typeface="Calibri"/>
              <a:sym typeface="Calibri"/>
            </a:endParaRPr>
          </a:p>
        </p:txBody>
      </p:sp>
      <p:sp>
        <p:nvSpPr>
          <p:cNvPr id="1345" name="Google Shape;1345;p31"/>
          <p:cNvSpPr/>
          <p:nvPr/>
        </p:nvSpPr>
        <p:spPr>
          <a:xfrm>
            <a:off x="6936777" y="2394942"/>
            <a:ext cx="1485481" cy="194667"/>
          </a:xfrm>
          <a:prstGeom prst="rect">
            <a:avLst/>
          </a:prstGeom>
          <a:noFill/>
          <a:ln>
            <a:noFill/>
          </a:ln>
        </p:spPr>
        <p:txBody>
          <a:bodyPr anchorCtr="0" anchor="t" bIns="0" lIns="0" spcFirstLastPara="1" rIns="0" wrap="square" tIns="0">
            <a:noAutofit/>
          </a:bodyPr>
          <a:lstStyle/>
          <a:p>
            <a:pPr indent="0" lvl="0" marL="0" marR="0" rtl="0" algn="ctr">
              <a:lnSpc>
                <a:spcPct val="141843"/>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Self-Healing Systems</a:t>
            </a:r>
            <a:endParaRPr b="0" i="0" sz="987" u="none" cap="none" strike="noStrike">
              <a:solidFill>
                <a:schemeClr val="dk1"/>
              </a:solidFill>
              <a:latin typeface="Calibri"/>
              <a:ea typeface="Calibri"/>
              <a:cs typeface="Calibri"/>
              <a:sym typeface="Calibri"/>
            </a:endParaRPr>
          </a:p>
        </p:txBody>
      </p:sp>
      <p:sp>
        <p:nvSpPr>
          <p:cNvPr id="1346" name="Google Shape;1346;p31"/>
          <p:cNvSpPr/>
          <p:nvPr/>
        </p:nvSpPr>
        <p:spPr>
          <a:xfrm>
            <a:off x="571500" y="3479006"/>
            <a:ext cx="8001000" cy="494705"/>
          </a:xfrm>
          <a:prstGeom prst="rect">
            <a:avLst/>
          </a:prstGeom>
          <a:solidFill>
            <a:srgbClr val="FF9800">
              <a:alpha val="10196"/>
            </a:srgbClr>
          </a:solidFill>
          <a:ln cap="flat" cmpd="sng" w="9525">
            <a:solidFill>
              <a:srgbClr val="FF9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31"/>
          <p:cNvSpPr/>
          <p:nvPr/>
        </p:nvSpPr>
        <p:spPr>
          <a:xfrm>
            <a:off x="571500" y="3479006"/>
            <a:ext cx="8001000" cy="494705"/>
          </a:xfrm>
          <a:prstGeom prst="rect">
            <a:avLst/>
          </a:prstGeom>
          <a:noFill/>
          <a:ln>
            <a:noFill/>
          </a:ln>
        </p:spPr>
        <p:txBody>
          <a:bodyPr anchorCtr="0" anchor="t" bIns="170050" lIns="170050" spcFirstLastPara="1" rIns="170050" wrap="square" tIns="170050">
            <a:noAutofit/>
          </a:bodyPr>
          <a:lstStyle/>
          <a:p>
            <a:pPr indent="0" lvl="0" marL="0" marR="0" rtl="0" algn="ctr">
              <a:lnSpc>
                <a:spcPct val="133333"/>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"The goal is not to replace developers, but to elevate them to </a:t>
            </a:r>
            <a:r>
              <a:rPr b="1" i="0" lang="en-US" sz="987" u="none" cap="none" strike="noStrike">
                <a:solidFill>
                  <a:srgbClr val="FFFFFF"/>
                </a:solidFill>
                <a:latin typeface="Calibri"/>
                <a:ea typeface="Calibri"/>
                <a:cs typeface="Calibri"/>
                <a:sym typeface="Calibri"/>
              </a:rPr>
              <a:t>System Architects</a:t>
            </a:r>
            <a:r>
              <a:rPr b="0" i="0" lang="en-US" sz="1050" u="none" cap="none" strike="noStrike">
                <a:solidFill>
                  <a:srgbClr val="FFFFFF"/>
                </a:solidFill>
                <a:latin typeface="Calibri"/>
                <a:ea typeface="Calibri"/>
                <a:cs typeface="Calibri"/>
                <a:sym typeface="Calibri"/>
              </a:rPr>
              <a: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2" name="Shape 1352"/>
        <p:cNvGrpSpPr/>
        <p:nvPr/>
      </p:nvGrpSpPr>
      <p:grpSpPr>
        <a:xfrm>
          <a:off x="0" y="0"/>
          <a:ext cx="0" cy="0"/>
          <a:chOff x="0" y="0"/>
          <a:chExt cx="0" cy="0"/>
        </a:xfrm>
      </p:grpSpPr>
      <p:pic>
        <p:nvPicPr>
          <p:cNvPr descr="preencoded.png" id="1353" name="Google Shape;1353;p32"/>
          <p:cNvPicPr preferRelativeResize="0"/>
          <p:nvPr/>
        </p:nvPicPr>
        <p:blipFill rotWithShape="1">
          <a:blip r:embed="rId3">
            <a:alphaModFix/>
          </a:blip>
          <a:srcRect b="0" l="0" r="0" t="0"/>
          <a:stretch/>
        </p:blipFill>
        <p:spPr>
          <a:xfrm>
            <a:off x="0" y="0"/>
            <a:ext cx="9144000" cy="5638205"/>
          </a:xfrm>
          <a:prstGeom prst="rect">
            <a:avLst/>
          </a:prstGeom>
          <a:noFill/>
          <a:ln>
            <a:noFill/>
          </a:ln>
        </p:spPr>
      </p:pic>
      <p:sp>
        <p:nvSpPr>
          <p:cNvPr id="1354" name="Google Shape;1354;p32"/>
          <p:cNvSpPr/>
          <p:nvPr/>
        </p:nvSpPr>
        <p:spPr>
          <a:xfrm>
            <a:off x="571500" y="428625"/>
            <a:ext cx="7143750" cy="408980"/>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Calibri"/>
              <a:buNone/>
            </a:pPr>
            <a:r>
              <a:rPr b="1" i="0" lang="en-US" sz="2121" u="none" cap="none" strike="noStrike">
                <a:solidFill>
                  <a:srgbClr val="FFFFFF"/>
                </a:solidFill>
                <a:latin typeface="Calibri"/>
                <a:ea typeface="Calibri"/>
                <a:cs typeface="Calibri"/>
                <a:sym typeface="Calibri"/>
              </a:rPr>
              <a:t>Innovations &amp; Success Metrics</a:t>
            </a:r>
            <a:endParaRPr b="0" i="0" sz="2121" u="none" cap="none" strike="noStrike">
              <a:solidFill>
                <a:schemeClr val="dk1"/>
              </a:solidFill>
              <a:latin typeface="Calibri"/>
              <a:ea typeface="Calibri"/>
              <a:cs typeface="Calibri"/>
              <a:sym typeface="Calibri"/>
            </a:endParaRPr>
          </a:p>
        </p:txBody>
      </p:sp>
      <p:sp>
        <p:nvSpPr>
          <p:cNvPr id="1355" name="Google Shape;1355;p32"/>
          <p:cNvSpPr/>
          <p:nvPr/>
        </p:nvSpPr>
        <p:spPr>
          <a:xfrm>
            <a:off x="571500" y="1223367"/>
            <a:ext cx="3857625" cy="3368278"/>
          </a:xfrm>
          <a:prstGeom prst="rect">
            <a:avLst/>
          </a:prstGeom>
          <a:solidFill>
            <a:srgbClr val="1A2A3A"/>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56" name="Google Shape;1356;p32"/>
          <p:cNvPicPr preferRelativeResize="0"/>
          <p:nvPr/>
        </p:nvPicPr>
        <p:blipFill rotWithShape="1">
          <a:blip r:embed="rId4">
            <a:alphaModFix/>
          </a:blip>
          <a:srcRect b="0" l="0" r="0" t="0"/>
          <a:stretch/>
        </p:blipFill>
        <p:spPr>
          <a:xfrm>
            <a:off x="785813" y="1468934"/>
            <a:ext cx="128588" cy="171450"/>
          </a:xfrm>
          <a:prstGeom prst="rect">
            <a:avLst/>
          </a:prstGeom>
          <a:noFill/>
          <a:ln>
            <a:noFill/>
          </a:ln>
        </p:spPr>
      </p:pic>
      <p:sp>
        <p:nvSpPr>
          <p:cNvPr id="1357" name="Google Shape;1357;p32"/>
          <p:cNvSpPr/>
          <p:nvPr/>
        </p:nvSpPr>
        <p:spPr>
          <a:xfrm>
            <a:off x="985838" y="1437680"/>
            <a:ext cx="3228249" cy="233958"/>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FFFF"/>
              </a:buClr>
              <a:buSzPts val="1193"/>
              <a:buFont typeface="Calibri"/>
              <a:buNone/>
            </a:pPr>
            <a:r>
              <a:rPr b="1" i="0" lang="en-US" sz="1193" u="none" cap="none" strike="noStrike">
                <a:solidFill>
                  <a:srgbClr val="FFFFFF"/>
                </a:solidFill>
                <a:latin typeface="Calibri"/>
                <a:ea typeface="Calibri"/>
                <a:cs typeface="Calibri"/>
                <a:sym typeface="Calibri"/>
              </a:rPr>
              <a:t>Innovations enabling builder mindset</a:t>
            </a:r>
            <a:endParaRPr b="0" i="0" sz="1193" u="none" cap="none" strike="noStrike">
              <a:solidFill>
                <a:schemeClr val="dk1"/>
              </a:solidFill>
              <a:latin typeface="Calibri"/>
              <a:ea typeface="Calibri"/>
              <a:cs typeface="Calibri"/>
              <a:sym typeface="Calibri"/>
            </a:endParaRPr>
          </a:p>
        </p:txBody>
      </p:sp>
      <p:sp>
        <p:nvSpPr>
          <p:cNvPr id="1358" name="Google Shape;1358;p32"/>
          <p:cNvSpPr/>
          <p:nvPr/>
        </p:nvSpPr>
        <p:spPr>
          <a:xfrm>
            <a:off x="785813" y="1814513"/>
            <a:ext cx="3429000" cy="560784"/>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59" name="Google Shape;1359;p32"/>
          <p:cNvPicPr preferRelativeResize="0"/>
          <p:nvPr/>
        </p:nvPicPr>
        <p:blipFill rotWithShape="1">
          <a:blip r:embed="rId5">
            <a:alphaModFix/>
          </a:blip>
          <a:srcRect b="0" l="0" r="0" t="0"/>
          <a:stretch/>
        </p:blipFill>
        <p:spPr>
          <a:xfrm>
            <a:off x="914400" y="2010073"/>
            <a:ext cx="171450" cy="171450"/>
          </a:xfrm>
          <a:prstGeom prst="rect">
            <a:avLst/>
          </a:prstGeom>
          <a:noFill/>
          <a:ln>
            <a:noFill/>
          </a:ln>
        </p:spPr>
      </p:pic>
      <p:sp>
        <p:nvSpPr>
          <p:cNvPr id="1360" name="Google Shape;1360;p32"/>
          <p:cNvSpPr/>
          <p:nvPr/>
        </p:nvSpPr>
        <p:spPr>
          <a:xfrm>
            <a:off x="1214438" y="1921669"/>
            <a:ext cx="2874773"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Reasoning Models (o1)</a:t>
            </a:r>
            <a:endParaRPr b="0" i="0" sz="784" u="none" cap="none" strike="noStrike">
              <a:solidFill>
                <a:schemeClr val="dk1"/>
              </a:solidFill>
              <a:latin typeface="Calibri"/>
              <a:ea typeface="Calibri"/>
              <a:cs typeface="Calibri"/>
              <a:sym typeface="Calibri"/>
            </a:endParaRPr>
          </a:p>
        </p:txBody>
      </p:sp>
      <p:sp>
        <p:nvSpPr>
          <p:cNvPr id="1361" name="Google Shape;1361;p32"/>
          <p:cNvSpPr/>
          <p:nvPr/>
        </p:nvSpPr>
        <p:spPr>
          <a:xfrm>
            <a:off x="1214438" y="2112764"/>
            <a:ext cx="2874773" cy="15537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CBD5E1"/>
              </a:buClr>
              <a:buSzPts val="834"/>
              <a:buFont typeface="Calibri"/>
              <a:buNone/>
            </a:pPr>
            <a:r>
              <a:rPr b="0" i="0" lang="en-US" sz="834" u="none" cap="none" strike="noStrike">
                <a:solidFill>
                  <a:srgbClr val="CBD5E1"/>
                </a:solidFill>
                <a:latin typeface="Calibri"/>
                <a:ea typeface="Calibri"/>
                <a:cs typeface="Calibri"/>
                <a:sym typeface="Calibri"/>
              </a:rPr>
              <a:t>"Thinking" before coding reduces logic errors by 40%.</a:t>
            </a:r>
            <a:endParaRPr b="0" i="0" sz="834" u="none" cap="none" strike="noStrike">
              <a:solidFill>
                <a:schemeClr val="dk1"/>
              </a:solidFill>
              <a:latin typeface="Calibri"/>
              <a:ea typeface="Calibri"/>
              <a:cs typeface="Calibri"/>
              <a:sym typeface="Calibri"/>
            </a:endParaRPr>
          </a:p>
        </p:txBody>
      </p:sp>
      <p:sp>
        <p:nvSpPr>
          <p:cNvPr id="1362" name="Google Shape;1362;p32"/>
          <p:cNvSpPr/>
          <p:nvPr/>
        </p:nvSpPr>
        <p:spPr>
          <a:xfrm>
            <a:off x="785813" y="2482453"/>
            <a:ext cx="3429000" cy="716161"/>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63" name="Google Shape;1363;p32"/>
          <p:cNvPicPr preferRelativeResize="0"/>
          <p:nvPr/>
        </p:nvPicPr>
        <p:blipFill rotWithShape="1">
          <a:blip r:embed="rId6">
            <a:alphaModFix/>
          </a:blip>
          <a:srcRect b="0" l="0" r="0" t="0"/>
          <a:stretch/>
        </p:blipFill>
        <p:spPr>
          <a:xfrm>
            <a:off x="892969" y="2755702"/>
            <a:ext cx="192881" cy="171450"/>
          </a:xfrm>
          <a:prstGeom prst="rect">
            <a:avLst/>
          </a:prstGeom>
          <a:noFill/>
          <a:ln>
            <a:noFill/>
          </a:ln>
        </p:spPr>
      </p:pic>
      <p:sp>
        <p:nvSpPr>
          <p:cNvPr id="1364" name="Google Shape;1364;p32"/>
          <p:cNvSpPr/>
          <p:nvPr/>
        </p:nvSpPr>
        <p:spPr>
          <a:xfrm>
            <a:off x="1193006" y="2589609"/>
            <a:ext cx="2914650"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Repo-Level Context</a:t>
            </a:r>
            <a:endParaRPr b="0" i="0" sz="784" u="none" cap="none" strike="noStrike">
              <a:solidFill>
                <a:schemeClr val="dk1"/>
              </a:solidFill>
              <a:latin typeface="Calibri"/>
              <a:ea typeface="Calibri"/>
              <a:cs typeface="Calibri"/>
              <a:sym typeface="Calibri"/>
            </a:endParaRPr>
          </a:p>
        </p:txBody>
      </p:sp>
      <p:sp>
        <p:nvSpPr>
          <p:cNvPr id="1365" name="Google Shape;1365;p32"/>
          <p:cNvSpPr/>
          <p:nvPr/>
        </p:nvSpPr>
        <p:spPr>
          <a:xfrm>
            <a:off x="1193006" y="2780705"/>
            <a:ext cx="2845975" cy="15537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CBD5E1"/>
              </a:buClr>
              <a:buSzPts val="834"/>
              <a:buFont typeface="Calibri"/>
              <a:buNone/>
            </a:pPr>
            <a:r>
              <a:rPr b="0" i="0" lang="en-US" sz="834" u="none" cap="none" strike="noStrike">
                <a:solidFill>
                  <a:srgbClr val="CBD5E1"/>
                </a:solidFill>
                <a:latin typeface="Calibri"/>
                <a:ea typeface="Calibri"/>
                <a:cs typeface="Calibri"/>
                <a:sym typeface="Calibri"/>
              </a:rPr>
              <a:t>Agents now understand the entire codebase, not just</a:t>
            </a:r>
            <a:endParaRPr b="0" i="0" sz="834" u="none" cap="none" strike="noStrike">
              <a:solidFill>
                <a:schemeClr val="dk1"/>
              </a:solidFill>
              <a:latin typeface="Calibri"/>
              <a:ea typeface="Calibri"/>
              <a:cs typeface="Calibri"/>
              <a:sym typeface="Calibri"/>
            </a:endParaRPr>
          </a:p>
        </p:txBody>
      </p:sp>
      <p:sp>
        <p:nvSpPr>
          <p:cNvPr id="1366" name="Google Shape;1366;p32"/>
          <p:cNvSpPr/>
          <p:nvPr/>
        </p:nvSpPr>
        <p:spPr>
          <a:xfrm>
            <a:off x="1193006" y="2936081"/>
            <a:ext cx="427369" cy="15537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CBD5E1"/>
              </a:buClr>
              <a:buSzPts val="834"/>
              <a:buFont typeface="Calibri"/>
              <a:buNone/>
            </a:pPr>
            <a:r>
              <a:rPr b="0" i="0" lang="en-US" sz="834" u="none" cap="none" strike="noStrike">
                <a:solidFill>
                  <a:srgbClr val="CBD5E1"/>
                </a:solidFill>
                <a:latin typeface="Calibri"/>
                <a:ea typeface="Calibri"/>
                <a:cs typeface="Calibri"/>
                <a:sym typeface="Calibri"/>
              </a:rPr>
              <a:t>one file.</a:t>
            </a:r>
            <a:endParaRPr b="0" i="0" sz="834" u="none" cap="none" strike="noStrike">
              <a:solidFill>
                <a:schemeClr val="dk1"/>
              </a:solidFill>
              <a:latin typeface="Calibri"/>
              <a:ea typeface="Calibri"/>
              <a:cs typeface="Calibri"/>
              <a:sym typeface="Calibri"/>
            </a:endParaRPr>
          </a:p>
        </p:txBody>
      </p:sp>
      <p:sp>
        <p:nvSpPr>
          <p:cNvPr id="1367" name="Google Shape;1367;p32"/>
          <p:cNvSpPr/>
          <p:nvPr/>
        </p:nvSpPr>
        <p:spPr>
          <a:xfrm>
            <a:off x="785813" y="3305770"/>
            <a:ext cx="3429000" cy="716161"/>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68" name="Google Shape;1368;p32"/>
          <p:cNvPicPr preferRelativeResize="0"/>
          <p:nvPr/>
        </p:nvPicPr>
        <p:blipFill rotWithShape="1">
          <a:blip r:embed="rId7">
            <a:alphaModFix/>
          </a:blip>
          <a:srcRect b="0" l="0" r="0" t="0"/>
          <a:stretch/>
        </p:blipFill>
        <p:spPr>
          <a:xfrm>
            <a:off x="895397" y="3579019"/>
            <a:ext cx="171450" cy="171450"/>
          </a:xfrm>
          <a:prstGeom prst="rect">
            <a:avLst/>
          </a:prstGeom>
          <a:noFill/>
          <a:ln>
            <a:noFill/>
          </a:ln>
        </p:spPr>
      </p:pic>
      <p:sp>
        <p:nvSpPr>
          <p:cNvPr id="1369" name="Google Shape;1369;p32"/>
          <p:cNvSpPr/>
          <p:nvPr/>
        </p:nvSpPr>
        <p:spPr>
          <a:xfrm>
            <a:off x="1176431" y="3412927"/>
            <a:ext cx="2931226"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Agentic IDEs</a:t>
            </a:r>
            <a:endParaRPr b="0" i="0" sz="784" u="none" cap="none" strike="noStrike">
              <a:solidFill>
                <a:schemeClr val="dk1"/>
              </a:solidFill>
              <a:latin typeface="Calibri"/>
              <a:ea typeface="Calibri"/>
              <a:cs typeface="Calibri"/>
              <a:sym typeface="Calibri"/>
            </a:endParaRPr>
          </a:p>
        </p:txBody>
      </p:sp>
      <p:sp>
        <p:nvSpPr>
          <p:cNvPr id="1370" name="Google Shape;1370;p32"/>
          <p:cNvSpPr/>
          <p:nvPr/>
        </p:nvSpPr>
        <p:spPr>
          <a:xfrm>
            <a:off x="1176431" y="3604022"/>
            <a:ext cx="2753051" cy="15537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CBD5E1"/>
              </a:buClr>
              <a:buSzPts val="834"/>
              <a:buFont typeface="Calibri"/>
              <a:buNone/>
            </a:pPr>
            <a:r>
              <a:rPr b="0" i="0" lang="en-US" sz="834" u="none" cap="none" strike="noStrike">
                <a:solidFill>
                  <a:srgbClr val="CBD5E1"/>
                </a:solidFill>
                <a:latin typeface="Calibri"/>
                <a:ea typeface="Calibri"/>
                <a:cs typeface="Calibri"/>
                <a:sym typeface="Calibri"/>
              </a:rPr>
              <a:t>Tools like Cursor/Windsurf integrate agents directly</a:t>
            </a:r>
            <a:endParaRPr b="0" i="0" sz="834" u="none" cap="none" strike="noStrike">
              <a:solidFill>
                <a:schemeClr val="dk1"/>
              </a:solidFill>
              <a:latin typeface="Calibri"/>
              <a:ea typeface="Calibri"/>
              <a:cs typeface="Calibri"/>
              <a:sym typeface="Calibri"/>
            </a:endParaRPr>
          </a:p>
        </p:txBody>
      </p:sp>
      <p:sp>
        <p:nvSpPr>
          <p:cNvPr id="1371" name="Google Shape;1371;p32"/>
          <p:cNvSpPr/>
          <p:nvPr/>
        </p:nvSpPr>
        <p:spPr>
          <a:xfrm>
            <a:off x="1176431" y="3759398"/>
            <a:ext cx="780566" cy="15537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CBD5E1"/>
              </a:buClr>
              <a:buSzPts val="834"/>
              <a:buFont typeface="Calibri"/>
              <a:buNone/>
            </a:pPr>
            <a:r>
              <a:rPr b="0" i="0" lang="en-US" sz="834" u="none" cap="none" strike="noStrike">
                <a:solidFill>
                  <a:srgbClr val="CBD5E1"/>
                </a:solidFill>
                <a:latin typeface="Calibri"/>
                <a:ea typeface="Calibri"/>
                <a:cs typeface="Calibri"/>
                <a:sym typeface="Calibri"/>
              </a:rPr>
              <a:t>into the editor.</a:t>
            </a:r>
            <a:endParaRPr b="0" i="0" sz="834" u="none" cap="none" strike="noStrike">
              <a:solidFill>
                <a:schemeClr val="dk1"/>
              </a:solidFill>
              <a:latin typeface="Calibri"/>
              <a:ea typeface="Calibri"/>
              <a:cs typeface="Calibri"/>
              <a:sym typeface="Calibri"/>
            </a:endParaRPr>
          </a:p>
        </p:txBody>
      </p:sp>
      <p:sp>
        <p:nvSpPr>
          <p:cNvPr id="1372" name="Google Shape;1372;p32"/>
          <p:cNvSpPr/>
          <p:nvPr/>
        </p:nvSpPr>
        <p:spPr>
          <a:xfrm>
            <a:off x="4714875" y="1223367"/>
            <a:ext cx="3857625" cy="3120033"/>
          </a:xfrm>
          <a:prstGeom prst="rect">
            <a:avLst/>
          </a:prstGeom>
          <a:solidFill>
            <a:srgbClr val="1A2A3A"/>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73" name="Google Shape;1373;p32"/>
          <p:cNvPicPr preferRelativeResize="0"/>
          <p:nvPr/>
        </p:nvPicPr>
        <p:blipFill rotWithShape="1">
          <a:blip r:embed="rId8">
            <a:alphaModFix/>
          </a:blip>
          <a:srcRect b="0" l="0" r="0" t="0"/>
          <a:stretch/>
        </p:blipFill>
        <p:spPr>
          <a:xfrm>
            <a:off x="4929188" y="1468934"/>
            <a:ext cx="171450" cy="171450"/>
          </a:xfrm>
          <a:prstGeom prst="rect">
            <a:avLst/>
          </a:prstGeom>
          <a:noFill/>
          <a:ln>
            <a:noFill/>
          </a:ln>
        </p:spPr>
      </p:pic>
      <p:sp>
        <p:nvSpPr>
          <p:cNvPr id="1374" name="Google Shape;1374;p32"/>
          <p:cNvSpPr/>
          <p:nvPr/>
        </p:nvSpPr>
        <p:spPr>
          <a:xfrm>
            <a:off x="5172075" y="1437680"/>
            <a:ext cx="1996204" cy="233958"/>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FFFF"/>
              </a:buClr>
              <a:buSzPts val="1193"/>
              <a:buFont typeface="Calibri"/>
              <a:buNone/>
            </a:pPr>
            <a:r>
              <a:rPr b="1" i="0" lang="en-US" sz="1193" u="none" cap="none" strike="noStrike">
                <a:solidFill>
                  <a:srgbClr val="FFFFFF"/>
                </a:solidFill>
                <a:latin typeface="Calibri"/>
                <a:ea typeface="Calibri"/>
                <a:cs typeface="Calibri"/>
                <a:sym typeface="Calibri"/>
              </a:rPr>
              <a:t>Success Metrics (DORA)</a:t>
            </a:r>
            <a:endParaRPr b="0" i="0" sz="1193" u="none" cap="none" strike="noStrike">
              <a:solidFill>
                <a:schemeClr val="dk1"/>
              </a:solidFill>
              <a:latin typeface="Calibri"/>
              <a:ea typeface="Calibri"/>
              <a:cs typeface="Calibri"/>
              <a:sym typeface="Calibri"/>
            </a:endParaRPr>
          </a:p>
        </p:txBody>
      </p:sp>
      <p:sp>
        <p:nvSpPr>
          <p:cNvPr id="1375" name="Google Shape;1375;p32"/>
          <p:cNvSpPr/>
          <p:nvPr/>
        </p:nvSpPr>
        <p:spPr>
          <a:xfrm>
            <a:off x="4929188" y="1814513"/>
            <a:ext cx="1660922" cy="864394"/>
          </a:xfrm>
          <a:prstGeom prst="rect">
            <a:avLst/>
          </a:prstGeom>
          <a:solidFill>
            <a:srgbClr val="00C853">
              <a:alpha val="10196"/>
            </a:srgbClr>
          </a:solidFill>
          <a:ln cap="flat" cmpd="sng" w="952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2"/>
          <p:cNvSpPr/>
          <p:nvPr/>
        </p:nvSpPr>
        <p:spPr>
          <a:xfrm>
            <a:off x="5036344" y="1921669"/>
            <a:ext cx="1446609" cy="312539"/>
          </a:xfrm>
          <a:prstGeom prst="rect">
            <a:avLst/>
          </a:prstGeom>
          <a:noFill/>
          <a:ln>
            <a:noFill/>
          </a:ln>
        </p:spPr>
        <p:txBody>
          <a:bodyPr anchorCtr="0" anchor="t" bIns="0" lIns="0" spcFirstLastPara="1" rIns="0" wrap="square" tIns="0">
            <a:noAutofit/>
          </a:bodyPr>
          <a:lstStyle/>
          <a:p>
            <a:pPr indent="0" lvl="0" marL="0" marR="0" rtl="0" algn="ctr">
              <a:lnSpc>
                <a:spcPct val="137328"/>
              </a:lnSpc>
              <a:spcBef>
                <a:spcPts val="0"/>
              </a:spcBef>
              <a:spcAft>
                <a:spcPts val="0"/>
              </a:spcAft>
              <a:buClr>
                <a:srgbClr val="00C853"/>
              </a:buClr>
              <a:buSzPts val="1602"/>
              <a:buFont typeface="Calibri"/>
              <a:buNone/>
            </a:pPr>
            <a:r>
              <a:rPr b="1" i="0" lang="en-US" sz="1602" u="none" cap="none" strike="noStrike">
                <a:solidFill>
                  <a:srgbClr val="00C853"/>
                </a:solidFill>
                <a:latin typeface="Calibri"/>
                <a:ea typeface="Calibri"/>
                <a:cs typeface="Calibri"/>
                <a:sym typeface="Calibri"/>
              </a:rPr>
              <a:t>4x</a:t>
            </a:r>
            <a:endParaRPr b="0" i="0" sz="1602" u="none" cap="none" strike="noStrike">
              <a:solidFill>
                <a:schemeClr val="dk1"/>
              </a:solidFill>
              <a:latin typeface="Calibri"/>
              <a:ea typeface="Calibri"/>
              <a:cs typeface="Calibri"/>
              <a:sym typeface="Calibri"/>
            </a:endParaRPr>
          </a:p>
        </p:txBody>
      </p:sp>
      <p:sp>
        <p:nvSpPr>
          <p:cNvPr id="1377" name="Google Shape;1377;p32"/>
          <p:cNvSpPr/>
          <p:nvPr/>
        </p:nvSpPr>
        <p:spPr>
          <a:xfrm>
            <a:off x="5036344" y="2269927"/>
            <a:ext cx="1446609" cy="135731"/>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Deploy Frequency</a:t>
            </a:r>
            <a:endParaRPr b="0" i="0" sz="727" u="none" cap="none" strike="noStrike">
              <a:solidFill>
                <a:schemeClr val="dk1"/>
              </a:solidFill>
              <a:latin typeface="Calibri"/>
              <a:ea typeface="Calibri"/>
              <a:cs typeface="Calibri"/>
              <a:sym typeface="Calibri"/>
            </a:endParaRPr>
          </a:p>
        </p:txBody>
      </p:sp>
      <p:pic>
        <p:nvPicPr>
          <p:cNvPr descr="preencoded.png" id="1378" name="Google Shape;1378;p32"/>
          <p:cNvPicPr preferRelativeResize="0"/>
          <p:nvPr/>
        </p:nvPicPr>
        <p:blipFill rotWithShape="1">
          <a:blip r:embed="rId9">
            <a:alphaModFix/>
          </a:blip>
          <a:srcRect b="0" l="0" r="0" t="0"/>
          <a:stretch/>
        </p:blipFill>
        <p:spPr>
          <a:xfrm>
            <a:off x="5390936" y="2455664"/>
            <a:ext cx="64294" cy="85725"/>
          </a:xfrm>
          <a:prstGeom prst="rect">
            <a:avLst/>
          </a:prstGeom>
          <a:noFill/>
          <a:ln>
            <a:noFill/>
          </a:ln>
        </p:spPr>
      </p:pic>
      <p:sp>
        <p:nvSpPr>
          <p:cNvPr id="1379" name="Google Shape;1379;p32"/>
          <p:cNvSpPr/>
          <p:nvPr/>
        </p:nvSpPr>
        <p:spPr>
          <a:xfrm>
            <a:off x="5455230" y="2441377"/>
            <a:ext cx="673131" cy="116086"/>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00C853"/>
              </a:buClr>
              <a:buSzPts val="621"/>
              <a:buFont typeface="Calibri"/>
              <a:buNone/>
            </a:pPr>
            <a:r>
              <a:rPr b="0" i="0" lang="en-US" sz="621" u="none" cap="none" strike="noStrike">
                <a:solidFill>
                  <a:srgbClr val="00C853"/>
                </a:solidFill>
                <a:latin typeface="Calibri"/>
                <a:ea typeface="Calibri"/>
                <a:cs typeface="Calibri"/>
                <a:sym typeface="Calibri"/>
              </a:rPr>
              <a:t>Elite Performers</a:t>
            </a:r>
            <a:endParaRPr b="0" i="0" sz="621" u="none" cap="none" strike="noStrike">
              <a:solidFill>
                <a:schemeClr val="dk1"/>
              </a:solidFill>
              <a:latin typeface="Calibri"/>
              <a:ea typeface="Calibri"/>
              <a:cs typeface="Calibri"/>
              <a:sym typeface="Calibri"/>
            </a:endParaRPr>
          </a:p>
        </p:txBody>
      </p:sp>
      <p:sp>
        <p:nvSpPr>
          <p:cNvPr id="1380" name="Google Shape;1380;p32"/>
          <p:cNvSpPr/>
          <p:nvPr/>
        </p:nvSpPr>
        <p:spPr>
          <a:xfrm>
            <a:off x="6697266" y="1814513"/>
            <a:ext cx="1660922" cy="864394"/>
          </a:xfrm>
          <a:prstGeom prst="rect">
            <a:avLst/>
          </a:prstGeom>
          <a:solidFill>
            <a:srgbClr val="FF5252">
              <a:alpha val="10196"/>
            </a:srgbClr>
          </a:solidFill>
          <a:ln cap="flat" cmpd="sng" w="952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2"/>
          <p:cNvSpPr/>
          <p:nvPr/>
        </p:nvSpPr>
        <p:spPr>
          <a:xfrm>
            <a:off x="6804422" y="1921669"/>
            <a:ext cx="1446609" cy="312539"/>
          </a:xfrm>
          <a:prstGeom prst="rect">
            <a:avLst/>
          </a:prstGeom>
          <a:noFill/>
          <a:ln>
            <a:noFill/>
          </a:ln>
        </p:spPr>
        <p:txBody>
          <a:bodyPr anchorCtr="0" anchor="t" bIns="0" lIns="0" spcFirstLastPara="1" rIns="0" wrap="square" tIns="0">
            <a:noAutofit/>
          </a:bodyPr>
          <a:lstStyle/>
          <a:p>
            <a:pPr indent="0" lvl="0" marL="0" marR="0" rtl="0" algn="ctr">
              <a:lnSpc>
                <a:spcPct val="137328"/>
              </a:lnSpc>
              <a:spcBef>
                <a:spcPts val="0"/>
              </a:spcBef>
              <a:spcAft>
                <a:spcPts val="0"/>
              </a:spcAft>
              <a:buClr>
                <a:srgbClr val="FF5252"/>
              </a:buClr>
              <a:buSzPts val="1602"/>
              <a:buFont typeface="Calibri"/>
              <a:buNone/>
            </a:pPr>
            <a:r>
              <a:rPr b="1" i="0" lang="en-US" sz="1602" u="none" cap="none" strike="noStrike">
                <a:solidFill>
                  <a:srgbClr val="FF5252"/>
                </a:solidFill>
                <a:latin typeface="Calibri"/>
                <a:ea typeface="Calibri"/>
                <a:cs typeface="Calibri"/>
                <a:sym typeface="Calibri"/>
              </a:rPr>
              <a:t>-60%</a:t>
            </a:r>
            <a:endParaRPr b="0" i="0" sz="1602" u="none" cap="none" strike="noStrike">
              <a:solidFill>
                <a:schemeClr val="dk1"/>
              </a:solidFill>
              <a:latin typeface="Calibri"/>
              <a:ea typeface="Calibri"/>
              <a:cs typeface="Calibri"/>
              <a:sym typeface="Calibri"/>
            </a:endParaRPr>
          </a:p>
        </p:txBody>
      </p:sp>
      <p:sp>
        <p:nvSpPr>
          <p:cNvPr id="1382" name="Google Shape;1382;p32"/>
          <p:cNvSpPr/>
          <p:nvPr/>
        </p:nvSpPr>
        <p:spPr>
          <a:xfrm>
            <a:off x="6804422" y="2269927"/>
            <a:ext cx="1446609" cy="135731"/>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Change Failure Rate</a:t>
            </a:r>
            <a:endParaRPr b="0" i="0" sz="727" u="none" cap="none" strike="noStrike">
              <a:solidFill>
                <a:schemeClr val="dk1"/>
              </a:solidFill>
              <a:latin typeface="Calibri"/>
              <a:ea typeface="Calibri"/>
              <a:cs typeface="Calibri"/>
              <a:sym typeface="Calibri"/>
            </a:endParaRPr>
          </a:p>
        </p:txBody>
      </p:sp>
      <p:pic>
        <p:nvPicPr>
          <p:cNvPr descr="preencoded.png" id="1383" name="Google Shape;1383;p32"/>
          <p:cNvPicPr preferRelativeResize="0"/>
          <p:nvPr/>
        </p:nvPicPr>
        <p:blipFill rotWithShape="1">
          <a:blip r:embed="rId10">
            <a:alphaModFix/>
          </a:blip>
          <a:srcRect b="0" l="0" r="0" t="0"/>
          <a:stretch/>
        </p:blipFill>
        <p:spPr>
          <a:xfrm>
            <a:off x="7250906" y="2455664"/>
            <a:ext cx="64294" cy="85725"/>
          </a:xfrm>
          <a:prstGeom prst="rect">
            <a:avLst/>
          </a:prstGeom>
          <a:noFill/>
          <a:ln>
            <a:noFill/>
          </a:ln>
        </p:spPr>
      </p:pic>
      <p:sp>
        <p:nvSpPr>
          <p:cNvPr id="1384" name="Google Shape;1384;p32"/>
          <p:cNvSpPr/>
          <p:nvPr/>
        </p:nvSpPr>
        <p:spPr>
          <a:xfrm>
            <a:off x="7315200" y="2441377"/>
            <a:ext cx="489347" cy="116086"/>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FF5252"/>
              </a:buClr>
              <a:buSzPts val="621"/>
              <a:buFont typeface="Calibri"/>
              <a:buNone/>
            </a:pPr>
            <a:r>
              <a:rPr b="0" i="0" lang="en-US" sz="621" u="none" cap="none" strike="noStrike">
                <a:solidFill>
                  <a:srgbClr val="FF5252"/>
                </a:solidFill>
                <a:latin typeface="Calibri"/>
                <a:ea typeface="Calibri"/>
                <a:cs typeface="Calibri"/>
                <a:sym typeface="Calibri"/>
              </a:rPr>
              <a:t>Fewer Bugs</a:t>
            </a:r>
            <a:endParaRPr b="0" i="0" sz="621" u="none" cap="none" strike="noStrike">
              <a:solidFill>
                <a:schemeClr val="dk1"/>
              </a:solidFill>
              <a:latin typeface="Calibri"/>
              <a:ea typeface="Calibri"/>
              <a:cs typeface="Calibri"/>
              <a:sym typeface="Calibri"/>
            </a:endParaRPr>
          </a:p>
        </p:txBody>
      </p:sp>
      <p:sp>
        <p:nvSpPr>
          <p:cNvPr id="1385" name="Google Shape;1385;p32"/>
          <p:cNvSpPr/>
          <p:nvPr/>
        </p:nvSpPr>
        <p:spPr>
          <a:xfrm>
            <a:off x="4929188" y="2771775"/>
            <a:ext cx="1660922" cy="864394"/>
          </a:xfrm>
          <a:prstGeom prst="rect">
            <a:avLst/>
          </a:prstGeom>
          <a:solidFill>
            <a:srgbClr val="00C853">
              <a:alpha val="10196"/>
            </a:srgbClr>
          </a:solidFill>
          <a:ln cap="flat" cmpd="sng" w="952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32"/>
          <p:cNvSpPr/>
          <p:nvPr/>
        </p:nvSpPr>
        <p:spPr>
          <a:xfrm>
            <a:off x="5036344" y="2878931"/>
            <a:ext cx="1446609" cy="312539"/>
          </a:xfrm>
          <a:prstGeom prst="rect">
            <a:avLst/>
          </a:prstGeom>
          <a:noFill/>
          <a:ln>
            <a:noFill/>
          </a:ln>
        </p:spPr>
        <p:txBody>
          <a:bodyPr anchorCtr="0" anchor="t" bIns="0" lIns="0" spcFirstLastPara="1" rIns="0" wrap="square" tIns="0">
            <a:noAutofit/>
          </a:bodyPr>
          <a:lstStyle/>
          <a:p>
            <a:pPr indent="0" lvl="0" marL="0" marR="0" rtl="0" algn="ctr">
              <a:lnSpc>
                <a:spcPct val="137328"/>
              </a:lnSpc>
              <a:spcBef>
                <a:spcPts val="0"/>
              </a:spcBef>
              <a:spcAft>
                <a:spcPts val="0"/>
              </a:spcAft>
              <a:buClr>
                <a:srgbClr val="00C853"/>
              </a:buClr>
              <a:buSzPts val="1602"/>
              <a:buFont typeface="Calibri"/>
              <a:buNone/>
            </a:pPr>
            <a:r>
              <a:rPr b="1" i="0" lang="en-US" sz="1602" u="none" cap="none" strike="noStrike">
                <a:solidFill>
                  <a:srgbClr val="00C853"/>
                </a:solidFill>
                <a:latin typeface="Calibri"/>
                <a:ea typeface="Calibri"/>
                <a:cs typeface="Calibri"/>
                <a:sym typeface="Calibri"/>
              </a:rPr>
              <a:t>80%</a:t>
            </a:r>
            <a:endParaRPr b="0" i="0" sz="1602" u="none" cap="none" strike="noStrike">
              <a:solidFill>
                <a:schemeClr val="dk1"/>
              </a:solidFill>
              <a:latin typeface="Calibri"/>
              <a:ea typeface="Calibri"/>
              <a:cs typeface="Calibri"/>
              <a:sym typeface="Calibri"/>
            </a:endParaRPr>
          </a:p>
        </p:txBody>
      </p:sp>
      <p:sp>
        <p:nvSpPr>
          <p:cNvPr id="1387" name="Google Shape;1387;p32"/>
          <p:cNvSpPr/>
          <p:nvPr/>
        </p:nvSpPr>
        <p:spPr>
          <a:xfrm>
            <a:off x="5036344" y="3227189"/>
            <a:ext cx="1446609" cy="135731"/>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Code Generated</a:t>
            </a:r>
            <a:endParaRPr b="0" i="0" sz="727" u="none" cap="none" strike="noStrike">
              <a:solidFill>
                <a:schemeClr val="dk1"/>
              </a:solidFill>
              <a:latin typeface="Calibri"/>
              <a:ea typeface="Calibri"/>
              <a:cs typeface="Calibri"/>
              <a:sym typeface="Calibri"/>
            </a:endParaRPr>
          </a:p>
        </p:txBody>
      </p:sp>
      <p:pic>
        <p:nvPicPr>
          <p:cNvPr descr="preencoded.png" id="1388" name="Google Shape;1388;p32"/>
          <p:cNvPicPr preferRelativeResize="0"/>
          <p:nvPr/>
        </p:nvPicPr>
        <p:blipFill rotWithShape="1">
          <a:blip r:embed="rId11">
            <a:alphaModFix/>
          </a:blip>
          <a:srcRect b="0" l="0" r="0" t="0"/>
          <a:stretch/>
        </p:blipFill>
        <p:spPr>
          <a:xfrm>
            <a:off x="5386304" y="3412927"/>
            <a:ext cx="107156" cy="85725"/>
          </a:xfrm>
          <a:prstGeom prst="rect">
            <a:avLst/>
          </a:prstGeom>
          <a:noFill/>
          <a:ln>
            <a:noFill/>
          </a:ln>
        </p:spPr>
      </p:pic>
      <p:sp>
        <p:nvSpPr>
          <p:cNvPr id="1389" name="Google Shape;1389;p32"/>
          <p:cNvSpPr/>
          <p:nvPr/>
        </p:nvSpPr>
        <p:spPr>
          <a:xfrm>
            <a:off x="5493460" y="3398639"/>
            <a:ext cx="639533" cy="116086"/>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00C853"/>
              </a:buClr>
              <a:buSzPts val="621"/>
              <a:buFont typeface="Calibri"/>
              <a:buNone/>
            </a:pPr>
            <a:r>
              <a:rPr b="0" i="0" lang="en-US" sz="621" u="none" cap="none" strike="noStrike">
                <a:solidFill>
                  <a:srgbClr val="00C853"/>
                </a:solidFill>
                <a:latin typeface="Calibri"/>
                <a:ea typeface="Calibri"/>
                <a:cs typeface="Calibri"/>
                <a:sym typeface="Calibri"/>
              </a:rPr>
              <a:t>AI Contribution</a:t>
            </a:r>
            <a:endParaRPr b="0" i="0" sz="621" u="none" cap="none" strike="noStrike">
              <a:solidFill>
                <a:schemeClr val="dk1"/>
              </a:solidFill>
              <a:latin typeface="Calibri"/>
              <a:ea typeface="Calibri"/>
              <a:cs typeface="Calibri"/>
              <a:sym typeface="Calibri"/>
            </a:endParaRPr>
          </a:p>
        </p:txBody>
      </p:sp>
      <p:sp>
        <p:nvSpPr>
          <p:cNvPr id="1390" name="Google Shape;1390;p32"/>
          <p:cNvSpPr/>
          <p:nvPr/>
        </p:nvSpPr>
        <p:spPr>
          <a:xfrm>
            <a:off x="6697266" y="2771775"/>
            <a:ext cx="1660922" cy="864394"/>
          </a:xfrm>
          <a:prstGeom prst="rect">
            <a:avLst/>
          </a:prstGeom>
          <a:solidFill>
            <a:srgbClr val="00C853">
              <a:alpha val="10196"/>
            </a:srgbClr>
          </a:solidFill>
          <a:ln cap="flat" cmpd="sng" w="952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32"/>
          <p:cNvSpPr/>
          <p:nvPr/>
        </p:nvSpPr>
        <p:spPr>
          <a:xfrm>
            <a:off x="6804422" y="2878931"/>
            <a:ext cx="1446609" cy="312539"/>
          </a:xfrm>
          <a:prstGeom prst="rect">
            <a:avLst/>
          </a:prstGeom>
          <a:noFill/>
          <a:ln>
            <a:noFill/>
          </a:ln>
        </p:spPr>
        <p:txBody>
          <a:bodyPr anchorCtr="0" anchor="t" bIns="0" lIns="0" spcFirstLastPara="1" rIns="0" wrap="square" tIns="0">
            <a:noAutofit/>
          </a:bodyPr>
          <a:lstStyle/>
          <a:p>
            <a:pPr indent="0" lvl="0" marL="0" marR="0" rtl="0" algn="ctr">
              <a:lnSpc>
                <a:spcPct val="137328"/>
              </a:lnSpc>
              <a:spcBef>
                <a:spcPts val="0"/>
              </a:spcBef>
              <a:spcAft>
                <a:spcPts val="0"/>
              </a:spcAft>
              <a:buClr>
                <a:srgbClr val="00C853"/>
              </a:buClr>
              <a:buSzPts val="1602"/>
              <a:buFont typeface="Calibri"/>
              <a:buNone/>
            </a:pPr>
            <a:r>
              <a:rPr b="1" i="0" lang="en-US" sz="1602" u="none" cap="none" strike="noStrike">
                <a:solidFill>
                  <a:srgbClr val="00C853"/>
                </a:solidFill>
                <a:latin typeface="Calibri"/>
                <a:ea typeface="Calibri"/>
                <a:cs typeface="Calibri"/>
                <a:sym typeface="Calibri"/>
              </a:rPr>
              <a:t>2x</a:t>
            </a:r>
            <a:endParaRPr b="0" i="0" sz="1602" u="none" cap="none" strike="noStrike">
              <a:solidFill>
                <a:schemeClr val="dk1"/>
              </a:solidFill>
              <a:latin typeface="Calibri"/>
              <a:ea typeface="Calibri"/>
              <a:cs typeface="Calibri"/>
              <a:sym typeface="Calibri"/>
            </a:endParaRPr>
          </a:p>
        </p:txBody>
      </p:sp>
      <p:sp>
        <p:nvSpPr>
          <p:cNvPr id="1392" name="Google Shape;1392;p32"/>
          <p:cNvSpPr/>
          <p:nvPr/>
        </p:nvSpPr>
        <p:spPr>
          <a:xfrm>
            <a:off x="6804422" y="3227189"/>
            <a:ext cx="1446609" cy="135731"/>
          </a:xfrm>
          <a:prstGeom prst="rect">
            <a:avLst/>
          </a:prstGeom>
          <a:noFill/>
          <a:ln>
            <a:noFill/>
          </a:ln>
        </p:spPr>
        <p:txBody>
          <a:bodyPr anchorCtr="0" anchor="t" bIns="0" lIns="0" spcFirstLastPara="1" rIns="0" wrap="square" tIns="0">
            <a:noAutofit/>
          </a:bodyPr>
          <a:lstStyle/>
          <a:p>
            <a:pPr indent="0" lvl="0" marL="0" marR="0" rtl="0" algn="ctr">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Dev Satisfaction</a:t>
            </a:r>
            <a:endParaRPr b="0" i="0" sz="727" u="none" cap="none" strike="noStrike">
              <a:solidFill>
                <a:schemeClr val="dk1"/>
              </a:solidFill>
              <a:latin typeface="Calibri"/>
              <a:ea typeface="Calibri"/>
              <a:cs typeface="Calibri"/>
              <a:sym typeface="Calibri"/>
            </a:endParaRPr>
          </a:p>
        </p:txBody>
      </p:sp>
      <p:pic>
        <p:nvPicPr>
          <p:cNvPr descr="preencoded.png" id="1393" name="Google Shape;1393;p32"/>
          <p:cNvPicPr preferRelativeResize="0"/>
          <p:nvPr/>
        </p:nvPicPr>
        <p:blipFill rotWithShape="1">
          <a:blip r:embed="rId12">
            <a:alphaModFix/>
          </a:blip>
          <a:srcRect b="0" l="0" r="0" t="0"/>
          <a:stretch/>
        </p:blipFill>
        <p:spPr>
          <a:xfrm>
            <a:off x="7155973" y="3412927"/>
            <a:ext cx="85725" cy="85725"/>
          </a:xfrm>
          <a:prstGeom prst="rect">
            <a:avLst/>
          </a:prstGeom>
          <a:noFill/>
          <a:ln>
            <a:noFill/>
          </a:ln>
        </p:spPr>
      </p:pic>
      <p:sp>
        <p:nvSpPr>
          <p:cNvPr id="1394" name="Google Shape;1394;p32"/>
          <p:cNvSpPr/>
          <p:nvPr/>
        </p:nvSpPr>
        <p:spPr>
          <a:xfrm>
            <a:off x="7241698" y="3398639"/>
            <a:ext cx="657783" cy="116086"/>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00C853"/>
              </a:buClr>
              <a:buSzPts val="621"/>
              <a:buFont typeface="Calibri"/>
              <a:buNone/>
            </a:pPr>
            <a:r>
              <a:rPr b="0" i="0" lang="en-US" sz="621" u="none" cap="none" strike="noStrike">
                <a:solidFill>
                  <a:srgbClr val="00C853"/>
                </a:solidFill>
                <a:latin typeface="Calibri"/>
                <a:ea typeface="Calibri"/>
                <a:cs typeface="Calibri"/>
                <a:sym typeface="Calibri"/>
              </a:rPr>
              <a:t>Less Boilerplate</a:t>
            </a:r>
            <a:endParaRPr b="0" i="0" sz="621" u="none" cap="none" strike="noStrike">
              <a:solidFill>
                <a:schemeClr val="dk1"/>
              </a:solidFill>
              <a:latin typeface="Calibri"/>
              <a:ea typeface="Calibri"/>
              <a:cs typeface="Calibri"/>
              <a:sym typeface="Calibri"/>
            </a:endParaRPr>
          </a:p>
        </p:txBody>
      </p:sp>
      <p:sp>
        <p:nvSpPr>
          <p:cNvPr id="1395" name="Google Shape;1395;p32"/>
          <p:cNvSpPr/>
          <p:nvPr/>
        </p:nvSpPr>
        <p:spPr>
          <a:xfrm>
            <a:off x="571500" y="4557713"/>
            <a:ext cx="8001000" cy="403622"/>
          </a:xfrm>
          <a:prstGeom prst="rect">
            <a:avLst/>
          </a:prstGeom>
          <a:solidFill>
            <a:srgbClr val="FF9800">
              <a:alpha val="10196"/>
            </a:srgbClr>
          </a:solidFill>
          <a:ln cap="flat" cmpd="sng" w="9525">
            <a:solidFill>
              <a:srgbClr val="FF9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2"/>
          <p:cNvSpPr/>
          <p:nvPr/>
        </p:nvSpPr>
        <p:spPr>
          <a:xfrm>
            <a:off x="571500" y="4557713"/>
            <a:ext cx="8001000" cy="403622"/>
          </a:xfrm>
          <a:prstGeom prst="rect">
            <a:avLst/>
          </a:prstGeom>
          <a:noFill/>
          <a:ln>
            <a:noFill/>
          </a:ln>
        </p:spPr>
        <p:txBody>
          <a:bodyPr anchorCtr="0" anchor="t" bIns="127500" lIns="127500" spcFirstLastPara="1" rIns="127500" wrap="square" tIns="127500">
            <a:noAutofit/>
          </a:bodyPr>
          <a:lstStyle/>
          <a:p>
            <a:pPr indent="0" lvl="0" marL="0" marR="0" rtl="0" algn="ctr">
              <a:lnSpc>
                <a:spcPct val="127388"/>
              </a:lnSpc>
              <a:spcBef>
                <a:spcPts val="0"/>
              </a:spcBef>
              <a:spcAft>
                <a:spcPts val="0"/>
              </a:spcAft>
              <a:buClr>
                <a:srgbClr val="FFFFFF"/>
              </a:buClr>
              <a:buSzPts val="942"/>
              <a:buFont typeface="Calibri"/>
              <a:buNone/>
            </a:pPr>
            <a:r>
              <a:rPr b="0" i="0" lang="en-US" sz="942" u="none" cap="none" strike="noStrike">
                <a:solidFill>
                  <a:srgbClr val="FFFFFF"/>
                </a:solidFill>
                <a:latin typeface="Calibri"/>
                <a:ea typeface="Calibri"/>
                <a:cs typeface="Calibri"/>
                <a:sym typeface="Calibri"/>
              </a:rPr>
              <a:t>"Measure what matters: </a:t>
            </a:r>
            <a:r>
              <a:rPr b="1" i="0" lang="en-US" sz="885" u="none" cap="none" strike="noStrike">
                <a:solidFill>
                  <a:srgbClr val="FFFFFF"/>
                </a:solidFill>
                <a:latin typeface="Calibri"/>
                <a:ea typeface="Calibri"/>
                <a:cs typeface="Calibri"/>
                <a:sym typeface="Calibri"/>
              </a:rPr>
              <a:t>Velocity</a:t>
            </a:r>
            <a:r>
              <a:rPr b="0" i="0" lang="en-US" sz="942" u="none" cap="none" strike="noStrike">
                <a:solidFill>
                  <a:srgbClr val="FFFFFF"/>
                </a:solidFill>
                <a:latin typeface="Calibri"/>
                <a:ea typeface="Calibri"/>
                <a:cs typeface="Calibri"/>
                <a:sym typeface="Calibri"/>
              </a:rPr>
              <a:t> and </a:t>
            </a:r>
            <a:r>
              <a:rPr b="1" i="0" lang="en-US" sz="885" u="none" cap="none" strike="noStrike">
                <a:solidFill>
                  <a:srgbClr val="FFFFFF"/>
                </a:solidFill>
                <a:latin typeface="Calibri"/>
                <a:ea typeface="Calibri"/>
                <a:cs typeface="Calibri"/>
                <a:sym typeface="Calibri"/>
              </a:rPr>
              <a:t>Stability</a:t>
            </a:r>
            <a:r>
              <a:rPr b="0" i="0" lang="en-US" sz="942" u="none" cap="none" strike="noStrike">
                <a:solidFill>
                  <a:srgbClr val="FFFFFF"/>
                </a:solidFill>
                <a:latin typeface="Calibri"/>
                <a:ea typeface="Calibri"/>
                <a:cs typeface="Calibri"/>
                <a:sym typeface="Calibri"/>
              </a:rPr>
              <a:t>. AI improves both."</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pic>
        <p:nvPicPr>
          <p:cNvPr descr="preencoded.png" id="1402" name="Google Shape;1402;p33"/>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1403" name="Google Shape;1403;p33"/>
          <p:cNvPicPr preferRelativeResize="0"/>
          <p:nvPr/>
        </p:nvPicPr>
        <p:blipFill rotWithShape="1">
          <a:blip r:embed="rId4">
            <a:alphaModFix/>
          </a:blip>
          <a:srcRect b="0" l="0" r="0" t="0"/>
          <a:stretch/>
        </p:blipFill>
        <p:spPr>
          <a:xfrm>
            <a:off x="2946797" y="579034"/>
            <a:ext cx="857250" cy="857250"/>
          </a:xfrm>
          <a:prstGeom prst="rect">
            <a:avLst/>
          </a:prstGeom>
          <a:noFill/>
          <a:ln>
            <a:noFill/>
          </a:ln>
        </p:spPr>
      </p:pic>
      <p:pic>
        <p:nvPicPr>
          <p:cNvPr descr="preencoded.png" id="1404" name="Google Shape;1404;p33"/>
          <p:cNvPicPr preferRelativeResize="0"/>
          <p:nvPr/>
        </p:nvPicPr>
        <p:blipFill rotWithShape="1">
          <a:blip r:embed="rId5">
            <a:alphaModFix/>
          </a:blip>
          <a:srcRect b="0" l="0" r="0" t="0"/>
          <a:stretch/>
        </p:blipFill>
        <p:spPr>
          <a:xfrm>
            <a:off x="4089797" y="579034"/>
            <a:ext cx="1071563" cy="857250"/>
          </a:xfrm>
          <a:prstGeom prst="rect">
            <a:avLst/>
          </a:prstGeom>
          <a:noFill/>
          <a:ln>
            <a:noFill/>
          </a:ln>
        </p:spPr>
      </p:pic>
      <p:pic>
        <p:nvPicPr>
          <p:cNvPr descr="preencoded.png" id="1405" name="Google Shape;1405;p33"/>
          <p:cNvPicPr preferRelativeResize="0"/>
          <p:nvPr/>
        </p:nvPicPr>
        <p:blipFill rotWithShape="1">
          <a:blip r:embed="rId6">
            <a:alphaModFix/>
          </a:blip>
          <a:srcRect b="0" l="0" r="0" t="0"/>
          <a:stretch/>
        </p:blipFill>
        <p:spPr>
          <a:xfrm>
            <a:off x="5447109" y="579034"/>
            <a:ext cx="750094" cy="857250"/>
          </a:xfrm>
          <a:prstGeom prst="rect">
            <a:avLst/>
          </a:prstGeom>
          <a:noFill/>
          <a:ln>
            <a:noFill/>
          </a:ln>
        </p:spPr>
      </p:pic>
      <p:sp>
        <p:nvSpPr>
          <p:cNvPr id="1406" name="Google Shape;1406;p33"/>
          <p:cNvSpPr/>
          <p:nvPr/>
        </p:nvSpPr>
        <p:spPr>
          <a:xfrm>
            <a:off x="1357313" y="1864909"/>
            <a:ext cx="6429300" cy="1645800"/>
          </a:xfrm>
          <a:prstGeom prst="rect">
            <a:avLst/>
          </a:prstGeom>
          <a:noFill/>
          <a:ln>
            <a:noFill/>
          </a:ln>
        </p:spPr>
        <p:txBody>
          <a:bodyPr anchorCtr="0" anchor="t" bIns="0" lIns="0" spcFirstLastPara="1" rIns="0" wrap="square" tIns="0">
            <a:noAutofit/>
          </a:bodyPr>
          <a:lstStyle/>
          <a:p>
            <a:pPr indent="0" lvl="0" marL="0" marR="0" rtl="0" algn="ctr">
              <a:lnSpc>
                <a:spcPct val="130580"/>
              </a:lnSpc>
              <a:spcBef>
                <a:spcPts val="0"/>
              </a:spcBef>
              <a:spcAft>
                <a:spcPts val="0"/>
              </a:spcAft>
              <a:buClr>
                <a:srgbClr val="FFFFFF"/>
              </a:buClr>
              <a:buSzPts val="3293"/>
              <a:buFont typeface="Calibri"/>
              <a:buNone/>
            </a:pPr>
            <a:r>
              <a:rPr b="1" lang="en-US" sz="3293">
                <a:solidFill>
                  <a:srgbClr val="FFFFFF"/>
                </a:solidFill>
                <a:latin typeface="Calibri"/>
                <a:ea typeface="Calibri"/>
                <a:cs typeface="Calibri"/>
                <a:sym typeface="Calibri"/>
              </a:rPr>
              <a:t>Thank you</a:t>
            </a:r>
            <a:endParaRPr b="0" i="0" sz="3293" u="none" cap="none" strike="noStrike">
              <a:solidFill>
                <a:schemeClr val="dk1"/>
              </a:solidFill>
              <a:latin typeface="Calibri"/>
              <a:ea typeface="Calibri"/>
              <a:cs typeface="Calibri"/>
              <a:sym typeface="Calibri"/>
            </a:endParaRPr>
          </a:p>
        </p:txBody>
      </p:sp>
      <p:sp>
        <p:nvSpPr>
          <p:cNvPr id="1407" name="Google Shape;1407;p33"/>
          <p:cNvSpPr/>
          <p:nvPr/>
        </p:nvSpPr>
        <p:spPr>
          <a:xfrm>
            <a:off x="1357313" y="3653637"/>
            <a:ext cx="6429300" cy="625200"/>
          </a:xfrm>
          <a:prstGeom prst="rect">
            <a:avLst/>
          </a:prstGeom>
          <a:noFill/>
          <a:ln>
            <a:noFill/>
          </a:ln>
        </p:spPr>
        <p:txBody>
          <a:bodyPr anchorCtr="0" anchor="t" bIns="0" lIns="0" spcFirstLastPara="1" rIns="0" wrap="square" tIns="0">
            <a:noAutofit/>
          </a:bodyPr>
          <a:lstStyle/>
          <a:p>
            <a:pPr indent="0" lvl="0" marL="0" marR="0" rtl="0" algn="ctr">
              <a:lnSpc>
                <a:spcPct val="129108"/>
              </a:lnSpc>
              <a:spcBef>
                <a:spcPts val="0"/>
              </a:spcBef>
              <a:spcAft>
                <a:spcPts val="0"/>
              </a:spcAft>
              <a:buClr>
                <a:srgbClr val="00BFFF"/>
              </a:buClr>
              <a:buSzPts val="1704"/>
              <a:buFont typeface="Calibri"/>
              <a:buNone/>
            </a:pPr>
            <a:r>
              <a:rPr lang="en-US" sz="1704">
                <a:solidFill>
                  <a:srgbClr val="00BFFF"/>
                </a:solidFill>
                <a:latin typeface="Calibri"/>
                <a:ea typeface="Calibri"/>
                <a:cs typeface="Calibri"/>
                <a:sym typeface="Calibri"/>
              </a:rPr>
              <a:t>Questions?</a:t>
            </a:r>
            <a:endParaRPr b="0" i="0" sz="1704"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12" name="Shape 1412"/>
        <p:cNvGrpSpPr/>
        <p:nvPr/>
      </p:nvGrpSpPr>
      <p:grpSpPr>
        <a:xfrm>
          <a:off x="0" y="0"/>
          <a:ext cx="0" cy="0"/>
          <a:chOff x="0" y="0"/>
          <a:chExt cx="0" cy="0"/>
        </a:xfrm>
      </p:grpSpPr>
      <p:pic>
        <p:nvPicPr>
          <p:cNvPr descr="preencoded.png" id="1413" name="Google Shape;1413;p3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414" name="Google Shape;1414;p34"/>
          <p:cNvSpPr/>
          <p:nvPr/>
        </p:nvSpPr>
        <p:spPr>
          <a:xfrm>
            <a:off x="571500" y="428625"/>
            <a:ext cx="7143750" cy="408980"/>
          </a:xfrm>
          <a:prstGeom prst="rect">
            <a:avLst/>
          </a:prstGeom>
          <a:noFill/>
          <a:ln>
            <a:noFill/>
          </a:ln>
        </p:spPr>
        <p:txBody>
          <a:bodyPr anchorCtr="0" anchor="t" bIns="0" lIns="0" spcFirstLastPara="1" rIns="0" wrap="square" tIns="0">
            <a:noAutofit/>
          </a:bodyPr>
          <a:lstStyle/>
          <a:p>
            <a:pPr indent="0" lvl="0" marL="0" marR="0" rtl="0" algn="l">
              <a:lnSpc>
                <a:spcPct val="132013"/>
              </a:lnSpc>
              <a:spcBef>
                <a:spcPts val="0"/>
              </a:spcBef>
              <a:spcAft>
                <a:spcPts val="0"/>
              </a:spcAft>
              <a:buClr>
                <a:srgbClr val="FFFFFF"/>
              </a:buClr>
              <a:buSzPts val="2121"/>
              <a:buFont typeface="Calibri"/>
              <a:buNone/>
            </a:pPr>
            <a:r>
              <a:rPr b="1" i="0" lang="en-US" sz="2121" u="none" cap="none" strike="noStrike">
                <a:solidFill>
                  <a:srgbClr val="FFFFFF"/>
                </a:solidFill>
                <a:latin typeface="Calibri"/>
                <a:ea typeface="Calibri"/>
                <a:cs typeface="Calibri"/>
                <a:sym typeface="Calibri"/>
              </a:rPr>
              <a:t>The BRD Spine: The Source of Truth</a:t>
            </a:r>
            <a:endParaRPr b="0" i="0" sz="2121" u="none" cap="none" strike="noStrike">
              <a:solidFill>
                <a:schemeClr val="dk1"/>
              </a:solidFill>
              <a:latin typeface="Calibri"/>
              <a:ea typeface="Calibri"/>
              <a:cs typeface="Calibri"/>
              <a:sym typeface="Calibri"/>
            </a:endParaRPr>
          </a:p>
        </p:txBody>
      </p:sp>
      <p:sp>
        <p:nvSpPr>
          <p:cNvPr id="1415" name="Google Shape;1415;p34"/>
          <p:cNvSpPr/>
          <p:nvPr/>
        </p:nvSpPr>
        <p:spPr>
          <a:xfrm>
            <a:off x="2428875" y="1223367"/>
            <a:ext cx="4286250" cy="680442"/>
          </a:xfrm>
          <a:prstGeom prst="rect">
            <a:avLst/>
          </a:prstGeom>
          <a:solidFill>
            <a:srgbClr val="1A2A3A"/>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16" name="Google Shape;1416;p34"/>
          <p:cNvPicPr preferRelativeResize="0"/>
          <p:nvPr/>
        </p:nvPicPr>
        <p:blipFill rotWithShape="1">
          <a:blip r:embed="rId4">
            <a:alphaModFix/>
          </a:blip>
          <a:srcRect b="0" l="0" r="0" t="0"/>
          <a:stretch/>
        </p:blipFill>
        <p:spPr>
          <a:xfrm>
            <a:off x="2786063" y="1437680"/>
            <a:ext cx="285750" cy="228600"/>
          </a:xfrm>
          <a:prstGeom prst="rect">
            <a:avLst/>
          </a:prstGeom>
          <a:noFill/>
          <a:ln>
            <a:noFill/>
          </a:ln>
        </p:spPr>
      </p:pic>
      <p:sp>
        <p:nvSpPr>
          <p:cNvPr id="1417" name="Google Shape;1417;p34"/>
          <p:cNvSpPr/>
          <p:nvPr/>
        </p:nvSpPr>
        <p:spPr>
          <a:xfrm>
            <a:off x="3357563" y="1366242"/>
            <a:ext cx="3071813" cy="194667"/>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Persona</a:t>
            </a:r>
            <a:endParaRPr b="0" i="0" sz="987" u="none" cap="none" strike="noStrike">
              <a:solidFill>
                <a:schemeClr val="dk1"/>
              </a:solidFill>
              <a:latin typeface="Calibri"/>
              <a:ea typeface="Calibri"/>
              <a:cs typeface="Calibri"/>
              <a:sym typeface="Calibri"/>
            </a:endParaRPr>
          </a:p>
        </p:txBody>
      </p:sp>
      <p:sp>
        <p:nvSpPr>
          <p:cNvPr id="1418" name="Google Shape;1418;p34"/>
          <p:cNvSpPr/>
          <p:nvPr/>
        </p:nvSpPr>
        <p:spPr>
          <a:xfrm>
            <a:off x="3357563" y="1596628"/>
            <a:ext cx="3071813"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"As a Premium User..."</a:t>
            </a:r>
            <a:endParaRPr b="0" i="0" sz="727" u="none" cap="none" strike="noStrike">
              <a:solidFill>
                <a:schemeClr val="dk1"/>
              </a:solidFill>
              <a:latin typeface="Calibri"/>
              <a:ea typeface="Calibri"/>
              <a:cs typeface="Calibri"/>
              <a:sym typeface="Calibri"/>
            </a:endParaRPr>
          </a:p>
        </p:txBody>
      </p:sp>
      <p:sp>
        <p:nvSpPr>
          <p:cNvPr id="1419" name="Google Shape;1419;p34"/>
          <p:cNvSpPr/>
          <p:nvPr/>
        </p:nvSpPr>
        <p:spPr>
          <a:xfrm>
            <a:off x="2428875" y="2018109"/>
            <a:ext cx="4286250" cy="680442"/>
          </a:xfrm>
          <a:prstGeom prst="rect">
            <a:avLst/>
          </a:prstGeom>
          <a:solidFill>
            <a:srgbClr val="1A2A3A"/>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20" name="Google Shape;1420;p34"/>
          <p:cNvPicPr preferRelativeResize="0"/>
          <p:nvPr/>
        </p:nvPicPr>
        <p:blipFill rotWithShape="1">
          <a:blip r:embed="rId5">
            <a:alphaModFix/>
          </a:blip>
          <a:srcRect b="0" l="0" r="0" t="0"/>
          <a:stretch/>
        </p:blipFill>
        <p:spPr>
          <a:xfrm>
            <a:off x="2800350" y="2232422"/>
            <a:ext cx="257175" cy="228600"/>
          </a:xfrm>
          <a:prstGeom prst="rect">
            <a:avLst/>
          </a:prstGeom>
          <a:noFill/>
          <a:ln>
            <a:noFill/>
          </a:ln>
        </p:spPr>
      </p:pic>
      <p:sp>
        <p:nvSpPr>
          <p:cNvPr id="1421" name="Google Shape;1421;p34"/>
          <p:cNvSpPr/>
          <p:nvPr/>
        </p:nvSpPr>
        <p:spPr>
          <a:xfrm>
            <a:off x="3357563" y="2160984"/>
            <a:ext cx="3071813" cy="194667"/>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User Story</a:t>
            </a:r>
            <a:endParaRPr b="0" i="0" sz="987" u="none" cap="none" strike="noStrike">
              <a:solidFill>
                <a:schemeClr val="dk1"/>
              </a:solidFill>
              <a:latin typeface="Calibri"/>
              <a:ea typeface="Calibri"/>
              <a:cs typeface="Calibri"/>
              <a:sym typeface="Calibri"/>
            </a:endParaRPr>
          </a:p>
        </p:txBody>
      </p:sp>
      <p:sp>
        <p:nvSpPr>
          <p:cNvPr id="1422" name="Google Shape;1422;p34"/>
          <p:cNvSpPr/>
          <p:nvPr/>
        </p:nvSpPr>
        <p:spPr>
          <a:xfrm>
            <a:off x="3357563" y="2391370"/>
            <a:ext cx="3071813"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"...I want to download reports so I can analyze offline."</a:t>
            </a:r>
            <a:endParaRPr b="0" i="0" sz="727" u="none" cap="none" strike="noStrike">
              <a:solidFill>
                <a:schemeClr val="dk1"/>
              </a:solidFill>
              <a:latin typeface="Calibri"/>
              <a:ea typeface="Calibri"/>
              <a:cs typeface="Calibri"/>
              <a:sym typeface="Calibri"/>
            </a:endParaRPr>
          </a:p>
        </p:txBody>
      </p:sp>
      <p:sp>
        <p:nvSpPr>
          <p:cNvPr id="1423" name="Google Shape;1423;p34"/>
          <p:cNvSpPr/>
          <p:nvPr/>
        </p:nvSpPr>
        <p:spPr>
          <a:xfrm>
            <a:off x="2428875" y="2812852"/>
            <a:ext cx="4286250" cy="680442"/>
          </a:xfrm>
          <a:prstGeom prst="rect">
            <a:avLst/>
          </a:prstGeom>
          <a:solidFill>
            <a:srgbClr val="1A2A3A"/>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24" name="Google Shape;1424;p34"/>
          <p:cNvPicPr preferRelativeResize="0"/>
          <p:nvPr/>
        </p:nvPicPr>
        <p:blipFill rotWithShape="1">
          <a:blip r:embed="rId6">
            <a:alphaModFix/>
          </a:blip>
          <a:srcRect b="0" l="0" r="0" t="0"/>
          <a:stretch/>
        </p:blipFill>
        <p:spPr>
          <a:xfrm>
            <a:off x="2843213" y="3027164"/>
            <a:ext cx="171450" cy="228600"/>
          </a:xfrm>
          <a:prstGeom prst="rect">
            <a:avLst/>
          </a:prstGeom>
          <a:noFill/>
          <a:ln>
            <a:noFill/>
          </a:ln>
        </p:spPr>
      </p:pic>
      <p:sp>
        <p:nvSpPr>
          <p:cNvPr id="1425" name="Google Shape;1425;p34"/>
          <p:cNvSpPr/>
          <p:nvPr/>
        </p:nvSpPr>
        <p:spPr>
          <a:xfrm>
            <a:off x="3357563" y="2955727"/>
            <a:ext cx="3071813" cy="194667"/>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Technical Spec</a:t>
            </a:r>
            <a:endParaRPr b="0" i="0" sz="987" u="none" cap="none" strike="noStrike">
              <a:solidFill>
                <a:schemeClr val="dk1"/>
              </a:solidFill>
              <a:latin typeface="Calibri"/>
              <a:ea typeface="Calibri"/>
              <a:cs typeface="Calibri"/>
              <a:sym typeface="Calibri"/>
            </a:endParaRPr>
          </a:p>
        </p:txBody>
      </p:sp>
      <p:sp>
        <p:nvSpPr>
          <p:cNvPr id="1426" name="Google Shape;1426;p34"/>
          <p:cNvSpPr/>
          <p:nvPr/>
        </p:nvSpPr>
        <p:spPr>
          <a:xfrm>
            <a:off x="3357563" y="3186113"/>
            <a:ext cx="3071813"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"GET /api/v1/reports/download (PDF/CSV)"</a:t>
            </a:r>
            <a:endParaRPr b="0" i="0" sz="727" u="none" cap="none" strike="noStrike">
              <a:solidFill>
                <a:schemeClr val="dk1"/>
              </a:solidFill>
              <a:latin typeface="Calibri"/>
              <a:ea typeface="Calibri"/>
              <a:cs typeface="Calibri"/>
              <a:sym typeface="Calibri"/>
            </a:endParaRPr>
          </a:p>
        </p:txBody>
      </p:sp>
      <p:sp>
        <p:nvSpPr>
          <p:cNvPr id="1427" name="Google Shape;1427;p34"/>
          <p:cNvSpPr/>
          <p:nvPr/>
        </p:nvSpPr>
        <p:spPr>
          <a:xfrm>
            <a:off x="2428875" y="3607594"/>
            <a:ext cx="4286250" cy="680442"/>
          </a:xfrm>
          <a:prstGeom prst="rect">
            <a:avLst/>
          </a:prstGeom>
          <a:solidFill>
            <a:srgbClr val="1A2A3A"/>
          </a:solidFill>
          <a:ln cap="flat" cmpd="sng" w="1827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28" name="Google Shape;1428;p34"/>
          <p:cNvPicPr preferRelativeResize="0"/>
          <p:nvPr/>
        </p:nvPicPr>
        <p:blipFill rotWithShape="1">
          <a:blip r:embed="rId7">
            <a:alphaModFix/>
          </a:blip>
          <a:srcRect b="0" l="0" r="0" t="0"/>
          <a:stretch/>
        </p:blipFill>
        <p:spPr>
          <a:xfrm>
            <a:off x="2786063" y="3821906"/>
            <a:ext cx="285750" cy="228600"/>
          </a:xfrm>
          <a:prstGeom prst="rect">
            <a:avLst/>
          </a:prstGeom>
          <a:noFill/>
          <a:ln>
            <a:noFill/>
          </a:ln>
        </p:spPr>
      </p:pic>
      <p:sp>
        <p:nvSpPr>
          <p:cNvPr id="1429" name="Google Shape;1429;p34"/>
          <p:cNvSpPr/>
          <p:nvPr/>
        </p:nvSpPr>
        <p:spPr>
          <a:xfrm>
            <a:off x="3357563" y="3750469"/>
            <a:ext cx="3071813" cy="194667"/>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Calibri"/>
              <a:buNone/>
            </a:pPr>
            <a:r>
              <a:rPr b="1" i="0" lang="en-US" sz="987" u="none" cap="none" strike="noStrike">
                <a:solidFill>
                  <a:srgbClr val="FFFFFF"/>
                </a:solidFill>
                <a:latin typeface="Calibri"/>
                <a:ea typeface="Calibri"/>
                <a:cs typeface="Calibri"/>
                <a:sym typeface="Calibri"/>
              </a:rPr>
              <a:t>Implementation</a:t>
            </a:r>
            <a:endParaRPr b="0" i="0" sz="987" u="none" cap="none" strike="noStrike">
              <a:solidFill>
                <a:schemeClr val="dk1"/>
              </a:solidFill>
              <a:latin typeface="Calibri"/>
              <a:ea typeface="Calibri"/>
              <a:cs typeface="Calibri"/>
              <a:sym typeface="Calibri"/>
            </a:endParaRPr>
          </a:p>
        </p:txBody>
      </p:sp>
      <p:sp>
        <p:nvSpPr>
          <p:cNvPr id="1430" name="Google Shape;1430;p34"/>
          <p:cNvSpPr/>
          <p:nvPr/>
        </p:nvSpPr>
        <p:spPr>
          <a:xfrm>
            <a:off x="3357563" y="3980855"/>
            <a:ext cx="3071813" cy="135731"/>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CBD5E1"/>
              </a:buClr>
              <a:buSzPts val="727"/>
              <a:buFont typeface="Calibri"/>
              <a:buNone/>
            </a:pPr>
            <a:r>
              <a:rPr b="0" i="0" lang="en-US" sz="727" u="none" cap="none" strike="noStrike">
                <a:solidFill>
                  <a:srgbClr val="CBD5E1"/>
                </a:solidFill>
                <a:latin typeface="Calibri"/>
                <a:ea typeface="Calibri"/>
                <a:cs typeface="Calibri"/>
                <a:sym typeface="Calibri"/>
              </a:rPr>
              <a:t>Python/FastAPI endpoint + Unit Tests</a:t>
            </a:r>
            <a:endParaRPr b="0" i="0" sz="727" u="none" cap="none" strike="noStrike">
              <a:solidFill>
                <a:schemeClr val="dk1"/>
              </a:solidFill>
              <a:latin typeface="Calibri"/>
              <a:ea typeface="Calibri"/>
              <a:cs typeface="Calibri"/>
              <a:sym typeface="Calibri"/>
            </a:endParaRPr>
          </a:p>
        </p:txBody>
      </p:sp>
      <p:sp>
        <p:nvSpPr>
          <p:cNvPr id="1431" name="Google Shape;1431;p34"/>
          <p:cNvSpPr/>
          <p:nvPr/>
        </p:nvSpPr>
        <p:spPr>
          <a:xfrm>
            <a:off x="6429375" y="2397621"/>
            <a:ext cx="2143125" cy="1143000"/>
          </a:xfrm>
          <a:prstGeom prst="rect">
            <a:avLst/>
          </a:prstGeom>
          <a:solidFill>
            <a:srgbClr val="00C853">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34"/>
          <p:cNvSpPr/>
          <p:nvPr/>
        </p:nvSpPr>
        <p:spPr>
          <a:xfrm>
            <a:off x="6429375" y="2397621"/>
            <a:ext cx="28575" cy="1143000"/>
          </a:xfrm>
          <a:prstGeom prst="rect">
            <a:avLst/>
          </a:prstGeom>
          <a:solidFill>
            <a:srgbClr val="00C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34"/>
          <p:cNvSpPr/>
          <p:nvPr/>
        </p:nvSpPr>
        <p:spPr>
          <a:xfrm>
            <a:off x="6572250" y="2540496"/>
            <a:ext cx="1857375" cy="857250"/>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Traceability:</a:t>
            </a:r>
            <a:br>
              <a:rPr b="0" i="0" lang="en-US" sz="834" u="none" cap="none" strike="noStrike">
                <a:solidFill>
                  <a:srgbClr val="FFFFFF"/>
                </a:solidFill>
                <a:latin typeface="Calibri"/>
                <a:ea typeface="Calibri"/>
                <a:cs typeface="Calibri"/>
                <a:sym typeface="Calibri"/>
              </a:rPr>
            </a:br>
            <a:r>
              <a:rPr b="0" i="0" lang="en-US" sz="834" u="none" cap="none" strike="noStrike">
                <a:solidFill>
                  <a:srgbClr val="FFFFFF"/>
                </a:solidFill>
                <a:latin typeface="Calibri"/>
                <a:ea typeface="Calibri"/>
                <a:cs typeface="Calibri"/>
                <a:sym typeface="Calibri"/>
              </a:rPr>
              <a:t> Every line of code is linked back to a specific User Story. If the Story changes, the Agent knows exactly which code to update.</a:t>
            </a:r>
            <a:endParaRPr b="0" i="0" sz="834"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38" name="Shape 1438"/>
        <p:cNvGrpSpPr/>
        <p:nvPr/>
      </p:nvGrpSpPr>
      <p:grpSpPr>
        <a:xfrm>
          <a:off x="0" y="0"/>
          <a:ext cx="0" cy="0"/>
          <a:chOff x="0" y="0"/>
          <a:chExt cx="0" cy="0"/>
        </a:xfrm>
      </p:grpSpPr>
      <p:pic>
        <p:nvPicPr>
          <p:cNvPr descr="preencoded.png" id="1439" name="Google Shape;1439;p3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440" name="Google Shape;1440;p35"/>
          <p:cNvSpPr/>
          <p:nvPr/>
        </p:nvSpPr>
        <p:spPr>
          <a:xfrm>
            <a:off x="500063" y="357188"/>
            <a:ext cx="8143875" cy="369689"/>
          </a:xfrm>
          <a:prstGeom prst="rect">
            <a:avLst/>
          </a:prstGeom>
          <a:noFill/>
          <a:ln>
            <a:noFill/>
          </a:ln>
        </p:spPr>
        <p:txBody>
          <a:bodyPr anchorCtr="0" anchor="t" bIns="0" lIns="0" spcFirstLastPara="1" rIns="0" wrap="square" tIns="0">
            <a:noAutofit/>
          </a:bodyPr>
          <a:lstStyle/>
          <a:p>
            <a:pPr indent="0" lvl="0" marL="0" marR="0" rtl="0" algn="l">
              <a:lnSpc>
                <a:spcPct val="135983"/>
              </a:lnSpc>
              <a:spcBef>
                <a:spcPts val="0"/>
              </a:spcBef>
              <a:spcAft>
                <a:spcPts val="0"/>
              </a:spcAft>
              <a:buClr>
                <a:srgbClr val="FFFFFF"/>
              </a:buClr>
              <a:buSzPts val="1912"/>
              <a:buFont typeface="Calibri"/>
              <a:buNone/>
            </a:pPr>
            <a:r>
              <a:rPr b="1" i="0" lang="en-US" sz="1912" u="none" cap="none" strike="noStrike">
                <a:solidFill>
                  <a:srgbClr val="FFFFFF"/>
                </a:solidFill>
                <a:latin typeface="Calibri"/>
                <a:ea typeface="Calibri"/>
                <a:cs typeface="Calibri"/>
                <a:sym typeface="Calibri"/>
              </a:rPr>
              <a:t>Requirements Phase: The Foundation</a:t>
            </a:r>
            <a:endParaRPr b="0" i="0" sz="1912" u="none" cap="none" strike="noStrike">
              <a:solidFill>
                <a:schemeClr val="dk1"/>
              </a:solidFill>
              <a:latin typeface="Calibri"/>
              <a:ea typeface="Calibri"/>
              <a:cs typeface="Calibri"/>
              <a:sym typeface="Calibri"/>
            </a:endParaRPr>
          </a:p>
        </p:txBody>
      </p:sp>
      <p:sp>
        <p:nvSpPr>
          <p:cNvPr id="1441" name="Google Shape;1441;p35"/>
          <p:cNvSpPr/>
          <p:nvPr/>
        </p:nvSpPr>
        <p:spPr>
          <a:xfrm>
            <a:off x="500063" y="1026914"/>
            <a:ext cx="2488788" cy="219670"/>
          </a:xfrm>
          <a:prstGeom prst="rect">
            <a:avLst/>
          </a:prstGeom>
          <a:noFill/>
          <a:ln>
            <a:noFill/>
          </a:ln>
        </p:spPr>
        <p:txBody>
          <a:bodyPr anchorCtr="0" anchor="t" bIns="68050" lIns="0" spcFirstLastPara="1" rIns="0" wrap="square" tIns="0">
            <a:noAutofit/>
          </a:bodyPr>
          <a:lstStyle/>
          <a:p>
            <a:pPr indent="0" lvl="0" marL="0" marR="0" rtl="0" algn="l">
              <a:lnSpc>
                <a:spcPct val="140306"/>
              </a:lnSpc>
              <a:spcBef>
                <a:spcPts val="0"/>
              </a:spcBef>
              <a:spcAft>
                <a:spcPts val="0"/>
              </a:spcAft>
              <a:buClr>
                <a:srgbClr val="00BFFF"/>
              </a:buClr>
              <a:buSzPts val="784"/>
              <a:buFont typeface="Calibri"/>
              <a:buNone/>
            </a:pPr>
            <a:r>
              <a:rPr b="1" i="0" lang="en-US" sz="784" u="none" cap="none" strike="noStrike">
                <a:solidFill>
                  <a:srgbClr val="00BFFF"/>
                </a:solidFill>
                <a:latin typeface="Calibri"/>
                <a:ea typeface="Calibri"/>
                <a:cs typeface="Calibri"/>
                <a:sym typeface="Calibri"/>
              </a:rPr>
              <a:t>The Squad</a:t>
            </a:r>
            <a:endParaRPr b="0" i="0" sz="784" u="none" cap="none" strike="noStrike">
              <a:solidFill>
                <a:schemeClr val="dk1"/>
              </a:solidFill>
              <a:latin typeface="Calibri"/>
              <a:ea typeface="Calibri"/>
              <a:cs typeface="Calibri"/>
              <a:sym typeface="Calibri"/>
            </a:endParaRPr>
          </a:p>
        </p:txBody>
      </p:sp>
      <p:sp>
        <p:nvSpPr>
          <p:cNvPr id="1442" name="Google Shape;1442;p35"/>
          <p:cNvSpPr/>
          <p:nvPr/>
        </p:nvSpPr>
        <p:spPr>
          <a:xfrm>
            <a:off x="500063" y="1353741"/>
            <a:ext cx="2488788" cy="53220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35"/>
          <p:cNvSpPr/>
          <p:nvPr/>
        </p:nvSpPr>
        <p:spPr>
          <a:xfrm>
            <a:off x="500063" y="1353741"/>
            <a:ext cx="28575" cy="532209"/>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44" name="Google Shape;1444;p35"/>
          <p:cNvPicPr preferRelativeResize="0"/>
          <p:nvPr/>
        </p:nvPicPr>
        <p:blipFill rotWithShape="1">
          <a:blip r:embed="rId4">
            <a:alphaModFix/>
          </a:blip>
          <a:srcRect b="0" l="0" r="0" t="0"/>
          <a:stretch/>
        </p:blipFill>
        <p:spPr>
          <a:xfrm>
            <a:off x="646509" y="1535013"/>
            <a:ext cx="150019" cy="171450"/>
          </a:xfrm>
          <a:prstGeom prst="rect">
            <a:avLst/>
          </a:prstGeom>
          <a:noFill/>
          <a:ln>
            <a:noFill/>
          </a:ln>
        </p:spPr>
      </p:pic>
      <p:sp>
        <p:nvSpPr>
          <p:cNvPr id="1445" name="Google Shape;1445;p35"/>
          <p:cNvSpPr/>
          <p:nvPr/>
        </p:nvSpPr>
        <p:spPr>
          <a:xfrm>
            <a:off x="928688" y="1468041"/>
            <a:ext cx="990414"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Product Manager</a:t>
            </a:r>
            <a:endParaRPr b="0" i="0" sz="784" u="none" cap="none" strike="noStrike">
              <a:solidFill>
                <a:schemeClr val="dk1"/>
              </a:solidFill>
              <a:latin typeface="Calibri"/>
              <a:ea typeface="Calibri"/>
              <a:cs typeface="Calibri"/>
              <a:sym typeface="Calibri"/>
            </a:endParaRPr>
          </a:p>
        </p:txBody>
      </p:sp>
      <p:sp>
        <p:nvSpPr>
          <p:cNvPr id="1446" name="Google Shape;1446;p35"/>
          <p:cNvSpPr/>
          <p:nvPr/>
        </p:nvSpPr>
        <p:spPr>
          <a:xfrm>
            <a:off x="928688" y="1644848"/>
            <a:ext cx="990414"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A0AAB5"/>
              </a:buClr>
              <a:buSzPts val="674"/>
              <a:buFont typeface="Calibri"/>
              <a:buNone/>
            </a:pPr>
            <a:r>
              <a:rPr b="0" i="0" lang="en-US" sz="674" u="none" cap="none" strike="noStrike">
                <a:solidFill>
                  <a:srgbClr val="A0AAB5"/>
                </a:solidFill>
                <a:latin typeface="Calibri"/>
                <a:ea typeface="Calibri"/>
                <a:cs typeface="Calibri"/>
                <a:sym typeface="Calibri"/>
              </a:rPr>
              <a:t>Vision &amp; Roadmap</a:t>
            </a:r>
            <a:endParaRPr b="0" i="0" sz="674" u="none" cap="none" strike="noStrike">
              <a:solidFill>
                <a:schemeClr val="dk1"/>
              </a:solidFill>
              <a:latin typeface="Calibri"/>
              <a:ea typeface="Calibri"/>
              <a:cs typeface="Calibri"/>
              <a:sym typeface="Calibri"/>
            </a:endParaRPr>
          </a:p>
        </p:txBody>
      </p:sp>
      <p:sp>
        <p:nvSpPr>
          <p:cNvPr id="1447" name="Google Shape;1447;p35"/>
          <p:cNvSpPr/>
          <p:nvPr/>
        </p:nvSpPr>
        <p:spPr>
          <a:xfrm>
            <a:off x="500063" y="2000250"/>
            <a:ext cx="2488788" cy="53220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5"/>
          <p:cNvSpPr/>
          <p:nvPr/>
        </p:nvSpPr>
        <p:spPr>
          <a:xfrm>
            <a:off x="500063" y="2000250"/>
            <a:ext cx="28575" cy="532209"/>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49" name="Google Shape;1449;p35"/>
          <p:cNvPicPr preferRelativeResize="0"/>
          <p:nvPr/>
        </p:nvPicPr>
        <p:blipFill rotWithShape="1">
          <a:blip r:embed="rId5">
            <a:alphaModFix/>
          </a:blip>
          <a:srcRect b="0" l="0" r="0" t="0"/>
          <a:stretch/>
        </p:blipFill>
        <p:spPr>
          <a:xfrm>
            <a:off x="635794" y="2181523"/>
            <a:ext cx="171450" cy="171450"/>
          </a:xfrm>
          <a:prstGeom prst="rect">
            <a:avLst/>
          </a:prstGeom>
          <a:noFill/>
          <a:ln>
            <a:noFill/>
          </a:ln>
        </p:spPr>
      </p:pic>
      <p:sp>
        <p:nvSpPr>
          <p:cNvPr id="1450" name="Google Shape;1450;p35"/>
          <p:cNvSpPr/>
          <p:nvPr/>
        </p:nvSpPr>
        <p:spPr>
          <a:xfrm>
            <a:off x="928688" y="2114550"/>
            <a:ext cx="999455"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Business Analyst</a:t>
            </a:r>
            <a:endParaRPr b="0" i="0" sz="784" u="none" cap="none" strike="noStrike">
              <a:solidFill>
                <a:schemeClr val="dk1"/>
              </a:solidFill>
              <a:latin typeface="Calibri"/>
              <a:ea typeface="Calibri"/>
              <a:cs typeface="Calibri"/>
              <a:sym typeface="Calibri"/>
            </a:endParaRPr>
          </a:p>
        </p:txBody>
      </p:sp>
      <p:sp>
        <p:nvSpPr>
          <p:cNvPr id="1451" name="Google Shape;1451;p35"/>
          <p:cNvSpPr/>
          <p:nvPr/>
        </p:nvSpPr>
        <p:spPr>
          <a:xfrm>
            <a:off x="928688" y="2291358"/>
            <a:ext cx="999455"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A0AAB5"/>
              </a:buClr>
              <a:buSzPts val="674"/>
              <a:buFont typeface="Calibri"/>
              <a:buNone/>
            </a:pPr>
            <a:r>
              <a:rPr b="0" i="0" lang="en-US" sz="674" u="none" cap="none" strike="noStrike">
                <a:solidFill>
                  <a:srgbClr val="A0AAB5"/>
                </a:solidFill>
                <a:latin typeface="Calibri"/>
                <a:ea typeface="Calibri"/>
                <a:cs typeface="Calibri"/>
                <a:sym typeface="Calibri"/>
              </a:rPr>
              <a:t>Detailed Requirements</a:t>
            </a:r>
            <a:endParaRPr b="0" i="0" sz="674" u="none" cap="none" strike="noStrike">
              <a:solidFill>
                <a:schemeClr val="dk1"/>
              </a:solidFill>
              <a:latin typeface="Calibri"/>
              <a:ea typeface="Calibri"/>
              <a:cs typeface="Calibri"/>
              <a:sym typeface="Calibri"/>
            </a:endParaRPr>
          </a:p>
        </p:txBody>
      </p:sp>
      <p:sp>
        <p:nvSpPr>
          <p:cNvPr id="1452" name="Google Shape;1452;p35"/>
          <p:cNvSpPr/>
          <p:nvPr/>
        </p:nvSpPr>
        <p:spPr>
          <a:xfrm>
            <a:off x="500063" y="2646759"/>
            <a:ext cx="2488788" cy="53220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35"/>
          <p:cNvSpPr/>
          <p:nvPr/>
        </p:nvSpPr>
        <p:spPr>
          <a:xfrm>
            <a:off x="500063" y="2646759"/>
            <a:ext cx="28575" cy="532209"/>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54" name="Google Shape;1454;p35"/>
          <p:cNvPicPr preferRelativeResize="0"/>
          <p:nvPr/>
        </p:nvPicPr>
        <p:blipFill rotWithShape="1">
          <a:blip r:embed="rId6">
            <a:alphaModFix/>
          </a:blip>
          <a:srcRect b="0" l="0" r="0" t="0"/>
          <a:stretch/>
        </p:blipFill>
        <p:spPr>
          <a:xfrm>
            <a:off x="646509" y="2828032"/>
            <a:ext cx="150019" cy="171450"/>
          </a:xfrm>
          <a:prstGeom prst="rect">
            <a:avLst/>
          </a:prstGeom>
          <a:noFill/>
          <a:ln>
            <a:noFill/>
          </a:ln>
        </p:spPr>
      </p:pic>
      <p:sp>
        <p:nvSpPr>
          <p:cNvPr id="1455" name="Google Shape;1455;p35"/>
          <p:cNvSpPr/>
          <p:nvPr/>
        </p:nvSpPr>
        <p:spPr>
          <a:xfrm>
            <a:off x="928688" y="2761059"/>
            <a:ext cx="987568"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User Story Writer</a:t>
            </a:r>
            <a:endParaRPr b="0" i="0" sz="784" u="none" cap="none" strike="noStrike">
              <a:solidFill>
                <a:schemeClr val="dk1"/>
              </a:solidFill>
              <a:latin typeface="Calibri"/>
              <a:ea typeface="Calibri"/>
              <a:cs typeface="Calibri"/>
              <a:sym typeface="Calibri"/>
            </a:endParaRPr>
          </a:p>
        </p:txBody>
      </p:sp>
      <p:sp>
        <p:nvSpPr>
          <p:cNvPr id="1456" name="Google Shape;1456;p35"/>
          <p:cNvSpPr/>
          <p:nvPr/>
        </p:nvSpPr>
        <p:spPr>
          <a:xfrm>
            <a:off x="928688" y="2937867"/>
            <a:ext cx="987568"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A0AAB5"/>
              </a:buClr>
              <a:buSzPts val="674"/>
              <a:buFont typeface="Calibri"/>
              <a:buNone/>
            </a:pPr>
            <a:r>
              <a:rPr b="0" i="0" lang="en-US" sz="674" u="none" cap="none" strike="noStrike">
                <a:solidFill>
                  <a:srgbClr val="A0AAB5"/>
                </a:solidFill>
                <a:latin typeface="Calibri"/>
                <a:ea typeface="Calibri"/>
                <a:cs typeface="Calibri"/>
                <a:sym typeface="Calibri"/>
              </a:rPr>
              <a:t>Jira / Gherkin Specs</a:t>
            </a:r>
            <a:endParaRPr b="0" i="0" sz="674" u="none" cap="none" strike="noStrike">
              <a:solidFill>
                <a:schemeClr val="dk1"/>
              </a:solidFill>
              <a:latin typeface="Calibri"/>
              <a:ea typeface="Calibri"/>
              <a:cs typeface="Calibri"/>
              <a:sym typeface="Calibri"/>
            </a:endParaRPr>
          </a:p>
        </p:txBody>
      </p:sp>
      <p:sp>
        <p:nvSpPr>
          <p:cNvPr id="1457" name="Google Shape;1457;p35"/>
          <p:cNvSpPr/>
          <p:nvPr/>
        </p:nvSpPr>
        <p:spPr>
          <a:xfrm>
            <a:off x="500063" y="3293269"/>
            <a:ext cx="2488788" cy="53220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35"/>
          <p:cNvSpPr/>
          <p:nvPr/>
        </p:nvSpPr>
        <p:spPr>
          <a:xfrm>
            <a:off x="500063" y="3293269"/>
            <a:ext cx="28575" cy="532209"/>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59" name="Google Shape;1459;p35"/>
          <p:cNvPicPr preferRelativeResize="0"/>
          <p:nvPr/>
        </p:nvPicPr>
        <p:blipFill rotWithShape="1">
          <a:blip r:embed="rId7">
            <a:alphaModFix/>
          </a:blip>
          <a:srcRect b="0" l="0" r="0" t="0"/>
          <a:stretch/>
        </p:blipFill>
        <p:spPr>
          <a:xfrm>
            <a:off x="646509" y="3474541"/>
            <a:ext cx="150019" cy="171450"/>
          </a:xfrm>
          <a:prstGeom prst="rect">
            <a:avLst/>
          </a:prstGeom>
          <a:noFill/>
          <a:ln>
            <a:noFill/>
          </a:ln>
        </p:spPr>
      </p:pic>
      <p:sp>
        <p:nvSpPr>
          <p:cNvPr id="1460" name="Google Shape;1460;p35"/>
          <p:cNvSpPr/>
          <p:nvPr/>
        </p:nvSpPr>
        <p:spPr>
          <a:xfrm>
            <a:off x="928688" y="3407569"/>
            <a:ext cx="877956"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Project Planner</a:t>
            </a:r>
            <a:endParaRPr b="0" i="0" sz="784" u="none" cap="none" strike="noStrike">
              <a:solidFill>
                <a:schemeClr val="dk1"/>
              </a:solidFill>
              <a:latin typeface="Calibri"/>
              <a:ea typeface="Calibri"/>
              <a:cs typeface="Calibri"/>
              <a:sym typeface="Calibri"/>
            </a:endParaRPr>
          </a:p>
        </p:txBody>
      </p:sp>
      <p:sp>
        <p:nvSpPr>
          <p:cNvPr id="1461" name="Google Shape;1461;p35"/>
          <p:cNvSpPr/>
          <p:nvPr/>
        </p:nvSpPr>
        <p:spPr>
          <a:xfrm>
            <a:off x="928688" y="3584377"/>
            <a:ext cx="877956"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A0AAB5"/>
              </a:buClr>
              <a:buSzPts val="674"/>
              <a:buFont typeface="Calibri"/>
              <a:buNone/>
            </a:pPr>
            <a:r>
              <a:rPr b="0" i="0" lang="en-US" sz="674" u="none" cap="none" strike="noStrike">
                <a:solidFill>
                  <a:srgbClr val="A0AAB5"/>
                </a:solidFill>
                <a:latin typeface="Calibri"/>
                <a:ea typeface="Calibri"/>
                <a:cs typeface="Calibri"/>
                <a:sym typeface="Calibri"/>
              </a:rPr>
              <a:t>Timeline &amp; Sprints</a:t>
            </a:r>
            <a:endParaRPr b="0" i="0" sz="674" u="none" cap="none" strike="noStrike">
              <a:solidFill>
                <a:schemeClr val="dk1"/>
              </a:solidFill>
              <a:latin typeface="Calibri"/>
              <a:ea typeface="Calibri"/>
              <a:cs typeface="Calibri"/>
              <a:sym typeface="Calibri"/>
            </a:endParaRPr>
          </a:p>
        </p:txBody>
      </p:sp>
      <p:sp>
        <p:nvSpPr>
          <p:cNvPr id="1462" name="Google Shape;1462;p35"/>
          <p:cNvSpPr/>
          <p:nvPr/>
        </p:nvSpPr>
        <p:spPr>
          <a:xfrm>
            <a:off x="3203163" y="1030486"/>
            <a:ext cx="1258556" cy="173236"/>
          </a:xfrm>
          <a:prstGeom prst="roundRect">
            <a:avLst>
              <a:gd fmla="val 16667" name="adj"/>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63" name="Google Shape;1463;p35"/>
          <p:cNvPicPr preferRelativeResize="0"/>
          <p:nvPr/>
        </p:nvPicPr>
        <p:blipFill rotWithShape="1">
          <a:blip r:embed="rId8">
            <a:alphaModFix/>
          </a:blip>
          <a:srcRect b="0" l="0" r="0" t="0"/>
          <a:stretch/>
        </p:blipFill>
        <p:spPr>
          <a:xfrm>
            <a:off x="3288888" y="1073348"/>
            <a:ext cx="85725" cy="85725"/>
          </a:xfrm>
          <a:prstGeom prst="rect">
            <a:avLst/>
          </a:prstGeom>
          <a:noFill/>
          <a:ln>
            <a:noFill/>
          </a:ln>
        </p:spPr>
      </p:pic>
      <p:sp>
        <p:nvSpPr>
          <p:cNvPr id="1464" name="Google Shape;1464;p35"/>
          <p:cNvSpPr/>
          <p:nvPr/>
        </p:nvSpPr>
        <p:spPr>
          <a:xfrm>
            <a:off x="3374613" y="1059061"/>
            <a:ext cx="1001381" cy="116086"/>
          </a:xfrm>
          <a:prstGeom prst="rect">
            <a:avLst/>
          </a:prstGeom>
          <a:noFill/>
          <a:ln>
            <a:noFill/>
          </a:ln>
        </p:spPr>
        <p:txBody>
          <a:bodyPr anchorCtr="0" anchor="t" bIns="0" lIns="0" spcFirstLastPara="1" rIns="0" wrap="square" tIns="0">
            <a:noAutofit/>
          </a:bodyPr>
          <a:lstStyle/>
          <a:p>
            <a:pPr indent="0" lvl="0" marL="0" marR="0" rtl="0" algn="l">
              <a:lnSpc>
                <a:spcPct val="136986"/>
              </a:lnSpc>
              <a:spcBef>
                <a:spcPts val="0"/>
              </a:spcBef>
              <a:spcAft>
                <a:spcPts val="0"/>
              </a:spcAft>
              <a:buClr>
                <a:srgbClr val="0D1B2E"/>
              </a:buClr>
              <a:buSzPts val="584"/>
              <a:buFont typeface="Calibri"/>
              <a:buNone/>
            </a:pPr>
            <a:r>
              <a:rPr b="1" i="0" lang="en-US" sz="584" u="none" cap="none" strike="noStrike">
                <a:solidFill>
                  <a:srgbClr val="0D1B2E"/>
                </a:solidFill>
                <a:latin typeface="Calibri"/>
                <a:ea typeface="Calibri"/>
                <a:cs typeface="Calibri"/>
                <a:sym typeface="Calibri"/>
              </a:rPr>
              <a:t>Sequential Handoff</a:t>
            </a:r>
            <a:endParaRPr b="0" i="0" sz="584" u="none" cap="none" strike="noStrike">
              <a:solidFill>
                <a:schemeClr val="dk1"/>
              </a:solidFill>
              <a:latin typeface="Calibri"/>
              <a:ea typeface="Calibri"/>
              <a:cs typeface="Calibri"/>
              <a:sym typeface="Calibri"/>
            </a:endParaRPr>
          </a:p>
        </p:txBody>
      </p:sp>
      <p:sp>
        <p:nvSpPr>
          <p:cNvPr id="1465" name="Google Shape;1465;p35"/>
          <p:cNvSpPr/>
          <p:nvPr/>
        </p:nvSpPr>
        <p:spPr>
          <a:xfrm>
            <a:off x="3203163" y="1325166"/>
            <a:ext cx="200025" cy="200025"/>
          </a:xfrm>
          <a:prstGeom prst="ellipse">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35"/>
          <p:cNvSpPr/>
          <p:nvPr/>
        </p:nvSpPr>
        <p:spPr>
          <a:xfrm>
            <a:off x="3203163" y="1325166"/>
            <a:ext cx="200025" cy="200025"/>
          </a:xfrm>
          <a:prstGeom prst="rect">
            <a:avLst/>
          </a:prstGeom>
          <a:noFill/>
          <a:ln>
            <a:noFill/>
          </a:ln>
        </p:spPr>
        <p:txBody>
          <a:bodyPr anchorCtr="0" anchor="ctr" bIns="0" lIns="0" spcFirstLastPara="1" rIns="0" wrap="square" tIns="0">
            <a:noAutofit/>
          </a:bodyPr>
          <a:lstStyle/>
          <a:p>
            <a:pPr indent="0" lvl="0" marL="0" marR="0" rtl="0" algn="ctr">
              <a:lnSpc>
                <a:spcPct val="131771"/>
              </a:lnSpc>
              <a:spcBef>
                <a:spcPts val="0"/>
              </a:spcBef>
              <a:spcAft>
                <a:spcPts val="0"/>
              </a:spcAft>
              <a:buClr>
                <a:srgbClr val="0D1B2E"/>
              </a:buClr>
              <a:buSzPts val="683"/>
              <a:buFont typeface="Calibri"/>
              <a:buNone/>
            </a:pPr>
            <a:r>
              <a:rPr b="1" i="0" lang="en-US" sz="683" u="none" cap="none" strike="noStrike">
                <a:solidFill>
                  <a:srgbClr val="0D1B2E"/>
                </a:solidFill>
                <a:latin typeface="Calibri"/>
                <a:ea typeface="Calibri"/>
                <a:cs typeface="Calibri"/>
                <a:sym typeface="Calibri"/>
              </a:rPr>
              <a:t>1</a:t>
            </a:r>
            <a:endParaRPr b="0" i="0" sz="683" u="none" cap="none" strike="noStrike">
              <a:solidFill>
                <a:schemeClr val="dk1"/>
              </a:solidFill>
              <a:latin typeface="Calibri"/>
              <a:ea typeface="Calibri"/>
              <a:cs typeface="Calibri"/>
              <a:sym typeface="Calibri"/>
            </a:endParaRPr>
          </a:p>
        </p:txBody>
      </p:sp>
      <p:sp>
        <p:nvSpPr>
          <p:cNvPr id="1467" name="Google Shape;1467;p35"/>
          <p:cNvSpPr/>
          <p:nvPr/>
        </p:nvSpPr>
        <p:spPr>
          <a:xfrm>
            <a:off x="3503200" y="1310878"/>
            <a:ext cx="2437609" cy="473273"/>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35"/>
          <p:cNvSpPr/>
          <p:nvPr/>
        </p:nvSpPr>
        <p:spPr>
          <a:xfrm>
            <a:off x="3588925" y="1396603"/>
            <a:ext cx="2266159"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Epic Definition</a:t>
            </a:r>
            <a:endParaRPr b="0" i="0" sz="734" u="none" cap="none" strike="noStrike">
              <a:solidFill>
                <a:schemeClr val="dk1"/>
              </a:solidFill>
              <a:latin typeface="Calibri"/>
              <a:ea typeface="Calibri"/>
              <a:cs typeface="Calibri"/>
              <a:sym typeface="Calibri"/>
            </a:endParaRPr>
          </a:p>
        </p:txBody>
      </p:sp>
      <p:sp>
        <p:nvSpPr>
          <p:cNvPr id="1469" name="Google Shape;1469;p35"/>
          <p:cNvSpPr/>
          <p:nvPr/>
        </p:nvSpPr>
        <p:spPr>
          <a:xfrm>
            <a:off x="3588925" y="1571625"/>
            <a:ext cx="2266159"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CBD5E1"/>
              </a:buClr>
              <a:buSzPts val="674"/>
              <a:buFont typeface="Calibri"/>
              <a:buNone/>
            </a:pPr>
            <a:r>
              <a:rPr b="0" i="0" lang="en-US" sz="674" u="none" cap="none" strike="noStrike">
                <a:solidFill>
                  <a:srgbClr val="CBD5E1"/>
                </a:solidFill>
                <a:latin typeface="Calibri"/>
                <a:ea typeface="Calibri"/>
                <a:cs typeface="Calibri"/>
                <a:sym typeface="Calibri"/>
              </a:rPr>
              <a:t>PM defines high-level goal &amp; scope.</a:t>
            </a:r>
            <a:endParaRPr b="0" i="0" sz="674" u="none" cap="none" strike="noStrike">
              <a:solidFill>
                <a:schemeClr val="dk1"/>
              </a:solidFill>
              <a:latin typeface="Calibri"/>
              <a:ea typeface="Calibri"/>
              <a:cs typeface="Calibri"/>
              <a:sym typeface="Calibri"/>
            </a:endParaRPr>
          </a:p>
        </p:txBody>
      </p:sp>
      <p:sp>
        <p:nvSpPr>
          <p:cNvPr id="1470" name="Google Shape;1470;p35"/>
          <p:cNvSpPr/>
          <p:nvPr/>
        </p:nvSpPr>
        <p:spPr>
          <a:xfrm>
            <a:off x="3203163" y="1941314"/>
            <a:ext cx="200025" cy="200025"/>
          </a:xfrm>
          <a:prstGeom prst="ellipse">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35"/>
          <p:cNvSpPr/>
          <p:nvPr/>
        </p:nvSpPr>
        <p:spPr>
          <a:xfrm>
            <a:off x="3203163" y="1941314"/>
            <a:ext cx="200025" cy="200025"/>
          </a:xfrm>
          <a:prstGeom prst="rect">
            <a:avLst/>
          </a:prstGeom>
          <a:noFill/>
          <a:ln>
            <a:noFill/>
          </a:ln>
        </p:spPr>
        <p:txBody>
          <a:bodyPr anchorCtr="0" anchor="ctr" bIns="0" lIns="0" spcFirstLastPara="1" rIns="0" wrap="square" tIns="0">
            <a:noAutofit/>
          </a:bodyPr>
          <a:lstStyle/>
          <a:p>
            <a:pPr indent="0" lvl="0" marL="0" marR="0" rtl="0" algn="ctr">
              <a:lnSpc>
                <a:spcPct val="131771"/>
              </a:lnSpc>
              <a:spcBef>
                <a:spcPts val="0"/>
              </a:spcBef>
              <a:spcAft>
                <a:spcPts val="0"/>
              </a:spcAft>
              <a:buClr>
                <a:srgbClr val="0D1B2E"/>
              </a:buClr>
              <a:buSzPts val="683"/>
              <a:buFont typeface="Calibri"/>
              <a:buNone/>
            </a:pPr>
            <a:r>
              <a:rPr b="1" i="0" lang="en-US" sz="683" u="none" cap="none" strike="noStrike">
                <a:solidFill>
                  <a:srgbClr val="0D1B2E"/>
                </a:solidFill>
                <a:latin typeface="Calibri"/>
                <a:ea typeface="Calibri"/>
                <a:cs typeface="Calibri"/>
                <a:sym typeface="Calibri"/>
              </a:rPr>
              <a:t>2</a:t>
            </a:r>
            <a:endParaRPr b="0" i="0" sz="683" u="none" cap="none" strike="noStrike">
              <a:solidFill>
                <a:schemeClr val="dk1"/>
              </a:solidFill>
              <a:latin typeface="Calibri"/>
              <a:ea typeface="Calibri"/>
              <a:cs typeface="Calibri"/>
              <a:sym typeface="Calibri"/>
            </a:endParaRPr>
          </a:p>
        </p:txBody>
      </p:sp>
      <p:sp>
        <p:nvSpPr>
          <p:cNvPr id="1472" name="Google Shape;1472;p35"/>
          <p:cNvSpPr/>
          <p:nvPr/>
        </p:nvSpPr>
        <p:spPr>
          <a:xfrm>
            <a:off x="3503200" y="1927027"/>
            <a:ext cx="2437609" cy="473273"/>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35"/>
          <p:cNvSpPr/>
          <p:nvPr/>
        </p:nvSpPr>
        <p:spPr>
          <a:xfrm>
            <a:off x="3588925" y="2012752"/>
            <a:ext cx="2266159"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BRD Generation</a:t>
            </a:r>
            <a:endParaRPr b="0" i="0" sz="734" u="none" cap="none" strike="noStrike">
              <a:solidFill>
                <a:schemeClr val="dk1"/>
              </a:solidFill>
              <a:latin typeface="Calibri"/>
              <a:ea typeface="Calibri"/>
              <a:cs typeface="Calibri"/>
              <a:sym typeface="Calibri"/>
            </a:endParaRPr>
          </a:p>
        </p:txBody>
      </p:sp>
      <p:sp>
        <p:nvSpPr>
          <p:cNvPr id="1474" name="Google Shape;1474;p35"/>
          <p:cNvSpPr/>
          <p:nvPr/>
        </p:nvSpPr>
        <p:spPr>
          <a:xfrm>
            <a:off x="3588925" y="2187773"/>
            <a:ext cx="2266159"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CBD5E1"/>
              </a:buClr>
              <a:buSzPts val="674"/>
              <a:buFont typeface="Calibri"/>
              <a:buNone/>
            </a:pPr>
            <a:r>
              <a:rPr b="0" i="0" lang="en-US" sz="674" u="none" cap="none" strike="noStrike">
                <a:solidFill>
                  <a:srgbClr val="CBD5E1"/>
                </a:solidFill>
                <a:latin typeface="Calibri"/>
                <a:ea typeface="Calibri"/>
                <a:cs typeface="Calibri"/>
                <a:sym typeface="Calibri"/>
              </a:rPr>
              <a:t>BA expands to full requirements &amp; edge cases.</a:t>
            </a:r>
            <a:endParaRPr b="0" i="0" sz="674" u="none" cap="none" strike="noStrike">
              <a:solidFill>
                <a:schemeClr val="dk1"/>
              </a:solidFill>
              <a:latin typeface="Calibri"/>
              <a:ea typeface="Calibri"/>
              <a:cs typeface="Calibri"/>
              <a:sym typeface="Calibri"/>
            </a:endParaRPr>
          </a:p>
        </p:txBody>
      </p:sp>
      <p:sp>
        <p:nvSpPr>
          <p:cNvPr id="1475" name="Google Shape;1475;p35"/>
          <p:cNvSpPr/>
          <p:nvPr/>
        </p:nvSpPr>
        <p:spPr>
          <a:xfrm>
            <a:off x="3203163" y="2557463"/>
            <a:ext cx="200025" cy="200025"/>
          </a:xfrm>
          <a:prstGeom prst="ellipse">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35"/>
          <p:cNvSpPr/>
          <p:nvPr/>
        </p:nvSpPr>
        <p:spPr>
          <a:xfrm>
            <a:off x="3203163" y="2557463"/>
            <a:ext cx="200025" cy="200025"/>
          </a:xfrm>
          <a:prstGeom prst="rect">
            <a:avLst/>
          </a:prstGeom>
          <a:noFill/>
          <a:ln>
            <a:noFill/>
          </a:ln>
        </p:spPr>
        <p:txBody>
          <a:bodyPr anchorCtr="0" anchor="ctr" bIns="0" lIns="0" spcFirstLastPara="1" rIns="0" wrap="square" tIns="0">
            <a:noAutofit/>
          </a:bodyPr>
          <a:lstStyle/>
          <a:p>
            <a:pPr indent="0" lvl="0" marL="0" marR="0" rtl="0" algn="ctr">
              <a:lnSpc>
                <a:spcPct val="131771"/>
              </a:lnSpc>
              <a:spcBef>
                <a:spcPts val="0"/>
              </a:spcBef>
              <a:spcAft>
                <a:spcPts val="0"/>
              </a:spcAft>
              <a:buClr>
                <a:srgbClr val="0D1B2E"/>
              </a:buClr>
              <a:buSzPts val="683"/>
              <a:buFont typeface="Calibri"/>
              <a:buNone/>
            </a:pPr>
            <a:r>
              <a:rPr b="1" i="0" lang="en-US" sz="683" u="none" cap="none" strike="noStrike">
                <a:solidFill>
                  <a:srgbClr val="0D1B2E"/>
                </a:solidFill>
                <a:latin typeface="Calibri"/>
                <a:ea typeface="Calibri"/>
                <a:cs typeface="Calibri"/>
                <a:sym typeface="Calibri"/>
              </a:rPr>
              <a:t>3</a:t>
            </a:r>
            <a:endParaRPr b="0" i="0" sz="683" u="none" cap="none" strike="noStrike">
              <a:solidFill>
                <a:schemeClr val="dk1"/>
              </a:solidFill>
              <a:latin typeface="Calibri"/>
              <a:ea typeface="Calibri"/>
              <a:cs typeface="Calibri"/>
              <a:sym typeface="Calibri"/>
            </a:endParaRPr>
          </a:p>
        </p:txBody>
      </p:sp>
      <p:sp>
        <p:nvSpPr>
          <p:cNvPr id="1477" name="Google Shape;1477;p35"/>
          <p:cNvSpPr/>
          <p:nvPr/>
        </p:nvSpPr>
        <p:spPr>
          <a:xfrm>
            <a:off x="3503200" y="2543175"/>
            <a:ext cx="2437609" cy="600075"/>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35"/>
          <p:cNvSpPr/>
          <p:nvPr/>
        </p:nvSpPr>
        <p:spPr>
          <a:xfrm>
            <a:off x="3588925" y="2628900"/>
            <a:ext cx="2266159"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Human BRD Review</a:t>
            </a:r>
            <a:endParaRPr b="0" i="0" sz="734" u="none" cap="none" strike="noStrike">
              <a:solidFill>
                <a:schemeClr val="dk1"/>
              </a:solidFill>
              <a:latin typeface="Calibri"/>
              <a:ea typeface="Calibri"/>
              <a:cs typeface="Calibri"/>
              <a:sym typeface="Calibri"/>
            </a:endParaRPr>
          </a:p>
        </p:txBody>
      </p:sp>
      <p:sp>
        <p:nvSpPr>
          <p:cNvPr id="1479" name="Google Shape;1479;p35"/>
          <p:cNvSpPr/>
          <p:nvPr/>
        </p:nvSpPr>
        <p:spPr>
          <a:xfrm>
            <a:off x="3588925" y="2803922"/>
            <a:ext cx="2266159" cy="253603"/>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CBD5E1"/>
              </a:buClr>
              <a:buSzPts val="674"/>
              <a:buFont typeface="Calibri"/>
              <a:buNone/>
            </a:pPr>
            <a:r>
              <a:rPr b="0" i="0" lang="en-US" sz="674" u="none" cap="none" strike="noStrike">
                <a:solidFill>
                  <a:srgbClr val="CBD5E1"/>
                </a:solidFill>
                <a:latin typeface="Calibri"/>
                <a:ea typeface="Calibri"/>
                <a:cs typeface="Calibri"/>
                <a:sym typeface="Calibri"/>
              </a:rPr>
              <a:t>Stakeholders validate completeness before proceeding.</a:t>
            </a:r>
            <a:endParaRPr b="0" i="0" sz="674" u="none" cap="none" strike="noStrike">
              <a:solidFill>
                <a:schemeClr val="dk1"/>
              </a:solidFill>
              <a:latin typeface="Calibri"/>
              <a:ea typeface="Calibri"/>
              <a:cs typeface="Calibri"/>
              <a:sym typeface="Calibri"/>
            </a:endParaRPr>
          </a:p>
        </p:txBody>
      </p:sp>
      <p:sp>
        <p:nvSpPr>
          <p:cNvPr id="1480" name="Google Shape;1480;p35"/>
          <p:cNvSpPr/>
          <p:nvPr/>
        </p:nvSpPr>
        <p:spPr>
          <a:xfrm>
            <a:off x="3203163" y="3300413"/>
            <a:ext cx="200025" cy="200025"/>
          </a:xfrm>
          <a:prstGeom prst="ellipse">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35"/>
          <p:cNvSpPr/>
          <p:nvPr/>
        </p:nvSpPr>
        <p:spPr>
          <a:xfrm>
            <a:off x="3203163" y="3300413"/>
            <a:ext cx="200025" cy="200025"/>
          </a:xfrm>
          <a:prstGeom prst="rect">
            <a:avLst/>
          </a:prstGeom>
          <a:noFill/>
          <a:ln>
            <a:noFill/>
          </a:ln>
        </p:spPr>
        <p:txBody>
          <a:bodyPr anchorCtr="0" anchor="ctr" bIns="0" lIns="0" spcFirstLastPara="1" rIns="0" wrap="square" tIns="0">
            <a:noAutofit/>
          </a:bodyPr>
          <a:lstStyle/>
          <a:p>
            <a:pPr indent="0" lvl="0" marL="0" marR="0" rtl="0" algn="ctr">
              <a:lnSpc>
                <a:spcPct val="131771"/>
              </a:lnSpc>
              <a:spcBef>
                <a:spcPts val="0"/>
              </a:spcBef>
              <a:spcAft>
                <a:spcPts val="0"/>
              </a:spcAft>
              <a:buClr>
                <a:srgbClr val="0D1B2E"/>
              </a:buClr>
              <a:buSzPts val="683"/>
              <a:buFont typeface="Calibri"/>
              <a:buNone/>
            </a:pPr>
            <a:r>
              <a:rPr b="1" i="0" lang="en-US" sz="683" u="none" cap="none" strike="noStrike">
                <a:solidFill>
                  <a:srgbClr val="0D1B2E"/>
                </a:solidFill>
                <a:latin typeface="Calibri"/>
                <a:ea typeface="Calibri"/>
                <a:cs typeface="Calibri"/>
                <a:sym typeface="Calibri"/>
              </a:rPr>
              <a:t>4</a:t>
            </a:r>
            <a:endParaRPr b="0" i="0" sz="683" u="none" cap="none" strike="noStrike">
              <a:solidFill>
                <a:schemeClr val="dk1"/>
              </a:solidFill>
              <a:latin typeface="Calibri"/>
              <a:ea typeface="Calibri"/>
              <a:cs typeface="Calibri"/>
              <a:sym typeface="Calibri"/>
            </a:endParaRPr>
          </a:p>
        </p:txBody>
      </p:sp>
      <p:sp>
        <p:nvSpPr>
          <p:cNvPr id="1482" name="Google Shape;1482;p35"/>
          <p:cNvSpPr/>
          <p:nvPr/>
        </p:nvSpPr>
        <p:spPr>
          <a:xfrm>
            <a:off x="3503200" y="3286125"/>
            <a:ext cx="2437609" cy="473273"/>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35"/>
          <p:cNvSpPr/>
          <p:nvPr/>
        </p:nvSpPr>
        <p:spPr>
          <a:xfrm>
            <a:off x="3588925" y="3371850"/>
            <a:ext cx="2266159"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Story Breakdown</a:t>
            </a:r>
            <a:endParaRPr b="0" i="0" sz="734" u="none" cap="none" strike="noStrike">
              <a:solidFill>
                <a:schemeClr val="dk1"/>
              </a:solidFill>
              <a:latin typeface="Calibri"/>
              <a:ea typeface="Calibri"/>
              <a:cs typeface="Calibri"/>
              <a:sym typeface="Calibri"/>
            </a:endParaRPr>
          </a:p>
        </p:txBody>
      </p:sp>
      <p:sp>
        <p:nvSpPr>
          <p:cNvPr id="1484" name="Google Shape;1484;p35"/>
          <p:cNvSpPr/>
          <p:nvPr/>
        </p:nvSpPr>
        <p:spPr>
          <a:xfrm>
            <a:off x="3588925" y="3546872"/>
            <a:ext cx="2266159"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CBD5E1"/>
              </a:buClr>
              <a:buSzPts val="674"/>
              <a:buFont typeface="Calibri"/>
              <a:buNone/>
            </a:pPr>
            <a:r>
              <a:rPr b="0" i="0" lang="en-US" sz="674" u="none" cap="none" strike="noStrike">
                <a:solidFill>
                  <a:srgbClr val="CBD5E1"/>
                </a:solidFill>
                <a:latin typeface="Calibri"/>
                <a:ea typeface="Calibri"/>
                <a:cs typeface="Calibri"/>
                <a:sym typeface="Calibri"/>
              </a:rPr>
              <a:t>Writer converts to Gherkin/Jira tickets.</a:t>
            </a:r>
            <a:endParaRPr b="0" i="0" sz="674" u="none" cap="none" strike="noStrike">
              <a:solidFill>
                <a:schemeClr val="dk1"/>
              </a:solidFill>
              <a:latin typeface="Calibri"/>
              <a:ea typeface="Calibri"/>
              <a:cs typeface="Calibri"/>
              <a:sym typeface="Calibri"/>
            </a:endParaRPr>
          </a:p>
        </p:txBody>
      </p:sp>
      <p:sp>
        <p:nvSpPr>
          <p:cNvPr id="1485" name="Google Shape;1485;p35"/>
          <p:cNvSpPr/>
          <p:nvPr/>
        </p:nvSpPr>
        <p:spPr>
          <a:xfrm>
            <a:off x="6155122" y="1026914"/>
            <a:ext cx="2488816" cy="219670"/>
          </a:xfrm>
          <a:prstGeom prst="rect">
            <a:avLst/>
          </a:prstGeom>
          <a:noFill/>
          <a:ln>
            <a:noFill/>
          </a:ln>
        </p:spPr>
        <p:txBody>
          <a:bodyPr anchorCtr="0" anchor="t" bIns="68050" lIns="0" spcFirstLastPara="1" rIns="0" wrap="square" tIns="0">
            <a:noAutofit/>
          </a:bodyPr>
          <a:lstStyle/>
          <a:p>
            <a:pPr indent="0" lvl="0" marL="0" marR="0" rtl="0" algn="l">
              <a:lnSpc>
                <a:spcPct val="140306"/>
              </a:lnSpc>
              <a:spcBef>
                <a:spcPts val="0"/>
              </a:spcBef>
              <a:spcAft>
                <a:spcPts val="0"/>
              </a:spcAft>
              <a:buClr>
                <a:srgbClr val="00BFFF"/>
              </a:buClr>
              <a:buSzPts val="784"/>
              <a:buFont typeface="Calibri"/>
              <a:buNone/>
            </a:pPr>
            <a:r>
              <a:rPr b="1" i="0" lang="en-US" sz="784" u="none" cap="none" strike="noStrike">
                <a:solidFill>
                  <a:srgbClr val="00BFFF"/>
                </a:solidFill>
                <a:latin typeface="Calibri"/>
                <a:ea typeface="Calibri"/>
                <a:cs typeface="Calibri"/>
                <a:sym typeface="Calibri"/>
              </a:rPr>
              <a:t>Key Artifacts</a:t>
            </a:r>
            <a:endParaRPr b="0" i="0" sz="784" u="none" cap="none" strike="noStrike">
              <a:solidFill>
                <a:schemeClr val="dk1"/>
              </a:solidFill>
              <a:latin typeface="Calibri"/>
              <a:ea typeface="Calibri"/>
              <a:cs typeface="Calibri"/>
              <a:sym typeface="Calibri"/>
            </a:endParaRPr>
          </a:p>
        </p:txBody>
      </p:sp>
      <p:sp>
        <p:nvSpPr>
          <p:cNvPr id="1486" name="Google Shape;1486;p35"/>
          <p:cNvSpPr/>
          <p:nvPr/>
        </p:nvSpPr>
        <p:spPr>
          <a:xfrm>
            <a:off x="6155122" y="1353741"/>
            <a:ext cx="2488816" cy="600075"/>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87" name="Google Shape;1487;p35"/>
          <p:cNvPicPr preferRelativeResize="0"/>
          <p:nvPr/>
        </p:nvPicPr>
        <p:blipFill rotWithShape="1">
          <a:blip r:embed="rId9">
            <a:alphaModFix/>
          </a:blip>
          <a:srcRect b="0" l="0" r="0" t="0"/>
          <a:stretch/>
        </p:blipFill>
        <p:spPr>
          <a:xfrm>
            <a:off x="6291997" y="1576983"/>
            <a:ext cx="117872" cy="157163"/>
          </a:xfrm>
          <a:prstGeom prst="rect">
            <a:avLst/>
          </a:prstGeom>
          <a:noFill/>
          <a:ln>
            <a:noFill/>
          </a:ln>
        </p:spPr>
      </p:pic>
      <p:sp>
        <p:nvSpPr>
          <p:cNvPr id="1488" name="Google Shape;1488;p35"/>
          <p:cNvSpPr/>
          <p:nvPr/>
        </p:nvSpPr>
        <p:spPr>
          <a:xfrm>
            <a:off x="6546745" y="1453753"/>
            <a:ext cx="1997180"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PRD</a:t>
            </a:r>
            <a:endParaRPr b="0" i="0" sz="734" u="none" cap="none" strike="noStrike">
              <a:solidFill>
                <a:schemeClr val="dk1"/>
              </a:solidFill>
              <a:latin typeface="Calibri"/>
              <a:ea typeface="Calibri"/>
              <a:cs typeface="Calibri"/>
              <a:sym typeface="Calibri"/>
            </a:endParaRPr>
          </a:p>
        </p:txBody>
      </p:sp>
      <p:sp>
        <p:nvSpPr>
          <p:cNvPr id="1489" name="Google Shape;1489;p35"/>
          <p:cNvSpPr/>
          <p:nvPr/>
        </p:nvSpPr>
        <p:spPr>
          <a:xfrm>
            <a:off x="6546745" y="1621631"/>
            <a:ext cx="1997180" cy="232172"/>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Product Requirements Document with goals &amp; KPIs.</a:t>
            </a:r>
            <a:endParaRPr b="0" i="0" sz="621" u="none" cap="none" strike="noStrike">
              <a:solidFill>
                <a:schemeClr val="dk1"/>
              </a:solidFill>
              <a:latin typeface="Calibri"/>
              <a:ea typeface="Calibri"/>
              <a:cs typeface="Calibri"/>
              <a:sym typeface="Calibri"/>
            </a:endParaRPr>
          </a:p>
        </p:txBody>
      </p:sp>
      <p:sp>
        <p:nvSpPr>
          <p:cNvPr id="1490" name="Google Shape;1490;p35"/>
          <p:cNvSpPr/>
          <p:nvPr/>
        </p:nvSpPr>
        <p:spPr>
          <a:xfrm>
            <a:off x="6155122" y="2053828"/>
            <a:ext cx="2488816" cy="669727"/>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91" name="Google Shape;1491;p35"/>
          <p:cNvPicPr preferRelativeResize="0"/>
          <p:nvPr/>
        </p:nvPicPr>
        <p:blipFill rotWithShape="1">
          <a:blip r:embed="rId10">
            <a:alphaModFix/>
          </a:blip>
          <a:srcRect b="0" l="0" r="0" t="0"/>
          <a:stretch/>
        </p:blipFill>
        <p:spPr>
          <a:xfrm>
            <a:off x="6296211" y="2311896"/>
            <a:ext cx="117872" cy="157163"/>
          </a:xfrm>
          <a:prstGeom prst="rect">
            <a:avLst/>
          </a:prstGeom>
          <a:noFill/>
          <a:ln>
            <a:noFill/>
          </a:ln>
        </p:spPr>
      </p:pic>
      <p:sp>
        <p:nvSpPr>
          <p:cNvPr id="1492" name="Google Shape;1492;p35"/>
          <p:cNvSpPr/>
          <p:nvPr/>
        </p:nvSpPr>
        <p:spPr>
          <a:xfrm>
            <a:off x="6555172" y="2153841"/>
            <a:ext cx="1942458"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BRD</a:t>
            </a:r>
            <a:endParaRPr b="0" i="0" sz="734" u="none" cap="none" strike="noStrike">
              <a:solidFill>
                <a:schemeClr val="dk1"/>
              </a:solidFill>
              <a:latin typeface="Calibri"/>
              <a:ea typeface="Calibri"/>
              <a:cs typeface="Calibri"/>
              <a:sym typeface="Calibri"/>
            </a:endParaRPr>
          </a:p>
        </p:txBody>
      </p:sp>
      <p:sp>
        <p:nvSpPr>
          <p:cNvPr id="1493" name="Google Shape;1493;p35"/>
          <p:cNvSpPr/>
          <p:nvPr/>
        </p:nvSpPr>
        <p:spPr>
          <a:xfrm>
            <a:off x="6555172" y="2321719"/>
            <a:ext cx="1942458"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Business Requirements with acceptance criteria.</a:t>
            </a:r>
            <a:endParaRPr b="0" i="0" sz="621" u="none" cap="none" strike="noStrike">
              <a:solidFill>
                <a:schemeClr val="dk1"/>
              </a:solidFill>
              <a:latin typeface="Calibri"/>
              <a:ea typeface="Calibri"/>
              <a:cs typeface="Calibri"/>
              <a:sym typeface="Calibri"/>
            </a:endParaRPr>
          </a:p>
        </p:txBody>
      </p:sp>
      <p:sp>
        <p:nvSpPr>
          <p:cNvPr id="1494" name="Google Shape;1494;p35"/>
          <p:cNvSpPr/>
          <p:nvPr/>
        </p:nvSpPr>
        <p:spPr>
          <a:xfrm>
            <a:off x="6555172" y="2473523"/>
            <a:ext cx="833251" cy="150019"/>
          </a:xfrm>
          <a:prstGeom prst="rect">
            <a:avLst/>
          </a:prstGeom>
          <a:solidFill>
            <a:srgbClr val="FF5252">
              <a:alpha val="14901"/>
            </a:srgbClr>
          </a:solidFill>
          <a:ln cap="flat" cmpd="sng" w="952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95" name="Google Shape;1495;p35"/>
          <p:cNvPicPr preferRelativeResize="0"/>
          <p:nvPr/>
        </p:nvPicPr>
        <p:blipFill rotWithShape="1">
          <a:blip r:embed="rId11">
            <a:alphaModFix/>
          </a:blip>
          <a:srcRect b="0" l="0" r="0" t="0"/>
          <a:stretch/>
        </p:blipFill>
        <p:spPr>
          <a:xfrm>
            <a:off x="6612322" y="2503884"/>
            <a:ext cx="98227" cy="78581"/>
          </a:xfrm>
          <a:prstGeom prst="rect">
            <a:avLst/>
          </a:prstGeom>
          <a:noFill/>
          <a:ln>
            <a:noFill/>
          </a:ln>
        </p:spPr>
      </p:pic>
      <p:sp>
        <p:nvSpPr>
          <p:cNvPr id="1496" name="Google Shape;1496;p35"/>
          <p:cNvSpPr/>
          <p:nvPr/>
        </p:nvSpPr>
        <p:spPr>
          <a:xfrm>
            <a:off x="6710549" y="2487811"/>
            <a:ext cx="606437" cy="107156"/>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FF5252"/>
              </a:buClr>
              <a:buSzPts val="534"/>
              <a:buFont typeface="Calibri"/>
              <a:buNone/>
            </a:pPr>
            <a:r>
              <a:rPr b="1" i="0" lang="en-US" sz="534" u="none" cap="none" strike="noStrike">
                <a:solidFill>
                  <a:srgbClr val="FF5252"/>
                </a:solidFill>
                <a:latin typeface="Calibri"/>
                <a:ea typeface="Calibri"/>
                <a:cs typeface="Calibri"/>
                <a:sym typeface="Calibri"/>
              </a:rPr>
              <a:t>Human Review</a:t>
            </a:r>
            <a:endParaRPr b="0" i="0" sz="534" u="none" cap="none" strike="noStrike">
              <a:solidFill>
                <a:schemeClr val="dk1"/>
              </a:solidFill>
              <a:latin typeface="Calibri"/>
              <a:ea typeface="Calibri"/>
              <a:cs typeface="Calibri"/>
              <a:sym typeface="Calibri"/>
            </a:endParaRPr>
          </a:p>
        </p:txBody>
      </p:sp>
      <p:sp>
        <p:nvSpPr>
          <p:cNvPr id="1497" name="Google Shape;1497;p35"/>
          <p:cNvSpPr/>
          <p:nvPr/>
        </p:nvSpPr>
        <p:spPr>
          <a:xfrm>
            <a:off x="6155122" y="2809280"/>
            <a:ext cx="2488816" cy="48398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98" name="Google Shape;1498;p35"/>
          <p:cNvPicPr preferRelativeResize="0"/>
          <p:nvPr/>
        </p:nvPicPr>
        <p:blipFill rotWithShape="1">
          <a:blip r:embed="rId12">
            <a:alphaModFix/>
          </a:blip>
          <a:srcRect b="0" l="0" r="0" t="0"/>
          <a:stretch/>
        </p:blipFill>
        <p:spPr>
          <a:xfrm>
            <a:off x="6266743" y="2974479"/>
            <a:ext cx="176808" cy="157163"/>
          </a:xfrm>
          <a:prstGeom prst="rect">
            <a:avLst/>
          </a:prstGeom>
          <a:noFill/>
          <a:ln>
            <a:noFill/>
          </a:ln>
        </p:spPr>
      </p:pic>
      <p:sp>
        <p:nvSpPr>
          <p:cNvPr id="1499" name="Google Shape;1499;p35"/>
          <p:cNvSpPr/>
          <p:nvPr/>
        </p:nvSpPr>
        <p:spPr>
          <a:xfrm>
            <a:off x="6555172" y="2909292"/>
            <a:ext cx="1264639"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User Stories</a:t>
            </a:r>
            <a:endParaRPr b="0" i="0" sz="734" u="none" cap="none" strike="noStrike">
              <a:solidFill>
                <a:schemeClr val="dk1"/>
              </a:solidFill>
              <a:latin typeface="Calibri"/>
              <a:ea typeface="Calibri"/>
              <a:cs typeface="Calibri"/>
              <a:sym typeface="Calibri"/>
            </a:endParaRPr>
          </a:p>
        </p:txBody>
      </p:sp>
      <p:sp>
        <p:nvSpPr>
          <p:cNvPr id="1500" name="Google Shape;1500;p35"/>
          <p:cNvSpPr/>
          <p:nvPr/>
        </p:nvSpPr>
        <p:spPr>
          <a:xfrm>
            <a:off x="6555172" y="3077170"/>
            <a:ext cx="1264639"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Gherkin scenarios &amp; Jira tickets.</a:t>
            </a:r>
            <a:endParaRPr b="0" i="0" sz="621" u="none" cap="none" strike="noStrike">
              <a:solidFill>
                <a:schemeClr val="dk1"/>
              </a:solidFill>
              <a:latin typeface="Calibri"/>
              <a:ea typeface="Calibri"/>
              <a:cs typeface="Calibri"/>
              <a:sym typeface="Calibri"/>
            </a:endParaRPr>
          </a:p>
        </p:txBody>
      </p:sp>
      <p:sp>
        <p:nvSpPr>
          <p:cNvPr id="1501" name="Google Shape;1501;p35"/>
          <p:cNvSpPr/>
          <p:nvPr/>
        </p:nvSpPr>
        <p:spPr>
          <a:xfrm>
            <a:off x="6155122" y="3393281"/>
            <a:ext cx="2488816" cy="48398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02" name="Google Shape;1502;p35"/>
          <p:cNvPicPr preferRelativeResize="0"/>
          <p:nvPr/>
        </p:nvPicPr>
        <p:blipFill rotWithShape="1">
          <a:blip r:embed="rId13">
            <a:alphaModFix/>
          </a:blip>
          <a:srcRect b="0" l="0" r="0" t="0"/>
          <a:stretch/>
        </p:blipFill>
        <p:spPr>
          <a:xfrm>
            <a:off x="6276566" y="3558480"/>
            <a:ext cx="157163" cy="157163"/>
          </a:xfrm>
          <a:prstGeom prst="rect">
            <a:avLst/>
          </a:prstGeom>
          <a:noFill/>
          <a:ln>
            <a:noFill/>
          </a:ln>
        </p:spPr>
      </p:pic>
      <p:sp>
        <p:nvSpPr>
          <p:cNvPr id="1503" name="Google Shape;1503;p35"/>
          <p:cNvSpPr/>
          <p:nvPr/>
        </p:nvSpPr>
        <p:spPr>
          <a:xfrm>
            <a:off x="6555172" y="3493294"/>
            <a:ext cx="1629807"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Sprint Plan</a:t>
            </a:r>
            <a:endParaRPr b="0" i="0" sz="734" u="none" cap="none" strike="noStrike">
              <a:solidFill>
                <a:schemeClr val="dk1"/>
              </a:solidFill>
              <a:latin typeface="Calibri"/>
              <a:ea typeface="Calibri"/>
              <a:cs typeface="Calibri"/>
              <a:sym typeface="Calibri"/>
            </a:endParaRPr>
          </a:p>
        </p:txBody>
      </p:sp>
      <p:sp>
        <p:nvSpPr>
          <p:cNvPr id="1504" name="Google Shape;1504;p35"/>
          <p:cNvSpPr/>
          <p:nvPr/>
        </p:nvSpPr>
        <p:spPr>
          <a:xfrm>
            <a:off x="6555172" y="3661172"/>
            <a:ext cx="1629807"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Prioritized backlog with effort estimates.</a:t>
            </a:r>
            <a:endParaRPr b="0" i="0" sz="621"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09" name="Shape 1509"/>
        <p:cNvGrpSpPr/>
        <p:nvPr/>
      </p:nvGrpSpPr>
      <p:grpSpPr>
        <a:xfrm>
          <a:off x="0" y="0"/>
          <a:ext cx="0" cy="0"/>
          <a:chOff x="0" y="0"/>
          <a:chExt cx="0" cy="0"/>
        </a:xfrm>
      </p:grpSpPr>
      <p:pic>
        <p:nvPicPr>
          <p:cNvPr descr="preencoded.png" id="1510" name="Google Shape;1510;p3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511" name="Google Shape;1511;p36"/>
          <p:cNvSpPr/>
          <p:nvPr/>
        </p:nvSpPr>
        <p:spPr>
          <a:xfrm>
            <a:off x="500063" y="357188"/>
            <a:ext cx="8143875" cy="369689"/>
          </a:xfrm>
          <a:prstGeom prst="rect">
            <a:avLst/>
          </a:prstGeom>
          <a:noFill/>
          <a:ln>
            <a:noFill/>
          </a:ln>
        </p:spPr>
        <p:txBody>
          <a:bodyPr anchorCtr="0" anchor="t" bIns="0" lIns="0" spcFirstLastPara="1" rIns="0" wrap="square" tIns="0">
            <a:noAutofit/>
          </a:bodyPr>
          <a:lstStyle/>
          <a:p>
            <a:pPr indent="0" lvl="0" marL="0" marR="0" rtl="0" algn="l">
              <a:lnSpc>
                <a:spcPct val="135983"/>
              </a:lnSpc>
              <a:spcBef>
                <a:spcPts val="0"/>
              </a:spcBef>
              <a:spcAft>
                <a:spcPts val="0"/>
              </a:spcAft>
              <a:buClr>
                <a:srgbClr val="FFFFFF"/>
              </a:buClr>
              <a:buSzPts val="1912"/>
              <a:buFont typeface="Calibri"/>
              <a:buNone/>
            </a:pPr>
            <a:r>
              <a:rPr b="1" i="0" lang="en-US" sz="1912" u="none" cap="none" strike="noStrike">
                <a:solidFill>
                  <a:srgbClr val="FFFFFF"/>
                </a:solidFill>
                <a:latin typeface="Calibri"/>
                <a:ea typeface="Calibri"/>
                <a:cs typeface="Calibri"/>
                <a:sym typeface="Calibri"/>
              </a:rPr>
              <a:t>Design Phase: Parallel Architecture</a:t>
            </a:r>
            <a:endParaRPr b="0" i="0" sz="1912" u="none" cap="none" strike="noStrike">
              <a:solidFill>
                <a:schemeClr val="dk1"/>
              </a:solidFill>
              <a:latin typeface="Calibri"/>
              <a:ea typeface="Calibri"/>
              <a:cs typeface="Calibri"/>
              <a:sym typeface="Calibri"/>
            </a:endParaRPr>
          </a:p>
        </p:txBody>
      </p:sp>
      <p:sp>
        <p:nvSpPr>
          <p:cNvPr id="1512" name="Google Shape;1512;p36"/>
          <p:cNvSpPr/>
          <p:nvPr/>
        </p:nvSpPr>
        <p:spPr>
          <a:xfrm>
            <a:off x="500063" y="1026914"/>
            <a:ext cx="2488788" cy="219670"/>
          </a:xfrm>
          <a:prstGeom prst="rect">
            <a:avLst/>
          </a:prstGeom>
          <a:noFill/>
          <a:ln>
            <a:noFill/>
          </a:ln>
        </p:spPr>
        <p:txBody>
          <a:bodyPr anchorCtr="0" anchor="t" bIns="68050" lIns="0" spcFirstLastPara="1" rIns="0" wrap="square" tIns="0">
            <a:noAutofit/>
          </a:bodyPr>
          <a:lstStyle/>
          <a:p>
            <a:pPr indent="0" lvl="0" marL="0" marR="0" rtl="0" algn="l">
              <a:lnSpc>
                <a:spcPct val="140306"/>
              </a:lnSpc>
              <a:spcBef>
                <a:spcPts val="0"/>
              </a:spcBef>
              <a:spcAft>
                <a:spcPts val="0"/>
              </a:spcAft>
              <a:buClr>
                <a:srgbClr val="00BFFF"/>
              </a:buClr>
              <a:buSzPts val="784"/>
              <a:buFont typeface="Calibri"/>
              <a:buNone/>
            </a:pPr>
            <a:r>
              <a:rPr b="1" i="0" lang="en-US" sz="784" u="none" cap="none" strike="noStrike">
                <a:solidFill>
                  <a:srgbClr val="00BFFF"/>
                </a:solidFill>
                <a:latin typeface="Calibri"/>
                <a:ea typeface="Calibri"/>
                <a:cs typeface="Calibri"/>
                <a:sym typeface="Calibri"/>
              </a:rPr>
              <a:t>The Squad</a:t>
            </a:r>
            <a:endParaRPr b="0" i="0" sz="784" u="none" cap="none" strike="noStrike">
              <a:solidFill>
                <a:schemeClr val="dk1"/>
              </a:solidFill>
              <a:latin typeface="Calibri"/>
              <a:ea typeface="Calibri"/>
              <a:cs typeface="Calibri"/>
              <a:sym typeface="Calibri"/>
            </a:endParaRPr>
          </a:p>
        </p:txBody>
      </p:sp>
      <p:sp>
        <p:nvSpPr>
          <p:cNvPr id="1513" name="Google Shape;1513;p36"/>
          <p:cNvSpPr/>
          <p:nvPr/>
        </p:nvSpPr>
        <p:spPr>
          <a:xfrm>
            <a:off x="500063" y="1353741"/>
            <a:ext cx="2488788" cy="53220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6"/>
          <p:cNvSpPr/>
          <p:nvPr/>
        </p:nvSpPr>
        <p:spPr>
          <a:xfrm>
            <a:off x="500063" y="1353741"/>
            <a:ext cx="28575" cy="532209"/>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15" name="Google Shape;1515;p36"/>
          <p:cNvPicPr preferRelativeResize="0"/>
          <p:nvPr/>
        </p:nvPicPr>
        <p:blipFill rotWithShape="1">
          <a:blip r:embed="rId4">
            <a:alphaModFix/>
          </a:blip>
          <a:srcRect b="0" l="0" r="0" t="0"/>
          <a:stretch/>
        </p:blipFill>
        <p:spPr>
          <a:xfrm>
            <a:off x="625078" y="1535013"/>
            <a:ext cx="192881" cy="171450"/>
          </a:xfrm>
          <a:prstGeom prst="rect">
            <a:avLst/>
          </a:prstGeom>
          <a:noFill/>
          <a:ln>
            <a:noFill/>
          </a:ln>
        </p:spPr>
      </p:pic>
      <p:sp>
        <p:nvSpPr>
          <p:cNvPr id="1516" name="Google Shape;1516;p36"/>
          <p:cNvSpPr/>
          <p:nvPr/>
        </p:nvSpPr>
        <p:spPr>
          <a:xfrm>
            <a:off x="928688" y="1468041"/>
            <a:ext cx="966639"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System Architect</a:t>
            </a:r>
            <a:endParaRPr b="0" i="0" sz="784" u="none" cap="none" strike="noStrike">
              <a:solidFill>
                <a:schemeClr val="dk1"/>
              </a:solidFill>
              <a:latin typeface="Calibri"/>
              <a:ea typeface="Calibri"/>
              <a:cs typeface="Calibri"/>
              <a:sym typeface="Calibri"/>
            </a:endParaRPr>
          </a:p>
        </p:txBody>
      </p:sp>
      <p:sp>
        <p:nvSpPr>
          <p:cNvPr id="1517" name="Google Shape;1517;p36"/>
          <p:cNvSpPr/>
          <p:nvPr/>
        </p:nvSpPr>
        <p:spPr>
          <a:xfrm>
            <a:off x="928688" y="1644848"/>
            <a:ext cx="966639"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A0AAB5"/>
              </a:buClr>
              <a:buSzPts val="674"/>
              <a:buFont typeface="Calibri"/>
              <a:buNone/>
            </a:pPr>
            <a:r>
              <a:rPr b="0" i="0" lang="en-US" sz="674" u="none" cap="none" strike="noStrike">
                <a:solidFill>
                  <a:srgbClr val="A0AAB5"/>
                </a:solidFill>
                <a:latin typeface="Calibri"/>
                <a:ea typeface="Calibri"/>
                <a:cs typeface="Calibri"/>
                <a:sym typeface="Calibri"/>
              </a:rPr>
              <a:t>Lead Designer</a:t>
            </a:r>
            <a:endParaRPr b="0" i="0" sz="674" u="none" cap="none" strike="noStrike">
              <a:solidFill>
                <a:schemeClr val="dk1"/>
              </a:solidFill>
              <a:latin typeface="Calibri"/>
              <a:ea typeface="Calibri"/>
              <a:cs typeface="Calibri"/>
              <a:sym typeface="Calibri"/>
            </a:endParaRPr>
          </a:p>
        </p:txBody>
      </p:sp>
      <p:sp>
        <p:nvSpPr>
          <p:cNvPr id="1518" name="Google Shape;1518;p36"/>
          <p:cNvSpPr/>
          <p:nvPr/>
        </p:nvSpPr>
        <p:spPr>
          <a:xfrm>
            <a:off x="500063" y="2000250"/>
            <a:ext cx="2488788" cy="53220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6"/>
          <p:cNvSpPr/>
          <p:nvPr/>
        </p:nvSpPr>
        <p:spPr>
          <a:xfrm>
            <a:off x="500063" y="2000250"/>
            <a:ext cx="28575" cy="532209"/>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20" name="Google Shape;1520;p36"/>
          <p:cNvPicPr preferRelativeResize="0"/>
          <p:nvPr/>
        </p:nvPicPr>
        <p:blipFill rotWithShape="1">
          <a:blip r:embed="rId5">
            <a:alphaModFix/>
          </a:blip>
          <a:srcRect b="0" l="0" r="0" t="0"/>
          <a:stretch/>
        </p:blipFill>
        <p:spPr>
          <a:xfrm>
            <a:off x="646509" y="2181523"/>
            <a:ext cx="150019" cy="171450"/>
          </a:xfrm>
          <a:prstGeom prst="rect">
            <a:avLst/>
          </a:prstGeom>
          <a:noFill/>
          <a:ln>
            <a:noFill/>
          </a:ln>
        </p:spPr>
      </p:pic>
      <p:sp>
        <p:nvSpPr>
          <p:cNvPr id="1521" name="Google Shape;1521;p36"/>
          <p:cNvSpPr/>
          <p:nvPr/>
        </p:nvSpPr>
        <p:spPr>
          <a:xfrm>
            <a:off x="928688" y="2114550"/>
            <a:ext cx="701818"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DB Designer</a:t>
            </a:r>
            <a:endParaRPr b="0" i="0" sz="784" u="none" cap="none" strike="noStrike">
              <a:solidFill>
                <a:schemeClr val="dk1"/>
              </a:solidFill>
              <a:latin typeface="Calibri"/>
              <a:ea typeface="Calibri"/>
              <a:cs typeface="Calibri"/>
              <a:sym typeface="Calibri"/>
            </a:endParaRPr>
          </a:p>
        </p:txBody>
      </p:sp>
      <p:sp>
        <p:nvSpPr>
          <p:cNvPr id="1522" name="Google Shape;1522;p36"/>
          <p:cNvSpPr/>
          <p:nvPr/>
        </p:nvSpPr>
        <p:spPr>
          <a:xfrm>
            <a:off x="928688" y="2291358"/>
            <a:ext cx="701818"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A0AAB5"/>
              </a:buClr>
              <a:buSzPts val="674"/>
              <a:buFont typeface="Calibri"/>
              <a:buNone/>
            </a:pPr>
            <a:r>
              <a:rPr b="0" i="0" lang="en-US" sz="674" u="none" cap="none" strike="noStrike">
                <a:solidFill>
                  <a:srgbClr val="A0AAB5"/>
                </a:solidFill>
                <a:latin typeface="Calibri"/>
                <a:ea typeface="Calibri"/>
                <a:cs typeface="Calibri"/>
                <a:sym typeface="Calibri"/>
              </a:rPr>
              <a:t>Schema &amp; SQL</a:t>
            </a:r>
            <a:endParaRPr b="0" i="0" sz="674" u="none" cap="none" strike="noStrike">
              <a:solidFill>
                <a:schemeClr val="dk1"/>
              </a:solidFill>
              <a:latin typeface="Calibri"/>
              <a:ea typeface="Calibri"/>
              <a:cs typeface="Calibri"/>
              <a:sym typeface="Calibri"/>
            </a:endParaRPr>
          </a:p>
        </p:txBody>
      </p:sp>
      <p:sp>
        <p:nvSpPr>
          <p:cNvPr id="1523" name="Google Shape;1523;p36"/>
          <p:cNvSpPr/>
          <p:nvPr/>
        </p:nvSpPr>
        <p:spPr>
          <a:xfrm>
            <a:off x="500063" y="2646759"/>
            <a:ext cx="2488788" cy="53220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6"/>
          <p:cNvSpPr/>
          <p:nvPr/>
        </p:nvSpPr>
        <p:spPr>
          <a:xfrm>
            <a:off x="500063" y="2646759"/>
            <a:ext cx="28575" cy="532209"/>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25" name="Google Shape;1525;p36"/>
          <p:cNvPicPr preferRelativeResize="0"/>
          <p:nvPr/>
        </p:nvPicPr>
        <p:blipFill rotWithShape="1">
          <a:blip r:embed="rId6">
            <a:alphaModFix/>
          </a:blip>
          <a:srcRect b="0" l="0" r="0" t="0"/>
          <a:stretch/>
        </p:blipFill>
        <p:spPr>
          <a:xfrm>
            <a:off x="614363" y="2828032"/>
            <a:ext cx="214313" cy="171450"/>
          </a:xfrm>
          <a:prstGeom prst="rect">
            <a:avLst/>
          </a:prstGeom>
          <a:noFill/>
          <a:ln>
            <a:noFill/>
          </a:ln>
        </p:spPr>
      </p:pic>
      <p:sp>
        <p:nvSpPr>
          <p:cNvPr id="1526" name="Google Shape;1526;p36"/>
          <p:cNvSpPr/>
          <p:nvPr/>
        </p:nvSpPr>
        <p:spPr>
          <a:xfrm>
            <a:off x="928688" y="2761059"/>
            <a:ext cx="735527"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API Designer</a:t>
            </a:r>
            <a:endParaRPr b="0" i="0" sz="784" u="none" cap="none" strike="noStrike">
              <a:solidFill>
                <a:schemeClr val="dk1"/>
              </a:solidFill>
              <a:latin typeface="Calibri"/>
              <a:ea typeface="Calibri"/>
              <a:cs typeface="Calibri"/>
              <a:sym typeface="Calibri"/>
            </a:endParaRPr>
          </a:p>
        </p:txBody>
      </p:sp>
      <p:sp>
        <p:nvSpPr>
          <p:cNvPr id="1527" name="Google Shape;1527;p36"/>
          <p:cNvSpPr/>
          <p:nvPr/>
        </p:nvSpPr>
        <p:spPr>
          <a:xfrm>
            <a:off x="928688" y="2937867"/>
            <a:ext cx="735527"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A0AAB5"/>
              </a:buClr>
              <a:buSzPts val="674"/>
              <a:buFont typeface="Calibri"/>
              <a:buNone/>
            </a:pPr>
            <a:r>
              <a:rPr b="0" i="0" lang="en-US" sz="674" u="none" cap="none" strike="noStrike">
                <a:solidFill>
                  <a:srgbClr val="A0AAB5"/>
                </a:solidFill>
                <a:latin typeface="Calibri"/>
                <a:ea typeface="Calibri"/>
                <a:cs typeface="Calibri"/>
                <a:sym typeface="Calibri"/>
              </a:rPr>
              <a:t>OpenAPI Specs</a:t>
            </a:r>
            <a:endParaRPr b="0" i="0" sz="674" u="none" cap="none" strike="noStrike">
              <a:solidFill>
                <a:schemeClr val="dk1"/>
              </a:solidFill>
              <a:latin typeface="Calibri"/>
              <a:ea typeface="Calibri"/>
              <a:cs typeface="Calibri"/>
              <a:sym typeface="Calibri"/>
            </a:endParaRPr>
          </a:p>
        </p:txBody>
      </p:sp>
      <p:sp>
        <p:nvSpPr>
          <p:cNvPr id="1528" name="Google Shape;1528;p36"/>
          <p:cNvSpPr/>
          <p:nvPr/>
        </p:nvSpPr>
        <p:spPr>
          <a:xfrm>
            <a:off x="500063" y="3293269"/>
            <a:ext cx="2488788" cy="53220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6"/>
          <p:cNvSpPr/>
          <p:nvPr/>
        </p:nvSpPr>
        <p:spPr>
          <a:xfrm>
            <a:off x="500063" y="3293269"/>
            <a:ext cx="28575" cy="532209"/>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30" name="Google Shape;1530;p36"/>
          <p:cNvPicPr preferRelativeResize="0"/>
          <p:nvPr/>
        </p:nvPicPr>
        <p:blipFill rotWithShape="1">
          <a:blip r:embed="rId7">
            <a:alphaModFix/>
          </a:blip>
          <a:srcRect b="0" l="0" r="0" t="0"/>
          <a:stretch/>
        </p:blipFill>
        <p:spPr>
          <a:xfrm>
            <a:off x="635794" y="3474541"/>
            <a:ext cx="171450" cy="171450"/>
          </a:xfrm>
          <a:prstGeom prst="rect">
            <a:avLst/>
          </a:prstGeom>
          <a:noFill/>
          <a:ln>
            <a:noFill/>
          </a:ln>
        </p:spPr>
      </p:pic>
      <p:sp>
        <p:nvSpPr>
          <p:cNvPr id="1531" name="Google Shape;1531;p36"/>
          <p:cNvSpPr/>
          <p:nvPr/>
        </p:nvSpPr>
        <p:spPr>
          <a:xfrm>
            <a:off x="928688" y="3407569"/>
            <a:ext cx="881165"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UX/UI Designer</a:t>
            </a:r>
            <a:endParaRPr b="0" i="0" sz="784" u="none" cap="none" strike="noStrike">
              <a:solidFill>
                <a:schemeClr val="dk1"/>
              </a:solidFill>
              <a:latin typeface="Calibri"/>
              <a:ea typeface="Calibri"/>
              <a:cs typeface="Calibri"/>
              <a:sym typeface="Calibri"/>
            </a:endParaRPr>
          </a:p>
        </p:txBody>
      </p:sp>
      <p:sp>
        <p:nvSpPr>
          <p:cNvPr id="1532" name="Google Shape;1532;p36"/>
          <p:cNvSpPr/>
          <p:nvPr/>
        </p:nvSpPr>
        <p:spPr>
          <a:xfrm>
            <a:off x="928688" y="3584377"/>
            <a:ext cx="881165"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A0AAB5"/>
              </a:buClr>
              <a:buSzPts val="674"/>
              <a:buFont typeface="Calibri"/>
              <a:buNone/>
            </a:pPr>
            <a:r>
              <a:rPr b="0" i="0" lang="en-US" sz="674" u="none" cap="none" strike="noStrike">
                <a:solidFill>
                  <a:srgbClr val="A0AAB5"/>
                </a:solidFill>
                <a:latin typeface="Calibri"/>
                <a:ea typeface="Calibri"/>
                <a:cs typeface="Calibri"/>
                <a:sym typeface="Calibri"/>
              </a:rPr>
              <a:t>Wireframes &amp; Style</a:t>
            </a:r>
            <a:endParaRPr b="0" i="0" sz="674" u="none" cap="none" strike="noStrike">
              <a:solidFill>
                <a:schemeClr val="dk1"/>
              </a:solidFill>
              <a:latin typeface="Calibri"/>
              <a:ea typeface="Calibri"/>
              <a:cs typeface="Calibri"/>
              <a:sym typeface="Calibri"/>
            </a:endParaRPr>
          </a:p>
        </p:txBody>
      </p:sp>
      <p:sp>
        <p:nvSpPr>
          <p:cNvPr id="1533" name="Google Shape;1533;p36"/>
          <p:cNvSpPr/>
          <p:nvPr/>
        </p:nvSpPr>
        <p:spPr>
          <a:xfrm>
            <a:off x="3203163" y="1030486"/>
            <a:ext cx="1038048" cy="173236"/>
          </a:xfrm>
          <a:prstGeom prst="roundRect">
            <a:avLst>
              <a:gd fmla="val 16667" name="adj"/>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34" name="Google Shape;1534;p36"/>
          <p:cNvPicPr preferRelativeResize="0"/>
          <p:nvPr/>
        </p:nvPicPr>
        <p:blipFill rotWithShape="1">
          <a:blip r:embed="rId8">
            <a:alphaModFix/>
          </a:blip>
          <a:srcRect b="0" l="0" r="0" t="0"/>
          <a:stretch/>
        </p:blipFill>
        <p:spPr>
          <a:xfrm>
            <a:off x="3288888" y="1073348"/>
            <a:ext cx="75009" cy="85725"/>
          </a:xfrm>
          <a:prstGeom prst="rect">
            <a:avLst/>
          </a:prstGeom>
          <a:noFill/>
          <a:ln>
            <a:noFill/>
          </a:ln>
        </p:spPr>
      </p:pic>
      <p:sp>
        <p:nvSpPr>
          <p:cNvPr id="1535" name="Google Shape;1535;p36"/>
          <p:cNvSpPr/>
          <p:nvPr/>
        </p:nvSpPr>
        <p:spPr>
          <a:xfrm>
            <a:off x="3363897" y="1059061"/>
            <a:ext cx="791589" cy="116086"/>
          </a:xfrm>
          <a:prstGeom prst="rect">
            <a:avLst/>
          </a:prstGeom>
          <a:noFill/>
          <a:ln>
            <a:noFill/>
          </a:ln>
        </p:spPr>
        <p:txBody>
          <a:bodyPr anchorCtr="0" anchor="t" bIns="0" lIns="0" spcFirstLastPara="1" rIns="0" wrap="square" tIns="0">
            <a:noAutofit/>
          </a:bodyPr>
          <a:lstStyle/>
          <a:p>
            <a:pPr indent="0" lvl="0" marL="0" marR="0" rtl="0" algn="l">
              <a:lnSpc>
                <a:spcPct val="136986"/>
              </a:lnSpc>
              <a:spcBef>
                <a:spcPts val="0"/>
              </a:spcBef>
              <a:spcAft>
                <a:spcPts val="0"/>
              </a:spcAft>
              <a:buClr>
                <a:srgbClr val="0D1B2E"/>
              </a:buClr>
              <a:buSzPts val="584"/>
              <a:buFont typeface="Calibri"/>
              <a:buNone/>
            </a:pPr>
            <a:r>
              <a:rPr b="1" i="0" lang="en-US" sz="584" u="none" cap="none" strike="noStrike">
                <a:solidFill>
                  <a:srgbClr val="0D1B2E"/>
                </a:solidFill>
                <a:latin typeface="Calibri"/>
                <a:ea typeface="Calibri"/>
                <a:cs typeface="Calibri"/>
                <a:sym typeface="Calibri"/>
              </a:rPr>
              <a:t>Fan-Out / Fan-In</a:t>
            </a:r>
            <a:endParaRPr b="0" i="0" sz="584" u="none" cap="none" strike="noStrike">
              <a:solidFill>
                <a:schemeClr val="dk1"/>
              </a:solidFill>
              <a:latin typeface="Calibri"/>
              <a:ea typeface="Calibri"/>
              <a:cs typeface="Calibri"/>
              <a:sym typeface="Calibri"/>
            </a:endParaRPr>
          </a:p>
        </p:txBody>
      </p:sp>
      <p:sp>
        <p:nvSpPr>
          <p:cNvPr id="1536" name="Google Shape;1536;p36"/>
          <p:cNvSpPr/>
          <p:nvPr/>
        </p:nvSpPr>
        <p:spPr>
          <a:xfrm>
            <a:off x="3203163" y="1310878"/>
            <a:ext cx="2737647" cy="307181"/>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36"/>
          <p:cNvSpPr/>
          <p:nvPr/>
        </p:nvSpPr>
        <p:spPr>
          <a:xfrm>
            <a:off x="3203163" y="1310878"/>
            <a:ext cx="2737647" cy="307181"/>
          </a:xfrm>
          <a:prstGeom prst="rect">
            <a:avLst/>
          </a:prstGeom>
          <a:noFill/>
          <a:ln>
            <a:noFill/>
          </a:ln>
        </p:spPr>
        <p:txBody>
          <a:bodyPr anchorCtr="0" anchor="t" bIns="102100" lIns="136000" spcFirstLastPara="1" rIns="136000" wrap="square" tIns="102100">
            <a:noAutofit/>
          </a:bodyPr>
          <a:lstStyle/>
          <a:p>
            <a:pPr indent="0" lvl="0" marL="0" marR="0" rtl="0" algn="ctr">
              <a:lnSpc>
                <a:spcPct val="131771"/>
              </a:lnSpc>
              <a:spcBef>
                <a:spcPts val="0"/>
              </a:spcBef>
              <a:spcAft>
                <a:spcPts val="0"/>
              </a:spcAft>
              <a:buClr>
                <a:srgbClr val="0D1B2E"/>
              </a:buClr>
              <a:buSzPts val="683"/>
              <a:buFont typeface="Calibri"/>
              <a:buNone/>
            </a:pPr>
            <a:r>
              <a:rPr b="1" i="0" lang="en-US" sz="683" u="none" cap="none" strike="noStrike">
                <a:solidFill>
                  <a:srgbClr val="0D1B2E"/>
                </a:solidFill>
                <a:latin typeface="Calibri"/>
                <a:ea typeface="Calibri"/>
                <a:cs typeface="Calibri"/>
                <a:sym typeface="Calibri"/>
              </a:rPr>
              <a:t>Architect: System Context (C4)</a:t>
            </a:r>
            <a:endParaRPr b="0" i="0" sz="683" u="none" cap="none" strike="noStrike">
              <a:solidFill>
                <a:schemeClr val="dk1"/>
              </a:solidFill>
              <a:latin typeface="Calibri"/>
              <a:ea typeface="Calibri"/>
              <a:cs typeface="Calibri"/>
              <a:sym typeface="Calibri"/>
            </a:endParaRPr>
          </a:p>
        </p:txBody>
      </p:sp>
      <p:sp>
        <p:nvSpPr>
          <p:cNvPr id="1538" name="Google Shape;1538;p36"/>
          <p:cNvSpPr/>
          <p:nvPr/>
        </p:nvSpPr>
        <p:spPr>
          <a:xfrm>
            <a:off x="3203163" y="1803797"/>
            <a:ext cx="874440" cy="419695"/>
          </a:xfrm>
          <a:prstGeom prst="rect">
            <a:avLst/>
          </a:prstGeom>
          <a:solidFill>
            <a:srgbClr val="1A2A3A"/>
          </a:solidFill>
          <a:ln cap="flat" cmpd="sng" w="9525">
            <a:solidFill>
              <a:srgbClr val="00B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36"/>
          <p:cNvSpPr/>
          <p:nvPr/>
        </p:nvSpPr>
        <p:spPr>
          <a:xfrm>
            <a:off x="3633211" y="1689497"/>
            <a:ext cx="14288" cy="114300"/>
          </a:xfrm>
          <a:prstGeom prst="rect">
            <a:avLst/>
          </a:prstGeom>
          <a:solidFill>
            <a:srgbClr val="00BFFF">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36"/>
          <p:cNvSpPr/>
          <p:nvPr/>
        </p:nvSpPr>
        <p:spPr>
          <a:xfrm>
            <a:off x="3274600" y="1875234"/>
            <a:ext cx="722049" cy="126802"/>
          </a:xfrm>
          <a:prstGeom prst="rect">
            <a:avLst/>
          </a:prstGeom>
          <a:noFill/>
          <a:ln>
            <a:noFill/>
          </a:ln>
        </p:spPr>
        <p:txBody>
          <a:bodyPr anchorCtr="0" anchor="t" bIns="0" lIns="0" spcFirstLastPara="1" rIns="0" wrap="square" tIns="0">
            <a:noAutofit/>
          </a:bodyPr>
          <a:lstStyle/>
          <a:p>
            <a:pPr indent="0" lvl="0" marL="0" marR="0" rtl="0" algn="ctr">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DB Agent</a:t>
            </a:r>
            <a:endParaRPr b="0" i="0" sz="634" u="none" cap="none" strike="noStrike">
              <a:solidFill>
                <a:schemeClr val="dk1"/>
              </a:solidFill>
              <a:latin typeface="Calibri"/>
              <a:ea typeface="Calibri"/>
              <a:cs typeface="Calibri"/>
              <a:sym typeface="Calibri"/>
            </a:endParaRPr>
          </a:p>
        </p:txBody>
      </p:sp>
      <p:sp>
        <p:nvSpPr>
          <p:cNvPr id="1541" name="Google Shape;1541;p36"/>
          <p:cNvSpPr/>
          <p:nvPr/>
        </p:nvSpPr>
        <p:spPr>
          <a:xfrm>
            <a:off x="3274600" y="2030611"/>
            <a:ext cx="722049" cy="107156"/>
          </a:xfrm>
          <a:prstGeom prst="rect">
            <a:avLst/>
          </a:prstGeom>
          <a:noFill/>
          <a:ln>
            <a:noFill/>
          </a:ln>
        </p:spPr>
        <p:txBody>
          <a:bodyPr anchorCtr="0" anchor="t" bIns="0" lIns="0" spcFirstLastPara="1" rIns="0" wrap="square" tIns="0">
            <a:noAutofit/>
          </a:bodyPr>
          <a:lstStyle/>
          <a:p>
            <a:pPr indent="0" lvl="0" marL="0" marR="0" rtl="0" algn="ctr">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ERD &amp; Schema</a:t>
            </a:r>
            <a:endParaRPr b="0" i="0" sz="568" u="none" cap="none" strike="noStrike">
              <a:solidFill>
                <a:schemeClr val="dk1"/>
              </a:solidFill>
              <a:latin typeface="Calibri"/>
              <a:ea typeface="Calibri"/>
              <a:cs typeface="Calibri"/>
              <a:sym typeface="Calibri"/>
            </a:endParaRPr>
          </a:p>
        </p:txBody>
      </p:sp>
      <p:sp>
        <p:nvSpPr>
          <p:cNvPr id="1542" name="Google Shape;1542;p36"/>
          <p:cNvSpPr/>
          <p:nvPr/>
        </p:nvSpPr>
        <p:spPr>
          <a:xfrm>
            <a:off x="4125237" y="1803797"/>
            <a:ext cx="879211" cy="419695"/>
          </a:xfrm>
          <a:prstGeom prst="rect">
            <a:avLst/>
          </a:prstGeom>
          <a:solidFill>
            <a:srgbClr val="1A2A3A"/>
          </a:solidFill>
          <a:ln cap="flat" cmpd="sng" w="9525">
            <a:solidFill>
              <a:srgbClr val="00B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36"/>
          <p:cNvSpPr/>
          <p:nvPr/>
        </p:nvSpPr>
        <p:spPr>
          <a:xfrm>
            <a:off x="4560057" y="1689497"/>
            <a:ext cx="14288" cy="114300"/>
          </a:xfrm>
          <a:prstGeom prst="rect">
            <a:avLst/>
          </a:prstGeom>
          <a:solidFill>
            <a:srgbClr val="00BFFF">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36"/>
          <p:cNvSpPr/>
          <p:nvPr/>
        </p:nvSpPr>
        <p:spPr>
          <a:xfrm>
            <a:off x="4201446" y="1875234"/>
            <a:ext cx="726821" cy="126802"/>
          </a:xfrm>
          <a:prstGeom prst="rect">
            <a:avLst/>
          </a:prstGeom>
          <a:noFill/>
          <a:ln>
            <a:noFill/>
          </a:ln>
        </p:spPr>
        <p:txBody>
          <a:bodyPr anchorCtr="0" anchor="t" bIns="0" lIns="0" spcFirstLastPara="1" rIns="0" wrap="square" tIns="0">
            <a:noAutofit/>
          </a:bodyPr>
          <a:lstStyle/>
          <a:p>
            <a:pPr indent="0" lvl="0" marL="0" marR="0" rtl="0" algn="ctr">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API Agent</a:t>
            </a:r>
            <a:endParaRPr b="0" i="0" sz="634" u="none" cap="none" strike="noStrike">
              <a:solidFill>
                <a:schemeClr val="dk1"/>
              </a:solidFill>
              <a:latin typeface="Calibri"/>
              <a:ea typeface="Calibri"/>
              <a:cs typeface="Calibri"/>
              <a:sym typeface="Calibri"/>
            </a:endParaRPr>
          </a:p>
        </p:txBody>
      </p:sp>
      <p:sp>
        <p:nvSpPr>
          <p:cNvPr id="1545" name="Google Shape;1545;p36"/>
          <p:cNvSpPr/>
          <p:nvPr/>
        </p:nvSpPr>
        <p:spPr>
          <a:xfrm>
            <a:off x="4201446" y="2030611"/>
            <a:ext cx="726821" cy="107156"/>
          </a:xfrm>
          <a:prstGeom prst="rect">
            <a:avLst/>
          </a:prstGeom>
          <a:noFill/>
          <a:ln>
            <a:noFill/>
          </a:ln>
        </p:spPr>
        <p:txBody>
          <a:bodyPr anchorCtr="0" anchor="t" bIns="0" lIns="0" spcFirstLastPara="1" rIns="0" wrap="square" tIns="0">
            <a:noAutofit/>
          </a:bodyPr>
          <a:lstStyle/>
          <a:p>
            <a:pPr indent="0" lvl="0" marL="0" marR="0" rtl="0" algn="ctr">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Swagger Spec</a:t>
            </a:r>
            <a:endParaRPr b="0" i="0" sz="568" u="none" cap="none" strike="noStrike">
              <a:solidFill>
                <a:schemeClr val="dk1"/>
              </a:solidFill>
              <a:latin typeface="Calibri"/>
              <a:ea typeface="Calibri"/>
              <a:cs typeface="Calibri"/>
              <a:sym typeface="Calibri"/>
            </a:endParaRPr>
          </a:p>
        </p:txBody>
      </p:sp>
      <p:sp>
        <p:nvSpPr>
          <p:cNvPr id="1546" name="Google Shape;1546;p36"/>
          <p:cNvSpPr/>
          <p:nvPr/>
        </p:nvSpPr>
        <p:spPr>
          <a:xfrm>
            <a:off x="5056854" y="1803797"/>
            <a:ext cx="883983" cy="419695"/>
          </a:xfrm>
          <a:prstGeom prst="rect">
            <a:avLst/>
          </a:prstGeom>
          <a:solidFill>
            <a:srgbClr val="1A2A3A"/>
          </a:solidFill>
          <a:ln cap="flat" cmpd="sng" w="9525">
            <a:solidFill>
              <a:srgbClr val="00B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6"/>
          <p:cNvSpPr/>
          <p:nvPr/>
        </p:nvSpPr>
        <p:spPr>
          <a:xfrm>
            <a:off x="5496390" y="1689497"/>
            <a:ext cx="14288" cy="114300"/>
          </a:xfrm>
          <a:prstGeom prst="rect">
            <a:avLst/>
          </a:prstGeom>
          <a:solidFill>
            <a:srgbClr val="00BFFF">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6"/>
          <p:cNvSpPr/>
          <p:nvPr/>
        </p:nvSpPr>
        <p:spPr>
          <a:xfrm>
            <a:off x="5137779" y="1875234"/>
            <a:ext cx="731565" cy="126802"/>
          </a:xfrm>
          <a:prstGeom prst="rect">
            <a:avLst/>
          </a:prstGeom>
          <a:noFill/>
          <a:ln>
            <a:noFill/>
          </a:ln>
        </p:spPr>
        <p:txBody>
          <a:bodyPr anchorCtr="0" anchor="t" bIns="0" lIns="0" spcFirstLastPara="1" rIns="0" wrap="square" tIns="0">
            <a:noAutofit/>
          </a:bodyPr>
          <a:lstStyle/>
          <a:p>
            <a:pPr indent="0" lvl="0" marL="0" marR="0" rtl="0" algn="ctr">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UX Agent</a:t>
            </a:r>
            <a:endParaRPr b="0" i="0" sz="634" u="none" cap="none" strike="noStrike">
              <a:solidFill>
                <a:schemeClr val="dk1"/>
              </a:solidFill>
              <a:latin typeface="Calibri"/>
              <a:ea typeface="Calibri"/>
              <a:cs typeface="Calibri"/>
              <a:sym typeface="Calibri"/>
            </a:endParaRPr>
          </a:p>
        </p:txBody>
      </p:sp>
      <p:sp>
        <p:nvSpPr>
          <p:cNvPr id="1549" name="Google Shape;1549;p36"/>
          <p:cNvSpPr/>
          <p:nvPr/>
        </p:nvSpPr>
        <p:spPr>
          <a:xfrm>
            <a:off x="5137779" y="2030611"/>
            <a:ext cx="731565" cy="107156"/>
          </a:xfrm>
          <a:prstGeom prst="rect">
            <a:avLst/>
          </a:prstGeom>
          <a:noFill/>
          <a:ln>
            <a:noFill/>
          </a:ln>
        </p:spPr>
        <p:txBody>
          <a:bodyPr anchorCtr="0" anchor="t" bIns="0" lIns="0" spcFirstLastPara="1" rIns="0" wrap="square" tIns="0">
            <a:noAutofit/>
          </a:bodyPr>
          <a:lstStyle/>
          <a:p>
            <a:pPr indent="0" lvl="0" marL="0" marR="0" rtl="0" algn="ctr">
              <a:lnSpc>
                <a:spcPct val="123239"/>
              </a:lnSpc>
              <a:spcBef>
                <a:spcPts val="0"/>
              </a:spcBef>
              <a:spcAft>
                <a:spcPts val="0"/>
              </a:spcAft>
              <a:buClr>
                <a:srgbClr val="CBD5E1"/>
              </a:buClr>
              <a:buSzPts val="568"/>
              <a:buFont typeface="Calibri"/>
              <a:buNone/>
            </a:pPr>
            <a:r>
              <a:rPr b="0" i="0" lang="en-US" sz="568" u="none" cap="none" strike="noStrike">
                <a:solidFill>
                  <a:srgbClr val="CBD5E1"/>
                </a:solidFill>
                <a:latin typeface="Calibri"/>
                <a:ea typeface="Calibri"/>
                <a:cs typeface="Calibri"/>
                <a:sym typeface="Calibri"/>
              </a:rPr>
              <a:t>Wireframes</a:t>
            </a:r>
            <a:endParaRPr b="0" i="0" sz="568" u="none" cap="none" strike="noStrike">
              <a:solidFill>
                <a:schemeClr val="dk1"/>
              </a:solidFill>
              <a:latin typeface="Calibri"/>
              <a:ea typeface="Calibri"/>
              <a:cs typeface="Calibri"/>
              <a:sym typeface="Calibri"/>
            </a:endParaRPr>
          </a:p>
        </p:txBody>
      </p:sp>
      <p:sp>
        <p:nvSpPr>
          <p:cNvPr id="1550" name="Google Shape;1550;p36"/>
          <p:cNvSpPr/>
          <p:nvPr/>
        </p:nvSpPr>
        <p:spPr>
          <a:xfrm>
            <a:off x="3203163" y="2294930"/>
            <a:ext cx="2737647" cy="410766"/>
          </a:xfrm>
          <a:prstGeom prst="rect">
            <a:avLst/>
          </a:prstGeom>
          <a:solidFill>
            <a:srgbClr val="00C853">
              <a:alpha val="10196"/>
            </a:srgbClr>
          </a:solidFill>
          <a:ln cap="flat" cmpd="sng" w="952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51" name="Google Shape;1551;p36"/>
          <p:cNvPicPr preferRelativeResize="0"/>
          <p:nvPr/>
        </p:nvPicPr>
        <p:blipFill rotWithShape="1">
          <a:blip r:embed="rId9">
            <a:alphaModFix/>
          </a:blip>
          <a:srcRect b="0" l="0" r="0" t="0"/>
          <a:stretch/>
        </p:blipFill>
        <p:spPr>
          <a:xfrm>
            <a:off x="3333787" y="2384227"/>
            <a:ext cx="116086" cy="92869"/>
          </a:xfrm>
          <a:prstGeom prst="rect">
            <a:avLst/>
          </a:prstGeom>
          <a:noFill/>
          <a:ln>
            <a:noFill/>
          </a:ln>
        </p:spPr>
      </p:pic>
      <p:sp>
        <p:nvSpPr>
          <p:cNvPr id="1552" name="Google Shape;1552;p36"/>
          <p:cNvSpPr/>
          <p:nvPr/>
        </p:nvSpPr>
        <p:spPr>
          <a:xfrm>
            <a:off x="3474039" y="2366367"/>
            <a:ext cx="719007" cy="126802"/>
          </a:xfrm>
          <a:prstGeom prst="rect">
            <a:avLst/>
          </a:prstGeom>
          <a:noFill/>
          <a:ln>
            <a:noFill/>
          </a:ln>
        </p:spPr>
        <p:txBody>
          <a:bodyPr anchorCtr="0" anchor="t" bIns="0" lIns="0" spcFirstLastPara="1" rIns="0" wrap="square" tIns="0">
            <a:noAutofit/>
          </a:bodyPr>
          <a:lstStyle/>
          <a:p>
            <a:pPr indent="0" lvl="0" marL="0" marR="0" rtl="0" algn="ctr">
              <a:lnSpc>
                <a:spcPct val="141955"/>
              </a:lnSpc>
              <a:spcBef>
                <a:spcPts val="0"/>
              </a:spcBef>
              <a:spcAft>
                <a:spcPts val="0"/>
              </a:spcAft>
              <a:buClr>
                <a:srgbClr val="CBD5E1"/>
              </a:buClr>
              <a:buSzPts val="634"/>
              <a:buFont typeface="Calibri"/>
              <a:buNone/>
            </a:pPr>
            <a:r>
              <a:rPr b="1" i="0" lang="en-US" sz="634" u="none" cap="none" strike="noStrike">
                <a:solidFill>
                  <a:srgbClr val="CBD5E1"/>
                </a:solidFill>
                <a:latin typeface="Calibri"/>
                <a:ea typeface="Calibri"/>
                <a:cs typeface="Calibri"/>
                <a:sym typeface="Calibri"/>
              </a:rPr>
              <a:t>Human Review:</a:t>
            </a:r>
            <a:endParaRPr b="0" i="0" sz="634" u="none" cap="none" strike="noStrike">
              <a:solidFill>
                <a:schemeClr val="dk1"/>
              </a:solidFill>
              <a:latin typeface="Calibri"/>
              <a:ea typeface="Calibri"/>
              <a:cs typeface="Calibri"/>
              <a:sym typeface="Calibri"/>
            </a:endParaRPr>
          </a:p>
        </p:txBody>
      </p:sp>
      <p:sp>
        <p:nvSpPr>
          <p:cNvPr id="1553" name="Google Shape;1553;p36"/>
          <p:cNvSpPr/>
          <p:nvPr/>
        </p:nvSpPr>
        <p:spPr>
          <a:xfrm>
            <a:off x="4193046" y="2366367"/>
            <a:ext cx="1617139" cy="126802"/>
          </a:xfrm>
          <a:prstGeom prst="rect">
            <a:avLst/>
          </a:prstGeom>
          <a:noFill/>
          <a:ln>
            <a:noFill/>
          </a:ln>
        </p:spPr>
        <p:txBody>
          <a:bodyPr anchorCtr="0" anchor="t" bIns="0" lIns="0" spcFirstLastPara="1" rIns="0" wrap="square" tIns="0">
            <a:noAutofit/>
          </a:bodyPr>
          <a:lstStyle/>
          <a:p>
            <a:pPr indent="0" lvl="0" marL="0" marR="0" rtl="0" algn="ctr">
              <a:lnSpc>
                <a:spcPct val="133531"/>
              </a:lnSpc>
              <a:spcBef>
                <a:spcPts val="0"/>
              </a:spcBef>
              <a:spcAft>
                <a:spcPts val="0"/>
              </a:spcAft>
              <a:buClr>
                <a:srgbClr val="CBD5E1"/>
              </a:buClr>
              <a:buSzPts val="674"/>
              <a:buFont typeface="Calibri"/>
              <a:buNone/>
            </a:pPr>
            <a:r>
              <a:rPr b="0" i="0" lang="en-US" sz="674" u="none" cap="none" strike="noStrike">
                <a:solidFill>
                  <a:srgbClr val="CBD5E1"/>
                </a:solidFill>
                <a:latin typeface="Calibri"/>
                <a:ea typeface="Calibri"/>
                <a:cs typeface="Calibri"/>
                <a:sym typeface="Calibri"/>
              </a:rPr>
              <a:t>Architect + Team validate all artifacts</a:t>
            </a:r>
            <a:endParaRPr b="0" i="0" sz="674" u="none" cap="none" strike="noStrike">
              <a:solidFill>
                <a:schemeClr val="dk1"/>
              </a:solidFill>
              <a:latin typeface="Calibri"/>
              <a:ea typeface="Calibri"/>
              <a:cs typeface="Calibri"/>
              <a:sym typeface="Calibri"/>
            </a:endParaRPr>
          </a:p>
        </p:txBody>
      </p:sp>
      <p:sp>
        <p:nvSpPr>
          <p:cNvPr id="1554" name="Google Shape;1554;p36"/>
          <p:cNvSpPr/>
          <p:nvPr/>
        </p:nvSpPr>
        <p:spPr>
          <a:xfrm>
            <a:off x="4191484" y="2493169"/>
            <a:ext cx="760977" cy="126802"/>
          </a:xfrm>
          <a:prstGeom prst="rect">
            <a:avLst/>
          </a:prstGeom>
          <a:noFill/>
          <a:ln>
            <a:noFill/>
          </a:ln>
        </p:spPr>
        <p:txBody>
          <a:bodyPr anchorCtr="0" anchor="t" bIns="0" lIns="0" spcFirstLastPara="1" rIns="0" wrap="square" tIns="0">
            <a:noAutofit/>
          </a:bodyPr>
          <a:lstStyle/>
          <a:p>
            <a:pPr indent="0" lvl="0" marL="0" marR="0" rtl="0" algn="ctr">
              <a:lnSpc>
                <a:spcPct val="133531"/>
              </a:lnSpc>
              <a:spcBef>
                <a:spcPts val="0"/>
              </a:spcBef>
              <a:spcAft>
                <a:spcPts val="0"/>
              </a:spcAft>
              <a:buClr>
                <a:srgbClr val="CBD5E1"/>
              </a:buClr>
              <a:buSzPts val="674"/>
              <a:buFont typeface="Calibri"/>
              <a:buNone/>
            </a:pPr>
            <a:r>
              <a:rPr b="0" i="0" lang="en-US" sz="674" u="none" cap="none" strike="noStrike">
                <a:solidFill>
                  <a:srgbClr val="CBD5E1"/>
                </a:solidFill>
                <a:latin typeface="Calibri"/>
                <a:ea typeface="Calibri"/>
                <a:cs typeface="Calibri"/>
                <a:sym typeface="Calibri"/>
              </a:rPr>
              <a:t>before dev starts.</a:t>
            </a:r>
            <a:endParaRPr b="0" i="0" sz="674" u="none" cap="none" strike="noStrike">
              <a:solidFill>
                <a:schemeClr val="dk1"/>
              </a:solidFill>
              <a:latin typeface="Calibri"/>
              <a:ea typeface="Calibri"/>
              <a:cs typeface="Calibri"/>
              <a:sym typeface="Calibri"/>
            </a:endParaRPr>
          </a:p>
        </p:txBody>
      </p:sp>
      <p:sp>
        <p:nvSpPr>
          <p:cNvPr id="1555" name="Google Shape;1555;p36"/>
          <p:cNvSpPr/>
          <p:nvPr/>
        </p:nvSpPr>
        <p:spPr>
          <a:xfrm>
            <a:off x="6155122" y="1026914"/>
            <a:ext cx="2488816" cy="219670"/>
          </a:xfrm>
          <a:prstGeom prst="rect">
            <a:avLst/>
          </a:prstGeom>
          <a:noFill/>
          <a:ln>
            <a:noFill/>
          </a:ln>
        </p:spPr>
        <p:txBody>
          <a:bodyPr anchorCtr="0" anchor="t" bIns="68050" lIns="0" spcFirstLastPara="1" rIns="0" wrap="square" tIns="0">
            <a:noAutofit/>
          </a:bodyPr>
          <a:lstStyle/>
          <a:p>
            <a:pPr indent="0" lvl="0" marL="0" marR="0" rtl="0" algn="l">
              <a:lnSpc>
                <a:spcPct val="140306"/>
              </a:lnSpc>
              <a:spcBef>
                <a:spcPts val="0"/>
              </a:spcBef>
              <a:spcAft>
                <a:spcPts val="0"/>
              </a:spcAft>
              <a:buClr>
                <a:srgbClr val="00BFFF"/>
              </a:buClr>
              <a:buSzPts val="784"/>
              <a:buFont typeface="Calibri"/>
              <a:buNone/>
            </a:pPr>
            <a:r>
              <a:rPr b="1" i="0" lang="en-US" sz="784" u="none" cap="none" strike="noStrike">
                <a:solidFill>
                  <a:srgbClr val="00BFFF"/>
                </a:solidFill>
                <a:latin typeface="Calibri"/>
                <a:ea typeface="Calibri"/>
                <a:cs typeface="Calibri"/>
                <a:sym typeface="Calibri"/>
              </a:rPr>
              <a:t>Key Artifacts</a:t>
            </a:r>
            <a:endParaRPr b="0" i="0" sz="784" u="none" cap="none" strike="noStrike">
              <a:solidFill>
                <a:schemeClr val="dk1"/>
              </a:solidFill>
              <a:latin typeface="Calibri"/>
              <a:ea typeface="Calibri"/>
              <a:cs typeface="Calibri"/>
              <a:sym typeface="Calibri"/>
            </a:endParaRPr>
          </a:p>
        </p:txBody>
      </p:sp>
      <p:sp>
        <p:nvSpPr>
          <p:cNvPr id="1556" name="Google Shape;1556;p36"/>
          <p:cNvSpPr/>
          <p:nvPr/>
        </p:nvSpPr>
        <p:spPr>
          <a:xfrm>
            <a:off x="6155122" y="1353741"/>
            <a:ext cx="2488816" cy="669727"/>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57" name="Google Shape;1557;p36"/>
          <p:cNvPicPr preferRelativeResize="0"/>
          <p:nvPr/>
        </p:nvPicPr>
        <p:blipFill rotWithShape="1">
          <a:blip r:embed="rId10">
            <a:alphaModFix/>
          </a:blip>
          <a:srcRect b="0" l="0" r="0" t="0"/>
          <a:stretch/>
        </p:blipFill>
        <p:spPr>
          <a:xfrm>
            <a:off x="6266743" y="1611809"/>
            <a:ext cx="176808" cy="157163"/>
          </a:xfrm>
          <a:prstGeom prst="rect">
            <a:avLst/>
          </a:prstGeom>
          <a:noFill/>
          <a:ln>
            <a:noFill/>
          </a:ln>
        </p:spPr>
      </p:pic>
      <p:sp>
        <p:nvSpPr>
          <p:cNvPr id="1558" name="Google Shape;1558;p36"/>
          <p:cNvSpPr/>
          <p:nvPr/>
        </p:nvSpPr>
        <p:spPr>
          <a:xfrm>
            <a:off x="6555172" y="1453753"/>
            <a:ext cx="1740759"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C4 Architecture</a:t>
            </a:r>
            <a:endParaRPr b="0" i="0" sz="734" u="none" cap="none" strike="noStrike">
              <a:solidFill>
                <a:schemeClr val="dk1"/>
              </a:solidFill>
              <a:latin typeface="Calibri"/>
              <a:ea typeface="Calibri"/>
              <a:cs typeface="Calibri"/>
              <a:sym typeface="Calibri"/>
            </a:endParaRPr>
          </a:p>
        </p:txBody>
      </p:sp>
      <p:sp>
        <p:nvSpPr>
          <p:cNvPr id="1559" name="Google Shape;1559;p36"/>
          <p:cNvSpPr/>
          <p:nvPr/>
        </p:nvSpPr>
        <p:spPr>
          <a:xfrm>
            <a:off x="6555172" y="1621631"/>
            <a:ext cx="1740759"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System, Container &amp; Component diagrams.</a:t>
            </a:r>
            <a:endParaRPr b="0" i="0" sz="621" u="none" cap="none" strike="noStrike">
              <a:solidFill>
                <a:schemeClr val="dk1"/>
              </a:solidFill>
              <a:latin typeface="Calibri"/>
              <a:ea typeface="Calibri"/>
              <a:cs typeface="Calibri"/>
              <a:sym typeface="Calibri"/>
            </a:endParaRPr>
          </a:p>
        </p:txBody>
      </p:sp>
      <p:sp>
        <p:nvSpPr>
          <p:cNvPr id="1560" name="Google Shape;1560;p36"/>
          <p:cNvSpPr/>
          <p:nvPr/>
        </p:nvSpPr>
        <p:spPr>
          <a:xfrm>
            <a:off x="6555172" y="1773436"/>
            <a:ext cx="833251" cy="150019"/>
          </a:xfrm>
          <a:prstGeom prst="rect">
            <a:avLst/>
          </a:prstGeom>
          <a:solidFill>
            <a:srgbClr val="FF5252">
              <a:alpha val="14901"/>
            </a:srgbClr>
          </a:solidFill>
          <a:ln cap="flat" cmpd="sng" w="952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61" name="Google Shape;1561;p36"/>
          <p:cNvPicPr preferRelativeResize="0"/>
          <p:nvPr/>
        </p:nvPicPr>
        <p:blipFill rotWithShape="1">
          <a:blip r:embed="rId11">
            <a:alphaModFix/>
          </a:blip>
          <a:srcRect b="0" l="0" r="0" t="0"/>
          <a:stretch/>
        </p:blipFill>
        <p:spPr>
          <a:xfrm>
            <a:off x="6612322" y="1803797"/>
            <a:ext cx="98227" cy="78581"/>
          </a:xfrm>
          <a:prstGeom prst="rect">
            <a:avLst/>
          </a:prstGeom>
          <a:noFill/>
          <a:ln>
            <a:noFill/>
          </a:ln>
        </p:spPr>
      </p:pic>
      <p:sp>
        <p:nvSpPr>
          <p:cNvPr id="1562" name="Google Shape;1562;p36"/>
          <p:cNvSpPr/>
          <p:nvPr/>
        </p:nvSpPr>
        <p:spPr>
          <a:xfrm>
            <a:off x="6710549" y="1787723"/>
            <a:ext cx="606437" cy="107156"/>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FF5252"/>
              </a:buClr>
              <a:buSzPts val="534"/>
              <a:buFont typeface="Calibri"/>
              <a:buNone/>
            </a:pPr>
            <a:r>
              <a:rPr b="1" i="0" lang="en-US" sz="534" u="none" cap="none" strike="noStrike">
                <a:solidFill>
                  <a:srgbClr val="FF5252"/>
                </a:solidFill>
                <a:latin typeface="Calibri"/>
                <a:ea typeface="Calibri"/>
                <a:cs typeface="Calibri"/>
                <a:sym typeface="Calibri"/>
              </a:rPr>
              <a:t>Human Review</a:t>
            </a:r>
            <a:endParaRPr b="0" i="0" sz="534" u="none" cap="none" strike="noStrike">
              <a:solidFill>
                <a:schemeClr val="dk1"/>
              </a:solidFill>
              <a:latin typeface="Calibri"/>
              <a:ea typeface="Calibri"/>
              <a:cs typeface="Calibri"/>
              <a:sym typeface="Calibri"/>
            </a:endParaRPr>
          </a:p>
        </p:txBody>
      </p:sp>
      <p:sp>
        <p:nvSpPr>
          <p:cNvPr id="1563" name="Google Shape;1563;p36"/>
          <p:cNvSpPr/>
          <p:nvPr/>
        </p:nvSpPr>
        <p:spPr>
          <a:xfrm>
            <a:off x="6155122" y="2109192"/>
            <a:ext cx="2488816" cy="48398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64" name="Google Shape;1564;p36"/>
          <p:cNvPicPr preferRelativeResize="0"/>
          <p:nvPr/>
        </p:nvPicPr>
        <p:blipFill rotWithShape="1">
          <a:blip r:embed="rId12">
            <a:alphaModFix/>
          </a:blip>
          <a:srcRect b="0" l="0" r="0" t="0"/>
          <a:stretch/>
        </p:blipFill>
        <p:spPr>
          <a:xfrm>
            <a:off x="6276566" y="2274391"/>
            <a:ext cx="157163" cy="157163"/>
          </a:xfrm>
          <a:prstGeom prst="rect">
            <a:avLst/>
          </a:prstGeom>
          <a:noFill/>
          <a:ln>
            <a:noFill/>
          </a:ln>
        </p:spPr>
      </p:pic>
      <p:sp>
        <p:nvSpPr>
          <p:cNvPr id="1565" name="Google Shape;1565;p36"/>
          <p:cNvSpPr/>
          <p:nvPr/>
        </p:nvSpPr>
        <p:spPr>
          <a:xfrm>
            <a:off x="6555172" y="2209205"/>
            <a:ext cx="1582508"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ERD / SQL Schema</a:t>
            </a:r>
            <a:endParaRPr b="0" i="0" sz="734" u="none" cap="none" strike="noStrike">
              <a:solidFill>
                <a:schemeClr val="dk1"/>
              </a:solidFill>
              <a:latin typeface="Calibri"/>
              <a:ea typeface="Calibri"/>
              <a:cs typeface="Calibri"/>
              <a:sym typeface="Calibri"/>
            </a:endParaRPr>
          </a:p>
        </p:txBody>
      </p:sp>
      <p:sp>
        <p:nvSpPr>
          <p:cNvPr id="1566" name="Google Shape;1566;p36"/>
          <p:cNvSpPr/>
          <p:nvPr/>
        </p:nvSpPr>
        <p:spPr>
          <a:xfrm>
            <a:off x="6555172" y="2377083"/>
            <a:ext cx="1582508"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Entity relationships &amp; migration scripts.</a:t>
            </a:r>
            <a:endParaRPr b="0" i="0" sz="621" u="none" cap="none" strike="noStrike">
              <a:solidFill>
                <a:schemeClr val="dk1"/>
              </a:solidFill>
              <a:latin typeface="Calibri"/>
              <a:ea typeface="Calibri"/>
              <a:cs typeface="Calibri"/>
              <a:sym typeface="Calibri"/>
            </a:endParaRPr>
          </a:p>
        </p:txBody>
      </p:sp>
      <p:sp>
        <p:nvSpPr>
          <p:cNvPr id="1567" name="Google Shape;1567;p36"/>
          <p:cNvSpPr/>
          <p:nvPr/>
        </p:nvSpPr>
        <p:spPr>
          <a:xfrm>
            <a:off x="6155122" y="2693194"/>
            <a:ext cx="2488816" cy="48398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68" name="Google Shape;1568;p36"/>
          <p:cNvPicPr preferRelativeResize="0"/>
          <p:nvPr/>
        </p:nvPicPr>
        <p:blipFill rotWithShape="1">
          <a:blip r:embed="rId13">
            <a:alphaModFix/>
          </a:blip>
          <a:srcRect b="0" l="0" r="0" t="0"/>
          <a:stretch/>
        </p:blipFill>
        <p:spPr>
          <a:xfrm>
            <a:off x="6296211" y="2858393"/>
            <a:ext cx="117872" cy="157163"/>
          </a:xfrm>
          <a:prstGeom prst="rect">
            <a:avLst/>
          </a:prstGeom>
          <a:noFill/>
          <a:ln>
            <a:noFill/>
          </a:ln>
        </p:spPr>
      </p:pic>
      <p:sp>
        <p:nvSpPr>
          <p:cNvPr id="1569" name="Google Shape;1569;p36"/>
          <p:cNvSpPr/>
          <p:nvPr/>
        </p:nvSpPr>
        <p:spPr>
          <a:xfrm>
            <a:off x="6555172" y="2793206"/>
            <a:ext cx="1685199"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OpenAPI Spec</a:t>
            </a:r>
            <a:endParaRPr b="0" i="0" sz="734" u="none" cap="none" strike="noStrike">
              <a:solidFill>
                <a:schemeClr val="dk1"/>
              </a:solidFill>
              <a:latin typeface="Calibri"/>
              <a:ea typeface="Calibri"/>
              <a:cs typeface="Calibri"/>
              <a:sym typeface="Calibri"/>
            </a:endParaRPr>
          </a:p>
        </p:txBody>
      </p:sp>
      <p:sp>
        <p:nvSpPr>
          <p:cNvPr id="1570" name="Google Shape;1570;p36"/>
          <p:cNvSpPr/>
          <p:nvPr/>
        </p:nvSpPr>
        <p:spPr>
          <a:xfrm>
            <a:off x="6555172" y="2961084"/>
            <a:ext cx="1685199"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Swagger YAML with all endpoints defined.</a:t>
            </a:r>
            <a:endParaRPr b="0" i="0" sz="621" u="none" cap="none" strike="noStrike">
              <a:solidFill>
                <a:schemeClr val="dk1"/>
              </a:solidFill>
              <a:latin typeface="Calibri"/>
              <a:ea typeface="Calibri"/>
              <a:cs typeface="Calibri"/>
              <a:sym typeface="Calibri"/>
            </a:endParaRPr>
          </a:p>
        </p:txBody>
      </p:sp>
      <p:sp>
        <p:nvSpPr>
          <p:cNvPr id="1571" name="Google Shape;1571;p36"/>
          <p:cNvSpPr/>
          <p:nvPr/>
        </p:nvSpPr>
        <p:spPr>
          <a:xfrm>
            <a:off x="6155122" y="3277195"/>
            <a:ext cx="2488816" cy="669727"/>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72" name="Google Shape;1572;p36"/>
          <p:cNvPicPr preferRelativeResize="0"/>
          <p:nvPr/>
        </p:nvPicPr>
        <p:blipFill rotWithShape="1">
          <a:blip r:embed="rId14">
            <a:alphaModFix/>
          </a:blip>
          <a:srcRect b="0" l="0" r="0" t="0"/>
          <a:stretch/>
        </p:blipFill>
        <p:spPr>
          <a:xfrm>
            <a:off x="6276566" y="3535263"/>
            <a:ext cx="157163" cy="157163"/>
          </a:xfrm>
          <a:prstGeom prst="rect">
            <a:avLst/>
          </a:prstGeom>
          <a:noFill/>
          <a:ln>
            <a:noFill/>
          </a:ln>
        </p:spPr>
      </p:pic>
      <p:sp>
        <p:nvSpPr>
          <p:cNvPr id="1573" name="Google Shape;1573;p36"/>
          <p:cNvSpPr/>
          <p:nvPr/>
        </p:nvSpPr>
        <p:spPr>
          <a:xfrm>
            <a:off x="6555172" y="3377208"/>
            <a:ext cx="1428108"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UI Wireframes</a:t>
            </a:r>
            <a:endParaRPr b="0" i="0" sz="734" u="none" cap="none" strike="noStrike">
              <a:solidFill>
                <a:schemeClr val="dk1"/>
              </a:solidFill>
              <a:latin typeface="Calibri"/>
              <a:ea typeface="Calibri"/>
              <a:cs typeface="Calibri"/>
              <a:sym typeface="Calibri"/>
            </a:endParaRPr>
          </a:p>
        </p:txBody>
      </p:sp>
      <p:sp>
        <p:nvSpPr>
          <p:cNvPr id="1574" name="Google Shape;1574;p36"/>
          <p:cNvSpPr/>
          <p:nvPr/>
        </p:nvSpPr>
        <p:spPr>
          <a:xfrm>
            <a:off x="6555172" y="3545086"/>
            <a:ext cx="1428108"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Lo-fi mockups &amp; CSS design tokens.</a:t>
            </a:r>
            <a:endParaRPr b="0" i="0" sz="621" u="none" cap="none" strike="noStrike">
              <a:solidFill>
                <a:schemeClr val="dk1"/>
              </a:solidFill>
              <a:latin typeface="Calibri"/>
              <a:ea typeface="Calibri"/>
              <a:cs typeface="Calibri"/>
              <a:sym typeface="Calibri"/>
            </a:endParaRPr>
          </a:p>
        </p:txBody>
      </p:sp>
      <p:sp>
        <p:nvSpPr>
          <p:cNvPr id="1575" name="Google Shape;1575;p36"/>
          <p:cNvSpPr/>
          <p:nvPr/>
        </p:nvSpPr>
        <p:spPr>
          <a:xfrm>
            <a:off x="6555172" y="3696891"/>
            <a:ext cx="833251" cy="150019"/>
          </a:xfrm>
          <a:prstGeom prst="rect">
            <a:avLst/>
          </a:prstGeom>
          <a:solidFill>
            <a:srgbClr val="FF5252">
              <a:alpha val="14901"/>
            </a:srgbClr>
          </a:solidFill>
          <a:ln cap="flat" cmpd="sng" w="952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76" name="Google Shape;1576;p36"/>
          <p:cNvPicPr preferRelativeResize="0"/>
          <p:nvPr/>
        </p:nvPicPr>
        <p:blipFill rotWithShape="1">
          <a:blip r:embed="rId15">
            <a:alphaModFix/>
          </a:blip>
          <a:srcRect b="0" l="0" r="0" t="0"/>
          <a:stretch/>
        </p:blipFill>
        <p:spPr>
          <a:xfrm>
            <a:off x="6612322" y="3727252"/>
            <a:ext cx="98227" cy="78581"/>
          </a:xfrm>
          <a:prstGeom prst="rect">
            <a:avLst/>
          </a:prstGeom>
          <a:noFill/>
          <a:ln>
            <a:noFill/>
          </a:ln>
        </p:spPr>
      </p:pic>
      <p:sp>
        <p:nvSpPr>
          <p:cNvPr id="1577" name="Google Shape;1577;p36"/>
          <p:cNvSpPr/>
          <p:nvPr/>
        </p:nvSpPr>
        <p:spPr>
          <a:xfrm>
            <a:off x="6710549" y="3711178"/>
            <a:ext cx="606437" cy="107156"/>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FF5252"/>
              </a:buClr>
              <a:buSzPts val="534"/>
              <a:buFont typeface="Calibri"/>
              <a:buNone/>
            </a:pPr>
            <a:r>
              <a:rPr b="1" i="0" lang="en-US" sz="534" u="none" cap="none" strike="noStrike">
                <a:solidFill>
                  <a:srgbClr val="FF5252"/>
                </a:solidFill>
                <a:latin typeface="Calibri"/>
                <a:ea typeface="Calibri"/>
                <a:cs typeface="Calibri"/>
                <a:sym typeface="Calibri"/>
              </a:rPr>
              <a:t>Human Review</a:t>
            </a:r>
            <a:endParaRPr b="0" i="0" sz="534"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82" name="Shape 1582"/>
        <p:cNvGrpSpPr/>
        <p:nvPr/>
      </p:nvGrpSpPr>
      <p:grpSpPr>
        <a:xfrm>
          <a:off x="0" y="0"/>
          <a:ext cx="0" cy="0"/>
          <a:chOff x="0" y="0"/>
          <a:chExt cx="0" cy="0"/>
        </a:xfrm>
      </p:grpSpPr>
      <p:pic>
        <p:nvPicPr>
          <p:cNvPr descr="preencoded.png" id="1583" name="Google Shape;1583;p3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584" name="Google Shape;1584;p37"/>
          <p:cNvSpPr/>
          <p:nvPr/>
        </p:nvSpPr>
        <p:spPr>
          <a:xfrm>
            <a:off x="500063" y="357188"/>
            <a:ext cx="8143875" cy="369689"/>
          </a:xfrm>
          <a:prstGeom prst="rect">
            <a:avLst/>
          </a:prstGeom>
          <a:noFill/>
          <a:ln>
            <a:noFill/>
          </a:ln>
        </p:spPr>
        <p:txBody>
          <a:bodyPr anchorCtr="0" anchor="t" bIns="0" lIns="0" spcFirstLastPara="1" rIns="0" wrap="square" tIns="0">
            <a:noAutofit/>
          </a:bodyPr>
          <a:lstStyle/>
          <a:p>
            <a:pPr indent="0" lvl="0" marL="0" marR="0" rtl="0" algn="l">
              <a:lnSpc>
                <a:spcPct val="135983"/>
              </a:lnSpc>
              <a:spcBef>
                <a:spcPts val="0"/>
              </a:spcBef>
              <a:spcAft>
                <a:spcPts val="0"/>
              </a:spcAft>
              <a:buClr>
                <a:srgbClr val="FFFFFF"/>
              </a:buClr>
              <a:buSzPts val="1912"/>
              <a:buFont typeface="Calibri"/>
              <a:buNone/>
            </a:pPr>
            <a:r>
              <a:rPr b="1" i="0" lang="en-US" sz="1912" u="none" cap="none" strike="noStrike">
                <a:solidFill>
                  <a:srgbClr val="FFFFFF"/>
                </a:solidFill>
                <a:latin typeface="Calibri"/>
                <a:ea typeface="Calibri"/>
                <a:cs typeface="Calibri"/>
                <a:sym typeface="Calibri"/>
              </a:rPr>
              <a:t>Development Phase: Layered Build</a:t>
            </a:r>
            <a:endParaRPr b="0" i="0" sz="1912" u="none" cap="none" strike="noStrike">
              <a:solidFill>
                <a:schemeClr val="dk1"/>
              </a:solidFill>
              <a:latin typeface="Calibri"/>
              <a:ea typeface="Calibri"/>
              <a:cs typeface="Calibri"/>
              <a:sym typeface="Calibri"/>
            </a:endParaRPr>
          </a:p>
        </p:txBody>
      </p:sp>
      <p:sp>
        <p:nvSpPr>
          <p:cNvPr id="1585" name="Google Shape;1585;p37"/>
          <p:cNvSpPr/>
          <p:nvPr/>
        </p:nvSpPr>
        <p:spPr>
          <a:xfrm>
            <a:off x="500063" y="1026914"/>
            <a:ext cx="2488788" cy="219670"/>
          </a:xfrm>
          <a:prstGeom prst="rect">
            <a:avLst/>
          </a:prstGeom>
          <a:noFill/>
          <a:ln>
            <a:noFill/>
          </a:ln>
        </p:spPr>
        <p:txBody>
          <a:bodyPr anchorCtr="0" anchor="t" bIns="68050" lIns="0" spcFirstLastPara="1" rIns="0" wrap="square" tIns="0">
            <a:noAutofit/>
          </a:bodyPr>
          <a:lstStyle/>
          <a:p>
            <a:pPr indent="0" lvl="0" marL="0" marR="0" rtl="0" algn="l">
              <a:lnSpc>
                <a:spcPct val="140306"/>
              </a:lnSpc>
              <a:spcBef>
                <a:spcPts val="0"/>
              </a:spcBef>
              <a:spcAft>
                <a:spcPts val="0"/>
              </a:spcAft>
              <a:buClr>
                <a:srgbClr val="00BFFF"/>
              </a:buClr>
              <a:buSzPts val="784"/>
              <a:buFont typeface="Calibri"/>
              <a:buNone/>
            </a:pPr>
            <a:r>
              <a:rPr b="1" i="0" lang="en-US" sz="784" u="none" cap="none" strike="noStrike">
                <a:solidFill>
                  <a:srgbClr val="00BFFF"/>
                </a:solidFill>
                <a:latin typeface="Calibri"/>
                <a:ea typeface="Calibri"/>
                <a:cs typeface="Calibri"/>
                <a:sym typeface="Calibri"/>
              </a:rPr>
              <a:t>The Squad</a:t>
            </a:r>
            <a:endParaRPr b="0" i="0" sz="784" u="none" cap="none" strike="noStrike">
              <a:solidFill>
                <a:schemeClr val="dk1"/>
              </a:solidFill>
              <a:latin typeface="Calibri"/>
              <a:ea typeface="Calibri"/>
              <a:cs typeface="Calibri"/>
              <a:sym typeface="Calibri"/>
            </a:endParaRPr>
          </a:p>
        </p:txBody>
      </p:sp>
      <p:sp>
        <p:nvSpPr>
          <p:cNvPr id="1586" name="Google Shape;1586;p37"/>
          <p:cNvSpPr/>
          <p:nvPr/>
        </p:nvSpPr>
        <p:spPr>
          <a:xfrm>
            <a:off x="500063" y="1353741"/>
            <a:ext cx="2488788" cy="53220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7"/>
          <p:cNvSpPr/>
          <p:nvPr/>
        </p:nvSpPr>
        <p:spPr>
          <a:xfrm>
            <a:off x="500063" y="1353741"/>
            <a:ext cx="28575" cy="532209"/>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88" name="Google Shape;1588;p37"/>
          <p:cNvPicPr preferRelativeResize="0"/>
          <p:nvPr/>
        </p:nvPicPr>
        <p:blipFill rotWithShape="1">
          <a:blip r:embed="rId4">
            <a:alphaModFix/>
          </a:blip>
          <a:srcRect b="0" l="0" r="0" t="0"/>
          <a:stretch/>
        </p:blipFill>
        <p:spPr>
          <a:xfrm>
            <a:off x="646509" y="1535013"/>
            <a:ext cx="150019" cy="171450"/>
          </a:xfrm>
          <a:prstGeom prst="rect">
            <a:avLst/>
          </a:prstGeom>
          <a:noFill/>
          <a:ln>
            <a:noFill/>
          </a:ln>
        </p:spPr>
      </p:pic>
      <p:sp>
        <p:nvSpPr>
          <p:cNvPr id="1589" name="Google Shape;1589;p37"/>
          <p:cNvSpPr/>
          <p:nvPr/>
        </p:nvSpPr>
        <p:spPr>
          <a:xfrm>
            <a:off x="928688" y="1468041"/>
            <a:ext cx="1000767"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Tech Lead</a:t>
            </a:r>
            <a:endParaRPr b="0" i="0" sz="784" u="none" cap="none" strike="noStrike">
              <a:solidFill>
                <a:schemeClr val="dk1"/>
              </a:solidFill>
              <a:latin typeface="Calibri"/>
              <a:ea typeface="Calibri"/>
              <a:cs typeface="Calibri"/>
              <a:sym typeface="Calibri"/>
            </a:endParaRPr>
          </a:p>
        </p:txBody>
      </p:sp>
      <p:sp>
        <p:nvSpPr>
          <p:cNvPr id="1590" name="Google Shape;1590;p37"/>
          <p:cNvSpPr/>
          <p:nvPr/>
        </p:nvSpPr>
        <p:spPr>
          <a:xfrm>
            <a:off x="928688" y="1644848"/>
            <a:ext cx="1000767"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A0AAB5"/>
              </a:buClr>
              <a:buSzPts val="674"/>
              <a:buFont typeface="Calibri"/>
              <a:buNone/>
            </a:pPr>
            <a:r>
              <a:rPr b="0" i="0" lang="en-US" sz="674" u="none" cap="none" strike="noStrike">
                <a:solidFill>
                  <a:srgbClr val="A0AAB5"/>
                </a:solidFill>
                <a:latin typeface="Calibri"/>
                <a:ea typeface="Calibri"/>
                <a:cs typeface="Calibri"/>
                <a:sym typeface="Calibri"/>
              </a:rPr>
              <a:t>TRD &amp; Task Breakdown</a:t>
            </a:r>
            <a:endParaRPr b="0" i="0" sz="674" u="none" cap="none" strike="noStrike">
              <a:solidFill>
                <a:schemeClr val="dk1"/>
              </a:solidFill>
              <a:latin typeface="Calibri"/>
              <a:ea typeface="Calibri"/>
              <a:cs typeface="Calibri"/>
              <a:sym typeface="Calibri"/>
            </a:endParaRPr>
          </a:p>
        </p:txBody>
      </p:sp>
      <p:sp>
        <p:nvSpPr>
          <p:cNvPr id="1591" name="Google Shape;1591;p37"/>
          <p:cNvSpPr/>
          <p:nvPr/>
        </p:nvSpPr>
        <p:spPr>
          <a:xfrm>
            <a:off x="500063" y="2000250"/>
            <a:ext cx="2488788" cy="53220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7"/>
          <p:cNvSpPr/>
          <p:nvPr/>
        </p:nvSpPr>
        <p:spPr>
          <a:xfrm>
            <a:off x="500063" y="2000250"/>
            <a:ext cx="28575" cy="532209"/>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93" name="Google Shape;1593;p37"/>
          <p:cNvPicPr preferRelativeResize="0"/>
          <p:nvPr/>
        </p:nvPicPr>
        <p:blipFill rotWithShape="1">
          <a:blip r:embed="rId5">
            <a:alphaModFix/>
          </a:blip>
          <a:srcRect b="0" l="0" r="0" t="0"/>
          <a:stretch/>
        </p:blipFill>
        <p:spPr>
          <a:xfrm>
            <a:off x="635794" y="2181523"/>
            <a:ext cx="171450" cy="171450"/>
          </a:xfrm>
          <a:prstGeom prst="rect">
            <a:avLst/>
          </a:prstGeom>
          <a:noFill/>
          <a:ln>
            <a:noFill/>
          </a:ln>
        </p:spPr>
      </p:pic>
      <p:sp>
        <p:nvSpPr>
          <p:cNvPr id="1594" name="Google Shape;1594;p37"/>
          <p:cNvSpPr/>
          <p:nvPr/>
        </p:nvSpPr>
        <p:spPr>
          <a:xfrm>
            <a:off x="928688" y="2114550"/>
            <a:ext cx="1100026"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Backend Developer</a:t>
            </a:r>
            <a:endParaRPr b="0" i="0" sz="784" u="none" cap="none" strike="noStrike">
              <a:solidFill>
                <a:schemeClr val="dk1"/>
              </a:solidFill>
              <a:latin typeface="Calibri"/>
              <a:ea typeface="Calibri"/>
              <a:cs typeface="Calibri"/>
              <a:sym typeface="Calibri"/>
            </a:endParaRPr>
          </a:p>
        </p:txBody>
      </p:sp>
      <p:sp>
        <p:nvSpPr>
          <p:cNvPr id="1595" name="Google Shape;1595;p37"/>
          <p:cNvSpPr/>
          <p:nvPr/>
        </p:nvSpPr>
        <p:spPr>
          <a:xfrm>
            <a:off x="928688" y="2291358"/>
            <a:ext cx="1100026"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A0AAB5"/>
              </a:buClr>
              <a:buSzPts val="674"/>
              <a:buFont typeface="Calibri"/>
              <a:buNone/>
            </a:pPr>
            <a:r>
              <a:rPr b="0" i="0" lang="en-US" sz="674" u="none" cap="none" strike="noStrike">
                <a:solidFill>
                  <a:srgbClr val="A0AAB5"/>
                </a:solidFill>
                <a:latin typeface="Calibri"/>
                <a:ea typeface="Calibri"/>
                <a:cs typeface="Calibri"/>
                <a:sym typeface="Calibri"/>
              </a:rPr>
              <a:t>Core Logic &amp; API</a:t>
            </a:r>
            <a:endParaRPr b="0" i="0" sz="674" u="none" cap="none" strike="noStrike">
              <a:solidFill>
                <a:schemeClr val="dk1"/>
              </a:solidFill>
              <a:latin typeface="Calibri"/>
              <a:ea typeface="Calibri"/>
              <a:cs typeface="Calibri"/>
              <a:sym typeface="Calibri"/>
            </a:endParaRPr>
          </a:p>
        </p:txBody>
      </p:sp>
      <p:sp>
        <p:nvSpPr>
          <p:cNvPr id="1596" name="Google Shape;1596;p37"/>
          <p:cNvSpPr/>
          <p:nvPr/>
        </p:nvSpPr>
        <p:spPr>
          <a:xfrm>
            <a:off x="500063" y="2646759"/>
            <a:ext cx="2488788" cy="53220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37"/>
          <p:cNvSpPr/>
          <p:nvPr/>
        </p:nvSpPr>
        <p:spPr>
          <a:xfrm>
            <a:off x="500063" y="2646759"/>
            <a:ext cx="28575" cy="532209"/>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98" name="Google Shape;1598;p37"/>
          <p:cNvPicPr preferRelativeResize="0"/>
          <p:nvPr/>
        </p:nvPicPr>
        <p:blipFill rotWithShape="1">
          <a:blip r:embed="rId6">
            <a:alphaModFix/>
          </a:blip>
          <a:srcRect b="0" l="0" r="0" t="0"/>
          <a:stretch/>
        </p:blipFill>
        <p:spPr>
          <a:xfrm>
            <a:off x="614363" y="2828032"/>
            <a:ext cx="214313" cy="171450"/>
          </a:xfrm>
          <a:prstGeom prst="rect">
            <a:avLst/>
          </a:prstGeom>
          <a:noFill/>
          <a:ln>
            <a:noFill/>
          </a:ln>
        </p:spPr>
      </p:pic>
      <p:sp>
        <p:nvSpPr>
          <p:cNvPr id="1599" name="Google Shape;1599;p37"/>
          <p:cNvSpPr/>
          <p:nvPr/>
        </p:nvSpPr>
        <p:spPr>
          <a:xfrm>
            <a:off x="928688" y="2761059"/>
            <a:ext cx="1132396"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Frontend Developer</a:t>
            </a:r>
            <a:endParaRPr b="0" i="0" sz="784" u="none" cap="none" strike="noStrike">
              <a:solidFill>
                <a:schemeClr val="dk1"/>
              </a:solidFill>
              <a:latin typeface="Calibri"/>
              <a:ea typeface="Calibri"/>
              <a:cs typeface="Calibri"/>
              <a:sym typeface="Calibri"/>
            </a:endParaRPr>
          </a:p>
        </p:txBody>
      </p:sp>
      <p:sp>
        <p:nvSpPr>
          <p:cNvPr id="1600" name="Google Shape;1600;p37"/>
          <p:cNvSpPr/>
          <p:nvPr/>
        </p:nvSpPr>
        <p:spPr>
          <a:xfrm>
            <a:off x="928688" y="2937867"/>
            <a:ext cx="1132396"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A0AAB5"/>
              </a:buClr>
              <a:buSzPts val="674"/>
              <a:buFont typeface="Calibri"/>
              <a:buNone/>
            </a:pPr>
            <a:r>
              <a:rPr b="0" i="0" lang="en-US" sz="674" u="none" cap="none" strike="noStrike">
                <a:solidFill>
                  <a:srgbClr val="A0AAB5"/>
                </a:solidFill>
                <a:latin typeface="Calibri"/>
                <a:ea typeface="Calibri"/>
                <a:cs typeface="Calibri"/>
                <a:sym typeface="Calibri"/>
              </a:rPr>
              <a:t>UI Components</a:t>
            </a:r>
            <a:endParaRPr b="0" i="0" sz="674" u="none" cap="none" strike="noStrike">
              <a:solidFill>
                <a:schemeClr val="dk1"/>
              </a:solidFill>
              <a:latin typeface="Calibri"/>
              <a:ea typeface="Calibri"/>
              <a:cs typeface="Calibri"/>
              <a:sym typeface="Calibri"/>
            </a:endParaRPr>
          </a:p>
        </p:txBody>
      </p:sp>
      <p:sp>
        <p:nvSpPr>
          <p:cNvPr id="1601" name="Google Shape;1601;p37"/>
          <p:cNvSpPr/>
          <p:nvPr/>
        </p:nvSpPr>
        <p:spPr>
          <a:xfrm>
            <a:off x="500063" y="3293269"/>
            <a:ext cx="2488788" cy="53220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37"/>
          <p:cNvSpPr/>
          <p:nvPr/>
        </p:nvSpPr>
        <p:spPr>
          <a:xfrm>
            <a:off x="500063" y="3293269"/>
            <a:ext cx="28575" cy="532209"/>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03" name="Google Shape;1603;p37"/>
          <p:cNvPicPr preferRelativeResize="0"/>
          <p:nvPr/>
        </p:nvPicPr>
        <p:blipFill rotWithShape="1">
          <a:blip r:embed="rId7">
            <a:alphaModFix/>
          </a:blip>
          <a:srcRect b="0" l="0" r="0" t="0"/>
          <a:stretch/>
        </p:blipFill>
        <p:spPr>
          <a:xfrm>
            <a:off x="657225" y="3474541"/>
            <a:ext cx="128588" cy="171450"/>
          </a:xfrm>
          <a:prstGeom prst="rect">
            <a:avLst/>
          </a:prstGeom>
          <a:noFill/>
          <a:ln>
            <a:noFill/>
          </a:ln>
        </p:spPr>
      </p:pic>
      <p:sp>
        <p:nvSpPr>
          <p:cNvPr id="1604" name="Google Shape;1604;p37"/>
          <p:cNvSpPr/>
          <p:nvPr/>
        </p:nvSpPr>
        <p:spPr>
          <a:xfrm>
            <a:off x="928688" y="3407569"/>
            <a:ext cx="1229423"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Integration Specialist</a:t>
            </a:r>
            <a:endParaRPr b="0" i="0" sz="784" u="none" cap="none" strike="noStrike">
              <a:solidFill>
                <a:schemeClr val="dk1"/>
              </a:solidFill>
              <a:latin typeface="Calibri"/>
              <a:ea typeface="Calibri"/>
              <a:cs typeface="Calibri"/>
              <a:sym typeface="Calibri"/>
            </a:endParaRPr>
          </a:p>
        </p:txBody>
      </p:sp>
      <p:sp>
        <p:nvSpPr>
          <p:cNvPr id="1605" name="Google Shape;1605;p37"/>
          <p:cNvSpPr/>
          <p:nvPr/>
        </p:nvSpPr>
        <p:spPr>
          <a:xfrm>
            <a:off x="928688" y="3584377"/>
            <a:ext cx="1229423"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A0AAB5"/>
              </a:buClr>
              <a:buSzPts val="674"/>
              <a:buFont typeface="Calibri"/>
              <a:buNone/>
            </a:pPr>
            <a:r>
              <a:rPr b="0" i="0" lang="en-US" sz="674" u="none" cap="none" strike="noStrike">
                <a:solidFill>
                  <a:srgbClr val="A0AAB5"/>
                </a:solidFill>
                <a:latin typeface="Calibri"/>
                <a:ea typeface="Calibri"/>
                <a:cs typeface="Calibri"/>
                <a:sym typeface="Calibri"/>
              </a:rPr>
              <a:t>3rd Party APIs</a:t>
            </a:r>
            <a:endParaRPr b="0" i="0" sz="674" u="none" cap="none" strike="noStrike">
              <a:solidFill>
                <a:schemeClr val="dk1"/>
              </a:solidFill>
              <a:latin typeface="Calibri"/>
              <a:ea typeface="Calibri"/>
              <a:cs typeface="Calibri"/>
              <a:sym typeface="Calibri"/>
            </a:endParaRPr>
          </a:p>
        </p:txBody>
      </p:sp>
      <p:sp>
        <p:nvSpPr>
          <p:cNvPr id="1606" name="Google Shape;1606;p37"/>
          <p:cNvSpPr/>
          <p:nvPr/>
        </p:nvSpPr>
        <p:spPr>
          <a:xfrm>
            <a:off x="3203163" y="2260997"/>
            <a:ext cx="2737647" cy="173236"/>
          </a:xfrm>
          <a:prstGeom prst="roundRect">
            <a:avLst>
              <a:gd fmla="val 16667" name="adj"/>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07" name="Google Shape;1607;p37"/>
          <p:cNvPicPr preferRelativeResize="0"/>
          <p:nvPr/>
        </p:nvPicPr>
        <p:blipFill rotWithShape="1">
          <a:blip r:embed="rId8">
            <a:alphaModFix/>
          </a:blip>
          <a:srcRect b="0" l="0" r="0" t="0"/>
          <a:stretch/>
        </p:blipFill>
        <p:spPr>
          <a:xfrm>
            <a:off x="3288888" y="2303859"/>
            <a:ext cx="96441" cy="85725"/>
          </a:xfrm>
          <a:prstGeom prst="rect">
            <a:avLst/>
          </a:prstGeom>
          <a:noFill/>
          <a:ln>
            <a:noFill/>
          </a:ln>
        </p:spPr>
      </p:pic>
      <p:sp>
        <p:nvSpPr>
          <p:cNvPr id="1608" name="Google Shape;1608;p37"/>
          <p:cNvSpPr/>
          <p:nvPr/>
        </p:nvSpPr>
        <p:spPr>
          <a:xfrm>
            <a:off x="3385328" y="2289572"/>
            <a:ext cx="830098" cy="116086"/>
          </a:xfrm>
          <a:prstGeom prst="rect">
            <a:avLst/>
          </a:prstGeom>
          <a:noFill/>
          <a:ln>
            <a:noFill/>
          </a:ln>
        </p:spPr>
        <p:txBody>
          <a:bodyPr anchorCtr="0" anchor="t" bIns="0" lIns="0" spcFirstLastPara="1" rIns="0" wrap="square" tIns="0">
            <a:noAutofit/>
          </a:bodyPr>
          <a:lstStyle/>
          <a:p>
            <a:pPr indent="0" lvl="0" marL="0" marR="0" rtl="0" algn="l">
              <a:lnSpc>
                <a:spcPct val="136986"/>
              </a:lnSpc>
              <a:spcBef>
                <a:spcPts val="0"/>
              </a:spcBef>
              <a:spcAft>
                <a:spcPts val="0"/>
              </a:spcAft>
              <a:buClr>
                <a:srgbClr val="0D1B2E"/>
              </a:buClr>
              <a:buSzPts val="584"/>
              <a:buFont typeface="Calibri"/>
              <a:buNone/>
            </a:pPr>
            <a:r>
              <a:rPr b="1" i="0" lang="en-US" sz="584" u="none" cap="none" strike="noStrike">
                <a:solidFill>
                  <a:srgbClr val="0D1B2E"/>
                </a:solidFill>
                <a:latin typeface="Calibri"/>
                <a:ea typeface="Calibri"/>
                <a:cs typeface="Calibri"/>
                <a:sym typeface="Calibri"/>
              </a:rPr>
              <a:t>Bottom-Up Build</a:t>
            </a:r>
            <a:endParaRPr b="0" i="0" sz="584" u="none" cap="none" strike="noStrike">
              <a:solidFill>
                <a:schemeClr val="dk1"/>
              </a:solidFill>
              <a:latin typeface="Calibri"/>
              <a:ea typeface="Calibri"/>
              <a:cs typeface="Calibri"/>
              <a:sym typeface="Calibri"/>
            </a:endParaRPr>
          </a:p>
        </p:txBody>
      </p:sp>
      <p:sp>
        <p:nvSpPr>
          <p:cNvPr id="1609" name="Google Shape;1609;p37"/>
          <p:cNvSpPr/>
          <p:nvPr/>
        </p:nvSpPr>
        <p:spPr>
          <a:xfrm>
            <a:off x="3203163" y="2569964"/>
            <a:ext cx="2737647" cy="410766"/>
          </a:xfrm>
          <a:prstGeom prst="rect">
            <a:avLst/>
          </a:prstGeom>
          <a:solidFill>
            <a:srgbClr val="FF5252">
              <a:alpha val="10196"/>
            </a:srgbClr>
          </a:solidFill>
          <a:ln cap="flat" cmpd="sng" w="952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10" name="Google Shape;1610;p37"/>
          <p:cNvPicPr preferRelativeResize="0"/>
          <p:nvPr/>
        </p:nvPicPr>
        <p:blipFill rotWithShape="1">
          <a:blip r:embed="rId9">
            <a:alphaModFix/>
          </a:blip>
          <a:srcRect b="0" l="0" r="0" t="0"/>
          <a:stretch/>
        </p:blipFill>
        <p:spPr>
          <a:xfrm>
            <a:off x="3303036" y="2673548"/>
            <a:ext cx="116086" cy="92869"/>
          </a:xfrm>
          <a:prstGeom prst="rect">
            <a:avLst/>
          </a:prstGeom>
          <a:noFill/>
          <a:ln>
            <a:noFill/>
          </a:ln>
        </p:spPr>
      </p:pic>
      <p:sp>
        <p:nvSpPr>
          <p:cNvPr id="1611" name="Google Shape;1611;p37"/>
          <p:cNvSpPr/>
          <p:nvPr/>
        </p:nvSpPr>
        <p:spPr>
          <a:xfrm>
            <a:off x="3443288" y="2655689"/>
            <a:ext cx="562431" cy="126802"/>
          </a:xfrm>
          <a:prstGeom prst="rect">
            <a:avLst/>
          </a:prstGeom>
          <a:noFill/>
          <a:ln>
            <a:noFill/>
          </a:ln>
        </p:spPr>
        <p:txBody>
          <a:bodyPr anchorCtr="0" anchor="t" bIns="0" lIns="0" spcFirstLastPara="1" rIns="0" wrap="square" tIns="0">
            <a:noAutofit/>
          </a:bodyPr>
          <a:lstStyle/>
          <a:p>
            <a:pPr indent="0" lvl="0" marL="0" marR="0" rtl="0" algn="ctr">
              <a:lnSpc>
                <a:spcPct val="141955"/>
              </a:lnSpc>
              <a:spcBef>
                <a:spcPts val="0"/>
              </a:spcBef>
              <a:spcAft>
                <a:spcPts val="0"/>
              </a:spcAft>
              <a:buClr>
                <a:srgbClr val="CBD5E1"/>
              </a:buClr>
              <a:buSzPts val="634"/>
              <a:buFont typeface="Calibri"/>
              <a:buNone/>
            </a:pPr>
            <a:r>
              <a:rPr b="1" i="0" lang="en-US" sz="634" u="none" cap="none" strike="noStrike">
                <a:solidFill>
                  <a:srgbClr val="CBD5E1"/>
                </a:solidFill>
                <a:latin typeface="Calibri"/>
                <a:ea typeface="Calibri"/>
                <a:cs typeface="Calibri"/>
                <a:sym typeface="Calibri"/>
              </a:rPr>
              <a:t>TRD Review:</a:t>
            </a:r>
            <a:endParaRPr b="0" i="0" sz="634" u="none" cap="none" strike="noStrike">
              <a:solidFill>
                <a:schemeClr val="dk1"/>
              </a:solidFill>
              <a:latin typeface="Calibri"/>
              <a:ea typeface="Calibri"/>
              <a:cs typeface="Calibri"/>
              <a:sym typeface="Calibri"/>
            </a:endParaRPr>
          </a:p>
        </p:txBody>
      </p:sp>
      <p:sp>
        <p:nvSpPr>
          <p:cNvPr id="1612" name="Google Shape;1612;p37"/>
          <p:cNvSpPr/>
          <p:nvPr/>
        </p:nvSpPr>
        <p:spPr>
          <a:xfrm>
            <a:off x="4005718" y="2655689"/>
            <a:ext cx="1835190" cy="126802"/>
          </a:xfrm>
          <a:prstGeom prst="rect">
            <a:avLst/>
          </a:prstGeom>
          <a:noFill/>
          <a:ln>
            <a:noFill/>
          </a:ln>
        </p:spPr>
        <p:txBody>
          <a:bodyPr anchorCtr="0" anchor="t" bIns="0" lIns="0" spcFirstLastPara="1" rIns="0" wrap="square" tIns="0">
            <a:noAutofit/>
          </a:bodyPr>
          <a:lstStyle/>
          <a:p>
            <a:pPr indent="0" lvl="0" marL="0" marR="0" rtl="0" algn="ctr">
              <a:lnSpc>
                <a:spcPct val="133531"/>
              </a:lnSpc>
              <a:spcBef>
                <a:spcPts val="0"/>
              </a:spcBef>
              <a:spcAft>
                <a:spcPts val="0"/>
              </a:spcAft>
              <a:buClr>
                <a:srgbClr val="CBD5E1"/>
              </a:buClr>
              <a:buSzPts val="674"/>
              <a:buFont typeface="Calibri"/>
              <a:buNone/>
            </a:pPr>
            <a:r>
              <a:rPr b="0" i="0" lang="en-US" sz="674" u="none" cap="none" strike="noStrike">
                <a:solidFill>
                  <a:srgbClr val="CBD5E1"/>
                </a:solidFill>
                <a:latin typeface="Calibri"/>
                <a:ea typeface="Calibri"/>
                <a:cs typeface="Calibri"/>
                <a:sym typeface="Calibri"/>
              </a:rPr>
              <a:t>Core team validates technical spec before</a:t>
            </a:r>
            <a:endParaRPr b="0" i="0" sz="674" u="none" cap="none" strike="noStrike">
              <a:solidFill>
                <a:schemeClr val="dk1"/>
              </a:solidFill>
              <a:latin typeface="Calibri"/>
              <a:ea typeface="Calibri"/>
              <a:cs typeface="Calibri"/>
              <a:sym typeface="Calibri"/>
            </a:endParaRPr>
          </a:p>
        </p:txBody>
      </p:sp>
      <p:sp>
        <p:nvSpPr>
          <p:cNvPr id="1613" name="Google Shape;1613;p37"/>
          <p:cNvSpPr/>
          <p:nvPr/>
        </p:nvSpPr>
        <p:spPr>
          <a:xfrm>
            <a:off x="4253071" y="2782491"/>
            <a:ext cx="637831" cy="126802"/>
          </a:xfrm>
          <a:prstGeom prst="rect">
            <a:avLst/>
          </a:prstGeom>
          <a:noFill/>
          <a:ln>
            <a:noFill/>
          </a:ln>
        </p:spPr>
        <p:txBody>
          <a:bodyPr anchorCtr="0" anchor="t" bIns="0" lIns="0" spcFirstLastPara="1" rIns="0" wrap="square" tIns="0">
            <a:noAutofit/>
          </a:bodyPr>
          <a:lstStyle/>
          <a:p>
            <a:pPr indent="0" lvl="0" marL="0" marR="0" rtl="0" algn="ctr">
              <a:lnSpc>
                <a:spcPct val="133531"/>
              </a:lnSpc>
              <a:spcBef>
                <a:spcPts val="0"/>
              </a:spcBef>
              <a:spcAft>
                <a:spcPts val="0"/>
              </a:spcAft>
              <a:buClr>
                <a:srgbClr val="CBD5E1"/>
              </a:buClr>
              <a:buSzPts val="674"/>
              <a:buFont typeface="Calibri"/>
              <a:buNone/>
            </a:pPr>
            <a:r>
              <a:rPr b="0" i="0" lang="en-US" sz="674" u="none" cap="none" strike="noStrike">
                <a:solidFill>
                  <a:srgbClr val="CBD5E1"/>
                </a:solidFill>
                <a:latin typeface="Calibri"/>
                <a:ea typeface="Calibri"/>
                <a:cs typeface="Calibri"/>
                <a:sym typeface="Calibri"/>
              </a:rPr>
              <a:t>coding begins.</a:t>
            </a:r>
            <a:endParaRPr b="0" i="0" sz="674" u="none" cap="none" strike="noStrike">
              <a:solidFill>
                <a:schemeClr val="dk1"/>
              </a:solidFill>
              <a:latin typeface="Calibri"/>
              <a:ea typeface="Calibri"/>
              <a:cs typeface="Calibri"/>
              <a:sym typeface="Calibri"/>
            </a:endParaRPr>
          </a:p>
        </p:txBody>
      </p:sp>
      <p:sp>
        <p:nvSpPr>
          <p:cNvPr id="1614" name="Google Shape;1614;p37"/>
          <p:cNvSpPr/>
          <p:nvPr/>
        </p:nvSpPr>
        <p:spPr>
          <a:xfrm>
            <a:off x="3203163" y="3066455"/>
            <a:ext cx="2737647" cy="487561"/>
          </a:xfrm>
          <a:prstGeom prst="rect">
            <a:avLst/>
          </a:prstGeom>
          <a:solidFill>
            <a:srgbClr val="1A2A3A"/>
          </a:solidFill>
          <a:ln cap="flat" cmpd="sng" w="9525">
            <a:solidFill>
              <a:srgbClr val="00B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37"/>
          <p:cNvSpPr/>
          <p:nvPr/>
        </p:nvSpPr>
        <p:spPr>
          <a:xfrm>
            <a:off x="3303175" y="3180755"/>
            <a:ext cx="214313" cy="273248"/>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3</a:t>
            </a:r>
            <a:endParaRPr b="0" i="0" sz="1397" u="none" cap="none" strike="noStrike">
              <a:solidFill>
                <a:schemeClr val="dk1"/>
              </a:solidFill>
              <a:latin typeface="Calibri"/>
              <a:ea typeface="Calibri"/>
              <a:cs typeface="Calibri"/>
              <a:sym typeface="Calibri"/>
            </a:endParaRPr>
          </a:p>
        </p:txBody>
      </p:sp>
      <p:sp>
        <p:nvSpPr>
          <p:cNvPr id="1616" name="Google Shape;1616;p37"/>
          <p:cNvSpPr/>
          <p:nvPr/>
        </p:nvSpPr>
        <p:spPr>
          <a:xfrm>
            <a:off x="3617500" y="3180755"/>
            <a:ext cx="1347015"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Frontend Integration</a:t>
            </a:r>
            <a:endParaRPr b="0" i="0" sz="683" u="none" cap="none" strike="noStrike">
              <a:solidFill>
                <a:schemeClr val="dk1"/>
              </a:solidFill>
              <a:latin typeface="Calibri"/>
              <a:ea typeface="Calibri"/>
              <a:cs typeface="Calibri"/>
              <a:sym typeface="Calibri"/>
            </a:endParaRPr>
          </a:p>
        </p:txBody>
      </p:sp>
      <p:sp>
        <p:nvSpPr>
          <p:cNvPr id="1617" name="Google Shape;1617;p37"/>
          <p:cNvSpPr/>
          <p:nvPr/>
        </p:nvSpPr>
        <p:spPr>
          <a:xfrm>
            <a:off x="3617500" y="3337917"/>
            <a:ext cx="1347015"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UI connects to live API endpoints.</a:t>
            </a:r>
            <a:endParaRPr b="0" i="0" sz="621" u="none" cap="none" strike="noStrike">
              <a:solidFill>
                <a:schemeClr val="dk1"/>
              </a:solidFill>
              <a:latin typeface="Calibri"/>
              <a:ea typeface="Calibri"/>
              <a:cs typeface="Calibri"/>
              <a:sym typeface="Calibri"/>
            </a:endParaRPr>
          </a:p>
        </p:txBody>
      </p:sp>
      <p:sp>
        <p:nvSpPr>
          <p:cNvPr id="1618" name="Google Shape;1618;p37"/>
          <p:cNvSpPr/>
          <p:nvPr/>
        </p:nvSpPr>
        <p:spPr>
          <a:xfrm>
            <a:off x="3203163" y="3639741"/>
            <a:ext cx="2737647" cy="487561"/>
          </a:xfrm>
          <a:prstGeom prst="rect">
            <a:avLst/>
          </a:prstGeom>
          <a:solidFill>
            <a:srgbClr val="1A2A3A"/>
          </a:solidFill>
          <a:ln cap="flat" cmpd="sng" w="9525">
            <a:solidFill>
              <a:srgbClr val="00B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37"/>
          <p:cNvSpPr/>
          <p:nvPr/>
        </p:nvSpPr>
        <p:spPr>
          <a:xfrm>
            <a:off x="3303175" y="3754041"/>
            <a:ext cx="214313" cy="273248"/>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2</a:t>
            </a:r>
            <a:endParaRPr b="0" i="0" sz="1397" u="none" cap="none" strike="noStrike">
              <a:solidFill>
                <a:schemeClr val="dk1"/>
              </a:solidFill>
              <a:latin typeface="Calibri"/>
              <a:ea typeface="Calibri"/>
              <a:cs typeface="Calibri"/>
              <a:sym typeface="Calibri"/>
            </a:endParaRPr>
          </a:p>
        </p:txBody>
      </p:sp>
      <p:sp>
        <p:nvSpPr>
          <p:cNvPr id="1620" name="Google Shape;1620;p37"/>
          <p:cNvSpPr/>
          <p:nvPr/>
        </p:nvSpPr>
        <p:spPr>
          <a:xfrm>
            <a:off x="3617500" y="3754041"/>
            <a:ext cx="1371879"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Business Logic &amp; API</a:t>
            </a:r>
            <a:endParaRPr b="0" i="0" sz="683" u="none" cap="none" strike="noStrike">
              <a:solidFill>
                <a:schemeClr val="dk1"/>
              </a:solidFill>
              <a:latin typeface="Calibri"/>
              <a:ea typeface="Calibri"/>
              <a:cs typeface="Calibri"/>
              <a:sym typeface="Calibri"/>
            </a:endParaRPr>
          </a:p>
        </p:txBody>
      </p:sp>
      <p:sp>
        <p:nvSpPr>
          <p:cNvPr id="1621" name="Google Shape;1621;p37"/>
          <p:cNvSpPr/>
          <p:nvPr/>
        </p:nvSpPr>
        <p:spPr>
          <a:xfrm>
            <a:off x="3617500" y="3911203"/>
            <a:ext cx="1371879"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Routes, controllers &amp; service layer.</a:t>
            </a:r>
            <a:endParaRPr b="0" i="0" sz="621" u="none" cap="none" strike="noStrike">
              <a:solidFill>
                <a:schemeClr val="dk1"/>
              </a:solidFill>
              <a:latin typeface="Calibri"/>
              <a:ea typeface="Calibri"/>
              <a:cs typeface="Calibri"/>
              <a:sym typeface="Calibri"/>
            </a:endParaRPr>
          </a:p>
        </p:txBody>
      </p:sp>
      <p:sp>
        <p:nvSpPr>
          <p:cNvPr id="1622" name="Google Shape;1622;p37"/>
          <p:cNvSpPr/>
          <p:nvPr/>
        </p:nvSpPr>
        <p:spPr>
          <a:xfrm>
            <a:off x="3203163" y="4213027"/>
            <a:ext cx="2737647" cy="487561"/>
          </a:xfrm>
          <a:prstGeom prst="rect">
            <a:avLst/>
          </a:prstGeom>
          <a:solidFill>
            <a:srgbClr val="1A2A3A"/>
          </a:solidFill>
          <a:ln cap="flat" cmpd="sng" w="9525">
            <a:solidFill>
              <a:srgbClr val="00B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37"/>
          <p:cNvSpPr/>
          <p:nvPr/>
        </p:nvSpPr>
        <p:spPr>
          <a:xfrm>
            <a:off x="3303175" y="4327327"/>
            <a:ext cx="214313" cy="273248"/>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Calibri"/>
              <a:buNone/>
            </a:pPr>
            <a:r>
              <a:rPr b="1" i="0" lang="en-US" sz="1397" u="none" cap="none" strike="noStrike">
                <a:solidFill>
                  <a:srgbClr val="FFFFFF"/>
                </a:solidFill>
                <a:latin typeface="Calibri"/>
                <a:ea typeface="Calibri"/>
                <a:cs typeface="Calibri"/>
                <a:sym typeface="Calibri"/>
              </a:rPr>
              <a:t>1</a:t>
            </a:r>
            <a:endParaRPr b="0" i="0" sz="1397" u="none" cap="none" strike="noStrike">
              <a:solidFill>
                <a:schemeClr val="dk1"/>
              </a:solidFill>
              <a:latin typeface="Calibri"/>
              <a:ea typeface="Calibri"/>
              <a:cs typeface="Calibri"/>
              <a:sym typeface="Calibri"/>
            </a:endParaRPr>
          </a:p>
        </p:txBody>
      </p:sp>
      <p:sp>
        <p:nvSpPr>
          <p:cNvPr id="1624" name="Google Shape;1624;p37"/>
          <p:cNvSpPr/>
          <p:nvPr/>
        </p:nvSpPr>
        <p:spPr>
          <a:xfrm>
            <a:off x="3617500" y="4327327"/>
            <a:ext cx="1445689"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Database &amp; Models</a:t>
            </a:r>
            <a:endParaRPr b="0" i="0" sz="683" u="none" cap="none" strike="noStrike">
              <a:solidFill>
                <a:schemeClr val="dk1"/>
              </a:solidFill>
              <a:latin typeface="Calibri"/>
              <a:ea typeface="Calibri"/>
              <a:cs typeface="Calibri"/>
              <a:sym typeface="Calibri"/>
            </a:endParaRPr>
          </a:p>
        </p:txBody>
      </p:sp>
      <p:sp>
        <p:nvSpPr>
          <p:cNvPr id="1625" name="Google Shape;1625;p37"/>
          <p:cNvSpPr/>
          <p:nvPr/>
        </p:nvSpPr>
        <p:spPr>
          <a:xfrm>
            <a:off x="3617500" y="4484489"/>
            <a:ext cx="1445689"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Schema, ORM models &amp; migrations.</a:t>
            </a:r>
            <a:endParaRPr b="0" i="0" sz="621" u="none" cap="none" strike="noStrike">
              <a:solidFill>
                <a:schemeClr val="dk1"/>
              </a:solidFill>
              <a:latin typeface="Calibri"/>
              <a:ea typeface="Calibri"/>
              <a:cs typeface="Calibri"/>
              <a:sym typeface="Calibri"/>
            </a:endParaRPr>
          </a:p>
        </p:txBody>
      </p:sp>
      <p:sp>
        <p:nvSpPr>
          <p:cNvPr id="1626" name="Google Shape;1626;p37"/>
          <p:cNvSpPr/>
          <p:nvPr/>
        </p:nvSpPr>
        <p:spPr>
          <a:xfrm>
            <a:off x="6155122" y="1026914"/>
            <a:ext cx="2488816" cy="219670"/>
          </a:xfrm>
          <a:prstGeom prst="rect">
            <a:avLst/>
          </a:prstGeom>
          <a:noFill/>
          <a:ln>
            <a:noFill/>
          </a:ln>
        </p:spPr>
        <p:txBody>
          <a:bodyPr anchorCtr="0" anchor="t" bIns="68050" lIns="0" spcFirstLastPara="1" rIns="0" wrap="square" tIns="0">
            <a:noAutofit/>
          </a:bodyPr>
          <a:lstStyle/>
          <a:p>
            <a:pPr indent="0" lvl="0" marL="0" marR="0" rtl="0" algn="l">
              <a:lnSpc>
                <a:spcPct val="140306"/>
              </a:lnSpc>
              <a:spcBef>
                <a:spcPts val="0"/>
              </a:spcBef>
              <a:spcAft>
                <a:spcPts val="0"/>
              </a:spcAft>
              <a:buClr>
                <a:srgbClr val="00BFFF"/>
              </a:buClr>
              <a:buSzPts val="784"/>
              <a:buFont typeface="Calibri"/>
              <a:buNone/>
            </a:pPr>
            <a:r>
              <a:rPr b="1" i="0" lang="en-US" sz="784" u="none" cap="none" strike="noStrike">
                <a:solidFill>
                  <a:srgbClr val="00BFFF"/>
                </a:solidFill>
                <a:latin typeface="Calibri"/>
                <a:ea typeface="Calibri"/>
                <a:cs typeface="Calibri"/>
                <a:sym typeface="Calibri"/>
              </a:rPr>
              <a:t>Key Artifacts</a:t>
            </a:r>
            <a:endParaRPr b="0" i="0" sz="784" u="none" cap="none" strike="noStrike">
              <a:solidFill>
                <a:schemeClr val="dk1"/>
              </a:solidFill>
              <a:latin typeface="Calibri"/>
              <a:ea typeface="Calibri"/>
              <a:cs typeface="Calibri"/>
              <a:sym typeface="Calibri"/>
            </a:endParaRPr>
          </a:p>
        </p:txBody>
      </p:sp>
      <p:sp>
        <p:nvSpPr>
          <p:cNvPr id="1627" name="Google Shape;1627;p37"/>
          <p:cNvSpPr/>
          <p:nvPr/>
        </p:nvSpPr>
        <p:spPr>
          <a:xfrm>
            <a:off x="6155122" y="1353741"/>
            <a:ext cx="2488816" cy="785813"/>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28" name="Google Shape;1628;p37"/>
          <p:cNvPicPr preferRelativeResize="0"/>
          <p:nvPr/>
        </p:nvPicPr>
        <p:blipFill rotWithShape="1">
          <a:blip r:embed="rId10">
            <a:alphaModFix/>
          </a:blip>
          <a:srcRect b="0" l="0" r="0" t="0"/>
          <a:stretch/>
        </p:blipFill>
        <p:spPr>
          <a:xfrm>
            <a:off x="6284379" y="1669852"/>
            <a:ext cx="117872" cy="157163"/>
          </a:xfrm>
          <a:prstGeom prst="rect">
            <a:avLst/>
          </a:prstGeom>
          <a:noFill/>
          <a:ln>
            <a:noFill/>
          </a:ln>
        </p:spPr>
      </p:pic>
      <p:sp>
        <p:nvSpPr>
          <p:cNvPr id="1629" name="Google Shape;1629;p37"/>
          <p:cNvSpPr/>
          <p:nvPr/>
        </p:nvSpPr>
        <p:spPr>
          <a:xfrm>
            <a:off x="6531536" y="1453753"/>
            <a:ext cx="2012389"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TRD</a:t>
            </a:r>
            <a:endParaRPr b="0" i="0" sz="734" u="none" cap="none" strike="noStrike">
              <a:solidFill>
                <a:schemeClr val="dk1"/>
              </a:solidFill>
              <a:latin typeface="Calibri"/>
              <a:ea typeface="Calibri"/>
              <a:cs typeface="Calibri"/>
              <a:sym typeface="Calibri"/>
            </a:endParaRPr>
          </a:p>
        </p:txBody>
      </p:sp>
      <p:sp>
        <p:nvSpPr>
          <p:cNvPr id="1630" name="Google Shape;1630;p37"/>
          <p:cNvSpPr/>
          <p:nvPr/>
        </p:nvSpPr>
        <p:spPr>
          <a:xfrm>
            <a:off x="6531536" y="1621631"/>
            <a:ext cx="2012389" cy="232172"/>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Technical Requirements Document with task breakdown.</a:t>
            </a:r>
            <a:endParaRPr b="0" i="0" sz="621" u="none" cap="none" strike="noStrike">
              <a:solidFill>
                <a:schemeClr val="dk1"/>
              </a:solidFill>
              <a:latin typeface="Calibri"/>
              <a:ea typeface="Calibri"/>
              <a:cs typeface="Calibri"/>
              <a:sym typeface="Calibri"/>
            </a:endParaRPr>
          </a:p>
        </p:txBody>
      </p:sp>
      <p:sp>
        <p:nvSpPr>
          <p:cNvPr id="1631" name="Google Shape;1631;p37"/>
          <p:cNvSpPr/>
          <p:nvPr/>
        </p:nvSpPr>
        <p:spPr>
          <a:xfrm>
            <a:off x="6531536" y="1889522"/>
            <a:ext cx="833251" cy="150019"/>
          </a:xfrm>
          <a:prstGeom prst="rect">
            <a:avLst/>
          </a:prstGeom>
          <a:solidFill>
            <a:srgbClr val="FF5252">
              <a:alpha val="14901"/>
            </a:srgbClr>
          </a:solidFill>
          <a:ln cap="flat" cmpd="sng" w="952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32" name="Google Shape;1632;p37"/>
          <p:cNvPicPr preferRelativeResize="0"/>
          <p:nvPr/>
        </p:nvPicPr>
        <p:blipFill rotWithShape="1">
          <a:blip r:embed="rId11">
            <a:alphaModFix/>
          </a:blip>
          <a:srcRect b="0" l="0" r="0" t="0"/>
          <a:stretch/>
        </p:blipFill>
        <p:spPr>
          <a:xfrm>
            <a:off x="6588686" y="1919883"/>
            <a:ext cx="98227" cy="78581"/>
          </a:xfrm>
          <a:prstGeom prst="rect">
            <a:avLst/>
          </a:prstGeom>
          <a:noFill/>
          <a:ln>
            <a:noFill/>
          </a:ln>
        </p:spPr>
      </p:pic>
      <p:sp>
        <p:nvSpPr>
          <p:cNvPr id="1633" name="Google Shape;1633;p37"/>
          <p:cNvSpPr/>
          <p:nvPr/>
        </p:nvSpPr>
        <p:spPr>
          <a:xfrm>
            <a:off x="6686913" y="1903809"/>
            <a:ext cx="606437" cy="107156"/>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FF5252"/>
              </a:buClr>
              <a:buSzPts val="534"/>
              <a:buFont typeface="Calibri"/>
              <a:buNone/>
            </a:pPr>
            <a:r>
              <a:rPr b="1" i="0" lang="en-US" sz="534" u="none" cap="none" strike="noStrike">
                <a:solidFill>
                  <a:srgbClr val="FF5252"/>
                </a:solidFill>
                <a:latin typeface="Calibri"/>
                <a:ea typeface="Calibri"/>
                <a:cs typeface="Calibri"/>
                <a:sym typeface="Calibri"/>
              </a:rPr>
              <a:t>Human Review</a:t>
            </a:r>
            <a:endParaRPr b="0" i="0" sz="534" u="none" cap="none" strike="noStrike">
              <a:solidFill>
                <a:schemeClr val="dk1"/>
              </a:solidFill>
              <a:latin typeface="Calibri"/>
              <a:ea typeface="Calibri"/>
              <a:cs typeface="Calibri"/>
              <a:sym typeface="Calibri"/>
            </a:endParaRPr>
          </a:p>
        </p:txBody>
      </p:sp>
      <p:sp>
        <p:nvSpPr>
          <p:cNvPr id="1634" name="Google Shape;1634;p37"/>
          <p:cNvSpPr/>
          <p:nvPr/>
        </p:nvSpPr>
        <p:spPr>
          <a:xfrm>
            <a:off x="6155122" y="2225278"/>
            <a:ext cx="2488816" cy="48398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35" name="Google Shape;1635;p37"/>
          <p:cNvPicPr preferRelativeResize="0"/>
          <p:nvPr/>
        </p:nvPicPr>
        <p:blipFill rotWithShape="1">
          <a:blip r:embed="rId12">
            <a:alphaModFix/>
          </a:blip>
          <a:srcRect b="0" l="0" r="0" t="0"/>
          <a:stretch/>
        </p:blipFill>
        <p:spPr>
          <a:xfrm>
            <a:off x="6286388" y="2390477"/>
            <a:ext cx="137517" cy="157163"/>
          </a:xfrm>
          <a:prstGeom prst="rect">
            <a:avLst/>
          </a:prstGeom>
          <a:noFill/>
          <a:ln>
            <a:noFill/>
          </a:ln>
        </p:spPr>
      </p:pic>
      <p:sp>
        <p:nvSpPr>
          <p:cNvPr id="1636" name="Google Shape;1636;p37"/>
          <p:cNvSpPr/>
          <p:nvPr/>
        </p:nvSpPr>
        <p:spPr>
          <a:xfrm>
            <a:off x="6555172" y="2325291"/>
            <a:ext cx="1668317"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Source Code</a:t>
            </a:r>
            <a:endParaRPr b="0" i="0" sz="734" u="none" cap="none" strike="noStrike">
              <a:solidFill>
                <a:schemeClr val="dk1"/>
              </a:solidFill>
              <a:latin typeface="Calibri"/>
              <a:ea typeface="Calibri"/>
              <a:cs typeface="Calibri"/>
              <a:sym typeface="Calibri"/>
            </a:endParaRPr>
          </a:p>
        </p:txBody>
      </p:sp>
      <p:sp>
        <p:nvSpPr>
          <p:cNvPr id="1637" name="Google Shape;1637;p37"/>
          <p:cNvSpPr/>
          <p:nvPr/>
        </p:nvSpPr>
        <p:spPr>
          <a:xfrm>
            <a:off x="6555172" y="2493169"/>
            <a:ext cx="1668317"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Git commits with conventional messages.</a:t>
            </a:r>
            <a:endParaRPr b="0" i="0" sz="621" u="none" cap="none" strike="noStrike">
              <a:solidFill>
                <a:schemeClr val="dk1"/>
              </a:solidFill>
              <a:latin typeface="Calibri"/>
              <a:ea typeface="Calibri"/>
              <a:cs typeface="Calibri"/>
              <a:sym typeface="Calibri"/>
            </a:endParaRPr>
          </a:p>
        </p:txBody>
      </p:sp>
      <p:sp>
        <p:nvSpPr>
          <p:cNvPr id="1638" name="Google Shape;1638;p37"/>
          <p:cNvSpPr/>
          <p:nvPr/>
        </p:nvSpPr>
        <p:spPr>
          <a:xfrm>
            <a:off x="6155122" y="2809280"/>
            <a:ext cx="2488816" cy="48398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39" name="Google Shape;1639;p37"/>
          <p:cNvPicPr preferRelativeResize="0"/>
          <p:nvPr/>
        </p:nvPicPr>
        <p:blipFill rotWithShape="1">
          <a:blip r:embed="rId13">
            <a:alphaModFix/>
          </a:blip>
          <a:srcRect b="0" l="0" r="0" t="0"/>
          <a:stretch/>
        </p:blipFill>
        <p:spPr>
          <a:xfrm>
            <a:off x="6276566" y="2974479"/>
            <a:ext cx="157163" cy="157163"/>
          </a:xfrm>
          <a:prstGeom prst="rect">
            <a:avLst/>
          </a:prstGeom>
          <a:noFill/>
          <a:ln>
            <a:noFill/>
          </a:ln>
        </p:spPr>
      </p:pic>
      <p:sp>
        <p:nvSpPr>
          <p:cNvPr id="1640" name="Google Shape;1640;p37"/>
          <p:cNvSpPr/>
          <p:nvPr/>
        </p:nvSpPr>
        <p:spPr>
          <a:xfrm>
            <a:off x="6555172" y="2909292"/>
            <a:ext cx="1719160"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Live API Endpoints</a:t>
            </a:r>
            <a:endParaRPr b="0" i="0" sz="734" u="none" cap="none" strike="noStrike">
              <a:solidFill>
                <a:schemeClr val="dk1"/>
              </a:solidFill>
              <a:latin typeface="Calibri"/>
              <a:ea typeface="Calibri"/>
              <a:cs typeface="Calibri"/>
              <a:sym typeface="Calibri"/>
            </a:endParaRPr>
          </a:p>
        </p:txBody>
      </p:sp>
      <p:sp>
        <p:nvSpPr>
          <p:cNvPr id="1641" name="Google Shape;1641;p37"/>
          <p:cNvSpPr/>
          <p:nvPr/>
        </p:nvSpPr>
        <p:spPr>
          <a:xfrm>
            <a:off x="6555172" y="3077170"/>
            <a:ext cx="1719160"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Deployed Swagger UI with working routes.</a:t>
            </a:r>
            <a:endParaRPr b="0" i="0" sz="621" u="none" cap="none" strike="noStrike">
              <a:solidFill>
                <a:schemeClr val="dk1"/>
              </a:solidFill>
              <a:latin typeface="Calibri"/>
              <a:ea typeface="Calibri"/>
              <a:cs typeface="Calibri"/>
              <a:sym typeface="Calibri"/>
            </a:endParaRPr>
          </a:p>
        </p:txBody>
      </p:sp>
      <p:sp>
        <p:nvSpPr>
          <p:cNvPr id="1642" name="Google Shape;1642;p37"/>
          <p:cNvSpPr/>
          <p:nvPr/>
        </p:nvSpPr>
        <p:spPr>
          <a:xfrm>
            <a:off x="6155122" y="3393281"/>
            <a:ext cx="2488816" cy="48398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43" name="Google Shape;1643;p37"/>
          <p:cNvPicPr preferRelativeResize="0"/>
          <p:nvPr/>
        </p:nvPicPr>
        <p:blipFill rotWithShape="1">
          <a:blip r:embed="rId14">
            <a:alphaModFix/>
          </a:blip>
          <a:srcRect b="0" l="0" r="0" t="0"/>
          <a:stretch/>
        </p:blipFill>
        <p:spPr>
          <a:xfrm>
            <a:off x="6276566" y="3558480"/>
            <a:ext cx="157163" cy="157163"/>
          </a:xfrm>
          <a:prstGeom prst="rect">
            <a:avLst/>
          </a:prstGeom>
          <a:noFill/>
          <a:ln>
            <a:noFill/>
          </a:ln>
        </p:spPr>
      </p:pic>
      <p:sp>
        <p:nvSpPr>
          <p:cNvPr id="1644" name="Google Shape;1644;p37"/>
          <p:cNvSpPr/>
          <p:nvPr/>
        </p:nvSpPr>
        <p:spPr>
          <a:xfrm>
            <a:off x="6555172" y="3493294"/>
            <a:ext cx="1545478"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Unit Test Suite</a:t>
            </a:r>
            <a:endParaRPr b="0" i="0" sz="734" u="none" cap="none" strike="noStrike">
              <a:solidFill>
                <a:schemeClr val="dk1"/>
              </a:solidFill>
              <a:latin typeface="Calibri"/>
              <a:ea typeface="Calibri"/>
              <a:cs typeface="Calibri"/>
              <a:sym typeface="Calibri"/>
            </a:endParaRPr>
          </a:p>
        </p:txBody>
      </p:sp>
      <p:sp>
        <p:nvSpPr>
          <p:cNvPr id="1645" name="Google Shape;1645;p37"/>
          <p:cNvSpPr/>
          <p:nvPr/>
        </p:nvSpPr>
        <p:spPr>
          <a:xfrm>
            <a:off x="6555172" y="3661172"/>
            <a:ext cx="1545478"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Pytest/Jest with 80%+ coverage report.</a:t>
            </a:r>
            <a:endParaRPr b="0" i="0" sz="621"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50" name="Shape 1650"/>
        <p:cNvGrpSpPr/>
        <p:nvPr/>
      </p:nvGrpSpPr>
      <p:grpSpPr>
        <a:xfrm>
          <a:off x="0" y="0"/>
          <a:ext cx="0" cy="0"/>
          <a:chOff x="0" y="0"/>
          <a:chExt cx="0" cy="0"/>
        </a:xfrm>
      </p:grpSpPr>
      <p:pic>
        <p:nvPicPr>
          <p:cNvPr descr="preencoded.png" id="1651" name="Google Shape;1651;p3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652" name="Google Shape;1652;p38"/>
          <p:cNvSpPr/>
          <p:nvPr/>
        </p:nvSpPr>
        <p:spPr>
          <a:xfrm>
            <a:off x="500063" y="357188"/>
            <a:ext cx="8143875" cy="369689"/>
          </a:xfrm>
          <a:prstGeom prst="rect">
            <a:avLst/>
          </a:prstGeom>
          <a:noFill/>
          <a:ln>
            <a:noFill/>
          </a:ln>
        </p:spPr>
        <p:txBody>
          <a:bodyPr anchorCtr="0" anchor="t" bIns="0" lIns="0" spcFirstLastPara="1" rIns="0" wrap="square" tIns="0">
            <a:noAutofit/>
          </a:bodyPr>
          <a:lstStyle/>
          <a:p>
            <a:pPr indent="0" lvl="0" marL="0" marR="0" rtl="0" algn="l">
              <a:lnSpc>
                <a:spcPct val="135983"/>
              </a:lnSpc>
              <a:spcBef>
                <a:spcPts val="0"/>
              </a:spcBef>
              <a:spcAft>
                <a:spcPts val="0"/>
              </a:spcAft>
              <a:buClr>
                <a:srgbClr val="FFFFFF"/>
              </a:buClr>
              <a:buSzPts val="1912"/>
              <a:buFont typeface="Calibri"/>
              <a:buNone/>
            </a:pPr>
            <a:r>
              <a:rPr b="1" i="0" lang="en-US" sz="1912" u="none" cap="none" strike="noStrike">
                <a:solidFill>
                  <a:srgbClr val="FFFFFF"/>
                </a:solidFill>
                <a:latin typeface="Calibri"/>
                <a:ea typeface="Calibri"/>
                <a:cs typeface="Calibri"/>
                <a:sym typeface="Calibri"/>
              </a:rPr>
              <a:t>Quality Phase: The Gauntlet</a:t>
            </a:r>
            <a:endParaRPr b="0" i="0" sz="1912" u="none" cap="none" strike="noStrike">
              <a:solidFill>
                <a:schemeClr val="dk1"/>
              </a:solidFill>
              <a:latin typeface="Calibri"/>
              <a:ea typeface="Calibri"/>
              <a:cs typeface="Calibri"/>
              <a:sym typeface="Calibri"/>
            </a:endParaRPr>
          </a:p>
        </p:txBody>
      </p:sp>
      <p:sp>
        <p:nvSpPr>
          <p:cNvPr id="1653" name="Google Shape;1653;p38"/>
          <p:cNvSpPr/>
          <p:nvPr/>
        </p:nvSpPr>
        <p:spPr>
          <a:xfrm>
            <a:off x="500063" y="1026914"/>
            <a:ext cx="2488788" cy="219670"/>
          </a:xfrm>
          <a:prstGeom prst="rect">
            <a:avLst/>
          </a:prstGeom>
          <a:noFill/>
          <a:ln>
            <a:noFill/>
          </a:ln>
        </p:spPr>
        <p:txBody>
          <a:bodyPr anchorCtr="0" anchor="t" bIns="68050" lIns="0" spcFirstLastPara="1" rIns="0" wrap="square" tIns="0">
            <a:noAutofit/>
          </a:bodyPr>
          <a:lstStyle/>
          <a:p>
            <a:pPr indent="0" lvl="0" marL="0" marR="0" rtl="0" algn="l">
              <a:lnSpc>
                <a:spcPct val="140306"/>
              </a:lnSpc>
              <a:spcBef>
                <a:spcPts val="0"/>
              </a:spcBef>
              <a:spcAft>
                <a:spcPts val="0"/>
              </a:spcAft>
              <a:buClr>
                <a:srgbClr val="00BFFF"/>
              </a:buClr>
              <a:buSzPts val="784"/>
              <a:buFont typeface="Calibri"/>
              <a:buNone/>
            </a:pPr>
            <a:r>
              <a:rPr b="1" i="0" lang="en-US" sz="784" u="none" cap="none" strike="noStrike">
                <a:solidFill>
                  <a:srgbClr val="00BFFF"/>
                </a:solidFill>
                <a:latin typeface="Calibri"/>
                <a:ea typeface="Calibri"/>
                <a:cs typeface="Calibri"/>
                <a:sym typeface="Calibri"/>
              </a:rPr>
              <a:t>The Squad</a:t>
            </a:r>
            <a:endParaRPr b="0" i="0" sz="784" u="none" cap="none" strike="noStrike">
              <a:solidFill>
                <a:schemeClr val="dk1"/>
              </a:solidFill>
              <a:latin typeface="Calibri"/>
              <a:ea typeface="Calibri"/>
              <a:cs typeface="Calibri"/>
              <a:sym typeface="Calibri"/>
            </a:endParaRPr>
          </a:p>
        </p:txBody>
      </p:sp>
      <p:sp>
        <p:nvSpPr>
          <p:cNvPr id="1654" name="Google Shape;1654;p38"/>
          <p:cNvSpPr/>
          <p:nvPr/>
        </p:nvSpPr>
        <p:spPr>
          <a:xfrm>
            <a:off x="500063" y="1353741"/>
            <a:ext cx="2488788" cy="53220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38"/>
          <p:cNvSpPr/>
          <p:nvPr/>
        </p:nvSpPr>
        <p:spPr>
          <a:xfrm>
            <a:off x="500063" y="1353741"/>
            <a:ext cx="28575" cy="532209"/>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56" name="Google Shape;1656;p38"/>
          <p:cNvPicPr preferRelativeResize="0"/>
          <p:nvPr/>
        </p:nvPicPr>
        <p:blipFill rotWithShape="1">
          <a:blip r:embed="rId4">
            <a:alphaModFix/>
          </a:blip>
          <a:srcRect b="0" l="0" r="0" t="0"/>
          <a:stretch/>
        </p:blipFill>
        <p:spPr>
          <a:xfrm>
            <a:off x="657225" y="1535013"/>
            <a:ext cx="128588" cy="171450"/>
          </a:xfrm>
          <a:prstGeom prst="rect">
            <a:avLst/>
          </a:prstGeom>
          <a:noFill/>
          <a:ln>
            <a:noFill/>
          </a:ln>
        </p:spPr>
      </p:pic>
      <p:sp>
        <p:nvSpPr>
          <p:cNvPr id="1657" name="Google Shape;1657;p38"/>
          <p:cNvSpPr/>
          <p:nvPr/>
        </p:nvSpPr>
        <p:spPr>
          <a:xfrm>
            <a:off x="928688" y="1468041"/>
            <a:ext cx="642603"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QA Planner</a:t>
            </a:r>
            <a:endParaRPr b="0" i="0" sz="784" u="none" cap="none" strike="noStrike">
              <a:solidFill>
                <a:schemeClr val="dk1"/>
              </a:solidFill>
              <a:latin typeface="Calibri"/>
              <a:ea typeface="Calibri"/>
              <a:cs typeface="Calibri"/>
              <a:sym typeface="Calibri"/>
            </a:endParaRPr>
          </a:p>
        </p:txBody>
      </p:sp>
      <p:sp>
        <p:nvSpPr>
          <p:cNvPr id="1658" name="Google Shape;1658;p38"/>
          <p:cNvSpPr/>
          <p:nvPr/>
        </p:nvSpPr>
        <p:spPr>
          <a:xfrm>
            <a:off x="928688" y="1644848"/>
            <a:ext cx="642603"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A0AAB5"/>
              </a:buClr>
              <a:buSzPts val="674"/>
              <a:buFont typeface="Calibri"/>
              <a:buNone/>
            </a:pPr>
            <a:r>
              <a:rPr b="0" i="0" lang="en-US" sz="674" u="none" cap="none" strike="noStrike">
                <a:solidFill>
                  <a:srgbClr val="A0AAB5"/>
                </a:solidFill>
                <a:latin typeface="Calibri"/>
                <a:ea typeface="Calibri"/>
                <a:cs typeface="Calibri"/>
                <a:sym typeface="Calibri"/>
              </a:rPr>
              <a:t>Test Strategy</a:t>
            </a:r>
            <a:endParaRPr b="0" i="0" sz="674" u="none" cap="none" strike="noStrike">
              <a:solidFill>
                <a:schemeClr val="dk1"/>
              </a:solidFill>
              <a:latin typeface="Calibri"/>
              <a:ea typeface="Calibri"/>
              <a:cs typeface="Calibri"/>
              <a:sym typeface="Calibri"/>
            </a:endParaRPr>
          </a:p>
        </p:txBody>
      </p:sp>
      <p:sp>
        <p:nvSpPr>
          <p:cNvPr id="1659" name="Google Shape;1659;p38"/>
          <p:cNvSpPr/>
          <p:nvPr/>
        </p:nvSpPr>
        <p:spPr>
          <a:xfrm>
            <a:off x="500063" y="1985963"/>
            <a:ext cx="2488788" cy="53220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38"/>
          <p:cNvSpPr/>
          <p:nvPr/>
        </p:nvSpPr>
        <p:spPr>
          <a:xfrm>
            <a:off x="500063" y="1985963"/>
            <a:ext cx="28575" cy="532209"/>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61" name="Google Shape;1661;p38"/>
          <p:cNvPicPr preferRelativeResize="0"/>
          <p:nvPr/>
        </p:nvPicPr>
        <p:blipFill rotWithShape="1">
          <a:blip r:embed="rId5">
            <a:alphaModFix/>
          </a:blip>
          <a:srcRect b="0" l="0" r="0" t="0"/>
          <a:stretch/>
        </p:blipFill>
        <p:spPr>
          <a:xfrm>
            <a:off x="635794" y="2167235"/>
            <a:ext cx="171450" cy="171450"/>
          </a:xfrm>
          <a:prstGeom prst="rect">
            <a:avLst/>
          </a:prstGeom>
          <a:noFill/>
          <a:ln>
            <a:noFill/>
          </a:ln>
        </p:spPr>
      </p:pic>
      <p:sp>
        <p:nvSpPr>
          <p:cNvPr id="1662" name="Google Shape;1662;p38"/>
          <p:cNvSpPr/>
          <p:nvPr/>
        </p:nvSpPr>
        <p:spPr>
          <a:xfrm>
            <a:off x="928688" y="2100263"/>
            <a:ext cx="902764"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Unit Test Writer</a:t>
            </a:r>
            <a:endParaRPr b="0" i="0" sz="784" u="none" cap="none" strike="noStrike">
              <a:solidFill>
                <a:schemeClr val="dk1"/>
              </a:solidFill>
              <a:latin typeface="Calibri"/>
              <a:ea typeface="Calibri"/>
              <a:cs typeface="Calibri"/>
              <a:sym typeface="Calibri"/>
            </a:endParaRPr>
          </a:p>
        </p:txBody>
      </p:sp>
      <p:sp>
        <p:nvSpPr>
          <p:cNvPr id="1663" name="Google Shape;1663;p38"/>
          <p:cNvSpPr/>
          <p:nvPr/>
        </p:nvSpPr>
        <p:spPr>
          <a:xfrm>
            <a:off x="928688" y="2277070"/>
            <a:ext cx="902764"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A0AAB5"/>
              </a:buClr>
              <a:buSzPts val="674"/>
              <a:buFont typeface="Calibri"/>
              <a:buNone/>
            </a:pPr>
            <a:r>
              <a:rPr b="0" i="0" lang="en-US" sz="674" u="none" cap="none" strike="noStrike">
                <a:solidFill>
                  <a:srgbClr val="A0AAB5"/>
                </a:solidFill>
                <a:latin typeface="Calibri"/>
                <a:ea typeface="Calibri"/>
                <a:cs typeface="Calibri"/>
                <a:sym typeface="Calibri"/>
              </a:rPr>
              <a:t>Code Coverage</a:t>
            </a:r>
            <a:endParaRPr b="0" i="0" sz="674" u="none" cap="none" strike="noStrike">
              <a:solidFill>
                <a:schemeClr val="dk1"/>
              </a:solidFill>
              <a:latin typeface="Calibri"/>
              <a:ea typeface="Calibri"/>
              <a:cs typeface="Calibri"/>
              <a:sym typeface="Calibri"/>
            </a:endParaRPr>
          </a:p>
        </p:txBody>
      </p:sp>
      <p:sp>
        <p:nvSpPr>
          <p:cNvPr id="1664" name="Google Shape;1664;p38"/>
          <p:cNvSpPr/>
          <p:nvPr/>
        </p:nvSpPr>
        <p:spPr>
          <a:xfrm>
            <a:off x="500063" y="2618184"/>
            <a:ext cx="2488788" cy="53220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38"/>
          <p:cNvSpPr/>
          <p:nvPr/>
        </p:nvSpPr>
        <p:spPr>
          <a:xfrm>
            <a:off x="500063" y="2618184"/>
            <a:ext cx="28575" cy="532209"/>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66" name="Google Shape;1666;p38"/>
          <p:cNvPicPr preferRelativeResize="0"/>
          <p:nvPr/>
        </p:nvPicPr>
        <p:blipFill rotWithShape="1">
          <a:blip r:embed="rId6">
            <a:alphaModFix/>
          </a:blip>
          <a:srcRect b="0" l="0" r="0" t="0"/>
          <a:stretch/>
        </p:blipFill>
        <p:spPr>
          <a:xfrm>
            <a:off x="614363" y="2799457"/>
            <a:ext cx="214313" cy="171450"/>
          </a:xfrm>
          <a:prstGeom prst="rect">
            <a:avLst/>
          </a:prstGeom>
          <a:noFill/>
          <a:ln>
            <a:noFill/>
          </a:ln>
        </p:spPr>
      </p:pic>
      <p:sp>
        <p:nvSpPr>
          <p:cNvPr id="1667" name="Google Shape;1667;p38"/>
          <p:cNvSpPr/>
          <p:nvPr/>
        </p:nvSpPr>
        <p:spPr>
          <a:xfrm>
            <a:off x="928688" y="2732484"/>
            <a:ext cx="967336"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E2E Test Writer</a:t>
            </a:r>
            <a:endParaRPr b="0" i="0" sz="784" u="none" cap="none" strike="noStrike">
              <a:solidFill>
                <a:schemeClr val="dk1"/>
              </a:solidFill>
              <a:latin typeface="Calibri"/>
              <a:ea typeface="Calibri"/>
              <a:cs typeface="Calibri"/>
              <a:sym typeface="Calibri"/>
            </a:endParaRPr>
          </a:p>
        </p:txBody>
      </p:sp>
      <p:sp>
        <p:nvSpPr>
          <p:cNvPr id="1668" name="Google Shape;1668;p38"/>
          <p:cNvSpPr/>
          <p:nvPr/>
        </p:nvSpPr>
        <p:spPr>
          <a:xfrm>
            <a:off x="928688" y="2909292"/>
            <a:ext cx="967336"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A0AAB5"/>
              </a:buClr>
              <a:buSzPts val="674"/>
              <a:buFont typeface="Calibri"/>
              <a:buNone/>
            </a:pPr>
            <a:r>
              <a:rPr b="0" i="0" lang="en-US" sz="674" u="none" cap="none" strike="noStrike">
                <a:solidFill>
                  <a:srgbClr val="A0AAB5"/>
                </a:solidFill>
                <a:latin typeface="Calibri"/>
                <a:ea typeface="Calibri"/>
                <a:cs typeface="Calibri"/>
                <a:sym typeface="Calibri"/>
              </a:rPr>
              <a:t>User Flow Automation</a:t>
            </a:r>
            <a:endParaRPr b="0" i="0" sz="674" u="none" cap="none" strike="noStrike">
              <a:solidFill>
                <a:schemeClr val="dk1"/>
              </a:solidFill>
              <a:latin typeface="Calibri"/>
              <a:ea typeface="Calibri"/>
              <a:cs typeface="Calibri"/>
              <a:sym typeface="Calibri"/>
            </a:endParaRPr>
          </a:p>
        </p:txBody>
      </p:sp>
      <p:sp>
        <p:nvSpPr>
          <p:cNvPr id="1669" name="Google Shape;1669;p38"/>
          <p:cNvSpPr/>
          <p:nvPr/>
        </p:nvSpPr>
        <p:spPr>
          <a:xfrm>
            <a:off x="500063" y="3250406"/>
            <a:ext cx="2488788" cy="53220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38"/>
          <p:cNvSpPr/>
          <p:nvPr/>
        </p:nvSpPr>
        <p:spPr>
          <a:xfrm>
            <a:off x="500063" y="3250406"/>
            <a:ext cx="28575" cy="532209"/>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71" name="Google Shape;1671;p38"/>
          <p:cNvPicPr preferRelativeResize="0"/>
          <p:nvPr/>
        </p:nvPicPr>
        <p:blipFill rotWithShape="1">
          <a:blip r:embed="rId7">
            <a:alphaModFix/>
          </a:blip>
          <a:srcRect b="0" l="0" r="0" t="0"/>
          <a:stretch/>
        </p:blipFill>
        <p:spPr>
          <a:xfrm>
            <a:off x="635794" y="3431679"/>
            <a:ext cx="171450" cy="171450"/>
          </a:xfrm>
          <a:prstGeom prst="rect">
            <a:avLst/>
          </a:prstGeom>
          <a:noFill/>
          <a:ln>
            <a:noFill/>
          </a:ln>
        </p:spPr>
      </p:pic>
      <p:sp>
        <p:nvSpPr>
          <p:cNvPr id="1672" name="Google Shape;1672;p38"/>
          <p:cNvSpPr/>
          <p:nvPr/>
        </p:nvSpPr>
        <p:spPr>
          <a:xfrm>
            <a:off x="928688" y="3364706"/>
            <a:ext cx="928939"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Security Auditor</a:t>
            </a:r>
            <a:endParaRPr b="0" i="0" sz="784" u="none" cap="none" strike="noStrike">
              <a:solidFill>
                <a:schemeClr val="dk1"/>
              </a:solidFill>
              <a:latin typeface="Calibri"/>
              <a:ea typeface="Calibri"/>
              <a:cs typeface="Calibri"/>
              <a:sym typeface="Calibri"/>
            </a:endParaRPr>
          </a:p>
        </p:txBody>
      </p:sp>
      <p:sp>
        <p:nvSpPr>
          <p:cNvPr id="1673" name="Google Shape;1673;p38"/>
          <p:cNvSpPr/>
          <p:nvPr/>
        </p:nvSpPr>
        <p:spPr>
          <a:xfrm>
            <a:off x="928688" y="3541514"/>
            <a:ext cx="928939"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A0AAB5"/>
              </a:buClr>
              <a:buSzPts val="674"/>
              <a:buFont typeface="Calibri"/>
              <a:buNone/>
            </a:pPr>
            <a:r>
              <a:rPr b="0" i="0" lang="en-US" sz="674" u="none" cap="none" strike="noStrike">
                <a:solidFill>
                  <a:srgbClr val="A0AAB5"/>
                </a:solidFill>
                <a:latin typeface="Calibri"/>
                <a:ea typeface="Calibri"/>
                <a:cs typeface="Calibri"/>
                <a:sym typeface="Calibri"/>
              </a:rPr>
              <a:t>Vulnerability Scan</a:t>
            </a:r>
            <a:endParaRPr b="0" i="0" sz="674" u="none" cap="none" strike="noStrike">
              <a:solidFill>
                <a:schemeClr val="dk1"/>
              </a:solidFill>
              <a:latin typeface="Calibri"/>
              <a:ea typeface="Calibri"/>
              <a:cs typeface="Calibri"/>
              <a:sym typeface="Calibri"/>
            </a:endParaRPr>
          </a:p>
        </p:txBody>
      </p:sp>
      <p:sp>
        <p:nvSpPr>
          <p:cNvPr id="1674" name="Google Shape;1674;p38"/>
          <p:cNvSpPr/>
          <p:nvPr/>
        </p:nvSpPr>
        <p:spPr>
          <a:xfrm>
            <a:off x="3203163" y="1842195"/>
            <a:ext cx="2737647" cy="173236"/>
          </a:xfrm>
          <a:prstGeom prst="roundRect">
            <a:avLst>
              <a:gd fmla="val 16667" name="adj"/>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75" name="Google Shape;1675;p38"/>
          <p:cNvPicPr preferRelativeResize="0"/>
          <p:nvPr/>
        </p:nvPicPr>
        <p:blipFill rotWithShape="1">
          <a:blip r:embed="rId8">
            <a:alphaModFix/>
          </a:blip>
          <a:srcRect b="0" l="0" r="0" t="0"/>
          <a:stretch/>
        </p:blipFill>
        <p:spPr>
          <a:xfrm>
            <a:off x="3288888" y="1885057"/>
            <a:ext cx="85725" cy="85725"/>
          </a:xfrm>
          <a:prstGeom prst="rect">
            <a:avLst/>
          </a:prstGeom>
          <a:noFill/>
          <a:ln>
            <a:noFill/>
          </a:ln>
        </p:spPr>
      </p:pic>
      <p:sp>
        <p:nvSpPr>
          <p:cNvPr id="1676" name="Google Shape;1676;p38"/>
          <p:cNvSpPr/>
          <p:nvPr/>
        </p:nvSpPr>
        <p:spPr>
          <a:xfrm>
            <a:off x="3374613" y="1870770"/>
            <a:ext cx="753889" cy="116086"/>
          </a:xfrm>
          <a:prstGeom prst="rect">
            <a:avLst/>
          </a:prstGeom>
          <a:noFill/>
          <a:ln>
            <a:noFill/>
          </a:ln>
        </p:spPr>
        <p:txBody>
          <a:bodyPr anchorCtr="0" anchor="t" bIns="0" lIns="0" spcFirstLastPara="1" rIns="0" wrap="square" tIns="0">
            <a:noAutofit/>
          </a:bodyPr>
          <a:lstStyle/>
          <a:p>
            <a:pPr indent="0" lvl="0" marL="0" marR="0" rtl="0" algn="l">
              <a:lnSpc>
                <a:spcPct val="136986"/>
              </a:lnSpc>
              <a:spcBef>
                <a:spcPts val="0"/>
              </a:spcBef>
              <a:spcAft>
                <a:spcPts val="0"/>
              </a:spcAft>
              <a:buClr>
                <a:srgbClr val="0D1B2E"/>
              </a:buClr>
              <a:buSzPts val="584"/>
              <a:buFont typeface="Calibri"/>
              <a:buNone/>
            </a:pPr>
            <a:r>
              <a:rPr b="1" i="0" lang="en-US" sz="584" u="none" cap="none" strike="noStrike">
                <a:solidFill>
                  <a:srgbClr val="0D1B2E"/>
                </a:solidFill>
                <a:latin typeface="Calibri"/>
                <a:ea typeface="Calibri"/>
                <a:cs typeface="Calibri"/>
                <a:sym typeface="Calibri"/>
              </a:rPr>
              <a:t>Blocking Gates</a:t>
            </a:r>
            <a:endParaRPr b="0" i="0" sz="584" u="none" cap="none" strike="noStrike">
              <a:solidFill>
                <a:schemeClr val="dk1"/>
              </a:solidFill>
              <a:latin typeface="Calibri"/>
              <a:ea typeface="Calibri"/>
              <a:cs typeface="Calibri"/>
              <a:sym typeface="Calibri"/>
            </a:endParaRPr>
          </a:p>
        </p:txBody>
      </p:sp>
      <p:sp>
        <p:nvSpPr>
          <p:cNvPr id="1677" name="Google Shape;1677;p38"/>
          <p:cNvSpPr/>
          <p:nvPr/>
        </p:nvSpPr>
        <p:spPr>
          <a:xfrm>
            <a:off x="3203163" y="2122587"/>
            <a:ext cx="2737647" cy="473273"/>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78" name="Google Shape;1678;p38"/>
          <p:cNvPicPr preferRelativeResize="0"/>
          <p:nvPr/>
        </p:nvPicPr>
        <p:blipFill rotWithShape="1">
          <a:blip r:embed="rId9">
            <a:alphaModFix/>
          </a:blip>
          <a:srcRect b="0" l="0" r="0" t="0"/>
          <a:stretch/>
        </p:blipFill>
        <p:spPr>
          <a:xfrm>
            <a:off x="3317463" y="2288679"/>
            <a:ext cx="142875" cy="142875"/>
          </a:xfrm>
          <a:prstGeom prst="rect">
            <a:avLst/>
          </a:prstGeom>
          <a:noFill/>
          <a:ln>
            <a:noFill/>
          </a:ln>
        </p:spPr>
      </p:pic>
      <p:sp>
        <p:nvSpPr>
          <p:cNvPr id="1679" name="Google Shape;1679;p38"/>
          <p:cNvSpPr/>
          <p:nvPr/>
        </p:nvSpPr>
        <p:spPr>
          <a:xfrm>
            <a:off x="3574638" y="2222599"/>
            <a:ext cx="1549412"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Unit Testing</a:t>
            </a:r>
            <a:endParaRPr b="0" i="0" sz="683" u="none" cap="none" strike="noStrike">
              <a:solidFill>
                <a:schemeClr val="dk1"/>
              </a:solidFill>
              <a:latin typeface="Calibri"/>
              <a:ea typeface="Calibri"/>
              <a:cs typeface="Calibri"/>
              <a:sym typeface="Calibri"/>
            </a:endParaRPr>
          </a:p>
        </p:txBody>
      </p:sp>
      <p:sp>
        <p:nvSpPr>
          <p:cNvPr id="1680" name="Google Shape;1680;p38"/>
          <p:cNvSpPr/>
          <p:nvPr/>
        </p:nvSpPr>
        <p:spPr>
          <a:xfrm>
            <a:off x="3574638" y="2379762"/>
            <a:ext cx="1549412"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Pytest/Jest — 80%+ coverage required.</a:t>
            </a:r>
            <a:endParaRPr b="0" i="0" sz="621" u="none" cap="none" strike="noStrike">
              <a:solidFill>
                <a:schemeClr val="dk1"/>
              </a:solidFill>
              <a:latin typeface="Calibri"/>
              <a:ea typeface="Calibri"/>
              <a:cs typeface="Calibri"/>
              <a:sym typeface="Calibri"/>
            </a:endParaRPr>
          </a:p>
        </p:txBody>
      </p:sp>
      <p:sp>
        <p:nvSpPr>
          <p:cNvPr id="1681" name="Google Shape;1681;p38"/>
          <p:cNvSpPr/>
          <p:nvPr/>
        </p:nvSpPr>
        <p:spPr>
          <a:xfrm>
            <a:off x="3203163" y="2767310"/>
            <a:ext cx="2737647" cy="473273"/>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82" name="Google Shape;1682;p38"/>
          <p:cNvPicPr preferRelativeResize="0"/>
          <p:nvPr/>
        </p:nvPicPr>
        <p:blipFill rotWithShape="1">
          <a:blip r:embed="rId10">
            <a:alphaModFix/>
          </a:blip>
          <a:srcRect b="0" l="0" r="0" t="0"/>
          <a:stretch/>
        </p:blipFill>
        <p:spPr>
          <a:xfrm>
            <a:off x="3317463" y="2933402"/>
            <a:ext cx="142875" cy="142875"/>
          </a:xfrm>
          <a:prstGeom prst="rect">
            <a:avLst/>
          </a:prstGeom>
          <a:noFill/>
          <a:ln>
            <a:noFill/>
          </a:ln>
        </p:spPr>
      </p:pic>
      <p:sp>
        <p:nvSpPr>
          <p:cNvPr id="1683" name="Google Shape;1683;p38"/>
          <p:cNvSpPr/>
          <p:nvPr/>
        </p:nvSpPr>
        <p:spPr>
          <a:xfrm>
            <a:off x="3574638" y="2867323"/>
            <a:ext cx="1577625"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E2E Validation</a:t>
            </a:r>
            <a:endParaRPr b="0" i="0" sz="683" u="none" cap="none" strike="noStrike">
              <a:solidFill>
                <a:schemeClr val="dk1"/>
              </a:solidFill>
              <a:latin typeface="Calibri"/>
              <a:ea typeface="Calibri"/>
              <a:cs typeface="Calibri"/>
              <a:sym typeface="Calibri"/>
            </a:endParaRPr>
          </a:p>
        </p:txBody>
      </p:sp>
      <p:sp>
        <p:nvSpPr>
          <p:cNvPr id="1684" name="Google Shape;1684;p38"/>
          <p:cNvSpPr/>
          <p:nvPr/>
        </p:nvSpPr>
        <p:spPr>
          <a:xfrm>
            <a:off x="3574638" y="3024485"/>
            <a:ext cx="1577625"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Playwright simulates full user journeys.</a:t>
            </a:r>
            <a:endParaRPr b="0" i="0" sz="621" u="none" cap="none" strike="noStrike">
              <a:solidFill>
                <a:schemeClr val="dk1"/>
              </a:solidFill>
              <a:latin typeface="Calibri"/>
              <a:ea typeface="Calibri"/>
              <a:cs typeface="Calibri"/>
              <a:sym typeface="Calibri"/>
            </a:endParaRPr>
          </a:p>
        </p:txBody>
      </p:sp>
      <p:sp>
        <p:nvSpPr>
          <p:cNvPr id="1685" name="Google Shape;1685;p38"/>
          <p:cNvSpPr/>
          <p:nvPr/>
        </p:nvSpPr>
        <p:spPr>
          <a:xfrm>
            <a:off x="3203163" y="3412034"/>
            <a:ext cx="2737647" cy="473273"/>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86" name="Google Shape;1686;p38"/>
          <p:cNvPicPr preferRelativeResize="0"/>
          <p:nvPr/>
        </p:nvPicPr>
        <p:blipFill rotWithShape="1">
          <a:blip r:embed="rId11">
            <a:alphaModFix/>
          </a:blip>
          <a:srcRect b="0" l="0" r="0" t="0"/>
          <a:stretch/>
        </p:blipFill>
        <p:spPr>
          <a:xfrm>
            <a:off x="3317463" y="3578126"/>
            <a:ext cx="142875" cy="142875"/>
          </a:xfrm>
          <a:prstGeom prst="rect">
            <a:avLst/>
          </a:prstGeom>
          <a:noFill/>
          <a:ln>
            <a:noFill/>
          </a:ln>
        </p:spPr>
      </p:pic>
      <p:sp>
        <p:nvSpPr>
          <p:cNvPr id="1687" name="Google Shape;1687;p38"/>
          <p:cNvSpPr/>
          <p:nvPr/>
        </p:nvSpPr>
        <p:spPr>
          <a:xfrm>
            <a:off x="3574638" y="3512046"/>
            <a:ext cx="1773324"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Security Audit</a:t>
            </a:r>
            <a:endParaRPr b="0" i="0" sz="683" u="none" cap="none" strike="noStrike">
              <a:solidFill>
                <a:schemeClr val="dk1"/>
              </a:solidFill>
              <a:latin typeface="Calibri"/>
              <a:ea typeface="Calibri"/>
              <a:cs typeface="Calibri"/>
              <a:sym typeface="Calibri"/>
            </a:endParaRPr>
          </a:p>
        </p:txBody>
      </p:sp>
      <p:sp>
        <p:nvSpPr>
          <p:cNvPr id="1688" name="Google Shape;1688;p38"/>
          <p:cNvSpPr/>
          <p:nvPr/>
        </p:nvSpPr>
        <p:spPr>
          <a:xfrm>
            <a:off x="3574638" y="3669209"/>
            <a:ext cx="1773324"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OWASP scan — zero critical findings to pass.</a:t>
            </a:r>
            <a:endParaRPr b="0" i="0" sz="621" u="none" cap="none" strike="noStrike">
              <a:solidFill>
                <a:schemeClr val="dk1"/>
              </a:solidFill>
              <a:latin typeface="Calibri"/>
              <a:ea typeface="Calibri"/>
              <a:cs typeface="Calibri"/>
              <a:sym typeface="Calibri"/>
            </a:endParaRPr>
          </a:p>
        </p:txBody>
      </p:sp>
      <p:sp>
        <p:nvSpPr>
          <p:cNvPr id="1689" name="Google Shape;1689;p38"/>
          <p:cNvSpPr/>
          <p:nvPr/>
        </p:nvSpPr>
        <p:spPr>
          <a:xfrm>
            <a:off x="6155122" y="1026914"/>
            <a:ext cx="2488816" cy="219670"/>
          </a:xfrm>
          <a:prstGeom prst="rect">
            <a:avLst/>
          </a:prstGeom>
          <a:noFill/>
          <a:ln>
            <a:noFill/>
          </a:ln>
        </p:spPr>
        <p:txBody>
          <a:bodyPr anchorCtr="0" anchor="t" bIns="68050" lIns="0" spcFirstLastPara="1" rIns="0" wrap="square" tIns="0">
            <a:noAutofit/>
          </a:bodyPr>
          <a:lstStyle/>
          <a:p>
            <a:pPr indent="0" lvl="0" marL="0" marR="0" rtl="0" algn="l">
              <a:lnSpc>
                <a:spcPct val="140306"/>
              </a:lnSpc>
              <a:spcBef>
                <a:spcPts val="0"/>
              </a:spcBef>
              <a:spcAft>
                <a:spcPts val="0"/>
              </a:spcAft>
              <a:buClr>
                <a:srgbClr val="00BFFF"/>
              </a:buClr>
              <a:buSzPts val="784"/>
              <a:buFont typeface="Calibri"/>
              <a:buNone/>
            </a:pPr>
            <a:r>
              <a:rPr b="1" i="0" lang="en-US" sz="784" u="none" cap="none" strike="noStrike">
                <a:solidFill>
                  <a:srgbClr val="00BFFF"/>
                </a:solidFill>
                <a:latin typeface="Calibri"/>
                <a:ea typeface="Calibri"/>
                <a:cs typeface="Calibri"/>
                <a:sym typeface="Calibri"/>
              </a:rPr>
              <a:t>Key Artifacts</a:t>
            </a:r>
            <a:endParaRPr b="0" i="0" sz="784" u="none" cap="none" strike="noStrike">
              <a:solidFill>
                <a:schemeClr val="dk1"/>
              </a:solidFill>
              <a:latin typeface="Calibri"/>
              <a:ea typeface="Calibri"/>
              <a:cs typeface="Calibri"/>
              <a:sym typeface="Calibri"/>
            </a:endParaRPr>
          </a:p>
        </p:txBody>
      </p:sp>
      <p:sp>
        <p:nvSpPr>
          <p:cNvPr id="1690" name="Google Shape;1690;p38"/>
          <p:cNvSpPr/>
          <p:nvPr/>
        </p:nvSpPr>
        <p:spPr>
          <a:xfrm>
            <a:off x="6155122" y="1353741"/>
            <a:ext cx="2488816" cy="48398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91" name="Google Shape;1691;p38"/>
          <p:cNvPicPr preferRelativeResize="0"/>
          <p:nvPr/>
        </p:nvPicPr>
        <p:blipFill rotWithShape="1">
          <a:blip r:embed="rId12">
            <a:alphaModFix/>
          </a:blip>
          <a:srcRect b="0" l="0" r="0" t="0"/>
          <a:stretch/>
        </p:blipFill>
        <p:spPr>
          <a:xfrm>
            <a:off x="6296211" y="1518940"/>
            <a:ext cx="117872" cy="157163"/>
          </a:xfrm>
          <a:prstGeom prst="rect">
            <a:avLst/>
          </a:prstGeom>
          <a:noFill/>
          <a:ln>
            <a:noFill/>
          </a:ln>
        </p:spPr>
      </p:pic>
      <p:sp>
        <p:nvSpPr>
          <p:cNvPr id="1692" name="Google Shape;1692;p38"/>
          <p:cNvSpPr/>
          <p:nvPr/>
        </p:nvSpPr>
        <p:spPr>
          <a:xfrm>
            <a:off x="6555172" y="1453753"/>
            <a:ext cx="1434805"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Test Plan</a:t>
            </a:r>
            <a:endParaRPr b="0" i="0" sz="734" u="none" cap="none" strike="noStrike">
              <a:solidFill>
                <a:schemeClr val="dk1"/>
              </a:solidFill>
              <a:latin typeface="Calibri"/>
              <a:ea typeface="Calibri"/>
              <a:cs typeface="Calibri"/>
              <a:sym typeface="Calibri"/>
            </a:endParaRPr>
          </a:p>
        </p:txBody>
      </p:sp>
      <p:sp>
        <p:nvSpPr>
          <p:cNvPr id="1693" name="Google Shape;1693;p38"/>
          <p:cNvSpPr/>
          <p:nvPr/>
        </p:nvSpPr>
        <p:spPr>
          <a:xfrm>
            <a:off x="6555172" y="1621631"/>
            <a:ext cx="1434805"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QA strategy, scope &amp; test scenarios.</a:t>
            </a:r>
            <a:endParaRPr b="0" i="0" sz="621" u="none" cap="none" strike="noStrike">
              <a:solidFill>
                <a:schemeClr val="dk1"/>
              </a:solidFill>
              <a:latin typeface="Calibri"/>
              <a:ea typeface="Calibri"/>
              <a:cs typeface="Calibri"/>
              <a:sym typeface="Calibri"/>
            </a:endParaRPr>
          </a:p>
        </p:txBody>
      </p:sp>
      <p:sp>
        <p:nvSpPr>
          <p:cNvPr id="1694" name="Google Shape;1694;p38"/>
          <p:cNvSpPr/>
          <p:nvPr/>
        </p:nvSpPr>
        <p:spPr>
          <a:xfrm>
            <a:off x="6155122" y="1937742"/>
            <a:ext cx="2488816" cy="669727"/>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95" name="Google Shape;1695;p38"/>
          <p:cNvPicPr preferRelativeResize="0"/>
          <p:nvPr/>
        </p:nvPicPr>
        <p:blipFill rotWithShape="1">
          <a:blip r:embed="rId13">
            <a:alphaModFix/>
          </a:blip>
          <a:srcRect b="0" l="0" r="0" t="0"/>
          <a:stretch/>
        </p:blipFill>
        <p:spPr>
          <a:xfrm>
            <a:off x="6266743" y="2195810"/>
            <a:ext cx="176808" cy="157163"/>
          </a:xfrm>
          <a:prstGeom prst="rect">
            <a:avLst/>
          </a:prstGeom>
          <a:noFill/>
          <a:ln>
            <a:noFill/>
          </a:ln>
        </p:spPr>
      </p:pic>
      <p:sp>
        <p:nvSpPr>
          <p:cNvPr id="1696" name="Google Shape;1696;p38"/>
          <p:cNvSpPr/>
          <p:nvPr/>
        </p:nvSpPr>
        <p:spPr>
          <a:xfrm>
            <a:off x="6555172" y="2037755"/>
            <a:ext cx="1579494"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Coverage Report</a:t>
            </a:r>
            <a:endParaRPr b="0" i="0" sz="734" u="none" cap="none" strike="noStrike">
              <a:solidFill>
                <a:schemeClr val="dk1"/>
              </a:solidFill>
              <a:latin typeface="Calibri"/>
              <a:ea typeface="Calibri"/>
              <a:cs typeface="Calibri"/>
              <a:sym typeface="Calibri"/>
            </a:endParaRPr>
          </a:p>
        </p:txBody>
      </p:sp>
      <p:sp>
        <p:nvSpPr>
          <p:cNvPr id="1697" name="Google Shape;1697;p38"/>
          <p:cNvSpPr/>
          <p:nvPr/>
        </p:nvSpPr>
        <p:spPr>
          <a:xfrm>
            <a:off x="6555172" y="2205633"/>
            <a:ext cx="1579494"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HTML report with line-by-line coverage.</a:t>
            </a:r>
            <a:endParaRPr b="0" i="0" sz="621" u="none" cap="none" strike="noStrike">
              <a:solidFill>
                <a:schemeClr val="dk1"/>
              </a:solidFill>
              <a:latin typeface="Calibri"/>
              <a:ea typeface="Calibri"/>
              <a:cs typeface="Calibri"/>
              <a:sym typeface="Calibri"/>
            </a:endParaRPr>
          </a:p>
        </p:txBody>
      </p:sp>
      <p:sp>
        <p:nvSpPr>
          <p:cNvPr id="1698" name="Google Shape;1698;p38"/>
          <p:cNvSpPr/>
          <p:nvPr/>
        </p:nvSpPr>
        <p:spPr>
          <a:xfrm>
            <a:off x="6555172" y="2357438"/>
            <a:ext cx="628929" cy="150019"/>
          </a:xfrm>
          <a:prstGeom prst="rect">
            <a:avLst/>
          </a:prstGeom>
          <a:solidFill>
            <a:srgbClr val="00C853">
              <a:alpha val="14901"/>
            </a:srgbClr>
          </a:solidFill>
          <a:ln cap="flat" cmpd="sng" w="952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38"/>
          <p:cNvSpPr/>
          <p:nvPr/>
        </p:nvSpPr>
        <p:spPr>
          <a:xfrm>
            <a:off x="6555172" y="2357438"/>
            <a:ext cx="628929" cy="150019"/>
          </a:xfrm>
          <a:prstGeom prst="rect">
            <a:avLst/>
          </a:prstGeom>
          <a:noFill/>
          <a:ln>
            <a:noFill/>
          </a:ln>
        </p:spPr>
        <p:txBody>
          <a:bodyPr anchorCtr="0" anchor="t" bIns="17000" lIns="68050" spcFirstLastPara="1" rIns="68050" wrap="square" tIns="17000">
            <a:noAutofit/>
          </a:bodyPr>
          <a:lstStyle/>
          <a:p>
            <a:pPr indent="0" lvl="0" marL="0" marR="0" rtl="0" algn="l">
              <a:lnSpc>
                <a:spcPct val="131086"/>
              </a:lnSpc>
              <a:spcBef>
                <a:spcPts val="0"/>
              </a:spcBef>
              <a:spcAft>
                <a:spcPts val="0"/>
              </a:spcAft>
              <a:buClr>
                <a:srgbClr val="00C853"/>
              </a:buClr>
              <a:buSzPts val="534"/>
              <a:buFont typeface="Calibri"/>
              <a:buNone/>
            </a:pPr>
            <a:r>
              <a:rPr b="1" i="0" lang="en-US" sz="534" u="none" cap="none" strike="noStrike">
                <a:solidFill>
                  <a:srgbClr val="00C853"/>
                </a:solidFill>
                <a:latin typeface="Calibri"/>
                <a:ea typeface="Calibri"/>
                <a:cs typeface="Calibri"/>
                <a:sym typeface="Calibri"/>
              </a:rPr>
              <a:t>Target: 80%+</a:t>
            </a:r>
            <a:endParaRPr b="0" i="0" sz="534" u="none" cap="none" strike="noStrike">
              <a:solidFill>
                <a:schemeClr val="dk1"/>
              </a:solidFill>
              <a:latin typeface="Calibri"/>
              <a:ea typeface="Calibri"/>
              <a:cs typeface="Calibri"/>
              <a:sym typeface="Calibri"/>
            </a:endParaRPr>
          </a:p>
        </p:txBody>
      </p:sp>
      <p:sp>
        <p:nvSpPr>
          <p:cNvPr id="1700" name="Google Shape;1700;p38"/>
          <p:cNvSpPr/>
          <p:nvPr/>
        </p:nvSpPr>
        <p:spPr>
          <a:xfrm>
            <a:off x="6155122" y="2693194"/>
            <a:ext cx="2488816" cy="48398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01" name="Google Shape;1701;p38"/>
          <p:cNvPicPr preferRelativeResize="0"/>
          <p:nvPr/>
        </p:nvPicPr>
        <p:blipFill rotWithShape="1">
          <a:blip r:embed="rId14">
            <a:alphaModFix/>
          </a:blip>
          <a:srcRect b="0" l="0" r="0" t="0"/>
          <a:stretch/>
        </p:blipFill>
        <p:spPr>
          <a:xfrm>
            <a:off x="6276566" y="2858393"/>
            <a:ext cx="157163" cy="157163"/>
          </a:xfrm>
          <a:prstGeom prst="rect">
            <a:avLst/>
          </a:prstGeom>
          <a:noFill/>
          <a:ln>
            <a:noFill/>
          </a:ln>
        </p:spPr>
      </p:pic>
      <p:sp>
        <p:nvSpPr>
          <p:cNvPr id="1702" name="Google Shape;1702;p38"/>
          <p:cNvSpPr/>
          <p:nvPr/>
        </p:nvSpPr>
        <p:spPr>
          <a:xfrm>
            <a:off x="6555172" y="2793206"/>
            <a:ext cx="1683218"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E2E Test Report</a:t>
            </a:r>
            <a:endParaRPr b="0" i="0" sz="734" u="none" cap="none" strike="noStrike">
              <a:solidFill>
                <a:schemeClr val="dk1"/>
              </a:solidFill>
              <a:latin typeface="Calibri"/>
              <a:ea typeface="Calibri"/>
              <a:cs typeface="Calibri"/>
              <a:sym typeface="Calibri"/>
            </a:endParaRPr>
          </a:p>
        </p:txBody>
      </p:sp>
      <p:sp>
        <p:nvSpPr>
          <p:cNvPr id="1703" name="Google Shape;1703;p38"/>
          <p:cNvSpPr/>
          <p:nvPr/>
        </p:nvSpPr>
        <p:spPr>
          <a:xfrm>
            <a:off x="6555172" y="2961084"/>
            <a:ext cx="1683218"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Playwright HTML report with screenshots.</a:t>
            </a:r>
            <a:endParaRPr b="0" i="0" sz="621" u="none" cap="none" strike="noStrike">
              <a:solidFill>
                <a:schemeClr val="dk1"/>
              </a:solidFill>
              <a:latin typeface="Calibri"/>
              <a:ea typeface="Calibri"/>
              <a:cs typeface="Calibri"/>
              <a:sym typeface="Calibri"/>
            </a:endParaRPr>
          </a:p>
        </p:txBody>
      </p:sp>
      <p:sp>
        <p:nvSpPr>
          <p:cNvPr id="1704" name="Google Shape;1704;p38"/>
          <p:cNvSpPr/>
          <p:nvPr/>
        </p:nvSpPr>
        <p:spPr>
          <a:xfrm>
            <a:off x="6155122" y="3277195"/>
            <a:ext cx="2488816" cy="669727"/>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05" name="Google Shape;1705;p38"/>
          <p:cNvPicPr preferRelativeResize="0"/>
          <p:nvPr/>
        </p:nvPicPr>
        <p:blipFill rotWithShape="1">
          <a:blip r:embed="rId15">
            <a:alphaModFix/>
          </a:blip>
          <a:srcRect b="0" l="0" r="0" t="0"/>
          <a:stretch/>
        </p:blipFill>
        <p:spPr>
          <a:xfrm>
            <a:off x="6276566" y="3535263"/>
            <a:ext cx="157163" cy="157163"/>
          </a:xfrm>
          <a:prstGeom prst="rect">
            <a:avLst/>
          </a:prstGeom>
          <a:noFill/>
          <a:ln>
            <a:noFill/>
          </a:ln>
        </p:spPr>
      </p:pic>
      <p:sp>
        <p:nvSpPr>
          <p:cNvPr id="1706" name="Google Shape;1706;p38"/>
          <p:cNvSpPr/>
          <p:nvPr/>
        </p:nvSpPr>
        <p:spPr>
          <a:xfrm>
            <a:off x="6555172" y="3377208"/>
            <a:ext cx="1501220"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Security Audit Report</a:t>
            </a:r>
            <a:endParaRPr b="0" i="0" sz="734" u="none" cap="none" strike="noStrike">
              <a:solidFill>
                <a:schemeClr val="dk1"/>
              </a:solidFill>
              <a:latin typeface="Calibri"/>
              <a:ea typeface="Calibri"/>
              <a:cs typeface="Calibri"/>
              <a:sym typeface="Calibri"/>
            </a:endParaRPr>
          </a:p>
        </p:txBody>
      </p:sp>
      <p:sp>
        <p:nvSpPr>
          <p:cNvPr id="1707" name="Google Shape;1707;p38"/>
          <p:cNvSpPr/>
          <p:nvPr/>
        </p:nvSpPr>
        <p:spPr>
          <a:xfrm>
            <a:off x="6555172" y="3545086"/>
            <a:ext cx="1501220"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OWASP findings with severity ratings.</a:t>
            </a:r>
            <a:endParaRPr b="0" i="0" sz="621" u="none" cap="none" strike="noStrike">
              <a:solidFill>
                <a:schemeClr val="dk1"/>
              </a:solidFill>
              <a:latin typeface="Calibri"/>
              <a:ea typeface="Calibri"/>
              <a:cs typeface="Calibri"/>
              <a:sym typeface="Calibri"/>
            </a:endParaRPr>
          </a:p>
        </p:txBody>
      </p:sp>
      <p:sp>
        <p:nvSpPr>
          <p:cNvPr id="1708" name="Google Shape;1708;p38"/>
          <p:cNvSpPr/>
          <p:nvPr/>
        </p:nvSpPr>
        <p:spPr>
          <a:xfrm>
            <a:off x="6555172" y="3696891"/>
            <a:ext cx="826861" cy="150019"/>
          </a:xfrm>
          <a:prstGeom prst="rect">
            <a:avLst/>
          </a:prstGeom>
          <a:solidFill>
            <a:srgbClr val="00C853">
              <a:alpha val="14901"/>
            </a:srgbClr>
          </a:solidFill>
          <a:ln cap="flat" cmpd="sng" w="9525">
            <a:solidFill>
              <a:srgbClr val="00C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38"/>
          <p:cNvSpPr/>
          <p:nvPr/>
        </p:nvSpPr>
        <p:spPr>
          <a:xfrm>
            <a:off x="6555172" y="3696891"/>
            <a:ext cx="826861" cy="150019"/>
          </a:xfrm>
          <a:prstGeom prst="rect">
            <a:avLst/>
          </a:prstGeom>
          <a:noFill/>
          <a:ln>
            <a:noFill/>
          </a:ln>
        </p:spPr>
        <p:txBody>
          <a:bodyPr anchorCtr="0" anchor="t" bIns="17000" lIns="68050" spcFirstLastPara="1" rIns="68050" wrap="square" tIns="17000">
            <a:noAutofit/>
          </a:bodyPr>
          <a:lstStyle/>
          <a:p>
            <a:pPr indent="0" lvl="0" marL="0" marR="0" rtl="0" algn="l">
              <a:lnSpc>
                <a:spcPct val="131086"/>
              </a:lnSpc>
              <a:spcBef>
                <a:spcPts val="0"/>
              </a:spcBef>
              <a:spcAft>
                <a:spcPts val="0"/>
              </a:spcAft>
              <a:buClr>
                <a:srgbClr val="00C853"/>
              </a:buClr>
              <a:buSzPts val="534"/>
              <a:buFont typeface="Calibri"/>
              <a:buNone/>
            </a:pPr>
            <a:r>
              <a:rPr b="1" i="0" lang="en-US" sz="534" u="none" cap="none" strike="noStrike">
                <a:solidFill>
                  <a:srgbClr val="00C853"/>
                </a:solidFill>
                <a:latin typeface="Calibri"/>
                <a:ea typeface="Calibri"/>
                <a:cs typeface="Calibri"/>
                <a:sym typeface="Calibri"/>
              </a:rPr>
              <a:t>0 Critical Findings</a:t>
            </a:r>
            <a:endParaRPr b="0" i="0" sz="534"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14" name="Shape 1714"/>
        <p:cNvGrpSpPr/>
        <p:nvPr/>
      </p:nvGrpSpPr>
      <p:grpSpPr>
        <a:xfrm>
          <a:off x="0" y="0"/>
          <a:ext cx="0" cy="0"/>
          <a:chOff x="0" y="0"/>
          <a:chExt cx="0" cy="0"/>
        </a:xfrm>
      </p:grpSpPr>
      <p:pic>
        <p:nvPicPr>
          <p:cNvPr descr="preencoded.png" id="1715" name="Google Shape;1715;p3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716" name="Google Shape;1716;p39"/>
          <p:cNvSpPr/>
          <p:nvPr/>
        </p:nvSpPr>
        <p:spPr>
          <a:xfrm>
            <a:off x="500063" y="357188"/>
            <a:ext cx="8143875" cy="369689"/>
          </a:xfrm>
          <a:prstGeom prst="rect">
            <a:avLst/>
          </a:prstGeom>
          <a:noFill/>
          <a:ln>
            <a:noFill/>
          </a:ln>
        </p:spPr>
        <p:txBody>
          <a:bodyPr anchorCtr="0" anchor="t" bIns="0" lIns="0" spcFirstLastPara="1" rIns="0" wrap="square" tIns="0">
            <a:noAutofit/>
          </a:bodyPr>
          <a:lstStyle/>
          <a:p>
            <a:pPr indent="0" lvl="0" marL="0" marR="0" rtl="0" algn="l">
              <a:lnSpc>
                <a:spcPct val="135983"/>
              </a:lnSpc>
              <a:spcBef>
                <a:spcPts val="0"/>
              </a:spcBef>
              <a:spcAft>
                <a:spcPts val="0"/>
              </a:spcAft>
              <a:buClr>
                <a:srgbClr val="FFFFFF"/>
              </a:buClr>
              <a:buSzPts val="1912"/>
              <a:buFont typeface="Calibri"/>
              <a:buNone/>
            </a:pPr>
            <a:r>
              <a:rPr b="1" i="0" lang="en-US" sz="1912" u="none" cap="none" strike="noStrike">
                <a:solidFill>
                  <a:srgbClr val="FFFFFF"/>
                </a:solidFill>
                <a:latin typeface="Calibri"/>
                <a:ea typeface="Calibri"/>
                <a:cs typeface="Calibri"/>
                <a:sym typeface="Calibri"/>
              </a:rPr>
              <a:t>Specialized Phase: Ops &amp; Release</a:t>
            </a:r>
            <a:endParaRPr b="0" i="0" sz="1912" u="none" cap="none" strike="noStrike">
              <a:solidFill>
                <a:schemeClr val="dk1"/>
              </a:solidFill>
              <a:latin typeface="Calibri"/>
              <a:ea typeface="Calibri"/>
              <a:cs typeface="Calibri"/>
              <a:sym typeface="Calibri"/>
            </a:endParaRPr>
          </a:p>
        </p:txBody>
      </p:sp>
      <p:sp>
        <p:nvSpPr>
          <p:cNvPr id="1717" name="Google Shape;1717;p39"/>
          <p:cNvSpPr/>
          <p:nvPr/>
        </p:nvSpPr>
        <p:spPr>
          <a:xfrm>
            <a:off x="500063" y="1026914"/>
            <a:ext cx="2488788" cy="219670"/>
          </a:xfrm>
          <a:prstGeom prst="rect">
            <a:avLst/>
          </a:prstGeom>
          <a:noFill/>
          <a:ln>
            <a:noFill/>
          </a:ln>
        </p:spPr>
        <p:txBody>
          <a:bodyPr anchorCtr="0" anchor="t" bIns="68050" lIns="0" spcFirstLastPara="1" rIns="0" wrap="square" tIns="0">
            <a:noAutofit/>
          </a:bodyPr>
          <a:lstStyle/>
          <a:p>
            <a:pPr indent="0" lvl="0" marL="0" marR="0" rtl="0" algn="l">
              <a:lnSpc>
                <a:spcPct val="140306"/>
              </a:lnSpc>
              <a:spcBef>
                <a:spcPts val="0"/>
              </a:spcBef>
              <a:spcAft>
                <a:spcPts val="0"/>
              </a:spcAft>
              <a:buClr>
                <a:srgbClr val="00BFFF"/>
              </a:buClr>
              <a:buSzPts val="784"/>
              <a:buFont typeface="Calibri"/>
              <a:buNone/>
            </a:pPr>
            <a:r>
              <a:rPr b="1" i="0" lang="en-US" sz="784" u="none" cap="none" strike="noStrike">
                <a:solidFill>
                  <a:srgbClr val="00BFFF"/>
                </a:solidFill>
                <a:latin typeface="Calibri"/>
                <a:ea typeface="Calibri"/>
                <a:cs typeface="Calibri"/>
                <a:sym typeface="Calibri"/>
              </a:rPr>
              <a:t>The Squad</a:t>
            </a:r>
            <a:endParaRPr b="0" i="0" sz="784" u="none" cap="none" strike="noStrike">
              <a:solidFill>
                <a:schemeClr val="dk1"/>
              </a:solidFill>
              <a:latin typeface="Calibri"/>
              <a:ea typeface="Calibri"/>
              <a:cs typeface="Calibri"/>
              <a:sym typeface="Calibri"/>
            </a:endParaRPr>
          </a:p>
        </p:txBody>
      </p:sp>
      <p:sp>
        <p:nvSpPr>
          <p:cNvPr id="1718" name="Google Shape;1718;p39"/>
          <p:cNvSpPr/>
          <p:nvPr/>
        </p:nvSpPr>
        <p:spPr>
          <a:xfrm>
            <a:off x="500063" y="1353741"/>
            <a:ext cx="2488788" cy="53220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39"/>
          <p:cNvSpPr/>
          <p:nvPr/>
        </p:nvSpPr>
        <p:spPr>
          <a:xfrm>
            <a:off x="500063" y="1353741"/>
            <a:ext cx="28575" cy="532209"/>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20" name="Google Shape;1720;p39"/>
          <p:cNvPicPr preferRelativeResize="0"/>
          <p:nvPr/>
        </p:nvPicPr>
        <p:blipFill rotWithShape="1">
          <a:blip r:embed="rId4">
            <a:alphaModFix/>
          </a:blip>
          <a:srcRect b="0" l="0" r="0" t="0"/>
          <a:stretch/>
        </p:blipFill>
        <p:spPr>
          <a:xfrm>
            <a:off x="614363" y="1535013"/>
            <a:ext cx="214313" cy="171450"/>
          </a:xfrm>
          <a:prstGeom prst="rect">
            <a:avLst/>
          </a:prstGeom>
          <a:noFill/>
          <a:ln>
            <a:noFill/>
          </a:ln>
        </p:spPr>
      </p:pic>
      <p:sp>
        <p:nvSpPr>
          <p:cNvPr id="1721" name="Google Shape;1721;p39"/>
          <p:cNvSpPr/>
          <p:nvPr/>
        </p:nvSpPr>
        <p:spPr>
          <a:xfrm>
            <a:off x="928688" y="1468041"/>
            <a:ext cx="973169"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DevOps Engineer</a:t>
            </a:r>
            <a:endParaRPr b="0" i="0" sz="784" u="none" cap="none" strike="noStrike">
              <a:solidFill>
                <a:schemeClr val="dk1"/>
              </a:solidFill>
              <a:latin typeface="Calibri"/>
              <a:ea typeface="Calibri"/>
              <a:cs typeface="Calibri"/>
              <a:sym typeface="Calibri"/>
            </a:endParaRPr>
          </a:p>
        </p:txBody>
      </p:sp>
      <p:sp>
        <p:nvSpPr>
          <p:cNvPr id="1722" name="Google Shape;1722;p39"/>
          <p:cNvSpPr/>
          <p:nvPr/>
        </p:nvSpPr>
        <p:spPr>
          <a:xfrm>
            <a:off x="928688" y="1644848"/>
            <a:ext cx="973169"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A0AAB5"/>
              </a:buClr>
              <a:buSzPts val="674"/>
              <a:buFont typeface="Calibri"/>
              <a:buNone/>
            </a:pPr>
            <a:r>
              <a:rPr b="0" i="0" lang="en-US" sz="674" u="none" cap="none" strike="noStrike">
                <a:solidFill>
                  <a:srgbClr val="A0AAB5"/>
                </a:solidFill>
                <a:latin typeface="Calibri"/>
                <a:ea typeface="Calibri"/>
                <a:cs typeface="Calibri"/>
                <a:sym typeface="Calibri"/>
              </a:rPr>
              <a:t>CI/CD &amp; Infra</a:t>
            </a:r>
            <a:endParaRPr b="0" i="0" sz="674" u="none" cap="none" strike="noStrike">
              <a:solidFill>
                <a:schemeClr val="dk1"/>
              </a:solidFill>
              <a:latin typeface="Calibri"/>
              <a:ea typeface="Calibri"/>
              <a:cs typeface="Calibri"/>
              <a:sym typeface="Calibri"/>
            </a:endParaRPr>
          </a:p>
        </p:txBody>
      </p:sp>
      <p:sp>
        <p:nvSpPr>
          <p:cNvPr id="1723" name="Google Shape;1723;p39"/>
          <p:cNvSpPr/>
          <p:nvPr/>
        </p:nvSpPr>
        <p:spPr>
          <a:xfrm>
            <a:off x="500063" y="1985963"/>
            <a:ext cx="2488788" cy="53220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39"/>
          <p:cNvSpPr/>
          <p:nvPr/>
        </p:nvSpPr>
        <p:spPr>
          <a:xfrm>
            <a:off x="500063" y="1985963"/>
            <a:ext cx="28575" cy="532209"/>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25" name="Google Shape;1725;p39"/>
          <p:cNvPicPr preferRelativeResize="0"/>
          <p:nvPr/>
        </p:nvPicPr>
        <p:blipFill rotWithShape="1">
          <a:blip r:embed="rId5">
            <a:alphaModFix/>
          </a:blip>
          <a:srcRect b="0" l="0" r="0" t="0"/>
          <a:stretch/>
        </p:blipFill>
        <p:spPr>
          <a:xfrm>
            <a:off x="635794" y="2167235"/>
            <a:ext cx="171450" cy="171450"/>
          </a:xfrm>
          <a:prstGeom prst="rect">
            <a:avLst/>
          </a:prstGeom>
          <a:noFill/>
          <a:ln>
            <a:noFill/>
          </a:ln>
        </p:spPr>
      </p:pic>
      <p:sp>
        <p:nvSpPr>
          <p:cNvPr id="1726" name="Google Shape;1726;p39"/>
          <p:cNvSpPr/>
          <p:nvPr/>
        </p:nvSpPr>
        <p:spPr>
          <a:xfrm>
            <a:off x="928688" y="2100263"/>
            <a:ext cx="981289"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Release Manager</a:t>
            </a:r>
            <a:endParaRPr b="0" i="0" sz="784" u="none" cap="none" strike="noStrike">
              <a:solidFill>
                <a:schemeClr val="dk1"/>
              </a:solidFill>
              <a:latin typeface="Calibri"/>
              <a:ea typeface="Calibri"/>
              <a:cs typeface="Calibri"/>
              <a:sym typeface="Calibri"/>
            </a:endParaRPr>
          </a:p>
        </p:txBody>
      </p:sp>
      <p:sp>
        <p:nvSpPr>
          <p:cNvPr id="1727" name="Google Shape;1727;p39"/>
          <p:cNvSpPr/>
          <p:nvPr/>
        </p:nvSpPr>
        <p:spPr>
          <a:xfrm>
            <a:off x="928688" y="2277070"/>
            <a:ext cx="981289"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A0AAB5"/>
              </a:buClr>
              <a:buSzPts val="674"/>
              <a:buFont typeface="Calibri"/>
              <a:buNone/>
            </a:pPr>
            <a:r>
              <a:rPr b="0" i="0" lang="en-US" sz="674" u="none" cap="none" strike="noStrike">
                <a:solidFill>
                  <a:srgbClr val="A0AAB5"/>
                </a:solidFill>
                <a:latin typeface="Calibri"/>
                <a:ea typeface="Calibri"/>
                <a:cs typeface="Calibri"/>
                <a:sym typeface="Calibri"/>
              </a:rPr>
              <a:t>Deployment</a:t>
            </a:r>
            <a:endParaRPr b="0" i="0" sz="674" u="none" cap="none" strike="noStrike">
              <a:solidFill>
                <a:schemeClr val="dk1"/>
              </a:solidFill>
              <a:latin typeface="Calibri"/>
              <a:ea typeface="Calibri"/>
              <a:cs typeface="Calibri"/>
              <a:sym typeface="Calibri"/>
            </a:endParaRPr>
          </a:p>
        </p:txBody>
      </p:sp>
      <p:sp>
        <p:nvSpPr>
          <p:cNvPr id="1728" name="Google Shape;1728;p39"/>
          <p:cNvSpPr/>
          <p:nvPr/>
        </p:nvSpPr>
        <p:spPr>
          <a:xfrm>
            <a:off x="500063" y="2618184"/>
            <a:ext cx="2488788" cy="53220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39"/>
          <p:cNvSpPr/>
          <p:nvPr/>
        </p:nvSpPr>
        <p:spPr>
          <a:xfrm>
            <a:off x="500063" y="2618184"/>
            <a:ext cx="28575" cy="532209"/>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30" name="Google Shape;1730;p39"/>
          <p:cNvPicPr preferRelativeResize="0"/>
          <p:nvPr/>
        </p:nvPicPr>
        <p:blipFill rotWithShape="1">
          <a:blip r:embed="rId6">
            <a:alphaModFix/>
          </a:blip>
          <a:srcRect b="0" l="0" r="0" t="0"/>
          <a:stretch/>
        </p:blipFill>
        <p:spPr>
          <a:xfrm>
            <a:off x="625078" y="2799457"/>
            <a:ext cx="192881" cy="171450"/>
          </a:xfrm>
          <a:prstGeom prst="rect">
            <a:avLst/>
          </a:prstGeom>
          <a:noFill/>
          <a:ln>
            <a:noFill/>
          </a:ln>
        </p:spPr>
      </p:pic>
      <p:sp>
        <p:nvSpPr>
          <p:cNvPr id="1731" name="Google Shape;1731;p39"/>
          <p:cNvSpPr/>
          <p:nvPr/>
        </p:nvSpPr>
        <p:spPr>
          <a:xfrm>
            <a:off x="928688" y="2732484"/>
            <a:ext cx="679270"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Tech Writer</a:t>
            </a:r>
            <a:endParaRPr b="0" i="0" sz="784" u="none" cap="none" strike="noStrike">
              <a:solidFill>
                <a:schemeClr val="dk1"/>
              </a:solidFill>
              <a:latin typeface="Calibri"/>
              <a:ea typeface="Calibri"/>
              <a:cs typeface="Calibri"/>
              <a:sym typeface="Calibri"/>
            </a:endParaRPr>
          </a:p>
        </p:txBody>
      </p:sp>
      <p:sp>
        <p:nvSpPr>
          <p:cNvPr id="1732" name="Google Shape;1732;p39"/>
          <p:cNvSpPr/>
          <p:nvPr/>
        </p:nvSpPr>
        <p:spPr>
          <a:xfrm>
            <a:off x="928688" y="2909292"/>
            <a:ext cx="679270"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A0AAB5"/>
              </a:buClr>
              <a:buSzPts val="674"/>
              <a:buFont typeface="Calibri"/>
              <a:buNone/>
            </a:pPr>
            <a:r>
              <a:rPr b="0" i="0" lang="en-US" sz="674" u="none" cap="none" strike="noStrike">
                <a:solidFill>
                  <a:srgbClr val="A0AAB5"/>
                </a:solidFill>
                <a:latin typeface="Calibri"/>
                <a:ea typeface="Calibri"/>
                <a:cs typeface="Calibri"/>
                <a:sym typeface="Calibri"/>
              </a:rPr>
              <a:t>Documentation</a:t>
            </a:r>
            <a:endParaRPr b="0" i="0" sz="674" u="none" cap="none" strike="noStrike">
              <a:solidFill>
                <a:schemeClr val="dk1"/>
              </a:solidFill>
              <a:latin typeface="Calibri"/>
              <a:ea typeface="Calibri"/>
              <a:cs typeface="Calibri"/>
              <a:sym typeface="Calibri"/>
            </a:endParaRPr>
          </a:p>
        </p:txBody>
      </p:sp>
      <p:sp>
        <p:nvSpPr>
          <p:cNvPr id="1733" name="Google Shape;1733;p39"/>
          <p:cNvSpPr/>
          <p:nvPr/>
        </p:nvSpPr>
        <p:spPr>
          <a:xfrm>
            <a:off x="500063" y="3250406"/>
            <a:ext cx="2488788" cy="53220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39"/>
          <p:cNvSpPr/>
          <p:nvPr/>
        </p:nvSpPr>
        <p:spPr>
          <a:xfrm>
            <a:off x="500063" y="3250406"/>
            <a:ext cx="28575" cy="532209"/>
          </a:xfrm>
          <a:prstGeom prst="rect">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35" name="Google Shape;1735;p39"/>
          <p:cNvPicPr preferRelativeResize="0"/>
          <p:nvPr/>
        </p:nvPicPr>
        <p:blipFill rotWithShape="1">
          <a:blip r:embed="rId7">
            <a:alphaModFix/>
          </a:blip>
          <a:srcRect b="0" l="0" r="0" t="0"/>
          <a:stretch/>
        </p:blipFill>
        <p:spPr>
          <a:xfrm>
            <a:off x="635794" y="3431679"/>
            <a:ext cx="171450" cy="171450"/>
          </a:xfrm>
          <a:prstGeom prst="rect">
            <a:avLst/>
          </a:prstGeom>
          <a:noFill/>
          <a:ln>
            <a:noFill/>
          </a:ln>
        </p:spPr>
      </p:pic>
      <p:sp>
        <p:nvSpPr>
          <p:cNvPr id="1736" name="Google Shape;1736;p39"/>
          <p:cNvSpPr/>
          <p:nvPr/>
        </p:nvSpPr>
        <p:spPr>
          <a:xfrm>
            <a:off x="928688" y="3364706"/>
            <a:ext cx="828229"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Support Agent</a:t>
            </a:r>
            <a:endParaRPr b="0" i="0" sz="784" u="none" cap="none" strike="noStrike">
              <a:solidFill>
                <a:schemeClr val="dk1"/>
              </a:solidFill>
              <a:latin typeface="Calibri"/>
              <a:ea typeface="Calibri"/>
              <a:cs typeface="Calibri"/>
              <a:sym typeface="Calibri"/>
            </a:endParaRPr>
          </a:p>
        </p:txBody>
      </p:sp>
      <p:sp>
        <p:nvSpPr>
          <p:cNvPr id="1737" name="Google Shape;1737;p39"/>
          <p:cNvSpPr/>
          <p:nvPr/>
        </p:nvSpPr>
        <p:spPr>
          <a:xfrm>
            <a:off x="928688" y="3541514"/>
            <a:ext cx="828229"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A0AAB5"/>
              </a:buClr>
              <a:buSzPts val="674"/>
              <a:buFont typeface="Calibri"/>
              <a:buNone/>
            </a:pPr>
            <a:r>
              <a:rPr b="0" i="0" lang="en-US" sz="674" u="none" cap="none" strike="noStrike">
                <a:solidFill>
                  <a:srgbClr val="A0AAB5"/>
                </a:solidFill>
                <a:latin typeface="Calibri"/>
                <a:ea typeface="Calibri"/>
                <a:cs typeface="Calibri"/>
                <a:sym typeface="Calibri"/>
              </a:rPr>
              <a:t>Feedback Loop</a:t>
            </a:r>
            <a:endParaRPr b="0" i="0" sz="674" u="none" cap="none" strike="noStrike">
              <a:solidFill>
                <a:schemeClr val="dk1"/>
              </a:solidFill>
              <a:latin typeface="Calibri"/>
              <a:ea typeface="Calibri"/>
              <a:cs typeface="Calibri"/>
              <a:sym typeface="Calibri"/>
            </a:endParaRPr>
          </a:p>
        </p:txBody>
      </p:sp>
      <p:sp>
        <p:nvSpPr>
          <p:cNvPr id="1738" name="Google Shape;1738;p39"/>
          <p:cNvSpPr/>
          <p:nvPr/>
        </p:nvSpPr>
        <p:spPr>
          <a:xfrm>
            <a:off x="3203163" y="1526084"/>
            <a:ext cx="2737647" cy="173236"/>
          </a:xfrm>
          <a:prstGeom prst="roundRect">
            <a:avLst>
              <a:gd fmla="val 16667" name="adj"/>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39" name="Google Shape;1739;p39"/>
          <p:cNvPicPr preferRelativeResize="0"/>
          <p:nvPr/>
        </p:nvPicPr>
        <p:blipFill rotWithShape="1">
          <a:blip r:embed="rId8">
            <a:alphaModFix/>
          </a:blip>
          <a:srcRect b="0" l="0" r="0" t="0"/>
          <a:stretch/>
        </p:blipFill>
        <p:spPr>
          <a:xfrm>
            <a:off x="3288888" y="1568946"/>
            <a:ext cx="85725" cy="85725"/>
          </a:xfrm>
          <a:prstGeom prst="rect">
            <a:avLst/>
          </a:prstGeom>
          <a:noFill/>
          <a:ln>
            <a:noFill/>
          </a:ln>
        </p:spPr>
      </p:pic>
      <p:sp>
        <p:nvSpPr>
          <p:cNvPr id="1740" name="Google Shape;1740;p39"/>
          <p:cNvSpPr/>
          <p:nvPr/>
        </p:nvSpPr>
        <p:spPr>
          <a:xfrm>
            <a:off x="3374613" y="1554659"/>
            <a:ext cx="870198" cy="116086"/>
          </a:xfrm>
          <a:prstGeom prst="rect">
            <a:avLst/>
          </a:prstGeom>
          <a:noFill/>
          <a:ln>
            <a:noFill/>
          </a:ln>
        </p:spPr>
        <p:txBody>
          <a:bodyPr anchorCtr="0" anchor="t" bIns="0" lIns="0" spcFirstLastPara="1" rIns="0" wrap="square" tIns="0">
            <a:noAutofit/>
          </a:bodyPr>
          <a:lstStyle/>
          <a:p>
            <a:pPr indent="0" lvl="0" marL="0" marR="0" rtl="0" algn="l">
              <a:lnSpc>
                <a:spcPct val="136986"/>
              </a:lnSpc>
              <a:spcBef>
                <a:spcPts val="0"/>
              </a:spcBef>
              <a:spcAft>
                <a:spcPts val="0"/>
              </a:spcAft>
              <a:buClr>
                <a:srgbClr val="0D1B2E"/>
              </a:buClr>
              <a:buSzPts val="584"/>
              <a:buFont typeface="Calibri"/>
              <a:buNone/>
            </a:pPr>
            <a:r>
              <a:rPr b="1" i="0" lang="en-US" sz="584" u="none" cap="none" strike="noStrike">
                <a:solidFill>
                  <a:srgbClr val="0D1B2E"/>
                </a:solidFill>
                <a:latin typeface="Calibri"/>
                <a:ea typeface="Calibri"/>
                <a:cs typeface="Calibri"/>
                <a:sym typeface="Calibri"/>
              </a:rPr>
              <a:t>Continuous Loop</a:t>
            </a:r>
            <a:endParaRPr b="0" i="0" sz="584" u="none" cap="none" strike="noStrike">
              <a:solidFill>
                <a:schemeClr val="dk1"/>
              </a:solidFill>
              <a:latin typeface="Calibri"/>
              <a:ea typeface="Calibri"/>
              <a:cs typeface="Calibri"/>
              <a:sym typeface="Calibri"/>
            </a:endParaRPr>
          </a:p>
        </p:txBody>
      </p:sp>
      <p:sp>
        <p:nvSpPr>
          <p:cNvPr id="1741" name="Google Shape;1741;p39"/>
          <p:cNvSpPr/>
          <p:nvPr/>
        </p:nvSpPr>
        <p:spPr>
          <a:xfrm>
            <a:off x="3203163" y="1806476"/>
            <a:ext cx="2737647" cy="473273"/>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39"/>
          <p:cNvSpPr/>
          <p:nvPr/>
        </p:nvSpPr>
        <p:spPr>
          <a:xfrm>
            <a:off x="3303175" y="1950244"/>
            <a:ext cx="185738" cy="185738"/>
          </a:xfrm>
          <a:prstGeom prst="ellipse">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39"/>
          <p:cNvSpPr/>
          <p:nvPr/>
        </p:nvSpPr>
        <p:spPr>
          <a:xfrm>
            <a:off x="3303175" y="1950244"/>
            <a:ext cx="185738" cy="185738"/>
          </a:xfrm>
          <a:prstGeom prst="rect">
            <a:avLst/>
          </a:prstGeom>
          <a:noFill/>
          <a:ln>
            <a:noFill/>
          </a:ln>
        </p:spPr>
        <p:txBody>
          <a:bodyPr anchorCtr="0" anchor="ctr" bIns="0" lIns="0" spcFirstLastPara="1" rIns="0" wrap="square" tIns="0">
            <a:noAutofit/>
          </a:bodyPr>
          <a:lstStyle/>
          <a:p>
            <a:pPr indent="0" lvl="0" marL="0" marR="0" rtl="0" algn="ctr">
              <a:lnSpc>
                <a:spcPct val="141955"/>
              </a:lnSpc>
              <a:spcBef>
                <a:spcPts val="0"/>
              </a:spcBef>
              <a:spcAft>
                <a:spcPts val="0"/>
              </a:spcAft>
              <a:buClr>
                <a:srgbClr val="0D1B2E"/>
              </a:buClr>
              <a:buSzPts val="634"/>
              <a:buFont typeface="Calibri"/>
              <a:buNone/>
            </a:pPr>
            <a:r>
              <a:rPr b="1" i="0" lang="en-US" sz="634" u="none" cap="none" strike="noStrike">
                <a:solidFill>
                  <a:srgbClr val="0D1B2E"/>
                </a:solidFill>
                <a:latin typeface="Calibri"/>
                <a:ea typeface="Calibri"/>
                <a:cs typeface="Calibri"/>
                <a:sym typeface="Calibri"/>
              </a:rPr>
              <a:t>1</a:t>
            </a:r>
            <a:endParaRPr b="0" i="0" sz="634" u="none" cap="none" strike="noStrike">
              <a:solidFill>
                <a:schemeClr val="dk1"/>
              </a:solidFill>
              <a:latin typeface="Calibri"/>
              <a:ea typeface="Calibri"/>
              <a:cs typeface="Calibri"/>
              <a:sym typeface="Calibri"/>
            </a:endParaRPr>
          </a:p>
        </p:txBody>
      </p:sp>
      <p:sp>
        <p:nvSpPr>
          <p:cNvPr id="1744" name="Google Shape;1744;p39"/>
          <p:cNvSpPr/>
          <p:nvPr/>
        </p:nvSpPr>
        <p:spPr>
          <a:xfrm>
            <a:off x="3588925" y="1906488"/>
            <a:ext cx="1818168"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Provisioning</a:t>
            </a:r>
            <a:endParaRPr b="0" i="0" sz="683" u="none" cap="none" strike="noStrike">
              <a:solidFill>
                <a:schemeClr val="dk1"/>
              </a:solidFill>
              <a:latin typeface="Calibri"/>
              <a:ea typeface="Calibri"/>
              <a:cs typeface="Calibri"/>
              <a:sym typeface="Calibri"/>
            </a:endParaRPr>
          </a:p>
        </p:txBody>
      </p:sp>
      <p:sp>
        <p:nvSpPr>
          <p:cNvPr id="1745" name="Google Shape;1745;p39"/>
          <p:cNvSpPr/>
          <p:nvPr/>
        </p:nvSpPr>
        <p:spPr>
          <a:xfrm>
            <a:off x="3588925" y="2063651"/>
            <a:ext cx="1818168"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DevOps updates Terraform &amp; Docker configs.</a:t>
            </a:r>
            <a:endParaRPr b="0" i="0" sz="621" u="none" cap="none" strike="noStrike">
              <a:solidFill>
                <a:schemeClr val="dk1"/>
              </a:solidFill>
              <a:latin typeface="Calibri"/>
              <a:ea typeface="Calibri"/>
              <a:cs typeface="Calibri"/>
              <a:sym typeface="Calibri"/>
            </a:endParaRPr>
          </a:p>
        </p:txBody>
      </p:sp>
      <p:sp>
        <p:nvSpPr>
          <p:cNvPr id="1746" name="Google Shape;1746;p39"/>
          <p:cNvSpPr/>
          <p:nvPr/>
        </p:nvSpPr>
        <p:spPr>
          <a:xfrm>
            <a:off x="3203163" y="2351187"/>
            <a:ext cx="2737647" cy="473273"/>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39"/>
          <p:cNvSpPr/>
          <p:nvPr/>
        </p:nvSpPr>
        <p:spPr>
          <a:xfrm>
            <a:off x="3303175" y="2494955"/>
            <a:ext cx="185738" cy="185738"/>
          </a:xfrm>
          <a:prstGeom prst="ellipse">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39"/>
          <p:cNvSpPr/>
          <p:nvPr/>
        </p:nvSpPr>
        <p:spPr>
          <a:xfrm>
            <a:off x="3303175" y="2494955"/>
            <a:ext cx="185738" cy="185738"/>
          </a:xfrm>
          <a:prstGeom prst="rect">
            <a:avLst/>
          </a:prstGeom>
          <a:noFill/>
          <a:ln>
            <a:noFill/>
          </a:ln>
        </p:spPr>
        <p:txBody>
          <a:bodyPr anchorCtr="0" anchor="ctr" bIns="0" lIns="0" spcFirstLastPara="1" rIns="0" wrap="square" tIns="0">
            <a:noAutofit/>
          </a:bodyPr>
          <a:lstStyle/>
          <a:p>
            <a:pPr indent="0" lvl="0" marL="0" marR="0" rtl="0" algn="ctr">
              <a:lnSpc>
                <a:spcPct val="141955"/>
              </a:lnSpc>
              <a:spcBef>
                <a:spcPts val="0"/>
              </a:spcBef>
              <a:spcAft>
                <a:spcPts val="0"/>
              </a:spcAft>
              <a:buClr>
                <a:srgbClr val="0D1B2E"/>
              </a:buClr>
              <a:buSzPts val="634"/>
              <a:buFont typeface="Calibri"/>
              <a:buNone/>
            </a:pPr>
            <a:r>
              <a:rPr b="1" i="0" lang="en-US" sz="634" u="none" cap="none" strike="noStrike">
                <a:solidFill>
                  <a:srgbClr val="0D1B2E"/>
                </a:solidFill>
                <a:latin typeface="Calibri"/>
                <a:ea typeface="Calibri"/>
                <a:cs typeface="Calibri"/>
                <a:sym typeface="Calibri"/>
              </a:rPr>
              <a:t>2</a:t>
            </a:r>
            <a:endParaRPr b="0" i="0" sz="634" u="none" cap="none" strike="noStrike">
              <a:solidFill>
                <a:schemeClr val="dk1"/>
              </a:solidFill>
              <a:latin typeface="Calibri"/>
              <a:ea typeface="Calibri"/>
              <a:cs typeface="Calibri"/>
              <a:sym typeface="Calibri"/>
            </a:endParaRPr>
          </a:p>
        </p:txBody>
      </p:sp>
      <p:sp>
        <p:nvSpPr>
          <p:cNvPr id="1749" name="Google Shape;1749;p39"/>
          <p:cNvSpPr/>
          <p:nvPr/>
        </p:nvSpPr>
        <p:spPr>
          <a:xfrm>
            <a:off x="3588925" y="2451199"/>
            <a:ext cx="1972289"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Deployment</a:t>
            </a:r>
            <a:endParaRPr b="0" i="0" sz="683" u="none" cap="none" strike="noStrike">
              <a:solidFill>
                <a:schemeClr val="dk1"/>
              </a:solidFill>
              <a:latin typeface="Calibri"/>
              <a:ea typeface="Calibri"/>
              <a:cs typeface="Calibri"/>
              <a:sym typeface="Calibri"/>
            </a:endParaRPr>
          </a:p>
        </p:txBody>
      </p:sp>
      <p:sp>
        <p:nvSpPr>
          <p:cNvPr id="1750" name="Google Shape;1750;p39"/>
          <p:cNvSpPr/>
          <p:nvPr/>
        </p:nvSpPr>
        <p:spPr>
          <a:xfrm>
            <a:off x="3588925" y="2608362"/>
            <a:ext cx="1972289"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Release Manager approves &amp; triggers prod push.</a:t>
            </a:r>
            <a:endParaRPr b="0" i="0" sz="621" u="none" cap="none" strike="noStrike">
              <a:solidFill>
                <a:schemeClr val="dk1"/>
              </a:solidFill>
              <a:latin typeface="Calibri"/>
              <a:ea typeface="Calibri"/>
              <a:cs typeface="Calibri"/>
              <a:sym typeface="Calibri"/>
            </a:endParaRPr>
          </a:p>
        </p:txBody>
      </p:sp>
      <p:sp>
        <p:nvSpPr>
          <p:cNvPr id="1751" name="Google Shape;1751;p39"/>
          <p:cNvSpPr/>
          <p:nvPr/>
        </p:nvSpPr>
        <p:spPr>
          <a:xfrm>
            <a:off x="3203163" y="2895898"/>
            <a:ext cx="2737647" cy="473273"/>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39"/>
          <p:cNvSpPr/>
          <p:nvPr/>
        </p:nvSpPr>
        <p:spPr>
          <a:xfrm>
            <a:off x="3303175" y="3039666"/>
            <a:ext cx="185738" cy="185738"/>
          </a:xfrm>
          <a:prstGeom prst="ellipse">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39"/>
          <p:cNvSpPr/>
          <p:nvPr/>
        </p:nvSpPr>
        <p:spPr>
          <a:xfrm>
            <a:off x="3303175" y="3039666"/>
            <a:ext cx="185738" cy="185738"/>
          </a:xfrm>
          <a:prstGeom prst="rect">
            <a:avLst/>
          </a:prstGeom>
          <a:noFill/>
          <a:ln>
            <a:noFill/>
          </a:ln>
        </p:spPr>
        <p:txBody>
          <a:bodyPr anchorCtr="0" anchor="ctr" bIns="0" lIns="0" spcFirstLastPara="1" rIns="0" wrap="square" tIns="0">
            <a:noAutofit/>
          </a:bodyPr>
          <a:lstStyle/>
          <a:p>
            <a:pPr indent="0" lvl="0" marL="0" marR="0" rtl="0" algn="ctr">
              <a:lnSpc>
                <a:spcPct val="141955"/>
              </a:lnSpc>
              <a:spcBef>
                <a:spcPts val="0"/>
              </a:spcBef>
              <a:spcAft>
                <a:spcPts val="0"/>
              </a:spcAft>
              <a:buClr>
                <a:srgbClr val="0D1B2E"/>
              </a:buClr>
              <a:buSzPts val="634"/>
              <a:buFont typeface="Calibri"/>
              <a:buNone/>
            </a:pPr>
            <a:r>
              <a:rPr b="1" i="0" lang="en-US" sz="634" u="none" cap="none" strike="noStrike">
                <a:solidFill>
                  <a:srgbClr val="0D1B2E"/>
                </a:solidFill>
                <a:latin typeface="Calibri"/>
                <a:ea typeface="Calibri"/>
                <a:cs typeface="Calibri"/>
                <a:sym typeface="Calibri"/>
              </a:rPr>
              <a:t>3</a:t>
            </a:r>
            <a:endParaRPr b="0" i="0" sz="634" u="none" cap="none" strike="noStrike">
              <a:solidFill>
                <a:schemeClr val="dk1"/>
              </a:solidFill>
              <a:latin typeface="Calibri"/>
              <a:ea typeface="Calibri"/>
              <a:cs typeface="Calibri"/>
              <a:sym typeface="Calibri"/>
            </a:endParaRPr>
          </a:p>
        </p:txBody>
      </p:sp>
      <p:sp>
        <p:nvSpPr>
          <p:cNvPr id="1754" name="Google Shape;1754;p39"/>
          <p:cNvSpPr/>
          <p:nvPr/>
        </p:nvSpPr>
        <p:spPr>
          <a:xfrm>
            <a:off x="3588925" y="2995910"/>
            <a:ext cx="1695134"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Documentation</a:t>
            </a:r>
            <a:endParaRPr b="0" i="0" sz="683" u="none" cap="none" strike="noStrike">
              <a:solidFill>
                <a:schemeClr val="dk1"/>
              </a:solidFill>
              <a:latin typeface="Calibri"/>
              <a:ea typeface="Calibri"/>
              <a:cs typeface="Calibri"/>
              <a:sym typeface="Calibri"/>
            </a:endParaRPr>
          </a:p>
        </p:txBody>
      </p:sp>
      <p:sp>
        <p:nvSpPr>
          <p:cNvPr id="1755" name="Google Shape;1755;p39"/>
          <p:cNvSpPr/>
          <p:nvPr/>
        </p:nvSpPr>
        <p:spPr>
          <a:xfrm>
            <a:off x="3588925" y="3153073"/>
            <a:ext cx="1695134"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Tech Writer auto-updates Wiki &amp; API Docs.</a:t>
            </a:r>
            <a:endParaRPr b="0" i="0" sz="621" u="none" cap="none" strike="noStrike">
              <a:solidFill>
                <a:schemeClr val="dk1"/>
              </a:solidFill>
              <a:latin typeface="Calibri"/>
              <a:ea typeface="Calibri"/>
              <a:cs typeface="Calibri"/>
              <a:sym typeface="Calibri"/>
            </a:endParaRPr>
          </a:p>
        </p:txBody>
      </p:sp>
      <p:sp>
        <p:nvSpPr>
          <p:cNvPr id="1756" name="Google Shape;1756;p39"/>
          <p:cNvSpPr/>
          <p:nvPr/>
        </p:nvSpPr>
        <p:spPr>
          <a:xfrm>
            <a:off x="3203163" y="3440609"/>
            <a:ext cx="2737647" cy="473273"/>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39"/>
          <p:cNvSpPr/>
          <p:nvPr/>
        </p:nvSpPr>
        <p:spPr>
          <a:xfrm>
            <a:off x="3303175" y="3584377"/>
            <a:ext cx="185738" cy="185738"/>
          </a:xfrm>
          <a:prstGeom prst="ellipse">
            <a:avLst/>
          </a:prstGeom>
          <a:solidFill>
            <a:srgbClr val="00B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39"/>
          <p:cNvSpPr/>
          <p:nvPr/>
        </p:nvSpPr>
        <p:spPr>
          <a:xfrm>
            <a:off x="3303175" y="3584377"/>
            <a:ext cx="185738" cy="185738"/>
          </a:xfrm>
          <a:prstGeom prst="rect">
            <a:avLst/>
          </a:prstGeom>
          <a:noFill/>
          <a:ln>
            <a:noFill/>
          </a:ln>
        </p:spPr>
        <p:txBody>
          <a:bodyPr anchorCtr="0" anchor="ctr" bIns="0" lIns="0" spcFirstLastPara="1" rIns="0" wrap="square" tIns="0">
            <a:noAutofit/>
          </a:bodyPr>
          <a:lstStyle/>
          <a:p>
            <a:pPr indent="0" lvl="0" marL="0" marR="0" rtl="0" algn="ctr">
              <a:lnSpc>
                <a:spcPct val="141955"/>
              </a:lnSpc>
              <a:spcBef>
                <a:spcPts val="0"/>
              </a:spcBef>
              <a:spcAft>
                <a:spcPts val="0"/>
              </a:spcAft>
              <a:buClr>
                <a:srgbClr val="0D1B2E"/>
              </a:buClr>
              <a:buSzPts val="634"/>
              <a:buFont typeface="Calibri"/>
              <a:buNone/>
            </a:pPr>
            <a:r>
              <a:rPr b="1" i="0" lang="en-US" sz="634" u="none" cap="none" strike="noStrike">
                <a:solidFill>
                  <a:srgbClr val="0D1B2E"/>
                </a:solidFill>
                <a:latin typeface="Calibri"/>
                <a:ea typeface="Calibri"/>
                <a:cs typeface="Calibri"/>
                <a:sym typeface="Calibri"/>
              </a:rPr>
              <a:t>4</a:t>
            </a:r>
            <a:endParaRPr b="0" i="0" sz="634" u="none" cap="none" strike="noStrike">
              <a:solidFill>
                <a:schemeClr val="dk1"/>
              </a:solidFill>
              <a:latin typeface="Calibri"/>
              <a:ea typeface="Calibri"/>
              <a:cs typeface="Calibri"/>
              <a:sym typeface="Calibri"/>
            </a:endParaRPr>
          </a:p>
        </p:txBody>
      </p:sp>
      <p:sp>
        <p:nvSpPr>
          <p:cNvPr id="1759" name="Google Shape;1759;p39"/>
          <p:cNvSpPr/>
          <p:nvPr/>
        </p:nvSpPr>
        <p:spPr>
          <a:xfrm>
            <a:off x="3588925" y="3540621"/>
            <a:ext cx="1538613"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Feedback Loop</a:t>
            </a:r>
            <a:endParaRPr b="0" i="0" sz="683" u="none" cap="none" strike="noStrike">
              <a:solidFill>
                <a:schemeClr val="dk1"/>
              </a:solidFill>
              <a:latin typeface="Calibri"/>
              <a:ea typeface="Calibri"/>
              <a:cs typeface="Calibri"/>
              <a:sym typeface="Calibri"/>
            </a:endParaRPr>
          </a:p>
        </p:txBody>
      </p:sp>
      <p:sp>
        <p:nvSpPr>
          <p:cNvPr id="1760" name="Google Shape;1760;p39"/>
          <p:cNvSpPr/>
          <p:nvPr/>
        </p:nvSpPr>
        <p:spPr>
          <a:xfrm>
            <a:off x="3588925" y="3697784"/>
            <a:ext cx="1538613"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CBD5E1"/>
              </a:buClr>
              <a:buSzPts val="621"/>
              <a:buFont typeface="Calibri"/>
              <a:buNone/>
            </a:pPr>
            <a:r>
              <a:rPr b="0" i="0" lang="en-US" sz="621" u="none" cap="none" strike="noStrike">
                <a:solidFill>
                  <a:srgbClr val="CBD5E1"/>
                </a:solidFill>
                <a:latin typeface="Calibri"/>
                <a:ea typeface="Calibri"/>
                <a:cs typeface="Calibri"/>
                <a:sym typeface="Calibri"/>
              </a:rPr>
              <a:t>Support logs issues as new Jira tickets.</a:t>
            </a:r>
            <a:endParaRPr b="0" i="0" sz="621" u="none" cap="none" strike="noStrike">
              <a:solidFill>
                <a:schemeClr val="dk1"/>
              </a:solidFill>
              <a:latin typeface="Calibri"/>
              <a:ea typeface="Calibri"/>
              <a:cs typeface="Calibri"/>
              <a:sym typeface="Calibri"/>
            </a:endParaRPr>
          </a:p>
        </p:txBody>
      </p:sp>
      <p:sp>
        <p:nvSpPr>
          <p:cNvPr id="1761" name="Google Shape;1761;p39"/>
          <p:cNvSpPr/>
          <p:nvPr/>
        </p:nvSpPr>
        <p:spPr>
          <a:xfrm>
            <a:off x="3203163" y="4013895"/>
            <a:ext cx="2737647" cy="273248"/>
          </a:xfrm>
          <a:prstGeom prst="rect">
            <a:avLst/>
          </a:prstGeom>
          <a:solidFill>
            <a:srgbClr val="00BFFF">
              <a:alpha val="7843"/>
            </a:srgbClr>
          </a:solidFill>
          <a:ln cap="flat" cmpd="sng" w="9525">
            <a:solidFill>
              <a:srgbClr val="00BFFF">
                <a:alpha val="30196"/>
              </a:srgbClr>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62" name="Google Shape;1762;p39"/>
          <p:cNvPicPr preferRelativeResize="0"/>
          <p:nvPr/>
        </p:nvPicPr>
        <p:blipFill rotWithShape="1">
          <a:blip r:embed="rId9">
            <a:alphaModFix/>
          </a:blip>
          <a:srcRect b="0" l="0" r="0" t="0"/>
          <a:stretch/>
        </p:blipFill>
        <p:spPr>
          <a:xfrm>
            <a:off x="4015262" y="4106763"/>
            <a:ext cx="85725" cy="85725"/>
          </a:xfrm>
          <a:prstGeom prst="rect">
            <a:avLst/>
          </a:prstGeom>
          <a:noFill/>
          <a:ln>
            <a:noFill/>
          </a:ln>
        </p:spPr>
      </p:pic>
      <p:sp>
        <p:nvSpPr>
          <p:cNvPr id="1763" name="Google Shape;1763;p39"/>
          <p:cNvSpPr/>
          <p:nvPr/>
        </p:nvSpPr>
        <p:spPr>
          <a:xfrm>
            <a:off x="4100987" y="4092476"/>
            <a:ext cx="1027695" cy="116086"/>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Cycle repeats each sprint</a:t>
            </a:r>
            <a:endParaRPr b="0" i="0" sz="621" u="none" cap="none" strike="noStrike">
              <a:solidFill>
                <a:schemeClr val="dk1"/>
              </a:solidFill>
              <a:latin typeface="Calibri"/>
              <a:ea typeface="Calibri"/>
              <a:cs typeface="Calibri"/>
              <a:sym typeface="Calibri"/>
            </a:endParaRPr>
          </a:p>
        </p:txBody>
      </p:sp>
      <p:sp>
        <p:nvSpPr>
          <p:cNvPr id="1764" name="Google Shape;1764;p39"/>
          <p:cNvSpPr/>
          <p:nvPr/>
        </p:nvSpPr>
        <p:spPr>
          <a:xfrm>
            <a:off x="6155122" y="1026914"/>
            <a:ext cx="2488816" cy="219670"/>
          </a:xfrm>
          <a:prstGeom prst="rect">
            <a:avLst/>
          </a:prstGeom>
          <a:noFill/>
          <a:ln>
            <a:noFill/>
          </a:ln>
        </p:spPr>
        <p:txBody>
          <a:bodyPr anchorCtr="0" anchor="t" bIns="68050" lIns="0" spcFirstLastPara="1" rIns="0" wrap="square" tIns="0">
            <a:noAutofit/>
          </a:bodyPr>
          <a:lstStyle/>
          <a:p>
            <a:pPr indent="0" lvl="0" marL="0" marR="0" rtl="0" algn="l">
              <a:lnSpc>
                <a:spcPct val="140306"/>
              </a:lnSpc>
              <a:spcBef>
                <a:spcPts val="0"/>
              </a:spcBef>
              <a:spcAft>
                <a:spcPts val="0"/>
              </a:spcAft>
              <a:buClr>
                <a:srgbClr val="00BFFF"/>
              </a:buClr>
              <a:buSzPts val="784"/>
              <a:buFont typeface="Calibri"/>
              <a:buNone/>
            </a:pPr>
            <a:r>
              <a:rPr b="1" i="0" lang="en-US" sz="784" u="none" cap="none" strike="noStrike">
                <a:solidFill>
                  <a:srgbClr val="00BFFF"/>
                </a:solidFill>
                <a:latin typeface="Calibri"/>
                <a:ea typeface="Calibri"/>
                <a:cs typeface="Calibri"/>
                <a:sym typeface="Calibri"/>
              </a:rPr>
              <a:t>Key Artifacts</a:t>
            </a:r>
            <a:endParaRPr b="0" i="0" sz="784" u="none" cap="none" strike="noStrike">
              <a:solidFill>
                <a:schemeClr val="dk1"/>
              </a:solidFill>
              <a:latin typeface="Calibri"/>
              <a:ea typeface="Calibri"/>
              <a:cs typeface="Calibri"/>
              <a:sym typeface="Calibri"/>
            </a:endParaRPr>
          </a:p>
        </p:txBody>
      </p:sp>
      <p:sp>
        <p:nvSpPr>
          <p:cNvPr id="1765" name="Google Shape;1765;p39"/>
          <p:cNvSpPr/>
          <p:nvPr/>
        </p:nvSpPr>
        <p:spPr>
          <a:xfrm>
            <a:off x="6155122" y="1353741"/>
            <a:ext cx="2488816" cy="48398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66" name="Google Shape;1766;p39"/>
          <p:cNvPicPr preferRelativeResize="0"/>
          <p:nvPr/>
        </p:nvPicPr>
        <p:blipFill rotWithShape="1">
          <a:blip r:embed="rId10">
            <a:alphaModFix/>
          </a:blip>
          <a:srcRect b="0" l="0" r="0" t="0"/>
          <a:stretch/>
        </p:blipFill>
        <p:spPr>
          <a:xfrm>
            <a:off x="6279245" y="1518940"/>
            <a:ext cx="151805" cy="157163"/>
          </a:xfrm>
          <a:prstGeom prst="rect">
            <a:avLst/>
          </a:prstGeom>
          <a:noFill/>
          <a:ln>
            <a:noFill/>
          </a:ln>
        </p:spPr>
      </p:pic>
      <p:sp>
        <p:nvSpPr>
          <p:cNvPr id="1767" name="Google Shape;1767;p39"/>
          <p:cNvSpPr/>
          <p:nvPr/>
        </p:nvSpPr>
        <p:spPr>
          <a:xfrm>
            <a:off x="6555172" y="1453753"/>
            <a:ext cx="1950272"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CI/CD Pipeline</a:t>
            </a:r>
            <a:endParaRPr b="0" i="0" sz="734" u="none" cap="none" strike="noStrike">
              <a:solidFill>
                <a:schemeClr val="dk1"/>
              </a:solidFill>
              <a:latin typeface="Calibri"/>
              <a:ea typeface="Calibri"/>
              <a:cs typeface="Calibri"/>
              <a:sym typeface="Calibri"/>
            </a:endParaRPr>
          </a:p>
        </p:txBody>
      </p:sp>
      <p:sp>
        <p:nvSpPr>
          <p:cNvPr id="1768" name="Google Shape;1768;p39"/>
          <p:cNvSpPr/>
          <p:nvPr/>
        </p:nvSpPr>
        <p:spPr>
          <a:xfrm>
            <a:off x="6555172" y="1621631"/>
            <a:ext cx="1950272"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GitHub Actions YAML with build &amp; deploy stages.</a:t>
            </a:r>
            <a:endParaRPr b="0" i="0" sz="621" u="none" cap="none" strike="noStrike">
              <a:solidFill>
                <a:schemeClr val="dk1"/>
              </a:solidFill>
              <a:latin typeface="Calibri"/>
              <a:ea typeface="Calibri"/>
              <a:cs typeface="Calibri"/>
              <a:sym typeface="Calibri"/>
            </a:endParaRPr>
          </a:p>
        </p:txBody>
      </p:sp>
      <p:sp>
        <p:nvSpPr>
          <p:cNvPr id="1769" name="Google Shape;1769;p39"/>
          <p:cNvSpPr/>
          <p:nvPr/>
        </p:nvSpPr>
        <p:spPr>
          <a:xfrm>
            <a:off x="6155122" y="1937742"/>
            <a:ext cx="2488816" cy="48398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70" name="Google Shape;1770;p39"/>
          <p:cNvPicPr preferRelativeResize="0"/>
          <p:nvPr/>
        </p:nvPicPr>
        <p:blipFill rotWithShape="1">
          <a:blip r:embed="rId11">
            <a:alphaModFix/>
          </a:blip>
          <a:srcRect b="0" l="0" r="0" t="0"/>
          <a:stretch/>
        </p:blipFill>
        <p:spPr>
          <a:xfrm>
            <a:off x="6266743" y="2102941"/>
            <a:ext cx="176808" cy="157163"/>
          </a:xfrm>
          <a:prstGeom prst="rect">
            <a:avLst/>
          </a:prstGeom>
          <a:noFill/>
          <a:ln>
            <a:noFill/>
          </a:ln>
        </p:spPr>
      </p:pic>
      <p:sp>
        <p:nvSpPr>
          <p:cNvPr id="1771" name="Google Shape;1771;p39"/>
          <p:cNvSpPr/>
          <p:nvPr/>
        </p:nvSpPr>
        <p:spPr>
          <a:xfrm>
            <a:off x="6555172" y="2037755"/>
            <a:ext cx="1787137"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Release Notes</a:t>
            </a:r>
            <a:endParaRPr b="0" i="0" sz="734" u="none" cap="none" strike="noStrike">
              <a:solidFill>
                <a:schemeClr val="dk1"/>
              </a:solidFill>
              <a:latin typeface="Calibri"/>
              <a:ea typeface="Calibri"/>
              <a:cs typeface="Calibri"/>
              <a:sym typeface="Calibri"/>
            </a:endParaRPr>
          </a:p>
        </p:txBody>
      </p:sp>
      <p:sp>
        <p:nvSpPr>
          <p:cNvPr id="1772" name="Google Shape;1772;p39"/>
          <p:cNvSpPr/>
          <p:nvPr/>
        </p:nvSpPr>
        <p:spPr>
          <a:xfrm>
            <a:off x="6555172" y="2205633"/>
            <a:ext cx="1787137"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Auto-generated CHANGELOG from commits.</a:t>
            </a:r>
            <a:endParaRPr b="0" i="0" sz="621" u="none" cap="none" strike="noStrike">
              <a:solidFill>
                <a:schemeClr val="dk1"/>
              </a:solidFill>
              <a:latin typeface="Calibri"/>
              <a:ea typeface="Calibri"/>
              <a:cs typeface="Calibri"/>
              <a:sym typeface="Calibri"/>
            </a:endParaRPr>
          </a:p>
        </p:txBody>
      </p:sp>
      <p:sp>
        <p:nvSpPr>
          <p:cNvPr id="1773" name="Google Shape;1773;p39"/>
          <p:cNvSpPr/>
          <p:nvPr/>
        </p:nvSpPr>
        <p:spPr>
          <a:xfrm>
            <a:off x="6155122" y="2521744"/>
            <a:ext cx="2488816" cy="48398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74" name="Google Shape;1774;p39"/>
          <p:cNvPicPr preferRelativeResize="0"/>
          <p:nvPr/>
        </p:nvPicPr>
        <p:blipFill rotWithShape="1">
          <a:blip r:embed="rId12">
            <a:alphaModFix/>
          </a:blip>
          <a:srcRect b="0" l="0" r="0" t="0"/>
          <a:stretch/>
        </p:blipFill>
        <p:spPr>
          <a:xfrm>
            <a:off x="6286388" y="2686943"/>
            <a:ext cx="137517" cy="157163"/>
          </a:xfrm>
          <a:prstGeom prst="rect">
            <a:avLst/>
          </a:prstGeom>
          <a:noFill/>
          <a:ln>
            <a:noFill/>
          </a:ln>
        </p:spPr>
      </p:pic>
      <p:sp>
        <p:nvSpPr>
          <p:cNvPr id="1775" name="Google Shape;1775;p39"/>
          <p:cNvSpPr/>
          <p:nvPr/>
        </p:nvSpPr>
        <p:spPr>
          <a:xfrm>
            <a:off x="6555172" y="2621756"/>
            <a:ext cx="1871579"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API Documentation</a:t>
            </a:r>
            <a:endParaRPr b="0" i="0" sz="734" u="none" cap="none" strike="noStrike">
              <a:solidFill>
                <a:schemeClr val="dk1"/>
              </a:solidFill>
              <a:latin typeface="Calibri"/>
              <a:ea typeface="Calibri"/>
              <a:cs typeface="Calibri"/>
              <a:sym typeface="Calibri"/>
            </a:endParaRPr>
          </a:p>
        </p:txBody>
      </p:sp>
      <p:sp>
        <p:nvSpPr>
          <p:cNvPr id="1776" name="Google Shape;1776;p39"/>
          <p:cNvSpPr/>
          <p:nvPr/>
        </p:nvSpPr>
        <p:spPr>
          <a:xfrm>
            <a:off x="6555172" y="2789634"/>
            <a:ext cx="1871579"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Docusaurus / Confluence pages auto-updated.</a:t>
            </a:r>
            <a:endParaRPr b="0" i="0" sz="621" u="none" cap="none" strike="noStrike">
              <a:solidFill>
                <a:schemeClr val="dk1"/>
              </a:solidFill>
              <a:latin typeface="Calibri"/>
              <a:ea typeface="Calibri"/>
              <a:cs typeface="Calibri"/>
              <a:sym typeface="Calibri"/>
            </a:endParaRPr>
          </a:p>
        </p:txBody>
      </p:sp>
      <p:sp>
        <p:nvSpPr>
          <p:cNvPr id="1777" name="Google Shape;1777;p39"/>
          <p:cNvSpPr/>
          <p:nvPr/>
        </p:nvSpPr>
        <p:spPr>
          <a:xfrm>
            <a:off x="6155122" y="3105745"/>
            <a:ext cx="2488816" cy="483989"/>
          </a:xfrm>
          <a:prstGeom prst="rect">
            <a:avLst/>
          </a:prstGeom>
          <a:solidFill>
            <a:srgbClr val="1A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78" name="Google Shape;1778;p39"/>
          <p:cNvPicPr preferRelativeResize="0"/>
          <p:nvPr/>
        </p:nvPicPr>
        <p:blipFill rotWithShape="1">
          <a:blip r:embed="rId13">
            <a:alphaModFix/>
          </a:blip>
          <a:srcRect b="0" l="0" r="0" t="0"/>
          <a:stretch/>
        </p:blipFill>
        <p:spPr>
          <a:xfrm>
            <a:off x="6276566" y="3270945"/>
            <a:ext cx="157163" cy="157163"/>
          </a:xfrm>
          <a:prstGeom prst="rect">
            <a:avLst/>
          </a:prstGeom>
          <a:noFill/>
          <a:ln>
            <a:noFill/>
          </a:ln>
        </p:spPr>
      </p:pic>
      <p:sp>
        <p:nvSpPr>
          <p:cNvPr id="1779" name="Google Shape;1779;p39"/>
          <p:cNvSpPr/>
          <p:nvPr/>
        </p:nvSpPr>
        <p:spPr>
          <a:xfrm>
            <a:off x="6555172" y="3205758"/>
            <a:ext cx="1776506" cy="146447"/>
          </a:xfrm>
          <a:prstGeom prst="rect">
            <a:avLst/>
          </a:prstGeom>
          <a:noFill/>
          <a:ln>
            <a:noFill/>
          </a:ln>
        </p:spPr>
        <p:txBody>
          <a:bodyPr anchorCtr="0" anchor="t" bIns="0" lIns="0" spcFirstLastPara="1" rIns="0" wrap="square" tIns="0">
            <a:noAutofit/>
          </a:bodyPr>
          <a:lstStyle/>
          <a:p>
            <a:pPr indent="0" lvl="0" marL="0" marR="0" rtl="0" algn="l">
              <a:lnSpc>
                <a:spcPct val="136239"/>
              </a:lnSpc>
              <a:spcBef>
                <a:spcPts val="0"/>
              </a:spcBef>
              <a:spcAft>
                <a:spcPts val="0"/>
              </a:spcAft>
              <a:buClr>
                <a:srgbClr val="FFFFFF"/>
              </a:buClr>
              <a:buSzPts val="734"/>
              <a:buFont typeface="Calibri"/>
              <a:buNone/>
            </a:pPr>
            <a:r>
              <a:rPr b="1" i="0" lang="en-US" sz="734" u="none" cap="none" strike="noStrike">
                <a:solidFill>
                  <a:srgbClr val="FFFFFF"/>
                </a:solidFill>
                <a:latin typeface="Calibri"/>
                <a:ea typeface="Calibri"/>
                <a:cs typeface="Calibri"/>
                <a:sym typeface="Calibri"/>
              </a:rPr>
              <a:t>Bug Reports</a:t>
            </a:r>
            <a:endParaRPr b="0" i="0" sz="734" u="none" cap="none" strike="noStrike">
              <a:solidFill>
                <a:schemeClr val="dk1"/>
              </a:solidFill>
              <a:latin typeface="Calibri"/>
              <a:ea typeface="Calibri"/>
              <a:cs typeface="Calibri"/>
              <a:sym typeface="Calibri"/>
            </a:endParaRPr>
          </a:p>
        </p:txBody>
      </p:sp>
      <p:sp>
        <p:nvSpPr>
          <p:cNvPr id="1780" name="Google Shape;1780;p39"/>
          <p:cNvSpPr/>
          <p:nvPr/>
        </p:nvSpPr>
        <p:spPr>
          <a:xfrm>
            <a:off x="6555172" y="3373636"/>
            <a:ext cx="1776506" cy="116086"/>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A0AAB5"/>
              </a:buClr>
              <a:buSzPts val="621"/>
              <a:buFont typeface="Calibri"/>
              <a:buNone/>
            </a:pPr>
            <a:r>
              <a:rPr b="0" i="0" lang="en-US" sz="621" u="none" cap="none" strike="noStrike">
                <a:solidFill>
                  <a:srgbClr val="A0AAB5"/>
                </a:solidFill>
                <a:latin typeface="Calibri"/>
                <a:ea typeface="Calibri"/>
                <a:cs typeface="Calibri"/>
                <a:sym typeface="Calibri"/>
              </a:rPr>
              <a:t>Jira tickets auto-created from user feedback.</a:t>
            </a:r>
            <a:endParaRPr b="0" i="0" sz="621"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