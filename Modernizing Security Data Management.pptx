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11" Type="http://schemas.openxmlformats.org/officeDocument/2006/relationships/slide" Target="slides/slide7.xml"/><Relationship Id="rId22" Type="http://schemas.openxmlformats.org/officeDocument/2006/relationships/slide" Target="slides/slide18.xml"/><Relationship Id="rId10" Type="http://schemas.openxmlformats.org/officeDocument/2006/relationships/slide" Target="slides/slide6.xml"/><Relationship Id="rId21" Type="http://schemas.openxmlformats.org/officeDocument/2006/relationships/slide" Target="slides/slide17.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 name="Shape 25"/>
        <p:cNvGrpSpPr/>
        <p:nvPr/>
      </p:nvGrpSpPr>
      <p:grpSpPr>
        <a:xfrm>
          <a:off x="0" y="0"/>
          <a:ext cx="0" cy="0"/>
          <a:chOff x="0" y="0"/>
          <a:chExt cx="0" cy="0"/>
        </a:xfrm>
      </p:grpSpPr>
      <p:sp>
        <p:nvSpPr>
          <p:cNvPr id="26" name="Google Shape;2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 name="Google Shape;27;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 name="Google Shape;28;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 name="Shape 46"/>
        <p:cNvGrpSpPr/>
        <p:nvPr/>
      </p:nvGrpSpPr>
      <p:grpSpPr>
        <a:xfrm>
          <a:off x="0" y="0"/>
          <a:ext cx="0" cy="0"/>
          <a:chOff x="0" y="0"/>
          <a:chExt cx="0" cy="0"/>
        </a:xfrm>
      </p:grpSpPr>
      <p:sp>
        <p:nvSpPr>
          <p:cNvPr id="47" name="Google Shape;4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 name="Google Shape;4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 name="Google Shape;49;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 name="Google Shape;62;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 name="Google Shape;63;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 name="Google Shape;101;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 name="Google Shape;102;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2" name="Google Shape;122;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 name="Google Shape;123;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5" name="Google Shape;155;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6" name="Google Shape;156;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8" name="Google Shape;188;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9" name="Google Shape;189;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8" name="Google Shape;218;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9" name="Google Shape;219;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9" name="Google Shape;259;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0" name="Google Shape;260;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0" name="Google Shape;280;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1" name="Google Shape;281;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8" name="Google Shape;298;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9" name="Google Shape;299;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6" name="Google Shape;316;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7" name="Google Shape;317;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3" name="Google Shape;353;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4" name="Google Shape;354;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8" name="Google Shape;378;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9" name="Google Shape;379;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2" name="Google Shape;412;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3" name="Google Shape;413;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1" name="Google Shape;441;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2" name="Google Shape;442;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0.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0.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 name="Shape 15"/>
        <p:cNvGrpSpPr/>
        <p:nvPr/>
      </p:nvGrpSpPr>
      <p:grpSpPr>
        <a:xfrm>
          <a:off x="0" y="0"/>
          <a:ext cx="0" cy="0"/>
          <a:chOff x="0" y="0"/>
          <a:chExt cx="0" cy="0"/>
        </a:xfrm>
      </p:grpSpPr>
      <p:pic>
        <p:nvPicPr>
          <p:cNvPr descr="preencoded.png" id="16" name="Google Shape;16;p3"/>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7" name="Google Shape;17;p3"/>
          <p:cNvSpPr/>
          <p:nvPr/>
        </p:nvSpPr>
        <p:spPr>
          <a:xfrm>
            <a:off x="571500" y="1000125"/>
            <a:ext cx="6429375" cy="1131559"/>
          </a:xfrm>
          <a:prstGeom prst="rect">
            <a:avLst/>
          </a:prstGeom>
          <a:noFill/>
          <a:ln>
            <a:noFill/>
          </a:ln>
        </p:spPr>
        <p:txBody>
          <a:bodyPr anchorCtr="0" anchor="t" bIns="0" lIns="0" spcFirstLastPara="1" rIns="0" wrap="square" tIns="0">
            <a:noAutofit/>
          </a:bodyPr>
          <a:lstStyle/>
          <a:p>
            <a:pPr indent="0" lvl="0" marL="0" marR="0" rtl="0" algn="l">
              <a:lnSpc>
                <a:spcPct val="120611"/>
              </a:lnSpc>
              <a:spcBef>
                <a:spcPts val="0"/>
              </a:spcBef>
              <a:spcAft>
                <a:spcPts val="0"/>
              </a:spcAft>
              <a:buClr>
                <a:srgbClr val="00D9FF"/>
              </a:buClr>
              <a:buSzPts val="3731"/>
              <a:buFont typeface="Calibri"/>
              <a:buNone/>
            </a:pPr>
            <a:r>
              <a:rPr b="1" i="0" lang="en-US" sz="3731" u="none" cap="none" strike="noStrike">
                <a:solidFill>
                  <a:srgbClr val="00D9FF"/>
                </a:solidFill>
                <a:latin typeface="Calibri"/>
                <a:ea typeface="Calibri"/>
                <a:cs typeface="Calibri"/>
                <a:sym typeface="Calibri"/>
              </a:rPr>
              <a:t>Modernizing Security Data Management</a:t>
            </a:r>
            <a:endParaRPr b="0" i="0" sz="3731" u="none" cap="none" strike="noStrike">
              <a:solidFill>
                <a:schemeClr val="dk1"/>
              </a:solidFill>
              <a:latin typeface="Calibri"/>
              <a:ea typeface="Calibri"/>
              <a:cs typeface="Calibri"/>
              <a:sym typeface="Calibri"/>
            </a:endParaRPr>
          </a:p>
        </p:txBody>
      </p:sp>
      <p:sp>
        <p:nvSpPr>
          <p:cNvPr id="18" name="Google Shape;18;p3"/>
          <p:cNvSpPr/>
          <p:nvPr/>
        </p:nvSpPr>
        <p:spPr>
          <a:xfrm>
            <a:off x="571500" y="2274559"/>
            <a:ext cx="5715000" cy="640035"/>
          </a:xfrm>
          <a:prstGeom prst="rect">
            <a:avLst/>
          </a:prstGeom>
          <a:noFill/>
          <a:ln>
            <a:noFill/>
          </a:ln>
        </p:spPr>
        <p:txBody>
          <a:bodyPr anchorCtr="0" anchor="t" bIns="0" lIns="0" spcFirstLastPara="1" rIns="0" wrap="square" tIns="0">
            <a:noAutofit/>
          </a:bodyPr>
          <a:lstStyle/>
          <a:p>
            <a:pPr indent="0" lvl="0" marL="0" marR="0" rtl="0" algn="l">
              <a:lnSpc>
                <a:spcPct val="146713"/>
              </a:lnSpc>
              <a:spcBef>
                <a:spcPts val="0"/>
              </a:spcBef>
              <a:spcAft>
                <a:spcPts val="0"/>
              </a:spcAft>
              <a:buClr>
                <a:srgbClr val="FFFFFF"/>
              </a:buClr>
              <a:buSzPts val="1704"/>
              <a:buFont typeface="Calibri"/>
              <a:buNone/>
            </a:pPr>
            <a:r>
              <a:rPr b="0" i="0" lang="en-US" sz="1704" u="none" cap="none" strike="noStrike">
                <a:solidFill>
                  <a:srgbClr val="FFFFFF"/>
                </a:solidFill>
                <a:latin typeface="Calibri"/>
                <a:ea typeface="Calibri"/>
                <a:cs typeface="Calibri"/>
                <a:sym typeface="Calibri"/>
              </a:rPr>
              <a:t>From Bespoke Complexity to Standardized Automation with AWS Security Lake</a:t>
            </a:r>
            <a:endParaRPr b="0" i="0" sz="1704" u="none" cap="none" strike="noStrike">
              <a:solidFill>
                <a:schemeClr val="dk1"/>
              </a:solidFill>
              <a:latin typeface="Calibri"/>
              <a:ea typeface="Calibri"/>
              <a:cs typeface="Calibri"/>
              <a:sym typeface="Calibri"/>
            </a:endParaRPr>
          </a:p>
        </p:txBody>
      </p:sp>
      <p:sp>
        <p:nvSpPr>
          <p:cNvPr id="19" name="Google Shape;19;p3"/>
          <p:cNvSpPr/>
          <p:nvPr/>
        </p:nvSpPr>
        <p:spPr>
          <a:xfrm>
            <a:off x="742950" y="3914775"/>
            <a:ext cx="2209791" cy="466130"/>
          </a:xfrm>
          <a:prstGeom prst="rect">
            <a:avLst/>
          </a:prstGeom>
          <a:noFill/>
          <a:ln>
            <a:noFill/>
          </a:ln>
        </p:spPr>
        <p:txBody>
          <a:bodyPr anchorCtr="0" anchor="t" bIns="0" lIns="0" spcFirstLastPara="1" rIns="0" wrap="square" tIns="0">
            <a:noAutofit/>
          </a:bodyPr>
          <a:lstStyle/>
          <a:p>
            <a:pPr indent="0" lvl="0" marL="0" marR="0" rtl="0" algn="l">
              <a:lnSpc>
                <a:spcPct val="131362"/>
              </a:lnSpc>
              <a:spcBef>
                <a:spcPts val="0"/>
              </a:spcBef>
              <a:spcAft>
                <a:spcPts val="0"/>
              </a:spcAft>
              <a:buClr>
                <a:srgbClr val="FFD700"/>
              </a:buClr>
              <a:buSzPts val="2436"/>
              <a:buFont typeface="Calibri"/>
              <a:buNone/>
            </a:pPr>
            <a:r>
              <a:rPr b="1" i="0" lang="en-US" sz="2436" u="none" cap="none" strike="noStrike">
                <a:solidFill>
                  <a:srgbClr val="FFD700"/>
                </a:solidFill>
                <a:latin typeface="Calibri"/>
                <a:ea typeface="Calibri"/>
                <a:cs typeface="Calibri"/>
                <a:sym typeface="Calibri"/>
              </a:rPr>
              <a:t>Zero</a:t>
            </a:r>
            <a:endParaRPr b="0" i="0" sz="2436" u="none" cap="none" strike="noStrike">
              <a:solidFill>
                <a:schemeClr val="dk1"/>
              </a:solidFill>
              <a:latin typeface="Calibri"/>
              <a:ea typeface="Calibri"/>
              <a:cs typeface="Calibri"/>
              <a:sym typeface="Calibri"/>
            </a:endParaRPr>
          </a:p>
        </p:txBody>
      </p:sp>
      <p:sp>
        <p:nvSpPr>
          <p:cNvPr id="20" name="Google Shape;20;p3"/>
          <p:cNvSpPr/>
          <p:nvPr/>
        </p:nvSpPr>
        <p:spPr>
          <a:xfrm>
            <a:off x="742950" y="4416623"/>
            <a:ext cx="2209791" cy="155377"/>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B0B8C1"/>
              </a:buClr>
              <a:buSzPts val="834"/>
              <a:buFont typeface="Calibri"/>
              <a:buNone/>
            </a:pPr>
            <a:r>
              <a:rPr b="0" i="0" lang="en-US" sz="834" u="none" cap="none" strike="noStrike">
                <a:solidFill>
                  <a:srgbClr val="B0B8C1"/>
                </a:solidFill>
                <a:latin typeface="Calibri"/>
                <a:ea typeface="Calibri"/>
                <a:cs typeface="Calibri"/>
                <a:sym typeface="Calibri"/>
              </a:rPr>
              <a:t>Parsers Required</a:t>
            </a:r>
            <a:endParaRPr b="0" i="0" sz="834" u="none" cap="none" strike="noStrike">
              <a:solidFill>
                <a:schemeClr val="dk1"/>
              </a:solidFill>
              <a:latin typeface="Calibri"/>
              <a:ea typeface="Calibri"/>
              <a:cs typeface="Calibri"/>
              <a:sym typeface="Calibri"/>
            </a:endParaRPr>
          </a:p>
        </p:txBody>
      </p:sp>
      <p:sp>
        <p:nvSpPr>
          <p:cNvPr id="21" name="Google Shape;21;p3"/>
          <p:cNvSpPr/>
          <p:nvPr/>
        </p:nvSpPr>
        <p:spPr>
          <a:xfrm>
            <a:off x="3552816" y="3914775"/>
            <a:ext cx="2209791" cy="466130"/>
          </a:xfrm>
          <a:prstGeom prst="rect">
            <a:avLst/>
          </a:prstGeom>
          <a:noFill/>
          <a:ln>
            <a:noFill/>
          </a:ln>
        </p:spPr>
        <p:txBody>
          <a:bodyPr anchorCtr="0" anchor="t" bIns="0" lIns="0" spcFirstLastPara="1" rIns="0" wrap="square" tIns="0">
            <a:noAutofit/>
          </a:bodyPr>
          <a:lstStyle/>
          <a:p>
            <a:pPr indent="0" lvl="0" marL="0" marR="0" rtl="0" algn="l">
              <a:lnSpc>
                <a:spcPct val="131362"/>
              </a:lnSpc>
              <a:spcBef>
                <a:spcPts val="0"/>
              </a:spcBef>
              <a:spcAft>
                <a:spcPts val="0"/>
              </a:spcAft>
              <a:buClr>
                <a:srgbClr val="00D9FF"/>
              </a:buClr>
              <a:buSzPts val="2436"/>
              <a:buFont typeface="Calibri"/>
              <a:buNone/>
            </a:pPr>
            <a:r>
              <a:rPr b="1" i="0" lang="en-US" sz="2436" u="none" cap="none" strike="noStrike">
                <a:solidFill>
                  <a:srgbClr val="00D9FF"/>
                </a:solidFill>
                <a:latin typeface="Calibri"/>
                <a:ea typeface="Calibri"/>
                <a:cs typeface="Calibri"/>
                <a:sym typeface="Calibri"/>
              </a:rPr>
              <a:t>OCSF</a:t>
            </a:r>
            <a:endParaRPr b="0" i="0" sz="2436" u="none" cap="none" strike="noStrike">
              <a:solidFill>
                <a:schemeClr val="dk1"/>
              </a:solidFill>
              <a:latin typeface="Calibri"/>
              <a:ea typeface="Calibri"/>
              <a:cs typeface="Calibri"/>
              <a:sym typeface="Calibri"/>
            </a:endParaRPr>
          </a:p>
        </p:txBody>
      </p:sp>
      <p:sp>
        <p:nvSpPr>
          <p:cNvPr id="22" name="Google Shape;22;p3"/>
          <p:cNvSpPr/>
          <p:nvPr/>
        </p:nvSpPr>
        <p:spPr>
          <a:xfrm>
            <a:off x="3552816" y="4416623"/>
            <a:ext cx="2209791" cy="155377"/>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B0B8C1"/>
              </a:buClr>
              <a:buSzPts val="834"/>
              <a:buFont typeface="Calibri"/>
              <a:buNone/>
            </a:pPr>
            <a:r>
              <a:rPr b="0" i="0" lang="en-US" sz="834" u="none" cap="none" strike="noStrike">
                <a:solidFill>
                  <a:srgbClr val="B0B8C1"/>
                </a:solidFill>
                <a:latin typeface="Calibri"/>
                <a:ea typeface="Calibri"/>
                <a:cs typeface="Calibri"/>
                <a:sym typeface="Calibri"/>
              </a:rPr>
              <a:t>Open Standard Format</a:t>
            </a:r>
            <a:endParaRPr b="0" i="0" sz="834" u="none" cap="none" strike="noStrike">
              <a:solidFill>
                <a:schemeClr val="dk1"/>
              </a:solidFill>
              <a:latin typeface="Calibri"/>
              <a:ea typeface="Calibri"/>
              <a:cs typeface="Calibri"/>
              <a:sym typeface="Calibri"/>
            </a:endParaRPr>
          </a:p>
        </p:txBody>
      </p:sp>
      <p:sp>
        <p:nvSpPr>
          <p:cNvPr id="23" name="Google Shape;23;p3"/>
          <p:cNvSpPr/>
          <p:nvPr/>
        </p:nvSpPr>
        <p:spPr>
          <a:xfrm>
            <a:off x="6362681" y="3914775"/>
            <a:ext cx="2209819" cy="466130"/>
          </a:xfrm>
          <a:prstGeom prst="rect">
            <a:avLst/>
          </a:prstGeom>
          <a:noFill/>
          <a:ln>
            <a:noFill/>
          </a:ln>
        </p:spPr>
        <p:txBody>
          <a:bodyPr anchorCtr="0" anchor="t" bIns="0" lIns="0" spcFirstLastPara="1" rIns="0" wrap="square" tIns="0">
            <a:noAutofit/>
          </a:bodyPr>
          <a:lstStyle/>
          <a:p>
            <a:pPr indent="0" lvl="0" marL="0" marR="0" rtl="0" algn="l">
              <a:lnSpc>
                <a:spcPct val="131362"/>
              </a:lnSpc>
              <a:spcBef>
                <a:spcPts val="0"/>
              </a:spcBef>
              <a:spcAft>
                <a:spcPts val="0"/>
              </a:spcAft>
              <a:buClr>
                <a:srgbClr val="9D4EDD"/>
              </a:buClr>
              <a:buSzPts val="2436"/>
              <a:buFont typeface="Calibri"/>
              <a:buNone/>
            </a:pPr>
            <a:r>
              <a:rPr b="1" i="0" lang="en-US" sz="2436" u="none" cap="none" strike="noStrike">
                <a:solidFill>
                  <a:srgbClr val="9D4EDD"/>
                </a:solidFill>
                <a:latin typeface="Calibri"/>
                <a:ea typeface="Calibri"/>
                <a:cs typeface="Calibri"/>
                <a:sym typeface="Calibri"/>
              </a:rPr>
              <a:t>AI-Ready</a:t>
            </a:r>
            <a:endParaRPr b="0" i="0" sz="2436" u="none" cap="none" strike="noStrike">
              <a:solidFill>
                <a:schemeClr val="dk1"/>
              </a:solidFill>
              <a:latin typeface="Calibri"/>
              <a:ea typeface="Calibri"/>
              <a:cs typeface="Calibri"/>
              <a:sym typeface="Calibri"/>
            </a:endParaRPr>
          </a:p>
        </p:txBody>
      </p:sp>
      <p:sp>
        <p:nvSpPr>
          <p:cNvPr id="24" name="Google Shape;24;p3"/>
          <p:cNvSpPr/>
          <p:nvPr/>
        </p:nvSpPr>
        <p:spPr>
          <a:xfrm>
            <a:off x="6362681" y="4416623"/>
            <a:ext cx="2209819" cy="155377"/>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B0B8C1"/>
              </a:buClr>
              <a:buSzPts val="834"/>
              <a:buFont typeface="Calibri"/>
              <a:buNone/>
            </a:pPr>
            <a:r>
              <a:rPr b="0" i="0" lang="en-US" sz="834" u="none" cap="none" strike="noStrike">
                <a:solidFill>
                  <a:srgbClr val="B0B8C1"/>
                </a:solidFill>
                <a:latin typeface="Calibri"/>
                <a:ea typeface="Calibri"/>
                <a:cs typeface="Calibri"/>
                <a:sym typeface="Calibri"/>
              </a:rPr>
              <a:t>Native GenAI Integration</a:t>
            </a:r>
            <a:endParaRPr b="0" i="0" sz="834"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 name="Shape 29"/>
        <p:cNvGrpSpPr/>
        <p:nvPr/>
      </p:nvGrpSpPr>
      <p:grpSpPr>
        <a:xfrm>
          <a:off x="0" y="0"/>
          <a:ext cx="0" cy="0"/>
          <a:chOff x="0" y="0"/>
          <a:chExt cx="0" cy="0"/>
        </a:xfrm>
      </p:grpSpPr>
      <p:pic>
        <p:nvPicPr>
          <p:cNvPr descr="preencoded.png" id="30" name="Google Shape;30;p4"/>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31" name="Google Shape;31;p4"/>
          <p:cNvSpPr/>
          <p:nvPr/>
        </p:nvSpPr>
        <p:spPr>
          <a:xfrm>
            <a:off x="428625" y="428625"/>
            <a:ext cx="8286750" cy="1089422"/>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4"/>
          <p:cNvSpPr/>
          <p:nvPr/>
        </p:nvSpPr>
        <p:spPr>
          <a:xfrm>
            <a:off x="428625" y="1503759"/>
            <a:ext cx="8286750" cy="14288"/>
          </a:xfrm>
          <a:prstGeom prst="rect">
            <a:avLst/>
          </a:prstGeom>
          <a:solidFill>
            <a:srgbClr val="00D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4"/>
          <p:cNvSpPr/>
          <p:nvPr/>
        </p:nvSpPr>
        <p:spPr>
          <a:xfrm>
            <a:off x="428625" y="428625"/>
            <a:ext cx="8286750" cy="932259"/>
          </a:xfrm>
          <a:prstGeom prst="rect">
            <a:avLst/>
          </a:prstGeom>
          <a:noFill/>
          <a:ln>
            <a:noFill/>
          </a:ln>
        </p:spPr>
        <p:txBody>
          <a:bodyPr anchorCtr="0" anchor="t" bIns="0" lIns="0" spcFirstLastPara="1" rIns="0" wrap="square" tIns="0">
            <a:noAutofit/>
          </a:bodyPr>
          <a:lstStyle/>
          <a:p>
            <a:pPr indent="0" lvl="0" marL="0" marR="0" rtl="0" algn="l">
              <a:lnSpc>
                <a:spcPct val="131362"/>
              </a:lnSpc>
              <a:spcBef>
                <a:spcPts val="0"/>
              </a:spcBef>
              <a:spcAft>
                <a:spcPts val="0"/>
              </a:spcAft>
              <a:buClr>
                <a:srgbClr val="00D9FF"/>
              </a:buClr>
              <a:buSzPts val="2436"/>
              <a:buFont typeface="Calibri"/>
              <a:buNone/>
            </a:pPr>
            <a:r>
              <a:rPr b="1" i="0" lang="en-US" sz="2436" u="none" cap="none" strike="noStrike">
                <a:solidFill>
                  <a:srgbClr val="00D9FF"/>
                </a:solidFill>
                <a:latin typeface="Calibri"/>
                <a:ea typeface="Calibri"/>
                <a:cs typeface="Calibri"/>
                <a:sym typeface="Calibri"/>
              </a:rPr>
              <a:t>The Challenge with Traditional Security Data Management</a:t>
            </a:r>
            <a:endParaRPr b="0" i="0" sz="2436" u="none" cap="none" strike="noStrike">
              <a:solidFill>
                <a:schemeClr val="dk1"/>
              </a:solidFill>
              <a:latin typeface="Calibri"/>
              <a:ea typeface="Calibri"/>
              <a:cs typeface="Calibri"/>
              <a:sym typeface="Calibri"/>
            </a:endParaRPr>
          </a:p>
        </p:txBody>
      </p:sp>
      <p:sp>
        <p:nvSpPr>
          <p:cNvPr id="34" name="Google Shape;34;p4"/>
          <p:cNvSpPr/>
          <p:nvPr/>
        </p:nvSpPr>
        <p:spPr>
          <a:xfrm>
            <a:off x="428625" y="1932384"/>
            <a:ext cx="2571750" cy="2782491"/>
          </a:xfrm>
          <a:prstGeom prst="rect">
            <a:avLst/>
          </a:prstGeom>
          <a:solidFill>
            <a:srgbClr val="FFFFFF">
              <a:alpha val="470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4"/>
          <p:cNvSpPr/>
          <p:nvPr/>
        </p:nvSpPr>
        <p:spPr>
          <a:xfrm>
            <a:off x="428625" y="1932384"/>
            <a:ext cx="2571750" cy="28575"/>
          </a:xfrm>
          <a:prstGeom prst="rect">
            <a:avLst/>
          </a:prstGeom>
          <a:solidFill>
            <a:srgbClr val="FF6B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4"/>
          <p:cNvSpPr/>
          <p:nvPr/>
        </p:nvSpPr>
        <p:spPr>
          <a:xfrm>
            <a:off x="642938" y="2146697"/>
            <a:ext cx="2143125" cy="445759"/>
          </a:xfrm>
          <a:prstGeom prst="rect">
            <a:avLst/>
          </a:prstGeom>
          <a:noFill/>
          <a:ln>
            <a:noFill/>
          </a:ln>
        </p:spPr>
        <p:txBody>
          <a:bodyPr anchorCtr="0" anchor="t" bIns="0" lIns="0" spcFirstLastPara="1" rIns="0" wrap="square" tIns="0">
            <a:noAutofit/>
          </a:bodyPr>
          <a:lstStyle/>
          <a:p>
            <a:pPr indent="0" lvl="0" marL="0" marR="0" rtl="0" algn="l">
              <a:lnSpc>
                <a:spcPct val="150880"/>
              </a:lnSpc>
              <a:spcBef>
                <a:spcPts val="0"/>
              </a:spcBef>
              <a:spcAft>
                <a:spcPts val="0"/>
              </a:spcAft>
              <a:buClr>
                <a:srgbClr val="FFFFFF"/>
              </a:buClr>
              <a:buSzPts val="1193"/>
              <a:buFont typeface="Calibri"/>
              <a:buNone/>
            </a:pPr>
            <a:r>
              <a:rPr b="1" i="0" lang="en-US" sz="1193" u="none" cap="none" strike="noStrike">
                <a:solidFill>
                  <a:srgbClr val="FFFFFF"/>
                </a:solidFill>
                <a:latin typeface="Calibri"/>
                <a:ea typeface="Calibri"/>
                <a:cs typeface="Calibri"/>
                <a:sym typeface="Calibri"/>
              </a:rPr>
              <a:t>Proprietary Data Formats</a:t>
            </a:r>
            <a:endParaRPr b="0" i="0" sz="1193" u="none" cap="none" strike="noStrike">
              <a:solidFill>
                <a:schemeClr val="dk1"/>
              </a:solidFill>
              <a:latin typeface="Calibri"/>
              <a:ea typeface="Calibri"/>
              <a:cs typeface="Calibri"/>
              <a:sym typeface="Calibri"/>
            </a:endParaRPr>
          </a:p>
        </p:txBody>
      </p:sp>
      <p:sp>
        <p:nvSpPr>
          <p:cNvPr id="37" name="Google Shape;37;p4"/>
          <p:cNvSpPr/>
          <p:nvPr/>
        </p:nvSpPr>
        <p:spPr>
          <a:xfrm>
            <a:off x="642938" y="2735331"/>
            <a:ext cx="2143125" cy="1440024"/>
          </a:xfrm>
          <a:prstGeom prst="rect">
            <a:avLst/>
          </a:prstGeom>
          <a:noFill/>
          <a:ln>
            <a:noFill/>
          </a:ln>
        </p:spPr>
        <p:txBody>
          <a:bodyPr anchorCtr="0" anchor="t" bIns="0" lIns="0" spcFirstLastPara="1" rIns="0" wrap="square" tIns="0">
            <a:noAutofit/>
          </a:bodyPr>
          <a:lstStyle/>
          <a:p>
            <a:pPr indent="0" lvl="0" marL="0" marR="0" rtl="0" algn="l">
              <a:lnSpc>
                <a:spcPct val="169851"/>
              </a:lnSpc>
              <a:spcBef>
                <a:spcPts val="0"/>
              </a:spcBef>
              <a:spcAft>
                <a:spcPts val="0"/>
              </a:spcAft>
              <a:buClr>
                <a:srgbClr val="B0B8C1"/>
              </a:buClr>
              <a:buSzPts val="942"/>
              <a:buFont typeface="Calibri"/>
              <a:buNone/>
            </a:pPr>
            <a:r>
              <a:rPr b="0" i="0" lang="en-US" sz="942" u="none" cap="none" strike="noStrike">
                <a:solidFill>
                  <a:srgbClr val="B0B8C1"/>
                </a:solidFill>
                <a:latin typeface="Calibri"/>
                <a:ea typeface="Calibri"/>
                <a:cs typeface="Calibri"/>
                <a:sym typeface="Calibri"/>
              </a:rPr>
              <a:t>The vendor landscape is a fragmented mix of incompatible languages. Security teams are forced to become </a:t>
            </a:r>
            <a:r>
              <a:rPr b="1" i="0" lang="en-US" sz="885" u="none" cap="none" strike="noStrike">
                <a:solidFill>
                  <a:srgbClr val="FF6B6B"/>
                </a:solidFill>
                <a:latin typeface="Calibri"/>
                <a:ea typeface="Calibri"/>
                <a:cs typeface="Calibri"/>
                <a:sym typeface="Calibri"/>
              </a:rPr>
              <a:t>data plumbers</a:t>
            </a:r>
            <a:r>
              <a:rPr b="0" i="0" lang="en-US" sz="942" u="none" cap="none" strike="noStrike">
                <a:solidFill>
                  <a:srgbClr val="B0B8C1"/>
                </a:solidFill>
                <a:latin typeface="Calibri"/>
                <a:ea typeface="Calibri"/>
                <a:cs typeface="Calibri"/>
                <a:sym typeface="Calibri"/>
              </a:rPr>
              <a:t>, constantly writing and maintaining brittle custom parsers for every new tool.</a:t>
            </a:r>
            <a:endParaRPr b="0" i="0" sz="942" u="none" cap="none" strike="noStrike">
              <a:solidFill>
                <a:schemeClr val="dk1"/>
              </a:solidFill>
              <a:latin typeface="Calibri"/>
              <a:ea typeface="Calibri"/>
              <a:cs typeface="Calibri"/>
              <a:sym typeface="Calibri"/>
            </a:endParaRPr>
          </a:p>
        </p:txBody>
      </p:sp>
      <p:sp>
        <p:nvSpPr>
          <p:cNvPr id="38" name="Google Shape;38;p4"/>
          <p:cNvSpPr/>
          <p:nvPr/>
        </p:nvSpPr>
        <p:spPr>
          <a:xfrm>
            <a:off x="3286125" y="1932384"/>
            <a:ext cx="2571750" cy="2782491"/>
          </a:xfrm>
          <a:prstGeom prst="rect">
            <a:avLst/>
          </a:prstGeom>
          <a:solidFill>
            <a:srgbClr val="FFFFFF">
              <a:alpha val="470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4"/>
          <p:cNvSpPr/>
          <p:nvPr/>
        </p:nvSpPr>
        <p:spPr>
          <a:xfrm>
            <a:off x="3286125" y="1932384"/>
            <a:ext cx="2571750" cy="28575"/>
          </a:xfrm>
          <a:prstGeom prst="rect">
            <a:avLst/>
          </a:prstGeom>
          <a:solidFill>
            <a:srgbClr val="FF6B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4"/>
          <p:cNvSpPr/>
          <p:nvPr/>
        </p:nvSpPr>
        <p:spPr>
          <a:xfrm>
            <a:off x="3500438" y="2146697"/>
            <a:ext cx="2143125" cy="445759"/>
          </a:xfrm>
          <a:prstGeom prst="rect">
            <a:avLst/>
          </a:prstGeom>
          <a:noFill/>
          <a:ln>
            <a:noFill/>
          </a:ln>
        </p:spPr>
        <p:txBody>
          <a:bodyPr anchorCtr="0" anchor="t" bIns="0" lIns="0" spcFirstLastPara="1" rIns="0" wrap="square" tIns="0">
            <a:noAutofit/>
          </a:bodyPr>
          <a:lstStyle/>
          <a:p>
            <a:pPr indent="0" lvl="0" marL="0" marR="0" rtl="0" algn="l">
              <a:lnSpc>
                <a:spcPct val="150880"/>
              </a:lnSpc>
              <a:spcBef>
                <a:spcPts val="0"/>
              </a:spcBef>
              <a:spcAft>
                <a:spcPts val="0"/>
              </a:spcAft>
              <a:buClr>
                <a:srgbClr val="FFFFFF"/>
              </a:buClr>
              <a:buSzPts val="1193"/>
              <a:buFont typeface="Calibri"/>
              <a:buNone/>
            </a:pPr>
            <a:r>
              <a:rPr b="1" i="0" lang="en-US" sz="1193" u="none" cap="none" strike="noStrike">
                <a:solidFill>
                  <a:srgbClr val="FFFFFF"/>
                </a:solidFill>
                <a:latin typeface="Calibri"/>
                <a:ea typeface="Calibri"/>
                <a:cs typeface="Calibri"/>
                <a:sym typeface="Calibri"/>
              </a:rPr>
              <a:t>Escalating Operational Costs</a:t>
            </a:r>
            <a:endParaRPr b="0" i="0" sz="1193" u="none" cap="none" strike="noStrike">
              <a:solidFill>
                <a:schemeClr val="dk1"/>
              </a:solidFill>
              <a:latin typeface="Calibri"/>
              <a:ea typeface="Calibri"/>
              <a:cs typeface="Calibri"/>
              <a:sym typeface="Calibri"/>
            </a:endParaRPr>
          </a:p>
        </p:txBody>
      </p:sp>
      <p:sp>
        <p:nvSpPr>
          <p:cNvPr id="41" name="Google Shape;41;p4"/>
          <p:cNvSpPr/>
          <p:nvPr/>
        </p:nvSpPr>
        <p:spPr>
          <a:xfrm>
            <a:off x="3500438" y="2735331"/>
            <a:ext cx="2143125" cy="1234306"/>
          </a:xfrm>
          <a:prstGeom prst="rect">
            <a:avLst/>
          </a:prstGeom>
          <a:noFill/>
          <a:ln>
            <a:noFill/>
          </a:ln>
        </p:spPr>
        <p:txBody>
          <a:bodyPr anchorCtr="0" anchor="t" bIns="0" lIns="0" spcFirstLastPara="1" rIns="0" wrap="square" tIns="0">
            <a:noAutofit/>
          </a:bodyPr>
          <a:lstStyle/>
          <a:p>
            <a:pPr indent="0" lvl="0" marL="0" marR="0" rtl="0" algn="l">
              <a:lnSpc>
                <a:spcPct val="169851"/>
              </a:lnSpc>
              <a:spcBef>
                <a:spcPts val="0"/>
              </a:spcBef>
              <a:spcAft>
                <a:spcPts val="0"/>
              </a:spcAft>
              <a:buClr>
                <a:srgbClr val="B0B8C1"/>
              </a:buClr>
              <a:buSzPts val="942"/>
              <a:buFont typeface="Calibri"/>
              <a:buNone/>
            </a:pPr>
            <a:r>
              <a:rPr b="0" i="0" lang="en-US" sz="942" u="none" cap="none" strike="noStrike">
                <a:solidFill>
                  <a:srgbClr val="B0B8C1"/>
                </a:solidFill>
                <a:latin typeface="Calibri"/>
                <a:ea typeface="Calibri"/>
                <a:cs typeface="Calibri"/>
                <a:sym typeface="Calibri"/>
              </a:rPr>
              <a:t>Bespoke SIEMs require immense upfront infrastructure investment and unsustainable ingestion costs. High-value engineers are trapped in a cycle of </a:t>
            </a:r>
            <a:r>
              <a:rPr b="1" i="0" lang="en-US" sz="885" u="none" cap="none" strike="noStrike">
                <a:solidFill>
                  <a:srgbClr val="FF6B6B"/>
                </a:solidFill>
                <a:latin typeface="Calibri"/>
                <a:ea typeface="Calibri"/>
                <a:cs typeface="Calibri"/>
                <a:sym typeface="Calibri"/>
              </a:rPr>
              <a:t>24/7 maintenance</a:t>
            </a:r>
            <a:r>
              <a:rPr b="0" i="0" lang="en-US" sz="942" u="none" cap="none" strike="noStrike">
                <a:solidFill>
                  <a:srgbClr val="B0B8C1"/>
                </a:solidFill>
                <a:latin typeface="Calibri"/>
                <a:ea typeface="Calibri"/>
                <a:cs typeface="Calibri"/>
                <a:sym typeface="Calibri"/>
              </a:rPr>
              <a:t> instead of threat hunting.</a:t>
            </a:r>
            <a:endParaRPr b="0" i="0" sz="942" u="none" cap="none" strike="noStrike">
              <a:solidFill>
                <a:schemeClr val="dk1"/>
              </a:solidFill>
              <a:latin typeface="Calibri"/>
              <a:ea typeface="Calibri"/>
              <a:cs typeface="Calibri"/>
              <a:sym typeface="Calibri"/>
            </a:endParaRPr>
          </a:p>
        </p:txBody>
      </p:sp>
      <p:sp>
        <p:nvSpPr>
          <p:cNvPr id="42" name="Google Shape;42;p4"/>
          <p:cNvSpPr/>
          <p:nvPr/>
        </p:nvSpPr>
        <p:spPr>
          <a:xfrm>
            <a:off x="6143625" y="1932384"/>
            <a:ext cx="2571750" cy="2782491"/>
          </a:xfrm>
          <a:prstGeom prst="rect">
            <a:avLst/>
          </a:prstGeom>
          <a:solidFill>
            <a:srgbClr val="FFFFFF">
              <a:alpha val="470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4"/>
          <p:cNvSpPr/>
          <p:nvPr/>
        </p:nvSpPr>
        <p:spPr>
          <a:xfrm>
            <a:off x="6143625" y="1932384"/>
            <a:ext cx="2571750" cy="28575"/>
          </a:xfrm>
          <a:prstGeom prst="rect">
            <a:avLst/>
          </a:prstGeom>
          <a:solidFill>
            <a:srgbClr val="FF6B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a:off x="6357938" y="2146697"/>
            <a:ext cx="2143125" cy="222879"/>
          </a:xfrm>
          <a:prstGeom prst="rect">
            <a:avLst/>
          </a:prstGeom>
          <a:noFill/>
          <a:ln>
            <a:noFill/>
          </a:ln>
        </p:spPr>
        <p:txBody>
          <a:bodyPr anchorCtr="0" anchor="t" bIns="0" lIns="0" spcFirstLastPara="1" rIns="0" wrap="square" tIns="0">
            <a:noAutofit/>
          </a:bodyPr>
          <a:lstStyle/>
          <a:p>
            <a:pPr indent="0" lvl="0" marL="0" marR="0" rtl="0" algn="l">
              <a:lnSpc>
                <a:spcPct val="150880"/>
              </a:lnSpc>
              <a:spcBef>
                <a:spcPts val="0"/>
              </a:spcBef>
              <a:spcAft>
                <a:spcPts val="0"/>
              </a:spcAft>
              <a:buClr>
                <a:srgbClr val="FFFFFF"/>
              </a:buClr>
              <a:buSzPts val="1193"/>
              <a:buFont typeface="Calibri"/>
              <a:buNone/>
            </a:pPr>
            <a:r>
              <a:rPr b="1" i="0" lang="en-US" sz="1193" u="none" cap="none" strike="noStrike">
                <a:solidFill>
                  <a:srgbClr val="FFFFFF"/>
                </a:solidFill>
                <a:latin typeface="Calibri"/>
                <a:ea typeface="Calibri"/>
                <a:cs typeface="Calibri"/>
                <a:sym typeface="Calibri"/>
              </a:rPr>
              <a:t>Stifled Innovation</a:t>
            </a:r>
            <a:endParaRPr b="0" i="0" sz="1193" u="none" cap="none" strike="noStrike">
              <a:solidFill>
                <a:schemeClr val="dk1"/>
              </a:solidFill>
              <a:latin typeface="Calibri"/>
              <a:ea typeface="Calibri"/>
              <a:cs typeface="Calibri"/>
              <a:sym typeface="Calibri"/>
            </a:endParaRPr>
          </a:p>
        </p:txBody>
      </p:sp>
      <p:sp>
        <p:nvSpPr>
          <p:cNvPr id="45" name="Google Shape;45;p4"/>
          <p:cNvSpPr/>
          <p:nvPr/>
        </p:nvSpPr>
        <p:spPr>
          <a:xfrm>
            <a:off x="6357938" y="2512451"/>
            <a:ext cx="2143125" cy="1234306"/>
          </a:xfrm>
          <a:prstGeom prst="rect">
            <a:avLst/>
          </a:prstGeom>
          <a:noFill/>
          <a:ln>
            <a:noFill/>
          </a:ln>
        </p:spPr>
        <p:txBody>
          <a:bodyPr anchorCtr="0" anchor="t" bIns="0" lIns="0" spcFirstLastPara="1" rIns="0" wrap="square" tIns="0">
            <a:noAutofit/>
          </a:bodyPr>
          <a:lstStyle/>
          <a:p>
            <a:pPr indent="0" lvl="0" marL="0" marR="0" rtl="0" algn="l">
              <a:lnSpc>
                <a:spcPct val="169851"/>
              </a:lnSpc>
              <a:spcBef>
                <a:spcPts val="0"/>
              </a:spcBef>
              <a:spcAft>
                <a:spcPts val="0"/>
              </a:spcAft>
              <a:buClr>
                <a:srgbClr val="B0B8C1"/>
              </a:buClr>
              <a:buSzPts val="942"/>
              <a:buFont typeface="Calibri"/>
              <a:buNone/>
            </a:pPr>
            <a:r>
              <a:rPr b="0" i="0" lang="en-US" sz="942" u="none" cap="none" strike="noStrike">
                <a:solidFill>
                  <a:srgbClr val="B0B8C1"/>
                </a:solidFill>
                <a:latin typeface="Calibri"/>
                <a:ea typeface="Calibri"/>
                <a:cs typeface="Calibri"/>
                <a:sym typeface="Calibri"/>
              </a:rPr>
              <a:t>Monolithic, rigid architectures make adapting to new threats agonizingly slow. Adding new detection rules or reports requires significant </a:t>
            </a:r>
            <a:r>
              <a:rPr b="1" i="0" lang="en-US" sz="885" u="none" cap="none" strike="noStrike">
                <a:solidFill>
                  <a:srgbClr val="FF6B6B"/>
                </a:solidFill>
                <a:latin typeface="Calibri"/>
                <a:ea typeface="Calibri"/>
                <a:cs typeface="Calibri"/>
                <a:sym typeface="Calibri"/>
              </a:rPr>
              <a:t>developer time</a:t>
            </a:r>
            <a:r>
              <a:rPr b="0" i="0" lang="en-US" sz="942" u="none" cap="none" strike="noStrike">
                <a:solidFill>
                  <a:srgbClr val="B0B8C1"/>
                </a:solidFill>
                <a:latin typeface="Calibri"/>
                <a:ea typeface="Calibri"/>
                <a:cs typeface="Calibri"/>
                <a:sym typeface="Calibri"/>
              </a:rPr>
              <a:t>, leaving the organization vulnerable.</a:t>
            </a:r>
            <a:endParaRPr b="0" i="0" sz="942"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pic>
        <p:nvPicPr>
          <p:cNvPr descr="preencoded.png" id="51" name="Google Shape;51;p5"/>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52" name="Google Shape;52;p5"/>
          <p:cNvSpPr/>
          <p:nvPr/>
        </p:nvSpPr>
        <p:spPr>
          <a:xfrm>
            <a:off x="428625" y="428625"/>
            <a:ext cx="8286750" cy="623292"/>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5"/>
          <p:cNvSpPr/>
          <p:nvPr/>
        </p:nvSpPr>
        <p:spPr>
          <a:xfrm>
            <a:off x="428625" y="1037630"/>
            <a:ext cx="8286750" cy="14288"/>
          </a:xfrm>
          <a:prstGeom prst="rect">
            <a:avLst/>
          </a:prstGeom>
          <a:solidFill>
            <a:srgbClr val="00D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5"/>
          <p:cNvSpPr/>
          <p:nvPr/>
        </p:nvSpPr>
        <p:spPr>
          <a:xfrm>
            <a:off x="428625" y="428625"/>
            <a:ext cx="8286750" cy="466130"/>
          </a:xfrm>
          <a:prstGeom prst="rect">
            <a:avLst/>
          </a:prstGeom>
          <a:noFill/>
          <a:ln>
            <a:noFill/>
          </a:ln>
        </p:spPr>
        <p:txBody>
          <a:bodyPr anchorCtr="0" anchor="t" bIns="0" lIns="0" spcFirstLastPara="1" rIns="0" wrap="square" tIns="0">
            <a:noAutofit/>
          </a:bodyPr>
          <a:lstStyle/>
          <a:p>
            <a:pPr indent="0" lvl="0" marL="0" marR="0" rtl="0" algn="l">
              <a:lnSpc>
                <a:spcPct val="131362"/>
              </a:lnSpc>
              <a:spcBef>
                <a:spcPts val="0"/>
              </a:spcBef>
              <a:spcAft>
                <a:spcPts val="0"/>
              </a:spcAft>
              <a:buClr>
                <a:srgbClr val="00D9FF"/>
              </a:buClr>
              <a:buSzPts val="2436"/>
              <a:buFont typeface="Calibri"/>
              <a:buNone/>
            </a:pPr>
            <a:r>
              <a:rPr b="1" i="0" lang="en-US" sz="2436" u="none" cap="none" strike="noStrike">
                <a:solidFill>
                  <a:srgbClr val="00D9FF"/>
                </a:solidFill>
                <a:latin typeface="Calibri"/>
                <a:ea typeface="Calibri"/>
                <a:cs typeface="Calibri"/>
                <a:sym typeface="Calibri"/>
              </a:rPr>
              <a:t>Traditional Architecture Complexity</a:t>
            </a:r>
            <a:endParaRPr b="0" i="0" sz="2436" u="none" cap="none" strike="noStrike">
              <a:solidFill>
                <a:schemeClr val="dk1"/>
              </a:solidFill>
              <a:latin typeface="Calibri"/>
              <a:ea typeface="Calibri"/>
              <a:cs typeface="Calibri"/>
              <a:sym typeface="Calibri"/>
            </a:endParaRPr>
          </a:p>
        </p:txBody>
      </p:sp>
      <p:sp>
        <p:nvSpPr>
          <p:cNvPr id="55" name="Google Shape;55;p5"/>
          <p:cNvSpPr/>
          <p:nvPr/>
        </p:nvSpPr>
        <p:spPr>
          <a:xfrm>
            <a:off x="428625" y="1733252"/>
            <a:ext cx="4572000" cy="2571750"/>
          </a:xfrm>
          <a:prstGeom prst="rect">
            <a:avLst/>
          </a:prstGeom>
          <a:solidFill>
            <a:srgbClr val="FFFFFF"/>
          </a:solidFill>
          <a:ln cap="flat" cmpd="sng" w="952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6" name="Google Shape;56;p5"/>
          <p:cNvPicPr preferRelativeResize="0"/>
          <p:nvPr/>
        </p:nvPicPr>
        <p:blipFill rotWithShape="1">
          <a:blip r:embed="rId4">
            <a:alphaModFix/>
          </a:blip>
          <a:srcRect b="0" l="0" r="0" t="0"/>
          <a:stretch/>
        </p:blipFill>
        <p:spPr>
          <a:xfrm>
            <a:off x="621813" y="1876127"/>
            <a:ext cx="4185624" cy="2285972"/>
          </a:xfrm>
          <a:prstGeom prst="rect">
            <a:avLst/>
          </a:prstGeom>
          <a:noFill/>
          <a:ln>
            <a:noFill/>
          </a:ln>
        </p:spPr>
      </p:pic>
      <p:sp>
        <p:nvSpPr>
          <p:cNvPr id="57" name="Google Shape;57;p5"/>
          <p:cNvSpPr/>
          <p:nvPr/>
        </p:nvSpPr>
        <p:spPr>
          <a:xfrm>
            <a:off x="5214938" y="2320826"/>
            <a:ext cx="2571750" cy="1396603"/>
          </a:xfrm>
          <a:prstGeom prst="rect">
            <a:avLst/>
          </a:prstGeom>
          <a:solidFill>
            <a:srgbClr val="FF6B6B">
              <a:alpha val="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5"/>
          <p:cNvSpPr/>
          <p:nvPr/>
        </p:nvSpPr>
        <p:spPr>
          <a:xfrm>
            <a:off x="5214938" y="2320826"/>
            <a:ext cx="28575" cy="1396603"/>
          </a:xfrm>
          <a:prstGeom prst="rect">
            <a:avLst/>
          </a:prstGeom>
          <a:solidFill>
            <a:srgbClr val="FF6B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p:nvPr/>
        </p:nvSpPr>
        <p:spPr>
          <a:xfrm>
            <a:off x="5329238" y="2435126"/>
            <a:ext cx="2343150" cy="1168003"/>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FF6B6B"/>
              </a:buClr>
              <a:buSzPts val="987"/>
              <a:buFont typeface="Calibri"/>
              <a:buNone/>
            </a:pPr>
            <a:r>
              <a:rPr b="1" i="0" lang="en-US" sz="987" u="none" cap="none" strike="noStrike">
                <a:solidFill>
                  <a:srgbClr val="FF6B6B"/>
                </a:solidFill>
                <a:latin typeface="Calibri"/>
                <a:ea typeface="Calibri"/>
                <a:cs typeface="Calibri"/>
                <a:sym typeface="Calibri"/>
              </a:rPr>
              <a:t>The Integration Bottleneck:</a:t>
            </a:r>
            <a:r>
              <a:rPr b="0" i="0" lang="en-US" sz="1050" u="none" cap="none" strike="noStrike">
                <a:solidFill>
                  <a:srgbClr val="FFFFFF"/>
                </a:solidFill>
                <a:latin typeface="Calibri"/>
                <a:ea typeface="Calibri"/>
                <a:cs typeface="Calibri"/>
                <a:sym typeface="Calibri"/>
              </a:rPr>
              <a:t> Every new tool requires a new custom parser. Data is siloed, correlation is manual, and maintenance consumes valuable engineering cycles.</a:t>
            </a:r>
            <a:endParaRPr b="0" i="0" sz="987"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pic>
        <p:nvPicPr>
          <p:cNvPr descr="preencoded.png" id="65" name="Google Shape;65;p6"/>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66" name="Google Shape;66;p6"/>
          <p:cNvSpPr/>
          <p:nvPr/>
        </p:nvSpPr>
        <p:spPr>
          <a:xfrm>
            <a:off x="428625" y="428625"/>
            <a:ext cx="8286750" cy="623292"/>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6"/>
          <p:cNvSpPr/>
          <p:nvPr/>
        </p:nvSpPr>
        <p:spPr>
          <a:xfrm>
            <a:off x="428625" y="1037630"/>
            <a:ext cx="8286750" cy="14288"/>
          </a:xfrm>
          <a:prstGeom prst="rect">
            <a:avLst/>
          </a:prstGeom>
          <a:solidFill>
            <a:srgbClr val="00D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6"/>
          <p:cNvSpPr/>
          <p:nvPr/>
        </p:nvSpPr>
        <p:spPr>
          <a:xfrm>
            <a:off x="428625" y="428625"/>
            <a:ext cx="8286750" cy="466130"/>
          </a:xfrm>
          <a:prstGeom prst="rect">
            <a:avLst/>
          </a:prstGeom>
          <a:noFill/>
          <a:ln>
            <a:noFill/>
          </a:ln>
        </p:spPr>
        <p:txBody>
          <a:bodyPr anchorCtr="0" anchor="t" bIns="0" lIns="0" spcFirstLastPara="1" rIns="0" wrap="square" tIns="0">
            <a:noAutofit/>
          </a:bodyPr>
          <a:lstStyle/>
          <a:p>
            <a:pPr indent="0" lvl="0" marL="0" marR="0" rtl="0" algn="l">
              <a:lnSpc>
                <a:spcPct val="131362"/>
              </a:lnSpc>
              <a:spcBef>
                <a:spcPts val="0"/>
              </a:spcBef>
              <a:spcAft>
                <a:spcPts val="0"/>
              </a:spcAft>
              <a:buClr>
                <a:srgbClr val="00D9FF"/>
              </a:buClr>
              <a:buSzPts val="2436"/>
              <a:buFont typeface="Calibri"/>
              <a:buNone/>
            </a:pPr>
            <a:r>
              <a:rPr b="1" i="0" lang="en-US" sz="2436" u="none" cap="none" strike="noStrike">
                <a:solidFill>
                  <a:srgbClr val="00D9FF"/>
                </a:solidFill>
                <a:latin typeface="Calibri"/>
                <a:ea typeface="Calibri"/>
                <a:cs typeface="Calibri"/>
                <a:sym typeface="Calibri"/>
              </a:rPr>
              <a:t>The AWS Security Lake Solution</a:t>
            </a:r>
            <a:endParaRPr b="0" i="0" sz="2436" u="none" cap="none" strike="noStrike">
              <a:solidFill>
                <a:schemeClr val="dk1"/>
              </a:solidFill>
              <a:latin typeface="Calibri"/>
              <a:ea typeface="Calibri"/>
              <a:cs typeface="Calibri"/>
              <a:sym typeface="Calibri"/>
            </a:endParaRPr>
          </a:p>
        </p:txBody>
      </p:sp>
      <p:sp>
        <p:nvSpPr>
          <p:cNvPr id="69" name="Google Shape;69;p6"/>
          <p:cNvSpPr/>
          <p:nvPr/>
        </p:nvSpPr>
        <p:spPr>
          <a:xfrm>
            <a:off x="428625" y="1466255"/>
            <a:ext cx="2571750" cy="3248620"/>
          </a:xfrm>
          <a:prstGeom prst="rect">
            <a:avLst/>
          </a:prstGeom>
          <a:solidFill>
            <a:srgbClr val="FFFFFF">
              <a:alpha val="470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6"/>
          <p:cNvSpPr/>
          <p:nvPr/>
        </p:nvSpPr>
        <p:spPr>
          <a:xfrm>
            <a:off x="428625" y="1466255"/>
            <a:ext cx="2571750" cy="42863"/>
          </a:xfrm>
          <a:prstGeom prst="rect">
            <a:avLst/>
          </a:prstGeom>
          <a:solidFill>
            <a:srgbClr val="9D4E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6"/>
          <p:cNvSpPr/>
          <p:nvPr/>
        </p:nvSpPr>
        <p:spPr>
          <a:xfrm>
            <a:off x="642938" y="1680567"/>
            <a:ext cx="2143125" cy="480027"/>
          </a:xfrm>
          <a:prstGeom prst="rect">
            <a:avLst/>
          </a:prstGeom>
          <a:noFill/>
          <a:ln>
            <a:noFill/>
          </a:ln>
        </p:spPr>
        <p:txBody>
          <a:bodyPr anchorCtr="0" anchor="t" bIns="0" lIns="0" spcFirstLastPara="1" rIns="0" wrap="square" tIns="0">
            <a:noAutofit/>
          </a:bodyPr>
          <a:lstStyle/>
          <a:p>
            <a:pPr indent="0" lvl="0" marL="0" marR="0" rtl="0" algn="l">
              <a:lnSpc>
                <a:spcPct val="136005"/>
              </a:lnSpc>
              <a:spcBef>
                <a:spcPts val="0"/>
              </a:spcBef>
              <a:spcAft>
                <a:spcPts val="0"/>
              </a:spcAft>
              <a:buClr>
                <a:srgbClr val="FFFFFF"/>
              </a:buClr>
              <a:buSzPts val="1397"/>
              <a:buFont typeface="Calibri"/>
              <a:buNone/>
            </a:pPr>
            <a:r>
              <a:rPr b="1" i="0" lang="en-US" sz="1397" u="none" cap="none" strike="noStrike">
                <a:solidFill>
                  <a:srgbClr val="FFFFFF"/>
                </a:solidFill>
                <a:latin typeface="Calibri"/>
                <a:ea typeface="Calibri"/>
                <a:cs typeface="Calibri"/>
                <a:sym typeface="Calibri"/>
              </a:rPr>
              <a:t>OCSF Standardization</a:t>
            </a:r>
            <a:endParaRPr b="0" i="0" sz="1397" u="none" cap="none" strike="noStrike">
              <a:solidFill>
                <a:schemeClr val="dk1"/>
              </a:solidFill>
              <a:latin typeface="Calibri"/>
              <a:ea typeface="Calibri"/>
              <a:cs typeface="Calibri"/>
              <a:sym typeface="Calibri"/>
            </a:endParaRPr>
          </a:p>
        </p:txBody>
      </p:sp>
      <p:sp>
        <p:nvSpPr>
          <p:cNvPr id="72" name="Google Shape;72;p6"/>
          <p:cNvSpPr/>
          <p:nvPr/>
        </p:nvSpPr>
        <p:spPr>
          <a:xfrm>
            <a:off x="642938" y="2267750"/>
            <a:ext cx="2143125" cy="155377"/>
          </a:xfrm>
          <a:prstGeom prst="rect">
            <a:avLst/>
          </a:prstGeom>
          <a:noFill/>
          <a:ln>
            <a:noFill/>
          </a:ln>
        </p:spPr>
        <p:txBody>
          <a:bodyPr anchorCtr="0" anchor="t" bIns="0" lIns="0" spcFirstLastPara="1" rIns="0" wrap="square" tIns="0">
            <a:noAutofit/>
          </a:bodyPr>
          <a:lstStyle/>
          <a:p>
            <a:pPr indent="0" lvl="0" marL="0" marR="0" rtl="0" algn="l">
              <a:lnSpc>
                <a:spcPct val="140306"/>
              </a:lnSpc>
              <a:spcBef>
                <a:spcPts val="0"/>
              </a:spcBef>
              <a:spcAft>
                <a:spcPts val="0"/>
              </a:spcAft>
              <a:buClr>
                <a:srgbClr val="9D4EDD"/>
              </a:buClr>
              <a:buSzPts val="784"/>
              <a:buFont typeface="Calibri"/>
              <a:buNone/>
            </a:pPr>
            <a:r>
              <a:rPr b="1" i="0" lang="en-US" sz="784" u="none" cap="none" strike="noStrike">
                <a:solidFill>
                  <a:srgbClr val="9D4EDD"/>
                </a:solidFill>
                <a:latin typeface="Calibri"/>
                <a:ea typeface="Calibri"/>
                <a:cs typeface="Calibri"/>
                <a:sym typeface="Calibri"/>
              </a:rPr>
              <a:t>A Common Language</a:t>
            </a:r>
            <a:endParaRPr b="0" i="0" sz="784" u="none" cap="none" strike="noStrike">
              <a:solidFill>
                <a:schemeClr val="dk1"/>
              </a:solidFill>
              <a:latin typeface="Calibri"/>
              <a:ea typeface="Calibri"/>
              <a:cs typeface="Calibri"/>
              <a:sym typeface="Calibri"/>
            </a:endParaRPr>
          </a:p>
        </p:txBody>
      </p:sp>
      <p:sp>
        <p:nvSpPr>
          <p:cNvPr id="73" name="Google Shape;73;p6"/>
          <p:cNvSpPr/>
          <p:nvPr/>
        </p:nvSpPr>
        <p:spPr>
          <a:xfrm>
            <a:off x="642938" y="2566002"/>
            <a:ext cx="2143125" cy="1234306"/>
          </a:xfrm>
          <a:prstGeom prst="rect">
            <a:avLst/>
          </a:prstGeom>
          <a:noFill/>
          <a:ln>
            <a:noFill/>
          </a:ln>
        </p:spPr>
        <p:txBody>
          <a:bodyPr anchorCtr="0" anchor="t" bIns="0" lIns="0" spcFirstLastPara="1" rIns="0" wrap="square" tIns="0">
            <a:noAutofit/>
          </a:bodyPr>
          <a:lstStyle/>
          <a:p>
            <a:pPr indent="0" lvl="0" marL="0" marR="0" rtl="0" algn="l">
              <a:lnSpc>
                <a:spcPct val="169851"/>
              </a:lnSpc>
              <a:spcBef>
                <a:spcPts val="0"/>
              </a:spcBef>
              <a:spcAft>
                <a:spcPts val="0"/>
              </a:spcAft>
              <a:buClr>
                <a:srgbClr val="B0B8C1"/>
              </a:buClr>
              <a:buSzPts val="942"/>
              <a:buFont typeface="Calibri"/>
              <a:buNone/>
            </a:pPr>
            <a:r>
              <a:rPr b="0" i="0" lang="en-US" sz="942" u="none" cap="none" strike="noStrike">
                <a:solidFill>
                  <a:srgbClr val="B0B8C1"/>
                </a:solidFill>
                <a:latin typeface="Calibri"/>
                <a:ea typeface="Calibri"/>
                <a:cs typeface="Calibri"/>
                <a:sym typeface="Calibri"/>
              </a:rPr>
              <a:t>Automatically converts incoming data into the Open Cybersecurity Schema Framework (OCSF). This eliminates the "Tower of Babel" problem, enabling unified analytics across all security tools.</a:t>
            </a:r>
            <a:endParaRPr b="0" i="0" sz="942" u="none" cap="none" strike="noStrike">
              <a:solidFill>
                <a:schemeClr val="dk1"/>
              </a:solidFill>
              <a:latin typeface="Calibri"/>
              <a:ea typeface="Calibri"/>
              <a:cs typeface="Calibri"/>
              <a:sym typeface="Calibri"/>
            </a:endParaRPr>
          </a:p>
        </p:txBody>
      </p:sp>
      <p:sp>
        <p:nvSpPr>
          <p:cNvPr id="74" name="Google Shape;74;p6"/>
          <p:cNvSpPr/>
          <p:nvPr/>
        </p:nvSpPr>
        <p:spPr>
          <a:xfrm>
            <a:off x="3286125" y="1466255"/>
            <a:ext cx="2571750" cy="3248620"/>
          </a:xfrm>
          <a:prstGeom prst="rect">
            <a:avLst/>
          </a:prstGeom>
          <a:solidFill>
            <a:srgbClr val="FFFFFF">
              <a:alpha val="470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6"/>
          <p:cNvSpPr/>
          <p:nvPr/>
        </p:nvSpPr>
        <p:spPr>
          <a:xfrm>
            <a:off x="3286125" y="1466255"/>
            <a:ext cx="2571750" cy="42863"/>
          </a:xfrm>
          <a:prstGeom prst="rect">
            <a:avLst/>
          </a:prstGeom>
          <a:solidFill>
            <a:srgbClr val="00D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6"/>
          <p:cNvSpPr/>
          <p:nvPr/>
        </p:nvSpPr>
        <p:spPr>
          <a:xfrm>
            <a:off x="3500438" y="1680567"/>
            <a:ext cx="2143125" cy="480027"/>
          </a:xfrm>
          <a:prstGeom prst="rect">
            <a:avLst/>
          </a:prstGeom>
          <a:noFill/>
          <a:ln>
            <a:noFill/>
          </a:ln>
        </p:spPr>
        <p:txBody>
          <a:bodyPr anchorCtr="0" anchor="t" bIns="0" lIns="0" spcFirstLastPara="1" rIns="0" wrap="square" tIns="0">
            <a:noAutofit/>
          </a:bodyPr>
          <a:lstStyle/>
          <a:p>
            <a:pPr indent="0" lvl="0" marL="0" marR="0" rtl="0" algn="l">
              <a:lnSpc>
                <a:spcPct val="136005"/>
              </a:lnSpc>
              <a:spcBef>
                <a:spcPts val="0"/>
              </a:spcBef>
              <a:spcAft>
                <a:spcPts val="0"/>
              </a:spcAft>
              <a:buClr>
                <a:srgbClr val="FFFFFF"/>
              </a:buClr>
              <a:buSzPts val="1397"/>
              <a:buFont typeface="Calibri"/>
              <a:buNone/>
            </a:pPr>
            <a:r>
              <a:rPr b="1" i="0" lang="en-US" sz="1397" u="none" cap="none" strike="noStrike">
                <a:solidFill>
                  <a:srgbClr val="FFFFFF"/>
                </a:solidFill>
                <a:latin typeface="Calibri"/>
                <a:ea typeface="Calibri"/>
                <a:cs typeface="Calibri"/>
                <a:sym typeface="Calibri"/>
              </a:rPr>
              <a:t>Zero-Parser Ingestion</a:t>
            </a:r>
            <a:endParaRPr b="0" i="0" sz="1397" u="none" cap="none" strike="noStrike">
              <a:solidFill>
                <a:schemeClr val="dk1"/>
              </a:solidFill>
              <a:latin typeface="Calibri"/>
              <a:ea typeface="Calibri"/>
              <a:cs typeface="Calibri"/>
              <a:sym typeface="Calibri"/>
            </a:endParaRPr>
          </a:p>
        </p:txBody>
      </p:sp>
      <p:sp>
        <p:nvSpPr>
          <p:cNvPr id="77" name="Google Shape;77;p6"/>
          <p:cNvSpPr/>
          <p:nvPr/>
        </p:nvSpPr>
        <p:spPr>
          <a:xfrm>
            <a:off x="3500438" y="2267750"/>
            <a:ext cx="2143125" cy="155377"/>
          </a:xfrm>
          <a:prstGeom prst="rect">
            <a:avLst/>
          </a:prstGeom>
          <a:noFill/>
          <a:ln>
            <a:noFill/>
          </a:ln>
        </p:spPr>
        <p:txBody>
          <a:bodyPr anchorCtr="0" anchor="t" bIns="0" lIns="0" spcFirstLastPara="1" rIns="0" wrap="square" tIns="0">
            <a:noAutofit/>
          </a:bodyPr>
          <a:lstStyle/>
          <a:p>
            <a:pPr indent="0" lvl="0" marL="0" marR="0" rtl="0" algn="l">
              <a:lnSpc>
                <a:spcPct val="140306"/>
              </a:lnSpc>
              <a:spcBef>
                <a:spcPts val="0"/>
              </a:spcBef>
              <a:spcAft>
                <a:spcPts val="0"/>
              </a:spcAft>
              <a:buClr>
                <a:srgbClr val="00D9FF"/>
              </a:buClr>
              <a:buSzPts val="784"/>
              <a:buFont typeface="Calibri"/>
              <a:buNone/>
            </a:pPr>
            <a:r>
              <a:rPr b="1" i="0" lang="en-US" sz="784" u="none" cap="none" strike="noStrike">
                <a:solidFill>
                  <a:srgbClr val="00D9FF"/>
                </a:solidFill>
                <a:latin typeface="Calibri"/>
                <a:ea typeface="Calibri"/>
                <a:cs typeface="Calibri"/>
                <a:sym typeface="Calibri"/>
              </a:rPr>
              <a:t>Automated Normalization</a:t>
            </a:r>
            <a:endParaRPr b="0" i="0" sz="784" u="none" cap="none" strike="noStrike">
              <a:solidFill>
                <a:schemeClr val="dk1"/>
              </a:solidFill>
              <a:latin typeface="Calibri"/>
              <a:ea typeface="Calibri"/>
              <a:cs typeface="Calibri"/>
              <a:sym typeface="Calibri"/>
            </a:endParaRPr>
          </a:p>
        </p:txBody>
      </p:sp>
      <p:sp>
        <p:nvSpPr>
          <p:cNvPr id="78" name="Google Shape;78;p6"/>
          <p:cNvSpPr/>
          <p:nvPr/>
        </p:nvSpPr>
        <p:spPr>
          <a:xfrm>
            <a:off x="3500438" y="2566002"/>
            <a:ext cx="2143125" cy="1234306"/>
          </a:xfrm>
          <a:prstGeom prst="rect">
            <a:avLst/>
          </a:prstGeom>
          <a:noFill/>
          <a:ln>
            <a:noFill/>
          </a:ln>
        </p:spPr>
        <p:txBody>
          <a:bodyPr anchorCtr="0" anchor="t" bIns="0" lIns="0" spcFirstLastPara="1" rIns="0" wrap="square" tIns="0">
            <a:noAutofit/>
          </a:bodyPr>
          <a:lstStyle/>
          <a:p>
            <a:pPr indent="0" lvl="0" marL="0" marR="0" rtl="0" algn="l">
              <a:lnSpc>
                <a:spcPct val="169851"/>
              </a:lnSpc>
              <a:spcBef>
                <a:spcPts val="0"/>
              </a:spcBef>
              <a:spcAft>
                <a:spcPts val="0"/>
              </a:spcAft>
              <a:buClr>
                <a:srgbClr val="B0B8C1"/>
              </a:buClr>
              <a:buSzPts val="942"/>
              <a:buFont typeface="Calibri"/>
              <a:buNone/>
            </a:pPr>
            <a:r>
              <a:rPr b="0" i="0" lang="en-US" sz="942" u="none" cap="none" strike="noStrike">
                <a:solidFill>
                  <a:srgbClr val="B0B8C1"/>
                </a:solidFill>
                <a:latin typeface="Calibri"/>
                <a:ea typeface="Calibri"/>
                <a:cs typeface="Calibri"/>
                <a:sym typeface="Calibri"/>
              </a:rPr>
              <a:t>Eliminates the need to write and maintain custom parsers. Native AWS services and partner data are ingested and normalized automatically, freeing engineers from data plumbing.</a:t>
            </a:r>
            <a:endParaRPr b="0" i="0" sz="942" u="none" cap="none" strike="noStrike">
              <a:solidFill>
                <a:schemeClr val="dk1"/>
              </a:solidFill>
              <a:latin typeface="Calibri"/>
              <a:ea typeface="Calibri"/>
              <a:cs typeface="Calibri"/>
              <a:sym typeface="Calibri"/>
            </a:endParaRPr>
          </a:p>
        </p:txBody>
      </p:sp>
      <p:sp>
        <p:nvSpPr>
          <p:cNvPr id="79" name="Google Shape;79;p6"/>
          <p:cNvSpPr/>
          <p:nvPr/>
        </p:nvSpPr>
        <p:spPr>
          <a:xfrm>
            <a:off x="6143625" y="1466255"/>
            <a:ext cx="2571750" cy="3248620"/>
          </a:xfrm>
          <a:prstGeom prst="rect">
            <a:avLst/>
          </a:prstGeom>
          <a:solidFill>
            <a:srgbClr val="FFFFFF">
              <a:alpha val="470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6"/>
          <p:cNvSpPr/>
          <p:nvPr/>
        </p:nvSpPr>
        <p:spPr>
          <a:xfrm>
            <a:off x="6143625" y="1466255"/>
            <a:ext cx="2571750" cy="42863"/>
          </a:xfrm>
          <a:prstGeom prst="rect">
            <a:avLst/>
          </a:prstGeom>
          <a:solidFill>
            <a:srgbClr val="FFD7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6"/>
          <p:cNvSpPr/>
          <p:nvPr/>
        </p:nvSpPr>
        <p:spPr>
          <a:xfrm>
            <a:off x="6357938" y="1680567"/>
            <a:ext cx="2143125" cy="240013"/>
          </a:xfrm>
          <a:prstGeom prst="rect">
            <a:avLst/>
          </a:prstGeom>
          <a:noFill/>
          <a:ln>
            <a:noFill/>
          </a:ln>
        </p:spPr>
        <p:txBody>
          <a:bodyPr anchorCtr="0" anchor="t" bIns="0" lIns="0" spcFirstLastPara="1" rIns="0" wrap="square" tIns="0">
            <a:noAutofit/>
          </a:bodyPr>
          <a:lstStyle/>
          <a:p>
            <a:pPr indent="0" lvl="0" marL="0" marR="0" rtl="0" algn="l">
              <a:lnSpc>
                <a:spcPct val="136005"/>
              </a:lnSpc>
              <a:spcBef>
                <a:spcPts val="0"/>
              </a:spcBef>
              <a:spcAft>
                <a:spcPts val="0"/>
              </a:spcAft>
              <a:buClr>
                <a:srgbClr val="FFFFFF"/>
              </a:buClr>
              <a:buSzPts val="1397"/>
              <a:buFont typeface="Calibri"/>
              <a:buNone/>
            </a:pPr>
            <a:r>
              <a:rPr b="1" i="0" lang="en-US" sz="1397" u="none" cap="none" strike="noStrike">
                <a:solidFill>
                  <a:srgbClr val="FFFFFF"/>
                </a:solidFill>
                <a:latin typeface="Calibri"/>
                <a:ea typeface="Calibri"/>
                <a:cs typeface="Calibri"/>
                <a:sym typeface="Calibri"/>
              </a:rPr>
              <a:t>Managed Platform</a:t>
            </a:r>
            <a:endParaRPr b="0" i="0" sz="1397" u="none" cap="none" strike="noStrike">
              <a:solidFill>
                <a:schemeClr val="dk1"/>
              </a:solidFill>
              <a:latin typeface="Calibri"/>
              <a:ea typeface="Calibri"/>
              <a:cs typeface="Calibri"/>
              <a:sym typeface="Calibri"/>
            </a:endParaRPr>
          </a:p>
        </p:txBody>
      </p:sp>
      <p:sp>
        <p:nvSpPr>
          <p:cNvPr id="82" name="Google Shape;82;p6"/>
          <p:cNvSpPr/>
          <p:nvPr/>
        </p:nvSpPr>
        <p:spPr>
          <a:xfrm>
            <a:off x="6357938" y="2027737"/>
            <a:ext cx="2143125" cy="155377"/>
          </a:xfrm>
          <a:prstGeom prst="rect">
            <a:avLst/>
          </a:prstGeom>
          <a:noFill/>
          <a:ln>
            <a:noFill/>
          </a:ln>
        </p:spPr>
        <p:txBody>
          <a:bodyPr anchorCtr="0" anchor="t" bIns="0" lIns="0" spcFirstLastPara="1" rIns="0" wrap="square" tIns="0">
            <a:noAutofit/>
          </a:bodyPr>
          <a:lstStyle/>
          <a:p>
            <a:pPr indent="0" lvl="0" marL="0" marR="0" rtl="0" algn="l">
              <a:lnSpc>
                <a:spcPct val="140306"/>
              </a:lnSpc>
              <a:spcBef>
                <a:spcPts val="0"/>
              </a:spcBef>
              <a:spcAft>
                <a:spcPts val="0"/>
              </a:spcAft>
              <a:buClr>
                <a:srgbClr val="FFD700"/>
              </a:buClr>
              <a:buSzPts val="784"/>
              <a:buFont typeface="Calibri"/>
              <a:buNone/>
            </a:pPr>
            <a:r>
              <a:rPr b="1" i="0" lang="en-US" sz="784" u="none" cap="none" strike="noStrike">
                <a:solidFill>
                  <a:srgbClr val="FFD700"/>
                </a:solidFill>
                <a:latin typeface="Calibri"/>
                <a:ea typeface="Calibri"/>
                <a:cs typeface="Calibri"/>
                <a:sym typeface="Calibri"/>
              </a:rPr>
              <a:t>Enterprise Scale</a:t>
            </a:r>
            <a:endParaRPr b="0" i="0" sz="784" u="none" cap="none" strike="noStrike">
              <a:solidFill>
                <a:schemeClr val="dk1"/>
              </a:solidFill>
              <a:latin typeface="Calibri"/>
              <a:ea typeface="Calibri"/>
              <a:cs typeface="Calibri"/>
              <a:sym typeface="Calibri"/>
            </a:endParaRPr>
          </a:p>
        </p:txBody>
      </p:sp>
      <p:sp>
        <p:nvSpPr>
          <p:cNvPr id="83" name="Google Shape;83;p6"/>
          <p:cNvSpPr/>
          <p:nvPr/>
        </p:nvSpPr>
        <p:spPr>
          <a:xfrm>
            <a:off x="6357938" y="2325988"/>
            <a:ext cx="2143125" cy="1234306"/>
          </a:xfrm>
          <a:prstGeom prst="rect">
            <a:avLst/>
          </a:prstGeom>
          <a:noFill/>
          <a:ln>
            <a:noFill/>
          </a:ln>
        </p:spPr>
        <p:txBody>
          <a:bodyPr anchorCtr="0" anchor="t" bIns="0" lIns="0" spcFirstLastPara="1" rIns="0" wrap="square" tIns="0">
            <a:noAutofit/>
          </a:bodyPr>
          <a:lstStyle/>
          <a:p>
            <a:pPr indent="0" lvl="0" marL="0" marR="0" rtl="0" algn="l">
              <a:lnSpc>
                <a:spcPct val="169851"/>
              </a:lnSpc>
              <a:spcBef>
                <a:spcPts val="0"/>
              </a:spcBef>
              <a:spcAft>
                <a:spcPts val="0"/>
              </a:spcAft>
              <a:buClr>
                <a:srgbClr val="B0B8C1"/>
              </a:buClr>
              <a:buSzPts val="942"/>
              <a:buFont typeface="Calibri"/>
              <a:buNone/>
            </a:pPr>
            <a:r>
              <a:rPr b="0" i="0" lang="en-US" sz="942" u="none" cap="none" strike="noStrike">
                <a:solidFill>
                  <a:srgbClr val="B0B8C1"/>
                </a:solidFill>
                <a:latin typeface="Calibri"/>
                <a:ea typeface="Calibri"/>
                <a:cs typeface="Calibri"/>
                <a:sym typeface="Calibri"/>
              </a:rPr>
              <a:t>Built on Amazon S3 and AWS Organizations, it centralizes data from hundreds of accounts and regions into a single, scalable data lake with automated lifecycle management.</a:t>
            </a:r>
            <a:endParaRPr b="0" i="0" sz="942"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pic>
        <p:nvPicPr>
          <p:cNvPr descr="preencoded.png" id="89" name="Google Shape;89;p7"/>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90" name="Google Shape;90;p7"/>
          <p:cNvSpPr/>
          <p:nvPr/>
        </p:nvSpPr>
        <p:spPr>
          <a:xfrm>
            <a:off x="428625" y="428625"/>
            <a:ext cx="8286750" cy="623292"/>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7"/>
          <p:cNvSpPr/>
          <p:nvPr/>
        </p:nvSpPr>
        <p:spPr>
          <a:xfrm>
            <a:off x="428625" y="1037630"/>
            <a:ext cx="8286750" cy="14288"/>
          </a:xfrm>
          <a:prstGeom prst="rect">
            <a:avLst/>
          </a:prstGeom>
          <a:solidFill>
            <a:srgbClr val="00D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7"/>
          <p:cNvSpPr/>
          <p:nvPr/>
        </p:nvSpPr>
        <p:spPr>
          <a:xfrm>
            <a:off x="428625" y="428625"/>
            <a:ext cx="8286750" cy="466130"/>
          </a:xfrm>
          <a:prstGeom prst="rect">
            <a:avLst/>
          </a:prstGeom>
          <a:noFill/>
          <a:ln>
            <a:noFill/>
          </a:ln>
        </p:spPr>
        <p:txBody>
          <a:bodyPr anchorCtr="0" anchor="t" bIns="0" lIns="0" spcFirstLastPara="1" rIns="0" wrap="square" tIns="0">
            <a:noAutofit/>
          </a:bodyPr>
          <a:lstStyle/>
          <a:p>
            <a:pPr indent="0" lvl="0" marL="0" marR="0" rtl="0" algn="l">
              <a:lnSpc>
                <a:spcPct val="131362"/>
              </a:lnSpc>
              <a:spcBef>
                <a:spcPts val="0"/>
              </a:spcBef>
              <a:spcAft>
                <a:spcPts val="0"/>
              </a:spcAft>
              <a:buClr>
                <a:srgbClr val="00D9FF"/>
              </a:buClr>
              <a:buSzPts val="2436"/>
              <a:buFont typeface="Calibri"/>
              <a:buNone/>
            </a:pPr>
            <a:r>
              <a:rPr b="1" i="0" lang="en-US" sz="2436" u="none" cap="none" strike="noStrike">
                <a:solidFill>
                  <a:srgbClr val="00D9FF"/>
                </a:solidFill>
                <a:latin typeface="Calibri"/>
                <a:ea typeface="Calibri"/>
                <a:cs typeface="Calibri"/>
                <a:sym typeface="Calibri"/>
              </a:rPr>
              <a:t>Modern Architecture with AWS Security Lake</a:t>
            </a:r>
            <a:endParaRPr b="0" i="0" sz="2436" u="none" cap="none" strike="noStrike">
              <a:solidFill>
                <a:schemeClr val="dk1"/>
              </a:solidFill>
              <a:latin typeface="Calibri"/>
              <a:ea typeface="Calibri"/>
              <a:cs typeface="Calibri"/>
              <a:sym typeface="Calibri"/>
            </a:endParaRPr>
          </a:p>
        </p:txBody>
      </p:sp>
      <p:sp>
        <p:nvSpPr>
          <p:cNvPr id="93" name="Google Shape;93;p7"/>
          <p:cNvSpPr/>
          <p:nvPr/>
        </p:nvSpPr>
        <p:spPr>
          <a:xfrm>
            <a:off x="428625" y="1411784"/>
            <a:ext cx="5715000" cy="3214688"/>
          </a:xfrm>
          <a:prstGeom prst="rect">
            <a:avLst/>
          </a:prstGeom>
          <a:solidFill>
            <a:srgbClr val="FFFFFF"/>
          </a:solidFill>
          <a:ln cap="flat" cmpd="sng" w="952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94" name="Google Shape;94;p7"/>
          <p:cNvPicPr preferRelativeResize="0"/>
          <p:nvPr/>
        </p:nvPicPr>
        <p:blipFill rotWithShape="1">
          <a:blip r:embed="rId4">
            <a:alphaModFix/>
          </a:blip>
          <a:srcRect b="0" l="0" r="0" t="0"/>
          <a:stretch/>
        </p:blipFill>
        <p:spPr>
          <a:xfrm>
            <a:off x="1227944" y="1554659"/>
            <a:ext cx="4116335" cy="2928910"/>
          </a:xfrm>
          <a:prstGeom prst="rect">
            <a:avLst/>
          </a:prstGeom>
          <a:noFill/>
          <a:ln>
            <a:noFill/>
          </a:ln>
        </p:spPr>
      </p:pic>
      <p:sp>
        <p:nvSpPr>
          <p:cNvPr id="95" name="Google Shape;95;p7"/>
          <p:cNvSpPr/>
          <p:nvPr/>
        </p:nvSpPr>
        <p:spPr>
          <a:xfrm>
            <a:off x="6429375" y="1991320"/>
            <a:ext cx="2286000" cy="2055614"/>
          </a:xfrm>
          <a:prstGeom prst="rect">
            <a:avLst/>
          </a:prstGeom>
          <a:solidFill>
            <a:srgbClr val="00D9FF">
              <a:alpha val="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7"/>
          <p:cNvSpPr/>
          <p:nvPr/>
        </p:nvSpPr>
        <p:spPr>
          <a:xfrm>
            <a:off x="6429375" y="1991320"/>
            <a:ext cx="28575" cy="2055614"/>
          </a:xfrm>
          <a:prstGeom prst="rect">
            <a:avLst/>
          </a:prstGeom>
          <a:solidFill>
            <a:srgbClr val="00D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7"/>
          <p:cNvSpPr/>
          <p:nvPr/>
        </p:nvSpPr>
        <p:spPr>
          <a:xfrm>
            <a:off x="6643688" y="2205633"/>
            <a:ext cx="1857375" cy="233958"/>
          </a:xfrm>
          <a:prstGeom prst="rect">
            <a:avLst/>
          </a:prstGeom>
          <a:noFill/>
          <a:ln>
            <a:noFill/>
          </a:ln>
        </p:spPr>
        <p:txBody>
          <a:bodyPr anchorCtr="0" anchor="t" bIns="0" lIns="0" spcFirstLastPara="1" rIns="0" wrap="square" tIns="0">
            <a:noAutofit/>
          </a:bodyPr>
          <a:lstStyle/>
          <a:p>
            <a:pPr indent="0" lvl="0" marL="0" marR="0" rtl="0" algn="l">
              <a:lnSpc>
                <a:spcPct val="134115"/>
              </a:lnSpc>
              <a:spcBef>
                <a:spcPts val="0"/>
              </a:spcBef>
              <a:spcAft>
                <a:spcPts val="0"/>
              </a:spcAft>
              <a:buClr>
                <a:srgbClr val="00D9FF"/>
              </a:buClr>
              <a:buSzPts val="1193"/>
              <a:buFont typeface="Calibri"/>
              <a:buNone/>
            </a:pPr>
            <a:r>
              <a:rPr b="1" i="0" lang="en-US" sz="1193" u="none" cap="none" strike="noStrike">
                <a:solidFill>
                  <a:srgbClr val="00D9FF"/>
                </a:solidFill>
                <a:latin typeface="Calibri"/>
                <a:ea typeface="Calibri"/>
                <a:cs typeface="Calibri"/>
                <a:sym typeface="Calibri"/>
              </a:rPr>
              <a:t>Unified &amp; Automated</a:t>
            </a:r>
            <a:endParaRPr b="0" i="0" sz="1193" u="none" cap="none" strike="noStrike">
              <a:solidFill>
                <a:schemeClr val="dk1"/>
              </a:solidFill>
              <a:latin typeface="Calibri"/>
              <a:ea typeface="Calibri"/>
              <a:cs typeface="Calibri"/>
              <a:sym typeface="Calibri"/>
            </a:endParaRPr>
          </a:p>
        </p:txBody>
      </p:sp>
      <p:sp>
        <p:nvSpPr>
          <p:cNvPr id="98" name="Google Shape;98;p7"/>
          <p:cNvSpPr/>
          <p:nvPr/>
        </p:nvSpPr>
        <p:spPr>
          <a:xfrm>
            <a:off x="6643688" y="2546747"/>
            <a:ext cx="1857375" cy="1285875"/>
          </a:xfrm>
          <a:prstGeom prst="rect">
            <a:avLst/>
          </a:prstGeom>
          <a:noFill/>
          <a:ln>
            <a:noFill/>
          </a:ln>
        </p:spPr>
        <p:txBody>
          <a:bodyPr anchorCtr="0" anchor="t" bIns="0" lIns="0" spcFirstLastPara="1" rIns="0" wrap="square" tIns="0">
            <a:noAutofit/>
          </a:bodyPr>
          <a:lstStyle/>
          <a:p>
            <a:pPr indent="0" lvl="0" marL="0" marR="0" rtl="0" algn="l">
              <a:lnSpc>
                <a:spcPct val="161904"/>
              </a:lnSpc>
              <a:spcBef>
                <a:spcPts val="0"/>
              </a:spcBef>
              <a:spcAft>
                <a:spcPts val="0"/>
              </a:spcAft>
              <a:buClr>
                <a:srgbClr val="FFFFFF"/>
              </a:buClr>
              <a:buSzPts val="1050"/>
              <a:buFont typeface="Calibri"/>
              <a:buNone/>
            </a:pPr>
            <a:r>
              <a:rPr b="0" i="0" lang="en-US" sz="1050" u="none" cap="none" strike="noStrike">
                <a:solidFill>
                  <a:srgbClr val="FFFFFF"/>
                </a:solidFill>
                <a:latin typeface="Calibri"/>
                <a:ea typeface="Calibri"/>
                <a:cs typeface="Calibri"/>
                <a:sym typeface="Calibri"/>
              </a:rPr>
              <a:t>Data is normalized to OCSF once and becomes instantly available to all downstream analytics and AI tools. No more silos, no more custom parsers.</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pic>
        <p:nvPicPr>
          <p:cNvPr descr="preencoded.png" id="104" name="Google Shape;104;p8"/>
          <p:cNvPicPr preferRelativeResize="0"/>
          <p:nvPr/>
        </p:nvPicPr>
        <p:blipFill rotWithShape="1">
          <a:blip r:embed="rId3">
            <a:alphaModFix/>
          </a:blip>
          <a:srcRect b="0" l="0" r="0" t="0"/>
          <a:stretch/>
        </p:blipFill>
        <p:spPr>
          <a:xfrm>
            <a:off x="0" y="0"/>
            <a:ext cx="9144000" cy="5539978"/>
          </a:xfrm>
          <a:prstGeom prst="rect">
            <a:avLst/>
          </a:prstGeom>
          <a:noFill/>
          <a:ln>
            <a:noFill/>
          </a:ln>
        </p:spPr>
      </p:pic>
      <p:sp>
        <p:nvSpPr>
          <p:cNvPr id="105" name="Google Shape;105;p8"/>
          <p:cNvSpPr/>
          <p:nvPr/>
        </p:nvSpPr>
        <p:spPr>
          <a:xfrm>
            <a:off x="428625" y="428625"/>
            <a:ext cx="8286750" cy="1089422"/>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8"/>
          <p:cNvSpPr/>
          <p:nvPr/>
        </p:nvSpPr>
        <p:spPr>
          <a:xfrm>
            <a:off x="428625" y="1503759"/>
            <a:ext cx="8286750" cy="14288"/>
          </a:xfrm>
          <a:prstGeom prst="rect">
            <a:avLst/>
          </a:prstGeom>
          <a:solidFill>
            <a:srgbClr val="00D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8"/>
          <p:cNvSpPr/>
          <p:nvPr/>
        </p:nvSpPr>
        <p:spPr>
          <a:xfrm>
            <a:off x="428625" y="428625"/>
            <a:ext cx="8286750" cy="932259"/>
          </a:xfrm>
          <a:prstGeom prst="rect">
            <a:avLst/>
          </a:prstGeom>
          <a:noFill/>
          <a:ln>
            <a:noFill/>
          </a:ln>
        </p:spPr>
        <p:txBody>
          <a:bodyPr anchorCtr="0" anchor="t" bIns="0" lIns="0" spcFirstLastPara="1" rIns="0" wrap="square" tIns="0">
            <a:noAutofit/>
          </a:bodyPr>
          <a:lstStyle/>
          <a:p>
            <a:pPr indent="0" lvl="0" marL="0" marR="0" rtl="0" algn="l">
              <a:lnSpc>
                <a:spcPct val="131362"/>
              </a:lnSpc>
              <a:spcBef>
                <a:spcPts val="0"/>
              </a:spcBef>
              <a:spcAft>
                <a:spcPts val="0"/>
              </a:spcAft>
              <a:buClr>
                <a:srgbClr val="00D9FF"/>
              </a:buClr>
              <a:buSzPts val="2436"/>
              <a:buFont typeface="Calibri"/>
              <a:buNone/>
            </a:pPr>
            <a:r>
              <a:rPr b="1" i="0" lang="en-US" sz="2436" u="none" cap="none" strike="noStrike">
                <a:solidFill>
                  <a:srgbClr val="00D9FF"/>
                </a:solidFill>
                <a:latin typeface="Calibri"/>
                <a:ea typeface="Calibri"/>
                <a:cs typeface="Calibri"/>
                <a:sym typeface="Calibri"/>
              </a:rPr>
              <a:t>Native AWS Data Sources Available Out-of-the-Box</a:t>
            </a:r>
            <a:endParaRPr b="0" i="0" sz="2436" u="none" cap="none" strike="noStrike">
              <a:solidFill>
                <a:schemeClr val="dk1"/>
              </a:solidFill>
              <a:latin typeface="Calibri"/>
              <a:ea typeface="Calibri"/>
              <a:cs typeface="Calibri"/>
              <a:sym typeface="Calibri"/>
            </a:endParaRPr>
          </a:p>
        </p:txBody>
      </p:sp>
      <p:sp>
        <p:nvSpPr>
          <p:cNvPr id="108" name="Google Shape;108;p8"/>
          <p:cNvSpPr/>
          <p:nvPr/>
        </p:nvSpPr>
        <p:spPr>
          <a:xfrm>
            <a:off x="428625" y="2032397"/>
            <a:ext cx="2524116" cy="273248"/>
          </a:xfrm>
          <a:prstGeom prst="rect">
            <a:avLst/>
          </a:prstGeom>
          <a:noFill/>
          <a:ln>
            <a:noFill/>
          </a:ln>
        </p:spPr>
        <p:txBody>
          <a:bodyPr anchorCtr="0" anchor="t" bIns="0" lIns="0" spcFirstLastPara="1" rIns="0" wrap="square" tIns="0">
            <a:noAutofit/>
          </a:bodyPr>
          <a:lstStyle/>
          <a:p>
            <a:pPr indent="0" lvl="0" marL="0" marR="0" rtl="0" algn="l">
              <a:lnSpc>
                <a:spcPct val="136005"/>
              </a:lnSpc>
              <a:spcBef>
                <a:spcPts val="0"/>
              </a:spcBef>
              <a:spcAft>
                <a:spcPts val="0"/>
              </a:spcAft>
              <a:buClr>
                <a:srgbClr val="FFFFFF"/>
              </a:buClr>
              <a:buSzPts val="1397"/>
              <a:buFont typeface="Calibri"/>
              <a:buNone/>
            </a:pPr>
            <a:r>
              <a:rPr b="1" i="0" lang="en-US" sz="1397" u="none" cap="none" strike="noStrike">
                <a:solidFill>
                  <a:srgbClr val="FFFFFF"/>
                </a:solidFill>
                <a:latin typeface="Calibri"/>
                <a:ea typeface="Calibri"/>
                <a:cs typeface="Calibri"/>
                <a:sym typeface="Calibri"/>
              </a:rPr>
              <a:t>AWS CloudTrail</a:t>
            </a:r>
            <a:endParaRPr b="0" i="0" sz="1397" u="none" cap="none" strike="noStrike">
              <a:solidFill>
                <a:schemeClr val="dk1"/>
              </a:solidFill>
              <a:latin typeface="Calibri"/>
              <a:ea typeface="Calibri"/>
              <a:cs typeface="Calibri"/>
              <a:sym typeface="Calibri"/>
            </a:endParaRPr>
          </a:p>
        </p:txBody>
      </p:sp>
      <p:sp>
        <p:nvSpPr>
          <p:cNvPr id="109" name="Google Shape;109;p8"/>
          <p:cNvSpPr/>
          <p:nvPr/>
        </p:nvSpPr>
        <p:spPr>
          <a:xfrm>
            <a:off x="428625" y="2412802"/>
            <a:ext cx="2524116" cy="578644"/>
          </a:xfrm>
          <a:prstGeom prst="rect">
            <a:avLst/>
          </a:prstGeom>
          <a:noFill/>
          <a:ln>
            <a:noFill/>
          </a:ln>
        </p:spPr>
        <p:txBody>
          <a:bodyPr anchorCtr="0" anchor="t" bIns="0" lIns="0" spcFirstLastPara="1" rIns="0" wrap="square" tIns="0">
            <a:noAutofit/>
          </a:bodyPr>
          <a:lstStyle/>
          <a:p>
            <a:pPr indent="0" lvl="0" marL="0" marR="0" rtl="0" algn="l">
              <a:lnSpc>
                <a:spcPct val="159235"/>
              </a:lnSpc>
              <a:spcBef>
                <a:spcPts val="0"/>
              </a:spcBef>
              <a:spcAft>
                <a:spcPts val="0"/>
              </a:spcAft>
              <a:buClr>
                <a:srgbClr val="B0B8C1"/>
              </a:buClr>
              <a:buSzPts val="942"/>
              <a:buFont typeface="Calibri"/>
              <a:buNone/>
            </a:pPr>
            <a:r>
              <a:rPr b="0" i="0" lang="en-US" sz="942" u="none" cap="none" strike="noStrike">
                <a:solidFill>
                  <a:srgbClr val="B0B8C1"/>
                </a:solidFill>
                <a:latin typeface="Calibri"/>
                <a:ea typeface="Calibri"/>
                <a:cs typeface="Calibri"/>
                <a:sym typeface="Calibri"/>
              </a:rPr>
              <a:t>Complete API activity tracking across all AWS services, providing the backbone for auditing and compliance.</a:t>
            </a:r>
            <a:endParaRPr b="0" i="0" sz="942" u="none" cap="none" strike="noStrike">
              <a:solidFill>
                <a:schemeClr val="dk1"/>
              </a:solidFill>
              <a:latin typeface="Calibri"/>
              <a:ea typeface="Calibri"/>
              <a:cs typeface="Calibri"/>
              <a:sym typeface="Calibri"/>
            </a:endParaRPr>
          </a:p>
        </p:txBody>
      </p:sp>
      <p:sp>
        <p:nvSpPr>
          <p:cNvPr id="110" name="Google Shape;110;p8"/>
          <p:cNvSpPr/>
          <p:nvPr/>
        </p:nvSpPr>
        <p:spPr>
          <a:xfrm>
            <a:off x="3309928" y="2032397"/>
            <a:ext cx="2524116" cy="273248"/>
          </a:xfrm>
          <a:prstGeom prst="rect">
            <a:avLst/>
          </a:prstGeom>
          <a:noFill/>
          <a:ln>
            <a:noFill/>
          </a:ln>
        </p:spPr>
        <p:txBody>
          <a:bodyPr anchorCtr="0" anchor="t" bIns="0" lIns="0" spcFirstLastPara="1" rIns="0" wrap="square" tIns="0">
            <a:noAutofit/>
          </a:bodyPr>
          <a:lstStyle/>
          <a:p>
            <a:pPr indent="0" lvl="0" marL="0" marR="0" rtl="0" algn="l">
              <a:lnSpc>
                <a:spcPct val="136005"/>
              </a:lnSpc>
              <a:spcBef>
                <a:spcPts val="0"/>
              </a:spcBef>
              <a:spcAft>
                <a:spcPts val="0"/>
              </a:spcAft>
              <a:buClr>
                <a:srgbClr val="FFFFFF"/>
              </a:buClr>
              <a:buSzPts val="1397"/>
              <a:buFont typeface="Calibri"/>
              <a:buNone/>
            </a:pPr>
            <a:r>
              <a:rPr b="1" i="0" lang="en-US" sz="1397" u="none" cap="none" strike="noStrike">
                <a:solidFill>
                  <a:srgbClr val="FFFFFF"/>
                </a:solidFill>
                <a:latin typeface="Calibri"/>
                <a:ea typeface="Calibri"/>
                <a:cs typeface="Calibri"/>
                <a:sym typeface="Calibri"/>
              </a:rPr>
              <a:t>Amazon VPC Flow Logs</a:t>
            </a:r>
            <a:endParaRPr b="0" i="0" sz="1397" u="none" cap="none" strike="noStrike">
              <a:solidFill>
                <a:schemeClr val="dk1"/>
              </a:solidFill>
              <a:latin typeface="Calibri"/>
              <a:ea typeface="Calibri"/>
              <a:cs typeface="Calibri"/>
              <a:sym typeface="Calibri"/>
            </a:endParaRPr>
          </a:p>
        </p:txBody>
      </p:sp>
      <p:sp>
        <p:nvSpPr>
          <p:cNvPr id="111" name="Google Shape;111;p8"/>
          <p:cNvSpPr/>
          <p:nvPr/>
        </p:nvSpPr>
        <p:spPr>
          <a:xfrm>
            <a:off x="3309928" y="2412802"/>
            <a:ext cx="2524116" cy="578644"/>
          </a:xfrm>
          <a:prstGeom prst="rect">
            <a:avLst/>
          </a:prstGeom>
          <a:noFill/>
          <a:ln>
            <a:noFill/>
          </a:ln>
        </p:spPr>
        <p:txBody>
          <a:bodyPr anchorCtr="0" anchor="t" bIns="0" lIns="0" spcFirstLastPara="1" rIns="0" wrap="square" tIns="0">
            <a:noAutofit/>
          </a:bodyPr>
          <a:lstStyle/>
          <a:p>
            <a:pPr indent="0" lvl="0" marL="0" marR="0" rtl="0" algn="l">
              <a:lnSpc>
                <a:spcPct val="159235"/>
              </a:lnSpc>
              <a:spcBef>
                <a:spcPts val="0"/>
              </a:spcBef>
              <a:spcAft>
                <a:spcPts val="0"/>
              </a:spcAft>
              <a:buClr>
                <a:srgbClr val="B0B8C1"/>
              </a:buClr>
              <a:buSzPts val="942"/>
              <a:buFont typeface="Calibri"/>
              <a:buNone/>
            </a:pPr>
            <a:r>
              <a:rPr b="0" i="0" lang="en-US" sz="942" u="none" cap="none" strike="noStrike">
                <a:solidFill>
                  <a:srgbClr val="B0B8C1"/>
                </a:solidFill>
                <a:latin typeface="Calibri"/>
                <a:ea typeface="Calibri"/>
                <a:cs typeface="Calibri"/>
                <a:sym typeface="Calibri"/>
              </a:rPr>
              <a:t>Detailed visibility into network traffic patterns and anomalies to detect potential network-based threats.</a:t>
            </a:r>
            <a:endParaRPr b="0" i="0" sz="942" u="none" cap="none" strike="noStrike">
              <a:solidFill>
                <a:schemeClr val="dk1"/>
              </a:solidFill>
              <a:latin typeface="Calibri"/>
              <a:ea typeface="Calibri"/>
              <a:cs typeface="Calibri"/>
              <a:sym typeface="Calibri"/>
            </a:endParaRPr>
          </a:p>
        </p:txBody>
      </p:sp>
      <p:sp>
        <p:nvSpPr>
          <p:cNvPr id="112" name="Google Shape;112;p8"/>
          <p:cNvSpPr/>
          <p:nvPr/>
        </p:nvSpPr>
        <p:spPr>
          <a:xfrm>
            <a:off x="6191231" y="2032397"/>
            <a:ext cx="2524144" cy="546497"/>
          </a:xfrm>
          <a:prstGeom prst="rect">
            <a:avLst/>
          </a:prstGeom>
          <a:noFill/>
          <a:ln>
            <a:noFill/>
          </a:ln>
        </p:spPr>
        <p:txBody>
          <a:bodyPr anchorCtr="0" anchor="t" bIns="0" lIns="0" spcFirstLastPara="1" rIns="0" wrap="square" tIns="0">
            <a:noAutofit/>
          </a:bodyPr>
          <a:lstStyle/>
          <a:p>
            <a:pPr indent="0" lvl="0" marL="0" marR="0" rtl="0" algn="l">
              <a:lnSpc>
                <a:spcPct val="136005"/>
              </a:lnSpc>
              <a:spcBef>
                <a:spcPts val="0"/>
              </a:spcBef>
              <a:spcAft>
                <a:spcPts val="0"/>
              </a:spcAft>
              <a:buClr>
                <a:srgbClr val="FFFFFF"/>
              </a:buClr>
              <a:buSzPts val="1397"/>
              <a:buFont typeface="Calibri"/>
              <a:buNone/>
            </a:pPr>
            <a:r>
              <a:rPr b="1" i="0" lang="en-US" sz="1397" u="none" cap="none" strike="noStrike">
                <a:solidFill>
                  <a:srgbClr val="FFFFFF"/>
                </a:solidFill>
                <a:latin typeface="Calibri"/>
                <a:ea typeface="Calibri"/>
                <a:cs typeface="Calibri"/>
                <a:sym typeface="Calibri"/>
              </a:rPr>
              <a:t>Amazon S3 Server Access Logs</a:t>
            </a:r>
            <a:endParaRPr b="0" i="0" sz="1397" u="none" cap="none" strike="noStrike">
              <a:solidFill>
                <a:schemeClr val="dk1"/>
              </a:solidFill>
              <a:latin typeface="Calibri"/>
              <a:ea typeface="Calibri"/>
              <a:cs typeface="Calibri"/>
              <a:sym typeface="Calibri"/>
            </a:endParaRPr>
          </a:p>
        </p:txBody>
      </p:sp>
      <p:sp>
        <p:nvSpPr>
          <p:cNvPr id="113" name="Google Shape;113;p8"/>
          <p:cNvSpPr/>
          <p:nvPr/>
        </p:nvSpPr>
        <p:spPr>
          <a:xfrm>
            <a:off x="6191231" y="2686050"/>
            <a:ext cx="2524144" cy="578644"/>
          </a:xfrm>
          <a:prstGeom prst="rect">
            <a:avLst/>
          </a:prstGeom>
          <a:noFill/>
          <a:ln>
            <a:noFill/>
          </a:ln>
        </p:spPr>
        <p:txBody>
          <a:bodyPr anchorCtr="0" anchor="t" bIns="0" lIns="0" spcFirstLastPara="1" rIns="0" wrap="square" tIns="0">
            <a:noAutofit/>
          </a:bodyPr>
          <a:lstStyle/>
          <a:p>
            <a:pPr indent="0" lvl="0" marL="0" marR="0" rtl="0" algn="l">
              <a:lnSpc>
                <a:spcPct val="159235"/>
              </a:lnSpc>
              <a:spcBef>
                <a:spcPts val="0"/>
              </a:spcBef>
              <a:spcAft>
                <a:spcPts val="0"/>
              </a:spcAft>
              <a:buClr>
                <a:srgbClr val="B0B8C1"/>
              </a:buClr>
              <a:buSzPts val="942"/>
              <a:buFont typeface="Calibri"/>
              <a:buNone/>
            </a:pPr>
            <a:r>
              <a:rPr b="0" i="0" lang="en-US" sz="942" u="none" cap="none" strike="noStrike">
                <a:solidFill>
                  <a:srgbClr val="B0B8C1"/>
                </a:solidFill>
                <a:latin typeface="Calibri"/>
                <a:ea typeface="Calibri"/>
                <a:cs typeface="Calibri"/>
                <a:sym typeface="Calibri"/>
              </a:rPr>
              <a:t>Granular object-level access tracking to monitor data access patterns and detect potential exfiltration.</a:t>
            </a:r>
            <a:endParaRPr b="0" i="0" sz="942" u="none" cap="none" strike="noStrike">
              <a:solidFill>
                <a:schemeClr val="dk1"/>
              </a:solidFill>
              <a:latin typeface="Calibri"/>
              <a:ea typeface="Calibri"/>
              <a:cs typeface="Calibri"/>
              <a:sym typeface="Calibri"/>
            </a:endParaRPr>
          </a:p>
        </p:txBody>
      </p:sp>
      <p:sp>
        <p:nvSpPr>
          <p:cNvPr id="114" name="Google Shape;114;p8"/>
          <p:cNvSpPr/>
          <p:nvPr/>
        </p:nvSpPr>
        <p:spPr>
          <a:xfrm>
            <a:off x="428625" y="3864769"/>
            <a:ext cx="2524116" cy="546497"/>
          </a:xfrm>
          <a:prstGeom prst="rect">
            <a:avLst/>
          </a:prstGeom>
          <a:noFill/>
          <a:ln>
            <a:noFill/>
          </a:ln>
        </p:spPr>
        <p:txBody>
          <a:bodyPr anchorCtr="0" anchor="t" bIns="0" lIns="0" spcFirstLastPara="1" rIns="0" wrap="square" tIns="0">
            <a:noAutofit/>
          </a:bodyPr>
          <a:lstStyle/>
          <a:p>
            <a:pPr indent="0" lvl="0" marL="0" marR="0" rtl="0" algn="l">
              <a:lnSpc>
                <a:spcPct val="136005"/>
              </a:lnSpc>
              <a:spcBef>
                <a:spcPts val="0"/>
              </a:spcBef>
              <a:spcAft>
                <a:spcPts val="0"/>
              </a:spcAft>
              <a:buClr>
                <a:srgbClr val="FFFFFF"/>
              </a:buClr>
              <a:buSzPts val="1397"/>
              <a:buFont typeface="Calibri"/>
              <a:buNone/>
            </a:pPr>
            <a:r>
              <a:rPr b="1" i="0" lang="en-US" sz="1397" u="none" cap="none" strike="noStrike">
                <a:solidFill>
                  <a:srgbClr val="FFFFFF"/>
                </a:solidFill>
                <a:latin typeface="Calibri"/>
                <a:ea typeface="Calibri"/>
                <a:cs typeface="Calibri"/>
                <a:sym typeface="Calibri"/>
              </a:rPr>
              <a:t>AWS Security Hub Findings</a:t>
            </a:r>
            <a:endParaRPr b="0" i="0" sz="1397" u="none" cap="none" strike="noStrike">
              <a:solidFill>
                <a:schemeClr val="dk1"/>
              </a:solidFill>
              <a:latin typeface="Calibri"/>
              <a:ea typeface="Calibri"/>
              <a:cs typeface="Calibri"/>
              <a:sym typeface="Calibri"/>
            </a:endParaRPr>
          </a:p>
        </p:txBody>
      </p:sp>
      <p:sp>
        <p:nvSpPr>
          <p:cNvPr id="115" name="Google Shape;115;p8"/>
          <p:cNvSpPr/>
          <p:nvPr/>
        </p:nvSpPr>
        <p:spPr>
          <a:xfrm>
            <a:off x="428625" y="4518422"/>
            <a:ext cx="2524116" cy="578644"/>
          </a:xfrm>
          <a:prstGeom prst="rect">
            <a:avLst/>
          </a:prstGeom>
          <a:noFill/>
          <a:ln>
            <a:noFill/>
          </a:ln>
        </p:spPr>
        <p:txBody>
          <a:bodyPr anchorCtr="0" anchor="t" bIns="0" lIns="0" spcFirstLastPara="1" rIns="0" wrap="square" tIns="0">
            <a:noAutofit/>
          </a:bodyPr>
          <a:lstStyle/>
          <a:p>
            <a:pPr indent="0" lvl="0" marL="0" marR="0" rtl="0" algn="l">
              <a:lnSpc>
                <a:spcPct val="159235"/>
              </a:lnSpc>
              <a:spcBef>
                <a:spcPts val="0"/>
              </a:spcBef>
              <a:spcAft>
                <a:spcPts val="0"/>
              </a:spcAft>
              <a:buClr>
                <a:srgbClr val="B0B8C1"/>
              </a:buClr>
              <a:buSzPts val="942"/>
              <a:buFont typeface="Calibri"/>
              <a:buNone/>
            </a:pPr>
            <a:r>
              <a:rPr b="0" i="0" lang="en-US" sz="942" u="none" cap="none" strike="noStrike">
                <a:solidFill>
                  <a:srgbClr val="B0B8C1"/>
                </a:solidFill>
                <a:latin typeface="Calibri"/>
                <a:ea typeface="Calibri"/>
                <a:cs typeface="Calibri"/>
                <a:sym typeface="Calibri"/>
              </a:rPr>
              <a:t>Aggregated security alerts and compliance status from over 50 AWS services and partner solutions.</a:t>
            </a:r>
            <a:endParaRPr b="0" i="0" sz="942" u="none" cap="none" strike="noStrike">
              <a:solidFill>
                <a:schemeClr val="dk1"/>
              </a:solidFill>
              <a:latin typeface="Calibri"/>
              <a:ea typeface="Calibri"/>
              <a:cs typeface="Calibri"/>
              <a:sym typeface="Calibri"/>
            </a:endParaRPr>
          </a:p>
        </p:txBody>
      </p:sp>
      <p:sp>
        <p:nvSpPr>
          <p:cNvPr id="116" name="Google Shape;116;p8"/>
          <p:cNvSpPr/>
          <p:nvPr/>
        </p:nvSpPr>
        <p:spPr>
          <a:xfrm>
            <a:off x="3309928" y="3864769"/>
            <a:ext cx="2524116" cy="273248"/>
          </a:xfrm>
          <a:prstGeom prst="rect">
            <a:avLst/>
          </a:prstGeom>
          <a:noFill/>
          <a:ln>
            <a:noFill/>
          </a:ln>
        </p:spPr>
        <p:txBody>
          <a:bodyPr anchorCtr="0" anchor="t" bIns="0" lIns="0" spcFirstLastPara="1" rIns="0" wrap="square" tIns="0">
            <a:noAutofit/>
          </a:bodyPr>
          <a:lstStyle/>
          <a:p>
            <a:pPr indent="0" lvl="0" marL="0" marR="0" rtl="0" algn="l">
              <a:lnSpc>
                <a:spcPct val="136005"/>
              </a:lnSpc>
              <a:spcBef>
                <a:spcPts val="0"/>
              </a:spcBef>
              <a:spcAft>
                <a:spcPts val="0"/>
              </a:spcAft>
              <a:buClr>
                <a:srgbClr val="FFFFFF"/>
              </a:buClr>
              <a:buSzPts val="1397"/>
              <a:buFont typeface="Calibri"/>
              <a:buNone/>
            </a:pPr>
            <a:r>
              <a:rPr b="1" i="0" lang="en-US" sz="1397" u="none" cap="none" strike="noStrike">
                <a:solidFill>
                  <a:srgbClr val="FFFFFF"/>
                </a:solidFill>
                <a:latin typeface="Calibri"/>
                <a:ea typeface="Calibri"/>
                <a:cs typeface="Calibri"/>
                <a:sym typeface="Calibri"/>
              </a:rPr>
              <a:t>AWS Config</a:t>
            </a:r>
            <a:endParaRPr b="0" i="0" sz="1397" u="none" cap="none" strike="noStrike">
              <a:solidFill>
                <a:schemeClr val="dk1"/>
              </a:solidFill>
              <a:latin typeface="Calibri"/>
              <a:ea typeface="Calibri"/>
              <a:cs typeface="Calibri"/>
              <a:sym typeface="Calibri"/>
            </a:endParaRPr>
          </a:p>
        </p:txBody>
      </p:sp>
      <p:sp>
        <p:nvSpPr>
          <p:cNvPr id="117" name="Google Shape;117;p8"/>
          <p:cNvSpPr/>
          <p:nvPr/>
        </p:nvSpPr>
        <p:spPr>
          <a:xfrm>
            <a:off x="3309928" y="4245173"/>
            <a:ext cx="2524116" cy="578644"/>
          </a:xfrm>
          <a:prstGeom prst="rect">
            <a:avLst/>
          </a:prstGeom>
          <a:noFill/>
          <a:ln>
            <a:noFill/>
          </a:ln>
        </p:spPr>
        <p:txBody>
          <a:bodyPr anchorCtr="0" anchor="t" bIns="0" lIns="0" spcFirstLastPara="1" rIns="0" wrap="square" tIns="0">
            <a:noAutofit/>
          </a:bodyPr>
          <a:lstStyle/>
          <a:p>
            <a:pPr indent="0" lvl="0" marL="0" marR="0" rtl="0" algn="l">
              <a:lnSpc>
                <a:spcPct val="159235"/>
              </a:lnSpc>
              <a:spcBef>
                <a:spcPts val="0"/>
              </a:spcBef>
              <a:spcAft>
                <a:spcPts val="0"/>
              </a:spcAft>
              <a:buClr>
                <a:srgbClr val="B0B8C1"/>
              </a:buClr>
              <a:buSzPts val="942"/>
              <a:buFont typeface="Calibri"/>
              <a:buNone/>
            </a:pPr>
            <a:r>
              <a:rPr b="0" i="0" lang="en-US" sz="942" u="none" cap="none" strike="noStrike">
                <a:solidFill>
                  <a:srgbClr val="B0B8C1"/>
                </a:solidFill>
                <a:latin typeface="Calibri"/>
                <a:ea typeface="Calibri"/>
                <a:cs typeface="Calibri"/>
                <a:sym typeface="Calibri"/>
              </a:rPr>
              <a:t>Continuous monitoring and recording of AWS resource configuration changes for compliance and governance.</a:t>
            </a:r>
            <a:endParaRPr b="0" i="0" sz="942" u="none" cap="none" strike="noStrike">
              <a:solidFill>
                <a:schemeClr val="dk1"/>
              </a:solidFill>
              <a:latin typeface="Calibri"/>
              <a:ea typeface="Calibri"/>
              <a:cs typeface="Calibri"/>
              <a:sym typeface="Calibri"/>
            </a:endParaRPr>
          </a:p>
        </p:txBody>
      </p:sp>
      <p:sp>
        <p:nvSpPr>
          <p:cNvPr id="118" name="Google Shape;118;p8"/>
          <p:cNvSpPr/>
          <p:nvPr/>
        </p:nvSpPr>
        <p:spPr>
          <a:xfrm>
            <a:off x="6191231" y="3864769"/>
            <a:ext cx="2524144" cy="546497"/>
          </a:xfrm>
          <a:prstGeom prst="rect">
            <a:avLst/>
          </a:prstGeom>
          <a:noFill/>
          <a:ln>
            <a:noFill/>
          </a:ln>
        </p:spPr>
        <p:txBody>
          <a:bodyPr anchorCtr="0" anchor="t" bIns="0" lIns="0" spcFirstLastPara="1" rIns="0" wrap="square" tIns="0">
            <a:noAutofit/>
          </a:bodyPr>
          <a:lstStyle/>
          <a:p>
            <a:pPr indent="0" lvl="0" marL="0" marR="0" rtl="0" algn="l">
              <a:lnSpc>
                <a:spcPct val="136005"/>
              </a:lnSpc>
              <a:spcBef>
                <a:spcPts val="0"/>
              </a:spcBef>
              <a:spcAft>
                <a:spcPts val="0"/>
              </a:spcAft>
              <a:buClr>
                <a:srgbClr val="FFFFFF"/>
              </a:buClr>
              <a:buSzPts val="1397"/>
              <a:buFont typeface="Calibri"/>
              <a:buNone/>
            </a:pPr>
            <a:r>
              <a:rPr b="1" i="0" lang="en-US" sz="1397" u="none" cap="none" strike="noStrike">
                <a:solidFill>
                  <a:srgbClr val="FFFFFF"/>
                </a:solidFill>
                <a:latin typeface="Calibri"/>
                <a:ea typeface="Calibri"/>
                <a:cs typeface="Calibri"/>
                <a:sym typeface="Calibri"/>
              </a:rPr>
              <a:t>Amazon CloudWatch Logs</a:t>
            </a:r>
            <a:endParaRPr b="0" i="0" sz="1397" u="none" cap="none" strike="noStrike">
              <a:solidFill>
                <a:schemeClr val="dk1"/>
              </a:solidFill>
              <a:latin typeface="Calibri"/>
              <a:ea typeface="Calibri"/>
              <a:cs typeface="Calibri"/>
              <a:sym typeface="Calibri"/>
            </a:endParaRPr>
          </a:p>
        </p:txBody>
      </p:sp>
      <p:sp>
        <p:nvSpPr>
          <p:cNvPr id="119" name="Google Shape;119;p8"/>
          <p:cNvSpPr/>
          <p:nvPr/>
        </p:nvSpPr>
        <p:spPr>
          <a:xfrm>
            <a:off x="6191231" y="4518422"/>
            <a:ext cx="2524144" cy="578644"/>
          </a:xfrm>
          <a:prstGeom prst="rect">
            <a:avLst/>
          </a:prstGeom>
          <a:noFill/>
          <a:ln>
            <a:noFill/>
          </a:ln>
        </p:spPr>
        <p:txBody>
          <a:bodyPr anchorCtr="0" anchor="t" bIns="0" lIns="0" spcFirstLastPara="1" rIns="0" wrap="square" tIns="0">
            <a:noAutofit/>
          </a:bodyPr>
          <a:lstStyle/>
          <a:p>
            <a:pPr indent="0" lvl="0" marL="0" marR="0" rtl="0" algn="l">
              <a:lnSpc>
                <a:spcPct val="159235"/>
              </a:lnSpc>
              <a:spcBef>
                <a:spcPts val="0"/>
              </a:spcBef>
              <a:spcAft>
                <a:spcPts val="0"/>
              </a:spcAft>
              <a:buClr>
                <a:srgbClr val="B0B8C1"/>
              </a:buClr>
              <a:buSzPts val="942"/>
              <a:buFont typeface="Calibri"/>
              <a:buNone/>
            </a:pPr>
            <a:r>
              <a:rPr b="0" i="0" lang="en-US" sz="942" u="none" cap="none" strike="noStrike">
                <a:solidFill>
                  <a:srgbClr val="B0B8C1"/>
                </a:solidFill>
                <a:latin typeface="Calibri"/>
                <a:ea typeface="Calibri"/>
                <a:cs typeface="Calibri"/>
                <a:sym typeface="Calibri"/>
              </a:rPr>
              <a:t>Centralized collection of application and system logs for deep operational visibility and troubleshooting.</a:t>
            </a:r>
            <a:endParaRPr b="0" i="0" sz="942"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pic>
        <p:nvPicPr>
          <p:cNvPr descr="preencoded.png" id="125" name="Google Shape;125;p9"/>
          <p:cNvPicPr preferRelativeResize="0"/>
          <p:nvPr/>
        </p:nvPicPr>
        <p:blipFill rotWithShape="1">
          <a:blip r:embed="rId3">
            <a:alphaModFix/>
          </a:blip>
          <a:srcRect b="0" l="0" r="0" t="0"/>
          <a:stretch/>
        </p:blipFill>
        <p:spPr>
          <a:xfrm>
            <a:off x="0" y="0"/>
            <a:ext cx="9144000" cy="5188148"/>
          </a:xfrm>
          <a:prstGeom prst="rect">
            <a:avLst/>
          </a:prstGeom>
          <a:noFill/>
          <a:ln>
            <a:noFill/>
          </a:ln>
        </p:spPr>
      </p:pic>
      <p:sp>
        <p:nvSpPr>
          <p:cNvPr id="126" name="Google Shape;126;p9"/>
          <p:cNvSpPr/>
          <p:nvPr/>
        </p:nvSpPr>
        <p:spPr>
          <a:xfrm>
            <a:off x="342900" y="428625"/>
            <a:ext cx="8458200" cy="623292"/>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9"/>
          <p:cNvSpPr/>
          <p:nvPr/>
        </p:nvSpPr>
        <p:spPr>
          <a:xfrm>
            <a:off x="342900" y="1037630"/>
            <a:ext cx="8458200" cy="14288"/>
          </a:xfrm>
          <a:prstGeom prst="rect">
            <a:avLst/>
          </a:prstGeom>
          <a:solidFill>
            <a:srgbClr val="00D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9"/>
          <p:cNvSpPr/>
          <p:nvPr/>
        </p:nvSpPr>
        <p:spPr>
          <a:xfrm>
            <a:off x="342900" y="428625"/>
            <a:ext cx="8458200" cy="466130"/>
          </a:xfrm>
          <a:prstGeom prst="rect">
            <a:avLst/>
          </a:prstGeom>
          <a:noFill/>
          <a:ln>
            <a:noFill/>
          </a:ln>
        </p:spPr>
        <p:txBody>
          <a:bodyPr anchorCtr="0" anchor="t" bIns="0" lIns="0" spcFirstLastPara="1" rIns="0" wrap="square" tIns="0">
            <a:noAutofit/>
          </a:bodyPr>
          <a:lstStyle/>
          <a:p>
            <a:pPr indent="0" lvl="0" marL="0" marR="0" rtl="0" algn="l">
              <a:lnSpc>
                <a:spcPct val="131362"/>
              </a:lnSpc>
              <a:spcBef>
                <a:spcPts val="0"/>
              </a:spcBef>
              <a:spcAft>
                <a:spcPts val="0"/>
              </a:spcAft>
              <a:buClr>
                <a:srgbClr val="00D9FF"/>
              </a:buClr>
              <a:buSzPts val="2436"/>
              <a:buFont typeface="Calibri"/>
              <a:buNone/>
            </a:pPr>
            <a:r>
              <a:rPr b="1" i="0" lang="en-US" sz="2436" u="none" cap="none" strike="noStrike">
                <a:solidFill>
                  <a:srgbClr val="00D9FF"/>
                </a:solidFill>
                <a:latin typeface="Calibri"/>
                <a:ea typeface="Calibri"/>
                <a:cs typeface="Calibri"/>
                <a:sym typeface="Calibri"/>
              </a:rPr>
              <a:t>Seamless Third-Party Partner Integration</a:t>
            </a:r>
            <a:endParaRPr b="0" i="0" sz="2436" u="none" cap="none" strike="noStrike">
              <a:solidFill>
                <a:schemeClr val="dk1"/>
              </a:solidFill>
              <a:latin typeface="Calibri"/>
              <a:ea typeface="Calibri"/>
              <a:cs typeface="Calibri"/>
              <a:sym typeface="Calibri"/>
            </a:endParaRPr>
          </a:p>
        </p:txBody>
      </p:sp>
      <p:sp>
        <p:nvSpPr>
          <p:cNvPr id="129" name="Google Shape;129;p9"/>
          <p:cNvSpPr/>
          <p:nvPr/>
        </p:nvSpPr>
        <p:spPr>
          <a:xfrm>
            <a:off x="342900" y="1394817"/>
            <a:ext cx="4157663" cy="1689497"/>
          </a:xfrm>
          <a:prstGeom prst="rect">
            <a:avLst/>
          </a:prstGeom>
          <a:solidFill>
            <a:srgbClr val="FFFFFF">
              <a:alpha val="274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9"/>
          <p:cNvSpPr/>
          <p:nvPr/>
        </p:nvSpPr>
        <p:spPr>
          <a:xfrm>
            <a:off x="342900" y="1394817"/>
            <a:ext cx="4157663" cy="42863"/>
          </a:xfrm>
          <a:prstGeom prst="rect">
            <a:avLst/>
          </a:prstGeom>
          <a:solidFill>
            <a:srgbClr val="00D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9"/>
          <p:cNvSpPr/>
          <p:nvPr/>
        </p:nvSpPr>
        <p:spPr>
          <a:xfrm>
            <a:off x="514350" y="1566267"/>
            <a:ext cx="3814763" cy="273248"/>
          </a:xfrm>
          <a:prstGeom prst="rect">
            <a:avLst/>
          </a:prstGeom>
          <a:noFill/>
          <a:ln>
            <a:noFill/>
          </a:ln>
        </p:spPr>
        <p:txBody>
          <a:bodyPr anchorCtr="0" anchor="t" bIns="0" lIns="0" spcFirstLastPara="1" rIns="0" wrap="square" tIns="0">
            <a:noAutofit/>
          </a:bodyPr>
          <a:lstStyle/>
          <a:p>
            <a:pPr indent="0" lvl="0" marL="0" marR="0" rtl="0" algn="l">
              <a:lnSpc>
                <a:spcPct val="136005"/>
              </a:lnSpc>
              <a:spcBef>
                <a:spcPts val="0"/>
              </a:spcBef>
              <a:spcAft>
                <a:spcPts val="0"/>
              </a:spcAft>
              <a:buClr>
                <a:srgbClr val="FFFFFF"/>
              </a:buClr>
              <a:buSzPts val="1397"/>
              <a:buFont typeface="Calibri"/>
              <a:buNone/>
            </a:pPr>
            <a:r>
              <a:rPr b="1" i="0" lang="en-US" sz="1397" u="none" cap="none" strike="noStrike">
                <a:solidFill>
                  <a:srgbClr val="FFFFFF"/>
                </a:solidFill>
                <a:latin typeface="Calibri"/>
                <a:ea typeface="Calibri"/>
                <a:cs typeface="Calibri"/>
                <a:sym typeface="Calibri"/>
              </a:rPr>
              <a:t>Endpoint Security</a:t>
            </a:r>
            <a:endParaRPr b="0" i="0" sz="1397" u="none" cap="none" strike="noStrike">
              <a:solidFill>
                <a:schemeClr val="dk1"/>
              </a:solidFill>
              <a:latin typeface="Calibri"/>
              <a:ea typeface="Calibri"/>
              <a:cs typeface="Calibri"/>
              <a:sym typeface="Calibri"/>
            </a:endParaRPr>
          </a:p>
        </p:txBody>
      </p:sp>
      <p:sp>
        <p:nvSpPr>
          <p:cNvPr id="132" name="Google Shape;132;p9"/>
          <p:cNvSpPr/>
          <p:nvPr/>
        </p:nvSpPr>
        <p:spPr>
          <a:xfrm>
            <a:off x="514350" y="1953816"/>
            <a:ext cx="3814763" cy="233958"/>
          </a:xfrm>
          <a:prstGeom prst="rect">
            <a:avLst/>
          </a:prstGeom>
          <a:noFill/>
          <a:ln>
            <a:noFill/>
          </a:ln>
        </p:spPr>
        <p:txBody>
          <a:bodyPr anchorCtr="0" anchor="t" bIns="0" lIns="127500" spcFirstLastPara="1" rIns="0" wrap="square" tIns="0">
            <a:noAutofit/>
          </a:bodyPr>
          <a:lstStyle/>
          <a:p>
            <a:pPr indent="0" lvl="0" marL="0" marR="0" rtl="0" algn="l">
              <a:lnSpc>
                <a:spcPct val="126083"/>
              </a:lnSpc>
              <a:spcBef>
                <a:spcPts val="0"/>
              </a:spcBef>
              <a:spcAft>
                <a:spcPts val="0"/>
              </a:spcAft>
              <a:buClr>
                <a:srgbClr val="B0B8C1"/>
              </a:buClr>
              <a:buSzPts val="1269"/>
              <a:buFont typeface="Calibri"/>
              <a:buNone/>
            </a:pPr>
            <a:r>
              <a:rPr b="0" i="0" lang="en-US" sz="1269" u="none" cap="none" strike="noStrike">
                <a:solidFill>
                  <a:srgbClr val="B0B8C1"/>
                </a:solidFill>
                <a:latin typeface="Calibri"/>
                <a:ea typeface="Calibri"/>
                <a:cs typeface="Calibri"/>
                <a:sym typeface="Calibri"/>
              </a:rPr>
              <a:t>CrowdStrike</a:t>
            </a:r>
            <a:endParaRPr b="0" i="0" sz="1269" u="none" cap="none" strike="noStrike">
              <a:solidFill>
                <a:schemeClr val="dk1"/>
              </a:solidFill>
              <a:latin typeface="Calibri"/>
              <a:ea typeface="Calibri"/>
              <a:cs typeface="Calibri"/>
              <a:sym typeface="Calibri"/>
            </a:endParaRPr>
          </a:p>
        </p:txBody>
      </p:sp>
      <p:sp>
        <p:nvSpPr>
          <p:cNvPr id="133" name="Google Shape;133;p9"/>
          <p:cNvSpPr/>
          <p:nvPr/>
        </p:nvSpPr>
        <p:spPr>
          <a:xfrm>
            <a:off x="514350" y="2259211"/>
            <a:ext cx="3814763" cy="233958"/>
          </a:xfrm>
          <a:prstGeom prst="rect">
            <a:avLst/>
          </a:prstGeom>
          <a:noFill/>
          <a:ln>
            <a:noFill/>
          </a:ln>
        </p:spPr>
        <p:txBody>
          <a:bodyPr anchorCtr="0" anchor="t" bIns="0" lIns="127500" spcFirstLastPara="1" rIns="0" wrap="square" tIns="0">
            <a:noAutofit/>
          </a:bodyPr>
          <a:lstStyle/>
          <a:p>
            <a:pPr indent="0" lvl="0" marL="0" marR="0" rtl="0" algn="l">
              <a:lnSpc>
                <a:spcPct val="126083"/>
              </a:lnSpc>
              <a:spcBef>
                <a:spcPts val="0"/>
              </a:spcBef>
              <a:spcAft>
                <a:spcPts val="0"/>
              </a:spcAft>
              <a:buClr>
                <a:srgbClr val="B0B8C1"/>
              </a:buClr>
              <a:buSzPts val="1269"/>
              <a:buFont typeface="Calibri"/>
              <a:buNone/>
            </a:pPr>
            <a:r>
              <a:rPr b="0" i="0" lang="en-US" sz="1269" u="none" cap="none" strike="noStrike">
                <a:solidFill>
                  <a:srgbClr val="B0B8C1"/>
                </a:solidFill>
                <a:latin typeface="Calibri"/>
                <a:ea typeface="Calibri"/>
                <a:cs typeface="Calibri"/>
                <a:sym typeface="Calibri"/>
              </a:rPr>
              <a:t>SentinelOne</a:t>
            </a:r>
            <a:endParaRPr b="0" i="0" sz="1269" u="none" cap="none" strike="noStrike">
              <a:solidFill>
                <a:schemeClr val="dk1"/>
              </a:solidFill>
              <a:latin typeface="Calibri"/>
              <a:ea typeface="Calibri"/>
              <a:cs typeface="Calibri"/>
              <a:sym typeface="Calibri"/>
            </a:endParaRPr>
          </a:p>
        </p:txBody>
      </p:sp>
      <p:sp>
        <p:nvSpPr>
          <p:cNvPr id="134" name="Google Shape;134;p9"/>
          <p:cNvSpPr/>
          <p:nvPr/>
        </p:nvSpPr>
        <p:spPr>
          <a:xfrm>
            <a:off x="514350" y="2564606"/>
            <a:ext cx="3814763" cy="233958"/>
          </a:xfrm>
          <a:prstGeom prst="rect">
            <a:avLst/>
          </a:prstGeom>
          <a:noFill/>
          <a:ln>
            <a:noFill/>
          </a:ln>
        </p:spPr>
        <p:txBody>
          <a:bodyPr anchorCtr="0" anchor="t" bIns="0" lIns="127500" spcFirstLastPara="1" rIns="0" wrap="square" tIns="0">
            <a:noAutofit/>
          </a:bodyPr>
          <a:lstStyle/>
          <a:p>
            <a:pPr indent="0" lvl="0" marL="0" marR="0" rtl="0" algn="l">
              <a:lnSpc>
                <a:spcPct val="126083"/>
              </a:lnSpc>
              <a:spcBef>
                <a:spcPts val="0"/>
              </a:spcBef>
              <a:spcAft>
                <a:spcPts val="0"/>
              </a:spcAft>
              <a:buClr>
                <a:srgbClr val="B0B8C1"/>
              </a:buClr>
              <a:buSzPts val="1269"/>
              <a:buFont typeface="Calibri"/>
              <a:buNone/>
            </a:pPr>
            <a:r>
              <a:rPr b="0" i="0" lang="en-US" sz="1269" u="none" cap="none" strike="noStrike">
                <a:solidFill>
                  <a:srgbClr val="B0B8C1"/>
                </a:solidFill>
                <a:latin typeface="Calibri"/>
                <a:ea typeface="Calibri"/>
                <a:cs typeface="Calibri"/>
                <a:sym typeface="Calibri"/>
              </a:rPr>
              <a:t>Trend Micro</a:t>
            </a:r>
            <a:endParaRPr b="0" i="0" sz="1269" u="none" cap="none" strike="noStrike">
              <a:solidFill>
                <a:schemeClr val="dk1"/>
              </a:solidFill>
              <a:latin typeface="Calibri"/>
              <a:ea typeface="Calibri"/>
              <a:cs typeface="Calibri"/>
              <a:sym typeface="Calibri"/>
            </a:endParaRPr>
          </a:p>
        </p:txBody>
      </p:sp>
      <p:sp>
        <p:nvSpPr>
          <p:cNvPr id="135" name="Google Shape;135;p9"/>
          <p:cNvSpPr/>
          <p:nvPr/>
        </p:nvSpPr>
        <p:spPr>
          <a:xfrm>
            <a:off x="4643438" y="1394817"/>
            <a:ext cx="4157663" cy="1689497"/>
          </a:xfrm>
          <a:prstGeom prst="rect">
            <a:avLst/>
          </a:prstGeom>
          <a:solidFill>
            <a:srgbClr val="FFFFFF">
              <a:alpha val="274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9"/>
          <p:cNvSpPr/>
          <p:nvPr/>
        </p:nvSpPr>
        <p:spPr>
          <a:xfrm>
            <a:off x="4643438" y="1394817"/>
            <a:ext cx="4157663" cy="42863"/>
          </a:xfrm>
          <a:prstGeom prst="rect">
            <a:avLst/>
          </a:prstGeom>
          <a:solidFill>
            <a:srgbClr val="9D4E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9"/>
          <p:cNvSpPr/>
          <p:nvPr/>
        </p:nvSpPr>
        <p:spPr>
          <a:xfrm>
            <a:off x="4814888" y="1566267"/>
            <a:ext cx="3814763" cy="273248"/>
          </a:xfrm>
          <a:prstGeom prst="rect">
            <a:avLst/>
          </a:prstGeom>
          <a:noFill/>
          <a:ln>
            <a:noFill/>
          </a:ln>
        </p:spPr>
        <p:txBody>
          <a:bodyPr anchorCtr="0" anchor="t" bIns="0" lIns="0" spcFirstLastPara="1" rIns="0" wrap="square" tIns="0">
            <a:noAutofit/>
          </a:bodyPr>
          <a:lstStyle/>
          <a:p>
            <a:pPr indent="0" lvl="0" marL="0" marR="0" rtl="0" algn="l">
              <a:lnSpc>
                <a:spcPct val="136005"/>
              </a:lnSpc>
              <a:spcBef>
                <a:spcPts val="0"/>
              </a:spcBef>
              <a:spcAft>
                <a:spcPts val="0"/>
              </a:spcAft>
              <a:buClr>
                <a:srgbClr val="FFFFFF"/>
              </a:buClr>
              <a:buSzPts val="1397"/>
              <a:buFont typeface="Calibri"/>
              <a:buNone/>
            </a:pPr>
            <a:r>
              <a:rPr b="1" i="0" lang="en-US" sz="1397" u="none" cap="none" strike="noStrike">
                <a:solidFill>
                  <a:srgbClr val="FFFFFF"/>
                </a:solidFill>
                <a:latin typeface="Calibri"/>
                <a:ea typeface="Calibri"/>
                <a:cs typeface="Calibri"/>
                <a:sym typeface="Calibri"/>
              </a:rPr>
              <a:t>Network &amp; Firewall</a:t>
            </a:r>
            <a:endParaRPr b="0" i="0" sz="1397" u="none" cap="none" strike="noStrike">
              <a:solidFill>
                <a:schemeClr val="dk1"/>
              </a:solidFill>
              <a:latin typeface="Calibri"/>
              <a:ea typeface="Calibri"/>
              <a:cs typeface="Calibri"/>
              <a:sym typeface="Calibri"/>
            </a:endParaRPr>
          </a:p>
        </p:txBody>
      </p:sp>
      <p:sp>
        <p:nvSpPr>
          <p:cNvPr id="138" name="Google Shape;138;p9"/>
          <p:cNvSpPr/>
          <p:nvPr/>
        </p:nvSpPr>
        <p:spPr>
          <a:xfrm>
            <a:off x="4814888" y="1953816"/>
            <a:ext cx="3814763" cy="233958"/>
          </a:xfrm>
          <a:prstGeom prst="rect">
            <a:avLst/>
          </a:prstGeom>
          <a:noFill/>
          <a:ln>
            <a:noFill/>
          </a:ln>
        </p:spPr>
        <p:txBody>
          <a:bodyPr anchorCtr="0" anchor="t" bIns="0" lIns="127500" spcFirstLastPara="1" rIns="0" wrap="square" tIns="0">
            <a:noAutofit/>
          </a:bodyPr>
          <a:lstStyle/>
          <a:p>
            <a:pPr indent="0" lvl="0" marL="0" marR="0" rtl="0" algn="l">
              <a:lnSpc>
                <a:spcPct val="126083"/>
              </a:lnSpc>
              <a:spcBef>
                <a:spcPts val="0"/>
              </a:spcBef>
              <a:spcAft>
                <a:spcPts val="0"/>
              </a:spcAft>
              <a:buClr>
                <a:srgbClr val="B0B8C1"/>
              </a:buClr>
              <a:buSzPts val="1269"/>
              <a:buFont typeface="Calibri"/>
              <a:buNone/>
            </a:pPr>
            <a:r>
              <a:rPr b="0" i="0" lang="en-US" sz="1269" u="none" cap="none" strike="noStrike">
                <a:solidFill>
                  <a:srgbClr val="B0B8C1"/>
                </a:solidFill>
                <a:latin typeface="Calibri"/>
                <a:ea typeface="Calibri"/>
                <a:cs typeface="Calibri"/>
                <a:sym typeface="Calibri"/>
              </a:rPr>
              <a:t>Palo Alto Networks</a:t>
            </a:r>
            <a:endParaRPr b="0" i="0" sz="1269" u="none" cap="none" strike="noStrike">
              <a:solidFill>
                <a:schemeClr val="dk1"/>
              </a:solidFill>
              <a:latin typeface="Calibri"/>
              <a:ea typeface="Calibri"/>
              <a:cs typeface="Calibri"/>
              <a:sym typeface="Calibri"/>
            </a:endParaRPr>
          </a:p>
        </p:txBody>
      </p:sp>
      <p:sp>
        <p:nvSpPr>
          <p:cNvPr id="139" name="Google Shape;139;p9"/>
          <p:cNvSpPr/>
          <p:nvPr/>
        </p:nvSpPr>
        <p:spPr>
          <a:xfrm>
            <a:off x="4814888" y="2259211"/>
            <a:ext cx="3814763" cy="233958"/>
          </a:xfrm>
          <a:prstGeom prst="rect">
            <a:avLst/>
          </a:prstGeom>
          <a:noFill/>
          <a:ln>
            <a:noFill/>
          </a:ln>
        </p:spPr>
        <p:txBody>
          <a:bodyPr anchorCtr="0" anchor="t" bIns="0" lIns="127500" spcFirstLastPara="1" rIns="0" wrap="square" tIns="0">
            <a:noAutofit/>
          </a:bodyPr>
          <a:lstStyle/>
          <a:p>
            <a:pPr indent="0" lvl="0" marL="0" marR="0" rtl="0" algn="l">
              <a:lnSpc>
                <a:spcPct val="126083"/>
              </a:lnSpc>
              <a:spcBef>
                <a:spcPts val="0"/>
              </a:spcBef>
              <a:spcAft>
                <a:spcPts val="0"/>
              </a:spcAft>
              <a:buClr>
                <a:srgbClr val="B0B8C1"/>
              </a:buClr>
              <a:buSzPts val="1269"/>
              <a:buFont typeface="Calibri"/>
              <a:buNone/>
            </a:pPr>
            <a:r>
              <a:rPr b="0" i="0" lang="en-US" sz="1269" u="none" cap="none" strike="noStrike">
                <a:solidFill>
                  <a:srgbClr val="B0B8C1"/>
                </a:solidFill>
                <a:latin typeface="Calibri"/>
                <a:ea typeface="Calibri"/>
                <a:cs typeface="Calibri"/>
                <a:sym typeface="Calibri"/>
              </a:rPr>
              <a:t>Cisco Secure</a:t>
            </a:r>
            <a:endParaRPr b="0" i="0" sz="1269" u="none" cap="none" strike="noStrike">
              <a:solidFill>
                <a:schemeClr val="dk1"/>
              </a:solidFill>
              <a:latin typeface="Calibri"/>
              <a:ea typeface="Calibri"/>
              <a:cs typeface="Calibri"/>
              <a:sym typeface="Calibri"/>
            </a:endParaRPr>
          </a:p>
        </p:txBody>
      </p:sp>
      <p:sp>
        <p:nvSpPr>
          <p:cNvPr id="140" name="Google Shape;140;p9"/>
          <p:cNvSpPr/>
          <p:nvPr/>
        </p:nvSpPr>
        <p:spPr>
          <a:xfrm>
            <a:off x="4814888" y="2564606"/>
            <a:ext cx="3814763" cy="233958"/>
          </a:xfrm>
          <a:prstGeom prst="rect">
            <a:avLst/>
          </a:prstGeom>
          <a:noFill/>
          <a:ln>
            <a:noFill/>
          </a:ln>
        </p:spPr>
        <p:txBody>
          <a:bodyPr anchorCtr="0" anchor="t" bIns="0" lIns="127500" spcFirstLastPara="1" rIns="0" wrap="square" tIns="0">
            <a:noAutofit/>
          </a:bodyPr>
          <a:lstStyle/>
          <a:p>
            <a:pPr indent="0" lvl="0" marL="0" marR="0" rtl="0" algn="l">
              <a:lnSpc>
                <a:spcPct val="126083"/>
              </a:lnSpc>
              <a:spcBef>
                <a:spcPts val="0"/>
              </a:spcBef>
              <a:spcAft>
                <a:spcPts val="0"/>
              </a:spcAft>
              <a:buClr>
                <a:srgbClr val="B0B8C1"/>
              </a:buClr>
              <a:buSzPts val="1269"/>
              <a:buFont typeface="Calibri"/>
              <a:buNone/>
            </a:pPr>
            <a:r>
              <a:rPr b="0" i="0" lang="en-US" sz="1269" u="none" cap="none" strike="noStrike">
                <a:solidFill>
                  <a:srgbClr val="B0B8C1"/>
                </a:solidFill>
                <a:latin typeface="Calibri"/>
                <a:ea typeface="Calibri"/>
                <a:cs typeface="Calibri"/>
                <a:sym typeface="Calibri"/>
              </a:rPr>
              <a:t>Zscaler</a:t>
            </a:r>
            <a:endParaRPr b="0" i="0" sz="1269" u="none" cap="none" strike="noStrike">
              <a:solidFill>
                <a:schemeClr val="dk1"/>
              </a:solidFill>
              <a:latin typeface="Calibri"/>
              <a:ea typeface="Calibri"/>
              <a:cs typeface="Calibri"/>
              <a:sym typeface="Calibri"/>
            </a:endParaRPr>
          </a:p>
        </p:txBody>
      </p:sp>
      <p:sp>
        <p:nvSpPr>
          <p:cNvPr id="141" name="Google Shape;141;p9"/>
          <p:cNvSpPr/>
          <p:nvPr/>
        </p:nvSpPr>
        <p:spPr>
          <a:xfrm>
            <a:off x="342900" y="3184327"/>
            <a:ext cx="4157663" cy="1689497"/>
          </a:xfrm>
          <a:prstGeom prst="rect">
            <a:avLst/>
          </a:prstGeom>
          <a:solidFill>
            <a:srgbClr val="FFFFFF">
              <a:alpha val="274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9"/>
          <p:cNvSpPr/>
          <p:nvPr/>
        </p:nvSpPr>
        <p:spPr>
          <a:xfrm>
            <a:off x="342900" y="3184327"/>
            <a:ext cx="4157663" cy="42863"/>
          </a:xfrm>
          <a:prstGeom prst="rect">
            <a:avLst/>
          </a:prstGeom>
          <a:solidFill>
            <a:srgbClr val="FFD7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9"/>
          <p:cNvSpPr/>
          <p:nvPr/>
        </p:nvSpPr>
        <p:spPr>
          <a:xfrm>
            <a:off x="514350" y="3355777"/>
            <a:ext cx="3814763" cy="273248"/>
          </a:xfrm>
          <a:prstGeom prst="rect">
            <a:avLst/>
          </a:prstGeom>
          <a:noFill/>
          <a:ln>
            <a:noFill/>
          </a:ln>
        </p:spPr>
        <p:txBody>
          <a:bodyPr anchorCtr="0" anchor="t" bIns="0" lIns="0" spcFirstLastPara="1" rIns="0" wrap="square" tIns="0">
            <a:noAutofit/>
          </a:bodyPr>
          <a:lstStyle/>
          <a:p>
            <a:pPr indent="0" lvl="0" marL="0" marR="0" rtl="0" algn="l">
              <a:lnSpc>
                <a:spcPct val="136005"/>
              </a:lnSpc>
              <a:spcBef>
                <a:spcPts val="0"/>
              </a:spcBef>
              <a:spcAft>
                <a:spcPts val="0"/>
              </a:spcAft>
              <a:buClr>
                <a:srgbClr val="FFFFFF"/>
              </a:buClr>
              <a:buSzPts val="1397"/>
              <a:buFont typeface="Calibri"/>
              <a:buNone/>
            </a:pPr>
            <a:r>
              <a:rPr b="1" i="0" lang="en-US" sz="1397" u="none" cap="none" strike="noStrike">
                <a:solidFill>
                  <a:srgbClr val="FFFFFF"/>
                </a:solidFill>
                <a:latin typeface="Calibri"/>
                <a:ea typeface="Calibri"/>
                <a:cs typeface="Calibri"/>
                <a:sym typeface="Calibri"/>
              </a:rPr>
              <a:t>Identity &amp; Access</a:t>
            </a:r>
            <a:endParaRPr b="0" i="0" sz="1397" u="none" cap="none" strike="noStrike">
              <a:solidFill>
                <a:schemeClr val="dk1"/>
              </a:solidFill>
              <a:latin typeface="Calibri"/>
              <a:ea typeface="Calibri"/>
              <a:cs typeface="Calibri"/>
              <a:sym typeface="Calibri"/>
            </a:endParaRPr>
          </a:p>
        </p:txBody>
      </p:sp>
      <p:sp>
        <p:nvSpPr>
          <p:cNvPr id="144" name="Google Shape;144;p9"/>
          <p:cNvSpPr/>
          <p:nvPr/>
        </p:nvSpPr>
        <p:spPr>
          <a:xfrm>
            <a:off x="514350" y="3743325"/>
            <a:ext cx="3814763" cy="233958"/>
          </a:xfrm>
          <a:prstGeom prst="rect">
            <a:avLst/>
          </a:prstGeom>
          <a:noFill/>
          <a:ln>
            <a:noFill/>
          </a:ln>
        </p:spPr>
        <p:txBody>
          <a:bodyPr anchorCtr="0" anchor="t" bIns="0" lIns="127500" spcFirstLastPara="1" rIns="0" wrap="square" tIns="0">
            <a:noAutofit/>
          </a:bodyPr>
          <a:lstStyle/>
          <a:p>
            <a:pPr indent="0" lvl="0" marL="0" marR="0" rtl="0" algn="l">
              <a:lnSpc>
                <a:spcPct val="126083"/>
              </a:lnSpc>
              <a:spcBef>
                <a:spcPts val="0"/>
              </a:spcBef>
              <a:spcAft>
                <a:spcPts val="0"/>
              </a:spcAft>
              <a:buClr>
                <a:srgbClr val="B0B8C1"/>
              </a:buClr>
              <a:buSzPts val="1269"/>
              <a:buFont typeface="Calibri"/>
              <a:buNone/>
            </a:pPr>
            <a:r>
              <a:rPr b="0" i="0" lang="en-US" sz="1269" u="none" cap="none" strike="noStrike">
                <a:solidFill>
                  <a:srgbClr val="B0B8C1"/>
                </a:solidFill>
                <a:latin typeface="Calibri"/>
                <a:ea typeface="Calibri"/>
                <a:cs typeface="Calibri"/>
                <a:sym typeface="Calibri"/>
              </a:rPr>
              <a:t>Okta</a:t>
            </a:r>
            <a:endParaRPr b="0" i="0" sz="1269" u="none" cap="none" strike="noStrike">
              <a:solidFill>
                <a:schemeClr val="dk1"/>
              </a:solidFill>
              <a:latin typeface="Calibri"/>
              <a:ea typeface="Calibri"/>
              <a:cs typeface="Calibri"/>
              <a:sym typeface="Calibri"/>
            </a:endParaRPr>
          </a:p>
        </p:txBody>
      </p:sp>
      <p:sp>
        <p:nvSpPr>
          <p:cNvPr id="145" name="Google Shape;145;p9"/>
          <p:cNvSpPr/>
          <p:nvPr/>
        </p:nvSpPr>
        <p:spPr>
          <a:xfrm>
            <a:off x="514350" y="4048720"/>
            <a:ext cx="3814763" cy="233958"/>
          </a:xfrm>
          <a:prstGeom prst="rect">
            <a:avLst/>
          </a:prstGeom>
          <a:noFill/>
          <a:ln>
            <a:noFill/>
          </a:ln>
        </p:spPr>
        <p:txBody>
          <a:bodyPr anchorCtr="0" anchor="t" bIns="0" lIns="127500" spcFirstLastPara="1" rIns="0" wrap="square" tIns="0">
            <a:noAutofit/>
          </a:bodyPr>
          <a:lstStyle/>
          <a:p>
            <a:pPr indent="0" lvl="0" marL="0" marR="0" rtl="0" algn="l">
              <a:lnSpc>
                <a:spcPct val="126083"/>
              </a:lnSpc>
              <a:spcBef>
                <a:spcPts val="0"/>
              </a:spcBef>
              <a:spcAft>
                <a:spcPts val="0"/>
              </a:spcAft>
              <a:buClr>
                <a:srgbClr val="B0B8C1"/>
              </a:buClr>
              <a:buSzPts val="1269"/>
              <a:buFont typeface="Calibri"/>
              <a:buNone/>
            </a:pPr>
            <a:r>
              <a:rPr b="0" i="0" lang="en-US" sz="1269" u="none" cap="none" strike="noStrike">
                <a:solidFill>
                  <a:srgbClr val="B0B8C1"/>
                </a:solidFill>
                <a:latin typeface="Calibri"/>
                <a:ea typeface="Calibri"/>
                <a:cs typeface="Calibri"/>
                <a:sym typeface="Calibri"/>
              </a:rPr>
              <a:t>CyberArk</a:t>
            </a:r>
            <a:endParaRPr b="0" i="0" sz="1269" u="none" cap="none" strike="noStrike">
              <a:solidFill>
                <a:schemeClr val="dk1"/>
              </a:solidFill>
              <a:latin typeface="Calibri"/>
              <a:ea typeface="Calibri"/>
              <a:cs typeface="Calibri"/>
              <a:sym typeface="Calibri"/>
            </a:endParaRPr>
          </a:p>
        </p:txBody>
      </p:sp>
      <p:sp>
        <p:nvSpPr>
          <p:cNvPr id="146" name="Google Shape;146;p9"/>
          <p:cNvSpPr/>
          <p:nvPr/>
        </p:nvSpPr>
        <p:spPr>
          <a:xfrm>
            <a:off x="514350" y="4354116"/>
            <a:ext cx="3814763" cy="233958"/>
          </a:xfrm>
          <a:prstGeom prst="rect">
            <a:avLst/>
          </a:prstGeom>
          <a:noFill/>
          <a:ln>
            <a:noFill/>
          </a:ln>
        </p:spPr>
        <p:txBody>
          <a:bodyPr anchorCtr="0" anchor="t" bIns="0" lIns="127500" spcFirstLastPara="1" rIns="0" wrap="square" tIns="0">
            <a:noAutofit/>
          </a:bodyPr>
          <a:lstStyle/>
          <a:p>
            <a:pPr indent="0" lvl="0" marL="0" marR="0" rtl="0" algn="l">
              <a:lnSpc>
                <a:spcPct val="126083"/>
              </a:lnSpc>
              <a:spcBef>
                <a:spcPts val="0"/>
              </a:spcBef>
              <a:spcAft>
                <a:spcPts val="0"/>
              </a:spcAft>
              <a:buClr>
                <a:srgbClr val="B0B8C1"/>
              </a:buClr>
              <a:buSzPts val="1269"/>
              <a:buFont typeface="Calibri"/>
              <a:buNone/>
            </a:pPr>
            <a:r>
              <a:rPr b="0" i="0" lang="en-US" sz="1269" u="none" cap="none" strike="noStrike">
                <a:solidFill>
                  <a:srgbClr val="B0B8C1"/>
                </a:solidFill>
                <a:latin typeface="Calibri"/>
                <a:ea typeface="Calibri"/>
                <a:cs typeface="Calibri"/>
                <a:sym typeface="Calibri"/>
              </a:rPr>
              <a:t>Ping Identity</a:t>
            </a:r>
            <a:endParaRPr b="0" i="0" sz="1269" u="none" cap="none" strike="noStrike">
              <a:solidFill>
                <a:schemeClr val="dk1"/>
              </a:solidFill>
              <a:latin typeface="Calibri"/>
              <a:ea typeface="Calibri"/>
              <a:cs typeface="Calibri"/>
              <a:sym typeface="Calibri"/>
            </a:endParaRPr>
          </a:p>
        </p:txBody>
      </p:sp>
      <p:sp>
        <p:nvSpPr>
          <p:cNvPr id="147" name="Google Shape;147;p9"/>
          <p:cNvSpPr/>
          <p:nvPr/>
        </p:nvSpPr>
        <p:spPr>
          <a:xfrm>
            <a:off x="4643438" y="3184327"/>
            <a:ext cx="4157663" cy="1689497"/>
          </a:xfrm>
          <a:prstGeom prst="rect">
            <a:avLst/>
          </a:prstGeom>
          <a:solidFill>
            <a:srgbClr val="FFFFFF">
              <a:alpha val="274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9"/>
          <p:cNvSpPr/>
          <p:nvPr/>
        </p:nvSpPr>
        <p:spPr>
          <a:xfrm>
            <a:off x="4643438" y="3184327"/>
            <a:ext cx="4157663" cy="42863"/>
          </a:xfrm>
          <a:prstGeom prst="rect">
            <a:avLst/>
          </a:prstGeom>
          <a:solidFill>
            <a:srgbClr val="FF6B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9"/>
          <p:cNvSpPr/>
          <p:nvPr/>
        </p:nvSpPr>
        <p:spPr>
          <a:xfrm>
            <a:off x="4814888" y="3355777"/>
            <a:ext cx="3814763" cy="273248"/>
          </a:xfrm>
          <a:prstGeom prst="rect">
            <a:avLst/>
          </a:prstGeom>
          <a:noFill/>
          <a:ln>
            <a:noFill/>
          </a:ln>
        </p:spPr>
        <p:txBody>
          <a:bodyPr anchorCtr="0" anchor="t" bIns="0" lIns="0" spcFirstLastPara="1" rIns="0" wrap="square" tIns="0">
            <a:noAutofit/>
          </a:bodyPr>
          <a:lstStyle/>
          <a:p>
            <a:pPr indent="0" lvl="0" marL="0" marR="0" rtl="0" algn="l">
              <a:lnSpc>
                <a:spcPct val="136005"/>
              </a:lnSpc>
              <a:spcBef>
                <a:spcPts val="0"/>
              </a:spcBef>
              <a:spcAft>
                <a:spcPts val="0"/>
              </a:spcAft>
              <a:buClr>
                <a:srgbClr val="FFFFFF"/>
              </a:buClr>
              <a:buSzPts val="1397"/>
              <a:buFont typeface="Calibri"/>
              <a:buNone/>
            </a:pPr>
            <a:r>
              <a:rPr b="1" i="0" lang="en-US" sz="1397" u="none" cap="none" strike="noStrike">
                <a:solidFill>
                  <a:srgbClr val="FFFFFF"/>
                </a:solidFill>
                <a:latin typeface="Calibri"/>
                <a:ea typeface="Calibri"/>
                <a:cs typeface="Calibri"/>
                <a:sym typeface="Calibri"/>
              </a:rPr>
              <a:t>Cloud &amp; DLP</a:t>
            </a:r>
            <a:endParaRPr b="0" i="0" sz="1397" u="none" cap="none" strike="noStrike">
              <a:solidFill>
                <a:schemeClr val="dk1"/>
              </a:solidFill>
              <a:latin typeface="Calibri"/>
              <a:ea typeface="Calibri"/>
              <a:cs typeface="Calibri"/>
              <a:sym typeface="Calibri"/>
            </a:endParaRPr>
          </a:p>
        </p:txBody>
      </p:sp>
      <p:sp>
        <p:nvSpPr>
          <p:cNvPr id="150" name="Google Shape;150;p9"/>
          <p:cNvSpPr/>
          <p:nvPr/>
        </p:nvSpPr>
        <p:spPr>
          <a:xfrm>
            <a:off x="4814888" y="3743325"/>
            <a:ext cx="3814763" cy="233958"/>
          </a:xfrm>
          <a:prstGeom prst="rect">
            <a:avLst/>
          </a:prstGeom>
          <a:noFill/>
          <a:ln>
            <a:noFill/>
          </a:ln>
        </p:spPr>
        <p:txBody>
          <a:bodyPr anchorCtr="0" anchor="t" bIns="0" lIns="127500" spcFirstLastPara="1" rIns="0" wrap="square" tIns="0">
            <a:noAutofit/>
          </a:bodyPr>
          <a:lstStyle/>
          <a:p>
            <a:pPr indent="0" lvl="0" marL="0" marR="0" rtl="0" algn="l">
              <a:lnSpc>
                <a:spcPct val="126083"/>
              </a:lnSpc>
              <a:spcBef>
                <a:spcPts val="0"/>
              </a:spcBef>
              <a:spcAft>
                <a:spcPts val="0"/>
              </a:spcAft>
              <a:buClr>
                <a:srgbClr val="B0B8C1"/>
              </a:buClr>
              <a:buSzPts val="1269"/>
              <a:buFont typeface="Calibri"/>
              <a:buNone/>
            </a:pPr>
            <a:r>
              <a:rPr b="0" i="0" lang="en-US" sz="1269" u="none" cap="none" strike="noStrike">
                <a:solidFill>
                  <a:srgbClr val="B0B8C1"/>
                </a:solidFill>
                <a:latin typeface="Calibri"/>
                <a:ea typeface="Calibri"/>
                <a:cs typeface="Calibri"/>
                <a:sym typeface="Calibri"/>
              </a:rPr>
              <a:t>Symantec</a:t>
            </a:r>
            <a:endParaRPr b="0" i="0" sz="1269" u="none" cap="none" strike="noStrike">
              <a:solidFill>
                <a:schemeClr val="dk1"/>
              </a:solidFill>
              <a:latin typeface="Calibri"/>
              <a:ea typeface="Calibri"/>
              <a:cs typeface="Calibri"/>
              <a:sym typeface="Calibri"/>
            </a:endParaRPr>
          </a:p>
        </p:txBody>
      </p:sp>
      <p:sp>
        <p:nvSpPr>
          <p:cNvPr id="151" name="Google Shape;151;p9"/>
          <p:cNvSpPr/>
          <p:nvPr/>
        </p:nvSpPr>
        <p:spPr>
          <a:xfrm>
            <a:off x="4814888" y="4048720"/>
            <a:ext cx="3814763" cy="233958"/>
          </a:xfrm>
          <a:prstGeom prst="rect">
            <a:avLst/>
          </a:prstGeom>
          <a:noFill/>
          <a:ln>
            <a:noFill/>
          </a:ln>
        </p:spPr>
        <p:txBody>
          <a:bodyPr anchorCtr="0" anchor="t" bIns="0" lIns="127500" spcFirstLastPara="1" rIns="0" wrap="square" tIns="0">
            <a:noAutofit/>
          </a:bodyPr>
          <a:lstStyle/>
          <a:p>
            <a:pPr indent="0" lvl="0" marL="0" marR="0" rtl="0" algn="l">
              <a:lnSpc>
                <a:spcPct val="126083"/>
              </a:lnSpc>
              <a:spcBef>
                <a:spcPts val="0"/>
              </a:spcBef>
              <a:spcAft>
                <a:spcPts val="0"/>
              </a:spcAft>
              <a:buClr>
                <a:srgbClr val="B0B8C1"/>
              </a:buClr>
              <a:buSzPts val="1269"/>
              <a:buFont typeface="Calibri"/>
              <a:buNone/>
            </a:pPr>
            <a:r>
              <a:rPr b="0" i="0" lang="en-US" sz="1269" u="none" cap="none" strike="noStrike">
                <a:solidFill>
                  <a:srgbClr val="B0B8C1"/>
                </a:solidFill>
                <a:latin typeface="Calibri"/>
                <a:ea typeface="Calibri"/>
                <a:cs typeface="Calibri"/>
                <a:sym typeface="Calibri"/>
              </a:rPr>
              <a:t>Netskope</a:t>
            </a:r>
            <a:endParaRPr b="0" i="0" sz="1269" u="none" cap="none" strike="noStrike">
              <a:solidFill>
                <a:schemeClr val="dk1"/>
              </a:solidFill>
              <a:latin typeface="Calibri"/>
              <a:ea typeface="Calibri"/>
              <a:cs typeface="Calibri"/>
              <a:sym typeface="Calibri"/>
            </a:endParaRPr>
          </a:p>
        </p:txBody>
      </p:sp>
      <p:sp>
        <p:nvSpPr>
          <p:cNvPr id="152" name="Google Shape;152;p9"/>
          <p:cNvSpPr/>
          <p:nvPr/>
        </p:nvSpPr>
        <p:spPr>
          <a:xfrm>
            <a:off x="4814888" y="4354116"/>
            <a:ext cx="3814763" cy="233958"/>
          </a:xfrm>
          <a:prstGeom prst="rect">
            <a:avLst/>
          </a:prstGeom>
          <a:noFill/>
          <a:ln>
            <a:noFill/>
          </a:ln>
        </p:spPr>
        <p:txBody>
          <a:bodyPr anchorCtr="0" anchor="t" bIns="0" lIns="127500" spcFirstLastPara="1" rIns="0" wrap="square" tIns="0">
            <a:noAutofit/>
          </a:bodyPr>
          <a:lstStyle/>
          <a:p>
            <a:pPr indent="0" lvl="0" marL="0" marR="0" rtl="0" algn="l">
              <a:lnSpc>
                <a:spcPct val="126083"/>
              </a:lnSpc>
              <a:spcBef>
                <a:spcPts val="0"/>
              </a:spcBef>
              <a:spcAft>
                <a:spcPts val="0"/>
              </a:spcAft>
              <a:buClr>
                <a:srgbClr val="B0B8C1"/>
              </a:buClr>
              <a:buSzPts val="1269"/>
              <a:buFont typeface="Calibri"/>
              <a:buNone/>
            </a:pPr>
            <a:r>
              <a:rPr b="0" i="0" lang="en-US" sz="1269" u="none" cap="none" strike="noStrike">
                <a:solidFill>
                  <a:srgbClr val="B0B8C1"/>
                </a:solidFill>
                <a:latin typeface="Calibri"/>
                <a:ea typeface="Calibri"/>
                <a:cs typeface="Calibri"/>
                <a:sym typeface="Calibri"/>
              </a:rPr>
              <a:t>Wiz</a:t>
            </a:r>
            <a:endParaRPr b="0" i="0" sz="1269"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pic>
        <p:nvPicPr>
          <p:cNvPr descr="preencoded.png" id="158" name="Google Shape;158;p10"/>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59" name="Google Shape;159;p10"/>
          <p:cNvSpPr/>
          <p:nvPr/>
        </p:nvSpPr>
        <p:spPr>
          <a:xfrm>
            <a:off x="285750" y="428625"/>
            <a:ext cx="8572500" cy="566142"/>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0"/>
          <p:cNvSpPr/>
          <p:nvPr/>
        </p:nvSpPr>
        <p:spPr>
          <a:xfrm>
            <a:off x="285750" y="980480"/>
            <a:ext cx="8572500" cy="14288"/>
          </a:xfrm>
          <a:prstGeom prst="rect">
            <a:avLst/>
          </a:prstGeom>
          <a:solidFill>
            <a:srgbClr val="00D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0"/>
          <p:cNvSpPr/>
          <p:nvPr/>
        </p:nvSpPr>
        <p:spPr>
          <a:xfrm>
            <a:off x="285750" y="428625"/>
            <a:ext cx="8572500" cy="466130"/>
          </a:xfrm>
          <a:prstGeom prst="rect">
            <a:avLst/>
          </a:prstGeom>
          <a:noFill/>
          <a:ln>
            <a:noFill/>
          </a:ln>
        </p:spPr>
        <p:txBody>
          <a:bodyPr anchorCtr="0" anchor="t" bIns="0" lIns="0" spcFirstLastPara="1" rIns="0" wrap="square" tIns="0">
            <a:noAutofit/>
          </a:bodyPr>
          <a:lstStyle/>
          <a:p>
            <a:pPr indent="0" lvl="0" marL="0" marR="0" rtl="0" algn="l">
              <a:lnSpc>
                <a:spcPct val="131362"/>
              </a:lnSpc>
              <a:spcBef>
                <a:spcPts val="0"/>
              </a:spcBef>
              <a:spcAft>
                <a:spcPts val="0"/>
              </a:spcAft>
              <a:buClr>
                <a:srgbClr val="00D9FF"/>
              </a:buClr>
              <a:buSzPts val="2436"/>
              <a:buFont typeface="Calibri"/>
              <a:buNone/>
            </a:pPr>
            <a:r>
              <a:rPr b="1" i="0" lang="en-US" sz="2436" u="none" cap="none" strike="noStrike">
                <a:solidFill>
                  <a:srgbClr val="00D9FF"/>
                </a:solidFill>
                <a:latin typeface="Calibri"/>
                <a:ea typeface="Calibri"/>
                <a:cs typeface="Calibri"/>
                <a:sym typeface="Calibri"/>
              </a:rPr>
              <a:t>Core AWS Security Lake Capabilities</a:t>
            </a:r>
            <a:endParaRPr b="0" i="0" sz="2436" u="none" cap="none" strike="noStrike">
              <a:solidFill>
                <a:schemeClr val="dk1"/>
              </a:solidFill>
              <a:latin typeface="Calibri"/>
              <a:ea typeface="Calibri"/>
              <a:cs typeface="Calibri"/>
              <a:sym typeface="Calibri"/>
            </a:endParaRPr>
          </a:p>
        </p:txBody>
      </p:sp>
      <p:sp>
        <p:nvSpPr>
          <p:cNvPr id="162" name="Google Shape;162;p10"/>
          <p:cNvSpPr/>
          <p:nvPr/>
        </p:nvSpPr>
        <p:spPr>
          <a:xfrm>
            <a:off x="285750" y="1151930"/>
            <a:ext cx="4214813" cy="1817191"/>
          </a:xfrm>
          <a:prstGeom prst="rect">
            <a:avLst/>
          </a:prstGeom>
          <a:solidFill>
            <a:srgbClr val="FFFFFF">
              <a:alpha val="274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0"/>
          <p:cNvSpPr/>
          <p:nvPr/>
        </p:nvSpPr>
        <p:spPr>
          <a:xfrm>
            <a:off x="285750" y="1151930"/>
            <a:ext cx="4214813" cy="42863"/>
          </a:xfrm>
          <a:prstGeom prst="rect">
            <a:avLst/>
          </a:prstGeom>
          <a:solidFill>
            <a:srgbClr val="00D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10"/>
          <p:cNvSpPr/>
          <p:nvPr/>
        </p:nvSpPr>
        <p:spPr>
          <a:xfrm>
            <a:off x="414338" y="1280517"/>
            <a:ext cx="3957638" cy="273248"/>
          </a:xfrm>
          <a:prstGeom prst="rect">
            <a:avLst/>
          </a:prstGeom>
          <a:noFill/>
          <a:ln>
            <a:noFill/>
          </a:ln>
        </p:spPr>
        <p:txBody>
          <a:bodyPr anchorCtr="0" anchor="t" bIns="0" lIns="0" spcFirstLastPara="1" rIns="0" wrap="square" tIns="0">
            <a:noAutofit/>
          </a:bodyPr>
          <a:lstStyle/>
          <a:p>
            <a:pPr indent="0" lvl="0" marL="0" marR="0" rtl="0" algn="l">
              <a:lnSpc>
                <a:spcPct val="136005"/>
              </a:lnSpc>
              <a:spcBef>
                <a:spcPts val="0"/>
              </a:spcBef>
              <a:spcAft>
                <a:spcPts val="0"/>
              </a:spcAft>
              <a:buClr>
                <a:srgbClr val="FFFFFF"/>
              </a:buClr>
              <a:buSzPts val="1397"/>
              <a:buFont typeface="Calibri"/>
              <a:buNone/>
            </a:pPr>
            <a:r>
              <a:rPr b="1" i="0" lang="en-US" sz="1397" u="none" cap="none" strike="noStrike">
                <a:solidFill>
                  <a:srgbClr val="FFFFFF"/>
                </a:solidFill>
                <a:latin typeface="Calibri"/>
                <a:ea typeface="Calibri"/>
                <a:cs typeface="Calibri"/>
                <a:sym typeface="Calibri"/>
              </a:rPr>
              <a:t>Centralized Management</a:t>
            </a:r>
            <a:endParaRPr b="0" i="0" sz="1397" u="none" cap="none" strike="noStrike">
              <a:solidFill>
                <a:schemeClr val="dk1"/>
              </a:solidFill>
              <a:latin typeface="Calibri"/>
              <a:ea typeface="Calibri"/>
              <a:cs typeface="Calibri"/>
              <a:sym typeface="Calibri"/>
            </a:endParaRPr>
          </a:p>
        </p:txBody>
      </p:sp>
      <p:sp>
        <p:nvSpPr>
          <p:cNvPr id="165" name="Google Shape;165;p10"/>
          <p:cNvSpPr/>
          <p:nvPr/>
        </p:nvSpPr>
        <p:spPr>
          <a:xfrm>
            <a:off x="414338" y="1625203"/>
            <a:ext cx="3957638" cy="385763"/>
          </a:xfrm>
          <a:prstGeom prst="rect">
            <a:avLst/>
          </a:prstGeom>
          <a:noFill/>
          <a:ln>
            <a:noFill/>
          </a:ln>
        </p:spPr>
        <p:txBody>
          <a:bodyPr anchorCtr="0" anchor="t" bIns="0" lIns="0" spcFirstLastPara="1" rIns="0" wrap="square" tIns="0">
            <a:noAutofit/>
          </a:bodyPr>
          <a:lstStyle/>
          <a:p>
            <a:pPr indent="0" lvl="0" marL="0" marR="0" rtl="0" algn="l">
              <a:lnSpc>
                <a:spcPct val="159235"/>
              </a:lnSpc>
              <a:spcBef>
                <a:spcPts val="0"/>
              </a:spcBef>
              <a:spcAft>
                <a:spcPts val="0"/>
              </a:spcAft>
              <a:buClr>
                <a:srgbClr val="B0B8C1"/>
              </a:buClr>
              <a:buSzPts val="942"/>
              <a:buFont typeface="Calibri"/>
              <a:buNone/>
            </a:pPr>
            <a:r>
              <a:rPr b="0" i="0" lang="en-US" sz="942" u="none" cap="none" strike="noStrike">
                <a:solidFill>
                  <a:srgbClr val="B0B8C1"/>
                </a:solidFill>
                <a:latin typeface="Calibri"/>
                <a:ea typeface="Calibri"/>
                <a:cs typeface="Calibri"/>
                <a:sym typeface="Calibri"/>
              </a:rPr>
              <a:t>Centralize data from multiple accounts and regions into a single, manageable data lake.</a:t>
            </a:r>
            <a:endParaRPr b="0" i="0" sz="942" u="none" cap="none" strike="noStrike">
              <a:solidFill>
                <a:schemeClr val="dk1"/>
              </a:solidFill>
              <a:latin typeface="Calibri"/>
              <a:ea typeface="Calibri"/>
              <a:cs typeface="Calibri"/>
              <a:sym typeface="Calibri"/>
            </a:endParaRPr>
          </a:p>
        </p:txBody>
      </p:sp>
      <p:sp>
        <p:nvSpPr>
          <p:cNvPr id="166" name="Google Shape;166;p10"/>
          <p:cNvSpPr/>
          <p:nvPr/>
        </p:nvSpPr>
        <p:spPr>
          <a:xfrm>
            <a:off x="414338" y="2125266"/>
            <a:ext cx="3957638" cy="155377"/>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FFFFFF"/>
              </a:buClr>
              <a:buSzPts val="834"/>
              <a:buFont typeface="Calibri"/>
              <a:buNone/>
            </a:pPr>
            <a:r>
              <a:rPr b="0" i="0" lang="en-US" sz="834" u="none" cap="none" strike="noStrike">
                <a:solidFill>
                  <a:srgbClr val="FFFFFF"/>
                </a:solidFill>
                <a:latin typeface="Calibri"/>
                <a:ea typeface="Calibri"/>
                <a:cs typeface="Calibri"/>
                <a:sym typeface="Calibri"/>
              </a:rPr>
              <a:t>Cross-Account Aggregation</a:t>
            </a:r>
            <a:endParaRPr b="0" i="0" sz="834" u="none" cap="none" strike="noStrike">
              <a:solidFill>
                <a:schemeClr val="dk1"/>
              </a:solidFill>
              <a:latin typeface="Calibri"/>
              <a:ea typeface="Calibri"/>
              <a:cs typeface="Calibri"/>
              <a:sym typeface="Calibri"/>
            </a:endParaRPr>
          </a:p>
        </p:txBody>
      </p:sp>
      <p:sp>
        <p:nvSpPr>
          <p:cNvPr id="167" name="Google Shape;167;p10"/>
          <p:cNvSpPr/>
          <p:nvPr/>
        </p:nvSpPr>
        <p:spPr>
          <a:xfrm>
            <a:off x="414338" y="2323505"/>
            <a:ext cx="3957638" cy="155377"/>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FFFFFF"/>
              </a:buClr>
              <a:buSzPts val="834"/>
              <a:buFont typeface="Calibri"/>
              <a:buNone/>
            </a:pPr>
            <a:r>
              <a:rPr b="0" i="0" lang="en-US" sz="834" u="none" cap="none" strike="noStrike">
                <a:solidFill>
                  <a:srgbClr val="FFFFFF"/>
                </a:solidFill>
                <a:latin typeface="Calibri"/>
                <a:ea typeface="Calibri"/>
                <a:cs typeface="Calibri"/>
                <a:sym typeface="Calibri"/>
              </a:rPr>
              <a:t>Multi-Region Rollup</a:t>
            </a:r>
            <a:endParaRPr b="0" i="0" sz="834" u="none" cap="none" strike="noStrike">
              <a:solidFill>
                <a:schemeClr val="dk1"/>
              </a:solidFill>
              <a:latin typeface="Calibri"/>
              <a:ea typeface="Calibri"/>
              <a:cs typeface="Calibri"/>
              <a:sym typeface="Calibri"/>
            </a:endParaRPr>
          </a:p>
        </p:txBody>
      </p:sp>
      <p:sp>
        <p:nvSpPr>
          <p:cNvPr id="168" name="Google Shape;168;p10"/>
          <p:cNvSpPr/>
          <p:nvPr/>
        </p:nvSpPr>
        <p:spPr>
          <a:xfrm>
            <a:off x="4643438" y="1151930"/>
            <a:ext cx="4214813" cy="1817191"/>
          </a:xfrm>
          <a:prstGeom prst="rect">
            <a:avLst/>
          </a:prstGeom>
          <a:solidFill>
            <a:srgbClr val="FFFFFF">
              <a:alpha val="274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0"/>
          <p:cNvSpPr/>
          <p:nvPr/>
        </p:nvSpPr>
        <p:spPr>
          <a:xfrm>
            <a:off x="4643438" y="1151930"/>
            <a:ext cx="4214813" cy="42863"/>
          </a:xfrm>
          <a:prstGeom prst="rect">
            <a:avLst/>
          </a:prstGeom>
          <a:solidFill>
            <a:srgbClr val="9D4E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10"/>
          <p:cNvSpPr/>
          <p:nvPr/>
        </p:nvSpPr>
        <p:spPr>
          <a:xfrm>
            <a:off x="4772025" y="1280517"/>
            <a:ext cx="3957638" cy="273248"/>
          </a:xfrm>
          <a:prstGeom prst="rect">
            <a:avLst/>
          </a:prstGeom>
          <a:noFill/>
          <a:ln>
            <a:noFill/>
          </a:ln>
        </p:spPr>
        <p:txBody>
          <a:bodyPr anchorCtr="0" anchor="t" bIns="0" lIns="0" spcFirstLastPara="1" rIns="0" wrap="square" tIns="0">
            <a:noAutofit/>
          </a:bodyPr>
          <a:lstStyle/>
          <a:p>
            <a:pPr indent="0" lvl="0" marL="0" marR="0" rtl="0" algn="l">
              <a:lnSpc>
                <a:spcPct val="136005"/>
              </a:lnSpc>
              <a:spcBef>
                <a:spcPts val="0"/>
              </a:spcBef>
              <a:spcAft>
                <a:spcPts val="0"/>
              </a:spcAft>
              <a:buClr>
                <a:srgbClr val="FFFFFF"/>
              </a:buClr>
              <a:buSzPts val="1397"/>
              <a:buFont typeface="Calibri"/>
              <a:buNone/>
            </a:pPr>
            <a:r>
              <a:rPr b="1" i="0" lang="en-US" sz="1397" u="none" cap="none" strike="noStrike">
                <a:solidFill>
                  <a:srgbClr val="FFFFFF"/>
                </a:solidFill>
                <a:latin typeface="Calibri"/>
                <a:ea typeface="Calibri"/>
                <a:cs typeface="Calibri"/>
                <a:sym typeface="Calibri"/>
              </a:rPr>
              <a:t>Automated Normalization</a:t>
            </a:r>
            <a:endParaRPr b="0" i="0" sz="1397" u="none" cap="none" strike="noStrike">
              <a:solidFill>
                <a:schemeClr val="dk1"/>
              </a:solidFill>
              <a:latin typeface="Calibri"/>
              <a:ea typeface="Calibri"/>
              <a:cs typeface="Calibri"/>
              <a:sym typeface="Calibri"/>
            </a:endParaRPr>
          </a:p>
        </p:txBody>
      </p:sp>
      <p:sp>
        <p:nvSpPr>
          <p:cNvPr id="171" name="Google Shape;171;p10"/>
          <p:cNvSpPr/>
          <p:nvPr/>
        </p:nvSpPr>
        <p:spPr>
          <a:xfrm>
            <a:off x="4772025" y="1625203"/>
            <a:ext cx="3957638" cy="385763"/>
          </a:xfrm>
          <a:prstGeom prst="rect">
            <a:avLst/>
          </a:prstGeom>
          <a:noFill/>
          <a:ln>
            <a:noFill/>
          </a:ln>
        </p:spPr>
        <p:txBody>
          <a:bodyPr anchorCtr="0" anchor="t" bIns="0" lIns="0" spcFirstLastPara="1" rIns="0" wrap="square" tIns="0">
            <a:noAutofit/>
          </a:bodyPr>
          <a:lstStyle/>
          <a:p>
            <a:pPr indent="0" lvl="0" marL="0" marR="0" rtl="0" algn="l">
              <a:lnSpc>
                <a:spcPct val="159235"/>
              </a:lnSpc>
              <a:spcBef>
                <a:spcPts val="0"/>
              </a:spcBef>
              <a:spcAft>
                <a:spcPts val="0"/>
              </a:spcAft>
              <a:buClr>
                <a:srgbClr val="B0B8C1"/>
              </a:buClr>
              <a:buSzPts val="942"/>
              <a:buFont typeface="Calibri"/>
              <a:buNone/>
            </a:pPr>
            <a:r>
              <a:rPr b="0" i="0" lang="en-US" sz="942" u="none" cap="none" strike="noStrike">
                <a:solidFill>
                  <a:srgbClr val="B0B8C1"/>
                </a:solidFill>
                <a:latin typeface="Calibri"/>
                <a:ea typeface="Calibri"/>
                <a:cs typeface="Calibri"/>
                <a:sym typeface="Calibri"/>
              </a:rPr>
              <a:t>Convert raw logs into OCSF and apply lifecycle policies to optimize storage.</a:t>
            </a:r>
            <a:endParaRPr b="0" i="0" sz="942" u="none" cap="none" strike="noStrike">
              <a:solidFill>
                <a:schemeClr val="dk1"/>
              </a:solidFill>
              <a:latin typeface="Calibri"/>
              <a:ea typeface="Calibri"/>
              <a:cs typeface="Calibri"/>
              <a:sym typeface="Calibri"/>
            </a:endParaRPr>
          </a:p>
        </p:txBody>
      </p:sp>
      <p:sp>
        <p:nvSpPr>
          <p:cNvPr id="172" name="Google Shape;172;p10"/>
          <p:cNvSpPr/>
          <p:nvPr/>
        </p:nvSpPr>
        <p:spPr>
          <a:xfrm>
            <a:off x="4772025" y="2125266"/>
            <a:ext cx="3957638" cy="155377"/>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FFFFFF"/>
              </a:buClr>
              <a:buSzPts val="834"/>
              <a:buFont typeface="Calibri"/>
              <a:buNone/>
            </a:pPr>
            <a:r>
              <a:rPr b="0" i="0" lang="en-US" sz="834" u="none" cap="none" strike="noStrike">
                <a:solidFill>
                  <a:srgbClr val="FFFFFF"/>
                </a:solidFill>
                <a:latin typeface="Calibri"/>
                <a:ea typeface="Calibri"/>
                <a:cs typeface="Calibri"/>
                <a:sym typeface="Calibri"/>
              </a:rPr>
              <a:t>Auto-OCSF Conversion</a:t>
            </a:r>
            <a:endParaRPr b="0" i="0" sz="834" u="none" cap="none" strike="noStrike">
              <a:solidFill>
                <a:schemeClr val="dk1"/>
              </a:solidFill>
              <a:latin typeface="Calibri"/>
              <a:ea typeface="Calibri"/>
              <a:cs typeface="Calibri"/>
              <a:sym typeface="Calibri"/>
            </a:endParaRPr>
          </a:p>
        </p:txBody>
      </p:sp>
      <p:sp>
        <p:nvSpPr>
          <p:cNvPr id="173" name="Google Shape;173;p10"/>
          <p:cNvSpPr/>
          <p:nvPr/>
        </p:nvSpPr>
        <p:spPr>
          <a:xfrm>
            <a:off x="4772025" y="2323505"/>
            <a:ext cx="3957638" cy="155377"/>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FFFFFF"/>
              </a:buClr>
              <a:buSzPts val="834"/>
              <a:buFont typeface="Calibri"/>
              <a:buNone/>
            </a:pPr>
            <a:r>
              <a:rPr b="0" i="0" lang="en-US" sz="834" u="none" cap="none" strike="noStrike">
                <a:solidFill>
                  <a:srgbClr val="FFFFFF"/>
                </a:solidFill>
                <a:latin typeface="Calibri"/>
                <a:ea typeface="Calibri"/>
                <a:cs typeface="Calibri"/>
                <a:sym typeface="Calibri"/>
              </a:rPr>
              <a:t>Lifecycle Management</a:t>
            </a:r>
            <a:endParaRPr b="0" i="0" sz="834" u="none" cap="none" strike="noStrike">
              <a:solidFill>
                <a:schemeClr val="dk1"/>
              </a:solidFill>
              <a:latin typeface="Calibri"/>
              <a:ea typeface="Calibri"/>
              <a:cs typeface="Calibri"/>
              <a:sym typeface="Calibri"/>
            </a:endParaRPr>
          </a:p>
        </p:txBody>
      </p:sp>
      <p:sp>
        <p:nvSpPr>
          <p:cNvPr id="174" name="Google Shape;174;p10"/>
          <p:cNvSpPr/>
          <p:nvPr/>
        </p:nvSpPr>
        <p:spPr>
          <a:xfrm>
            <a:off x="285750" y="3090565"/>
            <a:ext cx="4214813" cy="1838623"/>
          </a:xfrm>
          <a:prstGeom prst="rect">
            <a:avLst/>
          </a:prstGeom>
          <a:solidFill>
            <a:srgbClr val="FFFFFF">
              <a:alpha val="274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0"/>
          <p:cNvSpPr/>
          <p:nvPr/>
        </p:nvSpPr>
        <p:spPr>
          <a:xfrm>
            <a:off x="285750" y="3090565"/>
            <a:ext cx="4214813" cy="42863"/>
          </a:xfrm>
          <a:prstGeom prst="rect">
            <a:avLst/>
          </a:prstGeom>
          <a:solidFill>
            <a:srgbClr val="FFD7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0"/>
          <p:cNvSpPr/>
          <p:nvPr/>
        </p:nvSpPr>
        <p:spPr>
          <a:xfrm>
            <a:off x="414338" y="3219152"/>
            <a:ext cx="3957638" cy="273248"/>
          </a:xfrm>
          <a:prstGeom prst="rect">
            <a:avLst/>
          </a:prstGeom>
          <a:noFill/>
          <a:ln>
            <a:noFill/>
          </a:ln>
        </p:spPr>
        <p:txBody>
          <a:bodyPr anchorCtr="0" anchor="t" bIns="0" lIns="0" spcFirstLastPara="1" rIns="0" wrap="square" tIns="0">
            <a:noAutofit/>
          </a:bodyPr>
          <a:lstStyle/>
          <a:p>
            <a:pPr indent="0" lvl="0" marL="0" marR="0" rtl="0" algn="l">
              <a:lnSpc>
                <a:spcPct val="136005"/>
              </a:lnSpc>
              <a:spcBef>
                <a:spcPts val="0"/>
              </a:spcBef>
              <a:spcAft>
                <a:spcPts val="0"/>
              </a:spcAft>
              <a:buClr>
                <a:srgbClr val="FFFFFF"/>
              </a:buClr>
              <a:buSzPts val="1397"/>
              <a:buFont typeface="Calibri"/>
              <a:buNone/>
            </a:pPr>
            <a:r>
              <a:rPr b="1" i="0" lang="en-US" sz="1397" u="none" cap="none" strike="noStrike">
                <a:solidFill>
                  <a:srgbClr val="FFFFFF"/>
                </a:solidFill>
                <a:latin typeface="Calibri"/>
                <a:ea typeface="Calibri"/>
                <a:cs typeface="Calibri"/>
                <a:sym typeface="Calibri"/>
              </a:rPr>
              <a:t>Unified Querying</a:t>
            </a:r>
            <a:endParaRPr b="0" i="0" sz="1397" u="none" cap="none" strike="noStrike">
              <a:solidFill>
                <a:schemeClr val="dk1"/>
              </a:solidFill>
              <a:latin typeface="Calibri"/>
              <a:ea typeface="Calibri"/>
              <a:cs typeface="Calibri"/>
              <a:sym typeface="Calibri"/>
            </a:endParaRPr>
          </a:p>
        </p:txBody>
      </p:sp>
      <p:sp>
        <p:nvSpPr>
          <p:cNvPr id="177" name="Google Shape;177;p10"/>
          <p:cNvSpPr/>
          <p:nvPr/>
        </p:nvSpPr>
        <p:spPr>
          <a:xfrm>
            <a:off x="414338" y="3563838"/>
            <a:ext cx="3957638" cy="385763"/>
          </a:xfrm>
          <a:prstGeom prst="rect">
            <a:avLst/>
          </a:prstGeom>
          <a:noFill/>
          <a:ln>
            <a:noFill/>
          </a:ln>
        </p:spPr>
        <p:txBody>
          <a:bodyPr anchorCtr="0" anchor="t" bIns="0" lIns="0" spcFirstLastPara="1" rIns="0" wrap="square" tIns="0">
            <a:noAutofit/>
          </a:bodyPr>
          <a:lstStyle/>
          <a:p>
            <a:pPr indent="0" lvl="0" marL="0" marR="0" rtl="0" algn="l">
              <a:lnSpc>
                <a:spcPct val="159235"/>
              </a:lnSpc>
              <a:spcBef>
                <a:spcPts val="0"/>
              </a:spcBef>
              <a:spcAft>
                <a:spcPts val="0"/>
              </a:spcAft>
              <a:buClr>
                <a:srgbClr val="B0B8C1"/>
              </a:buClr>
              <a:buSzPts val="942"/>
              <a:buFont typeface="Calibri"/>
              <a:buNone/>
            </a:pPr>
            <a:r>
              <a:rPr b="0" i="0" lang="en-US" sz="942" u="none" cap="none" strike="noStrike">
                <a:solidFill>
                  <a:srgbClr val="B0B8C1"/>
                </a:solidFill>
                <a:latin typeface="Calibri"/>
                <a:ea typeface="Calibri"/>
                <a:cs typeface="Calibri"/>
                <a:sym typeface="Calibri"/>
              </a:rPr>
              <a:t>Run SQL on OCSF data with Amazon Athena and allow secure, zero-copy access for tools.</a:t>
            </a:r>
            <a:endParaRPr b="0" i="0" sz="942" u="none" cap="none" strike="noStrike">
              <a:solidFill>
                <a:schemeClr val="dk1"/>
              </a:solidFill>
              <a:latin typeface="Calibri"/>
              <a:ea typeface="Calibri"/>
              <a:cs typeface="Calibri"/>
              <a:sym typeface="Calibri"/>
            </a:endParaRPr>
          </a:p>
        </p:txBody>
      </p:sp>
      <p:sp>
        <p:nvSpPr>
          <p:cNvPr id="178" name="Google Shape;178;p10"/>
          <p:cNvSpPr/>
          <p:nvPr/>
        </p:nvSpPr>
        <p:spPr>
          <a:xfrm>
            <a:off x="414338" y="4063901"/>
            <a:ext cx="3957638" cy="155377"/>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FFFFFF"/>
              </a:buClr>
              <a:buSzPts val="834"/>
              <a:buFont typeface="Calibri"/>
              <a:buNone/>
            </a:pPr>
            <a:r>
              <a:rPr b="0" i="0" lang="en-US" sz="834" u="none" cap="none" strike="noStrike">
                <a:solidFill>
                  <a:srgbClr val="FFFFFF"/>
                </a:solidFill>
                <a:latin typeface="Calibri"/>
                <a:ea typeface="Calibri"/>
                <a:cs typeface="Calibri"/>
                <a:sym typeface="Calibri"/>
              </a:rPr>
              <a:t>Amazon Athena Integration</a:t>
            </a:r>
            <a:endParaRPr b="0" i="0" sz="834" u="none" cap="none" strike="noStrike">
              <a:solidFill>
                <a:schemeClr val="dk1"/>
              </a:solidFill>
              <a:latin typeface="Calibri"/>
              <a:ea typeface="Calibri"/>
              <a:cs typeface="Calibri"/>
              <a:sym typeface="Calibri"/>
            </a:endParaRPr>
          </a:p>
        </p:txBody>
      </p:sp>
      <p:sp>
        <p:nvSpPr>
          <p:cNvPr id="179" name="Google Shape;179;p10"/>
          <p:cNvSpPr/>
          <p:nvPr/>
        </p:nvSpPr>
        <p:spPr>
          <a:xfrm>
            <a:off x="414338" y="4262140"/>
            <a:ext cx="3957638" cy="155377"/>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FFFFFF"/>
              </a:buClr>
              <a:buSzPts val="834"/>
              <a:buFont typeface="Calibri"/>
              <a:buNone/>
            </a:pPr>
            <a:r>
              <a:rPr b="0" i="0" lang="en-US" sz="834" u="none" cap="none" strike="noStrike">
                <a:solidFill>
                  <a:srgbClr val="FFFFFF"/>
                </a:solidFill>
                <a:latin typeface="Calibri"/>
                <a:ea typeface="Calibri"/>
                <a:cs typeface="Calibri"/>
                <a:sym typeface="Calibri"/>
              </a:rPr>
              <a:t>Zero-Copy Subscriber Access</a:t>
            </a:r>
            <a:endParaRPr b="0" i="0" sz="834" u="none" cap="none" strike="noStrike">
              <a:solidFill>
                <a:schemeClr val="dk1"/>
              </a:solidFill>
              <a:latin typeface="Calibri"/>
              <a:ea typeface="Calibri"/>
              <a:cs typeface="Calibri"/>
              <a:sym typeface="Calibri"/>
            </a:endParaRPr>
          </a:p>
        </p:txBody>
      </p:sp>
      <p:sp>
        <p:nvSpPr>
          <p:cNvPr id="180" name="Google Shape;180;p10"/>
          <p:cNvSpPr/>
          <p:nvPr/>
        </p:nvSpPr>
        <p:spPr>
          <a:xfrm>
            <a:off x="4643438" y="3090565"/>
            <a:ext cx="4214813" cy="1838623"/>
          </a:xfrm>
          <a:prstGeom prst="rect">
            <a:avLst/>
          </a:prstGeom>
          <a:solidFill>
            <a:srgbClr val="FFFFFF">
              <a:alpha val="274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0"/>
          <p:cNvSpPr/>
          <p:nvPr/>
        </p:nvSpPr>
        <p:spPr>
          <a:xfrm>
            <a:off x="4643438" y="3090565"/>
            <a:ext cx="4214813" cy="42863"/>
          </a:xfrm>
          <a:prstGeom prst="rect">
            <a:avLst/>
          </a:prstGeom>
          <a:solidFill>
            <a:srgbClr val="FF6B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0"/>
          <p:cNvSpPr/>
          <p:nvPr/>
        </p:nvSpPr>
        <p:spPr>
          <a:xfrm>
            <a:off x="4772025" y="3240584"/>
            <a:ext cx="3957638" cy="273248"/>
          </a:xfrm>
          <a:prstGeom prst="rect">
            <a:avLst/>
          </a:prstGeom>
          <a:noFill/>
          <a:ln>
            <a:noFill/>
          </a:ln>
        </p:spPr>
        <p:txBody>
          <a:bodyPr anchorCtr="0" anchor="t" bIns="0" lIns="0" spcFirstLastPara="1" rIns="0" wrap="square" tIns="0">
            <a:noAutofit/>
          </a:bodyPr>
          <a:lstStyle/>
          <a:p>
            <a:pPr indent="0" lvl="0" marL="0" marR="0" rtl="0" algn="l">
              <a:lnSpc>
                <a:spcPct val="136005"/>
              </a:lnSpc>
              <a:spcBef>
                <a:spcPts val="0"/>
              </a:spcBef>
              <a:spcAft>
                <a:spcPts val="0"/>
              </a:spcAft>
              <a:buClr>
                <a:srgbClr val="FFFFFF"/>
              </a:buClr>
              <a:buSzPts val="1397"/>
              <a:buFont typeface="Calibri"/>
              <a:buNone/>
            </a:pPr>
            <a:r>
              <a:rPr b="1" i="0" lang="en-US" sz="1397" u="none" cap="none" strike="noStrike">
                <a:solidFill>
                  <a:srgbClr val="FFFFFF"/>
                </a:solidFill>
                <a:latin typeface="Calibri"/>
                <a:ea typeface="Calibri"/>
                <a:cs typeface="Calibri"/>
                <a:sym typeface="Calibri"/>
              </a:rPr>
              <a:t>Native Alerting</a:t>
            </a:r>
            <a:endParaRPr b="0" i="0" sz="1397" u="none" cap="none" strike="noStrike">
              <a:solidFill>
                <a:schemeClr val="dk1"/>
              </a:solidFill>
              <a:latin typeface="Calibri"/>
              <a:ea typeface="Calibri"/>
              <a:cs typeface="Calibri"/>
              <a:sym typeface="Calibri"/>
            </a:endParaRPr>
          </a:p>
        </p:txBody>
      </p:sp>
      <p:sp>
        <p:nvSpPr>
          <p:cNvPr id="183" name="Google Shape;183;p10"/>
          <p:cNvSpPr/>
          <p:nvPr/>
        </p:nvSpPr>
        <p:spPr>
          <a:xfrm>
            <a:off x="4772025" y="3585270"/>
            <a:ext cx="3957638" cy="385763"/>
          </a:xfrm>
          <a:prstGeom prst="rect">
            <a:avLst/>
          </a:prstGeom>
          <a:noFill/>
          <a:ln>
            <a:noFill/>
          </a:ln>
        </p:spPr>
        <p:txBody>
          <a:bodyPr anchorCtr="0" anchor="t" bIns="0" lIns="0" spcFirstLastPara="1" rIns="0" wrap="square" tIns="0">
            <a:noAutofit/>
          </a:bodyPr>
          <a:lstStyle/>
          <a:p>
            <a:pPr indent="0" lvl="0" marL="0" marR="0" rtl="0" algn="l">
              <a:lnSpc>
                <a:spcPct val="159235"/>
              </a:lnSpc>
              <a:spcBef>
                <a:spcPts val="0"/>
              </a:spcBef>
              <a:spcAft>
                <a:spcPts val="0"/>
              </a:spcAft>
              <a:buClr>
                <a:srgbClr val="B0B8C1"/>
              </a:buClr>
              <a:buSzPts val="942"/>
              <a:buFont typeface="Calibri"/>
              <a:buNone/>
            </a:pPr>
            <a:r>
              <a:rPr b="0" i="0" lang="en-US" sz="942" u="none" cap="none" strike="noStrike">
                <a:solidFill>
                  <a:srgbClr val="B0B8C1"/>
                </a:solidFill>
                <a:latin typeface="Calibri"/>
                <a:ea typeface="Calibri"/>
                <a:cs typeface="Calibri"/>
                <a:sym typeface="Calibri"/>
              </a:rPr>
              <a:t>Trigger alerts and automated responses from incoming data patterns for faster defense.</a:t>
            </a:r>
            <a:endParaRPr b="0" i="0" sz="942" u="none" cap="none" strike="noStrike">
              <a:solidFill>
                <a:schemeClr val="dk1"/>
              </a:solidFill>
              <a:latin typeface="Calibri"/>
              <a:ea typeface="Calibri"/>
              <a:cs typeface="Calibri"/>
              <a:sym typeface="Calibri"/>
            </a:endParaRPr>
          </a:p>
        </p:txBody>
      </p:sp>
      <p:sp>
        <p:nvSpPr>
          <p:cNvPr id="184" name="Google Shape;184;p10"/>
          <p:cNvSpPr/>
          <p:nvPr/>
        </p:nvSpPr>
        <p:spPr>
          <a:xfrm>
            <a:off x="4772025" y="4085332"/>
            <a:ext cx="3957638" cy="155377"/>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FFFFFF"/>
              </a:buClr>
              <a:buSzPts val="834"/>
              <a:buFont typeface="Calibri"/>
              <a:buNone/>
            </a:pPr>
            <a:r>
              <a:rPr b="0" i="0" lang="en-US" sz="834" u="none" cap="none" strike="noStrike">
                <a:solidFill>
                  <a:srgbClr val="FFFFFF"/>
                </a:solidFill>
                <a:latin typeface="Calibri"/>
                <a:ea typeface="Calibri"/>
                <a:cs typeface="Calibri"/>
                <a:sym typeface="Calibri"/>
              </a:rPr>
              <a:t>Amazon EventBridge Triggers</a:t>
            </a:r>
            <a:endParaRPr b="0" i="0" sz="834" u="none" cap="none" strike="noStrike">
              <a:solidFill>
                <a:schemeClr val="dk1"/>
              </a:solidFill>
              <a:latin typeface="Calibri"/>
              <a:ea typeface="Calibri"/>
              <a:cs typeface="Calibri"/>
              <a:sym typeface="Calibri"/>
            </a:endParaRPr>
          </a:p>
        </p:txBody>
      </p:sp>
      <p:sp>
        <p:nvSpPr>
          <p:cNvPr id="185" name="Google Shape;185;p10"/>
          <p:cNvSpPr/>
          <p:nvPr/>
        </p:nvSpPr>
        <p:spPr>
          <a:xfrm>
            <a:off x="4772025" y="4283571"/>
            <a:ext cx="3957638" cy="155377"/>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FFFFFF"/>
              </a:buClr>
              <a:buSzPts val="834"/>
              <a:buFont typeface="Calibri"/>
              <a:buNone/>
            </a:pPr>
            <a:r>
              <a:rPr b="0" i="0" lang="en-US" sz="834" u="none" cap="none" strike="noStrike">
                <a:solidFill>
                  <a:srgbClr val="FFFFFF"/>
                </a:solidFill>
                <a:latin typeface="Calibri"/>
                <a:ea typeface="Calibri"/>
                <a:cs typeface="Calibri"/>
                <a:sym typeface="Calibri"/>
              </a:rPr>
              <a:t>Real-time Response</a:t>
            </a:r>
            <a:endParaRPr b="0" i="0" sz="834"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pic>
        <p:nvPicPr>
          <p:cNvPr descr="preencoded.png" id="191" name="Google Shape;191;p11"/>
          <p:cNvPicPr preferRelativeResize="0"/>
          <p:nvPr/>
        </p:nvPicPr>
        <p:blipFill rotWithShape="1">
          <a:blip r:embed="rId3">
            <a:alphaModFix/>
          </a:blip>
          <a:srcRect b="0" l="0" r="0" t="0"/>
          <a:stretch/>
        </p:blipFill>
        <p:spPr>
          <a:xfrm>
            <a:off x="0" y="0"/>
            <a:ext cx="9144000" cy="5313164"/>
          </a:xfrm>
          <a:prstGeom prst="rect">
            <a:avLst/>
          </a:prstGeom>
          <a:noFill/>
          <a:ln>
            <a:noFill/>
          </a:ln>
        </p:spPr>
      </p:pic>
      <p:sp>
        <p:nvSpPr>
          <p:cNvPr id="192" name="Google Shape;192;p11"/>
          <p:cNvSpPr/>
          <p:nvPr/>
        </p:nvSpPr>
        <p:spPr>
          <a:xfrm>
            <a:off x="428625" y="428625"/>
            <a:ext cx="8286750" cy="623292"/>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1"/>
          <p:cNvSpPr/>
          <p:nvPr/>
        </p:nvSpPr>
        <p:spPr>
          <a:xfrm>
            <a:off x="428625" y="1037630"/>
            <a:ext cx="8286750" cy="14288"/>
          </a:xfrm>
          <a:prstGeom prst="rect">
            <a:avLst/>
          </a:prstGeom>
          <a:solidFill>
            <a:srgbClr val="00D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1"/>
          <p:cNvSpPr/>
          <p:nvPr/>
        </p:nvSpPr>
        <p:spPr>
          <a:xfrm>
            <a:off x="428625" y="428625"/>
            <a:ext cx="8286750" cy="466130"/>
          </a:xfrm>
          <a:prstGeom prst="rect">
            <a:avLst/>
          </a:prstGeom>
          <a:noFill/>
          <a:ln>
            <a:noFill/>
          </a:ln>
        </p:spPr>
        <p:txBody>
          <a:bodyPr anchorCtr="0" anchor="t" bIns="0" lIns="0" spcFirstLastPara="1" rIns="0" wrap="square" tIns="0">
            <a:noAutofit/>
          </a:bodyPr>
          <a:lstStyle/>
          <a:p>
            <a:pPr indent="0" lvl="0" marL="0" marR="0" rtl="0" algn="l">
              <a:lnSpc>
                <a:spcPct val="131362"/>
              </a:lnSpc>
              <a:spcBef>
                <a:spcPts val="0"/>
              </a:spcBef>
              <a:spcAft>
                <a:spcPts val="0"/>
              </a:spcAft>
              <a:buClr>
                <a:srgbClr val="00D9FF"/>
              </a:buClr>
              <a:buSzPts val="2436"/>
              <a:buFont typeface="Calibri"/>
              <a:buNone/>
            </a:pPr>
            <a:r>
              <a:rPr b="1" i="0" lang="en-US" sz="2436" u="none" cap="none" strike="noStrike">
                <a:solidFill>
                  <a:srgbClr val="00D9FF"/>
                </a:solidFill>
                <a:latin typeface="Calibri"/>
                <a:ea typeface="Calibri"/>
                <a:cs typeface="Calibri"/>
                <a:sym typeface="Calibri"/>
              </a:rPr>
              <a:t>End-to-End AI Security Solutions Available Today</a:t>
            </a:r>
            <a:endParaRPr b="0" i="0" sz="2436" u="none" cap="none" strike="noStrike">
              <a:solidFill>
                <a:schemeClr val="dk1"/>
              </a:solidFill>
              <a:latin typeface="Calibri"/>
              <a:ea typeface="Calibri"/>
              <a:cs typeface="Calibri"/>
              <a:sym typeface="Calibri"/>
            </a:endParaRPr>
          </a:p>
        </p:txBody>
      </p:sp>
      <p:sp>
        <p:nvSpPr>
          <p:cNvPr id="195" name="Google Shape;195;p11"/>
          <p:cNvSpPr/>
          <p:nvPr/>
        </p:nvSpPr>
        <p:spPr>
          <a:xfrm>
            <a:off x="428625" y="1394817"/>
            <a:ext cx="2571750" cy="3818334"/>
          </a:xfrm>
          <a:prstGeom prst="rect">
            <a:avLst/>
          </a:prstGeom>
          <a:solidFill>
            <a:srgbClr val="FFFFFF">
              <a:alpha val="274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1"/>
          <p:cNvSpPr/>
          <p:nvPr/>
        </p:nvSpPr>
        <p:spPr>
          <a:xfrm>
            <a:off x="428625" y="1394817"/>
            <a:ext cx="2571750" cy="42863"/>
          </a:xfrm>
          <a:prstGeom prst="rect">
            <a:avLst/>
          </a:prstGeom>
          <a:solidFill>
            <a:srgbClr val="00D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1"/>
          <p:cNvSpPr/>
          <p:nvPr/>
        </p:nvSpPr>
        <p:spPr>
          <a:xfrm>
            <a:off x="642938" y="1609130"/>
            <a:ext cx="2143125" cy="233958"/>
          </a:xfrm>
          <a:prstGeom prst="rect">
            <a:avLst/>
          </a:prstGeom>
          <a:noFill/>
          <a:ln>
            <a:noFill/>
          </a:ln>
        </p:spPr>
        <p:txBody>
          <a:bodyPr anchorCtr="0" anchor="t" bIns="0" lIns="0" spcFirstLastPara="1" rIns="0" wrap="square" tIns="0">
            <a:noAutofit/>
          </a:bodyPr>
          <a:lstStyle/>
          <a:p>
            <a:pPr indent="0" lvl="0" marL="0" marR="0" rtl="0" algn="l">
              <a:lnSpc>
                <a:spcPct val="134115"/>
              </a:lnSpc>
              <a:spcBef>
                <a:spcPts val="0"/>
              </a:spcBef>
              <a:spcAft>
                <a:spcPts val="0"/>
              </a:spcAft>
              <a:buClr>
                <a:srgbClr val="FFFFFF"/>
              </a:buClr>
              <a:buSzPts val="1193"/>
              <a:buFont typeface="Calibri"/>
              <a:buNone/>
            </a:pPr>
            <a:r>
              <a:rPr b="1" i="0" lang="en-US" sz="1193" u="none" cap="none" strike="noStrike">
                <a:solidFill>
                  <a:srgbClr val="FFFFFF"/>
                </a:solidFill>
                <a:latin typeface="Calibri"/>
                <a:ea typeface="Calibri"/>
                <a:cs typeface="Calibri"/>
                <a:sym typeface="Calibri"/>
              </a:rPr>
              <a:t>AWS Native AI</a:t>
            </a:r>
            <a:endParaRPr b="0" i="0" sz="1193" u="none" cap="none" strike="noStrike">
              <a:solidFill>
                <a:schemeClr val="dk1"/>
              </a:solidFill>
              <a:latin typeface="Calibri"/>
              <a:ea typeface="Calibri"/>
              <a:cs typeface="Calibri"/>
              <a:sym typeface="Calibri"/>
            </a:endParaRPr>
          </a:p>
        </p:txBody>
      </p:sp>
      <p:sp>
        <p:nvSpPr>
          <p:cNvPr id="198" name="Google Shape;198;p11"/>
          <p:cNvSpPr/>
          <p:nvPr/>
        </p:nvSpPr>
        <p:spPr>
          <a:xfrm>
            <a:off x="642938" y="2057400"/>
            <a:ext cx="2143125" cy="214313"/>
          </a:xfrm>
          <a:prstGeom prst="rect">
            <a:avLst/>
          </a:prstGeom>
          <a:noFill/>
          <a:ln>
            <a:noFill/>
          </a:ln>
        </p:spPr>
        <p:txBody>
          <a:bodyPr anchorCtr="0" anchor="t" bIns="0" lIns="0" spcFirstLastPara="1" rIns="0" wrap="square" tIns="0">
            <a:noAutofit/>
          </a:bodyPr>
          <a:lstStyle/>
          <a:p>
            <a:pPr indent="0" lvl="0" marL="0" marR="0" rtl="0" algn="l">
              <a:lnSpc>
                <a:spcPct val="137614"/>
              </a:lnSpc>
              <a:spcBef>
                <a:spcPts val="0"/>
              </a:spcBef>
              <a:spcAft>
                <a:spcPts val="0"/>
              </a:spcAft>
              <a:buClr>
                <a:srgbClr val="00D9FF"/>
              </a:buClr>
              <a:buSzPts val="1090"/>
              <a:buFont typeface="Calibri"/>
              <a:buNone/>
            </a:pPr>
            <a:r>
              <a:rPr b="1" i="0" lang="en-US" sz="1090" u="none" cap="none" strike="noStrike">
                <a:solidFill>
                  <a:srgbClr val="00D9FF"/>
                </a:solidFill>
                <a:latin typeface="Calibri"/>
                <a:ea typeface="Calibri"/>
                <a:cs typeface="Calibri"/>
                <a:sym typeface="Calibri"/>
              </a:rPr>
              <a:t>Amazon GuardDuty</a:t>
            </a:r>
            <a:endParaRPr b="0" i="0" sz="1090" u="none" cap="none" strike="noStrike">
              <a:solidFill>
                <a:schemeClr val="dk1"/>
              </a:solidFill>
              <a:latin typeface="Calibri"/>
              <a:ea typeface="Calibri"/>
              <a:cs typeface="Calibri"/>
              <a:sym typeface="Calibri"/>
            </a:endParaRPr>
          </a:p>
        </p:txBody>
      </p:sp>
      <p:sp>
        <p:nvSpPr>
          <p:cNvPr id="199" name="Google Shape;199;p11"/>
          <p:cNvSpPr/>
          <p:nvPr/>
        </p:nvSpPr>
        <p:spPr>
          <a:xfrm>
            <a:off x="642938" y="2343150"/>
            <a:ext cx="2143125" cy="1157288"/>
          </a:xfrm>
          <a:prstGeom prst="rect">
            <a:avLst/>
          </a:prstGeom>
          <a:noFill/>
          <a:ln>
            <a:noFill/>
          </a:ln>
        </p:spPr>
        <p:txBody>
          <a:bodyPr anchorCtr="0" anchor="t" bIns="0" lIns="0" spcFirstLastPara="1" rIns="0" wrap="square" tIns="0">
            <a:noAutofit/>
          </a:bodyPr>
          <a:lstStyle/>
          <a:p>
            <a:pPr indent="0" lvl="0" marL="0" marR="0" rtl="0" algn="l">
              <a:lnSpc>
                <a:spcPct val="159235"/>
              </a:lnSpc>
              <a:spcBef>
                <a:spcPts val="0"/>
              </a:spcBef>
              <a:spcAft>
                <a:spcPts val="0"/>
              </a:spcAft>
              <a:buClr>
                <a:srgbClr val="B0B8C1"/>
              </a:buClr>
              <a:buSzPts val="942"/>
              <a:buFont typeface="Calibri"/>
              <a:buNone/>
            </a:pPr>
            <a:r>
              <a:rPr b="0" i="0" lang="en-US" sz="942" u="none" cap="none" strike="noStrike">
                <a:solidFill>
                  <a:srgbClr val="B0B8C1"/>
                </a:solidFill>
                <a:latin typeface="Calibri"/>
                <a:ea typeface="Calibri"/>
                <a:cs typeface="Calibri"/>
                <a:sym typeface="Calibri"/>
              </a:rPr>
              <a:t>AI/ML-powered threat detection with Extended Threat Detection (Dec 2024) that automatically links signals across EC2 and ECS to detect complex, multi-stage attacks.</a:t>
            </a:r>
            <a:endParaRPr b="0" i="0" sz="942" u="none" cap="none" strike="noStrike">
              <a:solidFill>
                <a:schemeClr val="dk1"/>
              </a:solidFill>
              <a:latin typeface="Calibri"/>
              <a:ea typeface="Calibri"/>
              <a:cs typeface="Calibri"/>
              <a:sym typeface="Calibri"/>
            </a:endParaRPr>
          </a:p>
        </p:txBody>
      </p:sp>
      <p:sp>
        <p:nvSpPr>
          <p:cNvPr id="200" name="Google Shape;200;p11"/>
          <p:cNvSpPr/>
          <p:nvPr/>
        </p:nvSpPr>
        <p:spPr>
          <a:xfrm>
            <a:off x="642938" y="3679031"/>
            <a:ext cx="2143125" cy="214313"/>
          </a:xfrm>
          <a:prstGeom prst="rect">
            <a:avLst/>
          </a:prstGeom>
          <a:noFill/>
          <a:ln>
            <a:noFill/>
          </a:ln>
        </p:spPr>
        <p:txBody>
          <a:bodyPr anchorCtr="0" anchor="t" bIns="0" lIns="0" spcFirstLastPara="1" rIns="0" wrap="square" tIns="0">
            <a:noAutofit/>
          </a:bodyPr>
          <a:lstStyle/>
          <a:p>
            <a:pPr indent="0" lvl="0" marL="0" marR="0" rtl="0" algn="l">
              <a:lnSpc>
                <a:spcPct val="137614"/>
              </a:lnSpc>
              <a:spcBef>
                <a:spcPts val="0"/>
              </a:spcBef>
              <a:spcAft>
                <a:spcPts val="0"/>
              </a:spcAft>
              <a:buClr>
                <a:srgbClr val="00D9FF"/>
              </a:buClr>
              <a:buSzPts val="1090"/>
              <a:buFont typeface="Calibri"/>
              <a:buNone/>
            </a:pPr>
            <a:r>
              <a:rPr b="1" i="0" lang="en-US" sz="1090" u="none" cap="none" strike="noStrike">
                <a:solidFill>
                  <a:srgbClr val="00D9FF"/>
                </a:solidFill>
                <a:latin typeface="Calibri"/>
                <a:ea typeface="Calibri"/>
                <a:cs typeface="Calibri"/>
                <a:sym typeface="Calibri"/>
              </a:rPr>
              <a:t>Amazon Detective</a:t>
            </a:r>
            <a:endParaRPr b="0" i="0" sz="1090" u="none" cap="none" strike="noStrike">
              <a:solidFill>
                <a:schemeClr val="dk1"/>
              </a:solidFill>
              <a:latin typeface="Calibri"/>
              <a:ea typeface="Calibri"/>
              <a:cs typeface="Calibri"/>
              <a:sym typeface="Calibri"/>
            </a:endParaRPr>
          </a:p>
        </p:txBody>
      </p:sp>
      <p:sp>
        <p:nvSpPr>
          <p:cNvPr id="201" name="Google Shape;201;p11"/>
          <p:cNvSpPr/>
          <p:nvPr/>
        </p:nvSpPr>
        <p:spPr>
          <a:xfrm>
            <a:off x="642938" y="3964781"/>
            <a:ext cx="2143125" cy="771525"/>
          </a:xfrm>
          <a:prstGeom prst="rect">
            <a:avLst/>
          </a:prstGeom>
          <a:noFill/>
          <a:ln>
            <a:noFill/>
          </a:ln>
        </p:spPr>
        <p:txBody>
          <a:bodyPr anchorCtr="0" anchor="t" bIns="0" lIns="0" spcFirstLastPara="1" rIns="0" wrap="square" tIns="0">
            <a:noAutofit/>
          </a:bodyPr>
          <a:lstStyle/>
          <a:p>
            <a:pPr indent="0" lvl="0" marL="0" marR="0" rtl="0" algn="l">
              <a:lnSpc>
                <a:spcPct val="159235"/>
              </a:lnSpc>
              <a:spcBef>
                <a:spcPts val="0"/>
              </a:spcBef>
              <a:spcAft>
                <a:spcPts val="0"/>
              </a:spcAft>
              <a:buClr>
                <a:srgbClr val="B0B8C1"/>
              </a:buClr>
              <a:buSzPts val="942"/>
              <a:buFont typeface="Calibri"/>
              <a:buNone/>
            </a:pPr>
            <a:r>
              <a:rPr b="0" i="0" lang="en-US" sz="942" u="none" cap="none" strike="noStrike">
                <a:solidFill>
                  <a:srgbClr val="B0B8C1"/>
                </a:solidFill>
                <a:latin typeface="Calibri"/>
                <a:ea typeface="Calibri"/>
                <a:cs typeface="Calibri"/>
                <a:sym typeface="Calibri"/>
              </a:rPr>
              <a:t>GenAI-powered investigation that automatically summarizes finding groups, reducing investigation time from hours to minutes.</a:t>
            </a:r>
            <a:endParaRPr b="0" i="0" sz="942" u="none" cap="none" strike="noStrike">
              <a:solidFill>
                <a:schemeClr val="dk1"/>
              </a:solidFill>
              <a:latin typeface="Calibri"/>
              <a:ea typeface="Calibri"/>
              <a:cs typeface="Calibri"/>
              <a:sym typeface="Calibri"/>
            </a:endParaRPr>
          </a:p>
        </p:txBody>
      </p:sp>
      <p:sp>
        <p:nvSpPr>
          <p:cNvPr id="202" name="Google Shape;202;p11"/>
          <p:cNvSpPr/>
          <p:nvPr/>
        </p:nvSpPr>
        <p:spPr>
          <a:xfrm>
            <a:off x="3286125" y="1394817"/>
            <a:ext cx="2571750" cy="3818334"/>
          </a:xfrm>
          <a:prstGeom prst="rect">
            <a:avLst/>
          </a:prstGeom>
          <a:solidFill>
            <a:srgbClr val="FFFFFF">
              <a:alpha val="274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11"/>
          <p:cNvSpPr/>
          <p:nvPr/>
        </p:nvSpPr>
        <p:spPr>
          <a:xfrm>
            <a:off x="3286125" y="1394817"/>
            <a:ext cx="2571750" cy="42863"/>
          </a:xfrm>
          <a:prstGeom prst="rect">
            <a:avLst/>
          </a:prstGeom>
          <a:solidFill>
            <a:srgbClr val="9D4E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11"/>
          <p:cNvSpPr/>
          <p:nvPr/>
        </p:nvSpPr>
        <p:spPr>
          <a:xfrm>
            <a:off x="3500438" y="1609130"/>
            <a:ext cx="2143125" cy="467916"/>
          </a:xfrm>
          <a:prstGeom prst="rect">
            <a:avLst/>
          </a:prstGeom>
          <a:noFill/>
          <a:ln>
            <a:noFill/>
          </a:ln>
        </p:spPr>
        <p:txBody>
          <a:bodyPr anchorCtr="0" anchor="t" bIns="0" lIns="0" spcFirstLastPara="1" rIns="0" wrap="square" tIns="0">
            <a:noAutofit/>
          </a:bodyPr>
          <a:lstStyle/>
          <a:p>
            <a:pPr indent="0" lvl="0" marL="0" marR="0" rtl="0" algn="l">
              <a:lnSpc>
                <a:spcPct val="134115"/>
              </a:lnSpc>
              <a:spcBef>
                <a:spcPts val="0"/>
              </a:spcBef>
              <a:spcAft>
                <a:spcPts val="0"/>
              </a:spcAft>
              <a:buClr>
                <a:srgbClr val="FFFFFF"/>
              </a:buClr>
              <a:buSzPts val="1193"/>
              <a:buFont typeface="Calibri"/>
              <a:buNone/>
            </a:pPr>
            <a:r>
              <a:rPr b="1" i="0" lang="en-US" sz="1193" u="none" cap="none" strike="noStrike">
                <a:solidFill>
                  <a:srgbClr val="FFFFFF"/>
                </a:solidFill>
                <a:latin typeface="Calibri"/>
                <a:ea typeface="Calibri"/>
                <a:cs typeface="Calibri"/>
                <a:sym typeface="Calibri"/>
              </a:rPr>
              <a:t>Partner AI Solutions</a:t>
            </a:r>
            <a:endParaRPr b="0" i="0" sz="1193" u="none" cap="none" strike="noStrike">
              <a:solidFill>
                <a:schemeClr val="dk1"/>
              </a:solidFill>
              <a:latin typeface="Calibri"/>
              <a:ea typeface="Calibri"/>
              <a:cs typeface="Calibri"/>
              <a:sym typeface="Calibri"/>
            </a:endParaRPr>
          </a:p>
        </p:txBody>
      </p:sp>
      <p:sp>
        <p:nvSpPr>
          <p:cNvPr id="205" name="Google Shape;205;p11"/>
          <p:cNvSpPr/>
          <p:nvPr/>
        </p:nvSpPr>
        <p:spPr>
          <a:xfrm>
            <a:off x="3500438" y="2291358"/>
            <a:ext cx="2143125" cy="214313"/>
          </a:xfrm>
          <a:prstGeom prst="rect">
            <a:avLst/>
          </a:prstGeom>
          <a:noFill/>
          <a:ln>
            <a:noFill/>
          </a:ln>
        </p:spPr>
        <p:txBody>
          <a:bodyPr anchorCtr="0" anchor="t" bIns="0" lIns="0" spcFirstLastPara="1" rIns="0" wrap="square" tIns="0">
            <a:noAutofit/>
          </a:bodyPr>
          <a:lstStyle/>
          <a:p>
            <a:pPr indent="0" lvl="0" marL="0" marR="0" rtl="0" algn="l">
              <a:lnSpc>
                <a:spcPct val="137614"/>
              </a:lnSpc>
              <a:spcBef>
                <a:spcPts val="0"/>
              </a:spcBef>
              <a:spcAft>
                <a:spcPts val="0"/>
              </a:spcAft>
              <a:buClr>
                <a:srgbClr val="9D4EDD"/>
              </a:buClr>
              <a:buSzPts val="1090"/>
              <a:buFont typeface="Calibri"/>
              <a:buNone/>
            </a:pPr>
            <a:r>
              <a:rPr b="1" i="0" lang="en-US" sz="1090" u="none" cap="none" strike="noStrike">
                <a:solidFill>
                  <a:srgbClr val="9D4EDD"/>
                </a:solidFill>
                <a:latin typeface="Calibri"/>
                <a:ea typeface="Calibri"/>
                <a:cs typeface="Calibri"/>
                <a:sym typeface="Calibri"/>
              </a:rPr>
              <a:t>CrowdStrike Charlotte AI</a:t>
            </a:r>
            <a:endParaRPr b="0" i="0" sz="1090" u="none" cap="none" strike="noStrike">
              <a:solidFill>
                <a:schemeClr val="dk1"/>
              </a:solidFill>
              <a:latin typeface="Calibri"/>
              <a:ea typeface="Calibri"/>
              <a:cs typeface="Calibri"/>
              <a:sym typeface="Calibri"/>
            </a:endParaRPr>
          </a:p>
        </p:txBody>
      </p:sp>
      <p:sp>
        <p:nvSpPr>
          <p:cNvPr id="206" name="Google Shape;206;p11"/>
          <p:cNvSpPr/>
          <p:nvPr/>
        </p:nvSpPr>
        <p:spPr>
          <a:xfrm>
            <a:off x="3500438" y="2577108"/>
            <a:ext cx="2143125" cy="964406"/>
          </a:xfrm>
          <a:prstGeom prst="rect">
            <a:avLst/>
          </a:prstGeom>
          <a:noFill/>
          <a:ln>
            <a:noFill/>
          </a:ln>
        </p:spPr>
        <p:txBody>
          <a:bodyPr anchorCtr="0" anchor="t" bIns="0" lIns="0" spcFirstLastPara="1" rIns="0" wrap="square" tIns="0">
            <a:noAutofit/>
          </a:bodyPr>
          <a:lstStyle/>
          <a:p>
            <a:pPr indent="0" lvl="0" marL="0" marR="0" rtl="0" algn="l">
              <a:lnSpc>
                <a:spcPct val="159235"/>
              </a:lnSpc>
              <a:spcBef>
                <a:spcPts val="0"/>
              </a:spcBef>
              <a:spcAft>
                <a:spcPts val="0"/>
              </a:spcAft>
              <a:buClr>
                <a:srgbClr val="B0B8C1"/>
              </a:buClr>
              <a:buSzPts val="942"/>
              <a:buFont typeface="Calibri"/>
              <a:buNone/>
            </a:pPr>
            <a:r>
              <a:rPr b="0" i="0" lang="en-US" sz="942" u="none" cap="none" strike="noStrike">
                <a:solidFill>
                  <a:srgbClr val="B0B8C1"/>
                </a:solidFill>
                <a:latin typeface="Calibri"/>
                <a:ea typeface="Calibri"/>
                <a:cs typeface="Calibri"/>
                <a:sym typeface="Calibri"/>
              </a:rPr>
              <a:t>Conversational AI for threat hunting and incident response within the CrowdStrike Falcon platform, integrated with Security Lake data.</a:t>
            </a:r>
            <a:endParaRPr b="0" i="0" sz="942" u="none" cap="none" strike="noStrike">
              <a:solidFill>
                <a:schemeClr val="dk1"/>
              </a:solidFill>
              <a:latin typeface="Calibri"/>
              <a:ea typeface="Calibri"/>
              <a:cs typeface="Calibri"/>
              <a:sym typeface="Calibri"/>
            </a:endParaRPr>
          </a:p>
        </p:txBody>
      </p:sp>
      <p:sp>
        <p:nvSpPr>
          <p:cNvPr id="207" name="Google Shape;207;p11"/>
          <p:cNvSpPr/>
          <p:nvPr/>
        </p:nvSpPr>
        <p:spPr>
          <a:xfrm>
            <a:off x="3500438" y="3720108"/>
            <a:ext cx="2143125" cy="214313"/>
          </a:xfrm>
          <a:prstGeom prst="rect">
            <a:avLst/>
          </a:prstGeom>
          <a:noFill/>
          <a:ln>
            <a:noFill/>
          </a:ln>
        </p:spPr>
        <p:txBody>
          <a:bodyPr anchorCtr="0" anchor="t" bIns="0" lIns="0" spcFirstLastPara="1" rIns="0" wrap="square" tIns="0">
            <a:noAutofit/>
          </a:bodyPr>
          <a:lstStyle/>
          <a:p>
            <a:pPr indent="0" lvl="0" marL="0" marR="0" rtl="0" algn="l">
              <a:lnSpc>
                <a:spcPct val="137614"/>
              </a:lnSpc>
              <a:spcBef>
                <a:spcPts val="0"/>
              </a:spcBef>
              <a:spcAft>
                <a:spcPts val="0"/>
              </a:spcAft>
              <a:buClr>
                <a:srgbClr val="9D4EDD"/>
              </a:buClr>
              <a:buSzPts val="1090"/>
              <a:buFont typeface="Calibri"/>
              <a:buNone/>
            </a:pPr>
            <a:r>
              <a:rPr b="1" i="0" lang="en-US" sz="1090" u="none" cap="none" strike="noStrike">
                <a:solidFill>
                  <a:srgbClr val="9D4EDD"/>
                </a:solidFill>
                <a:latin typeface="Calibri"/>
                <a:ea typeface="Calibri"/>
                <a:cs typeface="Calibri"/>
                <a:sym typeface="Calibri"/>
              </a:rPr>
              <a:t>SentinelOne Purple AI</a:t>
            </a:r>
            <a:endParaRPr b="0" i="0" sz="1090" u="none" cap="none" strike="noStrike">
              <a:solidFill>
                <a:schemeClr val="dk1"/>
              </a:solidFill>
              <a:latin typeface="Calibri"/>
              <a:ea typeface="Calibri"/>
              <a:cs typeface="Calibri"/>
              <a:sym typeface="Calibri"/>
            </a:endParaRPr>
          </a:p>
        </p:txBody>
      </p:sp>
      <p:sp>
        <p:nvSpPr>
          <p:cNvPr id="208" name="Google Shape;208;p11"/>
          <p:cNvSpPr/>
          <p:nvPr/>
        </p:nvSpPr>
        <p:spPr>
          <a:xfrm>
            <a:off x="3500438" y="4005858"/>
            <a:ext cx="2143125" cy="771525"/>
          </a:xfrm>
          <a:prstGeom prst="rect">
            <a:avLst/>
          </a:prstGeom>
          <a:noFill/>
          <a:ln>
            <a:noFill/>
          </a:ln>
        </p:spPr>
        <p:txBody>
          <a:bodyPr anchorCtr="0" anchor="t" bIns="0" lIns="0" spcFirstLastPara="1" rIns="0" wrap="square" tIns="0">
            <a:noAutofit/>
          </a:bodyPr>
          <a:lstStyle/>
          <a:p>
            <a:pPr indent="0" lvl="0" marL="0" marR="0" rtl="0" algn="l">
              <a:lnSpc>
                <a:spcPct val="159235"/>
              </a:lnSpc>
              <a:spcBef>
                <a:spcPts val="0"/>
              </a:spcBef>
              <a:spcAft>
                <a:spcPts val="0"/>
              </a:spcAft>
              <a:buClr>
                <a:srgbClr val="B0B8C1"/>
              </a:buClr>
              <a:buSzPts val="942"/>
              <a:buFont typeface="Calibri"/>
              <a:buNone/>
            </a:pPr>
            <a:r>
              <a:rPr b="0" i="0" lang="en-US" sz="942" u="none" cap="none" strike="noStrike">
                <a:solidFill>
                  <a:srgbClr val="B0B8C1"/>
                </a:solidFill>
                <a:latin typeface="Calibri"/>
                <a:ea typeface="Calibri"/>
                <a:cs typeface="Calibri"/>
                <a:sym typeface="Calibri"/>
              </a:rPr>
              <a:t>AI-powered security analyst that automates threat detection, response, and provides automated root cause analysis.</a:t>
            </a:r>
            <a:endParaRPr b="0" i="0" sz="942" u="none" cap="none" strike="noStrike">
              <a:solidFill>
                <a:schemeClr val="dk1"/>
              </a:solidFill>
              <a:latin typeface="Calibri"/>
              <a:ea typeface="Calibri"/>
              <a:cs typeface="Calibri"/>
              <a:sym typeface="Calibri"/>
            </a:endParaRPr>
          </a:p>
        </p:txBody>
      </p:sp>
      <p:sp>
        <p:nvSpPr>
          <p:cNvPr id="209" name="Google Shape;209;p11"/>
          <p:cNvSpPr/>
          <p:nvPr/>
        </p:nvSpPr>
        <p:spPr>
          <a:xfrm>
            <a:off x="6143625" y="1394817"/>
            <a:ext cx="2571750" cy="3818334"/>
          </a:xfrm>
          <a:prstGeom prst="rect">
            <a:avLst/>
          </a:prstGeom>
          <a:solidFill>
            <a:srgbClr val="FFFFFF">
              <a:alpha val="274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1"/>
          <p:cNvSpPr/>
          <p:nvPr/>
        </p:nvSpPr>
        <p:spPr>
          <a:xfrm>
            <a:off x="6143625" y="1394817"/>
            <a:ext cx="2571750" cy="42863"/>
          </a:xfrm>
          <a:prstGeom prst="rect">
            <a:avLst/>
          </a:prstGeom>
          <a:solidFill>
            <a:srgbClr val="FFD7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1"/>
          <p:cNvSpPr/>
          <p:nvPr/>
        </p:nvSpPr>
        <p:spPr>
          <a:xfrm>
            <a:off x="6357938" y="1609130"/>
            <a:ext cx="2143125" cy="467916"/>
          </a:xfrm>
          <a:prstGeom prst="rect">
            <a:avLst/>
          </a:prstGeom>
          <a:noFill/>
          <a:ln>
            <a:noFill/>
          </a:ln>
        </p:spPr>
        <p:txBody>
          <a:bodyPr anchorCtr="0" anchor="t" bIns="0" lIns="0" spcFirstLastPara="1" rIns="0" wrap="square" tIns="0">
            <a:noAutofit/>
          </a:bodyPr>
          <a:lstStyle/>
          <a:p>
            <a:pPr indent="0" lvl="0" marL="0" marR="0" rtl="0" algn="l">
              <a:lnSpc>
                <a:spcPct val="134115"/>
              </a:lnSpc>
              <a:spcBef>
                <a:spcPts val="0"/>
              </a:spcBef>
              <a:spcAft>
                <a:spcPts val="0"/>
              </a:spcAft>
              <a:buClr>
                <a:srgbClr val="FFFFFF"/>
              </a:buClr>
              <a:buSzPts val="1193"/>
              <a:buFont typeface="Calibri"/>
              <a:buNone/>
            </a:pPr>
            <a:r>
              <a:rPr b="1" i="0" lang="en-US" sz="1193" u="none" cap="none" strike="noStrike">
                <a:solidFill>
                  <a:srgbClr val="FFFFFF"/>
                </a:solidFill>
                <a:latin typeface="Calibri"/>
                <a:ea typeface="Calibri"/>
                <a:cs typeface="Calibri"/>
                <a:sym typeface="Calibri"/>
              </a:rPr>
              <a:t>Threat Intelligence AI</a:t>
            </a:r>
            <a:endParaRPr b="0" i="0" sz="1193" u="none" cap="none" strike="noStrike">
              <a:solidFill>
                <a:schemeClr val="dk1"/>
              </a:solidFill>
              <a:latin typeface="Calibri"/>
              <a:ea typeface="Calibri"/>
              <a:cs typeface="Calibri"/>
              <a:sym typeface="Calibri"/>
            </a:endParaRPr>
          </a:p>
        </p:txBody>
      </p:sp>
      <p:sp>
        <p:nvSpPr>
          <p:cNvPr id="212" name="Google Shape;212;p11"/>
          <p:cNvSpPr/>
          <p:nvPr/>
        </p:nvSpPr>
        <p:spPr>
          <a:xfrm>
            <a:off x="6357938" y="2291358"/>
            <a:ext cx="2143125" cy="214313"/>
          </a:xfrm>
          <a:prstGeom prst="rect">
            <a:avLst/>
          </a:prstGeom>
          <a:noFill/>
          <a:ln>
            <a:noFill/>
          </a:ln>
        </p:spPr>
        <p:txBody>
          <a:bodyPr anchorCtr="0" anchor="t" bIns="0" lIns="0" spcFirstLastPara="1" rIns="0" wrap="square" tIns="0">
            <a:noAutofit/>
          </a:bodyPr>
          <a:lstStyle/>
          <a:p>
            <a:pPr indent="0" lvl="0" marL="0" marR="0" rtl="0" algn="l">
              <a:lnSpc>
                <a:spcPct val="137614"/>
              </a:lnSpc>
              <a:spcBef>
                <a:spcPts val="0"/>
              </a:spcBef>
              <a:spcAft>
                <a:spcPts val="0"/>
              </a:spcAft>
              <a:buClr>
                <a:srgbClr val="FFD700"/>
              </a:buClr>
              <a:buSzPts val="1090"/>
              <a:buFont typeface="Calibri"/>
              <a:buNone/>
            </a:pPr>
            <a:r>
              <a:rPr b="1" i="0" lang="en-US" sz="1090" u="none" cap="none" strike="noStrike">
                <a:solidFill>
                  <a:srgbClr val="FFD700"/>
                </a:solidFill>
                <a:latin typeface="Calibri"/>
                <a:ea typeface="Calibri"/>
                <a:cs typeface="Calibri"/>
                <a:sym typeface="Calibri"/>
              </a:rPr>
              <a:t>Recorded Future</a:t>
            </a:r>
            <a:endParaRPr b="0" i="0" sz="1090" u="none" cap="none" strike="noStrike">
              <a:solidFill>
                <a:schemeClr val="dk1"/>
              </a:solidFill>
              <a:latin typeface="Calibri"/>
              <a:ea typeface="Calibri"/>
              <a:cs typeface="Calibri"/>
              <a:sym typeface="Calibri"/>
            </a:endParaRPr>
          </a:p>
        </p:txBody>
      </p:sp>
      <p:sp>
        <p:nvSpPr>
          <p:cNvPr id="213" name="Google Shape;213;p11"/>
          <p:cNvSpPr/>
          <p:nvPr/>
        </p:nvSpPr>
        <p:spPr>
          <a:xfrm>
            <a:off x="6357938" y="2577108"/>
            <a:ext cx="2143125" cy="964406"/>
          </a:xfrm>
          <a:prstGeom prst="rect">
            <a:avLst/>
          </a:prstGeom>
          <a:noFill/>
          <a:ln>
            <a:noFill/>
          </a:ln>
        </p:spPr>
        <p:txBody>
          <a:bodyPr anchorCtr="0" anchor="t" bIns="0" lIns="0" spcFirstLastPara="1" rIns="0" wrap="square" tIns="0">
            <a:noAutofit/>
          </a:bodyPr>
          <a:lstStyle/>
          <a:p>
            <a:pPr indent="0" lvl="0" marL="0" marR="0" rtl="0" algn="l">
              <a:lnSpc>
                <a:spcPct val="159235"/>
              </a:lnSpc>
              <a:spcBef>
                <a:spcPts val="0"/>
              </a:spcBef>
              <a:spcAft>
                <a:spcPts val="0"/>
              </a:spcAft>
              <a:buClr>
                <a:srgbClr val="B0B8C1"/>
              </a:buClr>
              <a:buSzPts val="942"/>
              <a:buFont typeface="Calibri"/>
              <a:buNone/>
            </a:pPr>
            <a:r>
              <a:rPr b="0" i="0" lang="en-US" sz="942" u="none" cap="none" strike="noStrike">
                <a:solidFill>
                  <a:srgbClr val="B0B8C1"/>
                </a:solidFill>
                <a:latin typeface="Calibri"/>
                <a:ea typeface="Calibri"/>
                <a:cs typeface="Calibri"/>
                <a:sym typeface="Calibri"/>
              </a:rPr>
              <a:t>AI-driven threat intelligence platform providing real-time enrichment of Security Lake data with threat context and adversary intelligence.</a:t>
            </a:r>
            <a:endParaRPr b="0" i="0" sz="942" u="none" cap="none" strike="noStrike">
              <a:solidFill>
                <a:schemeClr val="dk1"/>
              </a:solidFill>
              <a:latin typeface="Calibri"/>
              <a:ea typeface="Calibri"/>
              <a:cs typeface="Calibri"/>
              <a:sym typeface="Calibri"/>
            </a:endParaRPr>
          </a:p>
        </p:txBody>
      </p:sp>
      <p:sp>
        <p:nvSpPr>
          <p:cNvPr id="214" name="Google Shape;214;p11"/>
          <p:cNvSpPr/>
          <p:nvPr/>
        </p:nvSpPr>
        <p:spPr>
          <a:xfrm>
            <a:off x="6357938" y="3720108"/>
            <a:ext cx="2143125" cy="214313"/>
          </a:xfrm>
          <a:prstGeom prst="rect">
            <a:avLst/>
          </a:prstGeom>
          <a:noFill/>
          <a:ln>
            <a:noFill/>
          </a:ln>
        </p:spPr>
        <p:txBody>
          <a:bodyPr anchorCtr="0" anchor="t" bIns="0" lIns="0" spcFirstLastPara="1" rIns="0" wrap="square" tIns="0">
            <a:noAutofit/>
          </a:bodyPr>
          <a:lstStyle/>
          <a:p>
            <a:pPr indent="0" lvl="0" marL="0" marR="0" rtl="0" algn="l">
              <a:lnSpc>
                <a:spcPct val="137614"/>
              </a:lnSpc>
              <a:spcBef>
                <a:spcPts val="0"/>
              </a:spcBef>
              <a:spcAft>
                <a:spcPts val="0"/>
              </a:spcAft>
              <a:buClr>
                <a:srgbClr val="FFD700"/>
              </a:buClr>
              <a:buSzPts val="1090"/>
              <a:buFont typeface="Calibri"/>
              <a:buNone/>
            </a:pPr>
            <a:r>
              <a:rPr b="1" i="0" lang="en-US" sz="1090" u="none" cap="none" strike="noStrike">
                <a:solidFill>
                  <a:srgbClr val="FFD700"/>
                </a:solidFill>
                <a:latin typeface="Calibri"/>
                <a:ea typeface="Calibri"/>
                <a:cs typeface="Calibri"/>
                <a:sym typeface="Calibri"/>
              </a:rPr>
              <a:t>SecurityScorecard</a:t>
            </a:r>
            <a:endParaRPr b="0" i="0" sz="1090" u="none" cap="none" strike="noStrike">
              <a:solidFill>
                <a:schemeClr val="dk1"/>
              </a:solidFill>
              <a:latin typeface="Calibri"/>
              <a:ea typeface="Calibri"/>
              <a:cs typeface="Calibri"/>
              <a:sym typeface="Calibri"/>
            </a:endParaRPr>
          </a:p>
        </p:txBody>
      </p:sp>
      <p:sp>
        <p:nvSpPr>
          <p:cNvPr id="215" name="Google Shape;215;p11"/>
          <p:cNvSpPr/>
          <p:nvPr/>
        </p:nvSpPr>
        <p:spPr>
          <a:xfrm>
            <a:off x="6357938" y="4005858"/>
            <a:ext cx="2143125" cy="771525"/>
          </a:xfrm>
          <a:prstGeom prst="rect">
            <a:avLst/>
          </a:prstGeom>
          <a:noFill/>
          <a:ln>
            <a:noFill/>
          </a:ln>
        </p:spPr>
        <p:txBody>
          <a:bodyPr anchorCtr="0" anchor="t" bIns="0" lIns="0" spcFirstLastPara="1" rIns="0" wrap="square" tIns="0">
            <a:noAutofit/>
          </a:bodyPr>
          <a:lstStyle/>
          <a:p>
            <a:pPr indent="0" lvl="0" marL="0" marR="0" rtl="0" algn="l">
              <a:lnSpc>
                <a:spcPct val="159235"/>
              </a:lnSpc>
              <a:spcBef>
                <a:spcPts val="0"/>
              </a:spcBef>
              <a:spcAft>
                <a:spcPts val="0"/>
              </a:spcAft>
              <a:buClr>
                <a:srgbClr val="B0B8C1"/>
              </a:buClr>
              <a:buSzPts val="942"/>
              <a:buFont typeface="Calibri"/>
              <a:buNone/>
            </a:pPr>
            <a:r>
              <a:rPr b="0" i="0" lang="en-US" sz="942" u="none" cap="none" strike="noStrike">
                <a:solidFill>
                  <a:srgbClr val="B0B8C1"/>
                </a:solidFill>
                <a:latin typeface="Calibri"/>
                <a:ea typeface="Calibri"/>
                <a:cs typeface="Calibri"/>
                <a:sym typeface="Calibri"/>
              </a:rPr>
              <a:t>Attack Surface Intelligence providing contextualized external threat intelligence on-demand for Security Lake data.</a:t>
            </a:r>
            <a:endParaRPr b="0" i="0" sz="942"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pic>
        <p:nvPicPr>
          <p:cNvPr descr="preencoded.png" id="221" name="Google Shape;221;p12"/>
          <p:cNvPicPr preferRelativeResize="0"/>
          <p:nvPr/>
        </p:nvPicPr>
        <p:blipFill rotWithShape="1">
          <a:blip r:embed="rId3">
            <a:alphaModFix/>
          </a:blip>
          <a:srcRect b="0" l="0" r="0" t="0"/>
          <a:stretch/>
        </p:blipFill>
        <p:spPr>
          <a:xfrm>
            <a:off x="0" y="0"/>
            <a:ext cx="9144000" cy="5454588"/>
          </a:xfrm>
          <a:prstGeom prst="rect">
            <a:avLst/>
          </a:prstGeom>
          <a:noFill/>
          <a:ln>
            <a:noFill/>
          </a:ln>
        </p:spPr>
      </p:pic>
      <p:sp>
        <p:nvSpPr>
          <p:cNvPr id="222" name="Google Shape;222;p12"/>
          <p:cNvSpPr/>
          <p:nvPr/>
        </p:nvSpPr>
        <p:spPr>
          <a:xfrm>
            <a:off x="428625" y="428625"/>
            <a:ext cx="8286750" cy="623292"/>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2"/>
          <p:cNvSpPr/>
          <p:nvPr/>
        </p:nvSpPr>
        <p:spPr>
          <a:xfrm>
            <a:off x="428625" y="1037630"/>
            <a:ext cx="8286750" cy="14288"/>
          </a:xfrm>
          <a:prstGeom prst="rect">
            <a:avLst/>
          </a:prstGeom>
          <a:solidFill>
            <a:srgbClr val="00D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2"/>
          <p:cNvSpPr/>
          <p:nvPr/>
        </p:nvSpPr>
        <p:spPr>
          <a:xfrm>
            <a:off x="428625" y="428625"/>
            <a:ext cx="8286750" cy="466130"/>
          </a:xfrm>
          <a:prstGeom prst="rect">
            <a:avLst/>
          </a:prstGeom>
          <a:noFill/>
          <a:ln>
            <a:noFill/>
          </a:ln>
        </p:spPr>
        <p:txBody>
          <a:bodyPr anchorCtr="0" anchor="t" bIns="0" lIns="0" spcFirstLastPara="1" rIns="0" wrap="square" tIns="0">
            <a:noAutofit/>
          </a:bodyPr>
          <a:lstStyle/>
          <a:p>
            <a:pPr indent="0" lvl="0" marL="0" marR="0" rtl="0" algn="l">
              <a:lnSpc>
                <a:spcPct val="131362"/>
              </a:lnSpc>
              <a:spcBef>
                <a:spcPts val="0"/>
              </a:spcBef>
              <a:spcAft>
                <a:spcPts val="0"/>
              </a:spcAft>
              <a:buClr>
                <a:srgbClr val="00D9FF"/>
              </a:buClr>
              <a:buSzPts val="2436"/>
              <a:buFont typeface="Calibri"/>
              <a:buNone/>
            </a:pPr>
            <a:r>
              <a:rPr b="1" i="0" lang="en-US" sz="2436" u="none" cap="none" strike="noStrike">
                <a:solidFill>
                  <a:srgbClr val="00D9FF"/>
                </a:solidFill>
                <a:latin typeface="Calibri"/>
                <a:ea typeface="Calibri"/>
                <a:cs typeface="Calibri"/>
                <a:sym typeface="Calibri"/>
              </a:rPr>
              <a:t>Threat Intelligence Collection and Integration</a:t>
            </a:r>
            <a:endParaRPr b="0" i="0" sz="2436" u="none" cap="none" strike="noStrike">
              <a:solidFill>
                <a:schemeClr val="dk1"/>
              </a:solidFill>
              <a:latin typeface="Calibri"/>
              <a:ea typeface="Calibri"/>
              <a:cs typeface="Calibri"/>
              <a:sym typeface="Calibri"/>
            </a:endParaRPr>
          </a:p>
        </p:txBody>
      </p:sp>
      <p:sp>
        <p:nvSpPr>
          <p:cNvPr id="225" name="Google Shape;225;p12"/>
          <p:cNvSpPr/>
          <p:nvPr/>
        </p:nvSpPr>
        <p:spPr>
          <a:xfrm>
            <a:off x="428625" y="1180505"/>
            <a:ext cx="8286750" cy="848320"/>
          </a:xfrm>
          <a:prstGeom prst="rect">
            <a:avLst/>
          </a:prstGeom>
          <a:solidFill>
            <a:srgbClr val="FFFFFF">
              <a:alpha val="274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2"/>
          <p:cNvSpPr/>
          <p:nvPr/>
        </p:nvSpPr>
        <p:spPr>
          <a:xfrm>
            <a:off x="428625" y="1180505"/>
            <a:ext cx="42863" cy="848320"/>
          </a:xfrm>
          <a:prstGeom prst="rect">
            <a:avLst/>
          </a:prstGeom>
          <a:solidFill>
            <a:srgbClr val="00D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2"/>
          <p:cNvSpPr/>
          <p:nvPr/>
        </p:nvSpPr>
        <p:spPr>
          <a:xfrm>
            <a:off x="571500" y="1266230"/>
            <a:ext cx="8001000" cy="233958"/>
          </a:xfrm>
          <a:prstGeom prst="rect">
            <a:avLst/>
          </a:prstGeom>
          <a:noFill/>
          <a:ln>
            <a:noFill/>
          </a:ln>
        </p:spPr>
        <p:txBody>
          <a:bodyPr anchorCtr="0" anchor="t" bIns="0" lIns="0" spcFirstLastPara="1" rIns="0" wrap="square" tIns="0">
            <a:noAutofit/>
          </a:bodyPr>
          <a:lstStyle/>
          <a:p>
            <a:pPr indent="0" lvl="0" marL="0" marR="0" rtl="0" algn="l">
              <a:lnSpc>
                <a:spcPct val="134115"/>
              </a:lnSpc>
              <a:spcBef>
                <a:spcPts val="0"/>
              </a:spcBef>
              <a:spcAft>
                <a:spcPts val="0"/>
              </a:spcAft>
              <a:buClr>
                <a:srgbClr val="00D9FF"/>
              </a:buClr>
              <a:buSzPts val="1193"/>
              <a:buFont typeface="Calibri"/>
              <a:buNone/>
            </a:pPr>
            <a:r>
              <a:rPr b="1" i="0" lang="en-US" sz="1193" u="none" cap="none" strike="noStrike">
                <a:solidFill>
                  <a:srgbClr val="00D9FF"/>
                </a:solidFill>
                <a:latin typeface="Calibri"/>
                <a:ea typeface="Calibri"/>
                <a:cs typeface="Calibri"/>
                <a:sym typeface="Calibri"/>
              </a:rPr>
              <a:t>Native AWS Threat Intelligence</a:t>
            </a:r>
            <a:endParaRPr b="0" i="0" sz="1193" u="none" cap="none" strike="noStrike">
              <a:solidFill>
                <a:schemeClr val="dk1"/>
              </a:solidFill>
              <a:latin typeface="Calibri"/>
              <a:ea typeface="Calibri"/>
              <a:cs typeface="Calibri"/>
              <a:sym typeface="Calibri"/>
            </a:endParaRPr>
          </a:p>
        </p:txBody>
      </p:sp>
      <p:sp>
        <p:nvSpPr>
          <p:cNvPr id="228" name="Google Shape;228;p12"/>
          <p:cNvSpPr/>
          <p:nvPr/>
        </p:nvSpPr>
        <p:spPr>
          <a:xfrm>
            <a:off x="571500" y="1557338"/>
            <a:ext cx="8001000" cy="385763"/>
          </a:xfrm>
          <a:prstGeom prst="rect">
            <a:avLst/>
          </a:prstGeom>
          <a:noFill/>
          <a:ln>
            <a:noFill/>
          </a:ln>
        </p:spPr>
        <p:txBody>
          <a:bodyPr anchorCtr="0" anchor="t" bIns="0" lIns="0" spcFirstLastPara="1" rIns="0" wrap="square" tIns="0">
            <a:noAutofit/>
          </a:bodyPr>
          <a:lstStyle/>
          <a:p>
            <a:pPr indent="0" lvl="0" marL="0" marR="0" rtl="0" algn="l">
              <a:lnSpc>
                <a:spcPct val="159235"/>
              </a:lnSpc>
              <a:spcBef>
                <a:spcPts val="0"/>
              </a:spcBef>
              <a:spcAft>
                <a:spcPts val="0"/>
              </a:spcAft>
              <a:buClr>
                <a:srgbClr val="B0B8C1"/>
              </a:buClr>
              <a:buSzPts val="942"/>
              <a:buFont typeface="Calibri"/>
              <a:buNone/>
            </a:pPr>
            <a:r>
              <a:rPr b="0" i="0" lang="en-US" sz="942" u="none" cap="none" strike="noStrike">
                <a:solidFill>
                  <a:srgbClr val="B0B8C1"/>
                </a:solidFill>
                <a:latin typeface="Calibri"/>
                <a:ea typeface="Calibri"/>
                <a:cs typeface="Calibri"/>
                <a:sym typeface="Calibri"/>
              </a:rPr>
              <a:t>GuardDuty findings (enriched with AWS threat intelligence) are automatically sent to Security Lake in OCSF format. Security Lake supports the OCSF Threat Intelligence event class for standardized IOCs and threat profiles.</a:t>
            </a:r>
            <a:endParaRPr b="0" i="0" sz="942" u="none" cap="none" strike="noStrike">
              <a:solidFill>
                <a:schemeClr val="dk1"/>
              </a:solidFill>
              <a:latin typeface="Calibri"/>
              <a:ea typeface="Calibri"/>
              <a:cs typeface="Calibri"/>
              <a:sym typeface="Calibri"/>
            </a:endParaRPr>
          </a:p>
        </p:txBody>
      </p:sp>
      <p:sp>
        <p:nvSpPr>
          <p:cNvPr id="229" name="Google Shape;229;p12"/>
          <p:cNvSpPr/>
          <p:nvPr/>
        </p:nvSpPr>
        <p:spPr>
          <a:xfrm>
            <a:off x="428625" y="2114550"/>
            <a:ext cx="8286750" cy="1186923"/>
          </a:xfrm>
          <a:prstGeom prst="rect">
            <a:avLst/>
          </a:prstGeom>
          <a:solidFill>
            <a:srgbClr val="FFFFFF">
              <a:alpha val="274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2"/>
          <p:cNvSpPr/>
          <p:nvPr/>
        </p:nvSpPr>
        <p:spPr>
          <a:xfrm>
            <a:off x="428625" y="2114550"/>
            <a:ext cx="42863" cy="1186923"/>
          </a:xfrm>
          <a:prstGeom prst="rect">
            <a:avLst/>
          </a:prstGeom>
          <a:solidFill>
            <a:srgbClr val="9D4E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2"/>
          <p:cNvSpPr/>
          <p:nvPr/>
        </p:nvSpPr>
        <p:spPr>
          <a:xfrm>
            <a:off x="571500" y="2200275"/>
            <a:ext cx="8001000" cy="233958"/>
          </a:xfrm>
          <a:prstGeom prst="rect">
            <a:avLst/>
          </a:prstGeom>
          <a:noFill/>
          <a:ln>
            <a:noFill/>
          </a:ln>
        </p:spPr>
        <p:txBody>
          <a:bodyPr anchorCtr="0" anchor="t" bIns="0" lIns="0" spcFirstLastPara="1" rIns="0" wrap="square" tIns="0">
            <a:noAutofit/>
          </a:bodyPr>
          <a:lstStyle/>
          <a:p>
            <a:pPr indent="0" lvl="0" marL="0" marR="0" rtl="0" algn="l">
              <a:lnSpc>
                <a:spcPct val="134115"/>
              </a:lnSpc>
              <a:spcBef>
                <a:spcPts val="0"/>
              </a:spcBef>
              <a:spcAft>
                <a:spcPts val="0"/>
              </a:spcAft>
              <a:buClr>
                <a:srgbClr val="9D4EDD"/>
              </a:buClr>
              <a:buSzPts val="1193"/>
              <a:buFont typeface="Calibri"/>
              <a:buNone/>
            </a:pPr>
            <a:r>
              <a:rPr b="1" i="0" lang="en-US" sz="1193" u="none" cap="none" strike="noStrike">
                <a:solidFill>
                  <a:srgbClr val="9D4EDD"/>
                </a:solidFill>
                <a:latin typeface="Calibri"/>
                <a:ea typeface="Calibri"/>
                <a:cs typeface="Calibri"/>
                <a:sym typeface="Calibri"/>
              </a:rPr>
              <a:t>Third-Party Threat Intelligence Integrations</a:t>
            </a:r>
            <a:endParaRPr b="0" i="0" sz="1193" u="none" cap="none" strike="noStrike">
              <a:solidFill>
                <a:schemeClr val="dk1"/>
              </a:solidFill>
              <a:latin typeface="Calibri"/>
              <a:ea typeface="Calibri"/>
              <a:cs typeface="Calibri"/>
              <a:sym typeface="Calibri"/>
            </a:endParaRPr>
          </a:p>
        </p:txBody>
      </p:sp>
      <p:sp>
        <p:nvSpPr>
          <p:cNvPr id="232" name="Google Shape;232;p12"/>
          <p:cNvSpPr/>
          <p:nvPr/>
        </p:nvSpPr>
        <p:spPr>
          <a:xfrm>
            <a:off x="571500" y="2491383"/>
            <a:ext cx="8001000" cy="192881"/>
          </a:xfrm>
          <a:prstGeom prst="rect">
            <a:avLst/>
          </a:prstGeom>
          <a:noFill/>
          <a:ln>
            <a:noFill/>
          </a:ln>
        </p:spPr>
        <p:txBody>
          <a:bodyPr anchorCtr="0" anchor="t" bIns="0" lIns="0" spcFirstLastPara="1" rIns="0" wrap="square" tIns="0">
            <a:noAutofit/>
          </a:bodyPr>
          <a:lstStyle/>
          <a:p>
            <a:pPr indent="0" lvl="0" marL="0" marR="0" rtl="0" algn="l">
              <a:lnSpc>
                <a:spcPct val="159235"/>
              </a:lnSpc>
              <a:spcBef>
                <a:spcPts val="0"/>
              </a:spcBef>
              <a:spcAft>
                <a:spcPts val="0"/>
              </a:spcAft>
              <a:buClr>
                <a:srgbClr val="B0B8C1"/>
              </a:buClr>
              <a:buSzPts val="942"/>
              <a:buFont typeface="Calibri"/>
              <a:buNone/>
            </a:pPr>
            <a:r>
              <a:rPr b="0" i="0" lang="en-US" sz="942" u="none" cap="none" strike="noStrike">
                <a:solidFill>
                  <a:srgbClr val="B0B8C1"/>
                </a:solidFill>
                <a:latin typeface="Calibri"/>
                <a:ea typeface="Calibri"/>
                <a:cs typeface="Calibri"/>
                <a:sym typeface="Calibri"/>
              </a:rPr>
              <a:t>Leading threat intelligence providers integrate seamlessly with Security Lake:</a:t>
            </a:r>
            <a:endParaRPr b="0" i="0" sz="942" u="none" cap="none" strike="noStrike">
              <a:solidFill>
                <a:schemeClr val="dk1"/>
              </a:solidFill>
              <a:latin typeface="Calibri"/>
              <a:ea typeface="Calibri"/>
              <a:cs typeface="Calibri"/>
              <a:sym typeface="Calibri"/>
            </a:endParaRPr>
          </a:p>
        </p:txBody>
      </p:sp>
      <p:sp>
        <p:nvSpPr>
          <p:cNvPr id="233" name="Google Shape;233;p12"/>
          <p:cNvSpPr/>
          <p:nvPr/>
        </p:nvSpPr>
        <p:spPr>
          <a:xfrm>
            <a:off x="571500" y="2727127"/>
            <a:ext cx="3936206" cy="180017"/>
          </a:xfrm>
          <a:prstGeom prst="rect">
            <a:avLst/>
          </a:prstGeom>
          <a:noFill/>
          <a:ln>
            <a:noFill/>
          </a:ln>
        </p:spPr>
        <p:txBody>
          <a:bodyPr anchorCtr="0" anchor="t" bIns="0" lIns="0" spcFirstLastPara="1" rIns="0" wrap="square" tIns="0">
            <a:noAutofit/>
          </a:bodyPr>
          <a:lstStyle/>
          <a:p>
            <a:pPr indent="0" lvl="0" marL="0" marR="0" rtl="0" algn="l">
              <a:lnSpc>
                <a:spcPct val="148619"/>
              </a:lnSpc>
              <a:spcBef>
                <a:spcPts val="0"/>
              </a:spcBef>
              <a:spcAft>
                <a:spcPts val="0"/>
              </a:spcAft>
              <a:buClr>
                <a:srgbClr val="FFFFFF"/>
              </a:buClr>
              <a:buSzPts val="885"/>
              <a:buFont typeface="Calibri"/>
              <a:buNone/>
            </a:pPr>
            <a:r>
              <a:rPr b="1" i="0" lang="en-US" sz="885" u="none" cap="none" strike="noStrike">
                <a:solidFill>
                  <a:srgbClr val="FFFFFF"/>
                </a:solidFill>
                <a:latin typeface="Calibri"/>
                <a:ea typeface="Calibri"/>
                <a:cs typeface="Calibri"/>
                <a:sym typeface="Calibri"/>
              </a:rPr>
              <a:t>Recorded Future</a:t>
            </a:r>
            <a:r>
              <a:rPr b="0" i="0" lang="en-US" sz="942" u="none" cap="none" strike="noStrike">
                <a:solidFill>
                  <a:srgbClr val="FFFFFF"/>
                </a:solidFill>
                <a:latin typeface="Calibri"/>
                <a:ea typeface="Calibri"/>
                <a:cs typeface="Calibri"/>
                <a:sym typeface="Calibri"/>
              </a:rPr>
              <a:t> - Real-time enrichment</a:t>
            </a:r>
            <a:endParaRPr b="0" i="0" sz="885" u="none" cap="none" strike="noStrike">
              <a:solidFill>
                <a:schemeClr val="dk1"/>
              </a:solidFill>
              <a:latin typeface="Calibri"/>
              <a:ea typeface="Calibri"/>
              <a:cs typeface="Calibri"/>
              <a:sym typeface="Calibri"/>
            </a:endParaRPr>
          </a:p>
        </p:txBody>
      </p:sp>
      <p:sp>
        <p:nvSpPr>
          <p:cNvPr id="234" name="Google Shape;234;p12"/>
          <p:cNvSpPr/>
          <p:nvPr/>
        </p:nvSpPr>
        <p:spPr>
          <a:xfrm>
            <a:off x="4636294" y="2727127"/>
            <a:ext cx="3936206" cy="180017"/>
          </a:xfrm>
          <a:prstGeom prst="rect">
            <a:avLst/>
          </a:prstGeom>
          <a:noFill/>
          <a:ln>
            <a:noFill/>
          </a:ln>
        </p:spPr>
        <p:txBody>
          <a:bodyPr anchorCtr="0" anchor="t" bIns="0" lIns="0" spcFirstLastPara="1" rIns="0" wrap="square" tIns="0">
            <a:noAutofit/>
          </a:bodyPr>
          <a:lstStyle/>
          <a:p>
            <a:pPr indent="0" lvl="0" marL="0" marR="0" rtl="0" algn="l">
              <a:lnSpc>
                <a:spcPct val="148619"/>
              </a:lnSpc>
              <a:spcBef>
                <a:spcPts val="0"/>
              </a:spcBef>
              <a:spcAft>
                <a:spcPts val="0"/>
              </a:spcAft>
              <a:buClr>
                <a:srgbClr val="FFFFFF"/>
              </a:buClr>
              <a:buSzPts val="885"/>
              <a:buFont typeface="Calibri"/>
              <a:buNone/>
            </a:pPr>
            <a:r>
              <a:rPr b="1" i="0" lang="en-US" sz="885" u="none" cap="none" strike="noStrike">
                <a:solidFill>
                  <a:srgbClr val="FFFFFF"/>
                </a:solidFill>
                <a:latin typeface="Calibri"/>
                <a:ea typeface="Calibri"/>
                <a:cs typeface="Calibri"/>
                <a:sym typeface="Calibri"/>
              </a:rPr>
              <a:t>SecurityScorecard</a:t>
            </a:r>
            <a:r>
              <a:rPr b="0" i="0" lang="en-US" sz="942" u="none" cap="none" strike="noStrike">
                <a:solidFill>
                  <a:srgbClr val="FFFFFF"/>
                </a:solidFill>
                <a:latin typeface="Calibri"/>
                <a:ea typeface="Calibri"/>
                <a:cs typeface="Calibri"/>
                <a:sym typeface="Calibri"/>
              </a:rPr>
              <a:t> - Attack Surface Intelligence</a:t>
            </a:r>
            <a:endParaRPr b="0" i="0" sz="885" u="none" cap="none" strike="noStrike">
              <a:solidFill>
                <a:schemeClr val="dk1"/>
              </a:solidFill>
              <a:latin typeface="Calibri"/>
              <a:ea typeface="Calibri"/>
              <a:cs typeface="Calibri"/>
              <a:sym typeface="Calibri"/>
            </a:endParaRPr>
          </a:p>
        </p:txBody>
      </p:sp>
      <p:sp>
        <p:nvSpPr>
          <p:cNvPr id="235" name="Google Shape;235;p12"/>
          <p:cNvSpPr/>
          <p:nvPr/>
        </p:nvSpPr>
        <p:spPr>
          <a:xfrm>
            <a:off x="571500" y="2992868"/>
            <a:ext cx="3936206" cy="180017"/>
          </a:xfrm>
          <a:prstGeom prst="rect">
            <a:avLst/>
          </a:prstGeom>
          <a:noFill/>
          <a:ln>
            <a:noFill/>
          </a:ln>
        </p:spPr>
        <p:txBody>
          <a:bodyPr anchorCtr="0" anchor="t" bIns="0" lIns="0" spcFirstLastPara="1" rIns="0" wrap="square" tIns="0">
            <a:noAutofit/>
          </a:bodyPr>
          <a:lstStyle/>
          <a:p>
            <a:pPr indent="0" lvl="0" marL="0" marR="0" rtl="0" algn="l">
              <a:lnSpc>
                <a:spcPct val="148619"/>
              </a:lnSpc>
              <a:spcBef>
                <a:spcPts val="0"/>
              </a:spcBef>
              <a:spcAft>
                <a:spcPts val="0"/>
              </a:spcAft>
              <a:buClr>
                <a:srgbClr val="FFFFFF"/>
              </a:buClr>
              <a:buSzPts val="885"/>
              <a:buFont typeface="Calibri"/>
              <a:buNone/>
            </a:pPr>
            <a:r>
              <a:rPr b="1" i="0" lang="en-US" sz="885" u="none" cap="none" strike="noStrike">
                <a:solidFill>
                  <a:srgbClr val="FFFFFF"/>
                </a:solidFill>
                <a:latin typeface="Calibri"/>
                <a:ea typeface="Calibri"/>
                <a:cs typeface="Calibri"/>
                <a:sym typeface="Calibri"/>
              </a:rPr>
              <a:t>CrowdStrike</a:t>
            </a:r>
            <a:r>
              <a:rPr b="0" i="0" lang="en-US" sz="942" u="none" cap="none" strike="noStrike">
                <a:solidFill>
                  <a:srgbClr val="FFFFFF"/>
                </a:solidFill>
                <a:latin typeface="Calibri"/>
                <a:ea typeface="Calibri"/>
                <a:cs typeface="Calibri"/>
                <a:sym typeface="Calibri"/>
              </a:rPr>
              <a:t> - Adversary Intelligence</a:t>
            </a:r>
            <a:endParaRPr b="0" i="0" sz="885" u="none" cap="none" strike="noStrike">
              <a:solidFill>
                <a:schemeClr val="dk1"/>
              </a:solidFill>
              <a:latin typeface="Calibri"/>
              <a:ea typeface="Calibri"/>
              <a:cs typeface="Calibri"/>
              <a:sym typeface="Calibri"/>
            </a:endParaRPr>
          </a:p>
        </p:txBody>
      </p:sp>
      <p:sp>
        <p:nvSpPr>
          <p:cNvPr id="236" name="Google Shape;236;p12"/>
          <p:cNvSpPr/>
          <p:nvPr/>
        </p:nvSpPr>
        <p:spPr>
          <a:xfrm>
            <a:off x="4636294" y="2992868"/>
            <a:ext cx="3936206" cy="180017"/>
          </a:xfrm>
          <a:prstGeom prst="rect">
            <a:avLst/>
          </a:prstGeom>
          <a:noFill/>
          <a:ln>
            <a:noFill/>
          </a:ln>
        </p:spPr>
        <p:txBody>
          <a:bodyPr anchorCtr="0" anchor="t" bIns="0" lIns="0" spcFirstLastPara="1" rIns="0" wrap="square" tIns="0">
            <a:noAutofit/>
          </a:bodyPr>
          <a:lstStyle/>
          <a:p>
            <a:pPr indent="0" lvl="0" marL="0" marR="0" rtl="0" algn="l">
              <a:lnSpc>
                <a:spcPct val="148619"/>
              </a:lnSpc>
              <a:spcBef>
                <a:spcPts val="0"/>
              </a:spcBef>
              <a:spcAft>
                <a:spcPts val="0"/>
              </a:spcAft>
              <a:buClr>
                <a:srgbClr val="FFFFFF"/>
              </a:buClr>
              <a:buSzPts val="885"/>
              <a:buFont typeface="Calibri"/>
              <a:buNone/>
            </a:pPr>
            <a:r>
              <a:rPr b="1" i="0" lang="en-US" sz="885" u="none" cap="none" strike="noStrike">
                <a:solidFill>
                  <a:srgbClr val="FFFFFF"/>
                </a:solidFill>
                <a:latin typeface="Calibri"/>
                <a:ea typeface="Calibri"/>
                <a:cs typeface="Calibri"/>
                <a:sym typeface="Calibri"/>
              </a:rPr>
              <a:t>Vectra AI</a:t>
            </a:r>
            <a:r>
              <a:rPr b="0" i="0" lang="en-US" sz="942" u="none" cap="none" strike="noStrike">
                <a:solidFill>
                  <a:srgbClr val="FFFFFF"/>
                </a:solidFill>
                <a:latin typeface="Calibri"/>
                <a:ea typeface="Calibri"/>
                <a:cs typeface="Calibri"/>
                <a:sym typeface="Calibri"/>
              </a:rPr>
              <a:t> - Attack Signal Intelligence</a:t>
            </a:r>
            <a:endParaRPr b="0" i="0" sz="885" u="none" cap="none" strike="noStrike">
              <a:solidFill>
                <a:schemeClr val="dk1"/>
              </a:solidFill>
              <a:latin typeface="Calibri"/>
              <a:ea typeface="Calibri"/>
              <a:cs typeface="Calibri"/>
              <a:sym typeface="Calibri"/>
            </a:endParaRPr>
          </a:p>
        </p:txBody>
      </p:sp>
      <p:sp>
        <p:nvSpPr>
          <p:cNvPr id="237" name="Google Shape;237;p12"/>
          <p:cNvSpPr/>
          <p:nvPr/>
        </p:nvSpPr>
        <p:spPr>
          <a:xfrm>
            <a:off x="428625" y="3387198"/>
            <a:ext cx="8286750" cy="1624478"/>
          </a:xfrm>
          <a:prstGeom prst="rect">
            <a:avLst/>
          </a:prstGeom>
          <a:solidFill>
            <a:srgbClr val="FFFFFF">
              <a:alpha val="274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2"/>
          <p:cNvSpPr/>
          <p:nvPr/>
        </p:nvSpPr>
        <p:spPr>
          <a:xfrm>
            <a:off x="428625" y="3387198"/>
            <a:ext cx="42863" cy="1624478"/>
          </a:xfrm>
          <a:prstGeom prst="rect">
            <a:avLst/>
          </a:prstGeom>
          <a:solidFill>
            <a:srgbClr val="FFD7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2"/>
          <p:cNvSpPr/>
          <p:nvPr/>
        </p:nvSpPr>
        <p:spPr>
          <a:xfrm>
            <a:off x="571500" y="3472923"/>
            <a:ext cx="8001000" cy="233958"/>
          </a:xfrm>
          <a:prstGeom prst="rect">
            <a:avLst/>
          </a:prstGeom>
          <a:noFill/>
          <a:ln>
            <a:noFill/>
          </a:ln>
        </p:spPr>
        <p:txBody>
          <a:bodyPr anchorCtr="0" anchor="t" bIns="0" lIns="0" spcFirstLastPara="1" rIns="0" wrap="square" tIns="0">
            <a:noAutofit/>
          </a:bodyPr>
          <a:lstStyle/>
          <a:p>
            <a:pPr indent="0" lvl="0" marL="0" marR="0" rtl="0" algn="l">
              <a:lnSpc>
                <a:spcPct val="134115"/>
              </a:lnSpc>
              <a:spcBef>
                <a:spcPts val="0"/>
              </a:spcBef>
              <a:spcAft>
                <a:spcPts val="0"/>
              </a:spcAft>
              <a:buClr>
                <a:srgbClr val="FFD700"/>
              </a:buClr>
              <a:buSzPts val="1193"/>
              <a:buFont typeface="Calibri"/>
              <a:buNone/>
            </a:pPr>
            <a:r>
              <a:rPr b="1" i="0" lang="en-US" sz="1193" u="none" cap="none" strike="noStrike">
                <a:solidFill>
                  <a:srgbClr val="FFD700"/>
                </a:solidFill>
                <a:latin typeface="Calibri"/>
                <a:ea typeface="Calibri"/>
                <a:cs typeface="Calibri"/>
                <a:sym typeface="Calibri"/>
              </a:rPr>
              <a:t>Automated Enrichment Workflow</a:t>
            </a:r>
            <a:endParaRPr b="0" i="0" sz="1193" u="none" cap="none" strike="noStrike">
              <a:solidFill>
                <a:schemeClr val="dk1"/>
              </a:solidFill>
              <a:latin typeface="Calibri"/>
              <a:ea typeface="Calibri"/>
              <a:cs typeface="Calibri"/>
              <a:sym typeface="Calibri"/>
            </a:endParaRPr>
          </a:p>
        </p:txBody>
      </p:sp>
      <p:sp>
        <p:nvSpPr>
          <p:cNvPr id="240" name="Google Shape;240;p12"/>
          <p:cNvSpPr/>
          <p:nvPr/>
        </p:nvSpPr>
        <p:spPr>
          <a:xfrm>
            <a:off x="571500" y="3821181"/>
            <a:ext cx="1946672" cy="633282"/>
          </a:xfrm>
          <a:prstGeom prst="rect">
            <a:avLst/>
          </a:prstGeom>
          <a:solidFill>
            <a:srgbClr val="FFFFFF">
              <a:alpha val="470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2"/>
          <p:cNvSpPr/>
          <p:nvPr/>
        </p:nvSpPr>
        <p:spPr>
          <a:xfrm>
            <a:off x="571500" y="3821181"/>
            <a:ext cx="1946672" cy="14288"/>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2"/>
          <p:cNvSpPr/>
          <p:nvPr/>
        </p:nvSpPr>
        <p:spPr>
          <a:xfrm>
            <a:off x="642938" y="3892618"/>
            <a:ext cx="1803797" cy="273248"/>
          </a:xfrm>
          <a:prstGeom prst="rect">
            <a:avLst/>
          </a:prstGeom>
          <a:noFill/>
          <a:ln>
            <a:noFill/>
          </a:ln>
        </p:spPr>
        <p:txBody>
          <a:bodyPr anchorCtr="0" anchor="t" bIns="0" lIns="0" spcFirstLastPara="1" rIns="0" wrap="square" tIns="0">
            <a:noAutofit/>
          </a:bodyPr>
          <a:lstStyle/>
          <a:p>
            <a:pPr indent="0" lvl="0" marL="0" marR="0" rtl="0" algn="ctr">
              <a:lnSpc>
                <a:spcPct val="136005"/>
              </a:lnSpc>
              <a:spcBef>
                <a:spcPts val="0"/>
              </a:spcBef>
              <a:spcAft>
                <a:spcPts val="0"/>
              </a:spcAft>
              <a:buClr>
                <a:srgbClr val="FFD700"/>
              </a:buClr>
              <a:buSzPts val="1397"/>
              <a:buFont typeface="Calibri"/>
              <a:buNone/>
            </a:pPr>
            <a:r>
              <a:rPr b="1" i="0" lang="en-US" sz="1397" u="none" cap="none" strike="noStrike">
                <a:solidFill>
                  <a:srgbClr val="FFD700"/>
                </a:solidFill>
                <a:latin typeface="Calibri"/>
                <a:ea typeface="Calibri"/>
                <a:cs typeface="Calibri"/>
                <a:sym typeface="Calibri"/>
              </a:rPr>
              <a:t>1</a:t>
            </a:r>
            <a:endParaRPr b="0" i="0" sz="1397" u="none" cap="none" strike="noStrike">
              <a:solidFill>
                <a:schemeClr val="dk1"/>
              </a:solidFill>
              <a:latin typeface="Calibri"/>
              <a:ea typeface="Calibri"/>
              <a:cs typeface="Calibri"/>
              <a:sym typeface="Calibri"/>
            </a:endParaRPr>
          </a:p>
        </p:txBody>
      </p:sp>
      <p:sp>
        <p:nvSpPr>
          <p:cNvPr id="243" name="Google Shape;243;p12"/>
          <p:cNvSpPr/>
          <p:nvPr/>
        </p:nvSpPr>
        <p:spPr>
          <a:xfrm>
            <a:off x="642938" y="4208729"/>
            <a:ext cx="1803797" cy="160009"/>
          </a:xfrm>
          <a:prstGeom prst="rect">
            <a:avLst/>
          </a:prstGeom>
          <a:noFill/>
          <a:ln>
            <a:noFill/>
          </a:ln>
        </p:spPr>
        <p:txBody>
          <a:bodyPr anchorCtr="0" anchor="t" bIns="0" lIns="0" spcFirstLastPara="1" rIns="0" wrap="square" tIns="0">
            <a:noAutofit/>
          </a:bodyPr>
          <a:lstStyle/>
          <a:p>
            <a:pPr indent="0" lvl="0" marL="0" marR="0" rtl="0" algn="ctr">
              <a:lnSpc>
                <a:spcPct val="155875"/>
              </a:lnSpc>
              <a:spcBef>
                <a:spcPts val="0"/>
              </a:spcBef>
              <a:spcAft>
                <a:spcPts val="0"/>
              </a:spcAft>
              <a:buClr>
                <a:srgbClr val="B0B8C1"/>
              </a:buClr>
              <a:buSzPts val="834"/>
              <a:buFont typeface="Calibri"/>
              <a:buNone/>
            </a:pPr>
            <a:r>
              <a:rPr b="0" i="0" lang="en-US" sz="834" u="none" cap="none" strike="noStrike">
                <a:solidFill>
                  <a:srgbClr val="B0B8C1"/>
                </a:solidFill>
                <a:latin typeface="Calibri"/>
                <a:ea typeface="Calibri"/>
                <a:cs typeface="Calibri"/>
                <a:sym typeface="Calibri"/>
              </a:rPr>
              <a:t>Ingestion</a:t>
            </a:r>
            <a:endParaRPr b="0" i="0" sz="834" u="none" cap="none" strike="noStrike">
              <a:solidFill>
                <a:schemeClr val="dk1"/>
              </a:solidFill>
              <a:latin typeface="Calibri"/>
              <a:ea typeface="Calibri"/>
              <a:cs typeface="Calibri"/>
              <a:sym typeface="Calibri"/>
            </a:endParaRPr>
          </a:p>
        </p:txBody>
      </p:sp>
      <p:sp>
        <p:nvSpPr>
          <p:cNvPr id="244" name="Google Shape;244;p12"/>
          <p:cNvSpPr/>
          <p:nvPr/>
        </p:nvSpPr>
        <p:spPr>
          <a:xfrm>
            <a:off x="2589609" y="3821181"/>
            <a:ext cx="1946672" cy="633282"/>
          </a:xfrm>
          <a:prstGeom prst="rect">
            <a:avLst/>
          </a:prstGeom>
          <a:solidFill>
            <a:srgbClr val="FFFFFF">
              <a:alpha val="470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2"/>
          <p:cNvSpPr/>
          <p:nvPr/>
        </p:nvSpPr>
        <p:spPr>
          <a:xfrm>
            <a:off x="2589609" y="3821181"/>
            <a:ext cx="1946672" cy="14288"/>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2"/>
          <p:cNvSpPr/>
          <p:nvPr/>
        </p:nvSpPr>
        <p:spPr>
          <a:xfrm>
            <a:off x="2661047" y="3892618"/>
            <a:ext cx="1803797" cy="273248"/>
          </a:xfrm>
          <a:prstGeom prst="rect">
            <a:avLst/>
          </a:prstGeom>
          <a:noFill/>
          <a:ln>
            <a:noFill/>
          </a:ln>
        </p:spPr>
        <p:txBody>
          <a:bodyPr anchorCtr="0" anchor="t" bIns="0" lIns="0" spcFirstLastPara="1" rIns="0" wrap="square" tIns="0">
            <a:noAutofit/>
          </a:bodyPr>
          <a:lstStyle/>
          <a:p>
            <a:pPr indent="0" lvl="0" marL="0" marR="0" rtl="0" algn="ctr">
              <a:lnSpc>
                <a:spcPct val="136005"/>
              </a:lnSpc>
              <a:spcBef>
                <a:spcPts val="0"/>
              </a:spcBef>
              <a:spcAft>
                <a:spcPts val="0"/>
              </a:spcAft>
              <a:buClr>
                <a:srgbClr val="FFD700"/>
              </a:buClr>
              <a:buSzPts val="1397"/>
              <a:buFont typeface="Calibri"/>
              <a:buNone/>
            </a:pPr>
            <a:r>
              <a:rPr b="1" i="0" lang="en-US" sz="1397" u="none" cap="none" strike="noStrike">
                <a:solidFill>
                  <a:srgbClr val="FFD700"/>
                </a:solidFill>
                <a:latin typeface="Calibri"/>
                <a:ea typeface="Calibri"/>
                <a:cs typeface="Calibri"/>
                <a:sym typeface="Calibri"/>
              </a:rPr>
              <a:t>2</a:t>
            </a:r>
            <a:endParaRPr b="0" i="0" sz="1397" u="none" cap="none" strike="noStrike">
              <a:solidFill>
                <a:schemeClr val="dk1"/>
              </a:solidFill>
              <a:latin typeface="Calibri"/>
              <a:ea typeface="Calibri"/>
              <a:cs typeface="Calibri"/>
              <a:sym typeface="Calibri"/>
            </a:endParaRPr>
          </a:p>
        </p:txBody>
      </p:sp>
      <p:sp>
        <p:nvSpPr>
          <p:cNvPr id="247" name="Google Shape;247;p12"/>
          <p:cNvSpPr/>
          <p:nvPr/>
        </p:nvSpPr>
        <p:spPr>
          <a:xfrm>
            <a:off x="2661047" y="4208729"/>
            <a:ext cx="1803797" cy="160009"/>
          </a:xfrm>
          <a:prstGeom prst="rect">
            <a:avLst/>
          </a:prstGeom>
          <a:noFill/>
          <a:ln>
            <a:noFill/>
          </a:ln>
        </p:spPr>
        <p:txBody>
          <a:bodyPr anchorCtr="0" anchor="t" bIns="0" lIns="0" spcFirstLastPara="1" rIns="0" wrap="square" tIns="0">
            <a:noAutofit/>
          </a:bodyPr>
          <a:lstStyle/>
          <a:p>
            <a:pPr indent="0" lvl="0" marL="0" marR="0" rtl="0" algn="ctr">
              <a:lnSpc>
                <a:spcPct val="155875"/>
              </a:lnSpc>
              <a:spcBef>
                <a:spcPts val="0"/>
              </a:spcBef>
              <a:spcAft>
                <a:spcPts val="0"/>
              </a:spcAft>
              <a:buClr>
                <a:srgbClr val="B0B8C1"/>
              </a:buClr>
              <a:buSzPts val="834"/>
              <a:buFont typeface="Calibri"/>
              <a:buNone/>
            </a:pPr>
            <a:r>
              <a:rPr b="0" i="0" lang="en-US" sz="834" u="none" cap="none" strike="noStrike">
                <a:solidFill>
                  <a:srgbClr val="B0B8C1"/>
                </a:solidFill>
                <a:latin typeface="Calibri"/>
                <a:ea typeface="Calibri"/>
                <a:cs typeface="Calibri"/>
                <a:sym typeface="Calibri"/>
              </a:rPr>
              <a:t>Normalization to OCSF</a:t>
            </a:r>
            <a:endParaRPr b="0" i="0" sz="834" u="none" cap="none" strike="noStrike">
              <a:solidFill>
                <a:schemeClr val="dk1"/>
              </a:solidFill>
              <a:latin typeface="Calibri"/>
              <a:ea typeface="Calibri"/>
              <a:cs typeface="Calibri"/>
              <a:sym typeface="Calibri"/>
            </a:endParaRPr>
          </a:p>
        </p:txBody>
      </p:sp>
      <p:sp>
        <p:nvSpPr>
          <p:cNvPr id="248" name="Google Shape;248;p12"/>
          <p:cNvSpPr/>
          <p:nvPr/>
        </p:nvSpPr>
        <p:spPr>
          <a:xfrm>
            <a:off x="4607719" y="3821181"/>
            <a:ext cx="1946672" cy="633282"/>
          </a:xfrm>
          <a:prstGeom prst="rect">
            <a:avLst/>
          </a:prstGeom>
          <a:solidFill>
            <a:srgbClr val="FFFFFF">
              <a:alpha val="470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2"/>
          <p:cNvSpPr/>
          <p:nvPr/>
        </p:nvSpPr>
        <p:spPr>
          <a:xfrm>
            <a:off x="4607719" y="3821181"/>
            <a:ext cx="1946672" cy="14288"/>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12"/>
          <p:cNvSpPr/>
          <p:nvPr/>
        </p:nvSpPr>
        <p:spPr>
          <a:xfrm>
            <a:off x="4679156" y="3892618"/>
            <a:ext cx="1803797" cy="273248"/>
          </a:xfrm>
          <a:prstGeom prst="rect">
            <a:avLst/>
          </a:prstGeom>
          <a:noFill/>
          <a:ln>
            <a:noFill/>
          </a:ln>
        </p:spPr>
        <p:txBody>
          <a:bodyPr anchorCtr="0" anchor="t" bIns="0" lIns="0" spcFirstLastPara="1" rIns="0" wrap="square" tIns="0">
            <a:noAutofit/>
          </a:bodyPr>
          <a:lstStyle/>
          <a:p>
            <a:pPr indent="0" lvl="0" marL="0" marR="0" rtl="0" algn="ctr">
              <a:lnSpc>
                <a:spcPct val="136005"/>
              </a:lnSpc>
              <a:spcBef>
                <a:spcPts val="0"/>
              </a:spcBef>
              <a:spcAft>
                <a:spcPts val="0"/>
              </a:spcAft>
              <a:buClr>
                <a:srgbClr val="FFD700"/>
              </a:buClr>
              <a:buSzPts val="1397"/>
              <a:buFont typeface="Calibri"/>
              <a:buNone/>
            </a:pPr>
            <a:r>
              <a:rPr b="1" i="0" lang="en-US" sz="1397" u="none" cap="none" strike="noStrike">
                <a:solidFill>
                  <a:srgbClr val="FFD700"/>
                </a:solidFill>
                <a:latin typeface="Calibri"/>
                <a:ea typeface="Calibri"/>
                <a:cs typeface="Calibri"/>
                <a:sym typeface="Calibri"/>
              </a:rPr>
              <a:t>3</a:t>
            </a:r>
            <a:endParaRPr b="0" i="0" sz="1397" u="none" cap="none" strike="noStrike">
              <a:solidFill>
                <a:schemeClr val="dk1"/>
              </a:solidFill>
              <a:latin typeface="Calibri"/>
              <a:ea typeface="Calibri"/>
              <a:cs typeface="Calibri"/>
              <a:sym typeface="Calibri"/>
            </a:endParaRPr>
          </a:p>
        </p:txBody>
      </p:sp>
      <p:sp>
        <p:nvSpPr>
          <p:cNvPr id="251" name="Google Shape;251;p12"/>
          <p:cNvSpPr/>
          <p:nvPr/>
        </p:nvSpPr>
        <p:spPr>
          <a:xfrm>
            <a:off x="4679156" y="4208729"/>
            <a:ext cx="1803797" cy="160009"/>
          </a:xfrm>
          <a:prstGeom prst="rect">
            <a:avLst/>
          </a:prstGeom>
          <a:noFill/>
          <a:ln>
            <a:noFill/>
          </a:ln>
        </p:spPr>
        <p:txBody>
          <a:bodyPr anchorCtr="0" anchor="t" bIns="0" lIns="0" spcFirstLastPara="1" rIns="0" wrap="square" tIns="0">
            <a:noAutofit/>
          </a:bodyPr>
          <a:lstStyle/>
          <a:p>
            <a:pPr indent="0" lvl="0" marL="0" marR="0" rtl="0" algn="ctr">
              <a:lnSpc>
                <a:spcPct val="155875"/>
              </a:lnSpc>
              <a:spcBef>
                <a:spcPts val="0"/>
              </a:spcBef>
              <a:spcAft>
                <a:spcPts val="0"/>
              </a:spcAft>
              <a:buClr>
                <a:srgbClr val="B0B8C1"/>
              </a:buClr>
              <a:buSzPts val="834"/>
              <a:buFont typeface="Calibri"/>
              <a:buNone/>
            </a:pPr>
            <a:r>
              <a:rPr b="0" i="0" lang="en-US" sz="834" u="none" cap="none" strike="noStrike">
                <a:solidFill>
                  <a:srgbClr val="B0B8C1"/>
                </a:solidFill>
                <a:latin typeface="Calibri"/>
                <a:ea typeface="Calibri"/>
                <a:cs typeface="Calibri"/>
                <a:sym typeface="Calibri"/>
              </a:rPr>
              <a:t>Auto-Enrichment</a:t>
            </a:r>
            <a:endParaRPr b="0" i="0" sz="834" u="none" cap="none" strike="noStrike">
              <a:solidFill>
                <a:schemeClr val="dk1"/>
              </a:solidFill>
              <a:latin typeface="Calibri"/>
              <a:ea typeface="Calibri"/>
              <a:cs typeface="Calibri"/>
              <a:sym typeface="Calibri"/>
            </a:endParaRPr>
          </a:p>
        </p:txBody>
      </p:sp>
      <p:sp>
        <p:nvSpPr>
          <p:cNvPr id="252" name="Google Shape;252;p12"/>
          <p:cNvSpPr/>
          <p:nvPr/>
        </p:nvSpPr>
        <p:spPr>
          <a:xfrm>
            <a:off x="6625828" y="3821181"/>
            <a:ext cx="1946672" cy="633282"/>
          </a:xfrm>
          <a:prstGeom prst="rect">
            <a:avLst/>
          </a:prstGeom>
          <a:solidFill>
            <a:srgbClr val="FFFFFF">
              <a:alpha val="470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2"/>
          <p:cNvSpPr/>
          <p:nvPr/>
        </p:nvSpPr>
        <p:spPr>
          <a:xfrm>
            <a:off x="6625828" y="3821181"/>
            <a:ext cx="1946672" cy="14288"/>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2"/>
          <p:cNvSpPr/>
          <p:nvPr/>
        </p:nvSpPr>
        <p:spPr>
          <a:xfrm>
            <a:off x="6697266" y="3892618"/>
            <a:ext cx="1803797" cy="273248"/>
          </a:xfrm>
          <a:prstGeom prst="rect">
            <a:avLst/>
          </a:prstGeom>
          <a:noFill/>
          <a:ln>
            <a:noFill/>
          </a:ln>
        </p:spPr>
        <p:txBody>
          <a:bodyPr anchorCtr="0" anchor="t" bIns="0" lIns="0" spcFirstLastPara="1" rIns="0" wrap="square" tIns="0">
            <a:noAutofit/>
          </a:bodyPr>
          <a:lstStyle/>
          <a:p>
            <a:pPr indent="0" lvl="0" marL="0" marR="0" rtl="0" algn="ctr">
              <a:lnSpc>
                <a:spcPct val="136005"/>
              </a:lnSpc>
              <a:spcBef>
                <a:spcPts val="0"/>
              </a:spcBef>
              <a:spcAft>
                <a:spcPts val="0"/>
              </a:spcAft>
              <a:buClr>
                <a:srgbClr val="FFD700"/>
              </a:buClr>
              <a:buSzPts val="1397"/>
              <a:buFont typeface="Calibri"/>
              <a:buNone/>
            </a:pPr>
            <a:r>
              <a:rPr b="1" i="0" lang="en-US" sz="1397" u="none" cap="none" strike="noStrike">
                <a:solidFill>
                  <a:srgbClr val="FFD700"/>
                </a:solidFill>
                <a:latin typeface="Calibri"/>
                <a:ea typeface="Calibri"/>
                <a:cs typeface="Calibri"/>
                <a:sym typeface="Calibri"/>
              </a:rPr>
              <a:t>4</a:t>
            </a:r>
            <a:endParaRPr b="0" i="0" sz="1397" u="none" cap="none" strike="noStrike">
              <a:solidFill>
                <a:schemeClr val="dk1"/>
              </a:solidFill>
              <a:latin typeface="Calibri"/>
              <a:ea typeface="Calibri"/>
              <a:cs typeface="Calibri"/>
              <a:sym typeface="Calibri"/>
            </a:endParaRPr>
          </a:p>
        </p:txBody>
      </p:sp>
      <p:sp>
        <p:nvSpPr>
          <p:cNvPr id="255" name="Google Shape;255;p12"/>
          <p:cNvSpPr/>
          <p:nvPr/>
        </p:nvSpPr>
        <p:spPr>
          <a:xfrm>
            <a:off x="6697266" y="4208729"/>
            <a:ext cx="1803797" cy="160009"/>
          </a:xfrm>
          <a:prstGeom prst="rect">
            <a:avLst/>
          </a:prstGeom>
          <a:noFill/>
          <a:ln>
            <a:noFill/>
          </a:ln>
        </p:spPr>
        <p:txBody>
          <a:bodyPr anchorCtr="0" anchor="t" bIns="0" lIns="0" spcFirstLastPara="1" rIns="0" wrap="square" tIns="0">
            <a:noAutofit/>
          </a:bodyPr>
          <a:lstStyle/>
          <a:p>
            <a:pPr indent="0" lvl="0" marL="0" marR="0" rtl="0" algn="ctr">
              <a:lnSpc>
                <a:spcPct val="155875"/>
              </a:lnSpc>
              <a:spcBef>
                <a:spcPts val="0"/>
              </a:spcBef>
              <a:spcAft>
                <a:spcPts val="0"/>
              </a:spcAft>
              <a:buClr>
                <a:srgbClr val="B0B8C1"/>
              </a:buClr>
              <a:buSzPts val="834"/>
              <a:buFont typeface="Calibri"/>
              <a:buNone/>
            </a:pPr>
            <a:r>
              <a:rPr b="0" i="0" lang="en-US" sz="834" u="none" cap="none" strike="noStrike">
                <a:solidFill>
                  <a:srgbClr val="B0B8C1"/>
                </a:solidFill>
                <a:latin typeface="Calibri"/>
                <a:ea typeface="Calibri"/>
                <a:cs typeface="Calibri"/>
                <a:sym typeface="Calibri"/>
              </a:rPr>
              <a:t>Automated Response</a:t>
            </a:r>
            <a:endParaRPr b="0" i="0" sz="834" u="none" cap="none" strike="noStrike">
              <a:solidFill>
                <a:schemeClr val="dk1"/>
              </a:solidFill>
              <a:latin typeface="Calibri"/>
              <a:ea typeface="Calibri"/>
              <a:cs typeface="Calibri"/>
              <a:sym typeface="Calibri"/>
            </a:endParaRPr>
          </a:p>
        </p:txBody>
      </p:sp>
      <p:sp>
        <p:nvSpPr>
          <p:cNvPr id="256" name="Google Shape;256;p12"/>
          <p:cNvSpPr/>
          <p:nvPr/>
        </p:nvSpPr>
        <p:spPr>
          <a:xfrm>
            <a:off x="571500" y="4525900"/>
            <a:ext cx="8001000" cy="385763"/>
          </a:xfrm>
          <a:prstGeom prst="rect">
            <a:avLst/>
          </a:prstGeom>
          <a:noFill/>
          <a:ln>
            <a:noFill/>
          </a:ln>
        </p:spPr>
        <p:txBody>
          <a:bodyPr anchorCtr="0" anchor="t" bIns="0" lIns="0" spcFirstLastPara="1" rIns="0" wrap="square" tIns="0">
            <a:noAutofit/>
          </a:bodyPr>
          <a:lstStyle/>
          <a:p>
            <a:pPr indent="0" lvl="0" marL="0" marR="0" rtl="0" algn="l">
              <a:lnSpc>
                <a:spcPct val="159235"/>
              </a:lnSpc>
              <a:spcBef>
                <a:spcPts val="0"/>
              </a:spcBef>
              <a:spcAft>
                <a:spcPts val="0"/>
              </a:spcAft>
              <a:buClr>
                <a:srgbClr val="B0B8C1"/>
              </a:buClr>
              <a:buSzPts val="942"/>
              <a:buFont typeface="Calibri"/>
              <a:buNone/>
            </a:pPr>
            <a:r>
              <a:rPr b="0" i="0" lang="en-US" sz="942" u="none" cap="none" strike="noStrike">
                <a:solidFill>
                  <a:srgbClr val="B0B8C1"/>
                </a:solidFill>
                <a:latin typeface="Calibri"/>
                <a:ea typeface="Calibri"/>
                <a:cs typeface="Calibri"/>
                <a:sym typeface="Calibri"/>
              </a:rPr>
              <a:t>Threat intelligence feeds are ingested, normalized to OCSF, and automatically enrich Security Lake data. Enriched data triggers automated responses via EventBridge and SOAR platforms.</a:t>
            </a:r>
            <a:endParaRPr b="0" i="0" sz="942"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pic>
        <p:nvPicPr>
          <p:cNvPr descr="preencoded.png" id="262" name="Google Shape;262;p13"/>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263" name="Google Shape;263;p13"/>
          <p:cNvSpPr/>
          <p:nvPr/>
        </p:nvSpPr>
        <p:spPr>
          <a:xfrm>
            <a:off x="428625" y="428625"/>
            <a:ext cx="8286750" cy="1089422"/>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3"/>
          <p:cNvSpPr/>
          <p:nvPr/>
        </p:nvSpPr>
        <p:spPr>
          <a:xfrm>
            <a:off x="428625" y="1503759"/>
            <a:ext cx="8286750" cy="14288"/>
          </a:xfrm>
          <a:prstGeom prst="rect">
            <a:avLst/>
          </a:prstGeom>
          <a:solidFill>
            <a:srgbClr val="00D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3"/>
          <p:cNvSpPr/>
          <p:nvPr/>
        </p:nvSpPr>
        <p:spPr>
          <a:xfrm>
            <a:off x="428625" y="428625"/>
            <a:ext cx="8286750" cy="932259"/>
          </a:xfrm>
          <a:prstGeom prst="rect">
            <a:avLst/>
          </a:prstGeom>
          <a:noFill/>
          <a:ln>
            <a:noFill/>
          </a:ln>
        </p:spPr>
        <p:txBody>
          <a:bodyPr anchorCtr="0" anchor="t" bIns="0" lIns="0" spcFirstLastPara="1" rIns="0" wrap="square" tIns="0">
            <a:noAutofit/>
          </a:bodyPr>
          <a:lstStyle/>
          <a:p>
            <a:pPr indent="0" lvl="0" marL="0" marR="0" rtl="0" algn="l">
              <a:lnSpc>
                <a:spcPct val="131362"/>
              </a:lnSpc>
              <a:spcBef>
                <a:spcPts val="0"/>
              </a:spcBef>
              <a:spcAft>
                <a:spcPts val="0"/>
              </a:spcAft>
              <a:buClr>
                <a:srgbClr val="00D9FF"/>
              </a:buClr>
              <a:buSzPts val="2436"/>
              <a:buFont typeface="Calibri"/>
              <a:buNone/>
            </a:pPr>
            <a:r>
              <a:rPr b="1" i="0" lang="en-US" sz="2436" u="none" cap="none" strike="noStrike">
                <a:solidFill>
                  <a:srgbClr val="00D9FF"/>
                </a:solidFill>
                <a:latin typeface="Calibri"/>
                <a:ea typeface="Calibri"/>
                <a:cs typeface="Calibri"/>
                <a:sym typeface="Calibri"/>
              </a:rPr>
              <a:t>Partner Ecosystem Accelerates Advanced Capabilities</a:t>
            </a:r>
            <a:endParaRPr b="0" i="0" sz="2436" u="none" cap="none" strike="noStrike">
              <a:solidFill>
                <a:schemeClr val="dk1"/>
              </a:solidFill>
              <a:latin typeface="Calibri"/>
              <a:ea typeface="Calibri"/>
              <a:cs typeface="Calibri"/>
              <a:sym typeface="Calibri"/>
            </a:endParaRPr>
          </a:p>
        </p:txBody>
      </p:sp>
      <p:sp>
        <p:nvSpPr>
          <p:cNvPr id="266" name="Google Shape;266;p13"/>
          <p:cNvSpPr/>
          <p:nvPr/>
        </p:nvSpPr>
        <p:spPr>
          <a:xfrm>
            <a:off x="428625" y="2018109"/>
            <a:ext cx="2524116" cy="502909"/>
          </a:xfrm>
          <a:prstGeom prst="rect">
            <a:avLst/>
          </a:prstGeom>
          <a:noFill/>
          <a:ln>
            <a:noFill/>
          </a:ln>
        </p:spPr>
        <p:txBody>
          <a:bodyPr anchorCtr="0" anchor="t" bIns="0" lIns="0" spcFirstLastPara="1" rIns="0" wrap="square" tIns="0">
            <a:noAutofit/>
          </a:bodyPr>
          <a:lstStyle/>
          <a:p>
            <a:pPr indent="0" lvl="0" marL="0" marR="0" rtl="0" algn="l">
              <a:lnSpc>
                <a:spcPct val="124843"/>
              </a:lnSpc>
              <a:spcBef>
                <a:spcPts val="0"/>
              </a:spcBef>
              <a:spcAft>
                <a:spcPts val="0"/>
              </a:spcAft>
              <a:buClr>
                <a:srgbClr val="FFFFFF"/>
              </a:buClr>
              <a:buSzPts val="1602"/>
              <a:buFont typeface="Calibri"/>
              <a:buNone/>
            </a:pPr>
            <a:r>
              <a:rPr b="1" i="0" lang="en-US" sz="1602" u="none" cap="none" strike="noStrike">
                <a:solidFill>
                  <a:srgbClr val="FFFFFF"/>
                </a:solidFill>
                <a:latin typeface="Calibri"/>
                <a:ea typeface="Calibri"/>
                <a:cs typeface="Calibri"/>
                <a:sym typeface="Calibri"/>
              </a:rPr>
              <a:t>Advanced SIEM Platforms</a:t>
            </a:r>
            <a:endParaRPr b="0" i="0" sz="1602" u="none" cap="none" strike="noStrike">
              <a:solidFill>
                <a:schemeClr val="dk1"/>
              </a:solidFill>
              <a:latin typeface="Calibri"/>
              <a:ea typeface="Calibri"/>
              <a:cs typeface="Calibri"/>
              <a:sym typeface="Calibri"/>
            </a:endParaRPr>
          </a:p>
        </p:txBody>
      </p:sp>
      <p:sp>
        <p:nvSpPr>
          <p:cNvPr id="267" name="Google Shape;267;p13"/>
          <p:cNvSpPr/>
          <p:nvPr/>
        </p:nvSpPr>
        <p:spPr>
          <a:xfrm>
            <a:off x="428625" y="2663893"/>
            <a:ext cx="2524116" cy="135731"/>
          </a:xfrm>
          <a:prstGeom prst="rect">
            <a:avLst/>
          </a:prstGeom>
          <a:noFill/>
          <a:ln>
            <a:noFill/>
          </a:ln>
        </p:spPr>
        <p:txBody>
          <a:bodyPr anchorCtr="0" anchor="t" bIns="0" lIns="0" spcFirstLastPara="1" rIns="0" wrap="square" tIns="0">
            <a:noAutofit/>
          </a:bodyPr>
          <a:lstStyle/>
          <a:p>
            <a:pPr indent="0" lvl="0" marL="0" marR="0" rtl="0" algn="l">
              <a:lnSpc>
                <a:spcPct val="131771"/>
              </a:lnSpc>
              <a:spcBef>
                <a:spcPts val="0"/>
              </a:spcBef>
              <a:spcAft>
                <a:spcPts val="0"/>
              </a:spcAft>
              <a:buClr>
                <a:srgbClr val="B0B8C1"/>
              </a:buClr>
              <a:buSzPts val="683"/>
              <a:buFont typeface="Calibri"/>
              <a:buNone/>
            </a:pPr>
            <a:r>
              <a:rPr b="1" i="0" lang="en-US" sz="683" u="none" cap="none" strike="noStrike">
                <a:solidFill>
                  <a:srgbClr val="B0B8C1"/>
                </a:solidFill>
                <a:latin typeface="Calibri"/>
                <a:ea typeface="Calibri"/>
                <a:cs typeface="Calibri"/>
                <a:sym typeface="Calibri"/>
              </a:rPr>
              <a:t>Key Partners</a:t>
            </a:r>
            <a:endParaRPr b="0" i="0" sz="683" u="none" cap="none" strike="noStrike">
              <a:solidFill>
                <a:schemeClr val="dk1"/>
              </a:solidFill>
              <a:latin typeface="Calibri"/>
              <a:ea typeface="Calibri"/>
              <a:cs typeface="Calibri"/>
              <a:sym typeface="Calibri"/>
            </a:endParaRPr>
          </a:p>
        </p:txBody>
      </p:sp>
      <p:sp>
        <p:nvSpPr>
          <p:cNvPr id="268" name="Google Shape;268;p13"/>
          <p:cNvSpPr/>
          <p:nvPr/>
        </p:nvSpPr>
        <p:spPr>
          <a:xfrm>
            <a:off x="428625" y="2856774"/>
            <a:ext cx="2524116" cy="685800"/>
          </a:xfrm>
          <a:prstGeom prst="rect">
            <a:avLst/>
          </a:prstGeom>
          <a:noFill/>
          <a:ln>
            <a:noFill/>
          </a:ln>
        </p:spPr>
        <p:txBody>
          <a:bodyPr anchorCtr="0" anchor="t" bIns="0" lIns="0" spcFirstLastPara="1" rIns="0" wrap="square" tIns="0">
            <a:noAutofit/>
          </a:bodyPr>
          <a:lstStyle/>
          <a:p>
            <a:pPr indent="0" lvl="0" marL="0" marR="0" rtl="0" algn="l">
              <a:lnSpc>
                <a:spcPct val="182370"/>
              </a:lnSpc>
              <a:spcBef>
                <a:spcPts val="0"/>
              </a:spcBef>
              <a:spcAft>
                <a:spcPts val="0"/>
              </a:spcAft>
              <a:buClr>
                <a:srgbClr val="FFFFFF"/>
              </a:buClr>
              <a:buSzPts val="987"/>
              <a:buFont typeface="Calibri"/>
              <a:buNone/>
            </a:pPr>
            <a:r>
              <a:rPr b="1" i="0" lang="en-US" sz="987" u="none" cap="none" strike="noStrike">
                <a:solidFill>
                  <a:srgbClr val="FFFFFF"/>
                </a:solidFill>
                <a:latin typeface="Calibri"/>
                <a:ea typeface="Calibri"/>
                <a:cs typeface="Calibri"/>
                <a:sym typeface="Calibri"/>
              </a:rPr>
              <a:t>Splunk</a:t>
            </a:r>
            <a:br>
              <a:rPr b="1" i="0" lang="en-US" sz="987" u="none" cap="none" strike="noStrike">
                <a:solidFill>
                  <a:srgbClr val="FFFFFF"/>
                </a:solidFill>
                <a:latin typeface="Calibri"/>
                <a:ea typeface="Calibri"/>
                <a:cs typeface="Calibri"/>
                <a:sym typeface="Calibri"/>
              </a:rPr>
            </a:br>
            <a:r>
              <a:rPr b="1" i="0" lang="en-US" sz="987" u="none" cap="none" strike="noStrike">
                <a:solidFill>
                  <a:srgbClr val="FFFFFF"/>
                </a:solidFill>
                <a:latin typeface="Calibri"/>
                <a:ea typeface="Calibri"/>
                <a:cs typeface="Calibri"/>
                <a:sym typeface="Calibri"/>
              </a:rPr>
              <a:t> Sumo Logic</a:t>
            </a:r>
            <a:br>
              <a:rPr b="1" i="0" lang="en-US" sz="987" u="none" cap="none" strike="noStrike">
                <a:solidFill>
                  <a:srgbClr val="FFFFFF"/>
                </a:solidFill>
                <a:latin typeface="Calibri"/>
                <a:ea typeface="Calibri"/>
                <a:cs typeface="Calibri"/>
                <a:sym typeface="Calibri"/>
              </a:rPr>
            </a:br>
            <a:r>
              <a:rPr b="1" i="0" lang="en-US" sz="987" u="none" cap="none" strike="noStrike">
                <a:solidFill>
                  <a:srgbClr val="FFFFFF"/>
                </a:solidFill>
                <a:latin typeface="Calibri"/>
                <a:ea typeface="Calibri"/>
                <a:cs typeface="Calibri"/>
                <a:sym typeface="Calibri"/>
              </a:rPr>
              <a:t> Rapid7</a:t>
            </a:r>
            <a:endParaRPr b="0" i="0" sz="987" u="none" cap="none" strike="noStrike">
              <a:solidFill>
                <a:schemeClr val="dk1"/>
              </a:solidFill>
              <a:latin typeface="Calibri"/>
              <a:ea typeface="Calibri"/>
              <a:cs typeface="Calibri"/>
              <a:sym typeface="Calibri"/>
            </a:endParaRPr>
          </a:p>
        </p:txBody>
      </p:sp>
      <p:sp>
        <p:nvSpPr>
          <p:cNvPr id="269" name="Google Shape;269;p13"/>
          <p:cNvSpPr/>
          <p:nvPr/>
        </p:nvSpPr>
        <p:spPr>
          <a:xfrm>
            <a:off x="428625" y="4143375"/>
            <a:ext cx="2524116" cy="771525"/>
          </a:xfrm>
          <a:prstGeom prst="rect">
            <a:avLst/>
          </a:prstGeom>
          <a:noFill/>
          <a:ln>
            <a:noFill/>
          </a:ln>
        </p:spPr>
        <p:txBody>
          <a:bodyPr anchorCtr="0" anchor="t" bIns="0" lIns="0" spcFirstLastPara="1" rIns="0" wrap="square" tIns="0">
            <a:noAutofit/>
          </a:bodyPr>
          <a:lstStyle/>
          <a:p>
            <a:pPr indent="0" lvl="0" marL="0" marR="0" rtl="0" algn="l">
              <a:lnSpc>
                <a:spcPct val="159235"/>
              </a:lnSpc>
              <a:spcBef>
                <a:spcPts val="0"/>
              </a:spcBef>
              <a:spcAft>
                <a:spcPts val="0"/>
              </a:spcAft>
              <a:buClr>
                <a:srgbClr val="B0B8C1"/>
              </a:buClr>
              <a:buSzPts val="942"/>
              <a:buFont typeface="Calibri"/>
              <a:buNone/>
            </a:pPr>
            <a:r>
              <a:rPr b="0" i="0" lang="en-US" sz="942" u="none" cap="none" strike="noStrike">
                <a:solidFill>
                  <a:srgbClr val="B0B8C1"/>
                </a:solidFill>
                <a:latin typeface="Calibri"/>
                <a:ea typeface="Calibri"/>
                <a:cs typeface="Calibri"/>
                <a:sym typeface="Calibri"/>
              </a:rPr>
              <a:t>Connect as subscribers to offer advanced correlation engines, pre-built security content, and mature case management features backed by decades of expertise.</a:t>
            </a:r>
            <a:endParaRPr b="0" i="0" sz="942" u="none" cap="none" strike="noStrike">
              <a:solidFill>
                <a:schemeClr val="dk1"/>
              </a:solidFill>
              <a:latin typeface="Calibri"/>
              <a:ea typeface="Calibri"/>
              <a:cs typeface="Calibri"/>
              <a:sym typeface="Calibri"/>
            </a:endParaRPr>
          </a:p>
        </p:txBody>
      </p:sp>
      <p:sp>
        <p:nvSpPr>
          <p:cNvPr id="270" name="Google Shape;270;p13"/>
          <p:cNvSpPr/>
          <p:nvPr/>
        </p:nvSpPr>
        <p:spPr>
          <a:xfrm>
            <a:off x="3309928" y="2018109"/>
            <a:ext cx="2524116" cy="502909"/>
          </a:xfrm>
          <a:prstGeom prst="rect">
            <a:avLst/>
          </a:prstGeom>
          <a:noFill/>
          <a:ln>
            <a:noFill/>
          </a:ln>
        </p:spPr>
        <p:txBody>
          <a:bodyPr anchorCtr="0" anchor="t" bIns="0" lIns="0" spcFirstLastPara="1" rIns="0" wrap="square" tIns="0">
            <a:noAutofit/>
          </a:bodyPr>
          <a:lstStyle/>
          <a:p>
            <a:pPr indent="0" lvl="0" marL="0" marR="0" rtl="0" algn="l">
              <a:lnSpc>
                <a:spcPct val="124843"/>
              </a:lnSpc>
              <a:spcBef>
                <a:spcPts val="0"/>
              </a:spcBef>
              <a:spcAft>
                <a:spcPts val="0"/>
              </a:spcAft>
              <a:buClr>
                <a:srgbClr val="FFFFFF"/>
              </a:buClr>
              <a:buSzPts val="1602"/>
              <a:buFont typeface="Calibri"/>
              <a:buNone/>
            </a:pPr>
            <a:r>
              <a:rPr b="1" i="0" lang="en-US" sz="1602" u="none" cap="none" strike="noStrike">
                <a:solidFill>
                  <a:srgbClr val="FFFFFF"/>
                </a:solidFill>
                <a:latin typeface="Calibri"/>
                <a:ea typeface="Calibri"/>
                <a:cs typeface="Calibri"/>
                <a:sym typeface="Calibri"/>
              </a:rPr>
              <a:t>Automated SOAR Orchestration</a:t>
            </a:r>
            <a:endParaRPr b="0" i="0" sz="1602" u="none" cap="none" strike="noStrike">
              <a:solidFill>
                <a:schemeClr val="dk1"/>
              </a:solidFill>
              <a:latin typeface="Calibri"/>
              <a:ea typeface="Calibri"/>
              <a:cs typeface="Calibri"/>
              <a:sym typeface="Calibri"/>
            </a:endParaRPr>
          </a:p>
        </p:txBody>
      </p:sp>
      <p:sp>
        <p:nvSpPr>
          <p:cNvPr id="271" name="Google Shape;271;p13"/>
          <p:cNvSpPr/>
          <p:nvPr/>
        </p:nvSpPr>
        <p:spPr>
          <a:xfrm>
            <a:off x="3309928" y="2663893"/>
            <a:ext cx="2524116" cy="135731"/>
          </a:xfrm>
          <a:prstGeom prst="rect">
            <a:avLst/>
          </a:prstGeom>
          <a:noFill/>
          <a:ln>
            <a:noFill/>
          </a:ln>
        </p:spPr>
        <p:txBody>
          <a:bodyPr anchorCtr="0" anchor="t" bIns="0" lIns="0" spcFirstLastPara="1" rIns="0" wrap="square" tIns="0">
            <a:noAutofit/>
          </a:bodyPr>
          <a:lstStyle/>
          <a:p>
            <a:pPr indent="0" lvl="0" marL="0" marR="0" rtl="0" algn="l">
              <a:lnSpc>
                <a:spcPct val="131771"/>
              </a:lnSpc>
              <a:spcBef>
                <a:spcPts val="0"/>
              </a:spcBef>
              <a:spcAft>
                <a:spcPts val="0"/>
              </a:spcAft>
              <a:buClr>
                <a:srgbClr val="B0B8C1"/>
              </a:buClr>
              <a:buSzPts val="683"/>
              <a:buFont typeface="Calibri"/>
              <a:buNone/>
            </a:pPr>
            <a:r>
              <a:rPr b="1" i="0" lang="en-US" sz="683" u="none" cap="none" strike="noStrike">
                <a:solidFill>
                  <a:srgbClr val="B0B8C1"/>
                </a:solidFill>
                <a:latin typeface="Calibri"/>
                <a:ea typeface="Calibri"/>
                <a:cs typeface="Calibri"/>
                <a:sym typeface="Calibri"/>
              </a:rPr>
              <a:t>Key Partners</a:t>
            </a:r>
            <a:endParaRPr b="0" i="0" sz="683" u="none" cap="none" strike="noStrike">
              <a:solidFill>
                <a:schemeClr val="dk1"/>
              </a:solidFill>
              <a:latin typeface="Calibri"/>
              <a:ea typeface="Calibri"/>
              <a:cs typeface="Calibri"/>
              <a:sym typeface="Calibri"/>
            </a:endParaRPr>
          </a:p>
        </p:txBody>
      </p:sp>
      <p:sp>
        <p:nvSpPr>
          <p:cNvPr id="272" name="Google Shape;272;p13"/>
          <p:cNvSpPr/>
          <p:nvPr/>
        </p:nvSpPr>
        <p:spPr>
          <a:xfrm>
            <a:off x="3309928" y="2856774"/>
            <a:ext cx="2524116" cy="685800"/>
          </a:xfrm>
          <a:prstGeom prst="rect">
            <a:avLst/>
          </a:prstGeom>
          <a:noFill/>
          <a:ln>
            <a:noFill/>
          </a:ln>
        </p:spPr>
        <p:txBody>
          <a:bodyPr anchorCtr="0" anchor="t" bIns="0" lIns="0" spcFirstLastPara="1" rIns="0" wrap="square" tIns="0">
            <a:noAutofit/>
          </a:bodyPr>
          <a:lstStyle/>
          <a:p>
            <a:pPr indent="0" lvl="0" marL="0" marR="0" rtl="0" algn="l">
              <a:lnSpc>
                <a:spcPct val="182370"/>
              </a:lnSpc>
              <a:spcBef>
                <a:spcPts val="0"/>
              </a:spcBef>
              <a:spcAft>
                <a:spcPts val="0"/>
              </a:spcAft>
              <a:buClr>
                <a:srgbClr val="FFFFFF"/>
              </a:buClr>
              <a:buSzPts val="987"/>
              <a:buFont typeface="Calibri"/>
              <a:buNone/>
            </a:pPr>
            <a:r>
              <a:rPr b="1" i="0" lang="en-US" sz="987" u="none" cap="none" strike="noStrike">
                <a:solidFill>
                  <a:srgbClr val="FFFFFF"/>
                </a:solidFill>
                <a:latin typeface="Calibri"/>
                <a:ea typeface="Calibri"/>
                <a:cs typeface="Calibri"/>
                <a:sym typeface="Calibri"/>
              </a:rPr>
              <a:t>Swimlane</a:t>
            </a:r>
            <a:br>
              <a:rPr b="1" i="0" lang="en-US" sz="987" u="none" cap="none" strike="noStrike">
                <a:solidFill>
                  <a:srgbClr val="FFFFFF"/>
                </a:solidFill>
                <a:latin typeface="Calibri"/>
                <a:ea typeface="Calibri"/>
                <a:cs typeface="Calibri"/>
                <a:sym typeface="Calibri"/>
              </a:rPr>
            </a:br>
            <a:r>
              <a:rPr b="1" i="0" lang="en-US" sz="987" u="none" cap="none" strike="noStrike">
                <a:solidFill>
                  <a:srgbClr val="FFFFFF"/>
                </a:solidFill>
                <a:latin typeface="Calibri"/>
                <a:ea typeface="Calibri"/>
                <a:cs typeface="Calibri"/>
                <a:sym typeface="Calibri"/>
              </a:rPr>
              <a:t> Torq</a:t>
            </a:r>
            <a:br>
              <a:rPr b="1" i="0" lang="en-US" sz="987" u="none" cap="none" strike="noStrike">
                <a:solidFill>
                  <a:srgbClr val="FFFFFF"/>
                </a:solidFill>
                <a:latin typeface="Calibri"/>
                <a:ea typeface="Calibri"/>
                <a:cs typeface="Calibri"/>
                <a:sym typeface="Calibri"/>
              </a:rPr>
            </a:br>
            <a:r>
              <a:rPr b="1" i="0" lang="en-US" sz="987" u="none" cap="none" strike="noStrike">
                <a:solidFill>
                  <a:srgbClr val="FFFFFF"/>
                </a:solidFill>
                <a:latin typeface="Calibri"/>
                <a:ea typeface="Calibri"/>
                <a:cs typeface="Calibri"/>
                <a:sym typeface="Calibri"/>
              </a:rPr>
              <a:t> Palo Alto XSOAR</a:t>
            </a:r>
            <a:endParaRPr b="0" i="0" sz="987" u="none" cap="none" strike="noStrike">
              <a:solidFill>
                <a:schemeClr val="dk1"/>
              </a:solidFill>
              <a:latin typeface="Calibri"/>
              <a:ea typeface="Calibri"/>
              <a:cs typeface="Calibri"/>
              <a:sym typeface="Calibri"/>
            </a:endParaRPr>
          </a:p>
        </p:txBody>
      </p:sp>
      <p:sp>
        <p:nvSpPr>
          <p:cNvPr id="273" name="Google Shape;273;p13"/>
          <p:cNvSpPr/>
          <p:nvPr/>
        </p:nvSpPr>
        <p:spPr>
          <a:xfrm>
            <a:off x="3309928" y="4143375"/>
            <a:ext cx="2524116" cy="771525"/>
          </a:xfrm>
          <a:prstGeom prst="rect">
            <a:avLst/>
          </a:prstGeom>
          <a:noFill/>
          <a:ln>
            <a:noFill/>
          </a:ln>
        </p:spPr>
        <p:txBody>
          <a:bodyPr anchorCtr="0" anchor="t" bIns="0" lIns="0" spcFirstLastPara="1" rIns="0" wrap="square" tIns="0">
            <a:noAutofit/>
          </a:bodyPr>
          <a:lstStyle/>
          <a:p>
            <a:pPr indent="0" lvl="0" marL="0" marR="0" rtl="0" algn="l">
              <a:lnSpc>
                <a:spcPct val="159235"/>
              </a:lnSpc>
              <a:spcBef>
                <a:spcPts val="0"/>
              </a:spcBef>
              <a:spcAft>
                <a:spcPts val="0"/>
              </a:spcAft>
              <a:buClr>
                <a:srgbClr val="B0B8C1"/>
              </a:buClr>
              <a:buSzPts val="942"/>
              <a:buFont typeface="Calibri"/>
              <a:buNone/>
            </a:pPr>
            <a:r>
              <a:rPr b="0" i="0" lang="en-US" sz="942" u="none" cap="none" strike="noStrike">
                <a:solidFill>
                  <a:srgbClr val="B0B8C1"/>
                </a:solidFill>
                <a:latin typeface="Calibri"/>
                <a:ea typeface="Calibri"/>
                <a:cs typeface="Calibri"/>
                <a:sym typeface="Calibri"/>
              </a:rPr>
              <a:t>Ingest OCSF data to orchestrate sophisticated, cross-platform response playbooks, dramatically reducing manual effort and mean time to respond (MTTR).</a:t>
            </a:r>
            <a:endParaRPr b="0" i="0" sz="942" u="none" cap="none" strike="noStrike">
              <a:solidFill>
                <a:schemeClr val="dk1"/>
              </a:solidFill>
              <a:latin typeface="Calibri"/>
              <a:ea typeface="Calibri"/>
              <a:cs typeface="Calibri"/>
              <a:sym typeface="Calibri"/>
            </a:endParaRPr>
          </a:p>
        </p:txBody>
      </p:sp>
      <p:sp>
        <p:nvSpPr>
          <p:cNvPr id="274" name="Google Shape;274;p13"/>
          <p:cNvSpPr/>
          <p:nvPr/>
        </p:nvSpPr>
        <p:spPr>
          <a:xfrm>
            <a:off x="6191231" y="2018109"/>
            <a:ext cx="2524144" cy="502909"/>
          </a:xfrm>
          <a:prstGeom prst="rect">
            <a:avLst/>
          </a:prstGeom>
          <a:noFill/>
          <a:ln>
            <a:noFill/>
          </a:ln>
        </p:spPr>
        <p:txBody>
          <a:bodyPr anchorCtr="0" anchor="t" bIns="0" lIns="0" spcFirstLastPara="1" rIns="0" wrap="square" tIns="0">
            <a:noAutofit/>
          </a:bodyPr>
          <a:lstStyle/>
          <a:p>
            <a:pPr indent="0" lvl="0" marL="0" marR="0" rtl="0" algn="l">
              <a:lnSpc>
                <a:spcPct val="124843"/>
              </a:lnSpc>
              <a:spcBef>
                <a:spcPts val="0"/>
              </a:spcBef>
              <a:spcAft>
                <a:spcPts val="0"/>
              </a:spcAft>
              <a:buClr>
                <a:srgbClr val="FFFFFF"/>
              </a:buClr>
              <a:buSzPts val="1602"/>
              <a:buFont typeface="Calibri"/>
              <a:buNone/>
            </a:pPr>
            <a:r>
              <a:rPr b="1" i="0" lang="en-US" sz="1602" u="none" cap="none" strike="noStrike">
                <a:solidFill>
                  <a:srgbClr val="FFFFFF"/>
                </a:solidFill>
                <a:latin typeface="Calibri"/>
                <a:ea typeface="Calibri"/>
                <a:cs typeface="Calibri"/>
                <a:sym typeface="Calibri"/>
              </a:rPr>
              <a:t>High-Fidelity Threat Intelligence</a:t>
            </a:r>
            <a:endParaRPr b="0" i="0" sz="1602" u="none" cap="none" strike="noStrike">
              <a:solidFill>
                <a:schemeClr val="dk1"/>
              </a:solidFill>
              <a:latin typeface="Calibri"/>
              <a:ea typeface="Calibri"/>
              <a:cs typeface="Calibri"/>
              <a:sym typeface="Calibri"/>
            </a:endParaRPr>
          </a:p>
        </p:txBody>
      </p:sp>
      <p:sp>
        <p:nvSpPr>
          <p:cNvPr id="275" name="Google Shape;275;p13"/>
          <p:cNvSpPr/>
          <p:nvPr/>
        </p:nvSpPr>
        <p:spPr>
          <a:xfrm>
            <a:off x="6191231" y="2663893"/>
            <a:ext cx="2524144" cy="135731"/>
          </a:xfrm>
          <a:prstGeom prst="rect">
            <a:avLst/>
          </a:prstGeom>
          <a:noFill/>
          <a:ln>
            <a:noFill/>
          </a:ln>
        </p:spPr>
        <p:txBody>
          <a:bodyPr anchorCtr="0" anchor="t" bIns="0" lIns="0" spcFirstLastPara="1" rIns="0" wrap="square" tIns="0">
            <a:noAutofit/>
          </a:bodyPr>
          <a:lstStyle/>
          <a:p>
            <a:pPr indent="0" lvl="0" marL="0" marR="0" rtl="0" algn="l">
              <a:lnSpc>
                <a:spcPct val="131771"/>
              </a:lnSpc>
              <a:spcBef>
                <a:spcPts val="0"/>
              </a:spcBef>
              <a:spcAft>
                <a:spcPts val="0"/>
              </a:spcAft>
              <a:buClr>
                <a:srgbClr val="B0B8C1"/>
              </a:buClr>
              <a:buSzPts val="683"/>
              <a:buFont typeface="Calibri"/>
              <a:buNone/>
            </a:pPr>
            <a:r>
              <a:rPr b="1" i="0" lang="en-US" sz="683" u="none" cap="none" strike="noStrike">
                <a:solidFill>
                  <a:srgbClr val="B0B8C1"/>
                </a:solidFill>
                <a:latin typeface="Calibri"/>
                <a:ea typeface="Calibri"/>
                <a:cs typeface="Calibri"/>
                <a:sym typeface="Calibri"/>
              </a:rPr>
              <a:t>Key Partners</a:t>
            </a:r>
            <a:endParaRPr b="0" i="0" sz="683" u="none" cap="none" strike="noStrike">
              <a:solidFill>
                <a:schemeClr val="dk1"/>
              </a:solidFill>
              <a:latin typeface="Calibri"/>
              <a:ea typeface="Calibri"/>
              <a:cs typeface="Calibri"/>
              <a:sym typeface="Calibri"/>
            </a:endParaRPr>
          </a:p>
        </p:txBody>
      </p:sp>
      <p:sp>
        <p:nvSpPr>
          <p:cNvPr id="276" name="Google Shape;276;p13"/>
          <p:cNvSpPr/>
          <p:nvPr/>
        </p:nvSpPr>
        <p:spPr>
          <a:xfrm>
            <a:off x="6191231" y="2856774"/>
            <a:ext cx="2524144" cy="685800"/>
          </a:xfrm>
          <a:prstGeom prst="rect">
            <a:avLst/>
          </a:prstGeom>
          <a:noFill/>
          <a:ln>
            <a:noFill/>
          </a:ln>
        </p:spPr>
        <p:txBody>
          <a:bodyPr anchorCtr="0" anchor="t" bIns="0" lIns="0" spcFirstLastPara="1" rIns="0" wrap="square" tIns="0">
            <a:noAutofit/>
          </a:bodyPr>
          <a:lstStyle/>
          <a:p>
            <a:pPr indent="0" lvl="0" marL="0" marR="0" rtl="0" algn="l">
              <a:lnSpc>
                <a:spcPct val="182370"/>
              </a:lnSpc>
              <a:spcBef>
                <a:spcPts val="0"/>
              </a:spcBef>
              <a:spcAft>
                <a:spcPts val="0"/>
              </a:spcAft>
              <a:buClr>
                <a:srgbClr val="FFFFFF"/>
              </a:buClr>
              <a:buSzPts val="987"/>
              <a:buFont typeface="Calibri"/>
              <a:buNone/>
            </a:pPr>
            <a:r>
              <a:rPr b="1" i="0" lang="en-US" sz="987" u="none" cap="none" strike="noStrike">
                <a:solidFill>
                  <a:srgbClr val="FFFFFF"/>
                </a:solidFill>
                <a:latin typeface="Calibri"/>
                <a:ea typeface="Calibri"/>
                <a:cs typeface="Calibri"/>
                <a:sym typeface="Calibri"/>
              </a:rPr>
              <a:t>Recorded Future</a:t>
            </a:r>
            <a:br>
              <a:rPr b="1" i="0" lang="en-US" sz="987" u="none" cap="none" strike="noStrike">
                <a:solidFill>
                  <a:srgbClr val="FFFFFF"/>
                </a:solidFill>
                <a:latin typeface="Calibri"/>
                <a:ea typeface="Calibri"/>
                <a:cs typeface="Calibri"/>
                <a:sym typeface="Calibri"/>
              </a:rPr>
            </a:br>
            <a:r>
              <a:rPr b="1" i="0" lang="en-US" sz="987" u="none" cap="none" strike="noStrike">
                <a:solidFill>
                  <a:srgbClr val="FFFFFF"/>
                </a:solidFill>
                <a:latin typeface="Calibri"/>
                <a:ea typeface="Calibri"/>
                <a:cs typeface="Calibri"/>
                <a:sym typeface="Calibri"/>
              </a:rPr>
              <a:t> CrowdStrike</a:t>
            </a:r>
            <a:br>
              <a:rPr b="1" i="0" lang="en-US" sz="987" u="none" cap="none" strike="noStrike">
                <a:solidFill>
                  <a:srgbClr val="FFFFFF"/>
                </a:solidFill>
                <a:latin typeface="Calibri"/>
                <a:ea typeface="Calibri"/>
                <a:cs typeface="Calibri"/>
                <a:sym typeface="Calibri"/>
              </a:rPr>
            </a:br>
            <a:r>
              <a:rPr b="1" i="0" lang="en-US" sz="987" u="none" cap="none" strike="noStrike">
                <a:solidFill>
                  <a:srgbClr val="FFFFFF"/>
                </a:solidFill>
                <a:latin typeface="Calibri"/>
                <a:ea typeface="Calibri"/>
                <a:cs typeface="Calibri"/>
                <a:sym typeface="Calibri"/>
              </a:rPr>
              <a:t> Mandiant</a:t>
            </a:r>
            <a:endParaRPr b="0" i="0" sz="987" u="none" cap="none" strike="noStrike">
              <a:solidFill>
                <a:schemeClr val="dk1"/>
              </a:solidFill>
              <a:latin typeface="Calibri"/>
              <a:ea typeface="Calibri"/>
              <a:cs typeface="Calibri"/>
              <a:sym typeface="Calibri"/>
            </a:endParaRPr>
          </a:p>
        </p:txBody>
      </p:sp>
      <p:sp>
        <p:nvSpPr>
          <p:cNvPr id="277" name="Google Shape;277;p13"/>
          <p:cNvSpPr/>
          <p:nvPr/>
        </p:nvSpPr>
        <p:spPr>
          <a:xfrm>
            <a:off x="6191231" y="4143375"/>
            <a:ext cx="2524144" cy="771525"/>
          </a:xfrm>
          <a:prstGeom prst="rect">
            <a:avLst/>
          </a:prstGeom>
          <a:noFill/>
          <a:ln>
            <a:noFill/>
          </a:ln>
        </p:spPr>
        <p:txBody>
          <a:bodyPr anchorCtr="0" anchor="t" bIns="0" lIns="0" spcFirstLastPara="1" rIns="0" wrap="square" tIns="0">
            <a:noAutofit/>
          </a:bodyPr>
          <a:lstStyle/>
          <a:p>
            <a:pPr indent="0" lvl="0" marL="0" marR="0" rtl="0" algn="l">
              <a:lnSpc>
                <a:spcPct val="159235"/>
              </a:lnSpc>
              <a:spcBef>
                <a:spcPts val="0"/>
              </a:spcBef>
              <a:spcAft>
                <a:spcPts val="0"/>
              </a:spcAft>
              <a:buClr>
                <a:srgbClr val="B0B8C1"/>
              </a:buClr>
              <a:buSzPts val="942"/>
              <a:buFont typeface="Calibri"/>
              <a:buNone/>
            </a:pPr>
            <a:r>
              <a:rPr b="0" i="0" lang="en-US" sz="942" u="none" cap="none" strike="noStrike">
                <a:solidFill>
                  <a:srgbClr val="B0B8C1"/>
                </a:solidFill>
                <a:latin typeface="Calibri"/>
                <a:ea typeface="Calibri"/>
                <a:cs typeface="Calibri"/>
                <a:sym typeface="Calibri"/>
              </a:rPr>
              <a:t>Provide deep contextual enrichment, enabling proactive threat hunting based on the latest adversary tactics, techniques, and procedures (TTPs).</a:t>
            </a:r>
            <a:endParaRPr b="0" i="0" sz="942"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pic>
        <p:nvPicPr>
          <p:cNvPr descr="preencoded.png" id="283" name="Google Shape;283;p14"/>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284" name="Google Shape;284;p14"/>
          <p:cNvSpPr/>
          <p:nvPr/>
        </p:nvSpPr>
        <p:spPr>
          <a:xfrm>
            <a:off x="428625" y="428625"/>
            <a:ext cx="8286750" cy="623292"/>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4"/>
          <p:cNvSpPr/>
          <p:nvPr/>
        </p:nvSpPr>
        <p:spPr>
          <a:xfrm>
            <a:off x="428625" y="1037630"/>
            <a:ext cx="8286750" cy="14288"/>
          </a:xfrm>
          <a:prstGeom prst="rect">
            <a:avLst/>
          </a:prstGeom>
          <a:solidFill>
            <a:srgbClr val="00D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4"/>
          <p:cNvSpPr/>
          <p:nvPr/>
        </p:nvSpPr>
        <p:spPr>
          <a:xfrm>
            <a:off x="428625" y="428625"/>
            <a:ext cx="8286750" cy="466130"/>
          </a:xfrm>
          <a:prstGeom prst="rect">
            <a:avLst/>
          </a:prstGeom>
          <a:noFill/>
          <a:ln>
            <a:noFill/>
          </a:ln>
        </p:spPr>
        <p:txBody>
          <a:bodyPr anchorCtr="0" anchor="t" bIns="0" lIns="0" spcFirstLastPara="1" rIns="0" wrap="square" tIns="0">
            <a:noAutofit/>
          </a:bodyPr>
          <a:lstStyle/>
          <a:p>
            <a:pPr indent="0" lvl="0" marL="0" marR="0" rtl="0" algn="l">
              <a:lnSpc>
                <a:spcPct val="131362"/>
              </a:lnSpc>
              <a:spcBef>
                <a:spcPts val="0"/>
              </a:spcBef>
              <a:spcAft>
                <a:spcPts val="0"/>
              </a:spcAft>
              <a:buClr>
                <a:srgbClr val="00D9FF"/>
              </a:buClr>
              <a:buSzPts val="2436"/>
              <a:buFont typeface="Calibri"/>
              <a:buNone/>
            </a:pPr>
            <a:r>
              <a:rPr b="1" i="0" lang="en-US" sz="2436" u="none" cap="none" strike="noStrike">
                <a:solidFill>
                  <a:srgbClr val="00D9FF"/>
                </a:solidFill>
                <a:latin typeface="Calibri"/>
                <a:ea typeface="Calibri"/>
                <a:cs typeface="Calibri"/>
                <a:sym typeface="Calibri"/>
              </a:rPr>
              <a:t>The Strategic Advantage of "Buy vs. Build"</a:t>
            </a:r>
            <a:endParaRPr b="0" i="0" sz="2436" u="none" cap="none" strike="noStrike">
              <a:solidFill>
                <a:schemeClr val="dk1"/>
              </a:solidFill>
              <a:latin typeface="Calibri"/>
              <a:ea typeface="Calibri"/>
              <a:cs typeface="Calibri"/>
              <a:sym typeface="Calibri"/>
            </a:endParaRPr>
          </a:p>
        </p:txBody>
      </p:sp>
      <p:sp>
        <p:nvSpPr>
          <p:cNvPr id="287" name="Google Shape;287;p14"/>
          <p:cNvSpPr/>
          <p:nvPr/>
        </p:nvSpPr>
        <p:spPr>
          <a:xfrm>
            <a:off x="614363" y="1709142"/>
            <a:ext cx="2200275" cy="914400"/>
          </a:xfrm>
          <a:prstGeom prst="rect">
            <a:avLst/>
          </a:prstGeom>
          <a:noFill/>
          <a:ln>
            <a:noFill/>
          </a:ln>
        </p:spPr>
        <p:txBody>
          <a:bodyPr anchorCtr="0" anchor="t" bIns="0" lIns="0" spcFirstLastPara="1" rIns="0" wrap="square" tIns="0">
            <a:noAutofit/>
          </a:bodyPr>
          <a:lstStyle/>
          <a:p>
            <a:pPr indent="0" lvl="0" marL="0" marR="0" rtl="0" algn="l">
              <a:lnSpc>
                <a:spcPct val="109322"/>
              </a:lnSpc>
              <a:spcBef>
                <a:spcPts val="0"/>
              </a:spcBef>
              <a:spcAft>
                <a:spcPts val="0"/>
              </a:spcAft>
              <a:buClr>
                <a:srgbClr val="FFD700"/>
              </a:buClr>
              <a:buSzPts val="3293"/>
              <a:buFont typeface="Calibri"/>
              <a:buNone/>
            </a:pPr>
            <a:r>
              <a:rPr b="1" i="0" lang="en-US" sz="3293" u="none" cap="none" strike="noStrike">
                <a:solidFill>
                  <a:srgbClr val="FFD700"/>
                </a:solidFill>
                <a:latin typeface="Calibri"/>
                <a:ea typeface="Calibri"/>
                <a:cs typeface="Calibri"/>
                <a:sym typeface="Calibri"/>
              </a:rPr>
              <a:t>Deploy</a:t>
            </a:r>
            <a:br>
              <a:rPr b="1" i="0" lang="en-US" sz="3293" u="none" cap="none" strike="noStrike">
                <a:solidFill>
                  <a:srgbClr val="FFD700"/>
                </a:solidFill>
                <a:latin typeface="Calibri"/>
                <a:ea typeface="Calibri"/>
                <a:cs typeface="Calibri"/>
                <a:sym typeface="Calibri"/>
              </a:rPr>
            </a:br>
            <a:r>
              <a:rPr b="1" i="0" lang="en-US" sz="3293" u="none" cap="none" strike="noStrike">
                <a:solidFill>
                  <a:srgbClr val="FFD700"/>
                </a:solidFill>
                <a:latin typeface="Calibri"/>
                <a:ea typeface="Calibri"/>
                <a:cs typeface="Calibri"/>
                <a:sym typeface="Calibri"/>
              </a:rPr>
              <a:t>in Days</a:t>
            </a:r>
            <a:endParaRPr b="0" i="0" sz="3293" u="none" cap="none" strike="noStrike">
              <a:solidFill>
                <a:schemeClr val="dk1"/>
              </a:solidFill>
              <a:latin typeface="Calibri"/>
              <a:ea typeface="Calibri"/>
              <a:cs typeface="Calibri"/>
              <a:sym typeface="Calibri"/>
            </a:endParaRPr>
          </a:p>
        </p:txBody>
      </p:sp>
      <p:sp>
        <p:nvSpPr>
          <p:cNvPr id="288" name="Google Shape;288;p14"/>
          <p:cNvSpPr/>
          <p:nvPr/>
        </p:nvSpPr>
        <p:spPr>
          <a:xfrm>
            <a:off x="614363" y="2766417"/>
            <a:ext cx="2200275" cy="326827"/>
          </a:xfrm>
          <a:prstGeom prst="rect">
            <a:avLst/>
          </a:prstGeom>
          <a:noFill/>
          <a:ln>
            <a:noFill/>
          </a:ln>
        </p:spPr>
        <p:txBody>
          <a:bodyPr anchorCtr="0" anchor="t" bIns="102100" lIns="0" spcFirstLastPara="1" rIns="0" wrap="square" tIns="0">
            <a:noAutofit/>
          </a:bodyPr>
          <a:lstStyle/>
          <a:p>
            <a:pPr indent="0" lvl="0" marL="0" marR="0" rtl="0" algn="l">
              <a:lnSpc>
                <a:spcPct val="134115"/>
              </a:lnSpc>
              <a:spcBef>
                <a:spcPts val="0"/>
              </a:spcBef>
              <a:spcAft>
                <a:spcPts val="0"/>
              </a:spcAft>
              <a:buClr>
                <a:srgbClr val="FFFFFF"/>
              </a:buClr>
              <a:buSzPts val="1193"/>
              <a:buFont typeface="Calibri"/>
              <a:buNone/>
            </a:pPr>
            <a:r>
              <a:rPr b="1" i="0" lang="en-US" sz="1193" u="none" cap="none" strike="noStrike">
                <a:solidFill>
                  <a:srgbClr val="FFFFFF"/>
                </a:solidFill>
                <a:latin typeface="Calibri"/>
                <a:ea typeface="Calibri"/>
                <a:cs typeface="Calibri"/>
                <a:sym typeface="Calibri"/>
              </a:rPr>
              <a:t>Instant-On Functionality</a:t>
            </a:r>
            <a:endParaRPr b="0" i="0" sz="1193" u="none" cap="none" strike="noStrike">
              <a:solidFill>
                <a:schemeClr val="dk1"/>
              </a:solidFill>
              <a:latin typeface="Calibri"/>
              <a:ea typeface="Calibri"/>
              <a:cs typeface="Calibri"/>
              <a:sym typeface="Calibri"/>
            </a:endParaRPr>
          </a:p>
        </p:txBody>
      </p:sp>
      <p:sp>
        <p:nvSpPr>
          <p:cNvPr id="289" name="Google Shape;289;p14"/>
          <p:cNvSpPr/>
          <p:nvPr/>
        </p:nvSpPr>
        <p:spPr>
          <a:xfrm>
            <a:off x="614363" y="3178969"/>
            <a:ext cx="2200275" cy="1234306"/>
          </a:xfrm>
          <a:prstGeom prst="rect">
            <a:avLst/>
          </a:prstGeom>
          <a:noFill/>
          <a:ln>
            <a:noFill/>
          </a:ln>
        </p:spPr>
        <p:txBody>
          <a:bodyPr anchorCtr="0" anchor="t" bIns="0" lIns="0" spcFirstLastPara="1" rIns="0" wrap="square" tIns="0">
            <a:noAutofit/>
          </a:bodyPr>
          <a:lstStyle/>
          <a:p>
            <a:pPr indent="0" lvl="0" marL="0" marR="0" rtl="0" algn="l">
              <a:lnSpc>
                <a:spcPct val="169851"/>
              </a:lnSpc>
              <a:spcBef>
                <a:spcPts val="0"/>
              </a:spcBef>
              <a:spcAft>
                <a:spcPts val="0"/>
              </a:spcAft>
              <a:buClr>
                <a:srgbClr val="B0B8C1"/>
              </a:buClr>
              <a:buSzPts val="942"/>
              <a:buFont typeface="Calibri"/>
              <a:buNone/>
            </a:pPr>
            <a:r>
              <a:rPr b="0" i="0" lang="en-US" sz="942" u="none" cap="none" strike="noStrike">
                <a:solidFill>
                  <a:srgbClr val="B0B8C1"/>
                </a:solidFill>
                <a:latin typeface="Calibri"/>
                <a:ea typeface="Calibri"/>
                <a:cs typeface="Calibri"/>
                <a:sym typeface="Calibri"/>
              </a:rPr>
              <a:t>The </a:t>
            </a:r>
            <a:r>
              <a:rPr b="1" i="0" lang="en-US" sz="885" u="none" cap="none" strike="noStrike">
                <a:solidFill>
                  <a:srgbClr val="FFFFFF"/>
                </a:solidFill>
                <a:latin typeface="Calibri"/>
                <a:ea typeface="Calibri"/>
                <a:cs typeface="Calibri"/>
                <a:sym typeface="Calibri"/>
              </a:rPr>
              <a:t>AWS Security Lake Ready</a:t>
            </a:r>
            <a:r>
              <a:rPr b="0" i="0" lang="en-US" sz="942" u="none" cap="none" strike="noStrike">
                <a:solidFill>
                  <a:srgbClr val="B0B8C1"/>
                </a:solidFill>
                <a:latin typeface="Calibri"/>
                <a:ea typeface="Calibri"/>
                <a:cs typeface="Calibri"/>
                <a:sym typeface="Calibri"/>
              </a:rPr>
              <a:t> program validates solutions for out-of-the-box compatibility. Deploy enterprise-grade tools in hours, bypassing months of custom integration work.</a:t>
            </a:r>
            <a:endParaRPr b="0" i="0" sz="942" u="none" cap="none" strike="noStrike">
              <a:solidFill>
                <a:schemeClr val="dk1"/>
              </a:solidFill>
              <a:latin typeface="Calibri"/>
              <a:ea typeface="Calibri"/>
              <a:cs typeface="Calibri"/>
              <a:sym typeface="Calibri"/>
            </a:endParaRPr>
          </a:p>
        </p:txBody>
      </p:sp>
      <p:sp>
        <p:nvSpPr>
          <p:cNvPr id="290" name="Google Shape;290;p14"/>
          <p:cNvSpPr/>
          <p:nvPr/>
        </p:nvSpPr>
        <p:spPr>
          <a:xfrm>
            <a:off x="3471863" y="1709142"/>
            <a:ext cx="2200275" cy="914400"/>
          </a:xfrm>
          <a:prstGeom prst="rect">
            <a:avLst/>
          </a:prstGeom>
          <a:noFill/>
          <a:ln>
            <a:noFill/>
          </a:ln>
        </p:spPr>
        <p:txBody>
          <a:bodyPr anchorCtr="0" anchor="t" bIns="0" lIns="0" spcFirstLastPara="1" rIns="0" wrap="square" tIns="0">
            <a:noAutofit/>
          </a:bodyPr>
          <a:lstStyle/>
          <a:p>
            <a:pPr indent="0" lvl="0" marL="0" marR="0" rtl="0" algn="l">
              <a:lnSpc>
                <a:spcPct val="109322"/>
              </a:lnSpc>
              <a:spcBef>
                <a:spcPts val="0"/>
              </a:spcBef>
              <a:spcAft>
                <a:spcPts val="0"/>
              </a:spcAft>
              <a:buClr>
                <a:srgbClr val="FFD700"/>
              </a:buClr>
              <a:buSzPts val="3293"/>
              <a:buFont typeface="Calibri"/>
              <a:buNone/>
            </a:pPr>
            <a:r>
              <a:rPr b="1" i="0" lang="en-US" sz="3293" u="none" cap="none" strike="noStrike">
                <a:solidFill>
                  <a:srgbClr val="FFD700"/>
                </a:solidFill>
                <a:latin typeface="Calibri"/>
                <a:ea typeface="Calibri"/>
                <a:cs typeface="Calibri"/>
                <a:sym typeface="Calibri"/>
              </a:rPr>
              <a:t>Zero</a:t>
            </a:r>
            <a:br>
              <a:rPr b="1" i="0" lang="en-US" sz="3293" u="none" cap="none" strike="noStrike">
                <a:solidFill>
                  <a:srgbClr val="FFD700"/>
                </a:solidFill>
                <a:latin typeface="Calibri"/>
                <a:ea typeface="Calibri"/>
                <a:cs typeface="Calibri"/>
                <a:sym typeface="Calibri"/>
              </a:rPr>
            </a:br>
            <a:r>
              <a:rPr b="1" i="0" lang="en-US" sz="3293" u="none" cap="none" strike="noStrike">
                <a:solidFill>
                  <a:srgbClr val="FFD700"/>
                </a:solidFill>
                <a:latin typeface="Calibri"/>
                <a:ea typeface="Calibri"/>
                <a:cs typeface="Calibri"/>
                <a:sym typeface="Calibri"/>
              </a:rPr>
              <a:t>Dev Time</a:t>
            </a:r>
            <a:endParaRPr b="0" i="0" sz="3293" u="none" cap="none" strike="noStrike">
              <a:solidFill>
                <a:schemeClr val="dk1"/>
              </a:solidFill>
              <a:latin typeface="Calibri"/>
              <a:ea typeface="Calibri"/>
              <a:cs typeface="Calibri"/>
              <a:sym typeface="Calibri"/>
            </a:endParaRPr>
          </a:p>
        </p:txBody>
      </p:sp>
      <p:sp>
        <p:nvSpPr>
          <p:cNvPr id="291" name="Google Shape;291;p14"/>
          <p:cNvSpPr/>
          <p:nvPr/>
        </p:nvSpPr>
        <p:spPr>
          <a:xfrm>
            <a:off x="3471863" y="2766417"/>
            <a:ext cx="2200275" cy="326827"/>
          </a:xfrm>
          <a:prstGeom prst="rect">
            <a:avLst/>
          </a:prstGeom>
          <a:noFill/>
          <a:ln>
            <a:noFill/>
          </a:ln>
        </p:spPr>
        <p:txBody>
          <a:bodyPr anchorCtr="0" anchor="t" bIns="102100" lIns="0" spcFirstLastPara="1" rIns="0" wrap="square" tIns="0">
            <a:noAutofit/>
          </a:bodyPr>
          <a:lstStyle/>
          <a:p>
            <a:pPr indent="0" lvl="0" marL="0" marR="0" rtl="0" algn="l">
              <a:lnSpc>
                <a:spcPct val="134115"/>
              </a:lnSpc>
              <a:spcBef>
                <a:spcPts val="0"/>
              </a:spcBef>
              <a:spcAft>
                <a:spcPts val="0"/>
              </a:spcAft>
              <a:buClr>
                <a:srgbClr val="FFFFFF"/>
              </a:buClr>
              <a:buSzPts val="1193"/>
              <a:buFont typeface="Calibri"/>
              <a:buNone/>
            </a:pPr>
            <a:r>
              <a:rPr b="1" i="0" lang="en-US" sz="1193" u="none" cap="none" strike="noStrike">
                <a:solidFill>
                  <a:srgbClr val="FFFFFF"/>
                </a:solidFill>
                <a:latin typeface="Calibri"/>
                <a:ea typeface="Calibri"/>
                <a:cs typeface="Calibri"/>
                <a:sym typeface="Calibri"/>
              </a:rPr>
              <a:t>Eliminate Bottlenecks</a:t>
            </a:r>
            <a:endParaRPr b="0" i="0" sz="1193" u="none" cap="none" strike="noStrike">
              <a:solidFill>
                <a:schemeClr val="dk1"/>
              </a:solidFill>
              <a:latin typeface="Calibri"/>
              <a:ea typeface="Calibri"/>
              <a:cs typeface="Calibri"/>
              <a:sym typeface="Calibri"/>
            </a:endParaRPr>
          </a:p>
        </p:txBody>
      </p:sp>
      <p:sp>
        <p:nvSpPr>
          <p:cNvPr id="292" name="Google Shape;292;p14"/>
          <p:cNvSpPr/>
          <p:nvPr/>
        </p:nvSpPr>
        <p:spPr>
          <a:xfrm>
            <a:off x="3471863" y="3178969"/>
            <a:ext cx="2200275" cy="1234306"/>
          </a:xfrm>
          <a:prstGeom prst="rect">
            <a:avLst/>
          </a:prstGeom>
          <a:noFill/>
          <a:ln>
            <a:noFill/>
          </a:ln>
        </p:spPr>
        <p:txBody>
          <a:bodyPr anchorCtr="0" anchor="t" bIns="0" lIns="0" spcFirstLastPara="1" rIns="0" wrap="square" tIns="0">
            <a:noAutofit/>
          </a:bodyPr>
          <a:lstStyle/>
          <a:p>
            <a:pPr indent="0" lvl="0" marL="0" marR="0" rtl="0" algn="l">
              <a:lnSpc>
                <a:spcPct val="169851"/>
              </a:lnSpc>
              <a:spcBef>
                <a:spcPts val="0"/>
              </a:spcBef>
              <a:spcAft>
                <a:spcPts val="0"/>
              </a:spcAft>
              <a:buClr>
                <a:srgbClr val="B0B8C1"/>
              </a:buClr>
              <a:buSzPts val="942"/>
              <a:buFont typeface="Calibri"/>
              <a:buNone/>
            </a:pPr>
            <a:r>
              <a:rPr b="0" i="0" lang="en-US" sz="942" u="none" cap="none" strike="noStrike">
                <a:solidFill>
                  <a:srgbClr val="B0B8C1"/>
                </a:solidFill>
                <a:latin typeface="Calibri"/>
                <a:ea typeface="Calibri"/>
                <a:cs typeface="Calibri"/>
                <a:sym typeface="Calibri"/>
              </a:rPr>
              <a:t>Stop writing and maintaining custom parsers. With standardized OCSF data, engineering resources can shift immediately from "data plumbing" to high-value </a:t>
            </a:r>
            <a:r>
              <a:rPr b="1" i="0" lang="en-US" sz="885" u="none" cap="none" strike="noStrike">
                <a:solidFill>
                  <a:srgbClr val="FFFFFF"/>
                </a:solidFill>
                <a:latin typeface="Calibri"/>
                <a:ea typeface="Calibri"/>
                <a:cs typeface="Calibri"/>
                <a:sym typeface="Calibri"/>
              </a:rPr>
              <a:t>threat hunting</a:t>
            </a:r>
            <a:r>
              <a:rPr b="0" i="0" lang="en-US" sz="942" u="none" cap="none" strike="noStrike">
                <a:solidFill>
                  <a:srgbClr val="B0B8C1"/>
                </a:solidFill>
                <a:latin typeface="Calibri"/>
                <a:ea typeface="Calibri"/>
                <a:cs typeface="Calibri"/>
                <a:sym typeface="Calibri"/>
              </a:rPr>
              <a:t>.</a:t>
            </a:r>
            <a:endParaRPr b="0" i="0" sz="942" u="none" cap="none" strike="noStrike">
              <a:solidFill>
                <a:schemeClr val="dk1"/>
              </a:solidFill>
              <a:latin typeface="Calibri"/>
              <a:ea typeface="Calibri"/>
              <a:cs typeface="Calibri"/>
              <a:sym typeface="Calibri"/>
            </a:endParaRPr>
          </a:p>
        </p:txBody>
      </p:sp>
      <p:sp>
        <p:nvSpPr>
          <p:cNvPr id="293" name="Google Shape;293;p14"/>
          <p:cNvSpPr/>
          <p:nvPr/>
        </p:nvSpPr>
        <p:spPr>
          <a:xfrm>
            <a:off x="6329363" y="1709142"/>
            <a:ext cx="2200275" cy="914400"/>
          </a:xfrm>
          <a:prstGeom prst="rect">
            <a:avLst/>
          </a:prstGeom>
          <a:noFill/>
          <a:ln>
            <a:noFill/>
          </a:ln>
        </p:spPr>
        <p:txBody>
          <a:bodyPr anchorCtr="0" anchor="t" bIns="0" lIns="0" spcFirstLastPara="1" rIns="0" wrap="square" tIns="0">
            <a:noAutofit/>
          </a:bodyPr>
          <a:lstStyle/>
          <a:p>
            <a:pPr indent="0" lvl="0" marL="0" marR="0" rtl="0" algn="l">
              <a:lnSpc>
                <a:spcPct val="109322"/>
              </a:lnSpc>
              <a:spcBef>
                <a:spcPts val="0"/>
              </a:spcBef>
              <a:spcAft>
                <a:spcPts val="0"/>
              </a:spcAft>
              <a:buClr>
                <a:srgbClr val="FFD700"/>
              </a:buClr>
              <a:buSzPts val="3293"/>
              <a:buFont typeface="Calibri"/>
              <a:buNone/>
            </a:pPr>
            <a:r>
              <a:rPr b="1" i="0" lang="en-US" sz="3293" u="none" cap="none" strike="noStrike">
                <a:solidFill>
                  <a:srgbClr val="FFD700"/>
                </a:solidFill>
                <a:latin typeface="Calibri"/>
                <a:ea typeface="Calibri"/>
                <a:cs typeface="Calibri"/>
                <a:sym typeface="Calibri"/>
              </a:rPr>
              <a:t>Day-One</a:t>
            </a:r>
            <a:br>
              <a:rPr b="1" i="0" lang="en-US" sz="3293" u="none" cap="none" strike="noStrike">
                <a:solidFill>
                  <a:srgbClr val="FFD700"/>
                </a:solidFill>
                <a:latin typeface="Calibri"/>
                <a:ea typeface="Calibri"/>
                <a:cs typeface="Calibri"/>
                <a:sym typeface="Calibri"/>
              </a:rPr>
            </a:br>
            <a:r>
              <a:rPr b="1" i="0" lang="en-US" sz="3293" u="none" cap="none" strike="noStrike">
                <a:solidFill>
                  <a:srgbClr val="FFD700"/>
                </a:solidFill>
                <a:latin typeface="Calibri"/>
                <a:ea typeface="Calibri"/>
                <a:cs typeface="Calibri"/>
                <a:sym typeface="Calibri"/>
              </a:rPr>
              <a:t>Value</a:t>
            </a:r>
            <a:endParaRPr b="0" i="0" sz="3293" u="none" cap="none" strike="noStrike">
              <a:solidFill>
                <a:schemeClr val="dk1"/>
              </a:solidFill>
              <a:latin typeface="Calibri"/>
              <a:ea typeface="Calibri"/>
              <a:cs typeface="Calibri"/>
              <a:sym typeface="Calibri"/>
            </a:endParaRPr>
          </a:p>
        </p:txBody>
      </p:sp>
      <p:sp>
        <p:nvSpPr>
          <p:cNvPr id="294" name="Google Shape;294;p14"/>
          <p:cNvSpPr/>
          <p:nvPr/>
        </p:nvSpPr>
        <p:spPr>
          <a:xfrm>
            <a:off x="6329363" y="2766417"/>
            <a:ext cx="2200275" cy="326827"/>
          </a:xfrm>
          <a:prstGeom prst="rect">
            <a:avLst/>
          </a:prstGeom>
          <a:noFill/>
          <a:ln>
            <a:noFill/>
          </a:ln>
        </p:spPr>
        <p:txBody>
          <a:bodyPr anchorCtr="0" anchor="t" bIns="102100" lIns="0" spcFirstLastPara="1" rIns="0" wrap="square" tIns="0">
            <a:noAutofit/>
          </a:bodyPr>
          <a:lstStyle/>
          <a:p>
            <a:pPr indent="0" lvl="0" marL="0" marR="0" rtl="0" algn="l">
              <a:lnSpc>
                <a:spcPct val="134115"/>
              </a:lnSpc>
              <a:spcBef>
                <a:spcPts val="0"/>
              </a:spcBef>
              <a:spcAft>
                <a:spcPts val="0"/>
              </a:spcAft>
              <a:buClr>
                <a:srgbClr val="FFFFFF"/>
              </a:buClr>
              <a:buSzPts val="1193"/>
              <a:buFont typeface="Calibri"/>
              <a:buNone/>
            </a:pPr>
            <a:r>
              <a:rPr b="1" i="0" lang="en-US" sz="1193" u="none" cap="none" strike="noStrike">
                <a:solidFill>
                  <a:srgbClr val="FFFFFF"/>
                </a:solidFill>
                <a:latin typeface="Calibri"/>
                <a:ea typeface="Calibri"/>
                <a:cs typeface="Calibri"/>
                <a:sym typeface="Calibri"/>
              </a:rPr>
              <a:t>Immediate Capabilities</a:t>
            </a:r>
            <a:endParaRPr b="0" i="0" sz="1193" u="none" cap="none" strike="noStrike">
              <a:solidFill>
                <a:schemeClr val="dk1"/>
              </a:solidFill>
              <a:latin typeface="Calibri"/>
              <a:ea typeface="Calibri"/>
              <a:cs typeface="Calibri"/>
              <a:sym typeface="Calibri"/>
            </a:endParaRPr>
          </a:p>
        </p:txBody>
      </p:sp>
      <p:sp>
        <p:nvSpPr>
          <p:cNvPr id="295" name="Google Shape;295;p14"/>
          <p:cNvSpPr/>
          <p:nvPr/>
        </p:nvSpPr>
        <p:spPr>
          <a:xfrm>
            <a:off x="6329363" y="3178969"/>
            <a:ext cx="2200275" cy="1234306"/>
          </a:xfrm>
          <a:prstGeom prst="rect">
            <a:avLst/>
          </a:prstGeom>
          <a:noFill/>
          <a:ln>
            <a:noFill/>
          </a:ln>
        </p:spPr>
        <p:txBody>
          <a:bodyPr anchorCtr="0" anchor="t" bIns="0" lIns="0" spcFirstLastPara="1" rIns="0" wrap="square" tIns="0">
            <a:noAutofit/>
          </a:bodyPr>
          <a:lstStyle/>
          <a:p>
            <a:pPr indent="0" lvl="0" marL="0" marR="0" rtl="0" algn="l">
              <a:lnSpc>
                <a:spcPct val="169851"/>
              </a:lnSpc>
              <a:spcBef>
                <a:spcPts val="0"/>
              </a:spcBef>
              <a:spcAft>
                <a:spcPts val="0"/>
              </a:spcAft>
              <a:buClr>
                <a:srgbClr val="B0B8C1"/>
              </a:buClr>
              <a:buSzPts val="942"/>
              <a:buFont typeface="Calibri"/>
              <a:buNone/>
            </a:pPr>
            <a:r>
              <a:rPr b="0" i="0" lang="en-US" sz="942" u="none" cap="none" strike="noStrike">
                <a:solidFill>
                  <a:srgbClr val="B0B8C1"/>
                </a:solidFill>
                <a:latin typeface="Calibri"/>
                <a:ea typeface="Calibri"/>
                <a:cs typeface="Calibri"/>
                <a:sym typeface="Calibri"/>
              </a:rPr>
              <a:t>Don't build from scratch. Subscribe to partners like </a:t>
            </a:r>
            <a:r>
              <a:rPr b="1" i="0" lang="en-US" sz="885" u="none" cap="none" strike="noStrike">
                <a:solidFill>
                  <a:srgbClr val="FFFFFF"/>
                </a:solidFill>
                <a:latin typeface="Calibri"/>
                <a:ea typeface="Calibri"/>
                <a:cs typeface="Calibri"/>
                <a:sym typeface="Calibri"/>
              </a:rPr>
              <a:t>Recorded Future</a:t>
            </a:r>
            <a:r>
              <a:rPr b="0" i="0" lang="en-US" sz="942" u="none" cap="none" strike="noStrike">
                <a:solidFill>
                  <a:srgbClr val="B0B8C1"/>
                </a:solidFill>
                <a:latin typeface="Calibri"/>
                <a:ea typeface="Calibri"/>
                <a:cs typeface="Calibri"/>
                <a:sym typeface="Calibri"/>
              </a:rPr>
              <a:t> to enrich data instantly. Build a comprehensive security stack at a pace impossible with a DIY approach.</a:t>
            </a:r>
            <a:endParaRPr b="0" i="0" sz="942"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pic>
        <p:nvPicPr>
          <p:cNvPr descr="preencoded.png" id="301" name="Google Shape;301;p15"/>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302" name="Google Shape;302;p15"/>
          <p:cNvSpPr/>
          <p:nvPr/>
        </p:nvSpPr>
        <p:spPr>
          <a:xfrm>
            <a:off x="428625" y="428625"/>
            <a:ext cx="8286750" cy="623292"/>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15"/>
          <p:cNvSpPr/>
          <p:nvPr/>
        </p:nvSpPr>
        <p:spPr>
          <a:xfrm>
            <a:off x="428625" y="1037630"/>
            <a:ext cx="8286750" cy="14288"/>
          </a:xfrm>
          <a:prstGeom prst="rect">
            <a:avLst/>
          </a:prstGeom>
          <a:solidFill>
            <a:srgbClr val="00D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15"/>
          <p:cNvSpPr/>
          <p:nvPr/>
        </p:nvSpPr>
        <p:spPr>
          <a:xfrm>
            <a:off x="428625" y="428625"/>
            <a:ext cx="8286750" cy="466130"/>
          </a:xfrm>
          <a:prstGeom prst="rect">
            <a:avLst/>
          </a:prstGeom>
          <a:noFill/>
          <a:ln>
            <a:noFill/>
          </a:ln>
        </p:spPr>
        <p:txBody>
          <a:bodyPr anchorCtr="0" anchor="t" bIns="0" lIns="0" spcFirstLastPara="1" rIns="0" wrap="square" tIns="0">
            <a:noAutofit/>
          </a:bodyPr>
          <a:lstStyle/>
          <a:p>
            <a:pPr indent="0" lvl="0" marL="0" marR="0" rtl="0" algn="l">
              <a:lnSpc>
                <a:spcPct val="131362"/>
              </a:lnSpc>
              <a:spcBef>
                <a:spcPts val="0"/>
              </a:spcBef>
              <a:spcAft>
                <a:spcPts val="0"/>
              </a:spcAft>
              <a:buClr>
                <a:srgbClr val="00D9FF"/>
              </a:buClr>
              <a:buSzPts val="2436"/>
              <a:buFont typeface="Calibri"/>
              <a:buNone/>
            </a:pPr>
            <a:r>
              <a:rPr b="1" i="0" lang="en-US" sz="2436" u="none" cap="none" strike="noStrike">
                <a:solidFill>
                  <a:srgbClr val="00D9FF"/>
                </a:solidFill>
                <a:latin typeface="Calibri"/>
                <a:ea typeface="Calibri"/>
                <a:cs typeface="Calibri"/>
                <a:sym typeface="Calibri"/>
              </a:rPr>
              <a:t>From Data Plumbing to Proactive Defense</a:t>
            </a:r>
            <a:endParaRPr b="0" i="0" sz="2436" u="none" cap="none" strike="noStrike">
              <a:solidFill>
                <a:schemeClr val="dk1"/>
              </a:solidFill>
              <a:latin typeface="Calibri"/>
              <a:ea typeface="Calibri"/>
              <a:cs typeface="Calibri"/>
              <a:sym typeface="Calibri"/>
            </a:endParaRPr>
          </a:p>
        </p:txBody>
      </p:sp>
      <p:sp>
        <p:nvSpPr>
          <p:cNvPr id="305" name="Google Shape;305;p15"/>
          <p:cNvSpPr/>
          <p:nvPr/>
        </p:nvSpPr>
        <p:spPr>
          <a:xfrm>
            <a:off x="428625" y="1616273"/>
            <a:ext cx="2571750" cy="240013"/>
          </a:xfrm>
          <a:prstGeom prst="rect">
            <a:avLst/>
          </a:prstGeom>
          <a:noFill/>
          <a:ln>
            <a:noFill/>
          </a:ln>
        </p:spPr>
        <p:txBody>
          <a:bodyPr anchorCtr="0" anchor="t" bIns="0" lIns="0" spcFirstLastPara="1" rIns="0" wrap="square" tIns="0">
            <a:noAutofit/>
          </a:bodyPr>
          <a:lstStyle/>
          <a:p>
            <a:pPr indent="0" lvl="0" marL="0" marR="0" rtl="0" algn="l">
              <a:lnSpc>
                <a:spcPct val="136005"/>
              </a:lnSpc>
              <a:spcBef>
                <a:spcPts val="0"/>
              </a:spcBef>
              <a:spcAft>
                <a:spcPts val="0"/>
              </a:spcAft>
              <a:buClr>
                <a:srgbClr val="FFFFFF"/>
              </a:buClr>
              <a:buSzPts val="1397"/>
              <a:buFont typeface="Calibri"/>
              <a:buNone/>
            </a:pPr>
            <a:r>
              <a:rPr b="1" i="0" lang="en-US" sz="1397" u="none" cap="none" strike="noStrike">
                <a:solidFill>
                  <a:srgbClr val="FFFFFF"/>
                </a:solidFill>
                <a:latin typeface="Calibri"/>
                <a:ea typeface="Calibri"/>
                <a:cs typeface="Calibri"/>
                <a:sym typeface="Calibri"/>
              </a:rPr>
              <a:t>Operational Efficiency</a:t>
            </a:r>
            <a:endParaRPr b="0" i="0" sz="1397" u="none" cap="none" strike="noStrike">
              <a:solidFill>
                <a:schemeClr val="dk1"/>
              </a:solidFill>
              <a:latin typeface="Calibri"/>
              <a:ea typeface="Calibri"/>
              <a:cs typeface="Calibri"/>
              <a:sym typeface="Calibri"/>
            </a:endParaRPr>
          </a:p>
        </p:txBody>
      </p:sp>
      <p:sp>
        <p:nvSpPr>
          <p:cNvPr id="306" name="Google Shape;306;p15"/>
          <p:cNvSpPr/>
          <p:nvPr/>
        </p:nvSpPr>
        <p:spPr>
          <a:xfrm>
            <a:off x="428625" y="1963443"/>
            <a:ext cx="2571750" cy="771525"/>
          </a:xfrm>
          <a:prstGeom prst="rect">
            <a:avLst/>
          </a:prstGeom>
          <a:noFill/>
          <a:ln>
            <a:noFill/>
          </a:ln>
        </p:spPr>
        <p:txBody>
          <a:bodyPr anchorCtr="0" anchor="t" bIns="0" lIns="0" spcFirstLastPara="1" rIns="0" wrap="square" tIns="0">
            <a:noAutofit/>
          </a:bodyPr>
          <a:lstStyle/>
          <a:p>
            <a:pPr indent="0" lvl="0" marL="0" marR="0" rtl="0" algn="l">
              <a:lnSpc>
                <a:spcPct val="159235"/>
              </a:lnSpc>
              <a:spcBef>
                <a:spcPts val="0"/>
              </a:spcBef>
              <a:spcAft>
                <a:spcPts val="0"/>
              </a:spcAft>
              <a:buClr>
                <a:srgbClr val="B0B8C1"/>
              </a:buClr>
              <a:buSzPts val="942"/>
              <a:buFont typeface="Calibri"/>
              <a:buNone/>
            </a:pPr>
            <a:r>
              <a:rPr b="0" i="0" lang="en-US" sz="942" u="none" cap="none" strike="noStrike">
                <a:solidFill>
                  <a:srgbClr val="B0B8C1"/>
                </a:solidFill>
                <a:latin typeface="Calibri"/>
                <a:ea typeface="Calibri"/>
                <a:cs typeface="Calibri"/>
                <a:sym typeface="Calibri"/>
              </a:rPr>
              <a:t>Eliminate parser maintenance, reduce infrastructure costs, and free engineering resources for strategic security initiatives rather than data plumbing.</a:t>
            </a:r>
            <a:endParaRPr b="0" i="0" sz="942" u="none" cap="none" strike="noStrike">
              <a:solidFill>
                <a:schemeClr val="dk1"/>
              </a:solidFill>
              <a:latin typeface="Calibri"/>
              <a:ea typeface="Calibri"/>
              <a:cs typeface="Calibri"/>
              <a:sym typeface="Calibri"/>
            </a:endParaRPr>
          </a:p>
        </p:txBody>
      </p:sp>
      <p:sp>
        <p:nvSpPr>
          <p:cNvPr id="307" name="Google Shape;307;p15"/>
          <p:cNvSpPr/>
          <p:nvPr/>
        </p:nvSpPr>
        <p:spPr>
          <a:xfrm>
            <a:off x="3286125" y="1616273"/>
            <a:ext cx="2571750" cy="240013"/>
          </a:xfrm>
          <a:prstGeom prst="rect">
            <a:avLst/>
          </a:prstGeom>
          <a:noFill/>
          <a:ln>
            <a:noFill/>
          </a:ln>
        </p:spPr>
        <p:txBody>
          <a:bodyPr anchorCtr="0" anchor="t" bIns="0" lIns="0" spcFirstLastPara="1" rIns="0" wrap="square" tIns="0">
            <a:noAutofit/>
          </a:bodyPr>
          <a:lstStyle/>
          <a:p>
            <a:pPr indent="0" lvl="0" marL="0" marR="0" rtl="0" algn="l">
              <a:lnSpc>
                <a:spcPct val="136005"/>
              </a:lnSpc>
              <a:spcBef>
                <a:spcPts val="0"/>
              </a:spcBef>
              <a:spcAft>
                <a:spcPts val="0"/>
              </a:spcAft>
              <a:buClr>
                <a:srgbClr val="FFFFFF"/>
              </a:buClr>
              <a:buSzPts val="1397"/>
              <a:buFont typeface="Calibri"/>
              <a:buNone/>
            </a:pPr>
            <a:r>
              <a:rPr b="1" i="0" lang="en-US" sz="1397" u="none" cap="none" strike="noStrike">
                <a:solidFill>
                  <a:srgbClr val="FFFFFF"/>
                </a:solidFill>
                <a:latin typeface="Calibri"/>
                <a:ea typeface="Calibri"/>
                <a:cs typeface="Calibri"/>
                <a:sym typeface="Calibri"/>
              </a:rPr>
              <a:t>Accelerated Innovation</a:t>
            </a:r>
            <a:endParaRPr b="0" i="0" sz="1397" u="none" cap="none" strike="noStrike">
              <a:solidFill>
                <a:schemeClr val="dk1"/>
              </a:solidFill>
              <a:latin typeface="Calibri"/>
              <a:ea typeface="Calibri"/>
              <a:cs typeface="Calibri"/>
              <a:sym typeface="Calibri"/>
            </a:endParaRPr>
          </a:p>
        </p:txBody>
      </p:sp>
      <p:sp>
        <p:nvSpPr>
          <p:cNvPr id="308" name="Google Shape;308;p15"/>
          <p:cNvSpPr/>
          <p:nvPr/>
        </p:nvSpPr>
        <p:spPr>
          <a:xfrm>
            <a:off x="3286125" y="1963443"/>
            <a:ext cx="2571750" cy="771525"/>
          </a:xfrm>
          <a:prstGeom prst="rect">
            <a:avLst/>
          </a:prstGeom>
          <a:noFill/>
          <a:ln>
            <a:noFill/>
          </a:ln>
        </p:spPr>
        <p:txBody>
          <a:bodyPr anchorCtr="0" anchor="t" bIns="0" lIns="0" spcFirstLastPara="1" rIns="0" wrap="square" tIns="0">
            <a:noAutofit/>
          </a:bodyPr>
          <a:lstStyle/>
          <a:p>
            <a:pPr indent="0" lvl="0" marL="0" marR="0" rtl="0" algn="l">
              <a:lnSpc>
                <a:spcPct val="159235"/>
              </a:lnSpc>
              <a:spcBef>
                <a:spcPts val="0"/>
              </a:spcBef>
              <a:spcAft>
                <a:spcPts val="0"/>
              </a:spcAft>
              <a:buClr>
                <a:srgbClr val="B0B8C1"/>
              </a:buClr>
              <a:buSzPts val="942"/>
              <a:buFont typeface="Calibri"/>
              <a:buNone/>
            </a:pPr>
            <a:r>
              <a:rPr b="0" i="0" lang="en-US" sz="942" u="none" cap="none" strike="noStrike">
                <a:solidFill>
                  <a:srgbClr val="B0B8C1"/>
                </a:solidFill>
                <a:latin typeface="Calibri"/>
                <a:ea typeface="Calibri"/>
                <a:cs typeface="Calibri"/>
                <a:sym typeface="Calibri"/>
              </a:rPr>
              <a:t>Deploy new detections, integrate new tools, and respond to emerging threats in hours instead of weeks by leveraging the ecosystem.</a:t>
            </a:r>
            <a:endParaRPr b="0" i="0" sz="942" u="none" cap="none" strike="noStrike">
              <a:solidFill>
                <a:schemeClr val="dk1"/>
              </a:solidFill>
              <a:latin typeface="Calibri"/>
              <a:ea typeface="Calibri"/>
              <a:cs typeface="Calibri"/>
              <a:sym typeface="Calibri"/>
            </a:endParaRPr>
          </a:p>
        </p:txBody>
      </p:sp>
      <p:sp>
        <p:nvSpPr>
          <p:cNvPr id="309" name="Google Shape;309;p15"/>
          <p:cNvSpPr/>
          <p:nvPr/>
        </p:nvSpPr>
        <p:spPr>
          <a:xfrm>
            <a:off x="6143625" y="1616273"/>
            <a:ext cx="2571750" cy="480027"/>
          </a:xfrm>
          <a:prstGeom prst="rect">
            <a:avLst/>
          </a:prstGeom>
          <a:noFill/>
          <a:ln>
            <a:noFill/>
          </a:ln>
        </p:spPr>
        <p:txBody>
          <a:bodyPr anchorCtr="0" anchor="t" bIns="0" lIns="0" spcFirstLastPara="1" rIns="0" wrap="square" tIns="0">
            <a:noAutofit/>
          </a:bodyPr>
          <a:lstStyle/>
          <a:p>
            <a:pPr indent="0" lvl="0" marL="0" marR="0" rtl="0" algn="l">
              <a:lnSpc>
                <a:spcPct val="136005"/>
              </a:lnSpc>
              <a:spcBef>
                <a:spcPts val="0"/>
              </a:spcBef>
              <a:spcAft>
                <a:spcPts val="0"/>
              </a:spcAft>
              <a:buClr>
                <a:srgbClr val="FFFFFF"/>
              </a:buClr>
              <a:buSzPts val="1397"/>
              <a:buFont typeface="Calibri"/>
              <a:buNone/>
            </a:pPr>
            <a:r>
              <a:rPr b="1" i="0" lang="en-US" sz="1397" u="none" cap="none" strike="noStrike">
                <a:solidFill>
                  <a:srgbClr val="FFFFFF"/>
                </a:solidFill>
                <a:latin typeface="Calibri"/>
                <a:ea typeface="Calibri"/>
                <a:cs typeface="Calibri"/>
                <a:sym typeface="Calibri"/>
              </a:rPr>
              <a:t>Proactive Security Posture</a:t>
            </a:r>
            <a:endParaRPr b="0" i="0" sz="1397" u="none" cap="none" strike="noStrike">
              <a:solidFill>
                <a:schemeClr val="dk1"/>
              </a:solidFill>
              <a:latin typeface="Calibri"/>
              <a:ea typeface="Calibri"/>
              <a:cs typeface="Calibri"/>
              <a:sym typeface="Calibri"/>
            </a:endParaRPr>
          </a:p>
        </p:txBody>
      </p:sp>
      <p:sp>
        <p:nvSpPr>
          <p:cNvPr id="310" name="Google Shape;310;p15"/>
          <p:cNvSpPr/>
          <p:nvPr/>
        </p:nvSpPr>
        <p:spPr>
          <a:xfrm>
            <a:off x="6143625" y="2203456"/>
            <a:ext cx="2571750" cy="771525"/>
          </a:xfrm>
          <a:prstGeom prst="rect">
            <a:avLst/>
          </a:prstGeom>
          <a:noFill/>
          <a:ln>
            <a:noFill/>
          </a:ln>
        </p:spPr>
        <p:txBody>
          <a:bodyPr anchorCtr="0" anchor="t" bIns="0" lIns="0" spcFirstLastPara="1" rIns="0" wrap="square" tIns="0">
            <a:noAutofit/>
          </a:bodyPr>
          <a:lstStyle/>
          <a:p>
            <a:pPr indent="0" lvl="0" marL="0" marR="0" rtl="0" algn="l">
              <a:lnSpc>
                <a:spcPct val="159235"/>
              </a:lnSpc>
              <a:spcBef>
                <a:spcPts val="0"/>
              </a:spcBef>
              <a:spcAft>
                <a:spcPts val="0"/>
              </a:spcAft>
              <a:buClr>
                <a:srgbClr val="B0B8C1"/>
              </a:buClr>
              <a:buSzPts val="942"/>
              <a:buFont typeface="Calibri"/>
              <a:buNone/>
            </a:pPr>
            <a:r>
              <a:rPr b="0" i="0" lang="en-US" sz="942" u="none" cap="none" strike="noStrike">
                <a:solidFill>
                  <a:srgbClr val="B0B8C1"/>
                </a:solidFill>
                <a:latin typeface="Calibri"/>
                <a:ea typeface="Calibri"/>
                <a:cs typeface="Calibri"/>
                <a:sym typeface="Calibri"/>
              </a:rPr>
              <a:t>Move beyond reactive incident response to predictive, automated, and intelligent security operations powered by AI and standardized data.</a:t>
            </a:r>
            <a:endParaRPr b="0" i="0" sz="942" u="none" cap="none" strike="noStrike">
              <a:solidFill>
                <a:schemeClr val="dk1"/>
              </a:solidFill>
              <a:latin typeface="Calibri"/>
              <a:ea typeface="Calibri"/>
              <a:cs typeface="Calibri"/>
              <a:sym typeface="Calibri"/>
            </a:endParaRPr>
          </a:p>
        </p:txBody>
      </p:sp>
      <p:sp>
        <p:nvSpPr>
          <p:cNvPr id="311" name="Google Shape;311;p15"/>
          <p:cNvSpPr/>
          <p:nvPr/>
        </p:nvSpPr>
        <p:spPr>
          <a:xfrm>
            <a:off x="428625" y="3846240"/>
            <a:ext cx="8286750" cy="868635"/>
          </a:xfrm>
          <a:prstGeom prst="rect">
            <a:avLst/>
          </a:prstGeom>
          <a:solidFill>
            <a:srgbClr val="FFFFFF">
              <a:alpha val="470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5"/>
          <p:cNvSpPr/>
          <p:nvPr/>
        </p:nvSpPr>
        <p:spPr>
          <a:xfrm>
            <a:off x="428625" y="3846240"/>
            <a:ext cx="42863" cy="868635"/>
          </a:xfrm>
          <a:prstGeom prst="rect">
            <a:avLst/>
          </a:prstGeom>
          <a:solidFill>
            <a:srgbClr val="FF6B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15"/>
          <p:cNvSpPr/>
          <p:nvPr/>
        </p:nvSpPr>
        <p:spPr>
          <a:xfrm>
            <a:off x="642938" y="4060552"/>
            <a:ext cx="7858125" cy="440010"/>
          </a:xfrm>
          <a:prstGeom prst="rect">
            <a:avLst/>
          </a:prstGeom>
          <a:noFill/>
          <a:ln>
            <a:noFill/>
          </a:ln>
        </p:spPr>
        <p:txBody>
          <a:bodyPr anchorCtr="0" anchor="t" bIns="0" lIns="0" spcFirstLastPara="1" rIns="0" wrap="square" tIns="0">
            <a:noAutofit/>
          </a:bodyPr>
          <a:lstStyle/>
          <a:p>
            <a:pPr indent="0" lvl="0" marL="0" marR="0" rtl="0" algn="l">
              <a:lnSpc>
                <a:spcPct val="146678"/>
              </a:lnSpc>
              <a:spcBef>
                <a:spcPts val="0"/>
              </a:spcBef>
              <a:spcAft>
                <a:spcPts val="0"/>
              </a:spcAft>
              <a:buClr>
                <a:srgbClr val="FFFFFF"/>
              </a:buClr>
              <a:buSzPts val="1159"/>
              <a:buFont typeface="Calibri"/>
              <a:buNone/>
            </a:pPr>
            <a:r>
              <a:rPr b="0" i="0" lang="en-US" sz="1159" u="none" cap="none" strike="noStrike">
                <a:solidFill>
                  <a:srgbClr val="FFFFFF"/>
                </a:solidFill>
                <a:latin typeface="Calibri"/>
                <a:ea typeface="Calibri"/>
                <a:cs typeface="Calibri"/>
                <a:sym typeface="Calibri"/>
              </a:rPr>
              <a:t>Organizations embracing this standardized approach gain not just a platform, but a </a:t>
            </a:r>
            <a:r>
              <a:rPr b="1" i="0" lang="en-US" sz="1090" u="none" cap="none" strike="noStrike">
                <a:solidFill>
                  <a:srgbClr val="FF6B6B"/>
                </a:solidFill>
                <a:latin typeface="Calibri"/>
                <a:ea typeface="Calibri"/>
                <a:cs typeface="Calibri"/>
                <a:sym typeface="Calibri"/>
              </a:rPr>
              <a:t>strategic advantage</a:t>
            </a:r>
            <a:r>
              <a:rPr b="0" i="0" lang="en-US" sz="1159" u="none" cap="none" strike="noStrike">
                <a:solidFill>
                  <a:srgbClr val="FFFFFF"/>
                </a:solidFill>
                <a:latin typeface="Calibri"/>
                <a:ea typeface="Calibri"/>
                <a:cs typeface="Calibri"/>
                <a:sym typeface="Calibri"/>
              </a:rPr>
              <a:t> in the ongoing battle against sophisticated cyber threats.</a:t>
            </a:r>
            <a:endParaRPr b="0" i="0" sz="1159"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pic>
        <p:nvPicPr>
          <p:cNvPr descr="preencoded.png" id="319" name="Google Shape;319;p16"/>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320" name="Google Shape;320;p16"/>
          <p:cNvSpPr/>
          <p:nvPr/>
        </p:nvSpPr>
        <p:spPr>
          <a:xfrm>
            <a:off x="428625" y="428625"/>
            <a:ext cx="8286750" cy="623292"/>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16"/>
          <p:cNvSpPr/>
          <p:nvPr/>
        </p:nvSpPr>
        <p:spPr>
          <a:xfrm>
            <a:off x="428625" y="1037630"/>
            <a:ext cx="8286750" cy="14288"/>
          </a:xfrm>
          <a:prstGeom prst="rect">
            <a:avLst/>
          </a:prstGeom>
          <a:solidFill>
            <a:srgbClr val="00D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16"/>
          <p:cNvSpPr/>
          <p:nvPr/>
        </p:nvSpPr>
        <p:spPr>
          <a:xfrm>
            <a:off x="428625" y="428625"/>
            <a:ext cx="8286750" cy="466130"/>
          </a:xfrm>
          <a:prstGeom prst="rect">
            <a:avLst/>
          </a:prstGeom>
          <a:noFill/>
          <a:ln>
            <a:noFill/>
          </a:ln>
        </p:spPr>
        <p:txBody>
          <a:bodyPr anchorCtr="0" anchor="t" bIns="0" lIns="0" spcFirstLastPara="1" rIns="0" wrap="square" tIns="0">
            <a:noAutofit/>
          </a:bodyPr>
          <a:lstStyle/>
          <a:p>
            <a:pPr indent="0" lvl="0" marL="0" marR="0" rtl="0" algn="l">
              <a:lnSpc>
                <a:spcPct val="131362"/>
              </a:lnSpc>
              <a:spcBef>
                <a:spcPts val="0"/>
              </a:spcBef>
              <a:spcAft>
                <a:spcPts val="0"/>
              </a:spcAft>
              <a:buClr>
                <a:srgbClr val="00D9FF"/>
              </a:buClr>
              <a:buSzPts val="2436"/>
              <a:buFont typeface="Calibri"/>
              <a:buNone/>
            </a:pPr>
            <a:r>
              <a:rPr b="1" i="0" lang="en-US" sz="2436" u="none" cap="none" strike="noStrike">
                <a:solidFill>
                  <a:srgbClr val="00D9FF"/>
                </a:solidFill>
                <a:latin typeface="Calibri"/>
                <a:ea typeface="Calibri"/>
                <a:cs typeface="Calibri"/>
                <a:sym typeface="Calibri"/>
              </a:rPr>
              <a:t>References</a:t>
            </a:r>
            <a:endParaRPr b="0" i="0" sz="2436" u="none" cap="none" strike="noStrike">
              <a:solidFill>
                <a:schemeClr val="dk1"/>
              </a:solidFill>
              <a:latin typeface="Calibri"/>
              <a:ea typeface="Calibri"/>
              <a:cs typeface="Calibri"/>
              <a:sym typeface="Calibri"/>
            </a:endParaRPr>
          </a:p>
        </p:txBody>
      </p:sp>
      <p:sp>
        <p:nvSpPr>
          <p:cNvPr id="323" name="Google Shape;323;p16"/>
          <p:cNvSpPr/>
          <p:nvPr/>
        </p:nvSpPr>
        <p:spPr>
          <a:xfrm>
            <a:off x="428625" y="1394817"/>
            <a:ext cx="285750" cy="228600"/>
          </a:xfrm>
          <a:prstGeom prst="rect">
            <a:avLst/>
          </a:prstGeom>
          <a:noFill/>
          <a:ln>
            <a:noFill/>
          </a:ln>
        </p:spPr>
        <p:txBody>
          <a:bodyPr anchorCtr="0" anchor="t" bIns="0" lIns="0" spcFirstLastPara="1" rIns="0" wrap="square" tIns="0">
            <a:noAutofit/>
          </a:bodyPr>
          <a:lstStyle/>
          <a:p>
            <a:pPr indent="0" lvl="0" marL="0" marR="0" rtl="0" algn="l">
              <a:lnSpc>
                <a:spcPct val="182370"/>
              </a:lnSpc>
              <a:spcBef>
                <a:spcPts val="0"/>
              </a:spcBef>
              <a:spcAft>
                <a:spcPts val="0"/>
              </a:spcAft>
              <a:buClr>
                <a:srgbClr val="00D9FF"/>
              </a:buClr>
              <a:buSzPts val="987"/>
              <a:buFont typeface="Calibri"/>
              <a:buNone/>
            </a:pPr>
            <a:r>
              <a:rPr b="1" i="0" lang="en-US" sz="987" u="none" cap="none" strike="noStrike">
                <a:solidFill>
                  <a:srgbClr val="00D9FF"/>
                </a:solidFill>
                <a:latin typeface="Calibri"/>
                <a:ea typeface="Calibri"/>
                <a:cs typeface="Calibri"/>
                <a:sym typeface="Calibri"/>
              </a:rPr>
              <a:t>[01]</a:t>
            </a:r>
            <a:endParaRPr b="0" i="0" sz="987" u="none" cap="none" strike="noStrike">
              <a:solidFill>
                <a:schemeClr val="dk1"/>
              </a:solidFill>
              <a:latin typeface="Calibri"/>
              <a:ea typeface="Calibri"/>
              <a:cs typeface="Calibri"/>
              <a:sym typeface="Calibri"/>
            </a:endParaRPr>
          </a:p>
        </p:txBody>
      </p:sp>
      <p:sp>
        <p:nvSpPr>
          <p:cNvPr id="324" name="Google Shape;324;p16"/>
          <p:cNvSpPr/>
          <p:nvPr/>
        </p:nvSpPr>
        <p:spPr>
          <a:xfrm>
            <a:off x="821531" y="1412677"/>
            <a:ext cx="3464719" cy="205718"/>
          </a:xfrm>
          <a:prstGeom prst="rect">
            <a:avLst/>
          </a:prstGeom>
          <a:noFill/>
          <a:ln>
            <a:noFill/>
          </a:ln>
        </p:spPr>
        <p:txBody>
          <a:bodyPr anchorCtr="0" anchor="t" bIns="0" lIns="0" spcFirstLastPara="1" rIns="0" wrap="square" tIns="0">
            <a:noAutofit/>
          </a:bodyPr>
          <a:lstStyle/>
          <a:p>
            <a:pPr indent="0" lvl="0" marL="0" marR="0" rtl="0" algn="l">
              <a:lnSpc>
                <a:spcPct val="180790"/>
              </a:lnSpc>
              <a:spcBef>
                <a:spcPts val="0"/>
              </a:spcBef>
              <a:spcAft>
                <a:spcPts val="0"/>
              </a:spcAft>
              <a:buClr>
                <a:srgbClr val="FFFFFF"/>
              </a:buClr>
              <a:buSzPts val="885"/>
              <a:buFont typeface="Calibri"/>
              <a:buNone/>
            </a:pPr>
            <a:r>
              <a:rPr b="1" i="0" lang="en-US" sz="885" u="none" cap="none" strike="noStrike">
                <a:solidFill>
                  <a:srgbClr val="FFFFFF"/>
                </a:solidFill>
                <a:latin typeface="Calibri"/>
                <a:ea typeface="Calibri"/>
                <a:cs typeface="Calibri"/>
                <a:sym typeface="Calibri"/>
              </a:rPr>
              <a:t>How to Build a SIEM System: Architecture &amp; Tools</a:t>
            </a:r>
            <a:endParaRPr b="0" i="0" sz="885" u="none" cap="none" strike="noStrike">
              <a:solidFill>
                <a:schemeClr val="dk1"/>
              </a:solidFill>
              <a:latin typeface="Calibri"/>
              <a:ea typeface="Calibri"/>
              <a:cs typeface="Calibri"/>
              <a:sym typeface="Calibri"/>
            </a:endParaRPr>
          </a:p>
        </p:txBody>
      </p:sp>
      <p:sp>
        <p:nvSpPr>
          <p:cNvPr id="325" name="Google Shape;325;p16"/>
          <p:cNvSpPr/>
          <p:nvPr/>
        </p:nvSpPr>
        <p:spPr>
          <a:xfrm>
            <a:off x="821531" y="1675544"/>
            <a:ext cx="632445" cy="155377"/>
          </a:xfrm>
          <a:prstGeom prst="rect">
            <a:avLst/>
          </a:prstGeom>
          <a:noFill/>
          <a:ln>
            <a:noFill/>
          </a:ln>
        </p:spPr>
        <p:txBody>
          <a:bodyPr anchorCtr="0" anchor="t" bIns="0" lIns="0" spcFirstLastPara="1" rIns="0" wrap="square" tIns="0">
            <a:noAutofit/>
          </a:bodyPr>
          <a:lstStyle/>
          <a:p>
            <a:pPr indent="0" lvl="0" marL="0" marR="0" rtl="0" algn="l">
              <a:lnSpc>
                <a:spcPct val="167865"/>
              </a:lnSpc>
              <a:spcBef>
                <a:spcPts val="0"/>
              </a:spcBef>
              <a:spcAft>
                <a:spcPts val="0"/>
              </a:spcAft>
              <a:buClr>
                <a:srgbClr val="8B95A5"/>
              </a:buClr>
              <a:buSzPts val="834"/>
              <a:buFont typeface="Calibri"/>
              <a:buNone/>
            </a:pPr>
            <a:r>
              <a:rPr b="0" i="1" lang="en-US" sz="834" u="none" cap="none" strike="noStrike">
                <a:solidFill>
                  <a:srgbClr val="8B95A5"/>
                </a:solidFill>
                <a:latin typeface="Calibri"/>
                <a:ea typeface="Calibri"/>
                <a:cs typeface="Calibri"/>
                <a:sym typeface="Calibri"/>
              </a:rPr>
              <a:t>PuppyGraph</a:t>
            </a:r>
            <a:endParaRPr b="0" i="0" sz="834" u="none" cap="none" strike="noStrike">
              <a:solidFill>
                <a:schemeClr val="dk1"/>
              </a:solidFill>
              <a:latin typeface="Calibri"/>
              <a:ea typeface="Calibri"/>
              <a:cs typeface="Calibri"/>
              <a:sym typeface="Calibri"/>
            </a:endParaRPr>
          </a:p>
        </p:txBody>
      </p:sp>
      <p:sp>
        <p:nvSpPr>
          <p:cNvPr id="326" name="Google Shape;326;p16"/>
          <p:cNvSpPr/>
          <p:nvPr/>
        </p:nvSpPr>
        <p:spPr>
          <a:xfrm>
            <a:off x="428625" y="1959843"/>
            <a:ext cx="285750" cy="228600"/>
          </a:xfrm>
          <a:prstGeom prst="rect">
            <a:avLst/>
          </a:prstGeom>
          <a:noFill/>
          <a:ln>
            <a:noFill/>
          </a:ln>
        </p:spPr>
        <p:txBody>
          <a:bodyPr anchorCtr="0" anchor="t" bIns="0" lIns="0" spcFirstLastPara="1" rIns="0" wrap="square" tIns="0">
            <a:noAutofit/>
          </a:bodyPr>
          <a:lstStyle/>
          <a:p>
            <a:pPr indent="0" lvl="0" marL="0" marR="0" rtl="0" algn="l">
              <a:lnSpc>
                <a:spcPct val="182370"/>
              </a:lnSpc>
              <a:spcBef>
                <a:spcPts val="0"/>
              </a:spcBef>
              <a:spcAft>
                <a:spcPts val="0"/>
              </a:spcAft>
              <a:buClr>
                <a:srgbClr val="00D9FF"/>
              </a:buClr>
              <a:buSzPts val="987"/>
              <a:buFont typeface="Calibri"/>
              <a:buNone/>
            </a:pPr>
            <a:r>
              <a:rPr b="1" i="0" lang="en-US" sz="987" u="none" cap="none" strike="noStrike">
                <a:solidFill>
                  <a:srgbClr val="00D9FF"/>
                </a:solidFill>
                <a:latin typeface="Calibri"/>
                <a:ea typeface="Calibri"/>
                <a:cs typeface="Calibri"/>
                <a:sym typeface="Calibri"/>
              </a:rPr>
              <a:t>[02]</a:t>
            </a:r>
            <a:endParaRPr b="0" i="0" sz="987" u="none" cap="none" strike="noStrike">
              <a:solidFill>
                <a:schemeClr val="dk1"/>
              </a:solidFill>
              <a:latin typeface="Calibri"/>
              <a:ea typeface="Calibri"/>
              <a:cs typeface="Calibri"/>
              <a:sym typeface="Calibri"/>
            </a:endParaRPr>
          </a:p>
        </p:txBody>
      </p:sp>
      <p:sp>
        <p:nvSpPr>
          <p:cNvPr id="327" name="Google Shape;327;p16"/>
          <p:cNvSpPr/>
          <p:nvPr/>
        </p:nvSpPr>
        <p:spPr>
          <a:xfrm>
            <a:off x="821531" y="1977703"/>
            <a:ext cx="3464719" cy="205718"/>
          </a:xfrm>
          <a:prstGeom prst="rect">
            <a:avLst/>
          </a:prstGeom>
          <a:noFill/>
          <a:ln>
            <a:noFill/>
          </a:ln>
        </p:spPr>
        <p:txBody>
          <a:bodyPr anchorCtr="0" anchor="t" bIns="0" lIns="0" spcFirstLastPara="1" rIns="0" wrap="square" tIns="0">
            <a:noAutofit/>
          </a:bodyPr>
          <a:lstStyle/>
          <a:p>
            <a:pPr indent="0" lvl="0" marL="0" marR="0" rtl="0" algn="l">
              <a:lnSpc>
                <a:spcPct val="180790"/>
              </a:lnSpc>
              <a:spcBef>
                <a:spcPts val="0"/>
              </a:spcBef>
              <a:spcAft>
                <a:spcPts val="0"/>
              </a:spcAft>
              <a:buClr>
                <a:srgbClr val="FFFFFF"/>
              </a:buClr>
              <a:buSzPts val="885"/>
              <a:buFont typeface="Calibri"/>
              <a:buNone/>
            </a:pPr>
            <a:r>
              <a:rPr b="1" i="0" lang="en-US" sz="885" u="none" cap="none" strike="noStrike">
                <a:solidFill>
                  <a:srgbClr val="FFFFFF"/>
                </a:solidFill>
                <a:latin typeface="Calibri"/>
                <a:ea typeface="Calibri"/>
                <a:cs typeface="Calibri"/>
                <a:sym typeface="Calibri"/>
              </a:rPr>
              <a:t>SIEM as a Service Price in 2025: Costs and Key Factors</a:t>
            </a:r>
            <a:endParaRPr b="0" i="0" sz="885" u="none" cap="none" strike="noStrike">
              <a:solidFill>
                <a:schemeClr val="dk1"/>
              </a:solidFill>
              <a:latin typeface="Calibri"/>
              <a:ea typeface="Calibri"/>
              <a:cs typeface="Calibri"/>
              <a:sym typeface="Calibri"/>
            </a:endParaRPr>
          </a:p>
        </p:txBody>
      </p:sp>
      <p:sp>
        <p:nvSpPr>
          <p:cNvPr id="328" name="Google Shape;328;p16"/>
          <p:cNvSpPr/>
          <p:nvPr/>
        </p:nvSpPr>
        <p:spPr>
          <a:xfrm>
            <a:off x="821531" y="2240570"/>
            <a:ext cx="688897" cy="155377"/>
          </a:xfrm>
          <a:prstGeom prst="rect">
            <a:avLst/>
          </a:prstGeom>
          <a:noFill/>
          <a:ln>
            <a:noFill/>
          </a:ln>
        </p:spPr>
        <p:txBody>
          <a:bodyPr anchorCtr="0" anchor="t" bIns="0" lIns="0" spcFirstLastPara="1" rIns="0" wrap="square" tIns="0">
            <a:noAutofit/>
          </a:bodyPr>
          <a:lstStyle/>
          <a:p>
            <a:pPr indent="0" lvl="0" marL="0" marR="0" rtl="0" algn="l">
              <a:lnSpc>
                <a:spcPct val="167865"/>
              </a:lnSpc>
              <a:spcBef>
                <a:spcPts val="0"/>
              </a:spcBef>
              <a:spcAft>
                <a:spcPts val="0"/>
              </a:spcAft>
              <a:buClr>
                <a:srgbClr val="8B95A5"/>
              </a:buClr>
              <a:buSzPts val="834"/>
              <a:buFont typeface="Calibri"/>
              <a:buNone/>
            </a:pPr>
            <a:r>
              <a:rPr b="0" i="1" lang="en-US" sz="834" u="none" cap="none" strike="noStrike">
                <a:solidFill>
                  <a:srgbClr val="8B95A5"/>
                </a:solidFill>
                <a:latin typeface="Calibri"/>
                <a:ea typeface="Calibri"/>
                <a:cs typeface="Calibri"/>
                <a:sym typeface="Calibri"/>
              </a:rPr>
              <a:t>ClearNetwork</a:t>
            </a:r>
            <a:endParaRPr b="0" i="0" sz="834" u="none" cap="none" strike="noStrike">
              <a:solidFill>
                <a:schemeClr val="dk1"/>
              </a:solidFill>
              <a:latin typeface="Calibri"/>
              <a:ea typeface="Calibri"/>
              <a:cs typeface="Calibri"/>
              <a:sym typeface="Calibri"/>
            </a:endParaRPr>
          </a:p>
        </p:txBody>
      </p:sp>
      <p:sp>
        <p:nvSpPr>
          <p:cNvPr id="329" name="Google Shape;329;p16"/>
          <p:cNvSpPr/>
          <p:nvPr/>
        </p:nvSpPr>
        <p:spPr>
          <a:xfrm>
            <a:off x="428625" y="2524869"/>
            <a:ext cx="285750" cy="228600"/>
          </a:xfrm>
          <a:prstGeom prst="rect">
            <a:avLst/>
          </a:prstGeom>
          <a:noFill/>
          <a:ln>
            <a:noFill/>
          </a:ln>
        </p:spPr>
        <p:txBody>
          <a:bodyPr anchorCtr="0" anchor="t" bIns="0" lIns="0" spcFirstLastPara="1" rIns="0" wrap="square" tIns="0">
            <a:noAutofit/>
          </a:bodyPr>
          <a:lstStyle/>
          <a:p>
            <a:pPr indent="0" lvl="0" marL="0" marR="0" rtl="0" algn="l">
              <a:lnSpc>
                <a:spcPct val="182370"/>
              </a:lnSpc>
              <a:spcBef>
                <a:spcPts val="0"/>
              </a:spcBef>
              <a:spcAft>
                <a:spcPts val="0"/>
              </a:spcAft>
              <a:buClr>
                <a:srgbClr val="00D9FF"/>
              </a:buClr>
              <a:buSzPts val="987"/>
              <a:buFont typeface="Calibri"/>
              <a:buNone/>
            </a:pPr>
            <a:r>
              <a:rPr b="1" i="0" lang="en-US" sz="987" u="none" cap="none" strike="noStrike">
                <a:solidFill>
                  <a:srgbClr val="00D9FF"/>
                </a:solidFill>
                <a:latin typeface="Calibri"/>
                <a:ea typeface="Calibri"/>
                <a:cs typeface="Calibri"/>
                <a:sym typeface="Calibri"/>
              </a:rPr>
              <a:t>[03]</a:t>
            </a:r>
            <a:endParaRPr b="0" i="0" sz="987" u="none" cap="none" strike="noStrike">
              <a:solidFill>
                <a:schemeClr val="dk1"/>
              </a:solidFill>
              <a:latin typeface="Calibri"/>
              <a:ea typeface="Calibri"/>
              <a:cs typeface="Calibri"/>
              <a:sym typeface="Calibri"/>
            </a:endParaRPr>
          </a:p>
        </p:txBody>
      </p:sp>
      <p:sp>
        <p:nvSpPr>
          <p:cNvPr id="330" name="Google Shape;330;p16"/>
          <p:cNvSpPr/>
          <p:nvPr/>
        </p:nvSpPr>
        <p:spPr>
          <a:xfrm>
            <a:off x="821531" y="2542729"/>
            <a:ext cx="3464719" cy="205718"/>
          </a:xfrm>
          <a:prstGeom prst="rect">
            <a:avLst/>
          </a:prstGeom>
          <a:noFill/>
          <a:ln>
            <a:noFill/>
          </a:ln>
        </p:spPr>
        <p:txBody>
          <a:bodyPr anchorCtr="0" anchor="t" bIns="0" lIns="0" spcFirstLastPara="1" rIns="0" wrap="square" tIns="0">
            <a:noAutofit/>
          </a:bodyPr>
          <a:lstStyle/>
          <a:p>
            <a:pPr indent="0" lvl="0" marL="0" marR="0" rtl="0" algn="l">
              <a:lnSpc>
                <a:spcPct val="180790"/>
              </a:lnSpc>
              <a:spcBef>
                <a:spcPts val="0"/>
              </a:spcBef>
              <a:spcAft>
                <a:spcPts val="0"/>
              </a:spcAft>
              <a:buClr>
                <a:srgbClr val="FFFFFF"/>
              </a:buClr>
              <a:buSzPts val="885"/>
              <a:buFont typeface="Calibri"/>
              <a:buNone/>
            </a:pPr>
            <a:r>
              <a:rPr b="1" i="0" lang="en-US" sz="885" u="none" cap="none" strike="noStrike">
                <a:solidFill>
                  <a:srgbClr val="FFFFFF"/>
                </a:solidFill>
                <a:latin typeface="Calibri"/>
                <a:ea typeface="Calibri"/>
                <a:cs typeface="Calibri"/>
                <a:sym typeface="Calibri"/>
              </a:rPr>
              <a:t>Third-party integrations with Security Lake</a:t>
            </a:r>
            <a:endParaRPr b="0" i="0" sz="885" u="none" cap="none" strike="noStrike">
              <a:solidFill>
                <a:schemeClr val="dk1"/>
              </a:solidFill>
              <a:latin typeface="Calibri"/>
              <a:ea typeface="Calibri"/>
              <a:cs typeface="Calibri"/>
              <a:sym typeface="Calibri"/>
            </a:endParaRPr>
          </a:p>
        </p:txBody>
      </p:sp>
      <p:sp>
        <p:nvSpPr>
          <p:cNvPr id="331" name="Google Shape;331;p16"/>
          <p:cNvSpPr/>
          <p:nvPr/>
        </p:nvSpPr>
        <p:spPr>
          <a:xfrm>
            <a:off x="821531" y="2805596"/>
            <a:ext cx="1030988" cy="155377"/>
          </a:xfrm>
          <a:prstGeom prst="rect">
            <a:avLst/>
          </a:prstGeom>
          <a:noFill/>
          <a:ln>
            <a:noFill/>
          </a:ln>
        </p:spPr>
        <p:txBody>
          <a:bodyPr anchorCtr="0" anchor="t" bIns="0" lIns="0" spcFirstLastPara="1" rIns="0" wrap="square" tIns="0">
            <a:noAutofit/>
          </a:bodyPr>
          <a:lstStyle/>
          <a:p>
            <a:pPr indent="0" lvl="0" marL="0" marR="0" rtl="0" algn="l">
              <a:lnSpc>
                <a:spcPct val="167865"/>
              </a:lnSpc>
              <a:spcBef>
                <a:spcPts val="0"/>
              </a:spcBef>
              <a:spcAft>
                <a:spcPts val="0"/>
              </a:spcAft>
              <a:buClr>
                <a:srgbClr val="8B95A5"/>
              </a:buClr>
              <a:buSzPts val="834"/>
              <a:buFont typeface="Calibri"/>
              <a:buNone/>
            </a:pPr>
            <a:r>
              <a:rPr b="0" i="1" lang="en-US" sz="834" u="none" cap="none" strike="noStrike">
                <a:solidFill>
                  <a:srgbClr val="8B95A5"/>
                </a:solidFill>
                <a:latin typeface="Calibri"/>
                <a:ea typeface="Calibri"/>
                <a:cs typeface="Calibri"/>
                <a:sym typeface="Calibri"/>
              </a:rPr>
              <a:t>AWS Documentation</a:t>
            </a:r>
            <a:endParaRPr b="0" i="0" sz="834" u="none" cap="none" strike="noStrike">
              <a:solidFill>
                <a:schemeClr val="dk1"/>
              </a:solidFill>
              <a:latin typeface="Calibri"/>
              <a:ea typeface="Calibri"/>
              <a:cs typeface="Calibri"/>
              <a:sym typeface="Calibri"/>
            </a:endParaRPr>
          </a:p>
        </p:txBody>
      </p:sp>
      <p:sp>
        <p:nvSpPr>
          <p:cNvPr id="332" name="Google Shape;332;p16"/>
          <p:cNvSpPr/>
          <p:nvPr/>
        </p:nvSpPr>
        <p:spPr>
          <a:xfrm>
            <a:off x="428625" y="3089895"/>
            <a:ext cx="285750" cy="228600"/>
          </a:xfrm>
          <a:prstGeom prst="rect">
            <a:avLst/>
          </a:prstGeom>
          <a:noFill/>
          <a:ln>
            <a:noFill/>
          </a:ln>
        </p:spPr>
        <p:txBody>
          <a:bodyPr anchorCtr="0" anchor="t" bIns="0" lIns="0" spcFirstLastPara="1" rIns="0" wrap="square" tIns="0">
            <a:noAutofit/>
          </a:bodyPr>
          <a:lstStyle/>
          <a:p>
            <a:pPr indent="0" lvl="0" marL="0" marR="0" rtl="0" algn="l">
              <a:lnSpc>
                <a:spcPct val="182370"/>
              </a:lnSpc>
              <a:spcBef>
                <a:spcPts val="0"/>
              </a:spcBef>
              <a:spcAft>
                <a:spcPts val="0"/>
              </a:spcAft>
              <a:buClr>
                <a:srgbClr val="00D9FF"/>
              </a:buClr>
              <a:buSzPts val="987"/>
              <a:buFont typeface="Calibri"/>
              <a:buNone/>
            </a:pPr>
            <a:r>
              <a:rPr b="1" i="0" lang="en-US" sz="987" u="none" cap="none" strike="noStrike">
                <a:solidFill>
                  <a:srgbClr val="00D9FF"/>
                </a:solidFill>
                <a:latin typeface="Calibri"/>
                <a:ea typeface="Calibri"/>
                <a:cs typeface="Calibri"/>
                <a:sym typeface="Calibri"/>
              </a:rPr>
              <a:t>[04]</a:t>
            </a:r>
            <a:endParaRPr b="0" i="0" sz="987" u="none" cap="none" strike="noStrike">
              <a:solidFill>
                <a:schemeClr val="dk1"/>
              </a:solidFill>
              <a:latin typeface="Calibri"/>
              <a:ea typeface="Calibri"/>
              <a:cs typeface="Calibri"/>
              <a:sym typeface="Calibri"/>
            </a:endParaRPr>
          </a:p>
        </p:txBody>
      </p:sp>
      <p:sp>
        <p:nvSpPr>
          <p:cNvPr id="333" name="Google Shape;333;p16"/>
          <p:cNvSpPr/>
          <p:nvPr/>
        </p:nvSpPr>
        <p:spPr>
          <a:xfrm>
            <a:off x="821531" y="3107754"/>
            <a:ext cx="3464719" cy="205718"/>
          </a:xfrm>
          <a:prstGeom prst="rect">
            <a:avLst/>
          </a:prstGeom>
          <a:noFill/>
          <a:ln>
            <a:noFill/>
          </a:ln>
        </p:spPr>
        <p:txBody>
          <a:bodyPr anchorCtr="0" anchor="t" bIns="0" lIns="0" spcFirstLastPara="1" rIns="0" wrap="square" tIns="0">
            <a:noAutofit/>
          </a:bodyPr>
          <a:lstStyle/>
          <a:p>
            <a:pPr indent="0" lvl="0" marL="0" marR="0" rtl="0" algn="l">
              <a:lnSpc>
                <a:spcPct val="180790"/>
              </a:lnSpc>
              <a:spcBef>
                <a:spcPts val="0"/>
              </a:spcBef>
              <a:spcAft>
                <a:spcPts val="0"/>
              </a:spcAft>
              <a:buClr>
                <a:srgbClr val="FFFFFF"/>
              </a:buClr>
              <a:buSzPts val="885"/>
              <a:buFont typeface="Calibri"/>
              <a:buNone/>
            </a:pPr>
            <a:r>
              <a:rPr b="1" i="0" lang="en-US" sz="885" u="none" cap="none" strike="noStrike">
                <a:solidFill>
                  <a:srgbClr val="FFFFFF"/>
                </a:solidFill>
                <a:latin typeface="Calibri"/>
                <a:ea typeface="Calibri"/>
                <a:cs typeface="Calibri"/>
                <a:sym typeface="Calibri"/>
              </a:rPr>
              <a:t>Siemens Boosts Security Visibility Across 800+ AWS</a:t>
            </a:r>
            <a:endParaRPr b="0" i="0" sz="885" u="none" cap="none" strike="noStrike">
              <a:solidFill>
                <a:schemeClr val="dk1"/>
              </a:solidFill>
              <a:latin typeface="Calibri"/>
              <a:ea typeface="Calibri"/>
              <a:cs typeface="Calibri"/>
              <a:sym typeface="Calibri"/>
            </a:endParaRPr>
          </a:p>
        </p:txBody>
      </p:sp>
      <p:sp>
        <p:nvSpPr>
          <p:cNvPr id="334" name="Google Shape;334;p16"/>
          <p:cNvSpPr/>
          <p:nvPr/>
        </p:nvSpPr>
        <p:spPr>
          <a:xfrm>
            <a:off x="821531" y="3342047"/>
            <a:ext cx="3464719" cy="205718"/>
          </a:xfrm>
          <a:prstGeom prst="rect">
            <a:avLst/>
          </a:prstGeom>
          <a:noFill/>
          <a:ln>
            <a:noFill/>
          </a:ln>
        </p:spPr>
        <p:txBody>
          <a:bodyPr anchorCtr="0" anchor="t" bIns="0" lIns="0" spcFirstLastPara="1" rIns="0" wrap="square" tIns="0">
            <a:noAutofit/>
          </a:bodyPr>
          <a:lstStyle/>
          <a:p>
            <a:pPr indent="0" lvl="0" marL="0" marR="0" rtl="0" algn="l">
              <a:lnSpc>
                <a:spcPct val="180790"/>
              </a:lnSpc>
              <a:spcBef>
                <a:spcPts val="0"/>
              </a:spcBef>
              <a:spcAft>
                <a:spcPts val="0"/>
              </a:spcAft>
              <a:buClr>
                <a:srgbClr val="FFFFFF"/>
              </a:buClr>
              <a:buSzPts val="885"/>
              <a:buFont typeface="Calibri"/>
              <a:buNone/>
            </a:pPr>
            <a:r>
              <a:rPr b="1" i="0" lang="en-US" sz="885" u="none" cap="none" strike="noStrike">
                <a:solidFill>
                  <a:srgbClr val="FFFFFF"/>
                </a:solidFill>
                <a:latin typeface="Calibri"/>
                <a:ea typeface="Calibri"/>
                <a:cs typeface="Calibri"/>
                <a:sym typeface="Calibri"/>
              </a:rPr>
              <a:t>Accounts</a:t>
            </a:r>
            <a:endParaRPr b="0" i="0" sz="885" u="none" cap="none" strike="noStrike">
              <a:solidFill>
                <a:schemeClr val="dk1"/>
              </a:solidFill>
              <a:latin typeface="Calibri"/>
              <a:ea typeface="Calibri"/>
              <a:cs typeface="Calibri"/>
              <a:sym typeface="Calibri"/>
            </a:endParaRPr>
          </a:p>
        </p:txBody>
      </p:sp>
      <p:sp>
        <p:nvSpPr>
          <p:cNvPr id="335" name="Google Shape;335;p16"/>
          <p:cNvSpPr/>
          <p:nvPr/>
        </p:nvSpPr>
        <p:spPr>
          <a:xfrm>
            <a:off x="821531" y="3604915"/>
            <a:ext cx="797951" cy="155377"/>
          </a:xfrm>
          <a:prstGeom prst="rect">
            <a:avLst/>
          </a:prstGeom>
          <a:noFill/>
          <a:ln>
            <a:noFill/>
          </a:ln>
        </p:spPr>
        <p:txBody>
          <a:bodyPr anchorCtr="0" anchor="t" bIns="0" lIns="0" spcFirstLastPara="1" rIns="0" wrap="square" tIns="0">
            <a:noAutofit/>
          </a:bodyPr>
          <a:lstStyle/>
          <a:p>
            <a:pPr indent="0" lvl="0" marL="0" marR="0" rtl="0" algn="l">
              <a:lnSpc>
                <a:spcPct val="167865"/>
              </a:lnSpc>
              <a:spcBef>
                <a:spcPts val="0"/>
              </a:spcBef>
              <a:spcAft>
                <a:spcPts val="0"/>
              </a:spcAft>
              <a:buClr>
                <a:srgbClr val="8B95A5"/>
              </a:buClr>
              <a:buSzPts val="834"/>
              <a:buFont typeface="Calibri"/>
              <a:buNone/>
            </a:pPr>
            <a:r>
              <a:rPr b="0" i="1" lang="en-US" sz="834" u="none" cap="none" strike="noStrike">
                <a:solidFill>
                  <a:srgbClr val="8B95A5"/>
                </a:solidFill>
                <a:latin typeface="Calibri"/>
                <a:ea typeface="Calibri"/>
                <a:cs typeface="Calibri"/>
                <a:sym typeface="Calibri"/>
              </a:rPr>
              <a:t>AWS Case Study</a:t>
            </a:r>
            <a:endParaRPr b="0" i="0" sz="834" u="none" cap="none" strike="noStrike">
              <a:solidFill>
                <a:schemeClr val="dk1"/>
              </a:solidFill>
              <a:latin typeface="Calibri"/>
              <a:ea typeface="Calibri"/>
              <a:cs typeface="Calibri"/>
              <a:sym typeface="Calibri"/>
            </a:endParaRPr>
          </a:p>
        </p:txBody>
      </p:sp>
      <p:sp>
        <p:nvSpPr>
          <p:cNvPr id="336" name="Google Shape;336;p16"/>
          <p:cNvSpPr/>
          <p:nvPr/>
        </p:nvSpPr>
        <p:spPr>
          <a:xfrm>
            <a:off x="4857750" y="1394817"/>
            <a:ext cx="285750" cy="228600"/>
          </a:xfrm>
          <a:prstGeom prst="rect">
            <a:avLst/>
          </a:prstGeom>
          <a:noFill/>
          <a:ln>
            <a:noFill/>
          </a:ln>
        </p:spPr>
        <p:txBody>
          <a:bodyPr anchorCtr="0" anchor="t" bIns="0" lIns="0" spcFirstLastPara="1" rIns="0" wrap="square" tIns="0">
            <a:noAutofit/>
          </a:bodyPr>
          <a:lstStyle/>
          <a:p>
            <a:pPr indent="0" lvl="0" marL="0" marR="0" rtl="0" algn="l">
              <a:lnSpc>
                <a:spcPct val="182370"/>
              </a:lnSpc>
              <a:spcBef>
                <a:spcPts val="0"/>
              </a:spcBef>
              <a:spcAft>
                <a:spcPts val="0"/>
              </a:spcAft>
              <a:buClr>
                <a:srgbClr val="00D9FF"/>
              </a:buClr>
              <a:buSzPts val="987"/>
              <a:buFont typeface="Calibri"/>
              <a:buNone/>
            </a:pPr>
            <a:r>
              <a:rPr b="1" i="0" lang="en-US" sz="987" u="none" cap="none" strike="noStrike">
                <a:solidFill>
                  <a:srgbClr val="00D9FF"/>
                </a:solidFill>
                <a:latin typeface="Calibri"/>
                <a:ea typeface="Calibri"/>
                <a:cs typeface="Calibri"/>
                <a:sym typeface="Calibri"/>
              </a:rPr>
              <a:t>[05]</a:t>
            </a:r>
            <a:endParaRPr b="0" i="0" sz="987" u="none" cap="none" strike="noStrike">
              <a:solidFill>
                <a:schemeClr val="dk1"/>
              </a:solidFill>
              <a:latin typeface="Calibri"/>
              <a:ea typeface="Calibri"/>
              <a:cs typeface="Calibri"/>
              <a:sym typeface="Calibri"/>
            </a:endParaRPr>
          </a:p>
        </p:txBody>
      </p:sp>
      <p:sp>
        <p:nvSpPr>
          <p:cNvPr id="337" name="Google Shape;337;p16"/>
          <p:cNvSpPr/>
          <p:nvPr/>
        </p:nvSpPr>
        <p:spPr>
          <a:xfrm>
            <a:off x="5250656" y="1412677"/>
            <a:ext cx="3464719" cy="205718"/>
          </a:xfrm>
          <a:prstGeom prst="rect">
            <a:avLst/>
          </a:prstGeom>
          <a:noFill/>
          <a:ln>
            <a:noFill/>
          </a:ln>
        </p:spPr>
        <p:txBody>
          <a:bodyPr anchorCtr="0" anchor="t" bIns="0" lIns="0" spcFirstLastPara="1" rIns="0" wrap="square" tIns="0">
            <a:noAutofit/>
          </a:bodyPr>
          <a:lstStyle/>
          <a:p>
            <a:pPr indent="0" lvl="0" marL="0" marR="0" rtl="0" algn="l">
              <a:lnSpc>
                <a:spcPct val="180790"/>
              </a:lnSpc>
              <a:spcBef>
                <a:spcPts val="0"/>
              </a:spcBef>
              <a:spcAft>
                <a:spcPts val="0"/>
              </a:spcAft>
              <a:buClr>
                <a:srgbClr val="FFFFFF"/>
              </a:buClr>
              <a:buSzPts val="885"/>
              <a:buFont typeface="Calibri"/>
              <a:buNone/>
            </a:pPr>
            <a:r>
              <a:rPr b="1" i="0" lang="en-US" sz="885" u="none" cap="none" strike="noStrike">
                <a:solidFill>
                  <a:srgbClr val="FFFFFF"/>
                </a:solidFill>
                <a:latin typeface="Calibri"/>
                <a:ea typeface="Calibri"/>
                <a:cs typeface="Calibri"/>
                <a:sym typeface="Calibri"/>
              </a:rPr>
              <a:t>Unlocking the Power of the SOC through OCSF</a:t>
            </a:r>
            <a:endParaRPr b="0" i="0" sz="885" u="none" cap="none" strike="noStrike">
              <a:solidFill>
                <a:schemeClr val="dk1"/>
              </a:solidFill>
              <a:latin typeface="Calibri"/>
              <a:ea typeface="Calibri"/>
              <a:cs typeface="Calibri"/>
              <a:sym typeface="Calibri"/>
            </a:endParaRPr>
          </a:p>
        </p:txBody>
      </p:sp>
      <p:sp>
        <p:nvSpPr>
          <p:cNvPr id="338" name="Google Shape;338;p16"/>
          <p:cNvSpPr/>
          <p:nvPr/>
        </p:nvSpPr>
        <p:spPr>
          <a:xfrm>
            <a:off x="5250656" y="1646969"/>
            <a:ext cx="3464719" cy="205718"/>
          </a:xfrm>
          <a:prstGeom prst="rect">
            <a:avLst/>
          </a:prstGeom>
          <a:noFill/>
          <a:ln>
            <a:noFill/>
          </a:ln>
        </p:spPr>
        <p:txBody>
          <a:bodyPr anchorCtr="0" anchor="t" bIns="0" lIns="0" spcFirstLastPara="1" rIns="0" wrap="square" tIns="0">
            <a:noAutofit/>
          </a:bodyPr>
          <a:lstStyle/>
          <a:p>
            <a:pPr indent="0" lvl="0" marL="0" marR="0" rtl="0" algn="l">
              <a:lnSpc>
                <a:spcPct val="180790"/>
              </a:lnSpc>
              <a:spcBef>
                <a:spcPts val="0"/>
              </a:spcBef>
              <a:spcAft>
                <a:spcPts val="0"/>
              </a:spcAft>
              <a:buClr>
                <a:srgbClr val="FFFFFF"/>
              </a:buClr>
              <a:buSzPts val="885"/>
              <a:buFont typeface="Calibri"/>
              <a:buNone/>
            </a:pPr>
            <a:r>
              <a:rPr b="1" i="0" lang="en-US" sz="885" u="none" cap="none" strike="noStrike">
                <a:solidFill>
                  <a:srgbClr val="FFFFFF"/>
                </a:solidFill>
                <a:latin typeface="Calibri"/>
                <a:ea typeface="Calibri"/>
                <a:cs typeface="Calibri"/>
                <a:sym typeface="Calibri"/>
              </a:rPr>
              <a:t>Standardization</a:t>
            </a:r>
            <a:endParaRPr b="0" i="0" sz="885" u="none" cap="none" strike="noStrike">
              <a:solidFill>
                <a:schemeClr val="dk1"/>
              </a:solidFill>
              <a:latin typeface="Calibri"/>
              <a:ea typeface="Calibri"/>
              <a:cs typeface="Calibri"/>
              <a:sym typeface="Calibri"/>
            </a:endParaRPr>
          </a:p>
        </p:txBody>
      </p:sp>
      <p:sp>
        <p:nvSpPr>
          <p:cNvPr id="339" name="Google Shape;339;p16"/>
          <p:cNvSpPr/>
          <p:nvPr/>
        </p:nvSpPr>
        <p:spPr>
          <a:xfrm>
            <a:off x="5250656" y="1909837"/>
            <a:ext cx="399938" cy="155377"/>
          </a:xfrm>
          <a:prstGeom prst="rect">
            <a:avLst/>
          </a:prstGeom>
          <a:noFill/>
          <a:ln>
            <a:noFill/>
          </a:ln>
        </p:spPr>
        <p:txBody>
          <a:bodyPr anchorCtr="0" anchor="t" bIns="0" lIns="0" spcFirstLastPara="1" rIns="0" wrap="square" tIns="0">
            <a:noAutofit/>
          </a:bodyPr>
          <a:lstStyle/>
          <a:p>
            <a:pPr indent="0" lvl="0" marL="0" marR="0" rtl="0" algn="l">
              <a:lnSpc>
                <a:spcPct val="167865"/>
              </a:lnSpc>
              <a:spcBef>
                <a:spcPts val="0"/>
              </a:spcBef>
              <a:spcAft>
                <a:spcPts val="0"/>
              </a:spcAft>
              <a:buClr>
                <a:srgbClr val="8B95A5"/>
              </a:buClr>
              <a:buSzPts val="834"/>
              <a:buFont typeface="Calibri"/>
              <a:buNone/>
            </a:pPr>
            <a:r>
              <a:rPr b="0" i="1" lang="en-US" sz="834" u="none" cap="none" strike="noStrike">
                <a:solidFill>
                  <a:srgbClr val="8B95A5"/>
                </a:solidFill>
                <a:latin typeface="Calibri"/>
                <a:ea typeface="Calibri"/>
                <a:cs typeface="Calibri"/>
                <a:sym typeface="Calibri"/>
              </a:rPr>
              <a:t>Hunters</a:t>
            </a:r>
            <a:endParaRPr b="0" i="0" sz="834" u="none" cap="none" strike="noStrike">
              <a:solidFill>
                <a:schemeClr val="dk1"/>
              </a:solidFill>
              <a:latin typeface="Calibri"/>
              <a:ea typeface="Calibri"/>
              <a:cs typeface="Calibri"/>
              <a:sym typeface="Calibri"/>
            </a:endParaRPr>
          </a:p>
        </p:txBody>
      </p:sp>
      <p:sp>
        <p:nvSpPr>
          <p:cNvPr id="340" name="Google Shape;340;p16"/>
          <p:cNvSpPr/>
          <p:nvPr/>
        </p:nvSpPr>
        <p:spPr>
          <a:xfrm>
            <a:off x="4857750" y="2194136"/>
            <a:ext cx="285750" cy="228600"/>
          </a:xfrm>
          <a:prstGeom prst="rect">
            <a:avLst/>
          </a:prstGeom>
          <a:noFill/>
          <a:ln>
            <a:noFill/>
          </a:ln>
        </p:spPr>
        <p:txBody>
          <a:bodyPr anchorCtr="0" anchor="t" bIns="0" lIns="0" spcFirstLastPara="1" rIns="0" wrap="square" tIns="0">
            <a:noAutofit/>
          </a:bodyPr>
          <a:lstStyle/>
          <a:p>
            <a:pPr indent="0" lvl="0" marL="0" marR="0" rtl="0" algn="l">
              <a:lnSpc>
                <a:spcPct val="182370"/>
              </a:lnSpc>
              <a:spcBef>
                <a:spcPts val="0"/>
              </a:spcBef>
              <a:spcAft>
                <a:spcPts val="0"/>
              </a:spcAft>
              <a:buClr>
                <a:srgbClr val="00D9FF"/>
              </a:buClr>
              <a:buSzPts val="987"/>
              <a:buFont typeface="Calibri"/>
              <a:buNone/>
            </a:pPr>
            <a:r>
              <a:rPr b="1" i="0" lang="en-US" sz="987" u="none" cap="none" strike="noStrike">
                <a:solidFill>
                  <a:srgbClr val="00D9FF"/>
                </a:solidFill>
                <a:latin typeface="Calibri"/>
                <a:ea typeface="Calibri"/>
                <a:cs typeface="Calibri"/>
                <a:sym typeface="Calibri"/>
              </a:rPr>
              <a:t>[06]</a:t>
            </a:r>
            <a:endParaRPr b="0" i="0" sz="987" u="none" cap="none" strike="noStrike">
              <a:solidFill>
                <a:schemeClr val="dk1"/>
              </a:solidFill>
              <a:latin typeface="Calibri"/>
              <a:ea typeface="Calibri"/>
              <a:cs typeface="Calibri"/>
              <a:sym typeface="Calibri"/>
            </a:endParaRPr>
          </a:p>
        </p:txBody>
      </p:sp>
      <p:sp>
        <p:nvSpPr>
          <p:cNvPr id="341" name="Google Shape;341;p16"/>
          <p:cNvSpPr/>
          <p:nvPr/>
        </p:nvSpPr>
        <p:spPr>
          <a:xfrm>
            <a:off x="5250656" y="2211995"/>
            <a:ext cx="3464719" cy="205718"/>
          </a:xfrm>
          <a:prstGeom prst="rect">
            <a:avLst/>
          </a:prstGeom>
          <a:noFill/>
          <a:ln>
            <a:noFill/>
          </a:ln>
        </p:spPr>
        <p:txBody>
          <a:bodyPr anchorCtr="0" anchor="t" bIns="0" lIns="0" spcFirstLastPara="1" rIns="0" wrap="square" tIns="0">
            <a:noAutofit/>
          </a:bodyPr>
          <a:lstStyle/>
          <a:p>
            <a:pPr indent="0" lvl="0" marL="0" marR="0" rtl="0" algn="l">
              <a:lnSpc>
                <a:spcPct val="180790"/>
              </a:lnSpc>
              <a:spcBef>
                <a:spcPts val="0"/>
              </a:spcBef>
              <a:spcAft>
                <a:spcPts val="0"/>
              </a:spcAft>
              <a:buClr>
                <a:srgbClr val="FFFFFF"/>
              </a:buClr>
              <a:buSzPts val="885"/>
              <a:buFont typeface="Calibri"/>
              <a:buNone/>
            </a:pPr>
            <a:r>
              <a:rPr b="1" i="0" lang="en-US" sz="885" u="none" cap="none" strike="noStrike">
                <a:solidFill>
                  <a:srgbClr val="FFFFFF"/>
                </a:solidFill>
                <a:latin typeface="Calibri"/>
                <a:ea typeface="Calibri"/>
                <a:cs typeface="Calibri"/>
                <a:sym typeface="Calibri"/>
              </a:rPr>
              <a:t>Use an Amazon Bedrock powered chatbot with</a:t>
            </a:r>
            <a:endParaRPr b="0" i="0" sz="885" u="none" cap="none" strike="noStrike">
              <a:solidFill>
                <a:schemeClr val="dk1"/>
              </a:solidFill>
              <a:latin typeface="Calibri"/>
              <a:ea typeface="Calibri"/>
              <a:cs typeface="Calibri"/>
              <a:sym typeface="Calibri"/>
            </a:endParaRPr>
          </a:p>
        </p:txBody>
      </p:sp>
      <p:sp>
        <p:nvSpPr>
          <p:cNvPr id="342" name="Google Shape;342;p16"/>
          <p:cNvSpPr/>
          <p:nvPr/>
        </p:nvSpPr>
        <p:spPr>
          <a:xfrm>
            <a:off x="5250656" y="2446288"/>
            <a:ext cx="3464719" cy="205718"/>
          </a:xfrm>
          <a:prstGeom prst="rect">
            <a:avLst/>
          </a:prstGeom>
          <a:noFill/>
          <a:ln>
            <a:noFill/>
          </a:ln>
        </p:spPr>
        <p:txBody>
          <a:bodyPr anchorCtr="0" anchor="t" bIns="0" lIns="0" spcFirstLastPara="1" rIns="0" wrap="square" tIns="0">
            <a:noAutofit/>
          </a:bodyPr>
          <a:lstStyle/>
          <a:p>
            <a:pPr indent="0" lvl="0" marL="0" marR="0" rtl="0" algn="l">
              <a:lnSpc>
                <a:spcPct val="180790"/>
              </a:lnSpc>
              <a:spcBef>
                <a:spcPts val="0"/>
              </a:spcBef>
              <a:spcAft>
                <a:spcPts val="0"/>
              </a:spcAft>
              <a:buClr>
                <a:srgbClr val="FFFFFF"/>
              </a:buClr>
              <a:buSzPts val="885"/>
              <a:buFont typeface="Calibri"/>
              <a:buNone/>
            </a:pPr>
            <a:r>
              <a:rPr b="1" i="0" lang="en-US" sz="885" u="none" cap="none" strike="noStrike">
                <a:solidFill>
                  <a:srgbClr val="FFFFFF"/>
                </a:solidFill>
                <a:latin typeface="Calibri"/>
                <a:ea typeface="Calibri"/>
                <a:cs typeface="Calibri"/>
                <a:sym typeface="Calibri"/>
              </a:rPr>
              <a:t>Amazon Security Lake</a:t>
            </a:r>
            <a:endParaRPr b="0" i="0" sz="885" u="none" cap="none" strike="noStrike">
              <a:solidFill>
                <a:schemeClr val="dk1"/>
              </a:solidFill>
              <a:latin typeface="Calibri"/>
              <a:ea typeface="Calibri"/>
              <a:cs typeface="Calibri"/>
              <a:sym typeface="Calibri"/>
            </a:endParaRPr>
          </a:p>
        </p:txBody>
      </p:sp>
      <p:sp>
        <p:nvSpPr>
          <p:cNvPr id="343" name="Google Shape;343;p16"/>
          <p:cNvSpPr/>
          <p:nvPr/>
        </p:nvSpPr>
        <p:spPr>
          <a:xfrm>
            <a:off x="5250656" y="2709156"/>
            <a:ext cx="905721" cy="155377"/>
          </a:xfrm>
          <a:prstGeom prst="rect">
            <a:avLst/>
          </a:prstGeom>
          <a:noFill/>
          <a:ln>
            <a:noFill/>
          </a:ln>
        </p:spPr>
        <p:txBody>
          <a:bodyPr anchorCtr="0" anchor="t" bIns="0" lIns="0" spcFirstLastPara="1" rIns="0" wrap="square" tIns="0">
            <a:noAutofit/>
          </a:bodyPr>
          <a:lstStyle/>
          <a:p>
            <a:pPr indent="0" lvl="0" marL="0" marR="0" rtl="0" algn="l">
              <a:lnSpc>
                <a:spcPct val="167865"/>
              </a:lnSpc>
              <a:spcBef>
                <a:spcPts val="0"/>
              </a:spcBef>
              <a:spcAft>
                <a:spcPts val="0"/>
              </a:spcAft>
              <a:buClr>
                <a:srgbClr val="8B95A5"/>
              </a:buClr>
              <a:buSzPts val="834"/>
              <a:buFont typeface="Calibri"/>
              <a:buNone/>
            </a:pPr>
            <a:r>
              <a:rPr b="0" i="1" lang="en-US" sz="834" u="none" cap="none" strike="noStrike">
                <a:solidFill>
                  <a:srgbClr val="8B95A5"/>
                </a:solidFill>
                <a:latin typeface="Calibri"/>
                <a:ea typeface="Calibri"/>
                <a:cs typeface="Calibri"/>
                <a:sym typeface="Calibri"/>
              </a:rPr>
              <a:t>AWS Security Blog</a:t>
            </a:r>
            <a:endParaRPr b="0" i="0" sz="834" u="none" cap="none" strike="noStrike">
              <a:solidFill>
                <a:schemeClr val="dk1"/>
              </a:solidFill>
              <a:latin typeface="Calibri"/>
              <a:ea typeface="Calibri"/>
              <a:cs typeface="Calibri"/>
              <a:sym typeface="Calibri"/>
            </a:endParaRPr>
          </a:p>
        </p:txBody>
      </p:sp>
      <p:sp>
        <p:nvSpPr>
          <p:cNvPr id="344" name="Google Shape;344;p16"/>
          <p:cNvSpPr/>
          <p:nvPr/>
        </p:nvSpPr>
        <p:spPr>
          <a:xfrm>
            <a:off x="4857750" y="2993454"/>
            <a:ext cx="285750" cy="228600"/>
          </a:xfrm>
          <a:prstGeom prst="rect">
            <a:avLst/>
          </a:prstGeom>
          <a:noFill/>
          <a:ln>
            <a:noFill/>
          </a:ln>
        </p:spPr>
        <p:txBody>
          <a:bodyPr anchorCtr="0" anchor="t" bIns="0" lIns="0" spcFirstLastPara="1" rIns="0" wrap="square" tIns="0">
            <a:noAutofit/>
          </a:bodyPr>
          <a:lstStyle/>
          <a:p>
            <a:pPr indent="0" lvl="0" marL="0" marR="0" rtl="0" algn="l">
              <a:lnSpc>
                <a:spcPct val="182370"/>
              </a:lnSpc>
              <a:spcBef>
                <a:spcPts val="0"/>
              </a:spcBef>
              <a:spcAft>
                <a:spcPts val="0"/>
              </a:spcAft>
              <a:buClr>
                <a:srgbClr val="00D9FF"/>
              </a:buClr>
              <a:buSzPts val="987"/>
              <a:buFont typeface="Calibri"/>
              <a:buNone/>
            </a:pPr>
            <a:r>
              <a:rPr b="1" i="0" lang="en-US" sz="987" u="none" cap="none" strike="noStrike">
                <a:solidFill>
                  <a:srgbClr val="00D9FF"/>
                </a:solidFill>
                <a:latin typeface="Calibri"/>
                <a:ea typeface="Calibri"/>
                <a:cs typeface="Calibri"/>
                <a:sym typeface="Calibri"/>
              </a:rPr>
              <a:t>[07]</a:t>
            </a:r>
            <a:endParaRPr b="0" i="0" sz="987" u="none" cap="none" strike="noStrike">
              <a:solidFill>
                <a:schemeClr val="dk1"/>
              </a:solidFill>
              <a:latin typeface="Calibri"/>
              <a:ea typeface="Calibri"/>
              <a:cs typeface="Calibri"/>
              <a:sym typeface="Calibri"/>
            </a:endParaRPr>
          </a:p>
        </p:txBody>
      </p:sp>
      <p:sp>
        <p:nvSpPr>
          <p:cNvPr id="345" name="Google Shape;345;p16"/>
          <p:cNvSpPr/>
          <p:nvPr/>
        </p:nvSpPr>
        <p:spPr>
          <a:xfrm>
            <a:off x="5250656" y="3011314"/>
            <a:ext cx="3464719" cy="205718"/>
          </a:xfrm>
          <a:prstGeom prst="rect">
            <a:avLst/>
          </a:prstGeom>
          <a:noFill/>
          <a:ln>
            <a:noFill/>
          </a:ln>
        </p:spPr>
        <p:txBody>
          <a:bodyPr anchorCtr="0" anchor="t" bIns="0" lIns="0" spcFirstLastPara="1" rIns="0" wrap="square" tIns="0">
            <a:noAutofit/>
          </a:bodyPr>
          <a:lstStyle/>
          <a:p>
            <a:pPr indent="0" lvl="0" marL="0" marR="0" rtl="0" algn="l">
              <a:lnSpc>
                <a:spcPct val="180790"/>
              </a:lnSpc>
              <a:spcBef>
                <a:spcPts val="0"/>
              </a:spcBef>
              <a:spcAft>
                <a:spcPts val="0"/>
              </a:spcAft>
              <a:buClr>
                <a:srgbClr val="FFFFFF"/>
              </a:buClr>
              <a:buSzPts val="885"/>
              <a:buFont typeface="Calibri"/>
              <a:buNone/>
            </a:pPr>
            <a:r>
              <a:rPr b="1" i="0" lang="en-US" sz="885" u="none" cap="none" strike="noStrike">
                <a:solidFill>
                  <a:srgbClr val="FFFFFF"/>
                </a:solidFill>
                <a:latin typeface="Calibri"/>
                <a:ea typeface="Calibri"/>
                <a:cs typeface="Calibri"/>
                <a:sym typeface="Calibri"/>
              </a:rPr>
              <a:t>GenAI for your biggest security operations challenges</a:t>
            </a:r>
            <a:endParaRPr b="0" i="0" sz="885" u="none" cap="none" strike="noStrike">
              <a:solidFill>
                <a:schemeClr val="dk1"/>
              </a:solidFill>
              <a:latin typeface="Calibri"/>
              <a:ea typeface="Calibri"/>
              <a:cs typeface="Calibri"/>
              <a:sym typeface="Calibri"/>
            </a:endParaRPr>
          </a:p>
        </p:txBody>
      </p:sp>
      <p:sp>
        <p:nvSpPr>
          <p:cNvPr id="346" name="Google Shape;346;p16"/>
          <p:cNvSpPr/>
          <p:nvPr/>
        </p:nvSpPr>
        <p:spPr>
          <a:xfrm>
            <a:off x="5250656" y="3274182"/>
            <a:ext cx="295489" cy="155377"/>
          </a:xfrm>
          <a:prstGeom prst="rect">
            <a:avLst/>
          </a:prstGeom>
          <a:noFill/>
          <a:ln>
            <a:noFill/>
          </a:ln>
        </p:spPr>
        <p:txBody>
          <a:bodyPr anchorCtr="0" anchor="t" bIns="0" lIns="0" spcFirstLastPara="1" rIns="0" wrap="square" tIns="0">
            <a:noAutofit/>
          </a:bodyPr>
          <a:lstStyle/>
          <a:p>
            <a:pPr indent="0" lvl="0" marL="0" marR="0" rtl="0" algn="l">
              <a:lnSpc>
                <a:spcPct val="167865"/>
              </a:lnSpc>
              <a:spcBef>
                <a:spcPts val="0"/>
              </a:spcBef>
              <a:spcAft>
                <a:spcPts val="0"/>
              </a:spcAft>
              <a:buClr>
                <a:srgbClr val="8B95A5"/>
              </a:buClr>
              <a:buSzPts val="834"/>
              <a:buFont typeface="Calibri"/>
              <a:buNone/>
            </a:pPr>
            <a:r>
              <a:rPr b="0" i="1" lang="en-US" sz="834" u="none" cap="none" strike="noStrike">
                <a:solidFill>
                  <a:srgbClr val="8B95A5"/>
                </a:solidFill>
                <a:latin typeface="Calibri"/>
                <a:ea typeface="Calibri"/>
                <a:cs typeface="Calibri"/>
                <a:sym typeface="Calibri"/>
              </a:rPr>
              <a:t>Trellix</a:t>
            </a:r>
            <a:endParaRPr b="0" i="0" sz="834" u="none" cap="none" strike="noStrike">
              <a:solidFill>
                <a:schemeClr val="dk1"/>
              </a:solidFill>
              <a:latin typeface="Calibri"/>
              <a:ea typeface="Calibri"/>
              <a:cs typeface="Calibri"/>
              <a:sym typeface="Calibri"/>
            </a:endParaRPr>
          </a:p>
        </p:txBody>
      </p:sp>
      <p:sp>
        <p:nvSpPr>
          <p:cNvPr id="347" name="Google Shape;347;p16"/>
          <p:cNvSpPr/>
          <p:nvPr/>
        </p:nvSpPr>
        <p:spPr>
          <a:xfrm>
            <a:off x="4857750" y="3558480"/>
            <a:ext cx="285750" cy="228600"/>
          </a:xfrm>
          <a:prstGeom prst="rect">
            <a:avLst/>
          </a:prstGeom>
          <a:noFill/>
          <a:ln>
            <a:noFill/>
          </a:ln>
        </p:spPr>
        <p:txBody>
          <a:bodyPr anchorCtr="0" anchor="t" bIns="0" lIns="0" spcFirstLastPara="1" rIns="0" wrap="square" tIns="0">
            <a:noAutofit/>
          </a:bodyPr>
          <a:lstStyle/>
          <a:p>
            <a:pPr indent="0" lvl="0" marL="0" marR="0" rtl="0" algn="l">
              <a:lnSpc>
                <a:spcPct val="182370"/>
              </a:lnSpc>
              <a:spcBef>
                <a:spcPts val="0"/>
              </a:spcBef>
              <a:spcAft>
                <a:spcPts val="0"/>
              </a:spcAft>
              <a:buClr>
                <a:srgbClr val="00D9FF"/>
              </a:buClr>
              <a:buSzPts val="987"/>
              <a:buFont typeface="Calibri"/>
              <a:buNone/>
            </a:pPr>
            <a:r>
              <a:rPr b="1" i="0" lang="en-US" sz="987" u="none" cap="none" strike="noStrike">
                <a:solidFill>
                  <a:srgbClr val="00D9FF"/>
                </a:solidFill>
                <a:latin typeface="Calibri"/>
                <a:ea typeface="Calibri"/>
                <a:cs typeface="Calibri"/>
                <a:sym typeface="Calibri"/>
              </a:rPr>
              <a:t>[08]</a:t>
            </a:r>
            <a:endParaRPr b="0" i="0" sz="987" u="none" cap="none" strike="noStrike">
              <a:solidFill>
                <a:schemeClr val="dk1"/>
              </a:solidFill>
              <a:latin typeface="Calibri"/>
              <a:ea typeface="Calibri"/>
              <a:cs typeface="Calibri"/>
              <a:sym typeface="Calibri"/>
            </a:endParaRPr>
          </a:p>
        </p:txBody>
      </p:sp>
      <p:sp>
        <p:nvSpPr>
          <p:cNvPr id="348" name="Google Shape;348;p16"/>
          <p:cNvSpPr/>
          <p:nvPr/>
        </p:nvSpPr>
        <p:spPr>
          <a:xfrm>
            <a:off x="5250656" y="3576340"/>
            <a:ext cx="3464719" cy="205718"/>
          </a:xfrm>
          <a:prstGeom prst="rect">
            <a:avLst/>
          </a:prstGeom>
          <a:noFill/>
          <a:ln>
            <a:noFill/>
          </a:ln>
        </p:spPr>
        <p:txBody>
          <a:bodyPr anchorCtr="0" anchor="t" bIns="0" lIns="0" spcFirstLastPara="1" rIns="0" wrap="square" tIns="0">
            <a:noAutofit/>
          </a:bodyPr>
          <a:lstStyle/>
          <a:p>
            <a:pPr indent="0" lvl="0" marL="0" marR="0" rtl="0" algn="l">
              <a:lnSpc>
                <a:spcPct val="180790"/>
              </a:lnSpc>
              <a:spcBef>
                <a:spcPts val="0"/>
              </a:spcBef>
              <a:spcAft>
                <a:spcPts val="0"/>
              </a:spcAft>
              <a:buClr>
                <a:srgbClr val="FFFFFF"/>
              </a:buClr>
              <a:buSzPts val="885"/>
              <a:buFont typeface="Calibri"/>
              <a:buNone/>
            </a:pPr>
            <a:r>
              <a:rPr b="1" i="0" lang="en-US" sz="885" u="none" cap="none" strike="noStrike">
                <a:solidFill>
                  <a:srgbClr val="FFFFFF"/>
                </a:solidFill>
                <a:latin typeface="Calibri"/>
                <a:ea typeface="Calibri"/>
                <a:cs typeface="Calibri"/>
                <a:sym typeface="Calibri"/>
              </a:rPr>
              <a:t>Streamline Your Security Data Management with</a:t>
            </a:r>
            <a:endParaRPr b="0" i="0" sz="885" u="none" cap="none" strike="noStrike">
              <a:solidFill>
                <a:schemeClr val="dk1"/>
              </a:solidFill>
              <a:latin typeface="Calibri"/>
              <a:ea typeface="Calibri"/>
              <a:cs typeface="Calibri"/>
              <a:sym typeface="Calibri"/>
            </a:endParaRPr>
          </a:p>
        </p:txBody>
      </p:sp>
      <p:sp>
        <p:nvSpPr>
          <p:cNvPr id="349" name="Google Shape;349;p16"/>
          <p:cNvSpPr/>
          <p:nvPr/>
        </p:nvSpPr>
        <p:spPr>
          <a:xfrm>
            <a:off x="5250656" y="3810633"/>
            <a:ext cx="3464719" cy="205718"/>
          </a:xfrm>
          <a:prstGeom prst="rect">
            <a:avLst/>
          </a:prstGeom>
          <a:noFill/>
          <a:ln>
            <a:noFill/>
          </a:ln>
        </p:spPr>
        <p:txBody>
          <a:bodyPr anchorCtr="0" anchor="t" bIns="0" lIns="0" spcFirstLastPara="1" rIns="0" wrap="square" tIns="0">
            <a:noAutofit/>
          </a:bodyPr>
          <a:lstStyle/>
          <a:p>
            <a:pPr indent="0" lvl="0" marL="0" marR="0" rtl="0" algn="l">
              <a:lnSpc>
                <a:spcPct val="180790"/>
              </a:lnSpc>
              <a:spcBef>
                <a:spcPts val="0"/>
              </a:spcBef>
              <a:spcAft>
                <a:spcPts val="0"/>
              </a:spcAft>
              <a:buClr>
                <a:srgbClr val="FFFFFF"/>
              </a:buClr>
              <a:buSzPts val="885"/>
              <a:buFont typeface="Calibri"/>
              <a:buNone/>
            </a:pPr>
            <a:r>
              <a:rPr b="1" i="0" lang="en-US" sz="885" u="none" cap="none" strike="noStrike">
                <a:solidFill>
                  <a:srgbClr val="FFFFFF"/>
                </a:solidFill>
                <a:latin typeface="Calibri"/>
                <a:ea typeface="Calibri"/>
                <a:cs typeface="Calibri"/>
                <a:sym typeface="Calibri"/>
              </a:rPr>
              <a:t>Amazon Security Lake Ready Partner Solutions</a:t>
            </a:r>
            <a:endParaRPr b="0" i="0" sz="885" u="none" cap="none" strike="noStrike">
              <a:solidFill>
                <a:schemeClr val="dk1"/>
              </a:solidFill>
              <a:latin typeface="Calibri"/>
              <a:ea typeface="Calibri"/>
              <a:cs typeface="Calibri"/>
              <a:sym typeface="Calibri"/>
            </a:endParaRPr>
          </a:p>
        </p:txBody>
      </p:sp>
      <p:sp>
        <p:nvSpPr>
          <p:cNvPr id="350" name="Google Shape;350;p16"/>
          <p:cNvSpPr/>
          <p:nvPr/>
        </p:nvSpPr>
        <p:spPr>
          <a:xfrm>
            <a:off x="5250656" y="4073500"/>
            <a:ext cx="1343165" cy="155377"/>
          </a:xfrm>
          <a:prstGeom prst="rect">
            <a:avLst/>
          </a:prstGeom>
          <a:noFill/>
          <a:ln>
            <a:noFill/>
          </a:ln>
        </p:spPr>
        <p:txBody>
          <a:bodyPr anchorCtr="0" anchor="t" bIns="0" lIns="0" spcFirstLastPara="1" rIns="0" wrap="square" tIns="0">
            <a:noAutofit/>
          </a:bodyPr>
          <a:lstStyle/>
          <a:p>
            <a:pPr indent="0" lvl="0" marL="0" marR="0" rtl="0" algn="l">
              <a:lnSpc>
                <a:spcPct val="167865"/>
              </a:lnSpc>
              <a:spcBef>
                <a:spcPts val="0"/>
              </a:spcBef>
              <a:spcAft>
                <a:spcPts val="0"/>
              </a:spcAft>
              <a:buClr>
                <a:srgbClr val="8B95A5"/>
              </a:buClr>
              <a:buSzPts val="834"/>
              <a:buFont typeface="Calibri"/>
              <a:buNone/>
            </a:pPr>
            <a:r>
              <a:rPr b="0" i="1" lang="en-US" sz="834" u="none" cap="none" strike="noStrike">
                <a:solidFill>
                  <a:srgbClr val="8B95A5"/>
                </a:solidFill>
                <a:latin typeface="Calibri"/>
                <a:ea typeface="Calibri"/>
                <a:cs typeface="Calibri"/>
                <a:sym typeface="Calibri"/>
              </a:rPr>
              <a:t>AWS Partner Network Blog</a:t>
            </a:r>
            <a:endParaRPr b="0" i="0" sz="834"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pic>
        <p:nvPicPr>
          <p:cNvPr descr="preencoded.png" id="356" name="Google Shape;356;p17"/>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357" name="Google Shape;357;p17"/>
          <p:cNvSpPr/>
          <p:nvPr/>
        </p:nvSpPr>
        <p:spPr>
          <a:xfrm>
            <a:off x="428625" y="428625"/>
            <a:ext cx="8286750" cy="566142"/>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17"/>
          <p:cNvSpPr/>
          <p:nvPr/>
        </p:nvSpPr>
        <p:spPr>
          <a:xfrm>
            <a:off x="428625" y="980480"/>
            <a:ext cx="8286750" cy="14288"/>
          </a:xfrm>
          <a:prstGeom prst="rect">
            <a:avLst/>
          </a:prstGeom>
          <a:solidFill>
            <a:srgbClr val="00D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17"/>
          <p:cNvSpPr/>
          <p:nvPr/>
        </p:nvSpPr>
        <p:spPr>
          <a:xfrm>
            <a:off x="428625" y="428625"/>
            <a:ext cx="8286750" cy="466130"/>
          </a:xfrm>
          <a:prstGeom prst="rect">
            <a:avLst/>
          </a:prstGeom>
          <a:noFill/>
          <a:ln>
            <a:noFill/>
          </a:ln>
        </p:spPr>
        <p:txBody>
          <a:bodyPr anchorCtr="0" anchor="t" bIns="0" lIns="0" spcFirstLastPara="1" rIns="0" wrap="square" tIns="0">
            <a:noAutofit/>
          </a:bodyPr>
          <a:lstStyle/>
          <a:p>
            <a:pPr indent="0" lvl="0" marL="0" marR="0" rtl="0" algn="l">
              <a:lnSpc>
                <a:spcPct val="131362"/>
              </a:lnSpc>
              <a:spcBef>
                <a:spcPts val="0"/>
              </a:spcBef>
              <a:spcAft>
                <a:spcPts val="0"/>
              </a:spcAft>
              <a:buClr>
                <a:srgbClr val="00D9FF"/>
              </a:buClr>
              <a:buSzPts val="2436"/>
              <a:buFont typeface="Calibri"/>
              <a:buNone/>
            </a:pPr>
            <a:r>
              <a:rPr b="1" i="0" lang="en-US" sz="2436" u="none" cap="none" strike="noStrike">
                <a:solidFill>
                  <a:srgbClr val="00D9FF"/>
                </a:solidFill>
                <a:latin typeface="Calibri"/>
                <a:ea typeface="Calibri"/>
                <a:cs typeface="Calibri"/>
                <a:sym typeface="Calibri"/>
              </a:rPr>
              <a:t>Appendix: OCSF - What and Why</a:t>
            </a:r>
            <a:endParaRPr b="0" i="0" sz="2436" u="none" cap="none" strike="noStrike">
              <a:solidFill>
                <a:schemeClr val="dk1"/>
              </a:solidFill>
              <a:latin typeface="Calibri"/>
              <a:ea typeface="Calibri"/>
              <a:cs typeface="Calibri"/>
              <a:sym typeface="Calibri"/>
            </a:endParaRPr>
          </a:p>
        </p:txBody>
      </p:sp>
      <p:sp>
        <p:nvSpPr>
          <p:cNvPr id="360" name="Google Shape;360;p17"/>
          <p:cNvSpPr/>
          <p:nvPr/>
        </p:nvSpPr>
        <p:spPr>
          <a:xfrm>
            <a:off x="428625" y="1344811"/>
            <a:ext cx="4000500" cy="251454"/>
          </a:xfrm>
          <a:prstGeom prst="rect">
            <a:avLst/>
          </a:prstGeom>
          <a:noFill/>
          <a:ln>
            <a:noFill/>
          </a:ln>
        </p:spPr>
        <p:txBody>
          <a:bodyPr anchorCtr="0" anchor="t" bIns="0" lIns="0" spcFirstLastPara="1" rIns="0" wrap="square" tIns="0">
            <a:noAutofit/>
          </a:bodyPr>
          <a:lstStyle/>
          <a:p>
            <a:pPr indent="0" lvl="0" marL="0" marR="0" rtl="0" algn="l">
              <a:lnSpc>
                <a:spcPct val="124843"/>
              </a:lnSpc>
              <a:spcBef>
                <a:spcPts val="0"/>
              </a:spcBef>
              <a:spcAft>
                <a:spcPts val="0"/>
              </a:spcAft>
              <a:buClr>
                <a:srgbClr val="00D9FF"/>
              </a:buClr>
              <a:buSzPts val="1602"/>
              <a:buFont typeface="Calibri"/>
              <a:buNone/>
            </a:pPr>
            <a:r>
              <a:rPr b="1" i="0" lang="en-US" sz="1602" u="none" cap="none" strike="noStrike">
                <a:solidFill>
                  <a:srgbClr val="00D9FF"/>
                </a:solidFill>
                <a:latin typeface="Calibri"/>
                <a:ea typeface="Calibri"/>
                <a:cs typeface="Calibri"/>
                <a:sym typeface="Calibri"/>
              </a:rPr>
              <a:t>What is OCSF?</a:t>
            </a:r>
            <a:endParaRPr b="0" i="0" sz="1602" u="none" cap="none" strike="noStrike">
              <a:solidFill>
                <a:schemeClr val="dk1"/>
              </a:solidFill>
              <a:latin typeface="Calibri"/>
              <a:ea typeface="Calibri"/>
              <a:cs typeface="Calibri"/>
              <a:sym typeface="Calibri"/>
            </a:endParaRPr>
          </a:p>
        </p:txBody>
      </p:sp>
      <p:sp>
        <p:nvSpPr>
          <p:cNvPr id="361" name="Google Shape;361;p17"/>
          <p:cNvSpPr/>
          <p:nvPr/>
        </p:nvSpPr>
        <p:spPr>
          <a:xfrm>
            <a:off x="428625" y="1724853"/>
            <a:ext cx="4000500" cy="578644"/>
          </a:xfrm>
          <a:prstGeom prst="rect">
            <a:avLst/>
          </a:prstGeom>
          <a:noFill/>
          <a:ln>
            <a:noFill/>
          </a:ln>
        </p:spPr>
        <p:txBody>
          <a:bodyPr anchorCtr="0" anchor="t" bIns="0" lIns="0" spcFirstLastPara="1" rIns="0" wrap="square" tIns="0">
            <a:noAutofit/>
          </a:bodyPr>
          <a:lstStyle/>
          <a:p>
            <a:pPr indent="0" lvl="0" marL="0" marR="0" rtl="0" algn="l">
              <a:lnSpc>
                <a:spcPct val="159235"/>
              </a:lnSpc>
              <a:spcBef>
                <a:spcPts val="0"/>
              </a:spcBef>
              <a:spcAft>
                <a:spcPts val="0"/>
              </a:spcAft>
              <a:buClr>
                <a:srgbClr val="B0B8C1"/>
              </a:buClr>
              <a:buSzPts val="942"/>
              <a:buFont typeface="Calibri"/>
              <a:buNone/>
            </a:pPr>
            <a:r>
              <a:rPr b="0" i="0" lang="en-US" sz="942" u="none" cap="none" strike="noStrike">
                <a:solidFill>
                  <a:srgbClr val="B0B8C1"/>
                </a:solidFill>
                <a:latin typeface="Calibri"/>
                <a:ea typeface="Calibri"/>
                <a:cs typeface="Calibri"/>
                <a:sym typeface="Calibri"/>
              </a:rPr>
              <a:t>The Open Cybersecurity Schema Framework is an open-source, vendor-agnostic schema for cybersecurity data, developed by AWS and industry leaders (Splunk, IBM, Palo Alto Networks, etc.).</a:t>
            </a:r>
            <a:endParaRPr b="0" i="0" sz="942" u="none" cap="none" strike="noStrike">
              <a:solidFill>
                <a:schemeClr val="dk1"/>
              </a:solidFill>
              <a:latin typeface="Calibri"/>
              <a:ea typeface="Calibri"/>
              <a:cs typeface="Calibri"/>
              <a:sym typeface="Calibri"/>
            </a:endParaRPr>
          </a:p>
        </p:txBody>
      </p:sp>
      <p:sp>
        <p:nvSpPr>
          <p:cNvPr id="362" name="Google Shape;362;p17"/>
          <p:cNvSpPr/>
          <p:nvPr/>
        </p:nvSpPr>
        <p:spPr>
          <a:xfrm>
            <a:off x="428625" y="2389222"/>
            <a:ext cx="4000500" cy="233958"/>
          </a:xfrm>
          <a:prstGeom prst="rect">
            <a:avLst/>
          </a:prstGeom>
          <a:noFill/>
          <a:ln>
            <a:noFill/>
          </a:ln>
        </p:spPr>
        <p:txBody>
          <a:bodyPr anchorCtr="0" anchor="t" bIns="0" lIns="0" spcFirstLastPara="1" rIns="0" wrap="square" tIns="0">
            <a:noAutofit/>
          </a:bodyPr>
          <a:lstStyle/>
          <a:p>
            <a:pPr indent="0" lvl="0" marL="0" marR="0" rtl="0" algn="l">
              <a:lnSpc>
                <a:spcPct val="134115"/>
              </a:lnSpc>
              <a:spcBef>
                <a:spcPts val="0"/>
              </a:spcBef>
              <a:spcAft>
                <a:spcPts val="0"/>
              </a:spcAft>
              <a:buClr>
                <a:srgbClr val="00D9FF"/>
              </a:buClr>
              <a:buSzPts val="1193"/>
              <a:buFont typeface="Calibri"/>
              <a:buNone/>
            </a:pPr>
            <a:r>
              <a:rPr b="1" i="0" lang="en-US" sz="1193" u="none" cap="none" strike="noStrike">
                <a:solidFill>
                  <a:srgbClr val="00D9FF"/>
                </a:solidFill>
                <a:latin typeface="Calibri"/>
                <a:ea typeface="Calibri"/>
                <a:cs typeface="Calibri"/>
                <a:sym typeface="Calibri"/>
              </a:rPr>
              <a:t>Key Components</a:t>
            </a:r>
            <a:endParaRPr b="0" i="0" sz="1193" u="none" cap="none" strike="noStrike">
              <a:solidFill>
                <a:schemeClr val="dk1"/>
              </a:solidFill>
              <a:latin typeface="Calibri"/>
              <a:ea typeface="Calibri"/>
              <a:cs typeface="Calibri"/>
              <a:sym typeface="Calibri"/>
            </a:endParaRPr>
          </a:p>
        </p:txBody>
      </p:sp>
      <p:sp>
        <p:nvSpPr>
          <p:cNvPr id="363" name="Google Shape;363;p17"/>
          <p:cNvSpPr/>
          <p:nvPr/>
        </p:nvSpPr>
        <p:spPr>
          <a:xfrm>
            <a:off x="550069" y="2680329"/>
            <a:ext cx="898075" cy="175022"/>
          </a:xfrm>
          <a:prstGeom prst="rect">
            <a:avLst/>
          </a:prstGeom>
          <a:noFill/>
          <a:ln>
            <a:noFill/>
          </a:ln>
        </p:spPr>
        <p:txBody>
          <a:bodyPr anchorCtr="0" anchor="t" bIns="0" lIns="0" spcFirstLastPara="1" rIns="0" wrap="square" tIns="0">
            <a:noAutofit/>
          </a:bodyPr>
          <a:lstStyle/>
          <a:p>
            <a:pPr indent="0" lvl="0" marL="0" marR="0" rtl="0" algn="l">
              <a:lnSpc>
                <a:spcPct val="135593"/>
              </a:lnSpc>
              <a:spcBef>
                <a:spcPts val="0"/>
              </a:spcBef>
              <a:spcAft>
                <a:spcPts val="0"/>
              </a:spcAft>
              <a:buClr>
                <a:srgbClr val="FFFFFF"/>
              </a:buClr>
              <a:buSzPts val="885"/>
              <a:buFont typeface="Calibri"/>
              <a:buNone/>
            </a:pPr>
            <a:r>
              <a:rPr b="1" i="0" lang="en-US" sz="885" u="none" cap="none" strike="noStrike">
                <a:solidFill>
                  <a:srgbClr val="FFFFFF"/>
                </a:solidFill>
                <a:latin typeface="Calibri"/>
                <a:ea typeface="Calibri"/>
                <a:cs typeface="Calibri"/>
                <a:sym typeface="Calibri"/>
              </a:rPr>
              <a:t>Event Classes:</a:t>
            </a:r>
            <a:endParaRPr b="0" i="0" sz="885" u="none" cap="none" strike="noStrike">
              <a:solidFill>
                <a:schemeClr val="dk1"/>
              </a:solidFill>
              <a:latin typeface="Calibri"/>
              <a:ea typeface="Calibri"/>
              <a:cs typeface="Calibri"/>
              <a:sym typeface="Calibri"/>
            </a:endParaRPr>
          </a:p>
        </p:txBody>
      </p:sp>
      <p:sp>
        <p:nvSpPr>
          <p:cNvPr id="364" name="Google Shape;364;p17"/>
          <p:cNvSpPr/>
          <p:nvPr/>
        </p:nvSpPr>
        <p:spPr>
          <a:xfrm>
            <a:off x="550069" y="2680329"/>
            <a:ext cx="3693319" cy="350044"/>
          </a:xfrm>
          <a:prstGeom prst="rect">
            <a:avLst/>
          </a:prstGeom>
          <a:noFill/>
          <a:ln>
            <a:noFill/>
          </a:ln>
        </p:spPr>
        <p:txBody>
          <a:bodyPr anchorCtr="0" anchor="t" bIns="0" lIns="0" spcFirstLastPara="1" rIns="0" wrap="square" tIns="0">
            <a:noAutofit/>
          </a:bodyPr>
          <a:lstStyle/>
          <a:p>
            <a:pPr indent="0" lvl="0" marL="0" marR="0" rtl="0" algn="l">
              <a:lnSpc>
                <a:spcPct val="127388"/>
              </a:lnSpc>
              <a:spcBef>
                <a:spcPts val="0"/>
              </a:spcBef>
              <a:spcAft>
                <a:spcPts val="0"/>
              </a:spcAft>
              <a:buClr>
                <a:srgbClr val="FFFFFF"/>
              </a:buClr>
              <a:buSzPts val="942"/>
              <a:buFont typeface="Calibri"/>
              <a:buNone/>
            </a:pPr>
            <a:r>
              <a:rPr b="0" i="0" lang="en-US" sz="942" u="none" cap="none" strike="noStrike">
                <a:solidFill>
                  <a:srgbClr val="FFFFFF"/>
                </a:solidFill>
                <a:latin typeface="Calibri"/>
                <a:ea typeface="Calibri"/>
                <a:cs typeface="Calibri"/>
                <a:sym typeface="Calibri"/>
              </a:rPr>
              <a:t>40+ standardized event types (Authentication, Network Activity, Detection Finding)</a:t>
            </a:r>
            <a:endParaRPr b="0" i="0" sz="942" u="none" cap="none" strike="noStrike">
              <a:solidFill>
                <a:schemeClr val="dk1"/>
              </a:solidFill>
              <a:latin typeface="Calibri"/>
              <a:ea typeface="Calibri"/>
              <a:cs typeface="Calibri"/>
              <a:sym typeface="Calibri"/>
            </a:endParaRPr>
          </a:p>
        </p:txBody>
      </p:sp>
      <p:sp>
        <p:nvSpPr>
          <p:cNvPr id="365" name="Google Shape;365;p17"/>
          <p:cNvSpPr/>
          <p:nvPr/>
        </p:nvSpPr>
        <p:spPr>
          <a:xfrm>
            <a:off x="550069" y="3073236"/>
            <a:ext cx="521438" cy="175022"/>
          </a:xfrm>
          <a:prstGeom prst="rect">
            <a:avLst/>
          </a:prstGeom>
          <a:noFill/>
          <a:ln>
            <a:noFill/>
          </a:ln>
        </p:spPr>
        <p:txBody>
          <a:bodyPr anchorCtr="0" anchor="t" bIns="0" lIns="0" spcFirstLastPara="1" rIns="0" wrap="square" tIns="0">
            <a:noAutofit/>
          </a:bodyPr>
          <a:lstStyle/>
          <a:p>
            <a:pPr indent="0" lvl="0" marL="0" marR="0" rtl="0" algn="l">
              <a:lnSpc>
                <a:spcPct val="135593"/>
              </a:lnSpc>
              <a:spcBef>
                <a:spcPts val="0"/>
              </a:spcBef>
              <a:spcAft>
                <a:spcPts val="0"/>
              </a:spcAft>
              <a:buClr>
                <a:srgbClr val="FFFFFF"/>
              </a:buClr>
              <a:buSzPts val="885"/>
              <a:buFont typeface="Calibri"/>
              <a:buNone/>
            </a:pPr>
            <a:r>
              <a:rPr b="1" i="0" lang="en-US" sz="885" u="none" cap="none" strike="noStrike">
                <a:solidFill>
                  <a:srgbClr val="FFFFFF"/>
                </a:solidFill>
                <a:latin typeface="Calibri"/>
                <a:ea typeface="Calibri"/>
                <a:cs typeface="Calibri"/>
                <a:sym typeface="Calibri"/>
              </a:rPr>
              <a:t>Objects:</a:t>
            </a:r>
            <a:endParaRPr b="0" i="0" sz="885" u="none" cap="none" strike="noStrike">
              <a:solidFill>
                <a:schemeClr val="dk1"/>
              </a:solidFill>
              <a:latin typeface="Calibri"/>
              <a:ea typeface="Calibri"/>
              <a:cs typeface="Calibri"/>
              <a:sym typeface="Calibri"/>
            </a:endParaRPr>
          </a:p>
        </p:txBody>
      </p:sp>
      <p:sp>
        <p:nvSpPr>
          <p:cNvPr id="366" name="Google Shape;366;p17"/>
          <p:cNvSpPr/>
          <p:nvPr/>
        </p:nvSpPr>
        <p:spPr>
          <a:xfrm>
            <a:off x="1071507" y="3073236"/>
            <a:ext cx="2900558" cy="175022"/>
          </a:xfrm>
          <a:prstGeom prst="rect">
            <a:avLst/>
          </a:prstGeom>
          <a:noFill/>
          <a:ln>
            <a:noFill/>
          </a:ln>
        </p:spPr>
        <p:txBody>
          <a:bodyPr anchorCtr="0" anchor="t" bIns="0" lIns="0" spcFirstLastPara="1" rIns="0" wrap="square" tIns="0">
            <a:noAutofit/>
          </a:bodyPr>
          <a:lstStyle/>
          <a:p>
            <a:pPr indent="0" lvl="0" marL="0" marR="0" rtl="0" algn="l">
              <a:lnSpc>
                <a:spcPct val="127388"/>
              </a:lnSpc>
              <a:spcBef>
                <a:spcPts val="0"/>
              </a:spcBef>
              <a:spcAft>
                <a:spcPts val="0"/>
              </a:spcAft>
              <a:buClr>
                <a:srgbClr val="FFFFFF"/>
              </a:buClr>
              <a:buSzPts val="942"/>
              <a:buFont typeface="Calibri"/>
              <a:buNone/>
            </a:pPr>
            <a:r>
              <a:rPr b="0" i="0" lang="en-US" sz="942" u="none" cap="none" strike="noStrike">
                <a:solidFill>
                  <a:srgbClr val="FFFFFF"/>
                </a:solidFill>
                <a:latin typeface="Calibri"/>
                <a:ea typeface="Calibri"/>
                <a:cs typeface="Calibri"/>
                <a:sym typeface="Calibri"/>
              </a:rPr>
              <a:t>Reusable data structures (User, Device, Process)</a:t>
            </a:r>
            <a:endParaRPr b="0" i="0" sz="942" u="none" cap="none" strike="noStrike">
              <a:solidFill>
                <a:schemeClr val="dk1"/>
              </a:solidFill>
              <a:latin typeface="Calibri"/>
              <a:ea typeface="Calibri"/>
              <a:cs typeface="Calibri"/>
              <a:sym typeface="Calibri"/>
            </a:endParaRPr>
          </a:p>
        </p:txBody>
      </p:sp>
      <p:sp>
        <p:nvSpPr>
          <p:cNvPr id="367" name="Google Shape;367;p17"/>
          <p:cNvSpPr/>
          <p:nvPr/>
        </p:nvSpPr>
        <p:spPr>
          <a:xfrm>
            <a:off x="550069" y="3291120"/>
            <a:ext cx="696181" cy="175022"/>
          </a:xfrm>
          <a:prstGeom prst="rect">
            <a:avLst/>
          </a:prstGeom>
          <a:noFill/>
          <a:ln>
            <a:noFill/>
          </a:ln>
        </p:spPr>
        <p:txBody>
          <a:bodyPr anchorCtr="0" anchor="t" bIns="0" lIns="0" spcFirstLastPara="1" rIns="0" wrap="square" tIns="0">
            <a:noAutofit/>
          </a:bodyPr>
          <a:lstStyle/>
          <a:p>
            <a:pPr indent="0" lvl="0" marL="0" marR="0" rtl="0" algn="l">
              <a:lnSpc>
                <a:spcPct val="135593"/>
              </a:lnSpc>
              <a:spcBef>
                <a:spcPts val="0"/>
              </a:spcBef>
              <a:spcAft>
                <a:spcPts val="0"/>
              </a:spcAft>
              <a:buClr>
                <a:srgbClr val="FFFFFF"/>
              </a:buClr>
              <a:buSzPts val="885"/>
              <a:buFont typeface="Calibri"/>
              <a:buNone/>
            </a:pPr>
            <a:r>
              <a:rPr b="1" i="0" lang="en-US" sz="885" u="none" cap="none" strike="noStrike">
                <a:solidFill>
                  <a:srgbClr val="FFFFFF"/>
                </a:solidFill>
                <a:latin typeface="Calibri"/>
                <a:ea typeface="Calibri"/>
                <a:cs typeface="Calibri"/>
                <a:sym typeface="Calibri"/>
              </a:rPr>
              <a:t>Attributes:</a:t>
            </a:r>
            <a:endParaRPr b="0" i="0" sz="885" u="none" cap="none" strike="noStrike">
              <a:solidFill>
                <a:schemeClr val="dk1"/>
              </a:solidFill>
              <a:latin typeface="Calibri"/>
              <a:ea typeface="Calibri"/>
              <a:cs typeface="Calibri"/>
              <a:sym typeface="Calibri"/>
            </a:endParaRPr>
          </a:p>
        </p:txBody>
      </p:sp>
      <p:sp>
        <p:nvSpPr>
          <p:cNvPr id="368" name="Google Shape;368;p17"/>
          <p:cNvSpPr/>
          <p:nvPr/>
        </p:nvSpPr>
        <p:spPr>
          <a:xfrm>
            <a:off x="1246250" y="3291120"/>
            <a:ext cx="2599013" cy="175022"/>
          </a:xfrm>
          <a:prstGeom prst="rect">
            <a:avLst/>
          </a:prstGeom>
          <a:noFill/>
          <a:ln>
            <a:noFill/>
          </a:ln>
        </p:spPr>
        <p:txBody>
          <a:bodyPr anchorCtr="0" anchor="t" bIns="0" lIns="0" spcFirstLastPara="1" rIns="0" wrap="square" tIns="0">
            <a:noAutofit/>
          </a:bodyPr>
          <a:lstStyle/>
          <a:p>
            <a:pPr indent="0" lvl="0" marL="0" marR="0" rtl="0" algn="l">
              <a:lnSpc>
                <a:spcPct val="127388"/>
              </a:lnSpc>
              <a:spcBef>
                <a:spcPts val="0"/>
              </a:spcBef>
              <a:spcAft>
                <a:spcPts val="0"/>
              </a:spcAft>
              <a:buClr>
                <a:srgbClr val="FFFFFF"/>
              </a:buClr>
              <a:buSzPts val="942"/>
              <a:buFont typeface="Calibri"/>
              <a:buNone/>
            </a:pPr>
            <a:r>
              <a:rPr b="0" i="0" lang="en-US" sz="942" u="none" cap="none" strike="noStrike">
                <a:solidFill>
                  <a:srgbClr val="FFFFFF"/>
                </a:solidFill>
                <a:latin typeface="Calibri"/>
                <a:ea typeface="Calibri"/>
                <a:cs typeface="Calibri"/>
                <a:sym typeface="Calibri"/>
              </a:rPr>
              <a:t>Standardized fields (src_ip, dst_ip, severity)</a:t>
            </a:r>
            <a:endParaRPr b="0" i="0" sz="942" u="none" cap="none" strike="noStrike">
              <a:solidFill>
                <a:schemeClr val="dk1"/>
              </a:solidFill>
              <a:latin typeface="Calibri"/>
              <a:ea typeface="Calibri"/>
              <a:cs typeface="Calibri"/>
              <a:sym typeface="Calibri"/>
            </a:endParaRPr>
          </a:p>
        </p:txBody>
      </p:sp>
      <p:sp>
        <p:nvSpPr>
          <p:cNvPr id="369" name="Google Shape;369;p17"/>
          <p:cNvSpPr/>
          <p:nvPr/>
        </p:nvSpPr>
        <p:spPr>
          <a:xfrm>
            <a:off x="4714875" y="1344811"/>
            <a:ext cx="4000500" cy="251454"/>
          </a:xfrm>
          <a:prstGeom prst="rect">
            <a:avLst/>
          </a:prstGeom>
          <a:noFill/>
          <a:ln>
            <a:noFill/>
          </a:ln>
        </p:spPr>
        <p:txBody>
          <a:bodyPr anchorCtr="0" anchor="t" bIns="0" lIns="0" spcFirstLastPara="1" rIns="0" wrap="square" tIns="0">
            <a:noAutofit/>
          </a:bodyPr>
          <a:lstStyle/>
          <a:p>
            <a:pPr indent="0" lvl="0" marL="0" marR="0" rtl="0" algn="l">
              <a:lnSpc>
                <a:spcPct val="124843"/>
              </a:lnSpc>
              <a:spcBef>
                <a:spcPts val="0"/>
              </a:spcBef>
              <a:spcAft>
                <a:spcPts val="0"/>
              </a:spcAft>
              <a:buClr>
                <a:srgbClr val="9D4EDD"/>
              </a:buClr>
              <a:buSzPts val="1602"/>
              <a:buFont typeface="Calibri"/>
              <a:buNone/>
            </a:pPr>
            <a:r>
              <a:rPr b="1" i="0" lang="en-US" sz="1602" u="none" cap="none" strike="noStrike">
                <a:solidFill>
                  <a:srgbClr val="9D4EDD"/>
                </a:solidFill>
                <a:latin typeface="Calibri"/>
                <a:ea typeface="Calibri"/>
                <a:cs typeface="Calibri"/>
                <a:sym typeface="Calibri"/>
              </a:rPr>
              <a:t>Why OCSF?</a:t>
            </a:r>
            <a:endParaRPr b="0" i="0" sz="1602" u="none" cap="none" strike="noStrike">
              <a:solidFill>
                <a:schemeClr val="dk1"/>
              </a:solidFill>
              <a:latin typeface="Calibri"/>
              <a:ea typeface="Calibri"/>
              <a:cs typeface="Calibri"/>
              <a:sym typeface="Calibri"/>
            </a:endParaRPr>
          </a:p>
        </p:txBody>
      </p:sp>
      <p:sp>
        <p:nvSpPr>
          <p:cNvPr id="370" name="Google Shape;370;p17"/>
          <p:cNvSpPr/>
          <p:nvPr/>
        </p:nvSpPr>
        <p:spPr>
          <a:xfrm>
            <a:off x="4714875" y="1724853"/>
            <a:ext cx="4000500" cy="233958"/>
          </a:xfrm>
          <a:prstGeom prst="rect">
            <a:avLst/>
          </a:prstGeom>
          <a:noFill/>
          <a:ln>
            <a:noFill/>
          </a:ln>
        </p:spPr>
        <p:txBody>
          <a:bodyPr anchorCtr="0" anchor="t" bIns="0" lIns="0" spcFirstLastPara="1" rIns="0" wrap="square" tIns="0">
            <a:noAutofit/>
          </a:bodyPr>
          <a:lstStyle/>
          <a:p>
            <a:pPr indent="0" lvl="0" marL="0" marR="0" rtl="0" algn="l">
              <a:lnSpc>
                <a:spcPct val="134115"/>
              </a:lnSpc>
              <a:spcBef>
                <a:spcPts val="0"/>
              </a:spcBef>
              <a:spcAft>
                <a:spcPts val="0"/>
              </a:spcAft>
              <a:buClr>
                <a:srgbClr val="9D4EDD"/>
              </a:buClr>
              <a:buSzPts val="1193"/>
              <a:buFont typeface="Calibri"/>
              <a:buNone/>
            </a:pPr>
            <a:r>
              <a:rPr b="1" i="0" lang="en-US" sz="1193" u="none" cap="none" strike="noStrike">
                <a:solidFill>
                  <a:srgbClr val="9D4EDD"/>
                </a:solidFill>
                <a:latin typeface="Calibri"/>
                <a:ea typeface="Calibri"/>
                <a:cs typeface="Calibri"/>
                <a:sym typeface="Calibri"/>
              </a:rPr>
              <a:t>Eliminates Vendor Lock-In</a:t>
            </a:r>
            <a:endParaRPr b="0" i="0" sz="1193" u="none" cap="none" strike="noStrike">
              <a:solidFill>
                <a:schemeClr val="dk1"/>
              </a:solidFill>
              <a:latin typeface="Calibri"/>
              <a:ea typeface="Calibri"/>
              <a:cs typeface="Calibri"/>
              <a:sym typeface="Calibri"/>
            </a:endParaRPr>
          </a:p>
        </p:txBody>
      </p:sp>
      <p:sp>
        <p:nvSpPr>
          <p:cNvPr id="371" name="Google Shape;371;p17"/>
          <p:cNvSpPr/>
          <p:nvPr/>
        </p:nvSpPr>
        <p:spPr>
          <a:xfrm>
            <a:off x="4714875" y="2015961"/>
            <a:ext cx="4000500" cy="578644"/>
          </a:xfrm>
          <a:prstGeom prst="rect">
            <a:avLst/>
          </a:prstGeom>
          <a:noFill/>
          <a:ln>
            <a:noFill/>
          </a:ln>
        </p:spPr>
        <p:txBody>
          <a:bodyPr anchorCtr="0" anchor="t" bIns="0" lIns="0" spcFirstLastPara="1" rIns="0" wrap="square" tIns="0">
            <a:noAutofit/>
          </a:bodyPr>
          <a:lstStyle/>
          <a:p>
            <a:pPr indent="0" lvl="0" marL="0" marR="0" rtl="0" algn="l">
              <a:lnSpc>
                <a:spcPct val="159235"/>
              </a:lnSpc>
              <a:spcBef>
                <a:spcPts val="0"/>
              </a:spcBef>
              <a:spcAft>
                <a:spcPts val="0"/>
              </a:spcAft>
              <a:buClr>
                <a:srgbClr val="B0B8C1"/>
              </a:buClr>
              <a:buSzPts val="942"/>
              <a:buFont typeface="Calibri"/>
              <a:buNone/>
            </a:pPr>
            <a:r>
              <a:rPr b="0" i="0" lang="en-US" sz="942" u="none" cap="none" strike="noStrike">
                <a:solidFill>
                  <a:srgbClr val="B0B8C1"/>
                </a:solidFill>
                <a:latin typeface="Calibri"/>
                <a:ea typeface="Calibri"/>
                <a:cs typeface="Calibri"/>
                <a:sym typeface="Calibri"/>
              </a:rPr>
              <a:t>Traditional security environments have dozens of proprietary data formats. OCSF provides a single, unified schema that all tools can speak, eliminating the "Tower of Babel" problem.</a:t>
            </a:r>
            <a:endParaRPr b="0" i="0" sz="942" u="none" cap="none" strike="noStrike">
              <a:solidFill>
                <a:schemeClr val="dk1"/>
              </a:solidFill>
              <a:latin typeface="Calibri"/>
              <a:ea typeface="Calibri"/>
              <a:cs typeface="Calibri"/>
              <a:sym typeface="Calibri"/>
            </a:endParaRPr>
          </a:p>
        </p:txBody>
      </p:sp>
      <p:sp>
        <p:nvSpPr>
          <p:cNvPr id="372" name="Google Shape;372;p17"/>
          <p:cNvSpPr/>
          <p:nvPr/>
        </p:nvSpPr>
        <p:spPr>
          <a:xfrm>
            <a:off x="4714875" y="2680329"/>
            <a:ext cx="4000500" cy="233958"/>
          </a:xfrm>
          <a:prstGeom prst="rect">
            <a:avLst/>
          </a:prstGeom>
          <a:noFill/>
          <a:ln>
            <a:noFill/>
          </a:ln>
        </p:spPr>
        <p:txBody>
          <a:bodyPr anchorCtr="0" anchor="t" bIns="0" lIns="0" spcFirstLastPara="1" rIns="0" wrap="square" tIns="0">
            <a:noAutofit/>
          </a:bodyPr>
          <a:lstStyle/>
          <a:p>
            <a:pPr indent="0" lvl="0" marL="0" marR="0" rtl="0" algn="l">
              <a:lnSpc>
                <a:spcPct val="134115"/>
              </a:lnSpc>
              <a:spcBef>
                <a:spcPts val="0"/>
              </a:spcBef>
              <a:spcAft>
                <a:spcPts val="0"/>
              </a:spcAft>
              <a:buClr>
                <a:srgbClr val="9D4EDD"/>
              </a:buClr>
              <a:buSzPts val="1193"/>
              <a:buFont typeface="Calibri"/>
              <a:buNone/>
            </a:pPr>
            <a:r>
              <a:rPr b="1" i="0" lang="en-US" sz="1193" u="none" cap="none" strike="noStrike">
                <a:solidFill>
                  <a:srgbClr val="9D4EDD"/>
                </a:solidFill>
                <a:latin typeface="Calibri"/>
                <a:ea typeface="Calibri"/>
                <a:cs typeface="Calibri"/>
                <a:sym typeface="Calibri"/>
              </a:rPr>
              <a:t>Enables Ecosystem Innovation</a:t>
            </a:r>
            <a:endParaRPr b="0" i="0" sz="1193" u="none" cap="none" strike="noStrike">
              <a:solidFill>
                <a:schemeClr val="dk1"/>
              </a:solidFill>
              <a:latin typeface="Calibri"/>
              <a:ea typeface="Calibri"/>
              <a:cs typeface="Calibri"/>
              <a:sym typeface="Calibri"/>
            </a:endParaRPr>
          </a:p>
        </p:txBody>
      </p:sp>
      <p:sp>
        <p:nvSpPr>
          <p:cNvPr id="373" name="Google Shape;373;p17"/>
          <p:cNvSpPr/>
          <p:nvPr/>
        </p:nvSpPr>
        <p:spPr>
          <a:xfrm>
            <a:off x="4714875" y="2971437"/>
            <a:ext cx="4000500" cy="385763"/>
          </a:xfrm>
          <a:prstGeom prst="rect">
            <a:avLst/>
          </a:prstGeom>
          <a:noFill/>
          <a:ln>
            <a:noFill/>
          </a:ln>
        </p:spPr>
        <p:txBody>
          <a:bodyPr anchorCtr="0" anchor="t" bIns="0" lIns="0" spcFirstLastPara="1" rIns="0" wrap="square" tIns="0">
            <a:noAutofit/>
          </a:bodyPr>
          <a:lstStyle/>
          <a:p>
            <a:pPr indent="0" lvl="0" marL="0" marR="0" rtl="0" algn="l">
              <a:lnSpc>
                <a:spcPct val="159235"/>
              </a:lnSpc>
              <a:spcBef>
                <a:spcPts val="0"/>
              </a:spcBef>
              <a:spcAft>
                <a:spcPts val="0"/>
              </a:spcAft>
              <a:buClr>
                <a:srgbClr val="B0B8C1"/>
              </a:buClr>
              <a:buSzPts val="942"/>
              <a:buFont typeface="Calibri"/>
              <a:buNone/>
            </a:pPr>
            <a:r>
              <a:rPr b="0" i="0" lang="en-US" sz="942" u="none" cap="none" strike="noStrike">
                <a:solidFill>
                  <a:srgbClr val="B0B8C1"/>
                </a:solidFill>
                <a:latin typeface="Calibri"/>
                <a:ea typeface="Calibri"/>
                <a:cs typeface="Calibri"/>
                <a:sym typeface="Calibri"/>
              </a:rPr>
              <a:t>Vendors can build tools that work with any OCSF-compliant data source. Reduces integration time from months to days.</a:t>
            </a:r>
            <a:endParaRPr b="0" i="0" sz="942" u="none" cap="none" strike="noStrike">
              <a:solidFill>
                <a:schemeClr val="dk1"/>
              </a:solidFill>
              <a:latin typeface="Calibri"/>
              <a:ea typeface="Calibri"/>
              <a:cs typeface="Calibri"/>
              <a:sym typeface="Calibri"/>
            </a:endParaRPr>
          </a:p>
        </p:txBody>
      </p:sp>
      <p:sp>
        <p:nvSpPr>
          <p:cNvPr id="374" name="Google Shape;374;p17"/>
          <p:cNvSpPr/>
          <p:nvPr/>
        </p:nvSpPr>
        <p:spPr>
          <a:xfrm>
            <a:off x="4714875" y="3442925"/>
            <a:ext cx="4000500" cy="233958"/>
          </a:xfrm>
          <a:prstGeom prst="rect">
            <a:avLst/>
          </a:prstGeom>
          <a:noFill/>
          <a:ln>
            <a:noFill/>
          </a:ln>
        </p:spPr>
        <p:txBody>
          <a:bodyPr anchorCtr="0" anchor="t" bIns="0" lIns="0" spcFirstLastPara="1" rIns="0" wrap="square" tIns="0">
            <a:noAutofit/>
          </a:bodyPr>
          <a:lstStyle/>
          <a:p>
            <a:pPr indent="0" lvl="0" marL="0" marR="0" rtl="0" algn="l">
              <a:lnSpc>
                <a:spcPct val="134115"/>
              </a:lnSpc>
              <a:spcBef>
                <a:spcPts val="0"/>
              </a:spcBef>
              <a:spcAft>
                <a:spcPts val="0"/>
              </a:spcAft>
              <a:buClr>
                <a:srgbClr val="9D4EDD"/>
              </a:buClr>
              <a:buSzPts val="1193"/>
              <a:buFont typeface="Calibri"/>
              <a:buNone/>
            </a:pPr>
            <a:r>
              <a:rPr b="1" i="0" lang="en-US" sz="1193" u="none" cap="none" strike="noStrike">
                <a:solidFill>
                  <a:srgbClr val="9D4EDD"/>
                </a:solidFill>
                <a:latin typeface="Calibri"/>
                <a:ea typeface="Calibri"/>
                <a:cs typeface="Calibri"/>
                <a:sym typeface="Calibri"/>
              </a:rPr>
              <a:t>Future-Proof</a:t>
            </a:r>
            <a:endParaRPr b="0" i="0" sz="1193" u="none" cap="none" strike="noStrike">
              <a:solidFill>
                <a:schemeClr val="dk1"/>
              </a:solidFill>
              <a:latin typeface="Calibri"/>
              <a:ea typeface="Calibri"/>
              <a:cs typeface="Calibri"/>
              <a:sym typeface="Calibri"/>
            </a:endParaRPr>
          </a:p>
        </p:txBody>
      </p:sp>
      <p:sp>
        <p:nvSpPr>
          <p:cNvPr id="375" name="Google Shape;375;p17"/>
          <p:cNvSpPr/>
          <p:nvPr/>
        </p:nvSpPr>
        <p:spPr>
          <a:xfrm>
            <a:off x="4714875" y="3734033"/>
            <a:ext cx="4000500" cy="578644"/>
          </a:xfrm>
          <a:prstGeom prst="rect">
            <a:avLst/>
          </a:prstGeom>
          <a:noFill/>
          <a:ln>
            <a:noFill/>
          </a:ln>
        </p:spPr>
        <p:txBody>
          <a:bodyPr anchorCtr="0" anchor="t" bIns="0" lIns="0" spcFirstLastPara="1" rIns="0" wrap="square" tIns="0">
            <a:noAutofit/>
          </a:bodyPr>
          <a:lstStyle/>
          <a:p>
            <a:pPr indent="0" lvl="0" marL="0" marR="0" rtl="0" algn="l">
              <a:lnSpc>
                <a:spcPct val="159235"/>
              </a:lnSpc>
              <a:spcBef>
                <a:spcPts val="0"/>
              </a:spcBef>
              <a:spcAft>
                <a:spcPts val="0"/>
              </a:spcAft>
              <a:buClr>
                <a:srgbClr val="B0B8C1"/>
              </a:buClr>
              <a:buSzPts val="942"/>
              <a:buFont typeface="Calibri"/>
              <a:buNone/>
            </a:pPr>
            <a:r>
              <a:rPr b="0" i="0" lang="en-US" sz="942" u="none" cap="none" strike="noStrike">
                <a:solidFill>
                  <a:srgbClr val="B0B8C1"/>
                </a:solidFill>
                <a:latin typeface="Calibri"/>
                <a:ea typeface="Calibri"/>
                <a:cs typeface="Calibri"/>
                <a:sym typeface="Calibri"/>
              </a:rPr>
              <a:t>As new tools emerge, they integrate with existing data without custom work. Open-source governance ensures the schema evolves with the industry.</a:t>
            </a:r>
            <a:endParaRPr b="0" i="0" sz="942"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pic>
        <p:nvPicPr>
          <p:cNvPr descr="preencoded.png" id="381" name="Google Shape;381;p18"/>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382" name="Google Shape;382;p18"/>
          <p:cNvSpPr/>
          <p:nvPr/>
        </p:nvSpPr>
        <p:spPr>
          <a:xfrm>
            <a:off x="428625" y="428625"/>
            <a:ext cx="8286750" cy="623292"/>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18"/>
          <p:cNvSpPr/>
          <p:nvPr/>
        </p:nvSpPr>
        <p:spPr>
          <a:xfrm>
            <a:off x="428625" y="1037630"/>
            <a:ext cx="8286750" cy="14288"/>
          </a:xfrm>
          <a:prstGeom prst="rect">
            <a:avLst/>
          </a:prstGeom>
          <a:solidFill>
            <a:srgbClr val="00D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18"/>
          <p:cNvSpPr/>
          <p:nvPr/>
        </p:nvSpPr>
        <p:spPr>
          <a:xfrm>
            <a:off x="428625" y="428625"/>
            <a:ext cx="8286750" cy="466130"/>
          </a:xfrm>
          <a:prstGeom prst="rect">
            <a:avLst/>
          </a:prstGeom>
          <a:noFill/>
          <a:ln>
            <a:noFill/>
          </a:ln>
        </p:spPr>
        <p:txBody>
          <a:bodyPr anchorCtr="0" anchor="t" bIns="0" lIns="0" spcFirstLastPara="1" rIns="0" wrap="square" tIns="0">
            <a:noAutofit/>
          </a:bodyPr>
          <a:lstStyle/>
          <a:p>
            <a:pPr indent="0" lvl="0" marL="0" marR="0" rtl="0" algn="l">
              <a:lnSpc>
                <a:spcPct val="131362"/>
              </a:lnSpc>
              <a:spcBef>
                <a:spcPts val="0"/>
              </a:spcBef>
              <a:spcAft>
                <a:spcPts val="0"/>
              </a:spcAft>
              <a:buClr>
                <a:srgbClr val="00D9FF"/>
              </a:buClr>
              <a:buSzPts val="2436"/>
              <a:buFont typeface="Calibri"/>
              <a:buNone/>
            </a:pPr>
            <a:r>
              <a:rPr b="1" i="0" lang="en-US" sz="2436" u="none" cap="none" strike="noStrike">
                <a:solidFill>
                  <a:srgbClr val="00D9FF"/>
                </a:solidFill>
                <a:latin typeface="Calibri"/>
                <a:ea typeface="Calibri"/>
                <a:cs typeface="Calibri"/>
                <a:sym typeface="Calibri"/>
              </a:rPr>
              <a:t>Appendix: OCSF - Key Considerations</a:t>
            </a:r>
            <a:endParaRPr b="0" i="0" sz="2436" u="none" cap="none" strike="noStrike">
              <a:solidFill>
                <a:schemeClr val="dk1"/>
              </a:solidFill>
              <a:latin typeface="Calibri"/>
              <a:ea typeface="Calibri"/>
              <a:cs typeface="Calibri"/>
              <a:sym typeface="Calibri"/>
            </a:endParaRPr>
          </a:p>
        </p:txBody>
      </p:sp>
      <p:sp>
        <p:nvSpPr>
          <p:cNvPr id="385" name="Google Shape;385;p18"/>
          <p:cNvSpPr/>
          <p:nvPr/>
        </p:nvSpPr>
        <p:spPr>
          <a:xfrm>
            <a:off x="428625" y="1394817"/>
            <a:ext cx="2571750" cy="3320058"/>
          </a:xfrm>
          <a:prstGeom prst="rect">
            <a:avLst/>
          </a:prstGeom>
          <a:solidFill>
            <a:srgbClr val="FFFFFF">
              <a:alpha val="274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18"/>
          <p:cNvSpPr/>
          <p:nvPr/>
        </p:nvSpPr>
        <p:spPr>
          <a:xfrm>
            <a:off x="428625" y="1394817"/>
            <a:ext cx="2571750" cy="42863"/>
          </a:xfrm>
          <a:prstGeom prst="rect">
            <a:avLst/>
          </a:prstGeom>
          <a:solidFill>
            <a:srgbClr val="00D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18"/>
          <p:cNvSpPr/>
          <p:nvPr/>
        </p:nvSpPr>
        <p:spPr>
          <a:xfrm>
            <a:off x="571500" y="1537692"/>
            <a:ext cx="2286000" cy="220005"/>
          </a:xfrm>
          <a:prstGeom prst="rect">
            <a:avLst/>
          </a:prstGeom>
          <a:noFill/>
          <a:ln>
            <a:noFill/>
          </a:ln>
        </p:spPr>
        <p:txBody>
          <a:bodyPr anchorCtr="0" anchor="t" bIns="0" lIns="0" spcFirstLastPara="1" rIns="0" wrap="square" tIns="0">
            <a:noAutofit/>
          </a:bodyPr>
          <a:lstStyle/>
          <a:p>
            <a:pPr indent="0" lvl="0" marL="0" marR="0" rtl="0" algn="l">
              <a:lnSpc>
                <a:spcPct val="121689"/>
              </a:lnSpc>
              <a:spcBef>
                <a:spcPts val="0"/>
              </a:spcBef>
              <a:spcAft>
                <a:spcPts val="0"/>
              </a:spcAft>
              <a:buClr>
                <a:srgbClr val="00D9FF"/>
              </a:buClr>
              <a:buSzPts val="1397"/>
              <a:buFont typeface="Calibri"/>
              <a:buNone/>
            </a:pPr>
            <a:r>
              <a:rPr b="1" i="0" lang="en-US" sz="1397" u="none" cap="none" strike="noStrike">
                <a:solidFill>
                  <a:srgbClr val="00D9FF"/>
                </a:solidFill>
                <a:latin typeface="Calibri"/>
                <a:ea typeface="Calibri"/>
                <a:cs typeface="Calibri"/>
                <a:sym typeface="Calibri"/>
              </a:rPr>
              <a:t>Schema Mapping</a:t>
            </a:r>
            <a:endParaRPr b="0" i="0" sz="1397" u="none" cap="none" strike="noStrike">
              <a:solidFill>
                <a:schemeClr val="dk1"/>
              </a:solidFill>
              <a:latin typeface="Calibri"/>
              <a:ea typeface="Calibri"/>
              <a:cs typeface="Calibri"/>
              <a:sym typeface="Calibri"/>
            </a:endParaRPr>
          </a:p>
        </p:txBody>
      </p:sp>
      <p:sp>
        <p:nvSpPr>
          <p:cNvPr id="388" name="Google Shape;388;p18"/>
          <p:cNvSpPr/>
          <p:nvPr/>
        </p:nvSpPr>
        <p:spPr>
          <a:xfrm>
            <a:off x="571500" y="1843422"/>
            <a:ext cx="2286000" cy="155377"/>
          </a:xfrm>
          <a:prstGeom prst="rect">
            <a:avLst/>
          </a:prstGeom>
          <a:noFill/>
          <a:ln>
            <a:noFill/>
          </a:ln>
        </p:spPr>
        <p:txBody>
          <a:bodyPr anchorCtr="0" anchor="t" bIns="0" lIns="0" spcFirstLastPara="1" rIns="0" wrap="square" tIns="0">
            <a:noAutofit/>
          </a:bodyPr>
          <a:lstStyle/>
          <a:p>
            <a:pPr indent="0" lvl="0" marL="0" marR="0" rtl="0" algn="l">
              <a:lnSpc>
                <a:spcPct val="140306"/>
              </a:lnSpc>
              <a:spcBef>
                <a:spcPts val="0"/>
              </a:spcBef>
              <a:spcAft>
                <a:spcPts val="0"/>
              </a:spcAft>
              <a:buClr>
                <a:srgbClr val="00D9FF"/>
              </a:buClr>
              <a:buSzPts val="784"/>
              <a:buFont typeface="Calibri"/>
              <a:buNone/>
            </a:pPr>
            <a:r>
              <a:rPr b="1" i="0" lang="en-US" sz="784" u="none" cap="none" strike="noStrike">
                <a:solidFill>
                  <a:srgbClr val="00D9FF"/>
                </a:solidFill>
                <a:latin typeface="Calibri"/>
                <a:ea typeface="Calibri"/>
                <a:cs typeface="Calibri"/>
                <a:sym typeface="Calibri"/>
              </a:rPr>
              <a:t>Challenge</a:t>
            </a:r>
            <a:endParaRPr b="0" i="0" sz="784" u="none" cap="none" strike="noStrike">
              <a:solidFill>
                <a:schemeClr val="dk1"/>
              </a:solidFill>
              <a:latin typeface="Calibri"/>
              <a:ea typeface="Calibri"/>
              <a:cs typeface="Calibri"/>
              <a:sym typeface="Calibri"/>
            </a:endParaRPr>
          </a:p>
        </p:txBody>
      </p:sp>
      <p:sp>
        <p:nvSpPr>
          <p:cNvPr id="389" name="Google Shape;389;p18"/>
          <p:cNvSpPr/>
          <p:nvPr/>
        </p:nvSpPr>
        <p:spPr>
          <a:xfrm>
            <a:off x="571500" y="2055949"/>
            <a:ext cx="2286000" cy="771525"/>
          </a:xfrm>
          <a:prstGeom prst="rect">
            <a:avLst/>
          </a:prstGeom>
          <a:noFill/>
          <a:ln>
            <a:noFill/>
          </a:ln>
        </p:spPr>
        <p:txBody>
          <a:bodyPr anchorCtr="0" anchor="t" bIns="0" lIns="0" spcFirstLastPara="1" rIns="0" wrap="square" tIns="0">
            <a:noAutofit/>
          </a:bodyPr>
          <a:lstStyle/>
          <a:p>
            <a:pPr indent="0" lvl="0" marL="0" marR="0" rtl="0" algn="l">
              <a:lnSpc>
                <a:spcPct val="159235"/>
              </a:lnSpc>
              <a:spcBef>
                <a:spcPts val="0"/>
              </a:spcBef>
              <a:spcAft>
                <a:spcPts val="0"/>
              </a:spcAft>
              <a:buClr>
                <a:srgbClr val="FFFFFF"/>
              </a:buClr>
              <a:buSzPts val="942"/>
              <a:buFont typeface="Calibri"/>
              <a:buNone/>
            </a:pPr>
            <a:r>
              <a:rPr b="0" i="0" lang="en-US" sz="942" u="none" cap="none" strike="noStrike">
                <a:solidFill>
                  <a:srgbClr val="FFFFFF"/>
                </a:solidFill>
                <a:latin typeface="Calibri"/>
                <a:ea typeface="Calibri"/>
                <a:cs typeface="Calibri"/>
                <a:sym typeface="Calibri"/>
              </a:rPr>
              <a:t>Not all vendor data maps perfectly to OCSF. Some vendors provide richer data; others provide less structured data.</a:t>
            </a:r>
            <a:endParaRPr b="0" i="0" sz="942" u="none" cap="none" strike="noStrike">
              <a:solidFill>
                <a:schemeClr val="dk1"/>
              </a:solidFill>
              <a:latin typeface="Calibri"/>
              <a:ea typeface="Calibri"/>
              <a:cs typeface="Calibri"/>
              <a:sym typeface="Calibri"/>
            </a:endParaRPr>
          </a:p>
        </p:txBody>
      </p:sp>
      <p:sp>
        <p:nvSpPr>
          <p:cNvPr id="390" name="Google Shape;390;p18"/>
          <p:cNvSpPr/>
          <p:nvPr/>
        </p:nvSpPr>
        <p:spPr>
          <a:xfrm>
            <a:off x="571500" y="2913199"/>
            <a:ext cx="2286000" cy="155377"/>
          </a:xfrm>
          <a:prstGeom prst="rect">
            <a:avLst/>
          </a:prstGeom>
          <a:noFill/>
          <a:ln>
            <a:noFill/>
          </a:ln>
        </p:spPr>
        <p:txBody>
          <a:bodyPr anchorCtr="0" anchor="t" bIns="0" lIns="0" spcFirstLastPara="1" rIns="0" wrap="square" tIns="0">
            <a:noAutofit/>
          </a:bodyPr>
          <a:lstStyle/>
          <a:p>
            <a:pPr indent="0" lvl="0" marL="0" marR="0" rtl="0" algn="l">
              <a:lnSpc>
                <a:spcPct val="140306"/>
              </a:lnSpc>
              <a:spcBef>
                <a:spcPts val="0"/>
              </a:spcBef>
              <a:spcAft>
                <a:spcPts val="0"/>
              </a:spcAft>
              <a:buClr>
                <a:srgbClr val="00D9FF"/>
              </a:buClr>
              <a:buSzPts val="784"/>
              <a:buFont typeface="Calibri"/>
              <a:buNone/>
            </a:pPr>
            <a:r>
              <a:rPr b="1" i="0" lang="en-US" sz="784" u="none" cap="none" strike="noStrike">
                <a:solidFill>
                  <a:srgbClr val="00D9FF"/>
                </a:solidFill>
                <a:latin typeface="Calibri"/>
                <a:ea typeface="Calibri"/>
                <a:cs typeface="Calibri"/>
                <a:sym typeface="Calibri"/>
              </a:rPr>
              <a:t>Solution</a:t>
            </a:r>
            <a:endParaRPr b="0" i="0" sz="784" u="none" cap="none" strike="noStrike">
              <a:solidFill>
                <a:schemeClr val="dk1"/>
              </a:solidFill>
              <a:latin typeface="Calibri"/>
              <a:ea typeface="Calibri"/>
              <a:cs typeface="Calibri"/>
              <a:sym typeface="Calibri"/>
            </a:endParaRPr>
          </a:p>
        </p:txBody>
      </p:sp>
      <p:sp>
        <p:nvSpPr>
          <p:cNvPr id="391" name="Google Shape;391;p18"/>
          <p:cNvSpPr/>
          <p:nvPr/>
        </p:nvSpPr>
        <p:spPr>
          <a:xfrm>
            <a:off x="571500" y="3125725"/>
            <a:ext cx="2286000" cy="350044"/>
          </a:xfrm>
          <a:prstGeom prst="rect">
            <a:avLst/>
          </a:prstGeom>
          <a:noFill/>
          <a:ln>
            <a:noFill/>
          </a:ln>
        </p:spPr>
        <p:txBody>
          <a:bodyPr anchorCtr="0" anchor="t" bIns="0" lIns="102100" spcFirstLastPara="1" rIns="0" wrap="square" tIns="0">
            <a:noAutofit/>
          </a:bodyPr>
          <a:lstStyle/>
          <a:p>
            <a:pPr indent="0" lvl="0" marL="0" marR="0" rtl="0" algn="l">
              <a:lnSpc>
                <a:spcPct val="127388"/>
              </a:lnSpc>
              <a:spcBef>
                <a:spcPts val="0"/>
              </a:spcBef>
              <a:spcAft>
                <a:spcPts val="0"/>
              </a:spcAft>
              <a:buClr>
                <a:srgbClr val="B0B8C1"/>
              </a:buClr>
              <a:buSzPts val="942"/>
              <a:buFont typeface="Calibri"/>
              <a:buNone/>
            </a:pPr>
            <a:r>
              <a:rPr b="0" i="0" lang="en-US" sz="942" u="none" cap="none" strike="noStrike">
                <a:solidFill>
                  <a:srgbClr val="B0B8C1"/>
                </a:solidFill>
                <a:latin typeface="Calibri"/>
                <a:ea typeface="Calibri"/>
                <a:cs typeface="Calibri"/>
                <a:sym typeface="Calibri"/>
              </a:rPr>
              <a:t>OCSF Extensions preserve unique vendor data</a:t>
            </a:r>
            <a:endParaRPr b="0" i="0" sz="942" u="none" cap="none" strike="noStrike">
              <a:solidFill>
                <a:schemeClr val="dk1"/>
              </a:solidFill>
              <a:latin typeface="Calibri"/>
              <a:ea typeface="Calibri"/>
              <a:cs typeface="Calibri"/>
              <a:sym typeface="Calibri"/>
            </a:endParaRPr>
          </a:p>
        </p:txBody>
      </p:sp>
      <p:sp>
        <p:nvSpPr>
          <p:cNvPr id="392" name="Google Shape;392;p18"/>
          <p:cNvSpPr/>
          <p:nvPr/>
        </p:nvSpPr>
        <p:spPr>
          <a:xfrm>
            <a:off x="571500" y="3518632"/>
            <a:ext cx="2286000" cy="350044"/>
          </a:xfrm>
          <a:prstGeom prst="rect">
            <a:avLst/>
          </a:prstGeom>
          <a:noFill/>
          <a:ln>
            <a:noFill/>
          </a:ln>
        </p:spPr>
        <p:txBody>
          <a:bodyPr anchorCtr="0" anchor="t" bIns="0" lIns="102100" spcFirstLastPara="1" rIns="0" wrap="square" tIns="0">
            <a:noAutofit/>
          </a:bodyPr>
          <a:lstStyle/>
          <a:p>
            <a:pPr indent="0" lvl="0" marL="0" marR="0" rtl="0" algn="l">
              <a:lnSpc>
                <a:spcPct val="127388"/>
              </a:lnSpc>
              <a:spcBef>
                <a:spcPts val="0"/>
              </a:spcBef>
              <a:spcAft>
                <a:spcPts val="0"/>
              </a:spcAft>
              <a:buClr>
                <a:srgbClr val="B0B8C1"/>
              </a:buClr>
              <a:buSzPts val="942"/>
              <a:buFont typeface="Calibri"/>
              <a:buNone/>
            </a:pPr>
            <a:r>
              <a:rPr b="0" i="0" lang="en-US" sz="942" u="none" cap="none" strike="noStrike">
                <a:solidFill>
                  <a:srgbClr val="B0B8C1"/>
                </a:solidFill>
                <a:latin typeface="Calibri"/>
                <a:ea typeface="Calibri"/>
                <a:cs typeface="Calibri"/>
                <a:sym typeface="Calibri"/>
              </a:rPr>
              <a:t>Custom mappings for non-standard data</a:t>
            </a:r>
            <a:endParaRPr b="0" i="0" sz="942" u="none" cap="none" strike="noStrike">
              <a:solidFill>
                <a:schemeClr val="dk1"/>
              </a:solidFill>
              <a:latin typeface="Calibri"/>
              <a:ea typeface="Calibri"/>
              <a:cs typeface="Calibri"/>
              <a:sym typeface="Calibri"/>
            </a:endParaRPr>
          </a:p>
        </p:txBody>
      </p:sp>
      <p:sp>
        <p:nvSpPr>
          <p:cNvPr id="393" name="Google Shape;393;p18"/>
          <p:cNvSpPr/>
          <p:nvPr/>
        </p:nvSpPr>
        <p:spPr>
          <a:xfrm>
            <a:off x="571500" y="3911538"/>
            <a:ext cx="2286000" cy="350044"/>
          </a:xfrm>
          <a:prstGeom prst="rect">
            <a:avLst/>
          </a:prstGeom>
          <a:noFill/>
          <a:ln>
            <a:noFill/>
          </a:ln>
        </p:spPr>
        <p:txBody>
          <a:bodyPr anchorCtr="0" anchor="t" bIns="0" lIns="102100" spcFirstLastPara="1" rIns="0" wrap="square" tIns="0">
            <a:noAutofit/>
          </a:bodyPr>
          <a:lstStyle/>
          <a:p>
            <a:pPr indent="0" lvl="0" marL="0" marR="0" rtl="0" algn="l">
              <a:lnSpc>
                <a:spcPct val="127388"/>
              </a:lnSpc>
              <a:spcBef>
                <a:spcPts val="0"/>
              </a:spcBef>
              <a:spcAft>
                <a:spcPts val="0"/>
              </a:spcAft>
              <a:buClr>
                <a:srgbClr val="B0B8C1"/>
              </a:buClr>
              <a:buSzPts val="942"/>
              <a:buFont typeface="Calibri"/>
              <a:buNone/>
            </a:pPr>
            <a:r>
              <a:rPr b="0" i="0" lang="en-US" sz="942" u="none" cap="none" strike="noStrike">
                <a:solidFill>
                  <a:srgbClr val="B0B8C1"/>
                </a:solidFill>
                <a:latin typeface="Calibri"/>
                <a:ea typeface="Calibri"/>
                <a:cs typeface="Calibri"/>
                <a:sym typeface="Calibri"/>
              </a:rPr>
              <a:t>Apache Beam/Spark for complex transformations</a:t>
            </a:r>
            <a:endParaRPr b="0" i="0" sz="942" u="none" cap="none" strike="noStrike">
              <a:solidFill>
                <a:schemeClr val="dk1"/>
              </a:solidFill>
              <a:latin typeface="Calibri"/>
              <a:ea typeface="Calibri"/>
              <a:cs typeface="Calibri"/>
              <a:sym typeface="Calibri"/>
            </a:endParaRPr>
          </a:p>
        </p:txBody>
      </p:sp>
      <p:sp>
        <p:nvSpPr>
          <p:cNvPr id="394" name="Google Shape;394;p18"/>
          <p:cNvSpPr/>
          <p:nvPr/>
        </p:nvSpPr>
        <p:spPr>
          <a:xfrm>
            <a:off x="3286125" y="1394817"/>
            <a:ext cx="2571750" cy="3320058"/>
          </a:xfrm>
          <a:prstGeom prst="rect">
            <a:avLst/>
          </a:prstGeom>
          <a:solidFill>
            <a:srgbClr val="FFFFFF">
              <a:alpha val="274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18"/>
          <p:cNvSpPr/>
          <p:nvPr/>
        </p:nvSpPr>
        <p:spPr>
          <a:xfrm>
            <a:off x="3286125" y="1394817"/>
            <a:ext cx="2571750" cy="42863"/>
          </a:xfrm>
          <a:prstGeom prst="rect">
            <a:avLst/>
          </a:prstGeom>
          <a:solidFill>
            <a:srgbClr val="9D4E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18"/>
          <p:cNvSpPr/>
          <p:nvPr/>
        </p:nvSpPr>
        <p:spPr>
          <a:xfrm>
            <a:off x="3429000" y="1537692"/>
            <a:ext cx="2286000" cy="220005"/>
          </a:xfrm>
          <a:prstGeom prst="rect">
            <a:avLst/>
          </a:prstGeom>
          <a:noFill/>
          <a:ln>
            <a:noFill/>
          </a:ln>
        </p:spPr>
        <p:txBody>
          <a:bodyPr anchorCtr="0" anchor="t" bIns="0" lIns="0" spcFirstLastPara="1" rIns="0" wrap="square" tIns="0">
            <a:noAutofit/>
          </a:bodyPr>
          <a:lstStyle/>
          <a:p>
            <a:pPr indent="0" lvl="0" marL="0" marR="0" rtl="0" algn="l">
              <a:lnSpc>
                <a:spcPct val="121689"/>
              </a:lnSpc>
              <a:spcBef>
                <a:spcPts val="0"/>
              </a:spcBef>
              <a:spcAft>
                <a:spcPts val="0"/>
              </a:spcAft>
              <a:buClr>
                <a:srgbClr val="9D4EDD"/>
              </a:buClr>
              <a:buSzPts val="1397"/>
              <a:buFont typeface="Calibri"/>
              <a:buNone/>
            </a:pPr>
            <a:r>
              <a:rPr b="1" i="0" lang="en-US" sz="1397" u="none" cap="none" strike="noStrike">
                <a:solidFill>
                  <a:srgbClr val="9D4EDD"/>
                </a:solidFill>
                <a:latin typeface="Calibri"/>
                <a:ea typeface="Calibri"/>
                <a:cs typeface="Calibri"/>
                <a:sym typeface="Calibri"/>
              </a:rPr>
              <a:t>Versioning &amp; Evolution</a:t>
            </a:r>
            <a:endParaRPr b="0" i="0" sz="1397" u="none" cap="none" strike="noStrike">
              <a:solidFill>
                <a:schemeClr val="dk1"/>
              </a:solidFill>
              <a:latin typeface="Calibri"/>
              <a:ea typeface="Calibri"/>
              <a:cs typeface="Calibri"/>
              <a:sym typeface="Calibri"/>
            </a:endParaRPr>
          </a:p>
        </p:txBody>
      </p:sp>
      <p:sp>
        <p:nvSpPr>
          <p:cNvPr id="397" name="Google Shape;397;p18"/>
          <p:cNvSpPr/>
          <p:nvPr/>
        </p:nvSpPr>
        <p:spPr>
          <a:xfrm>
            <a:off x="3429000" y="1843422"/>
            <a:ext cx="2286000" cy="155377"/>
          </a:xfrm>
          <a:prstGeom prst="rect">
            <a:avLst/>
          </a:prstGeom>
          <a:noFill/>
          <a:ln>
            <a:noFill/>
          </a:ln>
        </p:spPr>
        <p:txBody>
          <a:bodyPr anchorCtr="0" anchor="t" bIns="0" lIns="0" spcFirstLastPara="1" rIns="0" wrap="square" tIns="0">
            <a:noAutofit/>
          </a:bodyPr>
          <a:lstStyle/>
          <a:p>
            <a:pPr indent="0" lvl="0" marL="0" marR="0" rtl="0" algn="l">
              <a:lnSpc>
                <a:spcPct val="140306"/>
              </a:lnSpc>
              <a:spcBef>
                <a:spcPts val="0"/>
              </a:spcBef>
              <a:spcAft>
                <a:spcPts val="0"/>
              </a:spcAft>
              <a:buClr>
                <a:srgbClr val="9D4EDD"/>
              </a:buClr>
              <a:buSzPts val="784"/>
              <a:buFont typeface="Calibri"/>
              <a:buNone/>
            </a:pPr>
            <a:r>
              <a:rPr b="1" i="0" lang="en-US" sz="784" u="none" cap="none" strike="noStrike">
                <a:solidFill>
                  <a:srgbClr val="9D4EDD"/>
                </a:solidFill>
                <a:latin typeface="Calibri"/>
                <a:ea typeface="Calibri"/>
                <a:cs typeface="Calibri"/>
                <a:sym typeface="Calibri"/>
              </a:rPr>
              <a:t>Living Standard</a:t>
            </a:r>
            <a:endParaRPr b="0" i="0" sz="784" u="none" cap="none" strike="noStrike">
              <a:solidFill>
                <a:schemeClr val="dk1"/>
              </a:solidFill>
              <a:latin typeface="Calibri"/>
              <a:ea typeface="Calibri"/>
              <a:cs typeface="Calibri"/>
              <a:sym typeface="Calibri"/>
            </a:endParaRPr>
          </a:p>
        </p:txBody>
      </p:sp>
      <p:sp>
        <p:nvSpPr>
          <p:cNvPr id="398" name="Google Shape;398;p18"/>
          <p:cNvSpPr/>
          <p:nvPr/>
        </p:nvSpPr>
        <p:spPr>
          <a:xfrm>
            <a:off x="3429000" y="2055949"/>
            <a:ext cx="2286000" cy="578644"/>
          </a:xfrm>
          <a:prstGeom prst="rect">
            <a:avLst/>
          </a:prstGeom>
          <a:noFill/>
          <a:ln>
            <a:noFill/>
          </a:ln>
        </p:spPr>
        <p:txBody>
          <a:bodyPr anchorCtr="0" anchor="t" bIns="0" lIns="0" spcFirstLastPara="1" rIns="0" wrap="square" tIns="0">
            <a:noAutofit/>
          </a:bodyPr>
          <a:lstStyle/>
          <a:p>
            <a:pPr indent="0" lvl="0" marL="0" marR="0" rtl="0" algn="l">
              <a:lnSpc>
                <a:spcPct val="159235"/>
              </a:lnSpc>
              <a:spcBef>
                <a:spcPts val="0"/>
              </a:spcBef>
              <a:spcAft>
                <a:spcPts val="0"/>
              </a:spcAft>
              <a:buClr>
                <a:srgbClr val="FFFFFF"/>
              </a:buClr>
              <a:buSzPts val="942"/>
              <a:buFont typeface="Calibri"/>
              <a:buNone/>
            </a:pPr>
            <a:r>
              <a:rPr b="0" i="0" lang="en-US" sz="942" u="none" cap="none" strike="noStrike">
                <a:solidFill>
                  <a:srgbClr val="FFFFFF"/>
                </a:solidFill>
                <a:latin typeface="Calibri"/>
                <a:ea typeface="Calibri"/>
                <a:cs typeface="Calibri"/>
                <a:sym typeface="Calibri"/>
              </a:rPr>
              <a:t>OCSF is actively maintained by the community. New event classes and attributes are added regularly.</a:t>
            </a:r>
            <a:endParaRPr b="0" i="0" sz="942" u="none" cap="none" strike="noStrike">
              <a:solidFill>
                <a:schemeClr val="dk1"/>
              </a:solidFill>
              <a:latin typeface="Calibri"/>
              <a:ea typeface="Calibri"/>
              <a:cs typeface="Calibri"/>
              <a:sym typeface="Calibri"/>
            </a:endParaRPr>
          </a:p>
        </p:txBody>
      </p:sp>
      <p:sp>
        <p:nvSpPr>
          <p:cNvPr id="399" name="Google Shape;399;p18"/>
          <p:cNvSpPr/>
          <p:nvPr/>
        </p:nvSpPr>
        <p:spPr>
          <a:xfrm>
            <a:off x="3429000" y="2720318"/>
            <a:ext cx="2286000" cy="155377"/>
          </a:xfrm>
          <a:prstGeom prst="rect">
            <a:avLst/>
          </a:prstGeom>
          <a:noFill/>
          <a:ln>
            <a:noFill/>
          </a:ln>
        </p:spPr>
        <p:txBody>
          <a:bodyPr anchorCtr="0" anchor="t" bIns="0" lIns="0" spcFirstLastPara="1" rIns="0" wrap="square" tIns="0">
            <a:noAutofit/>
          </a:bodyPr>
          <a:lstStyle/>
          <a:p>
            <a:pPr indent="0" lvl="0" marL="0" marR="0" rtl="0" algn="l">
              <a:lnSpc>
                <a:spcPct val="140306"/>
              </a:lnSpc>
              <a:spcBef>
                <a:spcPts val="0"/>
              </a:spcBef>
              <a:spcAft>
                <a:spcPts val="0"/>
              </a:spcAft>
              <a:buClr>
                <a:srgbClr val="9D4EDD"/>
              </a:buClr>
              <a:buSzPts val="784"/>
              <a:buFont typeface="Calibri"/>
              <a:buNone/>
            </a:pPr>
            <a:r>
              <a:rPr b="1" i="0" lang="en-US" sz="784" u="none" cap="none" strike="noStrike">
                <a:solidFill>
                  <a:srgbClr val="9D4EDD"/>
                </a:solidFill>
                <a:latin typeface="Calibri"/>
                <a:ea typeface="Calibri"/>
                <a:cs typeface="Calibri"/>
                <a:sym typeface="Calibri"/>
              </a:rPr>
              <a:t>Key Considerations</a:t>
            </a:r>
            <a:endParaRPr b="0" i="0" sz="784" u="none" cap="none" strike="noStrike">
              <a:solidFill>
                <a:schemeClr val="dk1"/>
              </a:solidFill>
              <a:latin typeface="Calibri"/>
              <a:ea typeface="Calibri"/>
              <a:cs typeface="Calibri"/>
              <a:sym typeface="Calibri"/>
            </a:endParaRPr>
          </a:p>
        </p:txBody>
      </p:sp>
      <p:sp>
        <p:nvSpPr>
          <p:cNvPr id="400" name="Google Shape;400;p18"/>
          <p:cNvSpPr/>
          <p:nvPr/>
        </p:nvSpPr>
        <p:spPr>
          <a:xfrm>
            <a:off x="3429000" y="2932844"/>
            <a:ext cx="2286000" cy="175022"/>
          </a:xfrm>
          <a:prstGeom prst="rect">
            <a:avLst/>
          </a:prstGeom>
          <a:noFill/>
          <a:ln>
            <a:noFill/>
          </a:ln>
        </p:spPr>
        <p:txBody>
          <a:bodyPr anchorCtr="0" anchor="t" bIns="0" lIns="102100" spcFirstLastPara="1" rIns="0" wrap="square" tIns="0">
            <a:noAutofit/>
          </a:bodyPr>
          <a:lstStyle/>
          <a:p>
            <a:pPr indent="0" lvl="0" marL="0" marR="0" rtl="0" algn="l">
              <a:lnSpc>
                <a:spcPct val="127388"/>
              </a:lnSpc>
              <a:spcBef>
                <a:spcPts val="0"/>
              </a:spcBef>
              <a:spcAft>
                <a:spcPts val="0"/>
              </a:spcAft>
              <a:buClr>
                <a:srgbClr val="B0B8C1"/>
              </a:buClr>
              <a:buSzPts val="942"/>
              <a:buFont typeface="Calibri"/>
              <a:buNone/>
            </a:pPr>
            <a:r>
              <a:rPr b="0" i="0" lang="en-US" sz="942" u="none" cap="none" strike="noStrike">
                <a:solidFill>
                  <a:srgbClr val="B0B8C1"/>
                </a:solidFill>
                <a:latin typeface="Calibri"/>
                <a:ea typeface="Calibri"/>
                <a:cs typeface="Calibri"/>
                <a:sym typeface="Calibri"/>
              </a:rPr>
              <a:t>Maintain backward compatibility</a:t>
            </a:r>
            <a:endParaRPr b="0" i="0" sz="942" u="none" cap="none" strike="noStrike">
              <a:solidFill>
                <a:schemeClr val="dk1"/>
              </a:solidFill>
              <a:latin typeface="Calibri"/>
              <a:ea typeface="Calibri"/>
              <a:cs typeface="Calibri"/>
              <a:sym typeface="Calibri"/>
            </a:endParaRPr>
          </a:p>
        </p:txBody>
      </p:sp>
      <p:sp>
        <p:nvSpPr>
          <p:cNvPr id="401" name="Google Shape;401;p18"/>
          <p:cNvSpPr/>
          <p:nvPr/>
        </p:nvSpPr>
        <p:spPr>
          <a:xfrm>
            <a:off x="3429000" y="3150729"/>
            <a:ext cx="2286000" cy="350044"/>
          </a:xfrm>
          <a:prstGeom prst="rect">
            <a:avLst/>
          </a:prstGeom>
          <a:noFill/>
          <a:ln>
            <a:noFill/>
          </a:ln>
        </p:spPr>
        <p:txBody>
          <a:bodyPr anchorCtr="0" anchor="t" bIns="0" lIns="102100" spcFirstLastPara="1" rIns="0" wrap="square" tIns="0">
            <a:noAutofit/>
          </a:bodyPr>
          <a:lstStyle/>
          <a:p>
            <a:pPr indent="0" lvl="0" marL="0" marR="0" rtl="0" algn="l">
              <a:lnSpc>
                <a:spcPct val="127388"/>
              </a:lnSpc>
              <a:spcBef>
                <a:spcPts val="0"/>
              </a:spcBef>
              <a:spcAft>
                <a:spcPts val="0"/>
              </a:spcAft>
              <a:buClr>
                <a:srgbClr val="B0B8C1"/>
              </a:buClr>
              <a:buSzPts val="942"/>
              <a:buFont typeface="Calibri"/>
              <a:buNone/>
            </a:pPr>
            <a:r>
              <a:rPr b="0" i="0" lang="en-US" sz="942" u="none" cap="none" strike="noStrike">
                <a:solidFill>
                  <a:srgbClr val="B0B8C1"/>
                </a:solidFill>
                <a:latin typeface="Calibri"/>
                <a:ea typeface="Calibri"/>
                <a:cs typeface="Calibri"/>
                <a:sym typeface="Calibri"/>
              </a:rPr>
              <a:t>Use schema registry to track versions</a:t>
            </a:r>
            <a:endParaRPr b="0" i="0" sz="942" u="none" cap="none" strike="noStrike">
              <a:solidFill>
                <a:schemeClr val="dk1"/>
              </a:solidFill>
              <a:latin typeface="Calibri"/>
              <a:ea typeface="Calibri"/>
              <a:cs typeface="Calibri"/>
              <a:sym typeface="Calibri"/>
            </a:endParaRPr>
          </a:p>
        </p:txBody>
      </p:sp>
      <p:sp>
        <p:nvSpPr>
          <p:cNvPr id="402" name="Google Shape;402;p18"/>
          <p:cNvSpPr/>
          <p:nvPr/>
        </p:nvSpPr>
        <p:spPr>
          <a:xfrm>
            <a:off x="3429000" y="3543635"/>
            <a:ext cx="2286000" cy="350044"/>
          </a:xfrm>
          <a:prstGeom prst="rect">
            <a:avLst/>
          </a:prstGeom>
          <a:noFill/>
          <a:ln>
            <a:noFill/>
          </a:ln>
        </p:spPr>
        <p:txBody>
          <a:bodyPr anchorCtr="0" anchor="t" bIns="0" lIns="102100" spcFirstLastPara="1" rIns="0" wrap="square" tIns="0">
            <a:noAutofit/>
          </a:bodyPr>
          <a:lstStyle/>
          <a:p>
            <a:pPr indent="0" lvl="0" marL="0" marR="0" rtl="0" algn="l">
              <a:lnSpc>
                <a:spcPct val="127388"/>
              </a:lnSpc>
              <a:spcBef>
                <a:spcPts val="0"/>
              </a:spcBef>
              <a:spcAft>
                <a:spcPts val="0"/>
              </a:spcAft>
              <a:buClr>
                <a:srgbClr val="B0B8C1"/>
              </a:buClr>
              <a:buSzPts val="942"/>
              <a:buFont typeface="Calibri"/>
              <a:buNone/>
            </a:pPr>
            <a:r>
              <a:rPr b="0" i="0" lang="en-US" sz="942" u="none" cap="none" strike="noStrike">
                <a:solidFill>
                  <a:srgbClr val="B0B8C1"/>
                </a:solidFill>
                <a:latin typeface="Calibri"/>
                <a:ea typeface="Calibri"/>
                <a:cs typeface="Calibri"/>
                <a:sym typeface="Calibri"/>
              </a:rPr>
              <a:t>Test transformations against new releases</a:t>
            </a:r>
            <a:endParaRPr b="0" i="0" sz="942" u="none" cap="none" strike="noStrike">
              <a:solidFill>
                <a:schemeClr val="dk1"/>
              </a:solidFill>
              <a:latin typeface="Calibri"/>
              <a:ea typeface="Calibri"/>
              <a:cs typeface="Calibri"/>
              <a:sym typeface="Calibri"/>
            </a:endParaRPr>
          </a:p>
        </p:txBody>
      </p:sp>
      <p:sp>
        <p:nvSpPr>
          <p:cNvPr id="403" name="Google Shape;403;p18"/>
          <p:cNvSpPr/>
          <p:nvPr/>
        </p:nvSpPr>
        <p:spPr>
          <a:xfrm>
            <a:off x="6143625" y="1394817"/>
            <a:ext cx="2571750" cy="3320058"/>
          </a:xfrm>
          <a:prstGeom prst="rect">
            <a:avLst/>
          </a:prstGeom>
          <a:solidFill>
            <a:srgbClr val="FFFFFF">
              <a:alpha val="274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18"/>
          <p:cNvSpPr/>
          <p:nvPr/>
        </p:nvSpPr>
        <p:spPr>
          <a:xfrm>
            <a:off x="6143625" y="1394817"/>
            <a:ext cx="2571750" cy="42863"/>
          </a:xfrm>
          <a:prstGeom prst="rect">
            <a:avLst/>
          </a:prstGeom>
          <a:solidFill>
            <a:srgbClr val="FFD7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18"/>
          <p:cNvSpPr/>
          <p:nvPr/>
        </p:nvSpPr>
        <p:spPr>
          <a:xfrm>
            <a:off x="6286500" y="1537692"/>
            <a:ext cx="2286000" cy="440010"/>
          </a:xfrm>
          <a:prstGeom prst="rect">
            <a:avLst/>
          </a:prstGeom>
          <a:noFill/>
          <a:ln>
            <a:noFill/>
          </a:ln>
        </p:spPr>
        <p:txBody>
          <a:bodyPr anchorCtr="0" anchor="t" bIns="0" lIns="0" spcFirstLastPara="1" rIns="0" wrap="square" tIns="0">
            <a:noAutofit/>
          </a:bodyPr>
          <a:lstStyle/>
          <a:p>
            <a:pPr indent="0" lvl="0" marL="0" marR="0" rtl="0" algn="l">
              <a:lnSpc>
                <a:spcPct val="121689"/>
              </a:lnSpc>
              <a:spcBef>
                <a:spcPts val="0"/>
              </a:spcBef>
              <a:spcAft>
                <a:spcPts val="0"/>
              </a:spcAft>
              <a:buClr>
                <a:srgbClr val="FFD700"/>
              </a:buClr>
              <a:buSzPts val="1397"/>
              <a:buFont typeface="Calibri"/>
              <a:buNone/>
            </a:pPr>
            <a:r>
              <a:rPr b="1" i="0" lang="en-US" sz="1397" u="none" cap="none" strike="noStrike">
                <a:solidFill>
                  <a:srgbClr val="FFD700"/>
                </a:solidFill>
                <a:latin typeface="Calibri"/>
                <a:ea typeface="Calibri"/>
                <a:cs typeface="Calibri"/>
                <a:sym typeface="Calibri"/>
              </a:rPr>
              <a:t>Governance &amp; Compliance</a:t>
            </a:r>
            <a:endParaRPr b="0" i="0" sz="1397" u="none" cap="none" strike="noStrike">
              <a:solidFill>
                <a:schemeClr val="dk1"/>
              </a:solidFill>
              <a:latin typeface="Calibri"/>
              <a:ea typeface="Calibri"/>
              <a:cs typeface="Calibri"/>
              <a:sym typeface="Calibri"/>
            </a:endParaRPr>
          </a:p>
        </p:txBody>
      </p:sp>
      <p:sp>
        <p:nvSpPr>
          <p:cNvPr id="406" name="Google Shape;406;p18"/>
          <p:cNvSpPr/>
          <p:nvPr/>
        </p:nvSpPr>
        <p:spPr>
          <a:xfrm>
            <a:off x="6286500" y="2063428"/>
            <a:ext cx="2286000" cy="155377"/>
          </a:xfrm>
          <a:prstGeom prst="rect">
            <a:avLst/>
          </a:prstGeom>
          <a:noFill/>
          <a:ln>
            <a:noFill/>
          </a:ln>
        </p:spPr>
        <p:txBody>
          <a:bodyPr anchorCtr="0" anchor="t" bIns="0" lIns="0" spcFirstLastPara="1" rIns="0" wrap="square" tIns="0">
            <a:noAutofit/>
          </a:bodyPr>
          <a:lstStyle/>
          <a:p>
            <a:pPr indent="0" lvl="0" marL="0" marR="0" rtl="0" algn="l">
              <a:lnSpc>
                <a:spcPct val="140306"/>
              </a:lnSpc>
              <a:spcBef>
                <a:spcPts val="0"/>
              </a:spcBef>
              <a:spcAft>
                <a:spcPts val="0"/>
              </a:spcAft>
              <a:buClr>
                <a:srgbClr val="FFD700"/>
              </a:buClr>
              <a:buSzPts val="784"/>
              <a:buFont typeface="Calibri"/>
              <a:buNone/>
            </a:pPr>
            <a:r>
              <a:rPr b="1" i="0" lang="en-US" sz="784" u="none" cap="none" strike="noStrike">
                <a:solidFill>
                  <a:srgbClr val="FFD700"/>
                </a:solidFill>
                <a:latin typeface="Calibri"/>
                <a:ea typeface="Calibri"/>
                <a:cs typeface="Calibri"/>
                <a:sym typeface="Calibri"/>
              </a:rPr>
              <a:t>Data Ownership</a:t>
            </a:r>
            <a:endParaRPr b="0" i="0" sz="784" u="none" cap="none" strike="noStrike">
              <a:solidFill>
                <a:schemeClr val="dk1"/>
              </a:solidFill>
              <a:latin typeface="Calibri"/>
              <a:ea typeface="Calibri"/>
              <a:cs typeface="Calibri"/>
              <a:sym typeface="Calibri"/>
            </a:endParaRPr>
          </a:p>
        </p:txBody>
      </p:sp>
      <p:sp>
        <p:nvSpPr>
          <p:cNvPr id="407" name="Google Shape;407;p18"/>
          <p:cNvSpPr/>
          <p:nvPr/>
        </p:nvSpPr>
        <p:spPr>
          <a:xfrm>
            <a:off x="6286500" y="2275954"/>
            <a:ext cx="2286000" cy="771525"/>
          </a:xfrm>
          <a:prstGeom prst="rect">
            <a:avLst/>
          </a:prstGeom>
          <a:noFill/>
          <a:ln>
            <a:noFill/>
          </a:ln>
        </p:spPr>
        <p:txBody>
          <a:bodyPr anchorCtr="0" anchor="t" bIns="0" lIns="0" spcFirstLastPara="1" rIns="0" wrap="square" tIns="0">
            <a:noAutofit/>
          </a:bodyPr>
          <a:lstStyle/>
          <a:p>
            <a:pPr indent="0" lvl="0" marL="0" marR="0" rtl="0" algn="l">
              <a:lnSpc>
                <a:spcPct val="159235"/>
              </a:lnSpc>
              <a:spcBef>
                <a:spcPts val="0"/>
              </a:spcBef>
              <a:spcAft>
                <a:spcPts val="0"/>
              </a:spcAft>
              <a:buClr>
                <a:srgbClr val="FFFFFF"/>
              </a:buClr>
              <a:buSzPts val="942"/>
              <a:buFont typeface="Calibri"/>
              <a:buNone/>
            </a:pPr>
            <a:r>
              <a:rPr b="0" i="0" lang="en-US" sz="942" u="none" cap="none" strike="noStrike">
                <a:solidFill>
                  <a:srgbClr val="FFFFFF"/>
                </a:solidFill>
                <a:latin typeface="Calibri"/>
                <a:ea typeface="Calibri"/>
                <a:cs typeface="Calibri"/>
                <a:sym typeface="Calibri"/>
              </a:rPr>
              <a:t>OCSF normalizes data but does not change ownership or access controls. Align Security Lake policies with compliance requirements.</a:t>
            </a:r>
            <a:endParaRPr b="0" i="0" sz="942" u="none" cap="none" strike="noStrike">
              <a:solidFill>
                <a:schemeClr val="dk1"/>
              </a:solidFill>
              <a:latin typeface="Calibri"/>
              <a:ea typeface="Calibri"/>
              <a:cs typeface="Calibri"/>
              <a:sym typeface="Calibri"/>
            </a:endParaRPr>
          </a:p>
        </p:txBody>
      </p:sp>
      <p:sp>
        <p:nvSpPr>
          <p:cNvPr id="408" name="Google Shape;408;p18"/>
          <p:cNvSpPr/>
          <p:nvPr/>
        </p:nvSpPr>
        <p:spPr>
          <a:xfrm>
            <a:off x="6286500" y="3133204"/>
            <a:ext cx="2286000" cy="155377"/>
          </a:xfrm>
          <a:prstGeom prst="rect">
            <a:avLst/>
          </a:prstGeom>
          <a:noFill/>
          <a:ln>
            <a:noFill/>
          </a:ln>
        </p:spPr>
        <p:txBody>
          <a:bodyPr anchorCtr="0" anchor="t" bIns="0" lIns="0" spcFirstLastPara="1" rIns="0" wrap="square" tIns="0">
            <a:noAutofit/>
          </a:bodyPr>
          <a:lstStyle/>
          <a:p>
            <a:pPr indent="0" lvl="0" marL="0" marR="0" rtl="0" algn="l">
              <a:lnSpc>
                <a:spcPct val="140306"/>
              </a:lnSpc>
              <a:spcBef>
                <a:spcPts val="0"/>
              </a:spcBef>
              <a:spcAft>
                <a:spcPts val="0"/>
              </a:spcAft>
              <a:buClr>
                <a:srgbClr val="FFD700"/>
              </a:buClr>
              <a:buSzPts val="784"/>
              <a:buFont typeface="Calibri"/>
              <a:buNone/>
            </a:pPr>
            <a:r>
              <a:rPr b="1" i="0" lang="en-US" sz="784" u="none" cap="none" strike="noStrike">
                <a:solidFill>
                  <a:srgbClr val="FFD700"/>
                </a:solidFill>
                <a:latin typeface="Calibri"/>
                <a:ea typeface="Calibri"/>
                <a:cs typeface="Calibri"/>
                <a:sym typeface="Calibri"/>
              </a:rPr>
              <a:t>Audit Trail</a:t>
            </a:r>
            <a:endParaRPr b="0" i="0" sz="784" u="none" cap="none" strike="noStrike">
              <a:solidFill>
                <a:schemeClr val="dk1"/>
              </a:solidFill>
              <a:latin typeface="Calibri"/>
              <a:ea typeface="Calibri"/>
              <a:cs typeface="Calibri"/>
              <a:sym typeface="Calibri"/>
            </a:endParaRPr>
          </a:p>
        </p:txBody>
      </p:sp>
      <p:sp>
        <p:nvSpPr>
          <p:cNvPr id="409" name="Google Shape;409;p18"/>
          <p:cNvSpPr/>
          <p:nvPr/>
        </p:nvSpPr>
        <p:spPr>
          <a:xfrm>
            <a:off x="6286500" y="3345731"/>
            <a:ext cx="2286000" cy="771525"/>
          </a:xfrm>
          <a:prstGeom prst="rect">
            <a:avLst/>
          </a:prstGeom>
          <a:noFill/>
          <a:ln>
            <a:noFill/>
          </a:ln>
        </p:spPr>
        <p:txBody>
          <a:bodyPr anchorCtr="0" anchor="t" bIns="0" lIns="0" spcFirstLastPara="1" rIns="0" wrap="square" tIns="0">
            <a:noAutofit/>
          </a:bodyPr>
          <a:lstStyle/>
          <a:p>
            <a:pPr indent="0" lvl="0" marL="0" marR="0" rtl="0" algn="l">
              <a:lnSpc>
                <a:spcPct val="159235"/>
              </a:lnSpc>
              <a:spcBef>
                <a:spcPts val="0"/>
              </a:spcBef>
              <a:spcAft>
                <a:spcPts val="0"/>
              </a:spcAft>
              <a:buClr>
                <a:srgbClr val="FFFFFF"/>
              </a:buClr>
              <a:buSzPts val="942"/>
              <a:buFont typeface="Calibri"/>
              <a:buNone/>
            </a:pPr>
            <a:r>
              <a:rPr b="0" i="0" lang="en-US" sz="942" u="none" cap="none" strike="noStrike">
                <a:solidFill>
                  <a:srgbClr val="FFFFFF"/>
                </a:solidFill>
                <a:latin typeface="Calibri"/>
                <a:ea typeface="Calibri"/>
                <a:cs typeface="Calibri"/>
                <a:sym typeface="Calibri"/>
              </a:rPr>
              <a:t>Maintain an audit trail of all transformations applied to raw data. Critical for forensic investigations and compliance audits.</a:t>
            </a:r>
            <a:endParaRPr b="0" i="0" sz="942"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pic>
        <p:nvPicPr>
          <p:cNvPr descr="preencoded.png" id="415" name="Google Shape;415;p19"/>
          <p:cNvPicPr preferRelativeResize="0"/>
          <p:nvPr/>
        </p:nvPicPr>
        <p:blipFill rotWithShape="1">
          <a:blip r:embed="rId3">
            <a:alphaModFix/>
          </a:blip>
          <a:srcRect b="0" l="0" r="0" t="0"/>
          <a:stretch/>
        </p:blipFill>
        <p:spPr>
          <a:xfrm>
            <a:off x="0" y="0"/>
            <a:ext cx="9144000" cy="5329126"/>
          </a:xfrm>
          <a:prstGeom prst="rect">
            <a:avLst/>
          </a:prstGeom>
          <a:noFill/>
          <a:ln>
            <a:noFill/>
          </a:ln>
        </p:spPr>
      </p:pic>
      <p:sp>
        <p:nvSpPr>
          <p:cNvPr id="416" name="Google Shape;416;p19"/>
          <p:cNvSpPr/>
          <p:nvPr/>
        </p:nvSpPr>
        <p:spPr>
          <a:xfrm>
            <a:off x="428625" y="428625"/>
            <a:ext cx="8286750" cy="1046559"/>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19"/>
          <p:cNvSpPr/>
          <p:nvPr/>
        </p:nvSpPr>
        <p:spPr>
          <a:xfrm>
            <a:off x="428625" y="1460897"/>
            <a:ext cx="8286750" cy="14288"/>
          </a:xfrm>
          <a:prstGeom prst="rect">
            <a:avLst/>
          </a:prstGeom>
          <a:solidFill>
            <a:srgbClr val="00D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19"/>
          <p:cNvSpPr/>
          <p:nvPr/>
        </p:nvSpPr>
        <p:spPr>
          <a:xfrm>
            <a:off x="428625" y="428625"/>
            <a:ext cx="8286750" cy="932259"/>
          </a:xfrm>
          <a:prstGeom prst="rect">
            <a:avLst/>
          </a:prstGeom>
          <a:noFill/>
          <a:ln>
            <a:noFill/>
          </a:ln>
        </p:spPr>
        <p:txBody>
          <a:bodyPr anchorCtr="0" anchor="t" bIns="0" lIns="0" spcFirstLastPara="1" rIns="0" wrap="square" tIns="0">
            <a:noAutofit/>
          </a:bodyPr>
          <a:lstStyle/>
          <a:p>
            <a:pPr indent="0" lvl="0" marL="0" marR="0" rtl="0" algn="l">
              <a:lnSpc>
                <a:spcPct val="131362"/>
              </a:lnSpc>
              <a:spcBef>
                <a:spcPts val="0"/>
              </a:spcBef>
              <a:spcAft>
                <a:spcPts val="0"/>
              </a:spcAft>
              <a:buClr>
                <a:srgbClr val="00D9FF"/>
              </a:buClr>
              <a:buSzPts val="2436"/>
              <a:buFont typeface="Calibri"/>
              <a:buNone/>
            </a:pPr>
            <a:r>
              <a:rPr b="1" i="0" lang="en-US" sz="2436" u="none" cap="none" strike="noStrike">
                <a:solidFill>
                  <a:srgbClr val="00D9FF"/>
                </a:solidFill>
                <a:latin typeface="Calibri"/>
                <a:ea typeface="Calibri"/>
                <a:cs typeface="Calibri"/>
                <a:sym typeface="Calibri"/>
              </a:rPr>
              <a:t>Appendix: AWS Security Lake - Architecture Deep Dive</a:t>
            </a:r>
            <a:endParaRPr b="0" i="0" sz="2436" u="none" cap="none" strike="noStrike">
              <a:solidFill>
                <a:schemeClr val="dk1"/>
              </a:solidFill>
              <a:latin typeface="Calibri"/>
              <a:ea typeface="Calibri"/>
              <a:cs typeface="Calibri"/>
              <a:sym typeface="Calibri"/>
            </a:endParaRPr>
          </a:p>
        </p:txBody>
      </p:sp>
      <p:sp>
        <p:nvSpPr>
          <p:cNvPr id="419" name="Google Shape;419;p19"/>
          <p:cNvSpPr/>
          <p:nvPr/>
        </p:nvSpPr>
        <p:spPr>
          <a:xfrm>
            <a:off x="428625" y="1603772"/>
            <a:ext cx="4057650" cy="1765511"/>
          </a:xfrm>
          <a:prstGeom prst="rect">
            <a:avLst/>
          </a:prstGeom>
          <a:solidFill>
            <a:srgbClr val="FFFFFF">
              <a:alpha val="274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19"/>
          <p:cNvSpPr/>
          <p:nvPr/>
        </p:nvSpPr>
        <p:spPr>
          <a:xfrm>
            <a:off x="428625" y="1603772"/>
            <a:ext cx="42863" cy="1765511"/>
          </a:xfrm>
          <a:prstGeom prst="rect">
            <a:avLst/>
          </a:prstGeom>
          <a:solidFill>
            <a:srgbClr val="00D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19"/>
          <p:cNvSpPr/>
          <p:nvPr/>
        </p:nvSpPr>
        <p:spPr>
          <a:xfrm>
            <a:off x="571500" y="1732359"/>
            <a:ext cx="3771900" cy="248245"/>
          </a:xfrm>
          <a:prstGeom prst="rect">
            <a:avLst/>
          </a:prstGeom>
          <a:noFill/>
          <a:ln>
            <a:noFill/>
          </a:ln>
        </p:spPr>
        <p:txBody>
          <a:bodyPr anchorCtr="0" anchor="t" bIns="0" lIns="0" spcFirstLastPara="1" rIns="0" wrap="square" tIns="17000">
            <a:noAutofit/>
          </a:bodyPr>
          <a:lstStyle/>
          <a:p>
            <a:pPr indent="0" lvl="0" marL="0" marR="0" rtl="0" algn="l">
              <a:lnSpc>
                <a:spcPct val="134115"/>
              </a:lnSpc>
              <a:spcBef>
                <a:spcPts val="0"/>
              </a:spcBef>
              <a:spcAft>
                <a:spcPts val="0"/>
              </a:spcAft>
              <a:buClr>
                <a:srgbClr val="00D9FF"/>
              </a:buClr>
              <a:buSzPts val="1193"/>
              <a:buFont typeface="Calibri"/>
              <a:buNone/>
            </a:pPr>
            <a:r>
              <a:rPr b="1" i="0" lang="en-US" sz="1193" u="none" cap="none" strike="noStrike">
                <a:solidFill>
                  <a:srgbClr val="00D9FF"/>
                </a:solidFill>
                <a:latin typeface="Calibri"/>
                <a:ea typeface="Calibri"/>
                <a:cs typeface="Calibri"/>
                <a:sym typeface="Calibri"/>
              </a:rPr>
              <a:t>Core Architecture Components</a:t>
            </a:r>
            <a:endParaRPr b="0" i="0" sz="1193" u="none" cap="none" strike="noStrike">
              <a:solidFill>
                <a:schemeClr val="dk1"/>
              </a:solidFill>
              <a:latin typeface="Calibri"/>
              <a:ea typeface="Calibri"/>
              <a:cs typeface="Calibri"/>
              <a:sym typeface="Calibri"/>
            </a:endParaRPr>
          </a:p>
        </p:txBody>
      </p:sp>
      <p:sp>
        <p:nvSpPr>
          <p:cNvPr id="422" name="Google Shape;422;p19"/>
          <p:cNvSpPr/>
          <p:nvPr/>
        </p:nvSpPr>
        <p:spPr>
          <a:xfrm>
            <a:off x="657225" y="2103834"/>
            <a:ext cx="1504736" cy="175022"/>
          </a:xfrm>
          <a:prstGeom prst="rect">
            <a:avLst/>
          </a:prstGeom>
          <a:noFill/>
          <a:ln>
            <a:noFill/>
          </a:ln>
        </p:spPr>
        <p:txBody>
          <a:bodyPr anchorCtr="0" anchor="t" bIns="0" lIns="0" spcFirstLastPara="1" rIns="0" wrap="square" tIns="0">
            <a:noAutofit/>
          </a:bodyPr>
          <a:lstStyle/>
          <a:p>
            <a:pPr indent="0" lvl="0" marL="0" marR="0" rtl="0" algn="l">
              <a:lnSpc>
                <a:spcPct val="146892"/>
              </a:lnSpc>
              <a:spcBef>
                <a:spcPts val="0"/>
              </a:spcBef>
              <a:spcAft>
                <a:spcPts val="0"/>
              </a:spcAft>
              <a:buClr>
                <a:srgbClr val="FFFFFF"/>
              </a:buClr>
              <a:buSzPts val="885"/>
              <a:buFont typeface="Calibri"/>
              <a:buNone/>
            </a:pPr>
            <a:r>
              <a:rPr b="1" i="0" lang="en-US" sz="885" u="none" cap="none" strike="noStrike">
                <a:solidFill>
                  <a:srgbClr val="FFFFFF"/>
                </a:solidFill>
                <a:latin typeface="Calibri"/>
                <a:ea typeface="Calibri"/>
                <a:cs typeface="Calibri"/>
                <a:sym typeface="Calibri"/>
              </a:rPr>
              <a:t>Amazon S3 Foundation:</a:t>
            </a:r>
            <a:endParaRPr b="0" i="0" sz="885" u="none" cap="none" strike="noStrike">
              <a:solidFill>
                <a:schemeClr val="dk1"/>
              </a:solidFill>
              <a:latin typeface="Calibri"/>
              <a:ea typeface="Calibri"/>
              <a:cs typeface="Calibri"/>
              <a:sym typeface="Calibri"/>
            </a:endParaRPr>
          </a:p>
        </p:txBody>
      </p:sp>
      <p:sp>
        <p:nvSpPr>
          <p:cNvPr id="423" name="Google Shape;423;p19"/>
          <p:cNvSpPr/>
          <p:nvPr/>
        </p:nvSpPr>
        <p:spPr>
          <a:xfrm>
            <a:off x="657225" y="2103834"/>
            <a:ext cx="3550695" cy="342174"/>
          </a:xfrm>
          <a:prstGeom prst="rect">
            <a:avLst/>
          </a:prstGeom>
          <a:noFill/>
          <a:ln>
            <a:noFill/>
          </a:ln>
        </p:spPr>
        <p:txBody>
          <a:bodyPr anchorCtr="0" anchor="t" bIns="0" lIns="0" spcFirstLastPara="1" rIns="0" wrap="square" tIns="0">
            <a:noAutofit/>
          </a:bodyPr>
          <a:lstStyle/>
          <a:p>
            <a:pPr indent="0" lvl="0" marL="0" marR="0" rtl="0" algn="l">
              <a:lnSpc>
                <a:spcPct val="138004"/>
              </a:lnSpc>
              <a:spcBef>
                <a:spcPts val="0"/>
              </a:spcBef>
              <a:spcAft>
                <a:spcPts val="0"/>
              </a:spcAft>
              <a:buClr>
                <a:srgbClr val="FFFFFF"/>
              </a:buClr>
              <a:buSzPts val="942"/>
              <a:buFont typeface="Calibri"/>
              <a:buNone/>
            </a:pPr>
            <a:r>
              <a:rPr b="0" i="0" lang="en-US" sz="942" u="none" cap="none" strike="noStrike">
                <a:solidFill>
                  <a:srgbClr val="FFFFFF"/>
                </a:solidFill>
                <a:latin typeface="Calibri"/>
                <a:ea typeface="Calibri"/>
                <a:cs typeface="Calibri"/>
                <a:sym typeface="Calibri"/>
              </a:rPr>
              <a:t>Uses S3 with Parquet, partitioned by date/source.</a:t>
            </a:r>
            <a:endParaRPr b="0" i="0" sz="942" u="none" cap="none" strike="noStrike">
              <a:solidFill>
                <a:schemeClr val="dk1"/>
              </a:solidFill>
              <a:latin typeface="Calibri"/>
              <a:ea typeface="Calibri"/>
              <a:cs typeface="Calibri"/>
              <a:sym typeface="Calibri"/>
            </a:endParaRPr>
          </a:p>
        </p:txBody>
      </p:sp>
      <p:sp>
        <p:nvSpPr>
          <p:cNvPr id="424" name="Google Shape;424;p19"/>
          <p:cNvSpPr/>
          <p:nvPr/>
        </p:nvSpPr>
        <p:spPr>
          <a:xfrm>
            <a:off x="657225" y="2481002"/>
            <a:ext cx="1254509" cy="175022"/>
          </a:xfrm>
          <a:prstGeom prst="rect">
            <a:avLst/>
          </a:prstGeom>
          <a:noFill/>
          <a:ln>
            <a:noFill/>
          </a:ln>
        </p:spPr>
        <p:txBody>
          <a:bodyPr anchorCtr="0" anchor="t" bIns="0" lIns="0" spcFirstLastPara="1" rIns="0" wrap="square" tIns="0">
            <a:noAutofit/>
          </a:bodyPr>
          <a:lstStyle/>
          <a:p>
            <a:pPr indent="0" lvl="0" marL="0" marR="0" rtl="0" algn="l">
              <a:lnSpc>
                <a:spcPct val="146892"/>
              </a:lnSpc>
              <a:spcBef>
                <a:spcPts val="0"/>
              </a:spcBef>
              <a:spcAft>
                <a:spcPts val="0"/>
              </a:spcAft>
              <a:buClr>
                <a:srgbClr val="FFFFFF"/>
              </a:buClr>
              <a:buSzPts val="885"/>
              <a:buFont typeface="Calibri"/>
              <a:buNone/>
            </a:pPr>
            <a:r>
              <a:rPr b="1" i="0" lang="en-US" sz="885" u="none" cap="none" strike="noStrike">
                <a:solidFill>
                  <a:srgbClr val="FFFFFF"/>
                </a:solidFill>
                <a:latin typeface="Calibri"/>
                <a:ea typeface="Calibri"/>
                <a:cs typeface="Calibri"/>
                <a:sym typeface="Calibri"/>
              </a:rPr>
              <a:t>AWS Organizations:</a:t>
            </a:r>
            <a:endParaRPr b="0" i="0" sz="885" u="none" cap="none" strike="noStrike">
              <a:solidFill>
                <a:schemeClr val="dk1"/>
              </a:solidFill>
              <a:latin typeface="Calibri"/>
              <a:ea typeface="Calibri"/>
              <a:cs typeface="Calibri"/>
              <a:sym typeface="Calibri"/>
            </a:endParaRPr>
          </a:p>
        </p:txBody>
      </p:sp>
      <p:sp>
        <p:nvSpPr>
          <p:cNvPr id="425" name="Google Shape;425;p19"/>
          <p:cNvSpPr/>
          <p:nvPr/>
        </p:nvSpPr>
        <p:spPr>
          <a:xfrm>
            <a:off x="657225" y="2481002"/>
            <a:ext cx="3685477" cy="342174"/>
          </a:xfrm>
          <a:prstGeom prst="rect">
            <a:avLst/>
          </a:prstGeom>
          <a:noFill/>
          <a:ln>
            <a:noFill/>
          </a:ln>
        </p:spPr>
        <p:txBody>
          <a:bodyPr anchorCtr="0" anchor="t" bIns="0" lIns="0" spcFirstLastPara="1" rIns="0" wrap="square" tIns="0">
            <a:noAutofit/>
          </a:bodyPr>
          <a:lstStyle/>
          <a:p>
            <a:pPr indent="0" lvl="0" marL="0" marR="0" rtl="0" algn="l">
              <a:lnSpc>
                <a:spcPct val="138004"/>
              </a:lnSpc>
              <a:spcBef>
                <a:spcPts val="0"/>
              </a:spcBef>
              <a:spcAft>
                <a:spcPts val="0"/>
              </a:spcAft>
              <a:buClr>
                <a:srgbClr val="FFFFFF"/>
              </a:buClr>
              <a:buSzPts val="942"/>
              <a:buFont typeface="Calibri"/>
              <a:buNone/>
            </a:pPr>
            <a:r>
              <a:rPr b="0" i="0" lang="en-US" sz="942" u="none" cap="none" strike="noStrike">
                <a:solidFill>
                  <a:srgbClr val="FFFFFF"/>
                </a:solidFill>
                <a:latin typeface="Calibri"/>
                <a:ea typeface="Calibri"/>
                <a:cs typeface="Calibri"/>
                <a:sym typeface="Calibri"/>
              </a:rPr>
              <a:t>Centralized, delegated admin model for multi-account setups.</a:t>
            </a:r>
            <a:endParaRPr b="0" i="0" sz="942" u="none" cap="none" strike="noStrike">
              <a:solidFill>
                <a:schemeClr val="dk1"/>
              </a:solidFill>
              <a:latin typeface="Calibri"/>
              <a:ea typeface="Calibri"/>
              <a:cs typeface="Calibri"/>
              <a:sym typeface="Calibri"/>
            </a:endParaRPr>
          </a:p>
        </p:txBody>
      </p:sp>
      <p:sp>
        <p:nvSpPr>
          <p:cNvPr id="426" name="Google Shape;426;p19"/>
          <p:cNvSpPr/>
          <p:nvPr/>
        </p:nvSpPr>
        <p:spPr>
          <a:xfrm>
            <a:off x="657225" y="2858170"/>
            <a:ext cx="833391" cy="175022"/>
          </a:xfrm>
          <a:prstGeom prst="rect">
            <a:avLst/>
          </a:prstGeom>
          <a:noFill/>
          <a:ln>
            <a:noFill/>
          </a:ln>
        </p:spPr>
        <p:txBody>
          <a:bodyPr anchorCtr="0" anchor="t" bIns="0" lIns="0" spcFirstLastPara="1" rIns="0" wrap="square" tIns="0">
            <a:noAutofit/>
          </a:bodyPr>
          <a:lstStyle/>
          <a:p>
            <a:pPr indent="0" lvl="0" marL="0" marR="0" rtl="0" algn="l">
              <a:lnSpc>
                <a:spcPct val="146892"/>
              </a:lnSpc>
              <a:spcBef>
                <a:spcPts val="0"/>
              </a:spcBef>
              <a:spcAft>
                <a:spcPts val="0"/>
              </a:spcAft>
              <a:buClr>
                <a:srgbClr val="FFFFFF"/>
              </a:buClr>
              <a:buSzPts val="885"/>
              <a:buFont typeface="Calibri"/>
              <a:buNone/>
            </a:pPr>
            <a:r>
              <a:rPr b="1" i="0" lang="en-US" sz="885" u="none" cap="none" strike="noStrike">
                <a:solidFill>
                  <a:srgbClr val="FFFFFF"/>
                </a:solidFill>
                <a:latin typeface="Calibri"/>
                <a:ea typeface="Calibri"/>
                <a:cs typeface="Calibri"/>
                <a:sym typeface="Calibri"/>
              </a:rPr>
              <a:t>OCSF Engine:</a:t>
            </a:r>
            <a:endParaRPr b="0" i="0" sz="885" u="none" cap="none" strike="noStrike">
              <a:solidFill>
                <a:schemeClr val="dk1"/>
              </a:solidFill>
              <a:latin typeface="Calibri"/>
              <a:ea typeface="Calibri"/>
              <a:cs typeface="Calibri"/>
              <a:sym typeface="Calibri"/>
            </a:endParaRPr>
          </a:p>
        </p:txBody>
      </p:sp>
      <p:sp>
        <p:nvSpPr>
          <p:cNvPr id="427" name="Google Shape;427;p19"/>
          <p:cNvSpPr/>
          <p:nvPr/>
        </p:nvSpPr>
        <p:spPr>
          <a:xfrm>
            <a:off x="657225" y="2858170"/>
            <a:ext cx="3678920" cy="342174"/>
          </a:xfrm>
          <a:prstGeom prst="rect">
            <a:avLst/>
          </a:prstGeom>
          <a:noFill/>
          <a:ln>
            <a:noFill/>
          </a:ln>
        </p:spPr>
        <p:txBody>
          <a:bodyPr anchorCtr="0" anchor="t" bIns="0" lIns="0" spcFirstLastPara="1" rIns="0" wrap="square" tIns="0">
            <a:noAutofit/>
          </a:bodyPr>
          <a:lstStyle/>
          <a:p>
            <a:pPr indent="0" lvl="0" marL="0" marR="0" rtl="0" algn="l">
              <a:lnSpc>
                <a:spcPct val="138004"/>
              </a:lnSpc>
              <a:spcBef>
                <a:spcPts val="0"/>
              </a:spcBef>
              <a:spcAft>
                <a:spcPts val="0"/>
              </a:spcAft>
              <a:buClr>
                <a:srgbClr val="FFFFFF"/>
              </a:buClr>
              <a:buSzPts val="942"/>
              <a:buFont typeface="Calibri"/>
              <a:buNone/>
            </a:pPr>
            <a:r>
              <a:rPr b="0" i="0" lang="en-US" sz="942" u="none" cap="none" strike="noStrike">
                <a:solidFill>
                  <a:srgbClr val="FFFFFF"/>
                </a:solidFill>
                <a:latin typeface="Calibri"/>
                <a:ea typeface="Calibri"/>
                <a:cs typeface="Calibri"/>
                <a:sym typeface="Calibri"/>
              </a:rPr>
              <a:t>Managed normalization converting native logs to OCSF; supports custom sources.</a:t>
            </a:r>
            <a:endParaRPr b="0" i="0" sz="942" u="none" cap="none" strike="noStrike">
              <a:solidFill>
                <a:schemeClr val="dk1"/>
              </a:solidFill>
              <a:latin typeface="Calibri"/>
              <a:ea typeface="Calibri"/>
              <a:cs typeface="Calibri"/>
              <a:sym typeface="Calibri"/>
            </a:endParaRPr>
          </a:p>
        </p:txBody>
      </p:sp>
      <p:sp>
        <p:nvSpPr>
          <p:cNvPr id="428" name="Google Shape;428;p19"/>
          <p:cNvSpPr/>
          <p:nvPr/>
        </p:nvSpPr>
        <p:spPr>
          <a:xfrm>
            <a:off x="428625" y="3497870"/>
            <a:ext cx="4057650" cy="1388343"/>
          </a:xfrm>
          <a:prstGeom prst="rect">
            <a:avLst/>
          </a:prstGeom>
          <a:solidFill>
            <a:srgbClr val="FFFFFF">
              <a:alpha val="274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19"/>
          <p:cNvSpPr/>
          <p:nvPr/>
        </p:nvSpPr>
        <p:spPr>
          <a:xfrm>
            <a:off x="428625" y="3497870"/>
            <a:ext cx="42863" cy="1388343"/>
          </a:xfrm>
          <a:prstGeom prst="rect">
            <a:avLst/>
          </a:prstGeom>
          <a:solidFill>
            <a:srgbClr val="9D4E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19"/>
          <p:cNvSpPr/>
          <p:nvPr/>
        </p:nvSpPr>
        <p:spPr>
          <a:xfrm>
            <a:off x="571500" y="3626458"/>
            <a:ext cx="3771900" cy="248245"/>
          </a:xfrm>
          <a:prstGeom prst="rect">
            <a:avLst/>
          </a:prstGeom>
          <a:noFill/>
          <a:ln>
            <a:noFill/>
          </a:ln>
        </p:spPr>
        <p:txBody>
          <a:bodyPr anchorCtr="0" anchor="t" bIns="0" lIns="0" spcFirstLastPara="1" rIns="0" wrap="square" tIns="17000">
            <a:noAutofit/>
          </a:bodyPr>
          <a:lstStyle/>
          <a:p>
            <a:pPr indent="0" lvl="0" marL="0" marR="0" rtl="0" algn="l">
              <a:lnSpc>
                <a:spcPct val="134115"/>
              </a:lnSpc>
              <a:spcBef>
                <a:spcPts val="0"/>
              </a:spcBef>
              <a:spcAft>
                <a:spcPts val="0"/>
              </a:spcAft>
              <a:buClr>
                <a:srgbClr val="9D4EDD"/>
              </a:buClr>
              <a:buSzPts val="1193"/>
              <a:buFont typeface="Calibri"/>
              <a:buNone/>
            </a:pPr>
            <a:r>
              <a:rPr b="1" i="0" lang="en-US" sz="1193" u="none" cap="none" strike="noStrike">
                <a:solidFill>
                  <a:srgbClr val="9D4EDD"/>
                </a:solidFill>
                <a:latin typeface="Calibri"/>
                <a:ea typeface="Calibri"/>
                <a:cs typeface="Calibri"/>
                <a:sym typeface="Calibri"/>
              </a:rPr>
              <a:t>Data Access Patterns</a:t>
            </a:r>
            <a:endParaRPr b="0" i="0" sz="1193" u="none" cap="none" strike="noStrike">
              <a:solidFill>
                <a:schemeClr val="dk1"/>
              </a:solidFill>
              <a:latin typeface="Calibri"/>
              <a:ea typeface="Calibri"/>
              <a:cs typeface="Calibri"/>
              <a:sym typeface="Calibri"/>
            </a:endParaRPr>
          </a:p>
        </p:txBody>
      </p:sp>
      <p:sp>
        <p:nvSpPr>
          <p:cNvPr id="431" name="Google Shape;431;p19"/>
          <p:cNvSpPr/>
          <p:nvPr/>
        </p:nvSpPr>
        <p:spPr>
          <a:xfrm>
            <a:off x="657225" y="3997933"/>
            <a:ext cx="1147660" cy="175022"/>
          </a:xfrm>
          <a:prstGeom prst="rect">
            <a:avLst/>
          </a:prstGeom>
          <a:noFill/>
          <a:ln>
            <a:noFill/>
          </a:ln>
        </p:spPr>
        <p:txBody>
          <a:bodyPr anchorCtr="0" anchor="t" bIns="0" lIns="0" spcFirstLastPara="1" rIns="0" wrap="square" tIns="0">
            <a:noAutofit/>
          </a:bodyPr>
          <a:lstStyle/>
          <a:p>
            <a:pPr indent="0" lvl="0" marL="0" marR="0" rtl="0" algn="l">
              <a:lnSpc>
                <a:spcPct val="146892"/>
              </a:lnSpc>
              <a:spcBef>
                <a:spcPts val="0"/>
              </a:spcBef>
              <a:spcAft>
                <a:spcPts val="0"/>
              </a:spcAft>
              <a:buClr>
                <a:srgbClr val="FFFFFF"/>
              </a:buClr>
              <a:buSzPts val="885"/>
              <a:buFont typeface="Calibri"/>
              <a:buNone/>
            </a:pPr>
            <a:r>
              <a:rPr b="1" i="0" lang="en-US" sz="885" u="none" cap="none" strike="noStrike">
                <a:solidFill>
                  <a:srgbClr val="FFFFFF"/>
                </a:solidFill>
                <a:latin typeface="Calibri"/>
                <a:ea typeface="Calibri"/>
                <a:cs typeface="Calibri"/>
                <a:sym typeface="Calibri"/>
              </a:rPr>
              <a:t>Subscriber Model:</a:t>
            </a:r>
            <a:endParaRPr b="0" i="0" sz="885" u="none" cap="none" strike="noStrike">
              <a:solidFill>
                <a:schemeClr val="dk1"/>
              </a:solidFill>
              <a:latin typeface="Calibri"/>
              <a:ea typeface="Calibri"/>
              <a:cs typeface="Calibri"/>
              <a:sym typeface="Calibri"/>
            </a:endParaRPr>
          </a:p>
        </p:txBody>
      </p:sp>
      <p:sp>
        <p:nvSpPr>
          <p:cNvPr id="432" name="Google Shape;432;p19"/>
          <p:cNvSpPr/>
          <p:nvPr/>
        </p:nvSpPr>
        <p:spPr>
          <a:xfrm>
            <a:off x="657225" y="3997933"/>
            <a:ext cx="3216250" cy="342174"/>
          </a:xfrm>
          <a:prstGeom prst="rect">
            <a:avLst/>
          </a:prstGeom>
          <a:noFill/>
          <a:ln>
            <a:noFill/>
          </a:ln>
        </p:spPr>
        <p:txBody>
          <a:bodyPr anchorCtr="0" anchor="t" bIns="0" lIns="0" spcFirstLastPara="1" rIns="0" wrap="square" tIns="0">
            <a:noAutofit/>
          </a:bodyPr>
          <a:lstStyle/>
          <a:p>
            <a:pPr indent="0" lvl="0" marL="0" marR="0" rtl="0" algn="l">
              <a:lnSpc>
                <a:spcPct val="138004"/>
              </a:lnSpc>
              <a:spcBef>
                <a:spcPts val="0"/>
              </a:spcBef>
              <a:spcAft>
                <a:spcPts val="0"/>
              </a:spcAft>
              <a:buClr>
                <a:srgbClr val="FFFFFF"/>
              </a:buClr>
              <a:buSzPts val="942"/>
              <a:buFont typeface="Calibri"/>
              <a:buNone/>
            </a:pPr>
            <a:r>
              <a:rPr b="0" i="0" lang="en-US" sz="942" u="none" cap="none" strike="noStrike">
                <a:solidFill>
                  <a:srgbClr val="FFFFFF"/>
                </a:solidFill>
                <a:latin typeface="Calibri"/>
                <a:ea typeface="Calibri"/>
                <a:cs typeface="Calibri"/>
                <a:sym typeface="Calibri"/>
              </a:rPr>
              <a:t>Zero-copy access from S3 for AWS services and third-party tools.</a:t>
            </a:r>
            <a:endParaRPr b="0" i="0" sz="942" u="none" cap="none" strike="noStrike">
              <a:solidFill>
                <a:schemeClr val="dk1"/>
              </a:solidFill>
              <a:latin typeface="Calibri"/>
              <a:ea typeface="Calibri"/>
              <a:cs typeface="Calibri"/>
              <a:sym typeface="Calibri"/>
            </a:endParaRPr>
          </a:p>
        </p:txBody>
      </p:sp>
      <p:sp>
        <p:nvSpPr>
          <p:cNvPr id="433" name="Google Shape;433;p19"/>
          <p:cNvSpPr/>
          <p:nvPr/>
        </p:nvSpPr>
        <p:spPr>
          <a:xfrm>
            <a:off x="657225" y="4375100"/>
            <a:ext cx="1161027" cy="175022"/>
          </a:xfrm>
          <a:prstGeom prst="rect">
            <a:avLst/>
          </a:prstGeom>
          <a:noFill/>
          <a:ln>
            <a:noFill/>
          </a:ln>
        </p:spPr>
        <p:txBody>
          <a:bodyPr anchorCtr="0" anchor="t" bIns="0" lIns="0" spcFirstLastPara="1" rIns="0" wrap="square" tIns="0">
            <a:noAutofit/>
          </a:bodyPr>
          <a:lstStyle/>
          <a:p>
            <a:pPr indent="0" lvl="0" marL="0" marR="0" rtl="0" algn="l">
              <a:lnSpc>
                <a:spcPct val="146892"/>
              </a:lnSpc>
              <a:spcBef>
                <a:spcPts val="0"/>
              </a:spcBef>
              <a:spcAft>
                <a:spcPts val="0"/>
              </a:spcAft>
              <a:buClr>
                <a:srgbClr val="FFFFFF"/>
              </a:buClr>
              <a:buSzPts val="885"/>
              <a:buFont typeface="Calibri"/>
              <a:buNone/>
            </a:pPr>
            <a:r>
              <a:rPr b="1" i="0" lang="en-US" sz="885" u="none" cap="none" strike="noStrike">
                <a:solidFill>
                  <a:srgbClr val="FFFFFF"/>
                </a:solidFill>
                <a:latin typeface="Calibri"/>
                <a:ea typeface="Calibri"/>
                <a:cs typeface="Calibri"/>
                <a:sym typeface="Calibri"/>
              </a:rPr>
              <a:t>Query Federation:</a:t>
            </a:r>
            <a:endParaRPr b="0" i="0" sz="885" u="none" cap="none" strike="noStrike">
              <a:solidFill>
                <a:schemeClr val="dk1"/>
              </a:solidFill>
              <a:latin typeface="Calibri"/>
              <a:ea typeface="Calibri"/>
              <a:cs typeface="Calibri"/>
              <a:sym typeface="Calibri"/>
            </a:endParaRPr>
          </a:p>
        </p:txBody>
      </p:sp>
      <p:sp>
        <p:nvSpPr>
          <p:cNvPr id="434" name="Google Shape;434;p19"/>
          <p:cNvSpPr/>
          <p:nvPr/>
        </p:nvSpPr>
        <p:spPr>
          <a:xfrm>
            <a:off x="657225" y="4375100"/>
            <a:ext cx="3404388" cy="342174"/>
          </a:xfrm>
          <a:prstGeom prst="rect">
            <a:avLst/>
          </a:prstGeom>
          <a:noFill/>
          <a:ln>
            <a:noFill/>
          </a:ln>
        </p:spPr>
        <p:txBody>
          <a:bodyPr anchorCtr="0" anchor="t" bIns="0" lIns="0" spcFirstLastPara="1" rIns="0" wrap="square" tIns="0">
            <a:noAutofit/>
          </a:bodyPr>
          <a:lstStyle/>
          <a:p>
            <a:pPr indent="0" lvl="0" marL="0" marR="0" rtl="0" algn="l">
              <a:lnSpc>
                <a:spcPct val="138004"/>
              </a:lnSpc>
              <a:spcBef>
                <a:spcPts val="0"/>
              </a:spcBef>
              <a:spcAft>
                <a:spcPts val="0"/>
              </a:spcAft>
              <a:buClr>
                <a:srgbClr val="FFFFFF"/>
              </a:buClr>
              <a:buSzPts val="942"/>
              <a:buFont typeface="Calibri"/>
              <a:buNone/>
            </a:pPr>
            <a:r>
              <a:rPr b="0" i="0" lang="en-US" sz="942" u="none" cap="none" strike="noStrike">
                <a:solidFill>
                  <a:srgbClr val="FFFFFF"/>
                </a:solidFill>
                <a:latin typeface="Calibri"/>
                <a:ea typeface="Calibri"/>
                <a:cs typeface="Calibri"/>
                <a:sym typeface="Calibri"/>
              </a:rPr>
              <a:t>Athena enables SQL across lake data with exportable results.</a:t>
            </a:r>
            <a:endParaRPr b="0" i="0" sz="942" u="none" cap="none" strike="noStrike">
              <a:solidFill>
                <a:schemeClr val="dk1"/>
              </a:solidFill>
              <a:latin typeface="Calibri"/>
              <a:ea typeface="Calibri"/>
              <a:cs typeface="Calibri"/>
              <a:sym typeface="Calibri"/>
            </a:endParaRPr>
          </a:p>
        </p:txBody>
      </p:sp>
      <p:sp>
        <p:nvSpPr>
          <p:cNvPr id="435" name="Google Shape;435;p19"/>
          <p:cNvSpPr/>
          <p:nvPr/>
        </p:nvSpPr>
        <p:spPr>
          <a:xfrm>
            <a:off x="4657725" y="1603772"/>
            <a:ext cx="4057650" cy="1155502"/>
          </a:xfrm>
          <a:prstGeom prst="rect">
            <a:avLst/>
          </a:prstGeom>
          <a:solidFill>
            <a:srgbClr val="FFFFFF">
              <a:alpha val="274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19"/>
          <p:cNvSpPr/>
          <p:nvPr/>
        </p:nvSpPr>
        <p:spPr>
          <a:xfrm>
            <a:off x="4657725" y="1603772"/>
            <a:ext cx="42863" cy="1155502"/>
          </a:xfrm>
          <a:prstGeom prst="rect">
            <a:avLst/>
          </a:prstGeom>
          <a:solidFill>
            <a:srgbClr val="FFD7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19"/>
          <p:cNvSpPr/>
          <p:nvPr/>
        </p:nvSpPr>
        <p:spPr>
          <a:xfrm>
            <a:off x="4800600" y="1732359"/>
            <a:ext cx="3771900" cy="248245"/>
          </a:xfrm>
          <a:prstGeom prst="rect">
            <a:avLst/>
          </a:prstGeom>
          <a:noFill/>
          <a:ln>
            <a:noFill/>
          </a:ln>
        </p:spPr>
        <p:txBody>
          <a:bodyPr anchorCtr="0" anchor="t" bIns="0" lIns="0" spcFirstLastPara="1" rIns="0" wrap="square" tIns="17000">
            <a:noAutofit/>
          </a:bodyPr>
          <a:lstStyle/>
          <a:p>
            <a:pPr indent="0" lvl="0" marL="0" marR="0" rtl="0" algn="l">
              <a:lnSpc>
                <a:spcPct val="134115"/>
              </a:lnSpc>
              <a:spcBef>
                <a:spcPts val="0"/>
              </a:spcBef>
              <a:spcAft>
                <a:spcPts val="0"/>
              </a:spcAft>
              <a:buClr>
                <a:srgbClr val="FFD700"/>
              </a:buClr>
              <a:buSzPts val="1193"/>
              <a:buFont typeface="Calibri"/>
              <a:buNone/>
            </a:pPr>
            <a:r>
              <a:rPr b="1" i="0" lang="en-US" sz="1193" u="none" cap="none" strike="noStrike">
                <a:solidFill>
                  <a:srgbClr val="FFD700"/>
                </a:solidFill>
                <a:latin typeface="Calibri"/>
                <a:ea typeface="Calibri"/>
                <a:cs typeface="Calibri"/>
                <a:sym typeface="Calibri"/>
              </a:rPr>
              <a:t>Event-Driven Automation</a:t>
            </a:r>
            <a:endParaRPr b="0" i="0" sz="1193" u="none" cap="none" strike="noStrike">
              <a:solidFill>
                <a:schemeClr val="dk1"/>
              </a:solidFill>
              <a:latin typeface="Calibri"/>
              <a:ea typeface="Calibri"/>
              <a:cs typeface="Calibri"/>
              <a:sym typeface="Calibri"/>
            </a:endParaRPr>
          </a:p>
        </p:txBody>
      </p:sp>
      <p:sp>
        <p:nvSpPr>
          <p:cNvPr id="438" name="Google Shape;438;p19"/>
          <p:cNvSpPr/>
          <p:nvPr/>
        </p:nvSpPr>
        <p:spPr>
          <a:xfrm>
            <a:off x="4800600" y="2052042"/>
            <a:ext cx="3771900" cy="578644"/>
          </a:xfrm>
          <a:prstGeom prst="rect">
            <a:avLst/>
          </a:prstGeom>
          <a:noFill/>
          <a:ln>
            <a:noFill/>
          </a:ln>
        </p:spPr>
        <p:txBody>
          <a:bodyPr anchorCtr="0" anchor="t" bIns="0" lIns="0" spcFirstLastPara="1" rIns="0" wrap="square" tIns="0">
            <a:noAutofit/>
          </a:bodyPr>
          <a:lstStyle/>
          <a:p>
            <a:pPr indent="0" lvl="0" marL="0" marR="0" rtl="0" algn="l">
              <a:lnSpc>
                <a:spcPct val="159235"/>
              </a:lnSpc>
              <a:spcBef>
                <a:spcPts val="0"/>
              </a:spcBef>
              <a:spcAft>
                <a:spcPts val="0"/>
              </a:spcAft>
              <a:buClr>
                <a:srgbClr val="B0B8C1"/>
              </a:buClr>
              <a:buSzPts val="942"/>
              <a:buFont typeface="Calibri"/>
              <a:buNone/>
            </a:pPr>
            <a:r>
              <a:rPr b="0" i="0" lang="en-US" sz="942" u="none" cap="none" strike="noStrike">
                <a:solidFill>
                  <a:srgbClr val="B0B8C1"/>
                </a:solidFill>
                <a:latin typeface="Calibri"/>
                <a:ea typeface="Calibri"/>
                <a:cs typeface="Calibri"/>
                <a:sym typeface="Calibri"/>
              </a:rPr>
              <a:t>Security Lake emits EventBridge events on new data, enabling real-time alerts and automated workflows with Lambda, Step Functions, and SOAR integrations.</a:t>
            </a:r>
            <a:endParaRPr b="0" i="0" sz="942"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pic>
        <p:nvPicPr>
          <p:cNvPr descr="preencoded.png" id="444" name="Google Shape;444;p20"/>
          <p:cNvPicPr preferRelativeResize="0"/>
          <p:nvPr/>
        </p:nvPicPr>
        <p:blipFill rotWithShape="1">
          <a:blip r:embed="rId3">
            <a:alphaModFix/>
          </a:blip>
          <a:srcRect b="0" l="0" r="0" t="0"/>
          <a:stretch/>
        </p:blipFill>
        <p:spPr>
          <a:xfrm>
            <a:off x="0" y="0"/>
            <a:ext cx="9144000" cy="5432822"/>
          </a:xfrm>
          <a:prstGeom prst="rect">
            <a:avLst/>
          </a:prstGeom>
          <a:noFill/>
          <a:ln>
            <a:noFill/>
          </a:ln>
        </p:spPr>
      </p:pic>
      <p:sp>
        <p:nvSpPr>
          <p:cNvPr id="445" name="Google Shape;445;p20"/>
          <p:cNvSpPr/>
          <p:nvPr/>
        </p:nvSpPr>
        <p:spPr>
          <a:xfrm>
            <a:off x="428625" y="428625"/>
            <a:ext cx="8286750" cy="1089422"/>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20"/>
          <p:cNvSpPr/>
          <p:nvPr/>
        </p:nvSpPr>
        <p:spPr>
          <a:xfrm>
            <a:off x="428625" y="1503759"/>
            <a:ext cx="8286750" cy="14288"/>
          </a:xfrm>
          <a:prstGeom prst="rect">
            <a:avLst/>
          </a:prstGeom>
          <a:solidFill>
            <a:srgbClr val="00D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20"/>
          <p:cNvSpPr/>
          <p:nvPr/>
        </p:nvSpPr>
        <p:spPr>
          <a:xfrm>
            <a:off x="428625" y="428625"/>
            <a:ext cx="8286750" cy="932259"/>
          </a:xfrm>
          <a:prstGeom prst="rect">
            <a:avLst/>
          </a:prstGeom>
          <a:noFill/>
          <a:ln>
            <a:noFill/>
          </a:ln>
        </p:spPr>
        <p:txBody>
          <a:bodyPr anchorCtr="0" anchor="t" bIns="0" lIns="0" spcFirstLastPara="1" rIns="0" wrap="square" tIns="0">
            <a:noAutofit/>
          </a:bodyPr>
          <a:lstStyle/>
          <a:p>
            <a:pPr indent="0" lvl="0" marL="0" marR="0" rtl="0" algn="l">
              <a:lnSpc>
                <a:spcPct val="131362"/>
              </a:lnSpc>
              <a:spcBef>
                <a:spcPts val="0"/>
              </a:spcBef>
              <a:spcAft>
                <a:spcPts val="0"/>
              </a:spcAft>
              <a:buClr>
                <a:srgbClr val="00D9FF"/>
              </a:buClr>
              <a:buSzPts val="2436"/>
              <a:buFont typeface="Calibri"/>
              <a:buNone/>
            </a:pPr>
            <a:r>
              <a:rPr b="1" i="0" lang="en-US" sz="2436" u="none" cap="none" strike="noStrike">
                <a:solidFill>
                  <a:srgbClr val="00D9FF"/>
                </a:solidFill>
                <a:latin typeface="Calibri"/>
                <a:ea typeface="Calibri"/>
                <a:cs typeface="Calibri"/>
                <a:sym typeface="Calibri"/>
              </a:rPr>
              <a:t>Appendix: AWS Security Lake - Operational Details</a:t>
            </a:r>
            <a:endParaRPr b="0" i="0" sz="2436" u="none" cap="none" strike="noStrike">
              <a:solidFill>
                <a:schemeClr val="dk1"/>
              </a:solidFill>
              <a:latin typeface="Calibri"/>
              <a:ea typeface="Calibri"/>
              <a:cs typeface="Calibri"/>
              <a:sym typeface="Calibri"/>
            </a:endParaRPr>
          </a:p>
        </p:txBody>
      </p:sp>
      <p:sp>
        <p:nvSpPr>
          <p:cNvPr id="448" name="Google Shape;448;p20"/>
          <p:cNvSpPr/>
          <p:nvPr/>
        </p:nvSpPr>
        <p:spPr>
          <a:xfrm>
            <a:off x="428625" y="1718072"/>
            <a:ext cx="1943100" cy="2509242"/>
          </a:xfrm>
          <a:prstGeom prst="rect">
            <a:avLst/>
          </a:prstGeom>
          <a:solidFill>
            <a:srgbClr val="FFFFFF">
              <a:alpha val="274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20"/>
          <p:cNvSpPr/>
          <p:nvPr/>
        </p:nvSpPr>
        <p:spPr>
          <a:xfrm>
            <a:off x="428625" y="1718072"/>
            <a:ext cx="1943100" cy="42863"/>
          </a:xfrm>
          <a:prstGeom prst="rect">
            <a:avLst/>
          </a:prstGeom>
          <a:solidFill>
            <a:srgbClr val="00D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20"/>
          <p:cNvSpPr/>
          <p:nvPr/>
        </p:nvSpPr>
        <p:spPr>
          <a:xfrm>
            <a:off x="571500" y="1860947"/>
            <a:ext cx="1657350" cy="273248"/>
          </a:xfrm>
          <a:prstGeom prst="rect">
            <a:avLst/>
          </a:prstGeom>
          <a:noFill/>
          <a:ln>
            <a:noFill/>
          </a:ln>
        </p:spPr>
        <p:txBody>
          <a:bodyPr anchorCtr="0" anchor="t" bIns="0" lIns="0" spcFirstLastPara="1" rIns="0" wrap="square" tIns="0">
            <a:noAutofit/>
          </a:bodyPr>
          <a:lstStyle/>
          <a:p>
            <a:pPr indent="0" lvl="0" marL="0" marR="0" rtl="0" algn="l">
              <a:lnSpc>
                <a:spcPct val="136005"/>
              </a:lnSpc>
              <a:spcBef>
                <a:spcPts val="0"/>
              </a:spcBef>
              <a:spcAft>
                <a:spcPts val="0"/>
              </a:spcAft>
              <a:buClr>
                <a:srgbClr val="00D9FF"/>
              </a:buClr>
              <a:buSzPts val="1397"/>
              <a:buFont typeface="Calibri"/>
              <a:buNone/>
            </a:pPr>
            <a:r>
              <a:rPr b="1" i="0" lang="en-US" sz="1397" u="none" cap="none" strike="noStrike">
                <a:solidFill>
                  <a:srgbClr val="00D9FF"/>
                </a:solidFill>
                <a:latin typeface="Calibri"/>
                <a:ea typeface="Calibri"/>
                <a:cs typeface="Calibri"/>
                <a:sym typeface="Calibri"/>
              </a:rPr>
              <a:t>Pricing Model</a:t>
            </a:r>
            <a:endParaRPr b="0" i="0" sz="1397" u="none" cap="none" strike="noStrike">
              <a:solidFill>
                <a:schemeClr val="dk1"/>
              </a:solidFill>
              <a:latin typeface="Calibri"/>
              <a:ea typeface="Calibri"/>
              <a:cs typeface="Calibri"/>
              <a:sym typeface="Calibri"/>
            </a:endParaRPr>
          </a:p>
        </p:txBody>
      </p:sp>
      <p:sp>
        <p:nvSpPr>
          <p:cNvPr id="451" name="Google Shape;451;p20"/>
          <p:cNvSpPr/>
          <p:nvPr/>
        </p:nvSpPr>
        <p:spPr>
          <a:xfrm>
            <a:off x="571500" y="2219920"/>
            <a:ext cx="1657350" cy="771525"/>
          </a:xfrm>
          <a:prstGeom prst="rect">
            <a:avLst/>
          </a:prstGeom>
          <a:noFill/>
          <a:ln>
            <a:noFill/>
          </a:ln>
        </p:spPr>
        <p:txBody>
          <a:bodyPr anchorCtr="0" anchor="t" bIns="0" lIns="0" spcFirstLastPara="1" rIns="0" wrap="square" tIns="0">
            <a:noAutofit/>
          </a:bodyPr>
          <a:lstStyle/>
          <a:p>
            <a:pPr indent="0" lvl="0" marL="0" marR="0" rtl="0" algn="l">
              <a:lnSpc>
                <a:spcPct val="159235"/>
              </a:lnSpc>
              <a:spcBef>
                <a:spcPts val="0"/>
              </a:spcBef>
              <a:spcAft>
                <a:spcPts val="0"/>
              </a:spcAft>
              <a:buClr>
                <a:srgbClr val="B0B8C1"/>
              </a:buClr>
              <a:buSzPts val="885"/>
              <a:buFont typeface="Calibri"/>
              <a:buNone/>
            </a:pPr>
            <a:r>
              <a:rPr b="1" i="0" lang="en-US" sz="885" u="none" cap="none" strike="noStrike">
                <a:solidFill>
                  <a:srgbClr val="B0B8C1"/>
                </a:solidFill>
                <a:latin typeface="Calibri"/>
                <a:ea typeface="Calibri"/>
                <a:cs typeface="Calibri"/>
                <a:sym typeface="Calibri"/>
              </a:rPr>
              <a:t>Pay-As-You-Go:</a:t>
            </a:r>
            <a:r>
              <a:rPr b="0" i="0" lang="en-US" sz="942" u="none" cap="none" strike="noStrike">
                <a:solidFill>
                  <a:srgbClr val="B0B8C1"/>
                </a:solidFill>
                <a:latin typeface="Calibri"/>
                <a:ea typeface="Calibri"/>
                <a:cs typeface="Calibri"/>
                <a:sym typeface="Calibri"/>
              </a:rPr>
              <a:t> Charged per GB ingested, standard S3 storage, and Athena query costs.</a:t>
            </a:r>
            <a:endParaRPr b="0" i="0" sz="885" u="none" cap="none" strike="noStrike">
              <a:solidFill>
                <a:schemeClr val="dk1"/>
              </a:solidFill>
              <a:latin typeface="Calibri"/>
              <a:ea typeface="Calibri"/>
              <a:cs typeface="Calibri"/>
              <a:sym typeface="Calibri"/>
            </a:endParaRPr>
          </a:p>
        </p:txBody>
      </p:sp>
      <p:sp>
        <p:nvSpPr>
          <p:cNvPr id="452" name="Google Shape;452;p20"/>
          <p:cNvSpPr/>
          <p:nvPr/>
        </p:nvSpPr>
        <p:spPr>
          <a:xfrm>
            <a:off x="571500" y="3077170"/>
            <a:ext cx="1657350" cy="964406"/>
          </a:xfrm>
          <a:prstGeom prst="rect">
            <a:avLst/>
          </a:prstGeom>
          <a:noFill/>
          <a:ln>
            <a:noFill/>
          </a:ln>
        </p:spPr>
        <p:txBody>
          <a:bodyPr anchorCtr="0" anchor="t" bIns="0" lIns="0" spcFirstLastPara="1" rIns="0" wrap="square" tIns="0">
            <a:noAutofit/>
          </a:bodyPr>
          <a:lstStyle/>
          <a:p>
            <a:pPr indent="0" lvl="0" marL="0" marR="0" rtl="0" algn="l">
              <a:lnSpc>
                <a:spcPct val="159235"/>
              </a:lnSpc>
              <a:spcBef>
                <a:spcPts val="0"/>
              </a:spcBef>
              <a:spcAft>
                <a:spcPts val="0"/>
              </a:spcAft>
              <a:buClr>
                <a:srgbClr val="B0B8C1"/>
              </a:buClr>
              <a:buSzPts val="885"/>
              <a:buFont typeface="Calibri"/>
              <a:buNone/>
            </a:pPr>
            <a:r>
              <a:rPr b="1" i="0" lang="en-US" sz="885" u="none" cap="none" strike="noStrike">
                <a:solidFill>
                  <a:srgbClr val="B0B8C1"/>
                </a:solidFill>
                <a:latin typeface="Calibri"/>
                <a:ea typeface="Calibri"/>
                <a:cs typeface="Calibri"/>
                <a:sym typeface="Calibri"/>
              </a:rPr>
              <a:t>Cost Optimization:</a:t>
            </a:r>
            <a:r>
              <a:rPr b="0" i="0" lang="en-US" sz="942" u="none" cap="none" strike="noStrike">
                <a:solidFill>
                  <a:srgbClr val="B0B8C1"/>
                </a:solidFill>
                <a:latin typeface="Calibri"/>
                <a:ea typeface="Calibri"/>
                <a:cs typeface="Calibri"/>
                <a:sym typeface="Calibri"/>
              </a:rPr>
              <a:t> Use S3 Intelligent-Tiering, partition by date/source, enable query result caching.</a:t>
            </a:r>
            <a:endParaRPr b="0" i="0" sz="885" u="none" cap="none" strike="noStrike">
              <a:solidFill>
                <a:schemeClr val="dk1"/>
              </a:solidFill>
              <a:latin typeface="Calibri"/>
              <a:ea typeface="Calibri"/>
              <a:cs typeface="Calibri"/>
              <a:sym typeface="Calibri"/>
            </a:endParaRPr>
          </a:p>
        </p:txBody>
      </p:sp>
      <p:sp>
        <p:nvSpPr>
          <p:cNvPr id="453" name="Google Shape;453;p20"/>
          <p:cNvSpPr/>
          <p:nvPr/>
        </p:nvSpPr>
        <p:spPr>
          <a:xfrm>
            <a:off x="2543175" y="1718072"/>
            <a:ext cx="1943100" cy="3271838"/>
          </a:xfrm>
          <a:prstGeom prst="rect">
            <a:avLst/>
          </a:prstGeom>
          <a:solidFill>
            <a:srgbClr val="FFFFFF">
              <a:alpha val="274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20"/>
          <p:cNvSpPr/>
          <p:nvPr/>
        </p:nvSpPr>
        <p:spPr>
          <a:xfrm>
            <a:off x="2543175" y="1718072"/>
            <a:ext cx="1943100" cy="42863"/>
          </a:xfrm>
          <a:prstGeom prst="rect">
            <a:avLst/>
          </a:prstGeom>
          <a:solidFill>
            <a:srgbClr val="9D4E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20"/>
          <p:cNvSpPr/>
          <p:nvPr/>
        </p:nvSpPr>
        <p:spPr>
          <a:xfrm>
            <a:off x="2686050" y="1860947"/>
            <a:ext cx="1657350" cy="546497"/>
          </a:xfrm>
          <a:prstGeom prst="rect">
            <a:avLst/>
          </a:prstGeom>
          <a:noFill/>
          <a:ln>
            <a:noFill/>
          </a:ln>
        </p:spPr>
        <p:txBody>
          <a:bodyPr anchorCtr="0" anchor="t" bIns="0" lIns="0" spcFirstLastPara="1" rIns="0" wrap="square" tIns="0">
            <a:noAutofit/>
          </a:bodyPr>
          <a:lstStyle/>
          <a:p>
            <a:pPr indent="0" lvl="0" marL="0" marR="0" rtl="0" algn="l">
              <a:lnSpc>
                <a:spcPct val="136005"/>
              </a:lnSpc>
              <a:spcBef>
                <a:spcPts val="0"/>
              </a:spcBef>
              <a:spcAft>
                <a:spcPts val="0"/>
              </a:spcAft>
              <a:buClr>
                <a:srgbClr val="9D4EDD"/>
              </a:buClr>
              <a:buSzPts val="1397"/>
              <a:buFont typeface="Calibri"/>
              <a:buNone/>
            </a:pPr>
            <a:r>
              <a:rPr b="1" i="0" lang="en-US" sz="1397" u="none" cap="none" strike="noStrike">
                <a:solidFill>
                  <a:srgbClr val="9D4EDD"/>
                </a:solidFill>
                <a:latin typeface="Calibri"/>
                <a:ea typeface="Calibri"/>
                <a:cs typeface="Calibri"/>
                <a:sym typeface="Calibri"/>
              </a:rPr>
              <a:t>Regional Availability</a:t>
            </a:r>
            <a:endParaRPr b="0" i="0" sz="1397" u="none" cap="none" strike="noStrike">
              <a:solidFill>
                <a:schemeClr val="dk1"/>
              </a:solidFill>
              <a:latin typeface="Calibri"/>
              <a:ea typeface="Calibri"/>
              <a:cs typeface="Calibri"/>
              <a:sym typeface="Calibri"/>
            </a:endParaRPr>
          </a:p>
        </p:txBody>
      </p:sp>
      <p:sp>
        <p:nvSpPr>
          <p:cNvPr id="456" name="Google Shape;456;p20"/>
          <p:cNvSpPr/>
          <p:nvPr/>
        </p:nvSpPr>
        <p:spPr>
          <a:xfrm>
            <a:off x="2686050" y="2550319"/>
            <a:ext cx="1657350" cy="175022"/>
          </a:xfrm>
          <a:prstGeom prst="rect">
            <a:avLst/>
          </a:prstGeom>
          <a:noFill/>
          <a:ln>
            <a:noFill/>
          </a:ln>
        </p:spPr>
        <p:txBody>
          <a:bodyPr anchorCtr="0" anchor="t" bIns="0" lIns="102100" spcFirstLastPara="1" rIns="0" wrap="square" tIns="0">
            <a:noAutofit/>
          </a:bodyPr>
          <a:lstStyle/>
          <a:p>
            <a:pPr indent="0" lvl="0" marL="0" marR="0" rtl="0" algn="l">
              <a:lnSpc>
                <a:spcPct val="127388"/>
              </a:lnSpc>
              <a:spcBef>
                <a:spcPts val="0"/>
              </a:spcBef>
              <a:spcAft>
                <a:spcPts val="0"/>
              </a:spcAft>
              <a:buClr>
                <a:srgbClr val="FFFFFF"/>
              </a:buClr>
              <a:buSzPts val="942"/>
              <a:buFont typeface="Calibri"/>
              <a:buNone/>
            </a:pPr>
            <a:r>
              <a:rPr b="0" i="0" lang="en-US" sz="942" u="none" cap="none" strike="noStrike">
                <a:solidFill>
                  <a:srgbClr val="FFFFFF"/>
                </a:solidFill>
                <a:latin typeface="Calibri"/>
                <a:ea typeface="Calibri"/>
                <a:cs typeface="Calibri"/>
                <a:sym typeface="Calibri"/>
              </a:rPr>
              <a:t>US East (N. Virginia, Ohio)</a:t>
            </a:r>
            <a:endParaRPr b="0" i="0" sz="942" u="none" cap="none" strike="noStrike">
              <a:solidFill>
                <a:schemeClr val="dk1"/>
              </a:solidFill>
              <a:latin typeface="Calibri"/>
              <a:ea typeface="Calibri"/>
              <a:cs typeface="Calibri"/>
              <a:sym typeface="Calibri"/>
            </a:endParaRPr>
          </a:p>
        </p:txBody>
      </p:sp>
      <p:sp>
        <p:nvSpPr>
          <p:cNvPr id="457" name="Google Shape;457;p20"/>
          <p:cNvSpPr/>
          <p:nvPr/>
        </p:nvSpPr>
        <p:spPr>
          <a:xfrm>
            <a:off x="2686050" y="2768203"/>
            <a:ext cx="1657350" cy="350044"/>
          </a:xfrm>
          <a:prstGeom prst="rect">
            <a:avLst/>
          </a:prstGeom>
          <a:noFill/>
          <a:ln>
            <a:noFill/>
          </a:ln>
        </p:spPr>
        <p:txBody>
          <a:bodyPr anchorCtr="0" anchor="t" bIns="0" lIns="102100" spcFirstLastPara="1" rIns="0" wrap="square" tIns="0">
            <a:noAutofit/>
          </a:bodyPr>
          <a:lstStyle/>
          <a:p>
            <a:pPr indent="0" lvl="0" marL="0" marR="0" rtl="0" algn="l">
              <a:lnSpc>
                <a:spcPct val="127388"/>
              </a:lnSpc>
              <a:spcBef>
                <a:spcPts val="0"/>
              </a:spcBef>
              <a:spcAft>
                <a:spcPts val="0"/>
              </a:spcAft>
              <a:buClr>
                <a:srgbClr val="FFFFFF"/>
              </a:buClr>
              <a:buSzPts val="942"/>
              <a:buFont typeface="Calibri"/>
              <a:buNone/>
            </a:pPr>
            <a:r>
              <a:rPr b="0" i="0" lang="en-US" sz="942" u="none" cap="none" strike="noStrike">
                <a:solidFill>
                  <a:srgbClr val="FFFFFF"/>
                </a:solidFill>
                <a:latin typeface="Calibri"/>
                <a:ea typeface="Calibri"/>
                <a:cs typeface="Calibri"/>
                <a:sym typeface="Calibri"/>
              </a:rPr>
              <a:t>US West (Oregon, N. California)</a:t>
            </a:r>
            <a:endParaRPr b="0" i="0" sz="942" u="none" cap="none" strike="noStrike">
              <a:solidFill>
                <a:schemeClr val="dk1"/>
              </a:solidFill>
              <a:latin typeface="Calibri"/>
              <a:ea typeface="Calibri"/>
              <a:cs typeface="Calibri"/>
              <a:sym typeface="Calibri"/>
            </a:endParaRPr>
          </a:p>
        </p:txBody>
      </p:sp>
      <p:sp>
        <p:nvSpPr>
          <p:cNvPr id="458" name="Google Shape;458;p20"/>
          <p:cNvSpPr/>
          <p:nvPr/>
        </p:nvSpPr>
        <p:spPr>
          <a:xfrm>
            <a:off x="2686050" y="3161109"/>
            <a:ext cx="1657350" cy="350044"/>
          </a:xfrm>
          <a:prstGeom prst="rect">
            <a:avLst/>
          </a:prstGeom>
          <a:noFill/>
          <a:ln>
            <a:noFill/>
          </a:ln>
        </p:spPr>
        <p:txBody>
          <a:bodyPr anchorCtr="0" anchor="t" bIns="0" lIns="102100" spcFirstLastPara="1" rIns="0" wrap="square" tIns="0">
            <a:noAutofit/>
          </a:bodyPr>
          <a:lstStyle/>
          <a:p>
            <a:pPr indent="0" lvl="0" marL="0" marR="0" rtl="0" algn="l">
              <a:lnSpc>
                <a:spcPct val="127388"/>
              </a:lnSpc>
              <a:spcBef>
                <a:spcPts val="0"/>
              </a:spcBef>
              <a:spcAft>
                <a:spcPts val="0"/>
              </a:spcAft>
              <a:buClr>
                <a:srgbClr val="FFFFFF"/>
              </a:buClr>
              <a:buSzPts val="942"/>
              <a:buFont typeface="Calibri"/>
              <a:buNone/>
            </a:pPr>
            <a:r>
              <a:rPr b="0" i="0" lang="en-US" sz="942" u="none" cap="none" strike="noStrike">
                <a:solidFill>
                  <a:srgbClr val="FFFFFF"/>
                </a:solidFill>
                <a:latin typeface="Calibri"/>
                <a:ea typeface="Calibri"/>
                <a:cs typeface="Calibri"/>
                <a:sym typeface="Calibri"/>
              </a:rPr>
              <a:t>Europe (Ireland, Frankfurt, London)</a:t>
            </a:r>
            <a:endParaRPr b="0" i="0" sz="942" u="none" cap="none" strike="noStrike">
              <a:solidFill>
                <a:schemeClr val="dk1"/>
              </a:solidFill>
              <a:latin typeface="Calibri"/>
              <a:ea typeface="Calibri"/>
              <a:cs typeface="Calibri"/>
              <a:sym typeface="Calibri"/>
            </a:endParaRPr>
          </a:p>
        </p:txBody>
      </p:sp>
      <p:sp>
        <p:nvSpPr>
          <p:cNvPr id="459" name="Google Shape;459;p20"/>
          <p:cNvSpPr/>
          <p:nvPr/>
        </p:nvSpPr>
        <p:spPr>
          <a:xfrm>
            <a:off x="2686050" y="3554016"/>
            <a:ext cx="1657350" cy="350044"/>
          </a:xfrm>
          <a:prstGeom prst="rect">
            <a:avLst/>
          </a:prstGeom>
          <a:noFill/>
          <a:ln>
            <a:noFill/>
          </a:ln>
        </p:spPr>
        <p:txBody>
          <a:bodyPr anchorCtr="0" anchor="t" bIns="0" lIns="102100" spcFirstLastPara="1" rIns="0" wrap="square" tIns="0">
            <a:noAutofit/>
          </a:bodyPr>
          <a:lstStyle/>
          <a:p>
            <a:pPr indent="0" lvl="0" marL="0" marR="0" rtl="0" algn="l">
              <a:lnSpc>
                <a:spcPct val="127388"/>
              </a:lnSpc>
              <a:spcBef>
                <a:spcPts val="0"/>
              </a:spcBef>
              <a:spcAft>
                <a:spcPts val="0"/>
              </a:spcAft>
              <a:buClr>
                <a:srgbClr val="FFFFFF"/>
              </a:buClr>
              <a:buSzPts val="942"/>
              <a:buFont typeface="Calibri"/>
              <a:buNone/>
            </a:pPr>
            <a:r>
              <a:rPr b="0" i="0" lang="en-US" sz="942" u="none" cap="none" strike="noStrike">
                <a:solidFill>
                  <a:srgbClr val="FFFFFF"/>
                </a:solidFill>
                <a:latin typeface="Calibri"/>
                <a:ea typeface="Calibri"/>
                <a:cs typeface="Calibri"/>
                <a:sym typeface="Calibri"/>
              </a:rPr>
              <a:t>Asia Pacific (Tokyo, Singapore, Sydney)</a:t>
            </a:r>
            <a:endParaRPr b="0" i="0" sz="942" u="none" cap="none" strike="noStrike">
              <a:solidFill>
                <a:schemeClr val="dk1"/>
              </a:solidFill>
              <a:latin typeface="Calibri"/>
              <a:ea typeface="Calibri"/>
              <a:cs typeface="Calibri"/>
              <a:sym typeface="Calibri"/>
            </a:endParaRPr>
          </a:p>
        </p:txBody>
      </p:sp>
      <p:sp>
        <p:nvSpPr>
          <p:cNvPr id="460" name="Google Shape;460;p20"/>
          <p:cNvSpPr/>
          <p:nvPr/>
        </p:nvSpPr>
        <p:spPr>
          <a:xfrm>
            <a:off x="2686050" y="4032647"/>
            <a:ext cx="1657350" cy="771525"/>
          </a:xfrm>
          <a:prstGeom prst="rect">
            <a:avLst/>
          </a:prstGeom>
          <a:noFill/>
          <a:ln>
            <a:noFill/>
          </a:ln>
        </p:spPr>
        <p:txBody>
          <a:bodyPr anchorCtr="0" anchor="t" bIns="0" lIns="0" spcFirstLastPara="1" rIns="0" wrap="square" tIns="0">
            <a:noAutofit/>
          </a:bodyPr>
          <a:lstStyle/>
          <a:p>
            <a:pPr indent="0" lvl="0" marL="0" marR="0" rtl="0" algn="l">
              <a:lnSpc>
                <a:spcPct val="159235"/>
              </a:lnSpc>
              <a:spcBef>
                <a:spcPts val="0"/>
              </a:spcBef>
              <a:spcAft>
                <a:spcPts val="0"/>
              </a:spcAft>
              <a:buClr>
                <a:srgbClr val="B0B8C1"/>
              </a:buClr>
              <a:buSzPts val="885"/>
              <a:buFont typeface="Calibri"/>
              <a:buNone/>
            </a:pPr>
            <a:r>
              <a:rPr b="1" i="0" lang="en-US" sz="885" u="none" cap="none" strike="noStrike">
                <a:solidFill>
                  <a:srgbClr val="B0B8C1"/>
                </a:solidFill>
                <a:latin typeface="Calibri"/>
                <a:ea typeface="Calibri"/>
                <a:cs typeface="Calibri"/>
                <a:sym typeface="Calibri"/>
              </a:rPr>
              <a:t>Multi-Region Rollup:</a:t>
            </a:r>
            <a:r>
              <a:rPr b="0" i="0" lang="en-US" sz="942" u="none" cap="none" strike="noStrike">
                <a:solidFill>
                  <a:srgbClr val="B0B8C1"/>
                </a:solidFill>
                <a:latin typeface="Calibri"/>
                <a:ea typeface="Calibri"/>
                <a:cs typeface="Calibri"/>
                <a:sym typeface="Calibri"/>
              </a:rPr>
              <a:t> Aggregate data from multiple regions into a single "home" region.</a:t>
            </a:r>
            <a:endParaRPr b="0" i="0" sz="885" u="none" cap="none" strike="noStrike">
              <a:solidFill>
                <a:schemeClr val="dk1"/>
              </a:solidFill>
              <a:latin typeface="Calibri"/>
              <a:ea typeface="Calibri"/>
              <a:cs typeface="Calibri"/>
              <a:sym typeface="Calibri"/>
            </a:endParaRPr>
          </a:p>
        </p:txBody>
      </p:sp>
      <p:sp>
        <p:nvSpPr>
          <p:cNvPr id="461" name="Google Shape;461;p20"/>
          <p:cNvSpPr/>
          <p:nvPr/>
        </p:nvSpPr>
        <p:spPr>
          <a:xfrm>
            <a:off x="4657725" y="1718072"/>
            <a:ext cx="1943100" cy="3168253"/>
          </a:xfrm>
          <a:prstGeom prst="rect">
            <a:avLst/>
          </a:prstGeom>
          <a:solidFill>
            <a:srgbClr val="FFFFFF">
              <a:alpha val="274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20"/>
          <p:cNvSpPr/>
          <p:nvPr/>
        </p:nvSpPr>
        <p:spPr>
          <a:xfrm>
            <a:off x="4657725" y="1718072"/>
            <a:ext cx="1943100" cy="42863"/>
          </a:xfrm>
          <a:prstGeom prst="rect">
            <a:avLst/>
          </a:prstGeom>
          <a:solidFill>
            <a:srgbClr val="FFD7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20"/>
          <p:cNvSpPr/>
          <p:nvPr/>
        </p:nvSpPr>
        <p:spPr>
          <a:xfrm>
            <a:off x="4800600" y="1860947"/>
            <a:ext cx="1657350" cy="546497"/>
          </a:xfrm>
          <a:prstGeom prst="rect">
            <a:avLst/>
          </a:prstGeom>
          <a:noFill/>
          <a:ln>
            <a:noFill/>
          </a:ln>
        </p:spPr>
        <p:txBody>
          <a:bodyPr anchorCtr="0" anchor="t" bIns="0" lIns="0" spcFirstLastPara="1" rIns="0" wrap="square" tIns="0">
            <a:noAutofit/>
          </a:bodyPr>
          <a:lstStyle/>
          <a:p>
            <a:pPr indent="0" lvl="0" marL="0" marR="0" rtl="0" algn="l">
              <a:lnSpc>
                <a:spcPct val="136005"/>
              </a:lnSpc>
              <a:spcBef>
                <a:spcPts val="0"/>
              </a:spcBef>
              <a:spcAft>
                <a:spcPts val="0"/>
              </a:spcAft>
              <a:buClr>
                <a:srgbClr val="FFD700"/>
              </a:buClr>
              <a:buSzPts val="1397"/>
              <a:buFont typeface="Calibri"/>
              <a:buNone/>
            </a:pPr>
            <a:r>
              <a:rPr b="1" i="0" lang="en-US" sz="1397" u="none" cap="none" strike="noStrike">
                <a:solidFill>
                  <a:srgbClr val="FFD700"/>
                </a:solidFill>
                <a:latin typeface="Calibri"/>
                <a:ea typeface="Calibri"/>
                <a:cs typeface="Calibri"/>
                <a:sym typeface="Calibri"/>
              </a:rPr>
              <a:t>Lifecycle Management</a:t>
            </a:r>
            <a:endParaRPr b="0" i="0" sz="1397" u="none" cap="none" strike="noStrike">
              <a:solidFill>
                <a:schemeClr val="dk1"/>
              </a:solidFill>
              <a:latin typeface="Calibri"/>
              <a:ea typeface="Calibri"/>
              <a:cs typeface="Calibri"/>
              <a:sym typeface="Calibri"/>
            </a:endParaRPr>
          </a:p>
        </p:txBody>
      </p:sp>
      <p:sp>
        <p:nvSpPr>
          <p:cNvPr id="464" name="Google Shape;464;p20"/>
          <p:cNvSpPr/>
          <p:nvPr/>
        </p:nvSpPr>
        <p:spPr>
          <a:xfrm>
            <a:off x="4800600" y="2493169"/>
            <a:ext cx="1657350" cy="1157288"/>
          </a:xfrm>
          <a:prstGeom prst="rect">
            <a:avLst/>
          </a:prstGeom>
          <a:noFill/>
          <a:ln>
            <a:noFill/>
          </a:ln>
        </p:spPr>
        <p:txBody>
          <a:bodyPr anchorCtr="0" anchor="t" bIns="0" lIns="0" spcFirstLastPara="1" rIns="0" wrap="square" tIns="0">
            <a:noAutofit/>
          </a:bodyPr>
          <a:lstStyle/>
          <a:p>
            <a:pPr indent="0" lvl="0" marL="0" marR="0" rtl="0" algn="l">
              <a:lnSpc>
                <a:spcPct val="159235"/>
              </a:lnSpc>
              <a:spcBef>
                <a:spcPts val="0"/>
              </a:spcBef>
              <a:spcAft>
                <a:spcPts val="0"/>
              </a:spcAft>
              <a:buClr>
                <a:srgbClr val="B0B8C1"/>
              </a:buClr>
              <a:buSzPts val="885"/>
              <a:buFont typeface="Calibri"/>
              <a:buNone/>
            </a:pPr>
            <a:r>
              <a:rPr b="1" i="0" lang="en-US" sz="885" u="none" cap="none" strike="noStrike">
                <a:solidFill>
                  <a:srgbClr val="B0B8C1"/>
                </a:solidFill>
                <a:latin typeface="Calibri"/>
                <a:ea typeface="Calibri"/>
                <a:cs typeface="Calibri"/>
                <a:sym typeface="Calibri"/>
              </a:rPr>
              <a:t>Automated Data Retention:</a:t>
            </a:r>
            <a:r>
              <a:rPr b="0" i="0" lang="en-US" sz="942" u="none" cap="none" strike="noStrike">
                <a:solidFill>
                  <a:srgbClr val="B0B8C1"/>
                </a:solidFill>
                <a:latin typeface="Calibri"/>
                <a:ea typeface="Calibri"/>
                <a:cs typeface="Calibri"/>
                <a:sym typeface="Calibri"/>
              </a:rPr>
              <a:t> Define retention policies at the source level; Security Lake applies S3 lifecycle policies automatically.</a:t>
            </a:r>
            <a:endParaRPr b="0" i="0" sz="885" u="none" cap="none" strike="noStrike">
              <a:solidFill>
                <a:schemeClr val="dk1"/>
              </a:solidFill>
              <a:latin typeface="Calibri"/>
              <a:ea typeface="Calibri"/>
              <a:cs typeface="Calibri"/>
              <a:sym typeface="Calibri"/>
            </a:endParaRPr>
          </a:p>
        </p:txBody>
      </p:sp>
      <p:sp>
        <p:nvSpPr>
          <p:cNvPr id="465" name="Google Shape;465;p20"/>
          <p:cNvSpPr/>
          <p:nvPr/>
        </p:nvSpPr>
        <p:spPr>
          <a:xfrm>
            <a:off x="4800600" y="3736181"/>
            <a:ext cx="1657350" cy="964406"/>
          </a:xfrm>
          <a:prstGeom prst="rect">
            <a:avLst/>
          </a:prstGeom>
          <a:noFill/>
          <a:ln>
            <a:noFill/>
          </a:ln>
        </p:spPr>
        <p:txBody>
          <a:bodyPr anchorCtr="0" anchor="t" bIns="0" lIns="0" spcFirstLastPara="1" rIns="0" wrap="square" tIns="0">
            <a:noAutofit/>
          </a:bodyPr>
          <a:lstStyle/>
          <a:p>
            <a:pPr indent="0" lvl="0" marL="0" marR="0" rtl="0" algn="l">
              <a:lnSpc>
                <a:spcPct val="159235"/>
              </a:lnSpc>
              <a:spcBef>
                <a:spcPts val="0"/>
              </a:spcBef>
              <a:spcAft>
                <a:spcPts val="0"/>
              </a:spcAft>
              <a:buClr>
                <a:srgbClr val="B0B8C1"/>
              </a:buClr>
              <a:buSzPts val="885"/>
              <a:buFont typeface="Calibri"/>
              <a:buNone/>
            </a:pPr>
            <a:r>
              <a:rPr b="1" i="0" lang="en-US" sz="885" u="none" cap="none" strike="noStrike">
                <a:solidFill>
                  <a:srgbClr val="B0B8C1"/>
                </a:solidFill>
                <a:latin typeface="Calibri"/>
                <a:ea typeface="Calibri"/>
                <a:cs typeface="Calibri"/>
                <a:sym typeface="Calibri"/>
              </a:rPr>
              <a:t>Data Replication:</a:t>
            </a:r>
            <a:r>
              <a:rPr b="0" i="0" lang="en-US" sz="942" u="none" cap="none" strike="noStrike">
                <a:solidFill>
                  <a:srgbClr val="B0B8C1"/>
                </a:solidFill>
                <a:latin typeface="Calibri"/>
                <a:ea typeface="Calibri"/>
                <a:cs typeface="Calibri"/>
                <a:sym typeface="Calibri"/>
              </a:rPr>
              <a:t> Enable S3 Cross-Region Replication for disaster recovery and business continuity.</a:t>
            </a:r>
            <a:endParaRPr b="0" i="0" sz="885" u="none" cap="none" strike="noStrike">
              <a:solidFill>
                <a:schemeClr val="dk1"/>
              </a:solidFill>
              <a:latin typeface="Calibri"/>
              <a:ea typeface="Calibri"/>
              <a:cs typeface="Calibri"/>
              <a:sym typeface="Calibri"/>
            </a:endParaRPr>
          </a:p>
        </p:txBody>
      </p:sp>
      <p:sp>
        <p:nvSpPr>
          <p:cNvPr id="466" name="Google Shape;466;p20"/>
          <p:cNvSpPr/>
          <p:nvPr/>
        </p:nvSpPr>
        <p:spPr>
          <a:xfrm>
            <a:off x="6772275" y="1718072"/>
            <a:ext cx="1943100" cy="2282428"/>
          </a:xfrm>
          <a:prstGeom prst="rect">
            <a:avLst/>
          </a:prstGeom>
          <a:solidFill>
            <a:srgbClr val="FFFFFF">
              <a:alpha val="274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20"/>
          <p:cNvSpPr/>
          <p:nvPr/>
        </p:nvSpPr>
        <p:spPr>
          <a:xfrm>
            <a:off x="6772275" y="1718072"/>
            <a:ext cx="1943100" cy="42863"/>
          </a:xfrm>
          <a:prstGeom prst="rect">
            <a:avLst/>
          </a:prstGeom>
          <a:solidFill>
            <a:srgbClr val="FF6B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20"/>
          <p:cNvSpPr/>
          <p:nvPr/>
        </p:nvSpPr>
        <p:spPr>
          <a:xfrm>
            <a:off x="6915150" y="1860947"/>
            <a:ext cx="1657350" cy="546497"/>
          </a:xfrm>
          <a:prstGeom prst="rect">
            <a:avLst/>
          </a:prstGeom>
          <a:noFill/>
          <a:ln>
            <a:noFill/>
          </a:ln>
        </p:spPr>
        <p:txBody>
          <a:bodyPr anchorCtr="0" anchor="t" bIns="0" lIns="0" spcFirstLastPara="1" rIns="0" wrap="square" tIns="0">
            <a:noAutofit/>
          </a:bodyPr>
          <a:lstStyle/>
          <a:p>
            <a:pPr indent="0" lvl="0" marL="0" marR="0" rtl="0" algn="l">
              <a:lnSpc>
                <a:spcPct val="136005"/>
              </a:lnSpc>
              <a:spcBef>
                <a:spcPts val="0"/>
              </a:spcBef>
              <a:spcAft>
                <a:spcPts val="0"/>
              </a:spcAft>
              <a:buClr>
                <a:srgbClr val="FF6B6B"/>
              </a:buClr>
              <a:buSzPts val="1397"/>
              <a:buFont typeface="Calibri"/>
              <a:buNone/>
            </a:pPr>
            <a:r>
              <a:rPr b="1" i="0" lang="en-US" sz="1397" u="none" cap="none" strike="noStrike">
                <a:solidFill>
                  <a:srgbClr val="FF6B6B"/>
                </a:solidFill>
                <a:latin typeface="Calibri"/>
                <a:ea typeface="Calibri"/>
                <a:cs typeface="Calibri"/>
                <a:sym typeface="Calibri"/>
              </a:rPr>
              <a:t>Compliance &amp; Certifications</a:t>
            </a:r>
            <a:endParaRPr b="0" i="0" sz="1397" u="none" cap="none" strike="noStrike">
              <a:solidFill>
                <a:schemeClr val="dk1"/>
              </a:solidFill>
              <a:latin typeface="Calibri"/>
              <a:ea typeface="Calibri"/>
              <a:cs typeface="Calibri"/>
              <a:sym typeface="Calibri"/>
            </a:endParaRPr>
          </a:p>
        </p:txBody>
      </p:sp>
      <p:sp>
        <p:nvSpPr>
          <p:cNvPr id="469" name="Google Shape;469;p20"/>
          <p:cNvSpPr/>
          <p:nvPr/>
        </p:nvSpPr>
        <p:spPr>
          <a:xfrm>
            <a:off x="6915150" y="2550319"/>
            <a:ext cx="1657350" cy="175022"/>
          </a:xfrm>
          <a:prstGeom prst="rect">
            <a:avLst/>
          </a:prstGeom>
          <a:noFill/>
          <a:ln>
            <a:noFill/>
          </a:ln>
        </p:spPr>
        <p:txBody>
          <a:bodyPr anchorCtr="0" anchor="t" bIns="0" lIns="102100" spcFirstLastPara="1" rIns="0" wrap="square" tIns="0">
            <a:noAutofit/>
          </a:bodyPr>
          <a:lstStyle/>
          <a:p>
            <a:pPr indent="0" lvl="0" marL="0" marR="0" rtl="0" algn="l">
              <a:lnSpc>
                <a:spcPct val="127388"/>
              </a:lnSpc>
              <a:spcBef>
                <a:spcPts val="0"/>
              </a:spcBef>
              <a:spcAft>
                <a:spcPts val="0"/>
              </a:spcAft>
              <a:buClr>
                <a:srgbClr val="FFFFFF"/>
              </a:buClr>
              <a:buSzPts val="942"/>
              <a:buFont typeface="Calibri"/>
              <a:buNone/>
            </a:pPr>
            <a:r>
              <a:rPr b="0" i="0" lang="en-US" sz="942" u="none" cap="none" strike="noStrike">
                <a:solidFill>
                  <a:srgbClr val="FFFFFF"/>
                </a:solidFill>
                <a:latin typeface="Calibri"/>
                <a:ea typeface="Calibri"/>
                <a:cs typeface="Calibri"/>
                <a:sym typeface="Calibri"/>
              </a:rPr>
              <a:t>SOC 1, 2, and 3</a:t>
            </a:r>
            <a:endParaRPr b="0" i="0" sz="942" u="none" cap="none" strike="noStrike">
              <a:solidFill>
                <a:schemeClr val="dk1"/>
              </a:solidFill>
              <a:latin typeface="Calibri"/>
              <a:ea typeface="Calibri"/>
              <a:cs typeface="Calibri"/>
              <a:sym typeface="Calibri"/>
            </a:endParaRPr>
          </a:p>
        </p:txBody>
      </p:sp>
      <p:sp>
        <p:nvSpPr>
          <p:cNvPr id="470" name="Google Shape;470;p20"/>
          <p:cNvSpPr/>
          <p:nvPr/>
        </p:nvSpPr>
        <p:spPr>
          <a:xfrm>
            <a:off x="6915150" y="2768203"/>
            <a:ext cx="1657350" cy="175022"/>
          </a:xfrm>
          <a:prstGeom prst="rect">
            <a:avLst/>
          </a:prstGeom>
          <a:noFill/>
          <a:ln>
            <a:noFill/>
          </a:ln>
        </p:spPr>
        <p:txBody>
          <a:bodyPr anchorCtr="0" anchor="t" bIns="0" lIns="102100" spcFirstLastPara="1" rIns="0" wrap="square" tIns="0">
            <a:noAutofit/>
          </a:bodyPr>
          <a:lstStyle/>
          <a:p>
            <a:pPr indent="0" lvl="0" marL="0" marR="0" rtl="0" algn="l">
              <a:lnSpc>
                <a:spcPct val="127388"/>
              </a:lnSpc>
              <a:spcBef>
                <a:spcPts val="0"/>
              </a:spcBef>
              <a:spcAft>
                <a:spcPts val="0"/>
              </a:spcAft>
              <a:buClr>
                <a:srgbClr val="FFFFFF"/>
              </a:buClr>
              <a:buSzPts val="942"/>
              <a:buFont typeface="Calibri"/>
              <a:buNone/>
            </a:pPr>
            <a:r>
              <a:rPr b="0" i="0" lang="en-US" sz="942" u="none" cap="none" strike="noStrike">
                <a:solidFill>
                  <a:srgbClr val="FFFFFF"/>
                </a:solidFill>
                <a:latin typeface="Calibri"/>
                <a:ea typeface="Calibri"/>
                <a:cs typeface="Calibri"/>
                <a:sym typeface="Calibri"/>
              </a:rPr>
              <a:t>ISO 27001, 27017, 27018</a:t>
            </a:r>
            <a:endParaRPr b="0" i="0" sz="942" u="none" cap="none" strike="noStrike">
              <a:solidFill>
                <a:schemeClr val="dk1"/>
              </a:solidFill>
              <a:latin typeface="Calibri"/>
              <a:ea typeface="Calibri"/>
              <a:cs typeface="Calibri"/>
              <a:sym typeface="Calibri"/>
            </a:endParaRPr>
          </a:p>
        </p:txBody>
      </p:sp>
      <p:sp>
        <p:nvSpPr>
          <p:cNvPr id="471" name="Google Shape;471;p20"/>
          <p:cNvSpPr/>
          <p:nvPr/>
        </p:nvSpPr>
        <p:spPr>
          <a:xfrm>
            <a:off x="6915150" y="2986088"/>
            <a:ext cx="1657350" cy="175022"/>
          </a:xfrm>
          <a:prstGeom prst="rect">
            <a:avLst/>
          </a:prstGeom>
          <a:noFill/>
          <a:ln>
            <a:noFill/>
          </a:ln>
        </p:spPr>
        <p:txBody>
          <a:bodyPr anchorCtr="0" anchor="t" bIns="0" lIns="102100" spcFirstLastPara="1" rIns="0" wrap="square" tIns="0">
            <a:noAutofit/>
          </a:bodyPr>
          <a:lstStyle/>
          <a:p>
            <a:pPr indent="0" lvl="0" marL="0" marR="0" rtl="0" algn="l">
              <a:lnSpc>
                <a:spcPct val="127388"/>
              </a:lnSpc>
              <a:spcBef>
                <a:spcPts val="0"/>
              </a:spcBef>
              <a:spcAft>
                <a:spcPts val="0"/>
              </a:spcAft>
              <a:buClr>
                <a:srgbClr val="FFFFFF"/>
              </a:buClr>
              <a:buSzPts val="942"/>
              <a:buFont typeface="Calibri"/>
              <a:buNone/>
            </a:pPr>
            <a:r>
              <a:rPr b="0" i="0" lang="en-US" sz="942" u="none" cap="none" strike="noStrike">
                <a:solidFill>
                  <a:srgbClr val="FFFFFF"/>
                </a:solidFill>
                <a:latin typeface="Calibri"/>
                <a:ea typeface="Calibri"/>
                <a:cs typeface="Calibri"/>
                <a:sym typeface="Calibri"/>
              </a:rPr>
              <a:t>PCI DSS Level 1</a:t>
            </a:r>
            <a:endParaRPr b="0" i="0" sz="942" u="none" cap="none" strike="noStrike">
              <a:solidFill>
                <a:schemeClr val="dk1"/>
              </a:solidFill>
              <a:latin typeface="Calibri"/>
              <a:ea typeface="Calibri"/>
              <a:cs typeface="Calibri"/>
              <a:sym typeface="Calibri"/>
            </a:endParaRPr>
          </a:p>
        </p:txBody>
      </p:sp>
      <p:sp>
        <p:nvSpPr>
          <p:cNvPr id="472" name="Google Shape;472;p20"/>
          <p:cNvSpPr/>
          <p:nvPr/>
        </p:nvSpPr>
        <p:spPr>
          <a:xfrm>
            <a:off x="6915150" y="3203972"/>
            <a:ext cx="1657350" cy="175022"/>
          </a:xfrm>
          <a:prstGeom prst="rect">
            <a:avLst/>
          </a:prstGeom>
          <a:noFill/>
          <a:ln>
            <a:noFill/>
          </a:ln>
        </p:spPr>
        <p:txBody>
          <a:bodyPr anchorCtr="0" anchor="t" bIns="0" lIns="102100" spcFirstLastPara="1" rIns="0" wrap="square" tIns="0">
            <a:noAutofit/>
          </a:bodyPr>
          <a:lstStyle/>
          <a:p>
            <a:pPr indent="0" lvl="0" marL="0" marR="0" rtl="0" algn="l">
              <a:lnSpc>
                <a:spcPct val="127388"/>
              </a:lnSpc>
              <a:spcBef>
                <a:spcPts val="0"/>
              </a:spcBef>
              <a:spcAft>
                <a:spcPts val="0"/>
              </a:spcAft>
              <a:buClr>
                <a:srgbClr val="FFFFFF"/>
              </a:buClr>
              <a:buSzPts val="942"/>
              <a:buFont typeface="Calibri"/>
              <a:buNone/>
            </a:pPr>
            <a:r>
              <a:rPr b="0" i="0" lang="en-US" sz="942" u="none" cap="none" strike="noStrike">
                <a:solidFill>
                  <a:srgbClr val="FFFFFF"/>
                </a:solidFill>
                <a:latin typeface="Calibri"/>
                <a:ea typeface="Calibri"/>
                <a:cs typeface="Calibri"/>
                <a:sym typeface="Calibri"/>
              </a:rPr>
              <a:t>HIPAA eligible</a:t>
            </a:r>
            <a:endParaRPr b="0" i="0" sz="942" u="none" cap="none" strike="noStrike">
              <a:solidFill>
                <a:schemeClr val="dk1"/>
              </a:solidFill>
              <a:latin typeface="Calibri"/>
              <a:ea typeface="Calibri"/>
              <a:cs typeface="Calibri"/>
              <a:sym typeface="Calibri"/>
            </a:endParaRPr>
          </a:p>
        </p:txBody>
      </p:sp>
      <p:sp>
        <p:nvSpPr>
          <p:cNvPr id="473" name="Google Shape;473;p20"/>
          <p:cNvSpPr/>
          <p:nvPr/>
        </p:nvSpPr>
        <p:spPr>
          <a:xfrm>
            <a:off x="6915150" y="3421856"/>
            <a:ext cx="1657350" cy="350044"/>
          </a:xfrm>
          <a:prstGeom prst="rect">
            <a:avLst/>
          </a:prstGeom>
          <a:noFill/>
          <a:ln>
            <a:noFill/>
          </a:ln>
        </p:spPr>
        <p:txBody>
          <a:bodyPr anchorCtr="0" anchor="t" bIns="0" lIns="102100" spcFirstLastPara="1" rIns="0" wrap="square" tIns="0">
            <a:noAutofit/>
          </a:bodyPr>
          <a:lstStyle/>
          <a:p>
            <a:pPr indent="0" lvl="0" marL="0" marR="0" rtl="0" algn="l">
              <a:lnSpc>
                <a:spcPct val="127388"/>
              </a:lnSpc>
              <a:spcBef>
                <a:spcPts val="0"/>
              </a:spcBef>
              <a:spcAft>
                <a:spcPts val="0"/>
              </a:spcAft>
              <a:buClr>
                <a:srgbClr val="FFFFFF"/>
              </a:buClr>
              <a:buSzPts val="942"/>
              <a:buFont typeface="Calibri"/>
              <a:buNone/>
            </a:pPr>
            <a:r>
              <a:rPr b="0" i="0" lang="en-US" sz="942" u="none" cap="none" strike="noStrike">
                <a:solidFill>
                  <a:srgbClr val="FFFFFF"/>
                </a:solidFill>
                <a:latin typeface="Calibri"/>
                <a:ea typeface="Calibri"/>
                <a:cs typeface="Calibri"/>
                <a:sym typeface="Calibri"/>
              </a:rPr>
              <a:t>FedRAMP Moderate (select regions)</a:t>
            </a:r>
            <a:endParaRPr b="0" i="0" sz="942"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