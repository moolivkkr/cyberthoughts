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5143500" cy="9144000"/>
  <p:embeddedFontLst>
    <p:embeddedFont>
      <p:font typeface="Inter"/>
      <p:regular r:id="rId21"/>
      <p:bold r:id="rId22"/>
      <p:italic r:id="rId23"/>
      <p:boldItalic r:id="rId24"/>
    </p:embeddedFont>
    <p:embeddedFont>
      <p:font typeface="Merriweather"/>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erriweather-bold.fntdata"/><Relationship Id="rId25" Type="http://schemas.openxmlformats.org/officeDocument/2006/relationships/font" Target="fonts/Merriweather-regular.fntdata"/><Relationship Id="rId28" Type="http://schemas.openxmlformats.org/officeDocument/2006/relationships/font" Target="fonts/Merriweather-boldItalic.fntdata"/><Relationship Id="rId27" Type="http://schemas.openxmlformats.org/officeDocument/2006/relationships/font" Target="fonts/Merriweather-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everyone. Today I want to take you on a journey from the chaos of managing hundreds of thousands of distributed endpoints with fragmented security tooling, to a unified platform that fundamentally changes how we think about edge infrastructure security. Before we dive into the technology, I want to set the stage with a question: What happens when your fleet grows to 200,000 nodes, each running 8 different agents, each with its own certificate lifecycle, its own configuration drift, and its own failure modes? The answer is what we are living today — and the OpAMP Platform is how we fix it. By the end of this presentation, you will understand not just what OpAMP does, but why it exists, how it works at a technical level, and what the concrete business impact looks like. Let us begin.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me paint the picture of where we are today. On every single node in our fleet, we are running up to 8 separate agents. There is a logging agent, a metrics collector, a security scanner, a certificate manager, a configuration agent, a health monitor, an identity provider, and a compliance checker. Each one was deployed independently, each one has its own update cycle, its own configuration format, and its own failure modes. Now multiply that by 200,000 nodes. That is 1.6 million individual agent instances that our operations teams need to manage. Each agent consumes CPU and memory. Each agent opens its own network connections. Each agent has its own certificate that needs to be rotated. The operational overhead is staggering. But the real cost is not just operational — it is security. Every additional agent is an additional attack surface. Every agent with a stale certificate is a vulnerability. Every agent with configuration drift is a compliance gap. This is the problem we set out to solve.</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Following on from the sheer scale of the problem, let me put some hard numbers on this. Our analysis shows that the total cost of operating this fragmented agent architecture is approximately $1.84 million per year. That includes infrastructure costs for running 8 agents per node, the operational labor to manage them, and the incident costs when things go wrong. And things do go wrong. When a critical CVE is discovered in one of our agents, it takes us 30 to 90 days to fully patch it across the fleet. That is 30 to 90 days of exposure. In the world of zero-day exploits, that is an eternity. Certificate management is another pain point. We have had actual incidents caused by certificates expiring because the rotation was manual. When you are managing certificates across 200,000 nodes with different agents, manual processes simply do not scale. The bottom line is this: our current architecture has hit a wall. We cannot scale it further, we cannot secure it adequately, and we cannot afford it. Something has to change. And that is exactly what OpAMP delivers.</a:t>
            </a:r>
            <a:endParaRPr/>
          </a:p>
        </p:txBody>
      </p:sp>
      <p:sp>
        <p:nvSpPr>
          <p:cNvPr id="86" name="Google Shape;8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let me show you what the world looks like with OpAMP. This is the transformation slide, and I want you to focus on the 'Impact' column. We go from 8 agents per node to 1 unified Supervisor. That is an 88% reduction in agent footprint. We go from manual certificate management with actual expiry incidents to fully automatic rotation that triggers at 50% of the certificate TTL — meaning certificates are always fresh, always valid, zero incidents. Secret access drops from a full network round-trip to under 50 milliseconds through a local proxy. CVE response time collapses from months to under 24 hours because we are updating one binary instead of eight. And our identity model shifts from static, long-lived credentials to short-lived tokens that expire in 5 minutes — true zero standing access. The bottom line: $1.84 million per year in savings, 99.8% uptime, and zero certificate incidents. This is not a theoretical projection — this is what the architecture delivers. Now let me show you how.</a:t>
            </a:r>
            <a:endParaRPr/>
          </a:p>
        </p:txBody>
      </p:sp>
      <p:sp>
        <p:nvSpPr>
          <p:cNvPr id="132" name="Google Shape;13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OpAMP Platform is built on four foundational pillars. Think of these as the engineering primitives that enable everything else. First, the OpAMP Protocol. This is an OpenTelemetry standard for bidirectional agent-server communication. The key insight here is that it uses a single WebSocket connection per node — not per agent. So even with 200,000 nodes, we have 200,000 connections, not 1.6 million. And it is state-based, meaning it uses idempotent reconciliation rather than imperative commands. If a message is lost, the system self-heals. Second, the Supervisor. This is the unified node agent that replaces all 8 of those separate agents we talked about. It is a single binary that operates in three modes depending on the deployment context — we will dive into that shortly. Third, the Workload API. This is the local service that provides identity, secrets, and certificates to applications running on the node. The critical point is that applications never need to manage their own certificates. They just call localhost. Fourth, the SDK. Official client libraries in five languages that give developers a consistent, simple API. Auto-configuration, built-in caching, real-time secret rotation notifications — all handled transparently. These four pillars work together to enable the four capabilities: agent management, secrets management, certificate management, and zero trust identity. Let me now walk you through each one.</a:t>
            </a:r>
            <a:endParaRPr/>
          </a:p>
        </p:txBody>
      </p:sp>
      <p:sp>
        <p:nvSpPr>
          <p:cNvPr id="229" name="Google Shape;22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me explain the core technical innovation of the OpAMP protocol: state-based reconciliation. Traditional agent management systems use imperative commands, like 'install this package.' The problem is that if messages arrive out of order, or if one is lost, you end up in an inconsistent state. OpAMP takes a fundamentally different approach. The control plane sends the desired state: 'this is what your configuration should look like.' The Supervisor compares that desired state with its actual state, computes the difference, applies only what has changed, and reports back its new actual state. This is idempotent. You can send the same desired state a hundred times and nothing breaks. It is self-healing. If an agent drifts from its desired configuration, the next reconciliation cycle automatically corrects it. It is partition-tolerant. The Supervisor caches the last known desired state in a local SQLite database, so if the control plane goes down, the node continues operating with its last known good configuration. And it is efficient. We use Protocol Buffers for encoding, which is roughly 10 times smaller than equivalent JSON payloads. At 200,000 concurrent connections with 30-second heartbeats, that efficiency matters enormously. Now, let's look at how this single binary adapts to different environments.</a:t>
            </a:r>
            <a:endParaRPr/>
          </a:p>
        </p:txBody>
      </p:sp>
      <p:sp>
        <p:nvSpPr>
          <p:cNvPr id="295" name="Google Shape;29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Supervisor is a single compiled binary, but it operates in three distinct modes depending on the deployment context. This is critical for supporting our hybrid infrastructure. Init mode is the lightest. It runs as a Kubernetes init container, procures the initial certificates the application needs, writes them to a shared volume, and exits. It lives for seconds. This is perfect for workloads that just need bootstrap certificates. Sidecar mode runs alongside your application for the lifetime of the pod. It handles continuous certificate rotation, provides the Workload API for secret access, and monitors health. But it does not connect to the OpAMP control plane. This keeps the sidecar lightweight and reduces the connection count on the control plane. Full mode is the complete package. It runs for the lifetime of the node, connects to the OpAMP control plane, manages the lifecycle of other agents on the node, handles SSH certificates, collects telemetry, and provides all Workload API capabilities. This is what runs on your VMs and EC2 instances. The beauty of this design is that it is the same binary. You just change a flag. Operations teams learn one tool, security teams audit one codebase, and the deployment pipeline is unified. This leads us to the developer experience.</a:t>
            </a:r>
            <a:endParaRPr/>
          </a:p>
        </p:txBody>
      </p:sp>
      <p:sp>
        <p:nvSpPr>
          <p:cNvPr id="351" name="Google Shape;35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tells the story from the developer's perspective, and it is perhaps the most important perspective of all. On the left, you see the full architecture. The Supervisor connects to the Secrets Manager, the Certificate Service, and Athenz for authorization. All over mTLS with short-lived certificates. That is complex infrastructure. But look at what the developer actually sees on the right. Three lines of code. Create a client, get a secret, use it. The SDK auto-discovers the Workload API on localhost, authenticates via process attestation, and returns the secret. No certificates to manage, no mTLS to configure, no Vault tokens to rotate. And it gets better. The watch API lets applications subscribe to secret changes in real time. When a database password is rotated, your application gets notified immediately and can hot-reload without a restart. No more 'restart all pods after secret rotation.' The Workload API exposes 19 endpoints covering identity, secrets, authorization, and health. All via localhost, all secured by process attestation. The SDK is available in Go, Python, Node.js, Rust, and Java with a consistent API across all languages. This is the developer experience we are delivering. The complexity is real, but it is invisible to the people writing application code. This developer experience is built on a strong foundation of trust.</a:t>
            </a:r>
            <a:endParaRPr/>
          </a:p>
        </p:txBody>
      </p:sp>
      <p:sp>
        <p:nvSpPr>
          <p:cNvPr id="431" name="Google Shape;43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identity chain, and it is the cryptographic backbone of the entire zero trust architecture. Let me walk you through each level. At the top, we start with instance attestation. This is the hardware root of trust. On AWS, it is the EC2 instance profile. On Kubernetes, it is the service account token. This proves 'I am this specific compute instance' and it is tied to the instance lifecycle. From that hardware attestation, the Supervisor obtains a Node Identity. This is a SPIFFE SVID with a 24-hour TTL. It encodes the node's identity in a cryptographic certificate: 'I am node-001, in the production environment, in us-east-1.' The Supervisor then acts as a delegated certificate authority to issue Agent Identities to the workloads running on the node. These have a 1-hour TTL. Each agent gets its own SPIFFE SVID that says 'I am the cyber-otel agent running on node-001.' Finally, when an agent needs to access a resource, like reading a secret, it exchanges its SVID for a Role Token from Athenz. This token has a 5-minute TTL and grants specific, scoped permissions. Notice the pattern: each level has a shorter TTL than the one above it. 24 hours, 1 hour, 5 minutes. This is defense in depth through temporal scoping. Even if a credential is compromised, the blast radius is limited by the TTL. There is no standing access anywhere in this chain. Every permission is just-in-time and just-enough. This entire system is engineered for massive scale.</a:t>
            </a:r>
            <a:endParaRPr/>
          </a:p>
        </p:txBody>
      </p:sp>
      <p:sp>
        <p:nvSpPr>
          <p:cNvPr id="489" name="Google Shape;48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us talk about scale, because at 200,000 nodes, every architectural decision matters. The three numbers at the top are the ones I want you to remember. 200,000 concurrent managed nodes. That is our target and our tested capacity. Sub-500 millisecond connection latency. That is how fast a Supervisor can establish its WebSocket connection to the control plane, including the full mTLS handshake. And under 100 kilobytes of memory per agent connection on the server side. That is what makes 200,000 connections feasible on a reasonable number of control plane instances. How do we achieve this? WebSocket connection pooling with epoll for efficient I/O multiplexing. TLS session resumption so that reconnections after a network blip do not require a full handshake. Lightweight goroutines on the server side. Each connection is a goroutine, not a thread, so the memory overhead is minimal. Staggered rollout with jitter for configuration propagation. We do not push config to 200,000 nodes simultaneously. We stagger it over up to 4 hours with random jitter to prevent thundering herd effects. And critically, local SQLite caching on every Supervisor. If the control plane goes down, every node continues operating with its last known good configuration. The fleet does not go dark just because the control plane has a bad day. This robust engineering underpins our security architecture.</a:t>
            </a:r>
            <a:endParaRPr/>
          </a:p>
        </p:txBody>
      </p:sp>
      <p:sp>
        <p:nvSpPr>
          <p:cNvPr id="556" name="Google Shape;55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Security is not a feature of the OpAMP Platform — it is the foundation. Let me walk you through our four concentric layers of defense. The outermost layer is transport security. Every single connection in the system uses TLS 1.3 or higher. Every service-to-service connection uses mutual TLS — both sides present certificates. We use OCSP stapling with a fail-closed policy, meaning if we cannot verify that a certificate has not been revoked, we reject the connection. No exceptions. The second layer is identity verification. Every workload has a cryptographic identity via SPIFFE SVIDs with short TTLs. Every API call to the Workload API is verified via process attestation — we check the caller's UID, PID, and executable path. And the initial trust is rooted in instance attestation from the cloud provider. The third layer is authorization. We use Athenz for role-based access control with role tokens that expire in 5 minutes. Access is scoped to specific resources — a workload that needs to read secrets cannot write them, and it can only read the specific secrets it is authorized for. The innermost layer is audit and compliance. Every SSH session is recorded. Every secret access is logged. Every identity issuance is tracked. This gives us a complete, tamper-evident audit trail that satisfies NIST 800-207, SOC 2 Type II, PCI DSS, and achieves CISA Zero Trust Optimal maturity level. These layers are not independent — they reinforce each other. A compromised transport layer is mitigated by identity verification. A stolen identity is mitigated by short TTLs and authorization scoping. And everything is captured in the audit trail for forensic analysis. Now, let's look at how OpAMP integrates with your existing infrastructure.</a:t>
            </a:r>
            <a:endParaRPr/>
          </a:p>
        </p:txBody>
      </p:sp>
      <p:sp>
        <p:nvSpPr>
          <p:cNvPr id="602" name="Google Shape;60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common concern with any new platform is: "Does this mean we have to rip and replace our existing infrastructure?" The answer is absolutely not. OpAMP is designed as a unification layer. It plugs into your existing identity providers — whether that is SPIRE, Athenz, Kubernetes service accounts, or AWS IAM. It connects to your existing secret stores — Vault, AWS Secrets Manager, Azure Key Vault, GCP Secret Manager. It works with your existing PKI — your internal CA, Vault PKI, AWS ACM PCA, even Let's Encrypt. On the observability side, we are built on OpenTelemetry, so we integrate natively with Prometheus, Grafana, and the ELK stack. We connect to your directory services for user identity. And we deploy across all major cloud platforms as well as on-premises infrastructure. The point is this: OpAMP does not ask you to throw away your investments. It becomes the unified management layer that sits on top of all of all of it, providing a single pane of glass for agent management, secrets, certificates, and identity across your entire heterogeneous infrastructure. So, how do you get started with this powerful platform?</a:t>
            </a:r>
            <a:endParaRPr/>
          </a:p>
        </p:txBody>
      </p:sp>
      <p:sp>
        <p:nvSpPr>
          <p:cNvPr id="671" name="Google Shape;67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me bring it all together. We started with the problem: 8 agents per node, 1.6 million agent instances, $1.84 million per year in costs, and critical security gaps including 30-to-90-day CVE response windows and manual certificate expiry incidents. The OpAMP Platform solves this with four foundational pillars — the OpAMP Protocol for state-based fleet communication, the Supervisor as a unified node agent, the Workload API for local identity and secrets, and the SDK for a seamless developer experience. The result is a platform that is unified — one agent, one protocol, one management plane. Secure — zero trust from hardware attestation down to 5-minute role tokens, with four concentric layers of defense. And scalable — tested to 200,000+ nodes with sub-500ms latency and under 100KB memory per connection. You can pilot it in 2 weeks with zero disruption. You see ROI from day one. And you achieve CISA Zero Trust Optimal maturity. I would love to take your questions.</a:t>
            </a:r>
            <a:endParaRPr/>
          </a:p>
        </p:txBody>
      </p:sp>
      <p:sp>
        <p:nvSpPr>
          <p:cNvPr id="756" name="Google Shape;75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appendix slide provides the detailed deployment patterns for different environments. We saw how the Supervisor adapts its behavior based on the context. The VM pattern uses Full mode with OpAMP connectivity and manages local agents. The Kubernetes pattern uses Sidecar mode without OpAMP connectivity to keep the footprint minimal. And the Control Plane runs in a highly available configuration with three OpAMP Server instances, PostgreSQL replication, and Redis clustering for state cache. Each pattern is optimized for its environment while using the same Supervisor binary. This flexibility is key to our hybrid strategy.</a:t>
            </a:r>
            <a:endParaRPr/>
          </a:p>
        </p:txBody>
      </p:sp>
      <p:sp>
        <p:nvSpPr>
          <p:cNvPr id="798" name="Google Shape;79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0" name="Google Shape;88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complete feature matrix showing which component is responsible for each capability. Think of this as reference material for your architecture teams. The key takeaway is that the four components have clear, non-overlapping responsibilities. Together, they provide complete coverage across all four capability areas. OpAMP handles fleet-level operations, the Supervisor handles node-level operations, the Workload API handles application-level operations, and the SDK provides the developer interface. It is a truly comprehensive solution. Now, let's see it in action.</a:t>
            </a:r>
            <a:endParaRPr/>
          </a:p>
        </p:txBody>
      </p:sp>
      <p:sp>
        <p:nvSpPr>
          <p:cNvPr id="881" name="Google Shape;88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6" name="Google Shape;104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four demo scenarios you can use to showcase the platform in action. They highlight the speed and efficiency we have been discussing. Demo 1 shows the Supervisor startup and registration flow — from cold start to fully operational in under 30 seconds. Demo 2 shows the developer experience with the SDK — secret access and real-time rotation watching. Demo 3 shows SVID issuance via the Workload API — cryptographic identity in under 100 milliseconds. And Demo 4 shows real-time configuration push from the control plane to a specific node. Each demo can be run independently and takes about 2 minutes, making them perfect for quick demonstrations.</a:t>
            </a:r>
            <a:endParaRPr/>
          </a:p>
        </p:txBody>
      </p:sp>
      <p:sp>
        <p:nvSpPr>
          <p:cNvPr id="1047" name="Google Shape;104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2.jpg"/><Relationship Id="rId4" Type="http://schemas.openxmlformats.org/officeDocument/2006/relationships/image" Target="../media/image52.png"/><Relationship Id="rId5" Type="http://schemas.openxmlformats.org/officeDocument/2006/relationships/image" Target="../media/image21.png"/><Relationship Id="rId6" Type="http://schemas.openxmlformats.org/officeDocument/2006/relationships/image" Target="../media/image3.png"/><Relationship Id="rId7" Type="http://schemas.openxmlformats.org/officeDocument/2006/relationships/image" Target="../media/image28.png"/></Relationships>
</file>

<file path=ppt/slides/_rels/slide2.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png"/><Relationship Id="rId13" Type="http://schemas.openxmlformats.org/officeDocument/2006/relationships/image" Target="../media/image5.png"/><Relationship Id="rId12"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6.jpg"/><Relationship Id="rId4" Type="http://schemas.openxmlformats.org/officeDocument/2006/relationships/image" Target="../media/image4.png"/><Relationship Id="rId9"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2.png"/><Relationship Id="rId7" Type="http://schemas.openxmlformats.org/officeDocument/2006/relationships/image" Target="../media/image37.png"/><Relationship Id="rId8" Type="http://schemas.openxmlformats.org/officeDocument/2006/relationships/image" Target="../media/image4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0.jpg"/><Relationship Id="rId4" Type="http://schemas.openxmlformats.org/officeDocument/2006/relationships/image" Target="../media/image8.png"/><Relationship Id="rId5" Type="http://schemas.openxmlformats.org/officeDocument/2006/relationships/image" Target="../media/image39.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5.jpg"/><Relationship Id="rId4" Type="http://schemas.openxmlformats.org/officeDocument/2006/relationships/image" Target="../media/image35.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6.jp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9.png"/><Relationship Id="rId8" Type="http://schemas.openxmlformats.org/officeDocument/2006/relationships/image" Target="../media/image16.png"/></Relationships>
</file>

<file path=ppt/slides/_rels/slide6.xml.rels><?xml version="1.0" encoding="UTF-8" standalone="yes"?><Relationships xmlns="http://schemas.openxmlformats.org/package/2006/relationships"><Relationship Id="rId10" Type="http://schemas.openxmlformats.org/officeDocument/2006/relationships/image" Target="../media/image36.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0.jpg"/><Relationship Id="rId4" Type="http://schemas.openxmlformats.org/officeDocument/2006/relationships/image" Target="../media/image17.png"/><Relationship Id="rId9" Type="http://schemas.openxmlformats.org/officeDocument/2006/relationships/image" Target="../media/image29.png"/><Relationship Id="rId5" Type="http://schemas.openxmlformats.org/officeDocument/2006/relationships/image" Target="../media/image22.png"/><Relationship Id="rId6" Type="http://schemas.openxmlformats.org/officeDocument/2006/relationships/image" Target="../media/image18.png"/><Relationship Id="rId7" Type="http://schemas.openxmlformats.org/officeDocument/2006/relationships/image" Target="../media/image31.png"/><Relationship Id="rId8" Type="http://schemas.openxmlformats.org/officeDocument/2006/relationships/image" Target="../media/image33.png"/></Relationships>
</file>

<file path=ppt/slides/_rels/slide7.xml.rels><?xml version="1.0" encoding="UTF-8" standalone="yes"?><Relationships xmlns="http://schemas.openxmlformats.org/package/2006/relationships"><Relationship Id="rId11" Type="http://schemas.openxmlformats.org/officeDocument/2006/relationships/image" Target="../media/image43.png"/><Relationship Id="rId10" Type="http://schemas.openxmlformats.org/officeDocument/2006/relationships/image" Target="../media/image32.png"/><Relationship Id="rId13" Type="http://schemas.openxmlformats.org/officeDocument/2006/relationships/image" Target="../media/image48.png"/><Relationship Id="rId12" Type="http://schemas.openxmlformats.org/officeDocument/2006/relationships/image" Target="../media/image40.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6.jpg"/><Relationship Id="rId4" Type="http://schemas.openxmlformats.org/officeDocument/2006/relationships/image" Target="../media/image27.png"/><Relationship Id="rId9" Type="http://schemas.openxmlformats.org/officeDocument/2006/relationships/image" Target="../media/image38.png"/><Relationship Id="rId15" Type="http://schemas.openxmlformats.org/officeDocument/2006/relationships/image" Target="../media/image73.png"/><Relationship Id="rId14" Type="http://schemas.openxmlformats.org/officeDocument/2006/relationships/image" Target="../media/image65.png"/><Relationship Id="rId17" Type="http://schemas.openxmlformats.org/officeDocument/2006/relationships/image" Target="../media/image76.png"/><Relationship Id="rId16" Type="http://schemas.openxmlformats.org/officeDocument/2006/relationships/image" Target="../media/image42.png"/><Relationship Id="rId5" Type="http://schemas.openxmlformats.org/officeDocument/2006/relationships/image" Target="../media/image30.png"/><Relationship Id="rId19" Type="http://schemas.openxmlformats.org/officeDocument/2006/relationships/image" Target="../media/image45.png"/><Relationship Id="rId6" Type="http://schemas.openxmlformats.org/officeDocument/2006/relationships/image" Target="../media/image58.png"/><Relationship Id="rId18" Type="http://schemas.openxmlformats.org/officeDocument/2006/relationships/image" Target="../media/image46.png"/><Relationship Id="rId7" Type="http://schemas.openxmlformats.org/officeDocument/2006/relationships/image" Target="../media/image34.png"/><Relationship Id="rId8" Type="http://schemas.openxmlformats.org/officeDocument/2006/relationships/image" Target="../media/image7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6.jpg"/><Relationship Id="rId4" Type="http://schemas.openxmlformats.org/officeDocument/2006/relationships/image" Target="../media/image49.png"/><Relationship Id="rId5" Type="http://schemas.openxmlformats.org/officeDocument/2006/relationships/image" Target="../media/image64.png"/></Relationships>
</file>

<file path=ppt/slides/_rels/slide9.xml.rels><?xml version="1.0" encoding="UTF-8" standalone="yes"?><Relationships xmlns="http://schemas.openxmlformats.org/package/2006/relationships"><Relationship Id="rId10" Type="http://schemas.openxmlformats.org/officeDocument/2006/relationships/image" Target="../media/image66.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6.jpg"/><Relationship Id="rId4" Type="http://schemas.openxmlformats.org/officeDocument/2006/relationships/image" Target="../media/image50.png"/><Relationship Id="rId9" Type="http://schemas.openxmlformats.org/officeDocument/2006/relationships/image" Target="../media/image55.png"/><Relationship Id="rId5" Type="http://schemas.openxmlformats.org/officeDocument/2006/relationships/image" Target="../media/image68.png"/><Relationship Id="rId6" Type="http://schemas.openxmlformats.org/officeDocument/2006/relationships/image" Target="../media/image71.png"/><Relationship Id="rId7" Type="http://schemas.openxmlformats.org/officeDocument/2006/relationships/image" Target="../media/image51.png"/><Relationship Id="rId8" Type="http://schemas.openxmlformats.org/officeDocument/2006/relationships/image" Target="../media/image5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4.jpg"/><Relationship Id="rId4" Type="http://schemas.openxmlformats.org/officeDocument/2006/relationships/image" Target="../media/image79.png"/><Relationship Id="rId5" Type="http://schemas.openxmlformats.org/officeDocument/2006/relationships/image" Target="../media/image59.png"/></Relationships>
</file>

<file path=ppt/slides/_rels/slide11.xml.rels><?xml version="1.0" encoding="UTF-8" standalone="yes"?><Relationships xmlns="http://schemas.openxmlformats.org/package/2006/relationships"><Relationship Id="rId20" Type="http://schemas.openxmlformats.org/officeDocument/2006/relationships/image" Target="../media/image87.png"/><Relationship Id="rId11" Type="http://schemas.openxmlformats.org/officeDocument/2006/relationships/image" Target="../media/image104.png"/><Relationship Id="rId22" Type="http://schemas.openxmlformats.org/officeDocument/2006/relationships/image" Target="../media/image108.png"/><Relationship Id="rId10" Type="http://schemas.openxmlformats.org/officeDocument/2006/relationships/image" Target="../media/image81.png"/><Relationship Id="rId21" Type="http://schemas.openxmlformats.org/officeDocument/2006/relationships/image" Target="../media/image90.png"/><Relationship Id="rId13" Type="http://schemas.openxmlformats.org/officeDocument/2006/relationships/image" Target="../media/image83.png"/><Relationship Id="rId12" Type="http://schemas.openxmlformats.org/officeDocument/2006/relationships/image" Target="../media/image89.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6.jpg"/><Relationship Id="rId4" Type="http://schemas.openxmlformats.org/officeDocument/2006/relationships/image" Target="../media/image70.png"/><Relationship Id="rId9" Type="http://schemas.openxmlformats.org/officeDocument/2006/relationships/image" Target="../media/image102.png"/><Relationship Id="rId15" Type="http://schemas.openxmlformats.org/officeDocument/2006/relationships/image" Target="../media/image85.png"/><Relationship Id="rId14" Type="http://schemas.openxmlformats.org/officeDocument/2006/relationships/image" Target="../media/image121.png"/><Relationship Id="rId17" Type="http://schemas.openxmlformats.org/officeDocument/2006/relationships/image" Target="../media/image84.png"/><Relationship Id="rId16" Type="http://schemas.openxmlformats.org/officeDocument/2006/relationships/image" Target="../media/image93.png"/><Relationship Id="rId5" Type="http://schemas.openxmlformats.org/officeDocument/2006/relationships/image" Target="../media/image152.png"/><Relationship Id="rId19" Type="http://schemas.openxmlformats.org/officeDocument/2006/relationships/image" Target="../media/image111.png"/><Relationship Id="rId6" Type="http://schemas.openxmlformats.org/officeDocument/2006/relationships/image" Target="../media/image99.png"/><Relationship Id="rId18" Type="http://schemas.openxmlformats.org/officeDocument/2006/relationships/image" Target="../media/image86.png"/><Relationship Id="rId7" Type="http://schemas.openxmlformats.org/officeDocument/2006/relationships/image" Target="../media/image82.png"/><Relationship Id="rId8" Type="http://schemas.openxmlformats.org/officeDocument/2006/relationships/image" Target="../media/image77.png"/></Relationships>
</file>

<file path=ppt/slides/_rels/slide12.xml.rels><?xml version="1.0" encoding="UTF-8" standalone="yes"?><Relationships xmlns="http://schemas.openxmlformats.org/package/2006/relationships"><Relationship Id="rId10" Type="http://schemas.openxmlformats.org/officeDocument/2006/relationships/image" Target="../media/image95.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7.jpg"/><Relationship Id="rId4" Type="http://schemas.openxmlformats.org/officeDocument/2006/relationships/image" Target="../media/image96.png"/><Relationship Id="rId9" Type="http://schemas.openxmlformats.org/officeDocument/2006/relationships/image" Target="../media/image113.png"/><Relationship Id="rId5" Type="http://schemas.openxmlformats.org/officeDocument/2006/relationships/image" Target="../media/image92.png"/><Relationship Id="rId6" Type="http://schemas.openxmlformats.org/officeDocument/2006/relationships/image" Target="../media/image91.png"/><Relationship Id="rId7" Type="http://schemas.openxmlformats.org/officeDocument/2006/relationships/image" Target="../media/image107.png"/><Relationship Id="rId8" Type="http://schemas.openxmlformats.org/officeDocument/2006/relationships/image" Target="../media/image10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9.jpg"/><Relationship Id="rId4" Type="http://schemas.openxmlformats.org/officeDocument/2006/relationships/image" Target="../media/image114.png"/><Relationship Id="rId9" Type="http://schemas.openxmlformats.org/officeDocument/2006/relationships/image" Target="../media/image132.png"/><Relationship Id="rId5" Type="http://schemas.openxmlformats.org/officeDocument/2006/relationships/image" Target="../media/image97.png"/><Relationship Id="rId6" Type="http://schemas.openxmlformats.org/officeDocument/2006/relationships/image" Target="../media/image149.png"/><Relationship Id="rId7" Type="http://schemas.openxmlformats.org/officeDocument/2006/relationships/image" Target="../media/image122.png"/><Relationship Id="rId8" Type="http://schemas.openxmlformats.org/officeDocument/2006/relationships/image" Target="../media/image157.png"/></Relationships>
</file>

<file path=ppt/slides/_rels/slide15.xml.rels><?xml version="1.0" encoding="UTF-8" standalone="yes"?><Relationships xmlns="http://schemas.openxmlformats.org/package/2006/relationships"><Relationship Id="rId11" Type="http://schemas.openxmlformats.org/officeDocument/2006/relationships/image" Target="../media/image156.png"/><Relationship Id="rId10" Type="http://schemas.openxmlformats.org/officeDocument/2006/relationships/image" Target="../media/image127.png"/><Relationship Id="rId13" Type="http://schemas.openxmlformats.org/officeDocument/2006/relationships/image" Target="../media/image142.png"/><Relationship Id="rId12" Type="http://schemas.openxmlformats.org/officeDocument/2006/relationships/image" Target="../media/image160.png"/><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3.jpg"/><Relationship Id="rId4" Type="http://schemas.openxmlformats.org/officeDocument/2006/relationships/image" Target="../media/image112.png"/><Relationship Id="rId9" Type="http://schemas.openxmlformats.org/officeDocument/2006/relationships/image" Target="../media/image162.png"/><Relationship Id="rId5" Type="http://schemas.openxmlformats.org/officeDocument/2006/relationships/image" Target="../media/image155.png"/><Relationship Id="rId6" Type="http://schemas.openxmlformats.org/officeDocument/2006/relationships/image" Target="../media/image118.png"/><Relationship Id="rId7" Type="http://schemas.openxmlformats.org/officeDocument/2006/relationships/image" Target="../media/image123.png"/><Relationship Id="rId8" Type="http://schemas.openxmlformats.org/officeDocument/2006/relationships/image" Target="../media/image1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4.jpg"/><Relationship Id="rId4" Type="http://schemas.openxmlformats.org/officeDocument/2006/relationships/image" Target="../media/image148.png"/><Relationship Id="rId5" Type="http://schemas.openxmlformats.org/officeDocument/2006/relationships/image" Target="../media/image161.png"/><Relationship Id="rId6" Type="http://schemas.openxmlformats.org/officeDocument/2006/relationships/image" Target="../media/image154.png"/><Relationship Id="rId7" Type="http://schemas.openxmlformats.org/officeDocument/2006/relationships/image" Target="../media/image15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 name="Google Shape;17;p3"/>
          <p:cNvSpPr/>
          <p:nvPr/>
        </p:nvSpPr>
        <p:spPr>
          <a:xfrm>
            <a:off x="914400" y="970657"/>
            <a:ext cx="7315200" cy="646509"/>
          </a:xfrm>
          <a:prstGeom prst="rect">
            <a:avLst/>
          </a:prstGeom>
          <a:noFill/>
          <a:ln>
            <a:noFill/>
          </a:ln>
        </p:spPr>
        <p:txBody>
          <a:bodyPr anchorCtr="0" anchor="t" bIns="0" lIns="0" spcFirstLastPara="1" rIns="0" wrap="square" tIns="0">
            <a:noAutofit/>
          </a:bodyPr>
          <a:lstStyle/>
          <a:p>
            <a:pPr indent="0" lvl="0" marL="0" marR="0" rtl="0" algn="ctr">
              <a:lnSpc>
                <a:spcPct val="131332"/>
              </a:lnSpc>
              <a:spcBef>
                <a:spcPts val="0"/>
              </a:spcBef>
              <a:spcAft>
                <a:spcPts val="0"/>
              </a:spcAft>
              <a:buClr>
                <a:srgbClr val="FFFFFF"/>
              </a:buClr>
              <a:buSzPts val="3731"/>
              <a:buFont typeface="Merriweather"/>
              <a:buNone/>
            </a:pPr>
            <a:r>
              <a:rPr b="1" i="0" lang="en-US" sz="3731" u="none" cap="none" strike="noStrike">
                <a:solidFill>
                  <a:srgbClr val="FFFFFF"/>
                </a:solidFill>
                <a:latin typeface="Merriweather"/>
                <a:ea typeface="Merriweather"/>
                <a:cs typeface="Merriweather"/>
                <a:sym typeface="Merriweather"/>
              </a:rPr>
              <a:t>OpAMP Platform</a:t>
            </a:r>
            <a:endParaRPr b="0" i="0" sz="3731" u="none" cap="none" strike="noStrike">
              <a:solidFill>
                <a:schemeClr val="dk1"/>
              </a:solidFill>
              <a:latin typeface="Calibri"/>
              <a:ea typeface="Calibri"/>
              <a:cs typeface="Calibri"/>
              <a:sym typeface="Calibri"/>
            </a:endParaRPr>
          </a:p>
        </p:txBody>
      </p:sp>
      <p:sp>
        <p:nvSpPr>
          <p:cNvPr id="18" name="Google Shape;18;p3"/>
          <p:cNvSpPr/>
          <p:nvPr/>
        </p:nvSpPr>
        <p:spPr>
          <a:xfrm>
            <a:off x="914400" y="1760041"/>
            <a:ext cx="7315200" cy="276820"/>
          </a:xfrm>
          <a:prstGeom prst="rect">
            <a:avLst/>
          </a:prstGeom>
          <a:noFill/>
          <a:ln>
            <a:noFill/>
          </a:ln>
        </p:spPr>
        <p:txBody>
          <a:bodyPr anchorCtr="0" anchor="t" bIns="0" lIns="0" spcFirstLastPara="1" rIns="0" wrap="square" tIns="0">
            <a:noAutofit/>
          </a:bodyPr>
          <a:lstStyle/>
          <a:p>
            <a:pPr indent="0" lvl="0" marL="0" marR="0" rtl="0" algn="ctr">
              <a:lnSpc>
                <a:spcPct val="129107"/>
              </a:lnSpc>
              <a:spcBef>
                <a:spcPts val="0"/>
              </a:spcBef>
              <a:spcAft>
                <a:spcPts val="0"/>
              </a:spcAft>
              <a:buClr>
                <a:srgbClr val="00E5FF"/>
              </a:buClr>
              <a:buSzPts val="1704"/>
              <a:buFont typeface="Inter"/>
              <a:buNone/>
            </a:pPr>
            <a:r>
              <a:rPr b="0" i="0" lang="en-US" sz="1704" u="none" cap="none" strike="noStrike">
                <a:solidFill>
                  <a:srgbClr val="00E5FF"/>
                </a:solidFill>
                <a:latin typeface="Inter"/>
                <a:ea typeface="Inter"/>
                <a:cs typeface="Inter"/>
                <a:sym typeface="Inter"/>
              </a:rPr>
              <a:t>Taming the Chaos of Enterprise Edge Security at Scale</a:t>
            </a:r>
            <a:endParaRPr b="0" i="0" sz="1704" u="none" cap="none" strike="noStrike">
              <a:solidFill>
                <a:schemeClr val="dk1"/>
              </a:solidFill>
              <a:latin typeface="Calibri"/>
              <a:ea typeface="Calibri"/>
              <a:cs typeface="Calibri"/>
              <a:sym typeface="Calibri"/>
            </a:endParaRPr>
          </a:p>
        </p:txBody>
      </p:sp>
      <p:sp>
        <p:nvSpPr>
          <p:cNvPr id="19" name="Google Shape;19;p3"/>
          <p:cNvSpPr/>
          <p:nvPr/>
        </p:nvSpPr>
        <p:spPr>
          <a:xfrm>
            <a:off x="914400" y="2608362"/>
            <a:ext cx="7315200" cy="962620"/>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 name="Google Shape;20;p3"/>
          <p:cNvPicPr preferRelativeResize="0"/>
          <p:nvPr/>
        </p:nvPicPr>
        <p:blipFill rotWithShape="1">
          <a:blip r:embed="rId4">
            <a:alphaModFix/>
          </a:blip>
          <a:srcRect b="0" l="0" r="0" t="0"/>
          <a:stretch/>
        </p:blipFill>
        <p:spPr>
          <a:xfrm>
            <a:off x="1826121" y="2829818"/>
            <a:ext cx="321469" cy="257175"/>
          </a:xfrm>
          <a:prstGeom prst="rect">
            <a:avLst/>
          </a:prstGeom>
          <a:noFill/>
          <a:ln>
            <a:noFill/>
          </a:ln>
        </p:spPr>
      </p:pic>
      <p:sp>
        <p:nvSpPr>
          <p:cNvPr id="21" name="Google Shape;21;p3"/>
          <p:cNvSpPr/>
          <p:nvPr/>
        </p:nvSpPr>
        <p:spPr>
          <a:xfrm>
            <a:off x="1376958" y="3194149"/>
            <a:ext cx="1219795" cy="155377"/>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E0E0E0"/>
              </a:buClr>
              <a:buSzPts val="885"/>
              <a:buFont typeface="Inter"/>
              <a:buNone/>
            </a:pPr>
            <a:r>
              <a:rPr b="1" i="0" lang="en-US" sz="885" u="none" cap="none" strike="noStrike">
                <a:solidFill>
                  <a:srgbClr val="E0E0E0"/>
                </a:solidFill>
                <a:latin typeface="Inter"/>
                <a:ea typeface="Inter"/>
                <a:cs typeface="Inter"/>
                <a:sym typeface="Inter"/>
              </a:rPr>
              <a:t>Agent Management</a:t>
            </a:r>
            <a:endParaRPr b="0" i="0" sz="885" u="none" cap="none" strike="noStrike">
              <a:solidFill>
                <a:schemeClr val="dk1"/>
              </a:solidFill>
              <a:latin typeface="Calibri"/>
              <a:ea typeface="Calibri"/>
              <a:cs typeface="Calibri"/>
              <a:sym typeface="Calibri"/>
            </a:endParaRPr>
          </a:p>
        </p:txBody>
      </p:sp>
      <p:pic>
        <p:nvPicPr>
          <p:cNvPr descr="preencoded.png" id="22" name="Google Shape;22;p3"/>
          <p:cNvPicPr preferRelativeResize="0"/>
          <p:nvPr/>
        </p:nvPicPr>
        <p:blipFill rotWithShape="1">
          <a:blip r:embed="rId5">
            <a:alphaModFix/>
          </a:blip>
          <a:srcRect b="0" l="0" r="0" t="0"/>
          <a:stretch/>
        </p:blipFill>
        <p:spPr>
          <a:xfrm>
            <a:off x="3581698" y="2829818"/>
            <a:ext cx="257175" cy="257175"/>
          </a:xfrm>
          <a:prstGeom prst="rect">
            <a:avLst/>
          </a:prstGeom>
          <a:noFill/>
          <a:ln>
            <a:noFill/>
          </a:ln>
        </p:spPr>
      </p:pic>
      <p:sp>
        <p:nvSpPr>
          <p:cNvPr id="23" name="Google Shape;23;p3"/>
          <p:cNvSpPr/>
          <p:nvPr/>
        </p:nvSpPr>
        <p:spPr>
          <a:xfrm>
            <a:off x="3048595" y="3194149"/>
            <a:ext cx="1323380" cy="155377"/>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E0E0E0"/>
              </a:buClr>
              <a:buSzPts val="885"/>
              <a:buFont typeface="Inter"/>
              <a:buNone/>
            </a:pPr>
            <a:r>
              <a:rPr b="1" i="0" lang="en-US" sz="885" u="none" cap="none" strike="noStrike">
                <a:solidFill>
                  <a:srgbClr val="E0E0E0"/>
                </a:solidFill>
                <a:latin typeface="Inter"/>
                <a:ea typeface="Inter"/>
                <a:cs typeface="Inter"/>
                <a:sym typeface="Inter"/>
              </a:rPr>
              <a:t>Secrets Management</a:t>
            </a:r>
            <a:endParaRPr b="0" i="0" sz="885" u="none" cap="none" strike="noStrike">
              <a:solidFill>
                <a:schemeClr val="dk1"/>
              </a:solidFill>
              <a:latin typeface="Calibri"/>
              <a:ea typeface="Calibri"/>
              <a:cs typeface="Calibri"/>
              <a:sym typeface="Calibri"/>
            </a:endParaRPr>
          </a:p>
        </p:txBody>
      </p:sp>
      <p:pic>
        <p:nvPicPr>
          <p:cNvPr descr="preencoded.png" id="24" name="Google Shape;24;p3"/>
          <p:cNvPicPr preferRelativeResize="0"/>
          <p:nvPr/>
        </p:nvPicPr>
        <p:blipFill rotWithShape="1">
          <a:blip r:embed="rId6">
            <a:alphaModFix/>
          </a:blip>
          <a:srcRect b="0" l="0" r="0" t="0"/>
          <a:stretch/>
        </p:blipFill>
        <p:spPr>
          <a:xfrm>
            <a:off x="5305127" y="2829818"/>
            <a:ext cx="257175" cy="257175"/>
          </a:xfrm>
          <a:prstGeom prst="rect">
            <a:avLst/>
          </a:prstGeom>
          <a:noFill/>
          <a:ln>
            <a:noFill/>
          </a:ln>
        </p:spPr>
      </p:pic>
      <p:sp>
        <p:nvSpPr>
          <p:cNvPr id="25" name="Google Shape;25;p3"/>
          <p:cNvSpPr/>
          <p:nvPr/>
        </p:nvSpPr>
        <p:spPr>
          <a:xfrm>
            <a:off x="4680942" y="3194149"/>
            <a:ext cx="1505545" cy="155377"/>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E0E0E0"/>
              </a:buClr>
              <a:buSzPts val="885"/>
              <a:buFont typeface="Inter"/>
              <a:buNone/>
            </a:pPr>
            <a:r>
              <a:rPr b="1" i="0" lang="en-US" sz="885" u="none" cap="none" strike="noStrike">
                <a:solidFill>
                  <a:srgbClr val="E0E0E0"/>
                </a:solidFill>
                <a:latin typeface="Inter"/>
                <a:ea typeface="Inter"/>
                <a:cs typeface="Inter"/>
                <a:sym typeface="Inter"/>
              </a:rPr>
              <a:t>Certificate Management</a:t>
            </a:r>
            <a:endParaRPr b="0" i="0" sz="885" u="none" cap="none" strike="noStrike">
              <a:solidFill>
                <a:schemeClr val="dk1"/>
              </a:solidFill>
              <a:latin typeface="Calibri"/>
              <a:ea typeface="Calibri"/>
              <a:cs typeface="Calibri"/>
              <a:sym typeface="Calibri"/>
            </a:endParaRPr>
          </a:p>
        </p:txBody>
      </p:sp>
      <p:pic>
        <p:nvPicPr>
          <p:cNvPr descr="preencoded.png" id="26" name="Google Shape;26;p3"/>
          <p:cNvPicPr preferRelativeResize="0"/>
          <p:nvPr/>
        </p:nvPicPr>
        <p:blipFill rotWithShape="1">
          <a:blip r:embed="rId7">
            <a:alphaModFix/>
          </a:blip>
          <a:srcRect b="0" l="0" r="0" t="0"/>
          <a:stretch/>
        </p:blipFill>
        <p:spPr>
          <a:xfrm>
            <a:off x="7028557" y="2829818"/>
            <a:ext cx="257175" cy="257175"/>
          </a:xfrm>
          <a:prstGeom prst="rect">
            <a:avLst/>
          </a:prstGeom>
          <a:noFill/>
          <a:ln>
            <a:noFill/>
          </a:ln>
        </p:spPr>
      </p:pic>
      <p:sp>
        <p:nvSpPr>
          <p:cNvPr id="27" name="Google Shape;27;p3"/>
          <p:cNvSpPr/>
          <p:nvPr/>
        </p:nvSpPr>
        <p:spPr>
          <a:xfrm>
            <a:off x="6582073" y="3194149"/>
            <a:ext cx="1150144" cy="155377"/>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E0E0E0"/>
              </a:buClr>
              <a:buSzPts val="885"/>
              <a:buFont typeface="Inter"/>
              <a:buNone/>
            </a:pPr>
            <a:r>
              <a:rPr b="1" i="0" lang="en-US" sz="885" u="none" cap="none" strike="noStrike">
                <a:solidFill>
                  <a:srgbClr val="E0E0E0"/>
                </a:solidFill>
                <a:latin typeface="Inter"/>
                <a:ea typeface="Inter"/>
                <a:cs typeface="Inter"/>
                <a:sym typeface="Inter"/>
              </a:rPr>
              <a:t>Zero Trust Identity</a:t>
            </a:r>
            <a:endParaRPr b="0" i="0" sz="885" u="none" cap="none" strike="noStrike">
              <a:solidFill>
                <a:schemeClr val="dk1"/>
              </a:solidFill>
              <a:latin typeface="Calibri"/>
              <a:ea typeface="Calibri"/>
              <a:cs typeface="Calibri"/>
              <a:sym typeface="Calibri"/>
            </a:endParaRPr>
          </a:p>
        </p:txBody>
      </p:sp>
      <p:sp>
        <p:nvSpPr>
          <p:cNvPr id="28" name="Google Shape;28;p3"/>
          <p:cNvSpPr/>
          <p:nvPr/>
        </p:nvSpPr>
        <p:spPr>
          <a:xfrm>
            <a:off x="914400" y="3992463"/>
            <a:ext cx="7315200" cy="173236"/>
          </a:xfrm>
          <a:prstGeom prst="rect">
            <a:avLst/>
          </a:prstGeom>
          <a:noFill/>
          <a:ln>
            <a:noFill/>
          </a:ln>
        </p:spPr>
        <p:txBody>
          <a:bodyPr anchorCtr="0" anchor="t" bIns="0" lIns="0" spcFirstLastPara="1" rIns="0" wrap="square" tIns="0">
            <a:noAutofit/>
          </a:bodyPr>
          <a:lstStyle/>
          <a:p>
            <a:pPr indent="0" lvl="0" marL="0" marR="0" rtl="0" algn="ctr">
              <a:lnSpc>
                <a:spcPct val="141843"/>
              </a:lnSpc>
              <a:spcBef>
                <a:spcPts val="0"/>
              </a:spcBef>
              <a:spcAft>
                <a:spcPts val="0"/>
              </a:spcAft>
              <a:buClr>
                <a:srgbClr val="6B7280"/>
              </a:buClr>
              <a:buSzPts val="987"/>
              <a:buFont typeface="Inter"/>
              <a:buNone/>
            </a:pPr>
            <a:r>
              <a:rPr b="1" i="0" lang="en-US" sz="987" u="none" cap="none" strike="noStrike">
                <a:solidFill>
                  <a:srgbClr val="6B7280"/>
                </a:solidFill>
                <a:latin typeface="Inter"/>
                <a:ea typeface="Inter"/>
                <a:cs typeface="Inter"/>
                <a:sym typeface="Inter"/>
              </a:rPr>
              <a:t>ONE PLATFORM. FOUR CAPABILITIES. 200,000+ ENDPOINTS.</a:t>
            </a:r>
            <a:endParaRPr b="0" i="0" sz="987"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pic>
        <p:nvPicPr>
          <p:cNvPr descr="preencoded.png" id="34" name="Google Shape;34;p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5" name="Google Shape;35;p4"/>
          <p:cNvSpPr/>
          <p:nvPr/>
        </p:nvSpPr>
        <p:spPr>
          <a:xfrm>
            <a:off x="0" y="0"/>
            <a:ext cx="9144000" cy="96864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0" y="954360"/>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428625" y="285750"/>
            <a:ext cx="8286750" cy="668610"/>
          </a:xfrm>
          <a:prstGeom prst="rect">
            <a:avLst/>
          </a:prstGeom>
          <a:noFill/>
          <a:ln>
            <a:noFill/>
          </a:ln>
        </p:spPr>
        <p:txBody>
          <a:bodyPr anchorCtr="0" anchor="t" bIns="0" lIns="0" spcFirstLastPara="1" rIns="0" wrap="square" tIns="0">
            <a:noAutofit/>
          </a:bodyPr>
          <a:lstStyle/>
          <a:p>
            <a:pPr indent="0" lvl="0" marL="0" marR="0" rtl="0" algn="l">
              <a:lnSpc>
                <a:spcPct val="143805"/>
              </a:lnSpc>
              <a:spcBef>
                <a:spcPts val="0"/>
              </a:spcBef>
              <a:spcAft>
                <a:spcPts val="0"/>
              </a:spcAft>
              <a:buClr>
                <a:srgbClr val="FFFFFF"/>
              </a:buClr>
              <a:buSzPts val="1808"/>
              <a:buFont typeface="Merriweather"/>
              <a:buNone/>
            </a:pPr>
            <a:r>
              <a:rPr b="1" i="0" lang="en-US" sz="1808" u="none" cap="none" strike="noStrike">
                <a:solidFill>
                  <a:srgbClr val="FFFFFF"/>
                </a:solidFill>
                <a:latin typeface="Merriweather"/>
                <a:ea typeface="Merriweather"/>
                <a:cs typeface="Merriweather"/>
                <a:sym typeface="Merriweather"/>
              </a:rPr>
              <a:t>Managing 8 Separate Agents Per Node is Unsustainable at 200K Scale</a:t>
            </a:r>
            <a:endParaRPr b="0" i="0" sz="1808" u="none" cap="none" strike="noStrike">
              <a:solidFill>
                <a:schemeClr val="dk1"/>
              </a:solidFill>
              <a:latin typeface="Calibri"/>
              <a:ea typeface="Calibri"/>
              <a:cs typeface="Calibri"/>
              <a:sym typeface="Calibri"/>
            </a:endParaRPr>
          </a:p>
        </p:txBody>
      </p:sp>
      <p:sp>
        <p:nvSpPr>
          <p:cNvPr id="38" name="Google Shape;38;p4"/>
          <p:cNvSpPr/>
          <p:nvPr/>
        </p:nvSpPr>
        <p:spPr>
          <a:xfrm>
            <a:off x="428625" y="1240110"/>
            <a:ext cx="3729038" cy="2857500"/>
          </a:xfrm>
          <a:prstGeom prst="rect">
            <a:avLst/>
          </a:prstGeom>
          <a:solidFill>
            <a:srgbClr val="0D1B2A">
              <a:alpha val="50196"/>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1864519" y="2240235"/>
            <a:ext cx="857250" cy="857250"/>
          </a:xfrm>
          <a:prstGeom prst="rect">
            <a:avLst/>
          </a:prstGeom>
          <a:solidFill>
            <a:srgbClr val="0D1B2A"/>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 name="Google Shape;40;p4"/>
          <p:cNvPicPr preferRelativeResize="0"/>
          <p:nvPr/>
        </p:nvPicPr>
        <p:blipFill rotWithShape="1">
          <a:blip r:embed="rId4">
            <a:alphaModFix/>
          </a:blip>
          <a:srcRect b="0" l="0" r="0" t="0"/>
          <a:stretch/>
        </p:blipFill>
        <p:spPr>
          <a:xfrm>
            <a:off x="2178844" y="2458120"/>
            <a:ext cx="228600" cy="228600"/>
          </a:xfrm>
          <a:prstGeom prst="rect">
            <a:avLst/>
          </a:prstGeom>
          <a:noFill/>
          <a:ln>
            <a:noFill/>
          </a:ln>
        </p:spPr>
      </p:pic>
      <p:sp>
        <p:nvSpPr>
          <p:cNvPr id="41" name="Google Shape;41;p4"/>
          <p:cNvSpPr/>
          <p:nvPr/>
        </p:nvSpPr>
        <p:spPr>
          <a:xfrm>
            <a:off x="2037755" y="2758157"/>
            <a:ext cx="510778"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3F4F6"/>
              </a:buClr>
              <a:buSzPts val="683"/>
              <a:buFont typeface="Inter"/>
              <a:buNone/>
            </a:pPr>
            <a:r>
              <a:rPr b="1" i="0" lang="en-US" sz="683" u="none" cap="none" strike="noStrike">
                <a:solidFill>
                  <a:srgbClr val="F3F4F6"/>
                </a:solidFill>
                <a:latin typeface="Inter"/>
                <a:ea typeface="Inter"/>
                <a:cs typeface="Inter"/>
                <a:sym typeface="Inter"/>
              </a:rPr>
              <a:t>Host Node</a:t>
            </a:r>
            <a:endParaRPr b="0" i="0" sz="683" u="none" cap="none" strike="noStrike">
              <a:solidFill>
                <a:schemeClr val="dk1"/>
              </a:solidFill>
              <a:latin typeface="Calibri"/>
              <a:ea typeface="Calibri"/>
              <a:cs typeface="Calibri"/>
              <a:sym typeface="Calibri"/>
            </a:endParaRPr>
          </a:p>
        </p:txBody>
      </p:sp>
      <p:sp>
        <p:nvSpPr>
          <p:cNvPr id="42" name="Google Shape;42;p4"/>
          <p:cNvSpPr/>
          <p:nvPr/>
        </p:nvSpPr>
        <p:spPr>
          <a:xfrm>
            <a:off x="1935956" y="1454423"/>
            <a:ext cx="714375" cy="428625"/>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 name="Google Shape;43;p4"/>
          <p:cNvPicPr preferRelativeResize="0"/>
          <p:nvPr/>
        </p:nvPicPr>
        <p:blipFill rotWithShape="1">
          <a:blip r:embed="rId5">
            <a:alphaModFix/>
          </a:blip>
          <a:srcRect b="0" l="0" r="0" t="0"/>
          <a:stretch/>
        </p:blipFill>
        <p:spPr>
          <a:xfrm>
            <a:off x="2250281" y="1541041"/>
            <a:ext cx="85725" cy="114300"/>
          </a:xfrm>
          <a:prstGeom prst="rect">
            <a:avLst/>
          </a:prstGeom>
          <a:noFill/>
          <a:ln>
            <a:noFill/>
          </a:ln>
        </p:spPr>
      </p:pic>
      <p:sp>
        <p:nvSpPr>
          <p:cNvPr id="44" name="Google Shape;44;p4"/>
          <p:cNvSpPr/>
          <p:nvPr/>
        </p:nvSpPr>
        <p:spPr>
          <a:xfrm>
            <a:off x="2129730" y="1691060"/>
            <a:ext cx="326827" cy="105370"/>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F3F4F6"/>
              </a:buClr>
              <a:buSzPts val="621"/>
              <a:buFont typeface="Inter"/>
              <a:buNone/>
            </a:pPr>
            <a:r>
              <a:rPr b="0" i="0" lang="en-US" sz="621" u="none" cap="none" strike="noStrike">
                <a:solidFill>
                  <a:srgbClr val="F3F4F6"/>
                </a:solidFill>
                <a:latin typeface="Inter"/>
                <a:ea typeface="Inter"/>
                <a:cs typeface="Inter"/>
                <a:sym typeface="Inter"/>
              </a:rPr>
              <a:t>Logging</a:t>
            </a:r>
            <a:endParaRPr b="0" i="0" sz="621" u="none" cap="none" strike="noStrike">
              <a:solidFill>
                <a:schemeClr val="dk1"/>
              </a:solidFill>
              <a:latin typeface="Calibri"/>
              <a:ea typeface="Calibri"/>
              <a:cs typeface="Calibri"/>
              <a:sym typeface="Calibri"/>
            </a:endParaRPr>
          </a:p>
        </p:txBody>
      </p:sp>
      <p:sp>
        <p:nvSpPr>
          <p:cNvPr id="45" name="Google Shape;45;p4"/>
          <p:cNvSpPr/>
          <p:nvPr/>
        </p:nvSpPr>
        <p:spPr>
          <a:xfrm>
            <a:off x="3228975" y="1740173"/>
            <a:ext cx="714375" cy="428625"/>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 name="Google Shape;46;p4"/>
          <p:cNvPicPr preferRelativeResize="0"/>
          <p:nvPr/>
        </p:nvPicPr>
        <p:blipFill rotWithShape="1">
          <a:blip r:embed="rId6">
            <a:alphaModFix/>
          </a:blip>
          <a:srcRect b="0" l="0" r="0" t="0"/>
          <a:stretch/>
        </p:blipFill>
        <p:spPr>
          <a:xfrm>
            <a:off x="3529013" y="1826791"/>
            <a:ext cx="114300" cy="114300"/>
          </a:xfrm>
          <a:prstGeom prst="rect">
            <a:avLst/>
          </a:prstGeom>
          <a:noFill/>
          <a:ln>
            <a:noFill/>
          </a:ln>
        </p:spPr>
      </p:pic>
      <p:sp>
        <p:nvSpPr>
          <p:cNvPr id="47" name="Google Shape;47;p4"/>
          <p:cNvSpPr/>
          <p:nvPr/>
        </p:nvSpPr>
        <p:spPr>
          <a:xfrm>
            <a:off x="3435251" y="1976810"/>
            <a:ext cx="301823" cy="105370"/>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F3F4F6"/>
              </a:buClr>
              <a:buSzPts val="621"/>
              <a:buFont typeface="Inter"/>
              <a:buNone/>
            </a:pPr>
            <a:r>
              <a:rPr b="0" i="0" lang="en-US" sz="621" u="none" cap="none" strike="noStrike">
                <a:solidFill>
                  <a:srgbClr val="F3F4F6"/>
                </a:solidFill>
                <a:latin typeface="Inter"/>
                <a:ea typeface="Inter"/>
                <a:cs typeface="Inter"/>
                <a:sym typeface="Inter"/>
              </a:rPr>
              <a:t>Metrics</a:t>
            </a:r>
            <a:endParaRPr b="0" i="0" sz="621" u="none" cap="none" strike="noStrike">
              <a:solidFill>
                <a:schemeClr val="dk1"/>
              </a:solidFill>
              <a:latin typeface="Calibri"/>
              <a:ea typeface="Calibri"/>
              <a:cs typeface="Calibri"/>
              <a:sym typeface="Calibri"/>
            </a:endParaRPr>
          </a:p>
        </p:txBody>
      </p:sp>
      <p:sp>
        <p:nvSpPr>
          <p:cNvPr id="48" name="Google Shape;48;p4"/>
          <p:cNvSpPr/>
          <p:nvPr/>
        </p:nvSpPr>
        <p:spPr>
          <a:xfrm>
            <a:off x="3371850" y="2454548"/>
            <a:ext cx="714375" cy="428625"/>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4"/>
          <p:cNvPicPr preferRelativeResize="0"/>
          <p:nvPr/>
        </p:nvPicPr>
        <p:blipFill rotWithShape="1">
          <a:blip r:embed="rId7">
            <a:alphaModFix/>
          </a:blip>
          <a:srcRect b="0" l="0" r="0" t="0"/>
          <a:stretch/>
        </p:blipFill>
        <p:spPr>
          <a:xfrm>
            <a:off x="3671888" y="2541166"/>
            <a:ext cx="114300" cy="114300"/>
          </a:xfrm>
          <a:prstGeom prst="rect">
            <a:avLst/>
          </a:prstGeom>
          <a:noFill/>
          <a:ln>
            <a:noFill/>
          </a:ln>
        </p:spPr>
      </p:pic>
      <p:sp>
        <p:nvSpPr>
          <p:cNvPr id="50" name="Google Shape;50;p4"/>
          <p:cNvSpPr/>
          <p:nvPr/>
        </p:nvSpPr>
        <p:spPr>
          <a:xfrm>
            <a:off x="3561159" y="2691185"/>
            <a:ext cx="335756" cy="105370"/>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F3F4F6"/>
              </a:buClr>
              <a:buSzPts val="621"/>
              <a:buFont typeface="Inter"/>
              <a:buNone/>
            </a:pPr>
            <a:r>
              <a:rPr b="0" i="0" lang="en-US" sz="621" u="none" cap="none" strike="noStrike">
                <a:solidFill>
                  <a:srgbClr val="F3F4F6"/>
                </a:solidFill>
                <a:latin typeface="Inter"/>
                <a:ea typeface="Inter"/>
                <a:cs typeface="Inter"/>
                <a:sym typeface="Inter"/>
              </a:rPr>
              <a:t>Security</a:t>
            </a:r>
            <a:endParaRPr b="0" i="0" sz="621" u="none" cap="none" strike="noStrike">
              <a:solidFill>
                <a:schemeClr val="dk1"/>
              </a:solidFill>
              <a:latin typeface="Calibri"/>
              <a:ea typeface="Calibri"/>
              <a:cs typeface="Calibri"/>
              <a:sym typeface="Calibri"/>
            </a:endParaRPr>
          </a:p>
        </p:txBody>
      </p:sp>
      <p:sp>
        <p:nvSpPr>
          <p:cNvPr id="51" name="Google Shape;51;p4"/>
          <p:cNvSpPr/>
          <p:nvPr/>
        </p:nvSpPr>
        <p:spPr>
          <a:xfrm>
            <a:off x="3228975" y="3168923"/>
            <a:ext cx="714375" cy="428625"/>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 name="Google Shape;52;p4"/>
          <p:cNvPicPr preferRelativeResize="0"/>
          <p:nvPr/>
        </p:nvPicPr>
        <p:blipFill rotWithShape="1">
          <a:blip r:embed="rId8">
            <a:alphaModFix/>
          </a:blip>
          <a:srcRect b="0" l="0" r="0" t="0"/>
          <a:stretch/>
        </p:blipFill>
        <p:spPr>
          <a:xfrm>
            <a:off x="3529013" y="3255541"/>
            <a:ext cx="114300" cy="114300"/>
          </a:xfrm>
          <a:prstGeom prst="rect">
            <a:avLst/>
          </a:prstGeom>
          <a:noFill/>
          <a:ln>
            <a:noFill/>
          </a:ln>
        </p:spPr>
      </p:pic>
      <p:sp>
        <p:nvSpPr>
          <p:cNvPr id="53" name="Google Shape;53;p4"/>
          <p:cNvSpPr/>
          <p:nvPr/>
        </p:nvSpPr>
        <p:spPr>
          <a:xfrm>
            <a:off x="3476327" y="3405560"/>
            <a:ext cx="219670" cy="105370"/>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F3F4F6"/>
              </a:buClr>
              <a:buSzPts val="621"/>
              <a:buFont typeface="Inter"/>
              <a:buNone/>
            </a:pPr>
            <a:r>
              <a:rPr b="0" i="0" lang="en-US" sz="621" u="none" cap="none" strike="noStrike">
                <a:solidFill>
                  <a:srgbClr val="F3F4F6"/>
                </a:solidFill>
                <a:latin typeface="Inter"/>
                <a:ea typeface="Inter"/>
                <a:cs typeface="Inter"/>
                <a:sym typeface="Inter"/>
              </a:rPr>
              <a:t>Certs</a:t>
            </a:r>
            <a:endParaRPr b="0" i="0" sz="621" u="none" cap="none" strike="noStrike">
              <a:solidFill>
                <a:schemeClr val="dk1"/>
              </a:solidFill>
              <a:latin typeface="Calibri"/>
              <a:ea typeface="Calibri"/>
              <a:cs typeface="Calibri"/>
              <a:sym typeface="Calibri"/>
            </a:endParaRPr>
          </a:p>
        </p:txBody>
      </p:sp>
      <p:sp>
        <p:nvSpPr>
          <p:cNvPr id="54" name="Google Shape;54;p4"/>
          <p:cNvSpPr/>
          <p:nvPr/>
        </p:nvSpPr>
        <p:spPr>
          <a:xfrm>
            <a:off x="1935956" y="3454673"/>
            <a:ext cx="714375" cy="428625"/>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 name="Google Shape;55;p4"/>
          <p:cNvPicPr preferRelativeResize="0"/>
          <p:nvPr/>
        </p:nvPicPr>
        <p:blipFill rotWithShape="1">
          <a:blip r:embed="rId9">
            <a:alphaModFix/>
          </a:blip>
          <a:srcRect b="0" l="0" r="0" t="0"/>
          <a:stretch/>
        </p:blipFill>
        <p:spPr>
          <a:xfrm>
            <a:off x="2221706" y="3541291"/>
            <a:ext cx="142875" cy="114300"/>
          </a:xfrm>
          <a:prstGeom prst="rect">
            <a:avLst/>
          </a:prstGeom>
          <a:noFill/>
          <a:ln>
            <a:noFill/>
          </a:ln>
        </p:spPr>
      </p:pic>
      <p:sp>
        <p:nvSpPr>
          <p:cNvPr id="56" name="Google Shape;56;p4"/>
          <p:cNvSpPr/>
          <p:nvPr/>
        </p:nvSpPr>
        <p:spPr>
          <a:xfrm>
            <a:off x="2158305" y="3691310"/>
            <a:ext cx="269677" cy="105370"/>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F3F4F6"/>
              </a:buClr>
              <a:buSzPts val="621"/>
              <a:buFont typeface="Inter"/>
              <a:buNone/>
            </a:pPr>
            <a:r>
              <a:rPr b="0" i="0" lang="en-US" sz="621" u="none" cap="none" strike="noStrike">
                <a:solidFill>
                  <a:srgbClr val="F3F4F6"/>
                </a:solidFill>
                <a:latin typeface="Inter"/>
                <a:ea typeface="Inter"/>
                <a:cs typeface="Inter"/>
                <a:sym typeface="Inter"/>
              </a:rPr>
              <a:t>Config</a:t>
            </a:r>
            <a:endParaRPr b="0" i="0" sz="621" u="none" cap="none" strike="noStrike">
              <a:solidFill>
                <a:schemeClr val="dk1"/>
              </a:solidFill>
              <a:latin typeface="Calibri"/>
              <a:ea typeface="Calibri"/>
              <a:cs typeface="Calibri"/>
              <a:sym typeface="Calibri"/>
            </a:endParaRPr>
          </a:p>
        </p:txBody>
      </p:sp>
      <p:sp>
        <p:nvSpPr>
          <p:cNvPr id="57" name="Google Shape;57;p4"/>
          <p:cNvSpPr/>
          <p:nvPr/>
        </p:nvSpPr>
        <p:spPr>
          <a:xfrm>
            <a:off x="642938" y="3168923"/>
            <a:ext cx="714375" cy="428625"/>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 name="Google Shape;58;p4"/>
          <p:cNvPicPr preferRelativeResize="0"/>
          <p:nvPr/>
        </p:nvPicPr>
        <p:blipFill rotWithShape="1">
          <a:blip r:embed="rId10">
            <a:alphaModFix/>
          </a:blip>
          <a:srcRect b="0" l="0" r="0" t="0"/>
          <a:stretch/>
        </p:blipFill>
        <p:spPr>
          <a:xfrm>
            <a:off x="935831" y="3255541"/>
            <a:ext cx="128588" cy="114300"/>
          </a:xfrm>
          <a:prstGeom prst="rect">
            <a:avLst/>
          </a:prstGeom>
          <a:noFill/>
          <a:ln>
            <a:noFill/>
          </a:ln>
        </p:spPr>
      </p:pic>
      <p:sp>
        <p:nvSpPr>
          <p:cNvPr id="59" name="Google Shape;59;p4"/>
          <p:cNvSpPr/>
          <p:nvPr/>
        </p:nvSpPr>
        <p:spPr>
          <a:xfrm>
            <a:off x="867966" y="3405560"/>
            <a:ext cx="264319" cy="105370"/>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F3F4F6"/>
              </a:buClr>
              <a:buSzPts val="621"/>
              <a:buFont typeface="Inter"/>
              <a:buNone/>
            </a:pPr>
            <a:r>
              <a:rPr b="0" i="0" lang="en-US" sz="621" u="none" cap="none" strike="noStrike">
                <a:solidFill>
                  <a:srgbClr val="F3F4F6"/>
                </a:solidFill>
                <a:latin typeface="Inter"/>
                <a:ea typeface="Inter"/>
                <a:cs typeface="Inter"/>
                <a:sym typeface="Inter"/>
              </a:rPr>
              <a:t>Health</a:t>
            </a:r>
            <a:endParaRPr b="0" i="0" sz="621" u="none" cap="none" strike="noStrike">
              <a:solidFill>
                <a:schemeClr val="dk1"/>
              </a:solidFill>
              <a:latin typeface="Calibri"/>
              <a:ea typeface="Calibri"/>
              <a:cs typeface="Calibri"/>
              <a:sym typeface="Calibri"/>
            </a:endParaRPr>
          </a:p>
        </p:txBody>
      </p:sp>
      <p:sp>
        <p:nvSpPr>
          <p:cNvPr id="60" name="Google Shape;60;p4"/>
          <p:cNvSpPr/>
          <p:nvPr/>
        </p:nvSpPr>
        <p:spPr>
          <a:xfrm>
            <a:off x="500063" y="2454548"/>
            <a:ext cx="714375" cy="428625"/>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 name="Google Shape;61;p4"/>
          <p:cNvPicPr preferRelativeResize="0"/>
          <p:nvPr/>
        </p:nvPicPr>
        <p:blipFill rotWithShape="1">
          <a:blip r:embed="rId11">
            <a:alphaModFix/>
          </a:blip>
          <a:srcRect b="0" l="0" r="0" t="0"/>
          <a:stretch/>
        </p:blipFill>
        <p:spPr>
          <a:xfrm>
            <a:off x="814388" y="2541166"/>
            <a:ext cx="85725" cy="114300"/>
          </a:xfrm>
          <a:prstGeom prst="rect">
            <a:avLst/>
          </a:prstGeom>
          <a:noFill/>
          <a:ln>
            <a:noFill/>
          </a:ln>
        </p:spPr>
      </p:pic>
      <p:sp>
        <p:nvSpPr>
          <p:cNvPr id="62" name="Google Shape;62;p4"/>
          <p:cNvSpPr/>
          <p:nvPr/>
        </p:nvSpPr>
        <p:spPr>
          <a:xfrm>
            <a:off x="705445" y="2691185"/>
            <a:ext cx="303609" cy="105370"/>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F3F4F6"/>
              </a:buClr>
              <a:buSzPts val="621"/>
              <a:buFont typeface="Inter"/>
              <a:buNone/>
            </a:pPr>
            <a:r>
              <a:rPr b="0" i="0" lang="en-US" sz="621" u="none" cap="none" strike="noStrike">
                <a:solidFill>
                  <a:srgbClr val="F3F4F6"/>
                </a:solidFill>
                <a:latin typeface="Inter"/>
                <a:ea typeface="Inter"/>
                <a:cs typeface="Inter"/>
                <a:sym typeface="Inter"/>
              </a:rPr>
              <a:t>Identity</a:t>
            </a:r>
            <a:endParaRPr b="0" i="0" sz="621" u="none" cap="none" strike="noStrike">
              <a:solidFill>
                <a:schemeClr val="dk1"/>
              </a:solidFill>
              <a:latin typeface="Calibri"/>
              <a:ea typeface="Calibri"/>
              <a:cs typeface="Calibri"/>
              <a:sym typeface="Calibri"/>
            </a:endParaRPr>
          </a:p>
        </p:txBody>
      </p:sp>
      <p:sp>
        <p:nvSpPr>
          <p:cNvPr id="63" name="Google Shape;63;p4"/>
          <p:cNvSpPr/>
          <p:nvPr/>
        </p:nvSpPr>
        <p:spPr>
          <a:xfrm>
            <a:off x="642938" y="1740173"/>
            <a:ext cx="714375" cy="428625"/>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 name="Google Shape;64;p4"/>
          <p:cNvPicPr preferRelativeResize="0"/>
          <p:nvPr/>
        </p:nvPicPr>
        <p:blipFill rotWithShape="1">
          <a:blip r:embed="rId12">
            <a:alphaModFix/>
          </a:blip>
          <a:srcRect b="0" l="0" r="0" t="0"/>
          <a:stretch/>
        </p:blipFill>
        <p:spPr>
          <a:xfrm>
            <a:off x="950119" y="1826791"/>
            <a:ext cx="100013" cy="114300"/>
          </a:xfrm>
          <a:prstGeom prst="rect">
            <a:avLst/>
          </a:prstGeom>
          <a:noFill/>
          <a:ln>
            <a:noFill/>
          </a:ln>
        </p:spPr>
      </p:pic>
      <p:sp>
        <p:nvSpPr>
          <p:cNvPr id="65" name="Google Shape;65;p4"/>
          <p:cNvSpPr/>
          <p:nvPr/>
        </p:nvSpPr>
        <p:spPr>
          <a:xfrm>
            <a:off x="894755" y="1976810"/>
            <a:ext cx="210741" cy="105370"/>
          </a:xfrm>
          <a:prstGeom prst="rect">
            <a:avLst/>
          </a:prstGeom>
          <a:noFill/>
          <a:ln>
            <a:noFill/>
          </a:ln>
        </p:spPr>
        <p:txBody>
          <a:bodyPr anchorCtr="0" anchor="t" bIns="0" lIns="0" spcFirstLastPara="1" rIns="0" wrap="square" tIns="0">
            <a:noAutofit/>
          </a:bodyPr>
          <a:lstStyle/>
          <a:p>
            <a:pPr indent="0" lvl="0" marL="0" marR="0" rtl="0" algn="ctr">
              <a:lnSpc>
                <a:spcPct val="128824"/>
              </a:lnSpc>
              <a:spcBef>
                <a:spcPts val="0"/>
              </a:spcBef>
              <a:spcAft>
                <a:spcPts val="0"/>
              </a:spcAft>
              <a:buClr>
                <a:srgbClr val="F3F4F6"/>
              </a:buClr>
              <a:buSzPts val="621"/>
              <a:buFont typeface="Inter"/>
              <a:buNone/>
            </a:pPr>
            <a:r>
              <a:rPr b="0" i="0" lang="en-US" sz="621" u="none" cap="none" strike="noStrike">
                <a:solidFill>
                  <a:srgbClr val="F3F4F6"/>
                </a:solidFill>
                <a:latin typeface="Inter"/>
                <a:ea typeface="Inter"/>
                <a:cs typeface="Inter"/>
                <a:sym typeface="Inter"/>
              </a:rPr>
              <a:t>Audit</a:t>
            </a:r>
            <a:endParaRPr b="0" i="0" sz="621" u="none" cap="none" strike="noStrike">
              <a:solidFill>
                <a:schemeClr val="dk1"/>
              </a:solidFill>
              <a:latin typeface="Calibri"/>
              <a:ea typeface="Calibri"/>
              <a:cs typeface="Calibri"/>
              <a:sym typeface="Calibri"/>
            </a:endParaRPr>
          </a:p>
        </p:txBody>
      </p:sp>
      <p:sp>
        <p:nvSpPr>
          <p:cNvPr id="66" name="Google Shape;66;p4"/>
          <p:cNvSpPr/>
          <p:nvPr/>
        </p:nvSpPr>
        <p:spPr>
          <a:xfrm>
            <a:off x="1323380" y="4240485"/>
            <a:ext cx="1939528"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6B7280"/>
              </a:buClr>
              <a:buSzPts val="885"/>
              <a:buFont typeface="Inter"/>
              <a:buNone/>
            </a:pPr>
            <a:r>
              <a:rPr b="1" i="0" lang="en-US" sz="885" u="none" cap="none" strike="noStrike">
                <a:solidFill>
                  <a:srgbClr val="6B7280"/>
                </a:solidFill>
                <a:latin typeface="Inter"/>
                <a:ea typeface="Inter"/>
                <a:cs typeface="Inter"/>
                <a:sym typeface="Inter"/>
              </a:rPr>
              <a:t>CURRENT STATE: PER NODE</a:t>
            </a:r>
            <a:endParaRPr b="0" i="0" sz="885" u="none" cap="none" strike="noStrike">
              <a:solidFill>
                <a:schemeClr val="dk1"/>
              </a:solidFill>
              <a:latin typeface="Calibri"/>
              <a:ea typeface="Calibri"/>
              <a:cs typeface="Calibri"/>
              <a:sym typeface="Calibri"/>
            </a:endParaRPr>
          </a:p>
        </p:txBody>
      </p:sp>
      <p:sp>
        <p:nvSpPr>
          <p:cNvPr id="67" name="Google Shape;67;p4"/>
          <p:cNvSpPr/>
          <p:nvPr/>
        </p:nvSpPr>
        <p:spPr>
          <a:xfrm>
            <a:off x="4586288" y="1240110"/>
            <a:ext cx="4129088" cy="842963"/>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4586288" y="1240110"/>
            <a:ext cx="28575" cy="842963"/>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4764881" y="1418704"/>
            <a:ext cx="3771900" cy="207169"/>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1.6 Million Agent Instances</a:t>
            </a:r>
            <a:endParaRPr b="0" i="0" sz="1193" u="none" cap="none" strike="noStrike">
              <a:solidFill>
                <a:schemeClr val="dk1"/>
              </a:solidFill>
              <a:latin typeface="Calibri"/>
              <a:ea typeface="Calibri"/>
              <a:cs typeface="Calibri"/>
              <a:sym typeface="Calibri"/>
            </a:endParaRPr>
          </a:p>
        </p:txBody>
      </p:sp>
      <p:sp>
        <p:nvSpPr>
          <p:cNvPr id="70" name="Google Shape;70;p4"/>
          <p:cNvSpPr/>
          <p:nvPr/>
        </p:nvSpPr>
        <p:spPr>
          <a:xfrm>
            <a:off x="4764881" y="1697310"/>
            <a:ext cx="3771900"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8 Agents × 200,000 Nodes creates an unmanageable volume of individual software components across the fleet.</a:t>
            </a:r>
            <a:endParaRPr b="0" i="0" sz="942" u="none" cap="none" strike="noStrike">
              <a:solidFill>
                <a:schemeClr val="dk1"/>
              </a:solidFill>
              <a:latin typeface="Calibri"/>
              <a:ea typeface="Calibri"/>
              <a:cs typeface="Calibri"/>
              <a:sym typeface="Calibri"/>
            </a:endParaRPr>
          </a:p>
        </p:txBody>
      </p:sp>
      <p:sp>
        <p:nvSpPr>
          <p:cNvPr id="71" name="Google Shape;71;p4"/>
          <p:cNvSpPr/>
          <p:nvPr/>
        </p:nvSpPr>
        <p:spPr>
          <a:xfrm>
            <a:off x="4586288" y="2297385"/>
            <a:ext cx="4129088" cy="842963"/>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4586288" y="2297385"/>
            <a:ext cx="28575" cy="842963"/>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4764881" y="2475979"/>
            <a:ext cx="3771900" cy="207169"/>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Fragmented Lifecycles</a:t>
            </a:r>
            <a:endParaRPr b="0" i="0" sz="1193" u="none" cap="none" strike="noStrike">
              <a:solidFill>
                <a:schemeClr val="dk1"/>
              </a:solidFill>
              <a:latin typeface="Calibri"/>
              <a:ea typeface="Calibri"/>
              <a:cs typeface="Calibri"/>
              <a:sym typeface="Calibri"/>
            </a:endParaRPr>
          </a:p>
        </p:txBody>
      </p:sp>
      <p:sp>
        <p:nvSpPr>
          <p:cNvPr id="74" name="Google Shape;74;p4"/>
          <p:cNvSpPr/>
          <p:nvPr/>
        </p:nvSpPr>
        <p:spPr>
          <a:xfrm>
            <a:off x="4764881" y="2754585"/>
            <a:ext cx="3771900"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Each agent requires its own separate installation, configuration, update, and monitoring cycle.</a:t>
            </a:r>
            <a:endParaRPr b="0" i="0" sz="942" u="none" cap="none" strike="noStrike">
              <a:solidFill>
                <a:schemeClr val="dk1"/>
              </a:solidFill>
              <a:latin typeface="Calibri"/>
              <a:ea typeface="Calibri"/>
              <a:cs typeface="Calibri"/>
              <a:sym typeface="Calibri"/>
            </a:endParaRPr>
          </a:p>
        </p:txBody>
      </p:sp>
      <p:sp>
        <p:nvSpPr>
          <p:cNvPr id="75" name="Google Shape;75;p4"/>
          <p:cNvSpPr/>
          <p:nvPr/>
        </p:nvSpPr>
        <p:spPr>
          <a:xfrm>
            <a:off x="4586288" y="3354660"/>
            <a:ext cx="4129088" cy="842963"/>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4586288" y="3354660"/>
            <a:ext cx="28575" cy="842963"/>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4764881" y="3533254"/>
            <a:ext cx="3771900" cy="207169"/>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Inter"/>
              <a:buNone/>
            </a:pPr>
            <a:r>
              <a:rPr b="1" i="0" lang="en-US" sz="1193" u="none" cap="none" strike="noStrike">
                <a:solidFill>
                  <a:srgbClr val="FFFFFF"/>
                </a:solidFill>
                <a:latin typeface="Inter"/>
                <a:ea typeface="Inter"/>
                <a:cs typeface="Inter"/>
                <a:sym typeface="Inter"/>
              </a:rPr>
              <a:t>Massive Resource Tax</a:t>
            </a:r>
            <a:endParaRPr b="0" i="0" sz="1193" u="none" cap="none" strike="noStrike">
              <a:solidFill>
                <a:schemeClr val="dk1"/>
              </a:solidFill>
              <a:latin typeface="Calibri"/>
              <a:ea typeface="Calibri"/>
              <a:cs typeface="Calibri"/>
              <a:sym typeface="Calibri"/>
            </a:endParaRPr>
          </a:p>
        </p:txBody>
      </p:sp>
      <p:sp>
        <p:nvSpPr>
          <p:cNvPr id="78" name="Google Shape;78;p4"/>
          <p:cNvSpPr/>
          <p:nvPr/>
        </p:nvSpPr>
        <p:spPr>
          <a:xfrm>
            <a:off x="4764881" y="3811860"/>
            <a:ext cx="3771900" cy="385763"/>
          </a:xfrm>
          <a:prstGeom prst="rect">
            <a:avLst/>
          </a:prstGeom>
          <a:noFill/>
          <a:ln>
            <a:noFill/>
          </a:ln>
        </p:spPr>
        <p:txBody>
          <a:bodyPr anchorCtr="0" anchor="t" bIns="0" lIns="0" spcFirstLastPara="1" rIns="0" wrap="square" tIns="0">
            <a:noAutofit/>
          </a:bodyPr>
          <a:lstStyle/>
          <a:p>
            <a:pPr indent="0" lvl="0" marL="0" marR="0" rtl="0" algn="l">
              <a:lnSpc>
                <a:spcPct val="159235"/>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CPU and memory overhead is </a:t>
            </a:r>
            <a:r>
              <a:rPr b="1" i="0" lang="en-US" sz="885" u="none" cap="none" strike="noStrike">
                <a:solidFill>
                  <a:srgbClr val="F59E0B"/>
                </a:solidFill>
                <a:latin typeface="Inter"/>
                <a:ea typeface="Inter"/>
                <a:cs typeface="Inter"/>
                <a:sym typeface="Inter"/>
              </a:rPr>
              <a:t>8× higher</a:t>
            </a:r>
            <a:r>
              <a:rPr b="0" i="0" lang="en-US" sz="942" u="none" cap="none" strike="noStrike">
                <a:solidFill>
                  <a:srgbClr val="E0E0E0"/>
                </a:solidFill>
                <a:latin typeface="Inter"/>
                <a:ea typeface="Inter"/>
                <a:cs typeface="Inter"/>
                <a:sym typeface="Inter"/>
              </a:rPr>
              <a:t> than a unified approach, wasting expensive compute resources.</a:t>
            </a:r>
            <a:endParaRPr b="0" i="0" sz="942" u="none" cap="none" strike="noStrike">
              <a:solidFill>
                <a:schemeClr val="dk1"/>
              </a:solidFill>
              <a:latin typeface="Calibri"/>
              <a:ea typeface="Calibri"/>
              <a:cs typeface="Calibri"/>
              <a:sym typeface="Calibri"/>
            </a:endParaRPr>
          </a:p>
        </p:txBody>
      </p:sp>
      <p:sp>
        <p:nvSpPr>
          <p:cNvPr id="79" name="Google Shape;79;p4"/>
          <p:cNvSpPr/>
          <p:nvPr/>
        </p:nvSpPr>
        <p:spPr>
          <a:xfrm>
            <a:off x="0" y="4572000"/>
            <a:ext cx="9144000" cy="5715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0" y="4572000"/>
            <a:ext cx="91440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 name="Google Shape;81;p4"/>
          <p:cNvPicPr preferRelativeResize="0"/>
          <p:nvPr/>
        </p:nvPicPr>
        <p:blipFill rotWithShape="1">
          <a:blip r:embed="rId13">
            <a:alphaModFix/>
          </a:blip>
          <a:srcRect b="0" l="0" r="0" t="0"/>
          <a:stretch/>
        </p:blipFill>
        <p:spPr>
          <a:xfrm>
            <a:off x="1623417" y="4785420"/>
            <a:ext cx="142875" cy="142875"/>
          </a:xfrm>
          <a:prstGeom prst="rect">
            <a:avLst/>
          </a:prstGeom>
          <a:noFill/>
          <a:ln>
            <a:noFill/>
          </a:ln>
        </p:spPr>
      </p:pic>
      <p:sp>
        <p:nvSpPr>
          <p:cNvPr id="82" name="Google Shape;82;p4"/>
          <p:cNvSpPr/>
          <p:nvPr/>
        </p:nvSpPr>
        <p:spPr>
          <a:xfrm>
            <a:off x="1837730" y="4771132"/>
            <a:ext cx="5682853"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5FF"/>
              </a:buClr>
              <a:buSzPts val="987"/>
              <a:buFont typeface="Inter"/>
              <a:buNone/>
            </a:pPr>
            <a:r>
              <a:rPr b="1" i="0" lang="en-US" sz="987" u="none" cap="none" strike="noStrike">
                <a:solidFill>
                  <a:srgbClr val="00E5FF"/>
                </a:solidFill>
                <a:latin typeface="Inter"/>
                <a:ea typeface="Inter"/>
                <a:cs typeface="Inter"/>
                <a:sym typeface="Inter"/>
              </a:rPr>
              <a:t>Every additional agent multiplies operational complexity, attack surface, and cost.</a:t>
            </a:r>
            <a:endParaRPr b="0" i="0" sz="987"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preencoded.png" id="88" name="Google Shape;88;p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9" name="Google Shape;89;p5"/>
          <p:cNvSpPr/>
          <p:nvPr/>
        </p:nvSpPr>
        <p:spPr>
          <a:xfrm>
            <a:off x="0" y="0"/>
            <a:ext cx="9144000" cy="96864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0" y="954360"/>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428625" y="285750"/>
            <a:ext cx="8286750" cy="668610"/>
          </a:xfrm>
          <a:prstGeom prst="rect">
            <a:avLst/>
          </a:prstGeom>
          <a:noFill/>
          <a:ln>
            <a:noFill/>
          </a:ln>
        </p:spPr>
        <p:txBody>
          <a:bodyPr anchorCtr="0" anchor="t" bIns="0" lIns="0" spcFirstLastPara="1" rIns="0" wrap="square" tIns="0">
            <a:noAutofit/>
          </a:bodyPr>
          <a:lstStyle/>
          <a:p>
            <a:pPr indent="0" lvl="0" marL="0" marR="0" rtl="0" algn="l">
              <a:lnSpc>
                <a:spcPct val="143805"/>
              </a:lnSpc>
              <a:spcBef>
                <a:spcPts val="0"/>
              </a:spcBef>
              <a:spcAft>
                <a:spcPts val="0"/>
              </a:spcAft>
              <a:buClr>
                <a:srgbClr val="FFFFFF"/>
              </a:buClr>
              <a:buSzPts val="1808"/>
              <a:buFont typeface="Merriweather"/>
              <a:buNone/>
            </a:pPr>
            <a:r>
              <a:rPr b="1" i="0" lang="en-US" sz="1808" u="none" cap="none" strike="noStrike">
                <a:solidFill>
                  <a:srgbClr val="FFFFFF"/>
                </a:solidFill>
                <a:latin typeface="Merriweather"/>
                <a:ea typeface="Merriweather"/>
                <a:cs typeface="Merriweather"/>
                <a:sym typeface="Merriweather"/>
              </a:rPr>
              <a:t>Fragmented Security Costs $1.84M Annually and Leaves Critical CVE Windows Open</a:t>
            </a:r>
            <a:endParaRPr b="0" i="0" sz="1808" u="none" cap="none" strike="noStrike">
              <a:solidFill>
                <a:schemeClr val="dk1"/>
              </a:solidFill>
              <a:latin typeface="Calibri"/>
              <a:ea typeface="Calibri"/>
              <a:cs typeface="Calibri"/>
              <a:sym typeface="Calibri"/>
            </a:endParaRPr>
          </a:p>
        </p:txBody>
      </p:sp>
      <p:sp>
        <p:nvSpPr>
          <p:cNvPr id="92" name="Google Shape;92;p5"/>
          <p:cNvSpPr/>
          <p:nvPr/>
        </p:nvSpPr>
        <p:spPr>
          <a:xfrm>
            <a:off x="428625" y="1240110"/>
            <a:ext cx="2619384" cy="1293354"/>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428625" y="1240110"/>
            <a:ext cx="2619384"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4" name="Google Shape;94;p5"/>
          <p:cNvPicPr preferRelativeResize="0"/>
          <p:nvPr/>
        </p:nvPicPr>
        <p:blipFill rotWithShape="1">
          <a:blip r:embed="rId4">
            <a:alphaModFix/>
          </a:blip>
          <a:srcRect b="0" l="0" r="0" t="0"/>
          <a:stretch/>
        </p:blipFill>
        <p:spPr>
          <a:xfrm>
            <a:off x="1666866" y="1454423"/>
            <a:ext cx="142875" cy="228600"/>
          </a:xfrm>
          <a:prstGeom prst="rect">
            <a:avLst/>
          </a:prstGeom>
          <a:noFill/>
          <a:ln>
            <a:noFill/>
          </a:ln>
        </p:spPr>
      </p:pic>
      <p:sp>
        <p:nvSpPr>
          <p:cNvPr id="95" name="Google Shape;95;p5"/>
          <p:cNvSpPr/>
          <p:nvPr/>
        </p:nvSpPr>
        <p:spPr>
          <a:xfrm>
            <a:off x="880160" y="1790179"/>
            <a:ext cx="1716286" cy="323255"/>
          </a:xfrm>
          <a:prstGeom prst="rect">
            <a:avLst/>
          </a:prstGeom>
          <a:noFill/>
          <a:ln>
            <a:noFill/>
          </a:ln>
        </p:spPr>
        <p:txBody>
          <a:bodyPr anchorCtr="0" anchor="t" bIns="0" lIns="0" spcFirstLastPara="1" rIns="0" wrap="square" tIns="0">
            <a:noAutofit/>
          </a:bodyPr>
          <a:lstStyle/>
          <a:p>
            <a:pPr indent="0" lvl="0" marL="0" marR="0" rtl="0" algn="ctr">
              <a:lnSpc>
                <a:spcPct val="132743"/>
              </a:lnSpc>
              <a:spcBef>
                <a:spcPts val="0"/>
              </a:spcBef>
              <a:spcAft>
                <a:spcPts val="0"/>
              </a:spcAft>
              <a:buClr>
                <a:srgbClr val="F59E0B"/>
              </a:buClr>
              <a:buSzPts val="1808"/>
              <a:buFont typeface="Merriweather"/>
              <a:buNone/>
            </a:pPr>
            <a:r>
              <a:rPr b="1" i="0" lang="en-US" sz="1808" u="none" cap="none" strike="noStrike">
                <a:solidFill>
                  <a:srgbClr val="F59E0B"/>
                </a:solidFill>
                <a:latin typeface="Merriweather"/>
                <a:ea typeface="Merriweather"/>
                <a:cs typeface="Merriweather"/>
                <a:sym typeface="Merriweather"/>
              </a:rPr>
              <a:t>$1.84M / year</a:t>
            </a:r>
            <a:endParaRPr b="0" i="0" sz="1808" u="none" cap="none" strike="noStrike">
              <a:solidFill>
                <a:schemeClr val="dk1"/>
              </a:solidFill>
              <a:latin typeface="Calibri"/>
              <a:ea typeface="Calibri"/>
              <a:cs typeface="Calibri"/>
              <a:sym typeface="Calibri"/>
            </a:endParaRPr>
          </a:p>
        </p:txBody>
      </p:sp>
      <p:sp>
        <p:nvSpPr>
          <p:cNvPr id="96" name="Google Shape;96;p5"/>
          <p:cNvSpPr/>
          <p:nvPr/>
        </p:nvSpPr>
        <p:spPr>
          <a:xfrm>
            <a:off x="571500" y="2184871"/>
            <a:ext cx="2333634" cy="320018"/>
          </a:xfrm>
          <a:prstGeom prst="rect">
            <a:avLst/>
          </a:prstGeom>
          <a:noFill/>
          <a:ln>
            <a:noFill/>
          </a:ln>
        </p:spPr>
        <p:txBody>
          <a:bodyPr anchorCtr="0" anchor="t" bIns="0" lIns="0" spcFirstLastPara="1" rIns="0" wrap="square" tIns="0">
            <a:noAutofit/>
          </a:bodyPr>
          <a:lstStyle/>
          <a:p>
            <a:pPr indent="0" lvl="0" marL="0" marR="0" rtl="0" algn="ctr">
              <a:lnSpc>
                <a:spcPct val="155875"/>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Cost of fragmented agent management (infrastructure, ops, incidents)</a:t>
            </a:r>
            <a:endParaRPr b="0" i="0" sz="834" u="none" cap="none" strike="noStrike">
              <a:solidFill>
                <a:schemeClr val="dk1"/>
              </a:solidFill>
              <a:latin typeface="Calibri"/>
              <a:ea typeface="Calibri"/>
              <a:cs typeface="Calibri"/>
              <a:sym typeface="Calibri"/>
            </a:endParaRPr>
          </a:p>
        </p:txBody>
      </p:sp>
      <p:sp>
        <p:nvSpPr>
          <p:cNvPr id="97" name="Google Shape;97;p5"/>
          <p:cNvSpPr/>
          <p:nvPr/>
        </p:nvSpPr>
        <p:spPr>
          <a:xfrm>
            <a:off x="3262322" y="1240110"/>
            <a:ext cx="2619384" cy="1293354"/>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3262322" y="1240110"/>
            <a:ext cx="2619384"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9" name="Google Shape;99;p5"/>
          <p:cNvPicPr preferRelativeResize="0"/>
          <p:nvPr/>
        </p:nvPicPr>
        <p:blipFill rotWithShape="1">
          <a:blip r:embed="rId5">
            <a:alphaModFix/>
          </a:blip>
          <a:srcRect b="0" l="0" r="0" t="0"/>
          <a:stretch/>
        </p:blipFill>
        <p:spPr>
          <a:xfrm>
            <a:off x="4457700" y="1454423"/>
            <a:ext cx="228600" cy="228600"/>
          </a:xfrm>
          <a:prstGeom prst="rect">
            <a:avLst/>
          </a:prstGeom>
          <a:noFill/>
          <a:ln>
            <a:noFill/>
          </a:ln>
        </p:spPr>
      </p:pic>
      <p:sp>
        <p:nvSpPr>
          <p:cNvPr id="100" name="Google Shape;100;p5"/>
          <p:cNvSpPr/>
          <p:nvPr/>
        </p:nvSpPr>
        <p:spPr>
          <a:xfrm>
            <a:off x="3840659" y="1790179"/>
            <a:ext cx="1462683" cy="323255"/>
          </a:xfrm>
          <a:prstGeom prst="rect">
            <a:avLst/>
          </a:prstGeom>
          <a:noFill/>
          <a:ln>
            <a:noFill/>
          </a:ln>
        </p:spPr>
        <p:txBody>
          <a:bodyPr anchorCtr="0" anchor="t" bIns="0" lIns="0" spcFirstLastPara="1" rIns="0" wrap="square" tIns="0">
            <a:noAutofit/>
          </a:bodyPr>
          <a:lstStyle/>
          <a:p>
            <a:pPr indent="0" lvl="0" marL="0" marR="0" rtl="0" algn="ctr">
              <a:lnSpc>
                <a:spcPct val="132743"/>
              </a:lnSpc>
              <a:spcBef>
                <a:spcPts val="0"/>
              </a:spcBef>
              <a:spcAft>
                <a:spcPts val="0"/>
              </a:spcAft>
              <a:buClr>
                <a:srgbClr val="F59E0B"/>
              </a:buClr>
              <a:buSzPts val="1808"/>
              <a:buFont typeface="Merriweather"/>
              <a:buNone/>
            </a:pPr>
            <a:r>
              <a:rPr b="1" i="0" lang="en-US" sz="1808" u="none" cap="none" strike="noStrike">
                <a:solidFill>
                  <a:srgbClr val="F59E0B"/>
                </a:solidFill>
                <a:latin typeface="Merriweather"/>
                <a:ea typeface="Merriweather"/>
                <a:cs typeface="Merriweather"/>
                <a:sym typeface="Merriweather"/>
              </a:rPr>
              <a:t>30–90 days</a:t>
            </a:r>
            <a:endParaRPr b="0" i="0" sz="1808" u="none" cap="none" strike="noStrike">
              <a:solidFill>
                <a:schemeClr val="dk1"/>
              </a:solidFill>
              <a:latin typeface="Calibri"/>
              <a:ea typeface="Calibri"/>
              <a:cs typeface="Calibri"/>
              <a:sym typeface="Calibri"/>
            </a:endParaRPr>
          </a:p>
        </p:txBody>
      </p:sp>
      <p:sp>
        <p:nvSpPr>
          <p:cNvPr id="101" name="Google Shape;101;p5"/>
          <p:cNvSpPr/>
          <p:nvPr/>
        </p:nvSpPr>
        <p:spPr>
          <a:xfrm>
            <a:off x="3405197" y="2184871"/>
            <a:ext cx="2333634" cy="320018"/>
          </a:xfrm>
          <a:prstGeom prst="rect">
            <a:avLst/>
          </a:prstGeom>
          <a:noFill/>
          <a:ln>
            <a:noFill/>
          </a:ln>
        </p:spPr>
        <p:txBody>
          <a:bodyPr anchorCtr="0" anchor="t" bIns="0" lIns="0" spcFirstLastPara="1" rIns="0" wrap="square" tIns="0">
            <a:noAutofit/>
          </a:bodyPr>
          <a:lstStyle/>
          <a:p>
            <a:pPr indent="0" lvl="0" marL="0" marR="0" rtl="0" algn="ctr">
              <a:lnSpc>
                <a:spcPct val="155875"/>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Average time to patch a CVE across the full fleet with current tooling</a:t>
            </a:r>
            <a:endParaRPr b="0" i="0" sz="834" u="none" cap="none" strike="noStrike">
              <a:solidFill>
                <a:schemeClr val="dk1"/>
              </a:solidFill>
              <a:latin typeface="Calibri"/>
              <a:ea typeface="Calibri"/>
              <a:cs typeface="Calibri"/>
              <a:sym typeface="Calibri"/>
            </a:endParaRPr>
          </a:p>
        </p:txBody>
      </p:sp>
      <p:sp>
        <p:nvSpPr>
          <p:cNvPr id="102" name="Google Shape;102;p5"/>
          <p:cNvSpPr/>
          <p:nvPr/>
        </p:nvSpPr>
        <p:spPr>
          <a:xfrm>
            <a:off x="6096019" y="1240110"/>
            <a:ext cx="2619384" cy="1293354"/>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6096019" y="1240110"/>
            <a:ext cx="2619384"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4" name="Google Shape;104;p5"/>
          <p:cNvPicPr preferRelativeResize="0"/>
          <p:nvPr/>
        </p:nvPicPr>
        <p:blipFill rotWithShape="1">
          <a:blip r:embed="rId6">
            <a:alphaModFix/>
          </a:blip>
          <a:srcRect b="0" l="0" r="0" t="0"/>
          <a:stretch/>
        </p:blipFill>
        <p:spPr>
          <a:xfrm>
            <a:off x="7291397" y="1454423"/>
            <a:ext cx="228600" cy="228600"/>
          </a:xfrm>
          <a:prstGeom prst="rect">
            <a:avLst/>
          </a:prstGeom>
          <a:noFill/>
          <a:ln>
            <a:noFill/>
          </a:ln>
        </p:spPr>
      </p:pic>
      <p:sp>
        <p:nvSpPr>
          <p:cNvPr id="105" name="Google Shape;105;p5"/>
          <p:cNvSpPr/>
          <p:nvPr/>
        </p:nvSpPr>
        <p:spPr>
          <a:xfrm>
            <a:off x="6463615" y="1790179"/>
            <a:ext cx="1884164" cy="323255"/>
          </a:xfrm>
          <a:prstGeom prst="rect">
            <a:avLst/>
          </a:prstGeom>
          <a:noFill/>
          <a:ln>
            <a:noFill/>
          </a:ln>
        </p:spPr>
        <p:txBody>
          <a:bodyPr anchorCtr="0" anchor="t" bIns="0" lIns="0" spcFirstLastPara="1" rIns="0" wrap="square" tIns="0">
            <a:noAutofit/>
          </a:bodyPr>
          <a:lstStyle/>
          <a:p>
            <a:pPr indent="0" lvl="0" marL="0" marR="0" rtl="0" algn="ctr">
              <a:lnSpc>
                <a:spcPct val="132743"/>
              </a:lnSpc>
              <a:spcBef>
                <a:spcPts val="0"/>
              </a:spcBef>
              <a:spcAft>
                <a:spcPts val="0"/>
              </a:spcAft>
              <a:buClr>
                <a:srgbClr val="F59E0B"/>
              </a:buClr>
              <a:buSzPts val="1808"/>
              <a:buFont typeface="Merriweather"/>
              <a:buNone/>
            </a:pPr>
            <a:r>
              <a:rPr b="1" i="0" lang="en-US" sz="1808" u="none" cap="none" strike="noStrike">
                <a:solidFill>
                  <a:srgbClr val="F59E0B"/>
                </a:solidFill>
                <a:latin typeface="Merriweather"/>
                <a:ea typeface="Merriweather"/>
                <a:cs typeface="Merriweather"/>
                <a:sym typeface="Merriweather"/>
              </a:rPr>
              <a:t>Manual Expiry</a:t>
            </a:r>
            <a:endParaRPr b="0" i="0" sz="1808" u="none" cap="none" strike="noStrike">
              <a:solidFill>
                <a:schemeClr val="dk1"/>
              </a:solidFill>
              <a:latin typeface="Calibri"/>
              <a:ea typeface="Calibri"/>
              <a:cs typeface="Calibri"/>
              <a:sym typeface="Calibri"/>
            </a:endParaRPr>
          </a:p>
        </p:txBody>
      </p:sp>
      <p:sp>
        <p:nvSpPr>
          <p:cNvPr id="106" name="Google Shape;106;p5"/>
          <p:cNvSpPr/>
          <p:nvPr/>
        </p:nvSpPr>
        <p:spPr>
          <a:xfrm>
            <a:off x="6238894" y="2184871"/>
            <a:ext cx="2333634" cy="320018"/>
          </a:xfrm>
          <a:prstGeom prst="rect">
            <a:avLst/>
          </a:prstGeom>
          <a:noFill/>
          <a:ln>
            <a:noFill/>
          </a:ln>
        </p:spPr>
        <p:txBody>
          <a:bodyPr anchorCtr="0" anchor="t" bIns="0" lIns="0" spcFirstLastPara="1" rIns="0" wrap="square" tIns="0">
            <a:noAutofit/>
          </a:bodyPr>
          <a:lstStyle/>
          <a:p>
            <a:pPr indent="0" lvl="0" marL="0" marR="0" rtl="0" algn="ctr">
              <a:lnSpc>
                <a:spcPct val="155875"/>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Certificate expiration incidents due to manual rotation processes</a:t>
            </a:r>
            <a:endParaRPr b="0" i="0" sz="834" u="none" cap="none" strike="noStrike">
              <a:solidFill>
                <a:schemeClr val="dk1"/>
              </a:solidFill>
              <a:latin typeface="Calibri"/>
              <a:ea typeface="Calibri"/>
              <a:cs typeface="Calibri"/>
              <a:sym typeface="Calibri"/>
            </a:endParaRPr>
          </a:p>
        </p:txBody>
      </p:sp>
      <p:sp>
        <p:nvSpPr>
          <p:cNvPr id="107" name="Google Shape;107;p5"/>
          <p:cNvSpPr/>
          <p:nvPr/>
        </p:nvSpPr>
        <p:spPr>
          <a:xfrm>
            <a:off x="428625" y="2790639"/>
            <a:ext cx="8286750" cy="1971675"/>
          </a:xfrm>
          <a:prstGeom prst="rect">
            <a:avLst/>
          </a:prstGeom>
          <a:solidFill>
            <a:srgbClr val="FFFFFF">
              <a:alpha val="1960"/>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428625" y="2790639"/>
            <a:ext cx="8286750" cy="357188"/>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428625" y="3140683"/>
            <a:ext cx="828675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428625" y="2790639"/>
            <a:ext cx="8286750" cy="357188"/>
          </a:xfrm>
          <a:prstGeom prst="rect">
            <a:avLst/>
          </a:prstGeom>
          <a:noFill/>
          <a:ln>
            <a:noFill/>
          </a:ln>
        </p:spPr>
        <p:txBody>
          <a:bodyPr anchorCtr="0" anchor="t" bIns="0" lIns="170050" spcFirstLastPara="1" rIns="0" wrap="square" tIns="127500">
            <a:noAutofit/>
          </a:bodyPr>
          <a:lstStyle/>
          <a:p>
            <a:pPr indent="0" lvl="0" marL="0" marR="0" rtl="0" algn="l">
              <a:lnSpc>
                <a:spcPct val="135593"/>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THE "BEFORE OPAMP" REALITY</a:t>
            </a:r>
            <a:endParaRPr b="0" i="0" sz="885" u="none" cap="none" strike="noStrike">
              <a:solidFill>
                <a:schemeClr val="dk1"/>
              </a:solidFill>
              <a:latin typeface="Calibri"/>
              <a:ea typeface="Calibri"/>
              <a:cs typeface="Calibri"/>
              <a:sym typeface="Calibri"/>
            </a:endParaRPr>
          </a:p>
        </p:txBody>
      </p:sp>
      <p:sp>
        <p:nvSpPr>
          <p:cNvPr id="111" name="Google Shape;111;p5"/>
          <p:cNvSpPr/>
          <p:nvPr/>
        </p:nvSpPr>
        <p:spPr>
          <a:xfrm>
            <a:off x="428625" y="3147826"/>
            <a:ext cx="2900363" cy="248245"/>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428625" y="3388928"/>
            <a:ext cx="2900363"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428625" y="3147826"/>
            <a:ext cx="2900363" cy="248245"/>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9CA3AF"/>
              </a:buClr>
              <a:buSzPts val="784"/>
              <a:buFont typeface="Inter"/>
              <a:buNone/>
            </a:pPr>
            <a:r>
              <a:rPr b="1" i="0" lang="en-US" sz="784" u="none" cap="none" strike="noStrike">
                <a:solidFill>
                  <a:srgbClr val="9CA3AF"/>
                </a:solidFill>
                <a:latin typeface="Inter"/>
                <a:ea typeface="Inter"/>
                <a:cs typeface="Inter"/>
                <a:sym typeface="Inter"/>
              </a:rPr>
              <a:t>Challenge Area</a:t>
            </a:r>
            <a:endParaRPr b="0" i="0" sz="784" u="none" cap="none" strike="noStrike">
              <a:solidFill>
                <a:schemeClr val="dk1"/>
              </a:solidFill>
              <a:latin typeface="Calibri"/>
              <a:ea typeface="Calibri"/>
              <a:cs typeface="Calibri"/>
              <a:sym typeface="Calibri"/>
            </a:endParaRPr>
          </a:p>
        </p:txBody>
      </p:sp>
      <p:sp>
        <p:nvSpPr>
          <p:cNvPr id="114" name="Google Shape;114;p5"/>
          <p:cNvSpPr/>
          <p:nvPr/>
        </p:nvSpPr>
        <p:spPr>
          <a:xfrm>
            <a:off x="3328988" y="3147826"/>
            <a:ext cx="5386388" cy="248245"/>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3328988" y="3388928"/>
            <a:ext cx="5386388"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3328988" y="3147826"/>
            <a:ext cx="5386388" cy="248245"/>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9CA3AF"/>
              </a:buClr>
              <a:buSzPts val="784"/>
              <a:buFont typeface="Inter"/>
              <a:buNone/>
            </a:pPr>
            <a:r>
              <a:rPr b="1" i="0" lang="en-US" sz="784" u="none" cap="none" strike="noStrike">
                <a:solidFill>
                  <a:srgbClr val="9CA3AF"/>
                </a:solidFill>
                <a:latin typeface="Inter"/>
                <a:ea typeface="Inter"/>
                <a:cs typeface="Inter"/>
                <a:sym typeface="Inter"/>
              </a:rPr>
              <a:t>Current Impact &amp; Risk</a:t>
            </a:r>
            <a:endParaRPr b="0" i="0" sz="784" u="none" cap="none" strike="noStrike">
              <a:solidFill>
                <a:schemeClr val="dk1"/>
              </a:solidFill>
              <a:latin typeface="Calibri"/>
              <a:ea typeface="Calibri"/>
              <a:cs typeface="Calibri"/>
              <a:sym typeface="Calibri"/>
            </a:endParaRPr>
          </a:p>
        </p:txBody>
      </p:sp>
      <p:sp>
        <p:nvSpPr>
          <p:cNvPr id="117" name="Google Shape;117;p5"/>
          <p:cNvSpPr/>
          <p:nvPr/>
        </p:nvSpPr>
        <p:spPr>
          <a:xfrm>
            <a:off x="428625" y="3392500"/>
            <a:ext cx="2900363" cy="266105"/>
          </a:xfrm>
          <a:prstGeom prst="rect">
            <a:avLst/>
          </a:prstGeom>
          <a:noFill/>
          <a:ln>
            <a:noFill/>
          </a:ln>
        </p:spPr>
        <p:txBody>
          <a:bodyPr anchorCtr="0" anchor="ctr" bIns="0" lIns="170050" spcFirstLastPara="1" rIns="170050" wrap="square" tIns="1275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Agent Deployment</a:t>
            </a:r>
            <a:endParaRPr b="0" i="0" sz="885" u="none" cap="none" strike="noStrike">
              <a:solidFill>
                <a:schemeClr val="dk1"/>
              </a:solidFill>
              <a:latin typeface="Calibri"/>
              <a:ea typeface="Calibri"/>
              <a:cs typeface="Calibri"/>
              <a:sym typeface="Calibri"/>
            </a:endParaRPr>
          </a:p>
        </p:txBody>
      </p:sp>
      <p:sp>
        <p:nvSpPr>
          <p:cNvPr id="118" name="Google Shape;118;p5"/>
          <p:cNvSpPr/>
          <p:nvPr/>
        </p:nvSpPr>
        <p:spPr>
          <a:xfrm>
            <a:off x="3328988" y="3392500"/>
            <a:ext cx="5386388" cy="266105"/>
          </a:xfrm>
          <a:prstGeom prst="rect">
            <a:avLst/>
          </a:prstGeom>
          <a:noFill/>
          <a:ln>
            <a:noFill/>
          </a:ln>
        </p:spPr>
        <p:txBody>
          <a:bodyPr anchorCtr="0" anchor="ctr" bIns="0" lIns="170050" spcFirstLastPara="1" rIns="170050" wrap="square" tIns="1275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8 separate install, configure, and update cycles per node</a:t>
            </a:r>
            <a:endParaRPr b="0" i="0" sz="942" u="none" cap="none" strike="noStrike">
              <a:solidFill>
                <a:schemeClr val="dk1"/>
              </a:solidFill>
              <a:latin typeface="Calibri"/>
              <a:ea typeface="Calibri"/>
              <a:cs typeface="Calibri"/>
              <a:sym typeface="Calibri"/>
            </a:endParaRPr>
          </a:p>
        </p:txBody>
      </p:sp>
      <p:sp>
        <p:nvSpPr>
          <p:cNvPr id="119" name="Google Shape;119;p5"/>
          <p:cNvSpPr/>
          <p:nvPr/>
        </p:nvSpPr>
        <p:spPr>
          <a:xfrm>
            <a:off x="428625" y="3658605"/>
            <a:ext cx="8286750" cy="269677"/>
          </a:xfrm>
          <a:prstGeom prst="rect">
            <a:avLst/>
          </a:prstGeom>
          <a:solidFill>
            <a:srgbClr val="FFFFFF">
              <a:alpha val="117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428625" y="3658605"/>
            <a:ext cx="2900363" cy="269677"/>
          </a:xfrm>
          <a:prstGeom prst="rect">
            <a:avLst/>
          </a:prstGeom>
          <a:noFill/>
          <a:ln>
            <a:noFill/>
          </a:ln>
        </p:spPr>
        <p:txBody>
          <a:bodyPr anchorCtr="0" anchor="ctr" bIns="0" lIns="170050" spcFirstLastPara="1" rIns="170050" wrap="square" tIns="1275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Certificate Management</a:t>
            </a:r>
            <a:endParaRPr b="0" i="0" sz="885" u="none" cap="none" strike="noStrike">
              <a:solidFill>
                <a:schemeClr val="dk1"/>
              </a:solidFill>
              <a:latin typeface="Calibri"/>
              <a:ea typeface="Calibri"/>
              <a:cs typeface="Calibri"/>
              <a:sym typeface="Calibri"/>
            </a:endParaRPr>
          </a:p>
        </p:txBody>
      </p:sp>
      <p:sp>
        <p:nvSpPr>
          <p:cNvPr id="121" name="Google Shape;121;p5"/>
          <p:cNvSpPr/>
          <p:nvPr/>
        </p:nvSpPr>
        <p:spPr>
          <a:xfrm>
            <a:off x="3328988" y="3658605"/>
            <a:ext cx="5386388" cy="269677"/>
          </a:xfrm>
          <a:prstGeom prst="rect">
            <a:avLst/>
          </a:prstGeom>
          <a:noFill/>
          <a:ln>
            <a:noFill/>
          </a:ln>
        </p:spPr>
        <p:txBody>
          <a:bodyPr anchorCtr="0" anchor="ctr" bIns="0" lIns="170050" spcFirstLastPara="1" rIns="170050" wrap="square" tIns="1275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Manual rotation leading to inevitable human error and expiry incidents</a:t>
            </a:r>
            <a:endParaRPr b="0" i="0" sz="942" u="none" cap="none" strike="noStrike">
              <a:solidFill>
                <a:schemeClr val="dk1"/>
              </a:solidFill>
              <a:latin typeface="Calibri"/>
              <a:ea typeface="Calibri"/>
              <a:cs typeface="Calibri"/>
              <a:sym typeface="Calibri"/>
            </a:endParaRPr>
          </a:p>
        </p:txBody>
      </p:sp>
      <p:sp>
        <p:nvSpPr>
          <p:cNvPr id="122" name="Google Shape;122;p5"/>
          <p:cNvSpPr/>
          <p:nvPr/>
        </p:nvSpPr>
        <p:spPr>
          <a:xfrm>
            <a:off x="428625" y="3928281"/>
            <a:ext cx="2900363" cy="269677"/>
          </a:xfrm>
          <a:prstGeom prst="rect">
            <a:avLst/>
          </a:prstGeom>
          <a:noFill/>
          <a:ln>
            <a:noFill/>
          </a:ln>
        </p:spPr>
        <p:txBody>
          <a:bodyPr anchorCtr="0" anchor="ctr" bIns="0" lIns="170050" spcFirstLastPara="1" rIns="170050" wrap="square" tIns="1275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Secret Access</a:t>
            </a:r>
            <a:endParaRPr b="0" i="0" sz="885" u="none" cap="none" strike="noStrike">
              <a:solidFill>
                <a:schemeClr val="dk1"/>
              </a:solidFill>
              <a:latin typeface="Calibri"/>
              <a:ea typeface="Calibri"/>
              <a:cs typeface="Calibri"/>
              <a:sym typeface="Calibri"/>
            </a:endParaRPr>
          </a:p>
        </p:txBody>
      </p:sp>
      <p:sp>
        <p:nvSpPr>
          <p:cNvPr id="123" name="Google Shape;123;p5"/>
          <p:cNvSpPr/>
          <p:nvPr/>
        </p:nvSpPr>
        <p:spPr>
          <a:xfrm>
            <a:off x="3328988" y="3928281"/>
            <a:ext cx="5386388" cy="269677"/>
          </a:xfrm>
          <a:prstGeom prst="rect">
            <a:avLst/>
          </a:prstGeom>
          <a:noFill/>
          <a:ln>
            <a:noFill/>
          </a:ln>
        </p:spPr>
        <p:txBody>
          <a:bodyPr anchorCtr="0" anchor="ctr" bIns="0" lIns="170050" spcFirstLastPara="1" rIns="170050" wrap="square" tIns="1275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Applications must manage their own mTLS certificates to fetch secrets</a:t>
            </a:r>
            <a:endParaRPr b="0" i="0" sz="942" u="none" cap="none" strike="noStrike">
              <a:solidFill>
                <a:schemeClr val="dk1"/>
              </a:solidFill>
              <a:latin typeface="Calibri"/>
              <a:ea typeface="Calibri"/>
              <a:cs typeface="Calibri"/>
              <a:sym typeface="Calibri"/>
            </a:endParaRPr>
          </a:p>
        </p:txBody>
      </p:sp>
      <p:sp>
        <p:nvSpPr>
          <p:cNvPr id="124" name="Google Shape;124;p5"/>
          <p:cNvSpPr/>
          <p:nvPr/>
        </p:nvSpPr>
        <p:spPr>
          <a:xfrm>
            <a:off x="428625" y="4197958"/>
            <a:ext cx="8286750" cy="269677"/>
          </a:xfrm>
          <a:prstGeom prst="rect">
            <a:avLst/>
          </a:prstGeom>
          <a:solidFill>
            <a:srgbClr val="FFFFFF">
              <a:alpha val="117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428625" y="4197958"/>
            <a:ext cx="2900363" cy="269677"/>
          </a:xfrm>
          <a:prstGeom prst="rect">
            <a:avLst/>
          </a:prstGeom>
          <a:noFill/>
          <a:ln>
            <a:noFill/>
          </a:ln>
        </p:spPr>
        <p:txBody>
          <a:bodyPr anchorCtr="0" anchor="ctr" bIns="0" lIns="170050" spcFirstLastPara="1" rIns="170050" wrap="square" tIns="1275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Identity Model</a:t>
            </a:r>
            <a:endParaRPr b="0" i="0" sz="885" u="none" cap="none" strike="noStrike">
              <a:solidFill>
                <a:schemeClr val="dk1"/>
              </a:solidFill>
              <a:latin typeface="Calibri"/>
              <a:ea typeface="Calibri"/>
              <a:cs typeface="Calibri"/>
              <a:sym typeface="Calibri"/>
            </a:endParaRPr>
          </a:p>
        </p:txBody>
      </p:sp>
      <p:sp>
        <p:nvSpPr>
          <p:cNvPr id="126" name="Google Shape;126;p5"/>
          <p:cNvSpPr/>
          <p:nvPr/>
        </p:nvSpPr>
        <p:spPr>
          <a:xfrm>
            <a:off x="3328988" y="4197958"/>
            <a:ext cx="5386388" cy="269677"/>
          </a:xfrm>
          <a:prstGeom prst="rect">
            <a:avLst/>
          </a:prstGeom>
          <a:noFill/>
          <a:ln>
            <a:noFill/>
          </a:ln>
        </p:spPr>
        <p:txBody>
          <a:bodyPr anchorCtr="0" anchor="ctr" bIns="0" lIns="170050" spcFirstLastPara="1" rIns="170050" wrap="square" tIns="1275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Static, long-lived credentials that increase the blast radius of a breach</a:t>
            </a:r>
            <a:endParaRPr b="0" i="0" sz="942" u="none" cap="none" strike="noStrike">
              <a:solidFill>
                <a:schemeClr val="dk1"/>
              </a:solidFill>
              <a:latin typeface="Calibri"/>
              <a:ea typeface="Calibri"/>
              <a:cs typeface="Calibri"/>
              <a:sym typeface="Calibri"/>
            </a:endParaRPr>
          </a:p>
        </p:txBody>
      </p:sp>
      <p:sp>
        <p:nvSpPr>
          <p:cNvPr id="127" name="Google Shape;127;p5"/>
          <p:cNvSpPr/>
          <p:nvPr/>
        </p:nvSpPr>
        <p:spPr>
          <a:xfrm>
            <a:off x="428625" y="4467634"/>
            <a:ext cx="2900363" cy="269677"/>
          </a:xfrm>
          <a:prstGeom prst="rect">
            <a:avLst/>
          </a:prstGeom>
          <a:noFill/>
          <a:ln>
            <a:noFill/>
          </a:ln>
        </p:spPr>
        <p:txBody>
          <a:bodyPr anchorCtr="0" anchor="ctr" bIns="0" lIns="170050" spcFirstLastPara="1" rIns="170050" wrap="square" tIns="12750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Fleet Scale Ceiling</a:t>
            </a:r>
            <a:endParaRPr b="0" i="0" sz="885" u="none" cap="none" strike="noStrike">
              <a:solidFill>
                <a:schemeClr val="dk1"/>
              </a:solidFill>
              <a:latin typeface="Calibri"/>
              <a:ea typeface="Calibri"/>
              <a:cs typeface="Calibri"/>
              <a:sym typeface="Calibri"/>
            </a:endParaRPr>
          </a:p>
        </p:txBody>
      </p:sp>
      <p:sp>
        <p:nvSpPr>
          <p:cNvPr id="128" name="Google Shape;128;p5"/>
          <p:cNvSpPr/>
          <p:nvPr/>
        </p:nvSpPr>
        <p:spPr>
          <a:xfrm>
            <a:off x="3328988" y="4467634"/>
            <a:ext cx="5386388" cy="269677"/>
          </a:xfrm>
          <a:prstGeom prst="rect">
            <a:avLst/>
          </a:prstGeom>
          <a:noFill/>
          <a:ln>
            <a:noFill/>
          </a:ln>
        </p:spPr>
        <p:txBody>
          <a:bodyPr anchorCtr="0" anchor="ctr" bIns="0" lIns="170050" spcFirstLastPara="1" rIns="170050" wrap="square" tIns="127500">
            <a:noAutofit/>
          </a:bodyPr>
          <a:lstStyle/>
          <a:p>
            <a:pPr indent="0" lvl="0" marL="0" marR="0" rtl="0" algn="l">
              <a:lnSpc>
                <a:spcPct val="127388"/>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Architecture maxes out at ~10,000 agents before control plane failure</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preencoded.png" id="134" name="Google Shape;134;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35" name="Google Shape;135;p6"/>
          <p:cNvSpPr/>
          <p:nvPr/>
        </p:nvSpPr>
        <p:spPr>
          <a:xfrm>
            <a:off x="0" y="0"/>
            <a:ext cx="9144000" cy="96864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0" y="954360"/>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428625" y="285750"/>
            <a:ext cx="8286750" cy="668610"/>
          </a:xfrm>
          <a:prstGeom prst="rect">
            <a:avLst/>
          </a:prstGeom>
          <a:noFill/>
          <a:ln>
            <a:noFill/>
          </a:ln>
        </p:spPr>
        <p:txBody>
          <a:bodyPr anchorCtr="0" anchor="t" bIns="0" lIns="0" spcFirstLastPara="1" rIns="0" wrap="square" tIns="0">
            <a:noAutofit/>
          </a:bodyPr>
          <a:lstStyle/>
          <a:p>
            <a:pPr indent="0" lvl="0" marL="0" marR="0" rtl="0" algn="l">
              <a:lnSpc>
                <a:spcPct val="143805"/>
              </a:lnSpc>
              <a:spcBef>
                <a:spcPts val="0"/>
              </a:spcBef>
              <a:spcAft>
                <a:spcPts val="0"/>
              </a:spcAft>
              <a:buClr>
                <a:srgbClr val="FFFFFF"/>
              </a:buClr>
              <a:buSzPts val="1808"/>
              <a:buFont typeface="Merriweather"/>
              <a:buNone/>
            </a:pPr>
            <a:r>
              <a:rPr b="1" i="0" lang="en-US" sz="1808" u="none" cap="none" strike="noStrike">
                <a:solidFill>
                  <a:srgbClr val="FFFFFF"/>
                </a:solidFill>
                <a:latin typeface="Merriweather"/>
                <a:ea typeface="Merriweather"/>
                <a:cs typeface="Merriweather"/>
                <a:sym typeface="Merriweather"/>
              </a:rPr>
              <a:t>OpAMP Replaces 8 Agents Management with 1 and Eliminates Certificate Expiry Incidents Entirely</a:t>
            </a:r>
            <a:endParaRPr b="0" i="0" sz="1808" u="none" cap="none" strike="noStrike">
              <a:solidFill>
                <a:schemeClr val="dk1"/>
              </a:solidFill>
              <a:latin typeface="Calibri"/>
              <a:ea typeface="Calibri"/>
              <a:cs typeface="Calibri"/>
              <a:sym typeface="Calibri"/>
            </a:endParaRPr>
          </a:p>
        </p:txBody>
      </p:sp>
      <p:sp>
        <p:nvSpPr>
          <p:cNvPr id="138" name="Google Shape;138;p6"/>
          <p:cNvSpPr/>
          <p:nvPr/>
        </p:nvSpPr>
        <p:spPr>
          <a:xfrm>
            <a:off x="428625" y="1168673"/>
            <a:ext cx="8286750" cy="2028825"/>
          </a:xfrm>
          <a:prstGeom prst="rect">
            <a:avLst/>
          </a:prstGeom>
          <a:solidFill>
            <a:srgbClr val="FFFFFF">
              <a:alpha val="1960"/>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428625" y="1168673"/>
            <a:ext cx="2071688" cy="251817"/>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428625" y="1406203"/>
            <a:ext cx="2071688"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428625" y="1168673"/>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9CA3AF"/>
              </a:buClr>
              <a:buSzPts val="784"/>
              <a:buFont typeface="Inter"/>
              <a:buNone/>
            </a:pPr>
            <a:r>
              <a:rPr b="1" i="0" lang="en-US" sz="784" u="none" cap="none" strike="noStrike">
                <a:solidFill>
                  <a:srgbClr val="9CA3AF"/>
                </a:solidFill>
                <a:latin typeface="Inter"/>
                <a:ea typeface="Inter"/>
                <a:cs typeface="Inter"/>
                <a:sym typeface="Inter"/>
              </a:rPr>
              <a:t>METRIC</a:t>
            </a:r>
            <a:endParaRPr b="0" i="0" sz="784" u="none" cap="none" strike="noStrike">
              <a:solidFill>
                <a:schemeClr val="dk1"/>
              </a:solidFill>
              <a:latin typeface="Calibri"/>
              <a:ea typeface="Calibri"/>
              <a:cs typeface="Calibri"/>
              <a:sym typeface="Calibri"/>
            </a:endParaRPr>
          </a:p>
        </p:txBody>
      </p:sp>
      <p:sp>
        <p:nvSpPr>
          <p:cNvPr id="142" name="Google Shape;142;p6"/>
          <p:cNvSpPr/>
          <p:nvPr/>
        </p:nvSpPr>
        <p:spPr>
          <a:xfrm>
            <a:off x="2500313" y="1168673"/>
            <a:ext cx="2071688" cy="251817"/>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2500313" y="1406203"/>
            <a:ext cx="2071688"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2500313" y="1168673"/>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9CA3AF"/>
              </a:buClr>
              <a:buSzPts val="784"/>
              <a:buFont typeface="Inter"/>
              <a:buNone/>
            </a:pPr>
            <a:r>
              <a:rPr b="1" i="0" lang="en-US" sz="784" u="none" cap="none" strike="noStrike">
                <a:solidFill>
                  <a:srgbClr val="9CA3AF"/>
                </a:solidFill>
                <a:latin typeface="Inter"/>
                <a:ea typeface="Inter"/>
                <a:cs typeface="Inter"/>
                <a:sym typeface="Inter"/>
              </a:rPr>
              <a:t>BEFORE OPAMP</a:t>
            </a:r>
            <a:endParaRPr b="0" i="0" sz="784" u="none" cap="none" strike="noStrike">
              <a:solidFill>
                <a:schemeClr val="dk1"/>
              </a:solidFill>
              <a:latin typeface="Calibri"/>
              <a:ea typeface="Calibri"/>
              <a:cs typeface="Calibri"/>
              <a:sym typeface="Calibri"/>
            </a:endParaRPr>
          </a:p>
        </p:txBody>
      </p:sp>
      <p:sp>
        <p:nvSpPr>
          <p:cNvPr id="145" name="Google Shape;145;p6"/>
          <p:cNvSpPr/>
          <p:nvPr/>
        </p:nvSpPr>
        <p:spPr>
          <a:xfrm>
            <a:off x="4572000" y="1168673"/>
            <a:ext cx="2486025" cy="251817"/>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4572000" y="1406203"/>
            <a:ext cx="2486025"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4572000" y="1168673"/>
            <a:ext cx="2486025"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9CA3AF"/>
              </a:buClr>
              <a:buSzPts val="784"/>
              <a:buFont typeface="Inter"/>
              <a:buNone/>
            </a:pPr>
            <a:r>
              <a:rPr b="1" i="0" lang="en-US" sz="784" u="none" cap="none" strike="noStrike">
                <a:solidFill>
                  <a:srgbClr val="9CA3AF"/>
                </a:solidFill>
                <a:latin typeface="Inter"/>
                <a:ea typeface="Inter"/>
                <a:cs typeface="Inter"/>
                <a:sym typeface="Inter"/>
              </a:rPr>
              <a:t>AFTER OPAMP</a:t>
            </a:r>
            <a:endParaRPr b="0" i="0" sz="784" u="none" cap="none" strike="noStrike">
              <a:solidFill>
                <a:schemeClr val="dk1"/>
              </a:solidFill>
              <a:latin typeface="Calibri"/>
              <a:ea typeface="Calibri"/>
              <a:cs typeface="Calibri"/>
              <a:sym typeface="Calibri"/>
            </a:endParaRPr>
          </a:p>
        </p:txBody>
      </p:sp>
      <p:sp>
        <p:nvSpPr>
          <p:cNvPr id="148" name="Google Shape;148;p6"/>
          <p:cNvSpPr/>
          <p:nvPr/>
        </p:nvSpPr>
        <p:spPr>
          <a:xfrm>
            <a:off x="7058025" y="1168673"/>
            <a:ext cx="1657350" cy="251817"/>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7058025" y="1406203"/>
            <a:ext cx="165735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7058025" y="1168673"/>
            <a:ext cx="1657350"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9CA3AF"/>
              </a:buClr>
              <a:buSzPts val="784"/>
              <a:buFont typeface="Inter"/>
              <a:buNone/>
            </a:pPr>
            <a:r>
              <a:rPr b="1" i="0" lang="en-US" sz="784" u="none" cap="none" strike="noStrike">
                <a:solidFill>
                  <a:srgbClr val="9CA3AF"/>
                </a:solidFill>
                <a:latin typeface="Inter"/>
                <a:ea typeface="Inter"/>
                <a:cs typeface="Inter"/>
                <a:sym typeface="Inter"/>
              </a:rPr>
              <a:t>IMPACT</a:t>
            </a:r>
            <a:endParaRPr b="0" i="0" sz="784" u="none" cap="none" strike="noStrike">
              <a:solidFill>
                <a:schemeClr val="dk1"/>
              </a:solidFill>
              <a:latin typeface="Calibri"/>
              <a:ea typeface="Calibri"/>
              <a:cs typeface="Calibri"/>
              <a:sym typeface="Calibri"/>
            </a:endParaRPr>
          </a:p>
        </p:txBody>
      </p:sp>
      <p:sp>
        <p:nvSpPr>
          <p:cNvPr id="151" name="Google Shape;151;p6"/>
          <p:cNvSpPr/>
          <p:nvPr/>
        </p:nvSpPr>
        <p:spPr>
          <a:xfrm>
            <a:off x="428625" y="1413346"/>
            <a:ext cx="2071688" cy="248245"/>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Agents per node</a:t>
            </a:r>
            <a:endParaRPr b="0" i="0" sz="784" u="none" cap="none" strike="noStrike">
              <a:solidFill>
                <a:schemeClr val="dk1"/>
              </a:solidFill>
              <a:latin typeface="Calibri"/>
              <a:ea typeface="Calibri"/>
              <a:cs typeface="Calibri"/>
              <a:sym typeface="Calibri"/>
            </a:endParaRPr>
          </a:p>
        </p:txBody>
      </p:sp>
      <p:sp>
        <p:nvSpPr>
          <p:cNvPr id="152" name="Google Shape;152;p6"/>
          <p:cNvSpPr/>
          <p:nvPr/>
        </p:nvSpPr>
        <p:spPr>
          <a:xfrm>
            <a:off x="2500313" y="1413346"/>
            <a:ext cx="2071688" cy="248245"/>
          </a:xfrm>
          <a:prstGeom prst="rect">
            <a:avLst/>
          </a:prstGeom>
          <a:noFill/>
          <a:ln>
            <a:noFill/>
          </a:ln>
        </p:spPr>
        <p:txBody>
          <a:bodyPr anchorCtr="0" anchor="ctr" bIns="0" lIns="170050" spcFirstLastPara="1" rIns="170050" wrap="square" tIns="127500">
            <a:noAutofit/>
          </a:bodyPr>
          <a:lstStyle/>
          <a:p>
            <a:pPr indent="0" lvl="0" marL="0" marR="0" rtl="0" algn="l">
              <a:lnSpc>
                <a:spcPct val="131894"/>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8 separate agents</a:t>
            </a:r>
            <a:endParaRPr b="0" i="0" sz="834" u="none" cap="none" strike="noStrike">
              <a:solidFill>
                <a:schemeClr val="dk1"/>
              </a:solidFill>
              <a:latin typeface="Calibri"/>
              <a:ea typeface="Calibri"/>
              <a:cs typeface="Calibri"/>
              <a:sym typeface="Calibri"/>
            </a:endParaRPr>
          </a:p>
        </p:txBody>
      </p:sp>
      <p:sp>
        <p:nvSpPr>
          <p:cNvPr id="153" name="Google Shape;153;p6"/>
          <p:cNvSpPr/>
          <p:nvPr/>
        </p:nvSpPr>
        <p:spPr>
          <a:xfrm>
            <a:off x="4572000" y="1413346"/>
            <a:ext cx="2486025" cy="248245"/>
          </a:xfrm>
          <a:prstGeom prst="rect">
            <a:avLst/>
          </a:prstGeom>
          <a:solidFill>
            <a:srgbClr val="00E5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7050881" y="1413346"/>
            <a:ext cx="7144" cy="24824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4572000" y="1654448"/>
            <a:ext cx="2486025"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4572000" y="1413346"/>
            <a:ext cx="2486025" cy="248245"/>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00E5FF"/>
              </a:buClr>
              <a:buSzPts val="784"/>
              <a:buFont typeface="Inter"/>
              <a:buNone/>
            </a:pPr>
            <a:r>
              <a:rPr b="1" i="0" lang="en-US" sz="784" u="none" cap="none" strike="noStrike">
                <a:solidFill>
                  <a:srgbClr val="00E5FF"/>
                </a:solidFill>
                <a:latin typeface="Inter"/>
                <a:ea typeface="Inter"/>
                <a:cs typeface="Inter"/>
                <a:sym typeface="Inter"/>
              </a:rPr>
              <a:t>1 unified Supervisor</a:t>
            </a:r>
            <a:endParaRPr b="0" i="0" sz="784" u="none" cap="none" strike="noStrike">
              <a:solidFill>
                <a:schemeClr val="dk1"/>
              </a:solidFill>
              <a:latin typeface="Calibri"/>
              <a:ea typeface="Calibri"/>
              <a:cs typeface="Calibri"/>
              <a:sym typeface="Calibri"/>
            </a:endParaRPr>
          </a:p>
        </p:txBody>
      </p:sp>
      <p:sp>
        <p:nvSpPr>
          <p:cNvPr id="157" name="Google Shape;157;p6"/>
          <p:cNvSpPr/>
          <p:nvPr/>
        </p:nvSpPr>
        <p:spPr>
          <a:xfrm>
            <a:off x="7058025" y="1413346"/>
            <a:ext cx="1657350" cy="248245"/>
          </a:xfrm>
          <a:prstGeom prst="rect">
            <a:avLst/>
          </a:prstGeom>
          <a:solidFill>
            <a:srgbClr val="F59E0B">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7058025" y="1654448"/>
            <a:ext cx="165735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7058025" y="1413346"/>
            <a:ext cx="1657350" cy="248245"/>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59E0B"/>
              </a:buClr>
              <a:buSzPts val="784"/>
              <a:buFont typeface="Inter"/>
              <a:buNone/>
            </a:pPr>
            <a:r>
              <a:rPr b="1" i="0" lang="en-US" sz="784" u="none" cap="none" strike="noStrike">
                <a:solidFill>
                  <a:srgbClr val="F59E0B"/>
                </a:solidFill>
                <a:latin typeface="Inter"/>
                <a:ea typeface="Inter"/>
                <a:cs typeface="Inter"/>
                <a:sym typeface="Inter"/>
              </a:rPr>
              <a:t>88% reduction</a:t>
            </a:r>
            <a:endParaRPr b="0" i="0" sz="784" u="none" cap="none" strike="noStrike">
              <a:solidFill>
                <a:schemeClr val="dk1"/>
              </a:solidFill>
              <a:latin typeface="Calibri"/>
              <a:ea typeface="Calibri"/>
              <a:cs typeface="Calibri"/>
              <a:sym typeface="Calibri"/>
            </a:endParaRPr>
          </a:p>
        </p:txBody>
      </p:sp>
      <p:sp>
        <p:nvSpPr>
          <p:cNvPr id="160" name="Google Shape;160;p6"/>
          <p:cNvSpPr/>
          <p:nvPr/>
        </p:nvSpPr>
        <p:spPr>
          <a:xfrm>
            <a:off x="428625" y="1661592"/>
            <a:ext cx="8286750" cy="251817"/>
          </a:xfrm>
          <a:prstGeom prst="rect">
            <a:avLst/>
          </a:prstGeom>
          <a:solidFill>
            <a:srgbClr val="FFFFFF">
              <a:alpha val="117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p:nvPr/>
        </p:nvSpPr>
        <p:spPr>
          <a:xfrm>
            <a:off x="428625" y="1661592"/>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Certificate management</a:t>
            </a:r>
            <a:endParaRPr b="0" i="0" sz="784" u="none" cap="none" strike="noStrike">
              <a:solidFill>
                <a:schemeClr val="dk1"/>
              </a:solidFill>
              <a:latin typeface="Calibri"/>
              <a:ea typeface="Calibri"/>
              <a:cs typeface="Calibri"/>
              <a:sym typeface="Calibri"/>
            </a:endParaRPr>
          </a:p>
        </p:txBody>
      </p:sp>
      <p:sp>
        <p:nvSpPr>
          <p:cNvPr id="162" name="Google Shape;162;p6"/>
          <p:cNvSpPr/>
          <p:nvPr/>
        </p:nvSpPr>
        <p:spPr>
          <a:xfrm>
            <a:off x="2500313" y="1661592"/>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31894"/>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Manual, error-prone</a:t>
            </a:r>
            <a:endParaRPr b="0" i="0" sz="834" u="none" cap="none" strike="noStrike">
              <a:solidFill>
                <a:schemeClr val="dk1"/>
              </a:solidFill>
              <a:latin typeface="Calibri"/>
              <a:ea typeface="Calibri"/>
              <a:cs typeface="Calibri"/>
              <a:sym typeface="Calibri"/>
            </a:endParaRPr>
          </a:p>
        </p:txBody>
      </p:sp>
      <p:sp>
        <p:nvSpPr>
          <p:cNvPr id="163" name="Google Shape;163;p6"/>
          <p:cNvSpPr/>
          <p:nvPr/>
        </p:nvSpPr>
        <p:spPr>
          <a:xfrm>
            <a:off x="4572000" y="1661592"/>
            <a:ext cx="2486025" cy="251817"/>
          </a:xfrm>
          <a:prstGeom prst="rect">
            <a:avLst/>
          </a:prstGeom>
          <a:solidFill>
            <a:srgbClr val="00E5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7050881" y="1661592"/>
            <a:ext cx="7144" cy="25181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4572000" y="1906265"/>
            <a:ext cx="2486025"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4572000" y="1661592"/>
            <a:ext cx="2486025"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00E5FF"/>
              </a:buClr>
              <a:buSzPts val="784"/>
              <a:buFont typeface="Inter"/>
              <a:buNone/>
            </a:pPr>
            <a:r>
              <a:rPr b="1" i="0" lang="en-US" sz="784" u="none" cap="none" strike="noStrike">
                <a:solidFill>
                  <a:srgbClr val="00E5FF"/>
                </a:solidFill>
                <a:latin typeface="Inter"/>
                <a:ea typeface="Inter"/>
                <a:cs typeface="Inter"/>
                <a:sym typeface="Inter"/>
              </a:rPr>
              <a:t>Automatic rotation at 50% TTL</a:t>
            </a:r>
            <a:endParaRPr b="0" i="0" sz="784" u="none" cap="none" strike="noStrike">
              <a:solidFill>
                <a:schemeClr val="dk1"/>
              </a:solidFill>
              <a:latin typeface="Calibri"/>
              <a:ea typeface="Calibri"/>
              <a:cs typeface="Calibri"/>
              <a:sym typeface="Calibri"/>
            </a:endParaRPr>
          </a:p>
        </p:txBody>
      </p:sp>
      <p:sp>
        <p:nvSpPr>
          <p:cNvPr id="167" name="Google Shape;167;p6"/>
          <p:cNvSpPr/>
          <p:nvPr/>
        </p:nvSpPr>
        <p:spPr>
          <a:xfrm>
            <a:off x="7058025" y="1661592"/>
            <a:ext cx="1657350" cy="251817"/>
          </a:xfrm>
          <a:prstGeom prst="rect">
            <a:avLst/>
          </a:prstGeom>
          <a:solidFill>
            <a:srgbClr val="F59E0B">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7058025" y="1906265"/>
            <a:ext cx="165735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7058025" y="1661592"/>
            <a:ext cx="1657350"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59E0B"/>
              </a:buClr>
              <a:buSzPts val="784"/>
              <a:buFont typeface="Inter"/>
              <a:buNone/>
            </a:pPr>
            <a:r>
              <a:rPr b="1" i="0" lang="en-US" sz="784" u="none" cap="none" strike="noStrike">
                <a:solidFill>
                  <a:srgbClr val="F59E0B"/>
                </a:solidFill>
                <a:latin typeface="Inter"/>
                <a:ea typeface="Inter"/>
                <a:cs typeface="Inter"/>
                <a:sym typeface="Inter"/>
              </a:rPr>
              <a:t>Zero expiry incidents</a:t>
            </a:r>
            <a:endParaRPr b="0" i="0" sz="784" u="none" cap="none" strike="noStrike">
              <a:solidFill>
                <a:schemeClr val="dk1"/>
              </a:solidFill>
              <a:latin typeface="Calibri"/>
              <a:ea typeface="Calibri"/>
              <a:cs typeface="Calibri"/>
              <a:sym typeface="Calibri"/>
            </a:endParaRPr>
          </a:p>
        </p:txBody>
      </p:sp>
      <p:sp>
        <p:nvSpPr>
          <p:cNvPr id="170" name="Google Shape;170;p6"/>
          <p:cNvSpPr/>
          <p:nvPr/>
        </p:nvSpPr>
        <p:spPr>
          <a:xfrm>
            <a:off x="428625" y="1913409"/>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Secret access latency</a:t>
            </a:r>
            <a:endParaRPr b="0" i="0" sz="784" u="none" cap="none" strike="noStrike">
              <a:solidFill>
                <a:schemeClr val="dk1"/>
              </a:solidFill>
              <a:latin typeface="Calibri"/>
              <a:ea typeface="Calibri"/>
              <a:cs typeface="Calibri"/>
              <a:sym typeface="Calibri"/>
            </a:endParaRPr>
          </a:p>
        </p:txBody>
      </p:sp>
      <p:sp>
        <p:nvSpPr>
          <p:cNvPr id="171" name="Google Shape;171;p6"/>
          <p:cNvSpPr/>
          <p:nvPr/>
        </p:nvSpPr>
        <p:spPr>
          <a:xfrm>
            <a:off x="2500313" y="1913409"/>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31894"/>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Network round-trip</a:t>
            </a:r>
            <a:endParaRPr b="0" i="0" sz="834" u="none" cap="none" strike="noStrike">
              <a:solidFill>
                <a:schemeClr val="dk1"/>
              </a:solidFill>
              <a:latin typeface="Calibri"/>
              <a:ea typeface="Calibri"/>
              <a:cs typeface="Calibri"/>
              <a:sym typeface="Calibri"/>
            </a:endParaRPr>
          </a:p>
        </p:txBody>
      </p:sp>
      <p:sp>
        <p:nvSpPr>
          <p:cNvPr id="172" name="Google Shape;172;p6"/>
          <p:cNvSpPr/>
          <p:nvPr/>
        </p:nvSpPr>
        <p:spPr>
          <a:xfrm>
            <a:off x="4572000" y="1913409"/>
            <a:ext cx="2486025" cy="251817"/>
          </a:xfrm>
          <a:prstGeom prst="rect">
            <a:avLst/>
          </a:prstGeom>
          <a:solidFill>
            <a:srgbClr val="00E5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7050881" y="1913409"/>
            <a:ext cx="7144" cy="25181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4572000" y="2158082"/>
            <a:ext cx="2486025"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4572000" y="1913409"/>
            <a:ext cx="2486025"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00E5FF"/>
              </a:buClr>
              <a:buSzPts val="784"/>
              <a:buFont typeface="Inter"/>
              <a:buNone/>
            </a:pPr>
            <a:r>
              <a:rPr b="1" i="0" lang="en-US" sz="784" u="none" cap="none" strike="noStrike">
                <a:solidFill>
                  <a:srgbClr val="00E5FF"/>
                </a:solidFill>
                <a:latin typeface="Inter"/>
                <a:ea typeface="Inter"/>
                <a:cs typeface="Inter"/>
                <a:sym typeface="Inter"/>
              </a:rPr>
              <a:t>&lt;50ms local proxy</a:t>
            </a:r>
            <a:endParaRPr b="0" i="0" sz="784" u="none" cap="none" strike="noStrike">
              <a:solidFill>
                <a:schemeClr val="dk1"/>
              </a:solidFill>
              <a:latin typeface="Calibri"/>
              <a:ea typeface="Calibri"/>
              <a:cs typeface="Calibri"/>
              <a:sym typeface="Calibri"/>
            </a:endParaRPr>
          </a:p>
        </p:txBody>
      </p:sp>
      <p:sp>
        <p:nvSpPr>
          <p:cNvPr id="176" name="Google Shape;176;p6"/>
          <p:cNvSpPr/>
          <p:nvPr/>
        </p:nvSpPr>
        <p:spPr>
          <a:xfrm>
            <a:off x="7058025" y="1913409"/>
            <a:ext cx="1657350" cy="251817"/>
          </a:xfrm>
          <a:prstGeom prst="rect">
            <a:avLst/>
          </a:prstGeom>
          <a:solidFill>
            <a:srgbClr val="F59E0B">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7058025" y="2158082"/>
            <a:ext cx="165735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7058025" y="1913409"/>
            <a:ext cx="1657350"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59E0B"/>
              </a:buClr>
              <a:buSzPts val="784"/>
              <a:buFont typeface="Inter"/>
              <a:buNone/>
            </a:pPr>
            <a:r>
              <a:rPr b="1" i="0" lang="en-US" sz="784" u="none" cap="none" strike="noStrike">
                <a:solidFill>
                  <a:srgbClr val="F59E0B"/>
                </a:solidFill>
                <a:latin typeface="Inter"/>
                <a:ea typeface="Inter"/>
                <a:cs typeface="Inter"/>
                <a:sym typeface="Inter"/>
              </a:rPr>
              <a:t>90% faster</a:t>
            </a:r>
            <a:endParaRPr b="0" i="0" sz="784" u="none" cap="none" strike="noStrike">
              <a:solidFill>
                <a:schemeClr val="dk1"/>
              </a:solidFill>
              <a:latin typeface="Calibri"/>
              <a:ea typeface="Calibri"/>
              <a:cs typeface="Calibri"/>
              <a:sym typeface="Calibri"/>
            </a:endParaRPr>
          </a:p>
        </p:txBody>
      </p:sp>
      <p:sp>
        <p:nvSpPr>
          <p:cNvPr id="179" name="Google Shape;179;p6"/>
          <p:cNvSpPr/>
          <p:nvPr/>
        </p:nvSpPr>
        <p:spPr>
          <a:xfrm>
            <a:off x="428625" y="2165226"/>
            <a:ext cx="8286750" cy="251817"/>
          </a:xfrm>
          <a:prstGeom prst="rect">
            <a:avLst/>
          </a:prstGeom>
          <a:solidFill>
            <a:srgbClr val="FFFFFF">
              <a:alpha val="117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428625" y="2165226"/>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CVE response time</a:t>
            </a:r>
            <a:endParaRPr b="0" i="0" sz="784" u="none" cap="none" strike="noStrike">
              <a:solidFill>
                <a:schemeClr val="dk1"/>
              </a:solidFill>
              <a:latin typeface="Calibri"/>
              <a:ea typeface="Calibri"/>
              <a:cs typeface="Calibri"/>
              <a:sym typeface="Calibri"/>
            </a:endParaRPr>
          </a:p>
        </p:txBody>
      </p:sp>
      <p:sp>
        <p:nvSpPr>
          <p:cNvPr id="181" name="Google Shape;181;p6"/>
          <p:cNvSpPr/>
          <p:nvPr/>
        </p:nvSpPr>
        <p:spPr>
          <a:xfrm>
            <a:off x="2500313" y="2165226"/>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31894"/>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30–90 days</a:t>
            </a:r>
            <a:endParaRPr b="0" i="0" sz="834" u="none" cap="none" strike="noStrike">
              <a:solidFill>
                <a:schemeClr val="dk1"/>
              </a:solidFill>
              <a:latin typeface="Calibri"/>
              <a:ea typeface="Calibri"/>
              <a:cs typeface="Calibri"/>
              <a:sym typeface="Calibri"/>
            </a:endParaRPr>
          </a:p>
        </p:txBody>
      </p:sp>
      <p:sp>
        <p:nvSpPr>
          <p:cNvPr id="182" name="Google Shape;182;p6"/>
          <p:cNvSpPr/>
          <p:nvPr/>
        </p:nvSpPr>
        <p:spPr>
          <a:xfrm>
            <a:off x="4572000" y="2165226"/>
            <a:ext cx="2486025" cy="251817"/>
          </a:xfrm>
          <a:prstGeom prst="rect">
            <a:avLst/>
          </a:prstGeom>
          <a:solidFill>
            <a:srgbClr val="00E5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7050881" y="2165226"/>
            <a:ext cx="7144" cy="25181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4572000" y="2409899"/>
            <a:ext cx="2486025"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4572000" y="2165226"/>
            <a:ext cx="2486025"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00E5FF"/>
              </a:buClr>
              <a:buSzPts val="784"/>
              <a:buFont typeface="Inter"/>
              <a:buNone/>
            </a:pPr>
            <a:r>
              <a:rPr b="1" i="0" lang="en-US" sz="784" u="none" cap="none" strike="noStrike">
                <a:solidFill>
                  <a:srgbClr val="00E5FF"/>
                </a:solidFill>
                <a:latin typeface="Inter"/>
                <a:ea typeface="Inter"/>
                <a:cs typeface="Inter"/>
                <a:sym typeface="Inter"/>
              </a:rPr>
              <a:t>&lt;24 hours</a:t>
            </a:r>
            <a:endParaRPr b="0" i="0" sz="784" u="none" cap="none" strike="noStrike">
              <a:solidFill>
                <a:schemeClr val="dk1"/>
              </a:solidFill>
              <a:latin typeface="Calibri"/>
              <a:ea typeface="Calibri"/>
              <a:cs typeface="Calibri"/>
              <a:sym typeface="Calibri"/>
            </a:endParaRPr>
          </a:p>
        </p:txBody>
      </p:sp>
      <p:sp>
        <p:nvSpPr>
          <p:cNvPr id="186" name="Google Shape;186;p6"/>
          <p:cNvSpPr/>
          <p:nvPr/>
        </p:nvSpPr>
        <p:spPr>
          <a:xfrm>
            <a:off x="7058025" y="2165226"/>
            <a:ext cx="1657350" cy="251817"/>
          </a:xfrm>
          <a:prstGeom prst="rect">
            <a:avLst/>
          </a:prstGeom>
          <a:solidFill>
            <a:srgbClr val="F59E0B">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7058025" y="2409899"/>
            <a:ext cx="165735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7058025" y="2165226"/>
            <a:ext cx="1657350"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59E0B"/>
              </a:buClr>
              <a:buSzPts val="784"/>
              <a:buFont typeface="Inter"/>
              <a:buNone/>
            </a:pPr>
            <a:r>
              <a:rPr b="1" i="0" lang="en-US" sz="784" u="none" cap="none" strike="noStrike">
                <a:solidFill>
                  <a:srgbClr val="F59E0B"/>
                </a:solidFill>
                <a:latin typeface="Inter"/>
                <a:ea typeface="Inter"/>
                <a:cs typeface="Inter"/>
                <a:sym typeface="Inter"/>
              </a:rPr>
              <a:t>97% faster</a:t>
            </a:r>
            <a:endParaRPr b="0" i="0" sz="784" u="none" cap="none" strike="noStrike">
              <a:solidFill>
                <a:schemeClr val="dk1"/>
              </a:solidFill>
              <a:latin typeface="Calibri"/>
              <a:ea typeface="Calibri"/>
              <a:cs typeface="Calibri"/>
              <a:sym typeface="Calibri"/>
            </a:endParaRPr>
          </a:p>
        </p:txBody>
      </p:sp>
      <p:sp>
        <p:nvSpPr>
          <p:cNvPr id="189" name="Google Shape;189;p6"/>
          <p:cNvSpPr/>
          <p:nvPr/>
        </p:nvSpPr>
        <p:spPr>
          <a:xfrm>
            <a:off x="428625" y="2417043"/>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Identity model</a:t>
            </a:r>
            <a:endParaRPr b="0" i="0" sz="784" u="none" cap="none" strike="noStrike">
              <a:solidFill>
                <a:schemeClr val="dk1"/>
              </a:solidFill>
              <a:latin typeface="Calibri"/>
              <a:ea typeface="Calibri"/>
              <a:cs typeface="Calibri"/>
              <a:sym typeface="Calibri"/>
            </a:endParaRPr>
          </a:p>
        </p:txBody>
      </p:sp>
      <p:sp>
        <p:nvSpPr>
          <p:cNvPr id="190" name="Google Shape;190;p6"/>
          <p:cNvSpPr/>
          <p:nvPr/>
        </p:nvSpPr>
        <p:spPr>
          <a:xfrm>
            <a:off x="2500313" y="2417043"/>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31894"/>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Static credentials</a:t>
            </a:r>
            <a:endParaRPr b="0" i="0" sz="834" u="none" cap="none" strike="noStrike">
              <a:solidFill>
                <a:schemeClr val="dk1"/>
              </a:solidFill>
              <a:latin typeface="Calibri"/>
              <a:ea typeface="Calibri"/>
              <a:cs typeface="Calibri"/>
              <a:sym typeface="Calibri"/>
            </a:endParaRPr>
          </a:p>
        </p:txBody>
      </p:sp>
      <p:sp>
        <p:nvSpPr>
          <p:cNvPr id="191" name="Google Shape;191;p6"/>
          <p:cNvSpPr/>
          <p:nvPr/>
        </p:nvSpPr>
        <p:spPr>
          <a:xfrm>
            <a:off x="4572000" y="2417043"/>
            <a:ext cx="2486025" cy="251817"/>
          </a:xfrm>
          <a:prstGeom prst="rect">
            <a:avLst/>
          </a:prstGeom>
          <a:solidFill>
            <a:srgbClr val="00E5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7050881" y="2417043"/>
            <a:ext cx="7144" cy="25181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4572000" y="2661717"/>
            <a:ext cx="2486025"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4572000" y="2417043"/>
            <a:ext cx="2486025"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00E5FF"/>
              </a:buClr>
              <a:buSzPts val="784"/>
              <a:buFont typeface="Inter"/>
              <a:buNone/>
            </a:pPr>
            <a:r>
              <a:rPr b="1" i="0" lang="en-US" sz="784" u="none" cap="none" strike="noStrike">
                <a:solidFill>
                  <a:srgbClr val="00E5FF"/>
                </a:solidFill>
                <a:latin typeface="Inter"/>
                <a:ea typeface="Inter"/>
                <a:cs typeface="Inter"/>
                <a:sym typeface="Inter"/>
              </a:rPr>
              <a:t>Short-lived (5 min tokens)</a:t>
            </a:r>
            <a:endParaRPr b="0" i="0" sz="784" u="none" cap="none" strike="noStrike">
              <a:solidFill>
                <a:schemeClr val="dk1"/>
              </a:solidFill>
              <a:latin typeface="Calibri"/>
              <a:ea typeface="Calibri"/>
              <a:cs typeface="Calibri"/>
              <a:sym typeface="Calibri"/>
            </a:endParaRPr>
          </a:p>
        </p:txBody>
      </p:sp>
      <p:sp>
        <p:nvSpPr>
          <p:cNvPr id="195" name="Google Shape;195;p6"/>
          <p:cNvSpPr/>
          <p:nvPr/>
        </p:nvSpPr>
        <p:spPr>
          <a:xfrm>
            <a:off x="7058025" y="2417043"/>
            <a:ext cx="1657350" cy="251817"/>
          </a:xfrm>
          <a:prstGeom prst="rect">
            <a:avLst/>
          </a:prstGeom>
          <a:solidFill>
            <a:srgbClr val="F59E0B">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7058025" y="2661717"/>
            <a:ext cx="165735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7058025" y="2417043"/>
            <a:ext cx="1657350"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59E0B"/>
              </a:buClr>
              <a:buSzPts val="784"/>
              <a:buFont typeface="Inter"/>
              <a:buNone/>
            </a:pPr>
            <a:r>
              <a:rPr b="1" i="0" lang="en-US" sz="784" u="none" cap="none" strike="noStrike">
                <a:solidFill>
                  <a:srgbClr val="F59E0B"/>
                </a:solidFill>
                <a:latin typeface="Inter"/>
                <a:ea typeface="Inter"/>
                <a:cs typeface="Inter"/>
                <a:sym typeface="Inter"/>
              </a:rPr>
              <a:t>Zero standing access</a:t>
            </a:r>
            <a:endParaRPr b="0" i="0" sz="784" u="none" cap="none" strike="noStrike">
              <a:solidFill>
                <a:schemeClr val="dk1"/>
              </a:solidFill>
              <a:latin typeface="Calibri"/>
              <a:ea typeface="Calibri"/>
              <a:cs typeface="Calibri"/>
              <a:sym typeface="Calibri"/>
            </a:endParaRPr>
          </a:p>
        </p:txBody>
      </p:sp>
      <p:sp>
        <p:nvSpPr>
          <p:cNvPr id="198" name="Google Shape;198;p6"/>
          <p:cNvSpPr/>
          <p:nvPr/>
        </p:nvSpPr>
        <p:spPr>
          <a:xfrm>
            <a:off x="428625" y="2668860"/>
            <a:ext cx="8286750" cy="251817"/>
          </a:xfrm>
          <a:prstGeom prst="rect">
            <a:avLst/>
          </a:prstGeom>
          <a:solidFill>
            <a:srgbClr val="FFFFFF">
              <a:alpha val="117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428625" y="2668860"/>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Fleet scale</a:t>
            </a:r>
            <a:endParaRPr b="0" i="0" sz="784" u="none" cap="none" strike="noStrike">
              <a:solidFill>
                <a:schemeClr val="dk1"/>
              </a:solidFill>
              <a:latin typeface="Calibri"/>
              <a:ea typeface="Calibri"/>
              <a:cs typeface="Calibri"/>
              <a:sym typeface="Calibri"/>
            </a:endParaRPr>
          </a:p>
        </p:txBody>
      </p:sp>
      <p:sp>
        <p:nvSpPr>
          <p:cNvPr id="200" name="Google Shape;200;p6"/>
          <p:cNvSpPr/>
          <p:nvPr/>
        </p:nvSpPr>
        <p:spPr>
          <a:xfrm>
            <a:off x="2500313" y="2668860"/>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31894"/>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~10K agents</a:t>
            </a:r>
            <a:endParaRPr b="0" i="0" sz="834" u="none" cap="none" strike="noStrike">
              <a:solidFill>
                <a:schemeClr val="dk1"/>
              </a:solidFill>
              <a:latin typeface="Calibri"/>
              <a:ea typeface="Calibri"/>
              <a:cs typeface="Calibri"/>
              <a:sym typeface="Calibri"/>
            </a:endParaRPr>
          </a:p>
        </p:txBody>
      </p:sp>
      <p:sp>
        <p:nvSpPr>
          <p:cNvPr id="201" name="Google Shape;201;p6"/>
          <p:cNvSpPr/>
          <p:nvPr/>
        </p:nvSpPr>
        <p:spPr>
          <a:xfrm>
            <a:off x="4572000" y="2668860"/>
            <a:ext cx="2486025" cy="251817"/>
          </a:xfrm>
          <a:prstGeom prst="rect">
            <a:avLst/>
          </a:prstGeom>
          <a:solidFill>
            <a:srgbClr val="00E5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7050881" y="2668860"/>
            <a:ext cx="7144" cy="25181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4572000" y="2913534"/>
            <a:ext cx="2486025"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4572000" y="2668860"/>
            <a:ext cx="2486025"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00E5FF"/>
              </a:buClr>
              <a:buSzPts val="784"/>
              <a:buFont typeface="Inter"/>
              <a:buNone/>
            </a:pPr>
            <a:r>
              <a:rPr b="1" i="0" lang="en-US" sz="784" u="none" cap="none" strike="noStrike">
                <a:solidFill>
                  <a:srgbClr val="00E5FF"/>
                </a:solidFill>
                <a:latin typeface="Inter"/>
                <a:ea typeface="Inter"/>
                <a:cs typeface="Inter"/>
                <a:sym typeface="Inter"/>
              </a:rPr>
              <a:t>200,000+ agents</a:t>
            </a:r>
            <a:endParaRPr b="0" i="0" sz="784" u="none" cap="none" strike="noStrike">
              <a:solidFill>
                <a:schemeClr val="dk1"/>
              </a:solidFill>
              <a:latin typeface="Calibri"/>
              <a:ea typeface="Calibri"/>
              <a:cs typeface="Calibri"/>
              <a:sym typeface="Calibri"/>
            </a:endParaRPr>
          </a:p>
        </p:txBody>
      </p:sp>
      <p:sp>
        <p:nvSpPr>
          <p:cNvPr id="205" name="Google Shape;205;p6"/>
          <p:cNvSpPr/>
          <p:nvPr/>
        </p:nvSpPr>
        <p:spPr>
          <a:xfrm>
            <a:off x="7058025" y="2668860"/>
            <a:ext cx="1657350" cy="251817"/>
          </a:xfrm>
          <a:prstGeom prst="rect">
            <a:avLst/>
          </a:prstGeom>
          <a:solidFill>
            <a:srgbClr val="F59E0B">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7058025" y="2913534"/>
            <a:ext cx="165735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7058025" y="2668860"/>
            <a:ext cx="1657350"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59E0B"/>
              </a:buClr>
              <a:buSzPts val="784"/>
              <a:buFont typeface="Inter"/>
              <a:buNone/>
            </a:pPr>
            <a:r>
              <a:rPr b="1" i="0" lang="en-US" sz="784" u="none" cap="none" strike="noStrike">
                <a:solidFill>
                  <a:srgbClr val="F59E0B"/>
                </a:solidFill>
                <a:latin typeface="Inter"/>
                <a:ea typeface="Inter"/>
                <a:cs typeface="Inter"/>
                <a:sym typeface="Inter"/>
              </a:rPr>
              <a:t>20× scale increase</a:t>
            </a:r>
            <a:endParaRPr b="0" i="0" sz="784" u="none" cap="none" strike="noStrike">
              <a:solidFill>
                <a:schemeClr val="dk1"/>
              </a:solidFill>
              <a:latin typeface="Calibri"/>
              <a:ea typeface="Calibri"/>
              <a:cs typeface="Calibri"/>
              <a:sym typeface="Calibri"/>
            </a:endParaRPr>
          </a:p>
        </p:txBody>
      </p:sp>
      <p:sp>
        <p:nvSpPr>
          <p:cNvPr id="208" name="Google Shape;208;p6"/>
          <p:cNvSpPr/>
          <p:nvPr/>
        </p:nvSpPr>
        <p:spPr>
          <a:xfrm>
            <a:off x="428625" y="2920678"/>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Compliance audit</a:t>
            </a:r>
            <a:endParaRPr b="0" i="0" sz="784" u="none" cap="none" strike="noStrike">
              <a:solidFill>
                <a:schemeClr val="dk1"/>
              </a:solidFill>
              <a:latin typeface="Calibri"/>
              <a:ea typeface="Calibri"/>
              <a:cs typeface="Calibri"/>
              <a:sym typeface="Calibri"/>
            </a:endParaRPr>
          </a:p>
        </p:txBody>
      </p:sp>
      <p:sp>
        <p:nvSpPr>
          <p:cNvPr id="209" name="Google Shape;209;p6"/>
          <p:cNvSpPr/>
          <p:nvPr/>
        </p:nvSpPr>
        <p:spPr>
          <a:xfrm>
            <a:off x="2500313" y="2920678"/>
            <a:ext cx="2071688" cy="251817"/>
          </a:xfrm>
          <a:prstGeom prst="rect">
            <a:avLst/>
          </a:prstGeom>
          <a:noFill/>
          <a:ln>
            <a:noFill/>
          </a:ln>
        </p:spPr>
        <p:txBody>
          <a:bodyPr anchorCtr="0" anchor="ctr" bIns="0" lIns="170050" spcFirstLastPara="1" rIns="170050" wrap="square" tIns="127500">
            <a:noAutofit/>
          </a:bodyPr>
          <a:lstStyle/>
          <a:p>
            <a:pPr indent="0" lvl="0" marL="0" marR="0" rtl="0" algn="l">
              <a:lnSpc>
                <a:spcPct val="131894"/>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Manual evidence</a:t>
            </a:r>
            <a:endParaRPr b="0" i="0" sz="834" u="none" cap="none" strike="noStrike">
              <a:solidFill>
                <a:schemeClr val="dk1"/>
              </a:solidFill>
              <a:latin typeface="Calibri"/>
              <a:ea typeface="Calibri"/>
              <a:cs typeface="Calibri"/>
              <a:sym typeface="Calibri"/>
            </a:endParaRPr>
          </a:p>
        </p:txBody>
      </p:sp>
      <p:sp>
        <p:nvSpPr>
          <p:cNvPr id="210" name="Google Shape;210;p6"/>
          <p:cNvSpPr/>
          <p:nvPr/>
        </p:nvSpPr>
        <p:spPr>
          <a:xfrm>
            <a:off x="4572000" y="2920678"/>
            <a:ext cx="2486025" cy="251817"/>
          </a:xfrm>
          <a:prstGeom prst="rect">
            <a:avLst/>
          </a:prstGeom>
          <a:solidFill>
            <a:srgbClr val="00E5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
          <p:cNvSpPr/>
          <p:nvPr/>
        </p:nvSpPr>
        <p:spPr>
          <a:xfrm>
            <a:off x="7050881" y="2920678"/>
            <a:ext cx="7144" cy="251817"/>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a:off x="4572000" y="3165351"/>
            <a:ext cx="2486025"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
          <p:cNvSpPr/>
          <p:nvPr/>
        </p:nvSpPr>
        <p:spPr>
          <a:xfrm>
            <a:off x="4572000" y="2920678"/>
            <a:ext cx="2486025"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00E5FF"/>
              </a:buClr>
              <a:buSzPts val="784"/>
              <a:buFont typeface="Inter"/>
              <a:buNone/>
            </a:pPr>
            <a:r>
              <a:rPr b="1" i="0" lang="en-US" sz="784" u="none" cap="none" strike="noStrike">
                <a:solidFill>
                  <a:srgbClr val="00E5FF"/>
                </a:solidFill>
                <a:latin typeface="Inter"/>
                <a:ea typeface="Inter"/>
                <a:cs typeface="Inter"/>
                <a:sym typeface="Inter"/>
              </a:rPr>
              <a:t>Automatic audit trail</a:t>
            </a:r>
            <a:endParaRPr b="0" i="0" sz="784" u="none" cap="none" strike="noStrike">
              <a:solidFill>
                <a:schemeClr val="dk1"/>
              </a:solidFill>
              <a:latin typeface="Calibri"/>
              <a:ea typeface="Calibri"/>
              <a:cs typeface="Calibri"/>
              <a:sym typeface="Calibri"/>
            </a:endParaRPr>
          </a:p>
        </p:txBody>
      </p:sp>
      <p:sp>
        <p:nvSpPr>
          <p:cNvPr id="214" name="Google Shape;214;p6"/>
          <p:cNvSpPr/>
          <p:nvPr/>
        </p:nvSpPr>
        <p:spPr>
          <a:xfrm>
            <a:off x="7058025" y="2920678"/>
            <a:ext cx="1657350" cy="251817"/>
          </a:xfrm>
          <a:prstGeom prst="rect">
            <a:avLst/>
          </a:prstGeom>
          <a:solidFill>
            <a:srgbClr val="F59E0B">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a:off x="7058025" y="3165351"/>
            <a:ext cx="165735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
          <p:cNvSpPr/>
          <p:nvPr/>
        </p:nvSpPr>
        <p:spPr>
          <a:xfrm>
            <a:off x="7058025" y="2920678"/>
            <a:ext cx="1657350" cy="251817"/>
          </a:xfrm>
          <a:prstGeom prst="rect">
            <a:avLst/>
          </a:prstGeom>
          <a:noFill/>
          <a:ln>
            <a:noFill/>
          </a:ln>
        </p:spPr>
        <p:txBody>
          <a:bodyPr anchorCtr="0" anchor="ctr" bIns="0" lIns="170050" spcFirstLastPara="1" rIns="170050" wrap="square" tIns="127500">
            <a:noAutofit/>
          </a:bodyPr>
          <a:lstStyle/>
          <a:p>
            <a:pPr indent="0" lvl="0" marL="0" marR="0" rtl="0" algn="l">
              <a:lnSpc>
                <a:spcPct val="140306"/>
              </a:lnSpc>
              <a:spcBef>
                <a:spcPts val="0"/>
              </a:spcBef>
              <a:spcAft>
                <a:spcPts val="0"/>
              </a:spcAft>
              <a:buClr>
                <a:srgbClr val="F59E0B"/>
              </a:buClr>
              <a:buSzPts val="784"/>
              <a:buFont typeface="Inter"/>
              <a:buNone/>
            </a:pPr>
            <a:r>
              <a:rPr b="1" i="0" lang="en-US" sz="784" u="none" cap="none" strike="noStrike">
                <a:solidFill>
                  <a:srgbClr val="F59E0B"/>
                </a:solidFill>
                <a:latin typeface="Inter"/>
                <a:ea typeface="Inter"/>
                <a:cs typeface="Inter"/>
                <a:sym typeface="Inter"/>
              </a:rPr>
              <a:t>100% coverage</a:t>
            </a:r>
            <a:endParaRPr b="0" i="0" sz="784" u="none" cap="none" strike="noStrike">
              <a:solidFill>
                <a:schemeClr val="dk1"/>
              </a:solidFill>
              <a:latin typeface="Calibri"/>
              <a:ea typeface="Calibri"/>
              <a:cs typeface="Calibri"/>
              <a:sym typeface="Calibri"/>
            </a:endParaRPr>
          </a:p>
        </p:txBody>
      </p:sp>
      <p:sp>
        <p:nvSpPr>
          <p:cNvPr id="217" name="Google Shape;217;p6"/>
          <p:cNvSpPr/>
          <p:nvPr/>
        </p:nvSpPr>
        <p:spPr>
          <a:xfrm>
            <a:off x="428625" y="4143375"/>
            <a:ext cx="8286750" cy="714375"/>
          </a:xfrm>
          <a:prstGeom prst="rect">
            <a:avLst/>
          </a:prstGeom>
          <a:solidFill>
            <a:srgbClr val="0D1B2A"/>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8" name="Google Shape;218;p6"/>
          <p:cNvPicPr preferRelativeResize="0"/>
          <p:nvPr/>
        </p:nvPicPr>
        <p:blipFill rotWithShape="1">
          <a:blip r:embed="rId4">
            <a:alphaModFix/>
          </a:blip>
          <a:srcRect b="0" l="0" r="0" t="0"/>
          <a:stretch/>
        </p:blipFill>
        <p:spPr>
          <a:xfrm>
            <a:off x="1045666" y="4371975"/>
            <a:ext cx="257175" cy="257175"/>
          </a:xfrm>
          <a:prstGeom prst="rect">
            <a:avLst/>
          </a:prstGeom>
          <a:noFill/>
          <a:ln>
            <a:noFill/>
          </a:ln>
        </p:spPr>
      </p:pic>
      <p:sp>
        <p:nvSpPr>
          <p:cNvPr id="219" name="Google Shape;219;p6"/>
          <p:cNvSpPr/>
          <p:nvPr/>
        </p:nvSpPr>
        <p:spPr>
          <a:xfrm>
            <a:off x="1409998" y="4313932"/>
            <a:ext cx="1318022" cy="25181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Merriweather"/>
              <a:buNone/>
            </a:pPr>
            <a:r>
              <a:rPr b="1" i="0" lang="en-US" sz="1397" u="none" cap="none" strike="noStrike">
                <a:solidFill>
                  <a:srgbClr val="FFFFFF"/>
                </a:solidFill>
                <a:latin typeface="Merriweather"/>
                <a:ea typeface="Merriweather"/>
                <a:cs typeface="Merriweather"/>
                <a:sym typeface="Merriweather"/>
              </a:rPr>
              <a:t>$1.84M / yr</a:t>
            </a:r>
            <a:endParaRPr b="0" i="0" sz="1397" u="none" cap="none" strike="noStrike">
              <a:solidFill>
                <a:schemeClr val="dk1"/>
              </a:solidFill>
              <a:latin typeface="Calibri"/>
              <a:ea typeface="Calibri"/>
              <a:cs typeface="Calibri"/>
              <a:sym typeface="Calibri"/>
            </a:endParaRPr>
          </a:p>
        </p:txBody>
      </p:sp>
      <p:sp>
        <p:nvSpPr>
          <p:cNvPr id="220" name="Google Shape;220;p6"/>
          <p:cNvSpPr/>
          <p:nvPr/>
        </p:nvSpPr>
        <p:spPr>
          <a:xfrm>
            <a:off x="1409998" y="4565749"/>
            <a:ext cx="1318022"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E5FF"/>
              </a:buClr>
              <a:buSzPts val="683"/>
              <a:buFont typeface="Inter"/>
              <a:buNone/>
            </a:pPr>
            <a:r>
              <a:rPr b="1" i="0" lang="en-US" sz="683" u="none" cap="none" strike="noStrike">
                <a:solidFill>
                  <a:srgbClr val="00E5FF"/>
                </a:solidFill>
                <a:latin typeface="Inter"/>
                <a:ea typeface="Inter"/>
                <a:cs typeface="Inter"/>
                <a:sym typeface="Inter"/>
              </a:rPr>
              <a:t>OPERATIONAL SAVINGS</a:t>
            </a:r>
            <a:endParaRPr b="0" i="0" sz="683" u="none" cap="none" strike="noStrike">
              <a:solidFill>
                <a:schemeClr val="dk1"/>
              </a:solidFill>
              <a:latin typeface="Calibri"/>
              <a:ea typeface="Calibri"/>
              <a:cs typeface="Calibri"/>
              <a:sym typeface="Calibri"/>
            </a:endParaRPr>
          </a:p>
        </p:txBody>
      </p:sp>
      <p:pic>
        <p:nvPicPr>
          <p:cNvPr descr="preencoded.png" id="221" name="Google Shape;221;p6"/>
          <p:cNvPicPr preferRelativeResize="0"/>
          <p:nvPr/>
        </p:nvPicPr>
        <p:blipFill rotWithShape="1">
          <a:blip r:embed="rId5">
            <a:alphaModFix/>
          </a:blip>
          <a:srcRect b="0" l="0" r="0" t="0"/>
          <a:stretch/>
        </p:blipFill>
        <p:spPr>
          <a:xfrm>
            <a:off x="3962102" y="4371975"/>
            <a:ext cx="257175" cy="257175"/>
          </a:xfrm>
          <a:prstGeom prst="rect">
            <a:avLst/>
          </a:prstGeom>
          <a:noFill/>
          <a:ln>
            <a:noFill/>
          </a:ln>
        </p:spPr>
      </p:pic>
      <p:sp>
        <p:nvSpPr>
          <p:cNvPr id="222" name="Google Shape;222;p6"/>
          <p:cNvSpPr/>
          <p:nvPr/>
        </p:nvSpPr>
        <p:spPr>
          <a:xfrm>
            <a:off x="4326434" y="4313932"/>
            <a:ext cx="1064419" cy="25181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Merriweather"/>
              <a:buNone/>
            </a:pPr>
            <a:r>
              <a:rPr b="1" i="0" lang="en-US" sz="1397" u="none" cap="none" strike="noStrike">
                <a:solidFill>
                  <a:srgbClr val="FFFFFF"/>
                </a:solidFill>
                <a:latin typeface="Merriweather"/>
                <a:ea typeface="Merriweather"/>
                <a:cs typeface="Merriweather"/>
                <a:sym typeface="Merriweather"/>
              </a:rPr>
              <a:t>99.8%</a:t>
            </a:r>
            <a:endParaRPr b="0" i="0" sz="1397" u="none" cap="none" strike="noStrike">
              <a:solidFill>
                <a:schemeClr val="dk1"/>
              </a:solidFill>
              <a:latin typeface="Calibri"/>
              <a:ea typeface="Calibri"/>
              <a:cs typeface="Calibri"/>
              <a:sym typeface="Calibri"/>
            </a:endParaRPr>
          </a:p>
        </p:txBody>
      </p:sp>
      <p:sp>
        <p:nvSpPr>
          <p:cNvPr id="223" name="Google Shape;223;p6"/>
          <p:cNvSpPr/>
          <p:nvPr/>
        </p:nvSpPr>
        <p:spPr>
          <a:xfrm>
            <a:off x="4326434" y="4565749"/>
            <a:ext cx="1064419"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E5FF"/>
              </a:buClr>
              <a:buSzPts val="683"/>
              <a:buFont typeface="Inter"/>
              <a:buNone/>
            </a:pPr>
            <a:r>
              <a:rPr b="1" i="0" lang="en-US" sz="683" u="none" cap="none" strike="noStrike">
                <a:solidFill>
                  <a:srgbClr val="00E5FF"/>
                </a:solidFill>
                <a:latin typeface="Inter"/>
                <a:ea typeface="Inter"/>
                <a:cs typeface="Inter"/>
                <a:sym typeface="Inter"/>
              </a:rPr>
              <a:t>PLATFORM UPTIME</a:t>
            </a:r>
            <a:endParaRPr b="0" i="0" sz="683" u="none" cap="none" strike="noStrike">
              <a:solidFill>
                <a:schemeClr val="dk1"/>
              </a:solidFill>
              <a:latin typeface="Calibri"/>
              <a:ea typeface="Calibri"/>
              <a:cs typeface="Calibri"/>
              <a:sym typeface="Calibri"/>
            </a:endParaRPr>
          </a:p>
        </p:txBody>
      </p:sp>
      <p:sp>
        <p:nvSpPr>
          <p:cNvPr id="224" name="Google Shape;224;p6"/>
          <p:cNvSpPr/>
          <p:nvPr/>
        </p:nvSpPr>
        <p:spPr>
          <a:xfrm>
            <a:off x="6732091" y="4313932"/>
            <a:ext cx="1366242" cy="25181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FFFFFF"/>
              </a:buClr>
              <a:buSzPts val="1397"/>
              <a:buFont typeface="Merriweather"/>
              <a:buNone/>
            </a:pPr>
            <a:r>
              <a:rPr b="1" i="0" lang="en-US" sz="1397" u="none" cap="none" strike="noStrike">
                <a:solidFill>
                  <a:srgbClr val="FFFFFF"/>
                </a:solidFill>
                <a:latin typeface="Merriweather"/>
                <a:ea typeface="Merriweather"/>
                <a:cs typeface="Merriweather"/>
                <a:sym typeface="Merriweather"/>
              </a:rPr>
              <a:t>0</a:t>
            </a:r>
            <a:endParaRPr b="0" i="0" sz="1397" u="none" cap="none" strike="noStrike">
              <a:solidFill>
                <a:schemeClr val="dk1"/>
              </a:solidFill>
              <a:latin typeface="Calibri"/>
              <a:ea typeface="Calibri"/>
              <a:cs typeface="Calibri"/>
              <a:sym typeface="Calibri"/>
            </a:endParaRPr>
          </a:p>
        </p:txBody>
      </p:sp>
      <p:sp>
        <p:nvSpPr>
          <p:cNvPr id="225" name="Google Shape;225;p6"/>
          <p:cNvSpPr/>
          <p:nvPr/>
        </p:nvSpPr>
        <p:spPr>
          <a:xfrm>
            <a:off x="6732091" y="4565749"/>
            <a:ext cx="1366242"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E5FF"/>
              </a:buClr>
              <a:buSzPts val="683"/>
              <a:buFont typeface="Inter"/>
              <a:buNone/>
            </a:pPr>
            <a:r>
              <a:rPr b="1" i="0" lang="en-US" sz="683" u="none" cap="none" strike="noStrike">
                <a:solidFill>
                  <a:srgbClr val="00E5FF"/>
                </a:solidFill>
                <a:latin typeface="Inter"/>
                <a:ea typeface="Inter"/>
                <a:cs typeface="Inter"/>
                <a:sym typeface="Inter"/>
              </a:rPr>
              <a:t>CERTIFICATE INCIDENTS</a:t>
            </a:r>
            <a:endParaRPr b="0" i="0" sz="683"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preencoded.png" id="231" name="Google Shape;231;p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32" name="Google Shape;232;p7"/>
          <p:cNvSpPr/>
          <p:nvPr/>
        </p:nvSpPr>
        <p:spPr>
          <a:xfrm>
            <a:off x="0" y="0"/>
            <a:ext cx="9144000" cy="96864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0" y="954360"/>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428625" y="285750"/>
            <a:ext cx="8286750" cy="668610"/>
          </a:xfrm>
          <a:prstGeom prst="rect">
            <a:avLst/>
          </a:prstGeom>
          <a:noFill/>
          <a:ln>
            <a:noFill/>
          </a:ln>
        </p:spPr>
        <p:txBody>
          <a:bodyPr anchorCtr="0" anchor="t" bIns="0" lIns="0" spcFirstLastPara="1" rIns="0" wrap="square" tIns="0">
            <a:noAutofit/>
          </a:bodyPr>
          <a:lstStyle/>
          <a:p>
            <a:pPr indent="0" lvl="0" marL="0" marR="0" rtl="0" algn="l">
              <a:lnSpc>
                <a:spcPct val="143805"/>
              </a:lnSpc>
              <a:spcBef>
                <a:spcPts val="0"/>
              </a:spcBef>
              <a:spcAft>
                <a:spcPts val="0"/>
              </a:spcAft>
              <a:buClr>
                <a:srgbClr val="FFFFFF"/>
              </a:buClr>
              <a:buSzPts val="1808"/>
              <a:buFont typeface="Merriweather"/>
              <a:buNone/>
            </a:pPr>
            <a:r>
              <a:rPr b="1" i="0" lang="en-US" sz="1808" u="none" cap="none" strike="noStrike">
                <a:solidFill>
                  <a:srgbClr val="FFFFFF"/>
                </a:solidFill>
                <a:latin typeface="Merriweather"/>
                <a:ea typeface="Merriweather"/>
                <a:cs typeface="Merriweather"/>
                <a:sym typeface="Merriweather"/>
              </a:rPr>
              <a:t>Four Unified Pillars Secure 200,000+ Endpoints Through a Single Architecture</a:t>
            </a:r>
            <a:endParaRPr b="0" i="0" sz="1808" u="none" cap="none" strike="noStrike">
              <a:solidFill>
                <a:schemeClr val="dk1"/>
              </a:solidFill>
              <a:latin typeface="Calibri"/>
              <a:ea typeface="Calibri"/>
              <a:cs typeface="Calibri"/>
              <a:sym typeface="Calibri"/>
            </a:endParaRPr>
          </a:p>
        </p:txBody>
      </p:sp>
      <p:sp>
        <p:nvSpPr>
          <p:cNvPr id="235" name="Google Shape;235;p7"/>
          <p:cNvSpPr/>
          <p:nvPr/>
        </p:nvSpPr>
        <p:spPr>
          <a:xfrm>
            <a:off x="428625" y="1240110"/>
            <a:ext cx="1964531" cy="2286000"/>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p:nvPr/>
        </p:nvSpPr>
        <p:spPr>
          <a:xfrm>
            <a:off x="428625" y="1240110"/>
            <a:ext cx="1964531"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7" name="Google Shape;237;p7"/>
          <p:cNvPicPr preferRelativeResize="0"/>
          <p:nvPr/>
        </p:nvPicPr>
        <p:blipFill rotWithShape="1">
          <a:blip r:embed="rId4">
            <a:alphaModFix/>
          </a:blip>
          <a:srcRect b="0" l="0" r="0" t="0"/>
          <a:stretch/>
        </p:blipFill>
        <p:spPr>
          <a:xfrm>
            <a:off x="571500" y="1418704"/>
            <a:ext cx="250031" cy="200025"/>
          </a:xfrm>
          <a:prstGeom prst="rect">
            <a:avLst/>
          </a:prstGeom>
          <a:noFill/>
          <a:ln>
            <a:noFill/>
          </a:ln>
        </p:spPr>
      </p:pic>
      <p:sp>
        <p:nvSpPr>
          <p:cNvPr id="238" name="Google Shape;238;p7"/>
          <p:cNvSpPr/>
          <p:nvPr/>
        </p:nvSpPr>
        <p:spPr>
          <a:xfrm>
            <a:off x="928688" y="1419597"/>
            <a:ext cx="1275159" cy="19823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Merriweather"/>
              <a:buNone/>
            </a:pPr>
            <a:r>
              <a:rPr b="1" i="0" lang="en-US" sz="1090" u="none" cap="none" strike="noStrike">
                <a:solidFill>
                  <a:srgbClr val="FFFFFF"/>
                </a:solidFill>
                <a:latin typeface="Merriweather"/>
                <a:ea typeface="Merriweather"/>
                <a:cs typeface="Merriweather"/>
                <a:sym typeface="Merriweather"/>
              </a:rPr>
              <a:t>OpAMP Protocol</a:t>
            </a:r>
            <a:endParaRPr b="0" i="0" sz="1090" u="none" cap="none" strike="noStrike">
              <a:solidFill>
                <a:schemeClr val="dk1"/>
              </a:solidFill>
              <a:latin typeface="Calibri"/>
              <a:ea typeface="Calibri"/>
              <a:cs typeface="Calibri"/>
              <a:sym typeface="Calibri"/>
            </a:endParaRPr>
          </a:p>
        </p:txBody>
      </p:sp>
      <p:sp>
        <p:nvSpPr>
          <p:cNvPr id="239" name="Google Shape;239;p7"/>
          <p:cNvSpPr/>
          <p:nvPr/>
        </p:nvSpPr>
        <p:spPr>
          <a:xfrm>
            <a:off x="571500" y="1725885"/>
            <a:ext cx="1678781" cy="285750"/>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9CA3AF"/>
              </a:buClr>
              <a:buSzPts val="727"/>
              <a:buFont typeface="Inter"/>
              <a:buNone/>
            </a:pPr>
            <a:r>
              <a:rPr b="0" i="1" lang="en-US" sz="727" u="none" cap="none" strike="noStrike">
                <a:solidFill>
                  <a:srgbClr val="9CA3AF"/>
                </a:solidFill>
                <a:latin typeface="Inter"/>
                <a:ea typeface="Inter"/>
                <a:cs typeface="Inter"/>
                <a:sym typeface="Inter"/>
              </a:rPr>
              <a:t>Bidirectional state-based communication</a:t>
            </a:r>
            <a:endParaRPr b="0" i="0" sz="727" u="none" cap="none" strike="noStrike">
              <a:solidFill>
                <a:schemeClr val="dk1"/>
              </a:solidFill>
              <a:latin typeface="Calibri"/>
              <a:ea typeface="Calibri"/>
              <a:cs typeface="Calibri"/>
              <a:sym typeface="Calibri"/>
            </a:endParaRPr>
          </a:p>
        </p:txBody>
      </p:sp>
      <p:sp>
        <p:nvSpPr>
          <p:cNvPr id="240" name="Google Shape;240;p7"/>
          <p:cNvSpPr/>
          <p:nvPr/>
        </p:nvSpPr>
        <p:spPr>
          <a:xfrm>
            <a:off x="571500" y="2154510"/>
            <a:ext cx="1678781" cy="300038"/>
          </a:xfrm>
          <a:prstGeom prst="rect">
            <a:avLst/>
          </a:prstGeom>
          <a:noFill/>
          <a:ln>
            <a:noFill/>
          </a:ln>
        </p:spPr>
        <p:txBody>
          <a:bodyPr anchorCtr="0" anchor="t" bIns="0" lIns="17005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Single WebSocket per node, not per agent</a:t>
            </a:r>
            <a:endParaRPr b="0" i="0" sz="780" u="none" cap="none" strike="noStrike">
              <a:solidFill>
                <a:schemeClr val="dk1"/>
              </a:solidFill>
              <a:latin typeface="Calibri"/>
              <a:ea typeface="Calibri"/>
              <a:cs typeface="Calibri"/>
              <a:sym typeface="Calibri"/>
            </a:endParaRPr>
          </a:p>
        </p:txBody>
      </p:sp>
      <p:sp>
        <p:nvSpPr>
          <p:cNvPr id="241" name="Google Shape;241;p7"/>
          <p:cNvSpPr/>
          <p:nvPr/>
        </p:nvSpPr>
        <p:spPr>
          <a:xfrm>
            <a:off x="571500" y="2540273"/>
            <a:ext cx="1678781" cy="300038"/>
          </a:xfrm>
          <a:prstGeom prst="rect">
            <a:avLst/>
          </a:prstGeom>
          <a:noFill/>
          <a:ln>
            <a:noFill/>
          </a:ln>
        </p:spPr>
        <p:txBody>
          <a:bodyPr anchorCtr="0" anchor="t" bIns="0" lIns="17005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Handles 200K+ concurrent connections</a:t>
            </a:r>
            <a:endParaRPr b="0" i="0" sz="780" u="none" cap="none" strike="noStrike">
              <a:solidFill>
                <a:schemeClr val="dk1"/>
              </a:solidFill>
              <a:latin typeface="Calibri"/>
              <a:ea typeface="Calibri"/>
              <a:cs typeface="Calibri"/>
              <a:sym typeface="Calibri"/>
            </a:endParaRPr>
          </a:p>
        </p:txBody>
      </p:sp>
      <p:sp>
        <p:nvSpPr>
          <p:cNvPr id="242" name="Google Shape;242;p7"/>
          <p:cNvSpPr/>
          <p:nvPr/>
        </p:nvSpPr>
        <p:spPr>
          <a:xfrm>
            <a:off x="571500" y="2926035"/>
            <a:ext cx="1678781" cy="300038"/>
          </a:xfrm>
          <a:prstGeom prst="rect">
            <a:avLst/>
          </a:prstGeom>
          <a:noFill/>
          <a:ln>
            <a:noFill/>
          </a:ln>
        </p:spPr>
        <p:txBody>
          <a:bodyPr anchorCtr="0" anchor="t" bIns="0" lIns="17005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Survives network partitions with local caching</a:t>
            </a:r>
            <a:endParaRPr b="0" i="0" sz="780" u="none" cap="none" strike="noStrike">
              <a:solidFill>
                <a:schemeClr val="dk1"/>
              </a:solidFill>
              <a:latin typeface="Calibri"/>
              <a:ea typeface="Calibri"/>
              <a:cs typeface="Calibri"/>
              <a:sym typeface="Calibri"/>
            </a:endParaRPr>
          </a:p>
        </p:txBody>
      </p:sp>
      <p:sp>
        <p:nvSpPr>
          <p:cNvPr id="243" name="Google Shape;243;p7"/>
          <p:cNvSpPr/>
          <p:nvPr/>
        </p:nvSpPr>
        <p:spPr>
          <a:xfrm>
            <a:off x="2536031" y="1240110"/>
            <a:ext cx="1964531" cy="2286000"/>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2536031" y="1240110"/>
            <a:ext cx="1964531"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571500" y="2154510"/>
            <a:ext cx="43169" cy="100013"/>
          </a:xfrm>
          <a:prstGeom prst="rect">
            <a:avLst/>
          </a:prstGeom>
          <a:noFill/>
          <a:ln>
            <a:noFill/>
          </a:ln>
        </p:spPr>
        <p:txBody>
          <a:bodyPr anchorCtr="0" anchor="t" bIns="0" lIns="0" spcFirstLastPara="1" rIns="0" wrap="square" tIns="0">
            <a:noAutofit/>
          </a:bodyPr>
          <a:lstStyle/>
          <a:p>
            <a:pPr indent="0" lvl="0" marL="0" marR="0" rtl="0" algn="l">
              <a:lnSpc>
                <a:spcPct val="155038"/>
              </a:lnSpc>
              <a:spcBef>
                <a:spcPts val="0"/>
              </a:spcBef>
              <a:spcAft>
                <a:spcPts val="0"/>
              </a:spcAft>
              <a:buClr>
                <a:srgbClr val="6B7280"/>
              </a:buClr>
              <a:buSzPts val="516"/>
              <a:buFont typeface="Inter"/>
              <a:buNone/>
            </a:pPr>
            <a:r>
              <a:rPr b="0" i="0" lang="en-US" sz="516" u="none" cap="none" strike="noStrike">
                <a:solidFill>
                  <a:srgbClr val="6B7280"/>
                </a:solidFill>
                <a:latin typeface="Inter"/>
                <a:ea typeface="Inter"/>
                <a:cs typeface="Inter"/>
                <a:sym typeface="Inter"/>
              </a:rPr>
              <a:t>■</a:t>
            </a:r>
            <a:endParaRPr b="0" i="0" sz="516" u="none" cap="none" strike="noStrike">
              <a:solidFill>
                <a:schemeClr val="dk1"/>
              </a:solidFill>
              <a:latin typeface="Calibri"/>
              <a:ea typeface="Calibri"/>
              <a:cs typeface="Calibri"/>
              <a:sym typeface="Calibri"/>
            </a:endParaRPr>
          </a:p>
        </p:txBody>
      </p:sp>
      <p:sp>
        <p:nvSpPr>
          <p:cNvPr id="246" name="Google Shape;246;p7"/>
          <p:cNvSpPr/>
          <p:nvPr/>
        </p:nvSpPr>
        <p:spPr>
          <a:xfrm>
            <a:off x="571500" y="2540273"/>
            <a:ext cx="43169" cy="100013"/>
          </a:xfrm>
          <a:prstGeom prst="rect">
            <a:avLst/>
          </a:prstGeom>
          <a:noFill/>
          <a:ln>
            <a:noFill/>
          </a:ln>
        </p:spPr>
        <p:txBody>
          <a:bodyPr anchorCtr="0" anchor="t" bIns="0" lIns="0" spcFirstLastPara="1" rIns="0" wrap="square" tIns="0">
            <a:noAutofit/>
          </a:bodyPr>
          <a:lstStyle/>
          <a:p>
            <a:pPr indent="0" lvl="0" marL="0" marR="0" rtl="0" algn="l">
              <a:lnSpc>
                <a:spcPct val="155038"/>
              </a:lnSpc>
              <a:spcBef>
                <a:spcPts val="0"/>
              </a:spcBef>
              <a:spcAft>
                <a:spcPts val="0"/>
              </a:spcAft>
              <a:buClr>
                <a:srgbClr val="6B7280"/>
              </a:buClr>
              <a:buSzPts val="516"/>
              <a:buFont typeface="Inter"/>
              <a:buNone/>
            </a:pPr>
            <a:r>
              <a:rPr b="0" i="0" lang="en-US" sz="516" u="none" cap="none" strike="noStrike">
                <a:solidFill>
                  <a:srgbClr val="6B7280"/>
                </a:solidFill>
                <a:latin typeface="Inter"/>
                <a:ea typeface="Inter"/>
                <a:cs typeface="Inter"/>
                <a:sym typeface="Inter"/>
              </a:rPr>
              <a:t>■</a:t>
            </a:r>
            <a:endParaRPr b="0" i="0" sz="516" u="none" cap="none" strike="noStrike">
              <a:solidFill>
                <a:schemeClr val="dk1"/>
              </a:solidFill>
              <a:latin typeface="Calibri"/>
              <a:ea typeface="Calibri"/>
              <a:cs typeface="Calibri"/>
              <a:sym typeface="Calibri"/>
            </a:endParaRPr>
          </a:p>
        </p:txBody>
      </p:sp>
      <p:sp>
        <p:nvSpPr>
          <p:cNvPr id="247" name="Google Shape;247;p7"/>
          <p:cNvSpPr/>
          <p:nvPr/>
        </p:nvSpPr>
        <p:spPr>
          <a:xfrm>
            <a:off x="571500" y="2926035"/>
            <a:ext cx="43169" cy="100013"/>
          </a:xfrm>
          <a:prstGeom prst="rect">
            <a:avLst/>
          </a:prstGeom>
          <a:noFill/>
          <a:ln>
            <a:noFill/>
          </a:ln>
        </p:spPr>
        <p:txBody>
          <a:bodyPr anchorCtr="0" anchor="t" bIns="0" lIns="0" spcFirstLastPara="1" rIns="0" wrap="square" tIns="0">
            <a:noAutofit/>
          </a:bodyPr>
          <a:lstStyle/>
          <a:p>
            <a:pPr indent="0" lvl="0" marL="0" marR="0" rtl="0" algn="l">
              <a:lnSpc>
                <a:spcPct val="155038"/>
              </a:lnSpc>
              <a:spcBef>
                <a:spcPts val="0"/>
              </a:spcBef>
              <a:spcAft>
                <a:spcPts val="0"/>
              </a:spcAft>
              <a:buClr>
                <a:srgbClr val="6B7280"/>
              </a:buClr>
              <a:buSzPts val="516"/>
              <a:buFont typeface="Inter"/>
              <a:buNone/>
            </a:pPr>
            <a:r>
              <a:rPr b="0" i="0" lang="en-US" sz="516" u="none" cap="none" strike="noStrike">
                <a:solidFill>
                  <a:srgbClr val="6B7280"/>
                </a:solidFill>
                <a:latin typeface="Inter"/>
                <a:ea typeface="Inter"/>
                <a:cs typeface="Inter"/>
                <a:sym typeface="Inter"/>
              </a:rPr>
              <a:t>■</a:t>
            </a:r>
            <a:endParaRPr b="0" i="0" sz="516" u="none" cap="none" strike="noStrike">
              <a:solidFill>
                <a:schemeClr val="dk1"/>
              </a:solidFill>
              <a:latin typeface="Calibri"/>
              <a:ea typeface="Calibri"/>
              <a:cs typeface="Calibri"/>
              <a:sym typeface="Calibri"/>
            </a:endParaRPr>
          </a:p>
        </p:txBody>
      </p:sp>
      <p:pic>
        <p:nvPicPr>
          <p:cNvPr descr="preencoded.png" id="248" name="Google Shape;248;p7"/>
          <p:cNvPicPr preferRelativeResize="0"/>
          <p:nvPr/>
        </p:nvPicPr>
        <p:blipFill rotWithShape="1">
          <a:blip r:embed="rId5">
            <a:alphaModFix/>
          </a:blip>
          <a:srcRect b="0" l="0" r="0" t="0"/>
          <a:stretch/>
        </p:blipFill>
        <p:spPr>
          <a:xfrm>
            <a:off x="2678906" y="1418704"/>
            <a:ext cx="200025" cy="200025"/>
          </a:xfrm>
          <a:prstGeom prst="rect">
            <a:avLst/>
          </a:prstGeom>
          <a:noFill/>
          <a:ln>
            <a:noFill/>
          </a:ln>
        </p:spPr>
      </p:pic>
      <p:sp>
        <p:nvSpPr>
          <p:cNvPr id="249" name="Google Shape;249;p7"/>
          <p:cNvSpPr/>
          <p:nvPr/>
        </p:nvSpPr>
        <p:spPr>
          <a:xfrm>
            <a:off x="2986088" y="1419597"/>
            <a:ext cx="851892" cy="19823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Merriweather"/>
              <a:buNone/>
            </a:pPr>
            <a:r>
              <a:rPr b="1" i="0" lang="en-US" sz="1090" u="none" cap="none" strike="noStrike">
                <a:solidFill>
                  <a:srgbClr val="FFFFFF"/>
                </a:solidFill>
                <a:latin typeface="Merriweather"/>
                <a:ea typeface="Merriweather"/>
                <a:cs typeface="Merriweather"/>
                <a:sym typeface="Merriweather"/>
              </a:rPr>
              <a:t>Supervisor</a:t>
            </a:r>
            <a:endParaRPr b="0" i="0" sz="1090" u="none" cap="none" strike="noStrike">
              <a:solidFill>
                <a:schemeClr val="dk1"/>
              </a:solidFill>
              <a:latin typeface="Calibri"/>
              <a:ea typeface="Calibri"/>
              <a:cs typeface="Calibri"/>
              <a:sym typeface="Calibri"/>
            </a:endParaRPr>
          </a:p>
        </p:txBody>
      </p:sp>
      <p:sp>
        <p:nvSpPr>
          <p:cNvPr id="250" name="Google Shape;250;p7"/>
          <p:cNvSpPr/>
          <p:nvPr/>
        </p:nvSpPr>
        <p:spPr>
          <a:xfrm>
            <a:off x="2678906" y="1725885"/>
            <a:ext cx="1678781" cy="285750"/>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9CA3AF"/>
              </a:buClr>
              <a:buSzPts val="727"/>
              <a:buFont typeface="Inter"/>
              <a:buNone/>
            </a:pPr>
            <a:r>
              <a:rPr b="0" i="1" lang="en-US" sz="727" u="none" cap="none" strike="noStrike">
                <a:solidFill>
                  <a:srgbClr val="9CA3AF"/>
                </a:solidFill>
                <a:latin typeface="Inter"/>
                <a:ea typeface="Inter"/>
                <a:cs typeface="Inter"/>
                <a:sym typeface="Inter"/>
              </a:rPr>
              <a:t>One binary replaces 8 separate agents</a:t>
            </a:r>
            <a:endParaRPr b="0" i="0" sz="727" u="none" cap="none" strike="noStrike">
              <a:solidFill>
                <a:schemeClr val="dk1"/>
              </a:solidFill>
              <a:latin typeface="Calibri"/>
              <a:ea typeface="Calibri"/>
              <a:cs typeface="Calibri"/>
              <a:sym typeface="Calibri"/>
            </a:endParaRPr>
          </a:p>
        </p:txBody>
      </p:sp>
      <p:sp>
        <p:nvSpPr>
          <p:cNvPr id="251" name="Google Shape;251;p7"/>
          <p:cNvSpPr/>
          <p:nvPr/>
        </p:nvSpPr>
        <p:spPr>
          <a:xfrm>
            <a:off x="2678906" y="2154510"/>
            <a:ext cx="1678781" cy="300038"/>
          </a:xfrm>
          <a:prstGeom prst="rect">
            <a:avLst/>
          </a:prstGeom>
          <a:noFill/>
          <a:ln>
            <a:noFill/>
          </a:ln>
        </p:spPr>
        <p:txBody>
          <a:bodyPr anchorCtr="0" anchor="t" bIns="0" lIns="17005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Three operational modes: Init, Sidecar, Full</a:t>
            </a:r>
            <a:endParaRPr b="0" i="0" sz="780" u="none" cap="none" strike="noStrike">
              <a:solidFill>
                <a:schemeClr val="dk1"/>
              </a:solidFill>
              <a:latin typeface="Calibri"/>
              <a:ea typeface="Calibri"/>
              <a:cs typeface="Calibri"/>
              <a:sym typeface="Calibri"/>
            </a:endParaRPr>
          </a:p>
        </p:txBody>
      </p:sp>
      <p:sp>
        <p:nvSpPr>
          <p:cNvPr id="252" name="Google Shape;252;p7"/>
          <p:cNvSpPr/>
          <p:nvPr/>
        </p:nvSpPr>
        <p:spPr>
          <a:xfrm>
            <a:off x="2678906" y="2540273"/>
            <a:ext cx="1678781" cy="300038"/>
          </a:xfrm>
          <a:prstGeom prst="rect">
            <a:avLst/>
          </a:prstGeom>
          <a:noFill/>
          <a:ln>
            <a:noFill/>
          </a:ln>
        </p:spPr>
        <p:txBody>
          <a:bodyPr anchorCtr="0" anchor="t" bIns="0" lIns="17005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Consolidates 8 functions into one process</a:t>
            </a:r>
            <a:endParaRPr b="0" i="0" sz="780" u="none" cap="none" strike="noStrike">
              <a:solidFill>
                <a:schemeClr val="dk1"/>
              </a:solidFill>
              <a:latin typeface="Calibri"/>
              <a:ea typeface="Calibri"/>
              <a:cs typeface="Calibri"/>
              <a:sym typeface="Calibri"/>
            </a:endParaRPr>
          </a:p>
        </p:txBody>
      </p:sp>
      <p:sp>
        <p:nvSpPr>
          <p:cNvPr id="253" name="Google Shape;253;p7"/>
          <p:cNvSpPr/>
          <p:nvPr/>
        </p:nvSpPr>
        <p:spPr>
          <a:xfrm>
            <a:off x="2678906" y="2926035"/>
            <a:ext cx="1678781" cy="300038"/>
          </a:xfrm>
          <a:prstGeom prst="rect">
            <a:avLst/>
          </a:prstGeom>
          <a:noFill/>
          <a:ln>
            <a:noFill/>
          </a:ln>
        </p:spPr>
        <p:txBody>
          <a:bodyPr anchorCtr="0" anchor="t" bIns="0" lIns="17005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Local resilience during control plane outages</a:t>
            </a:r>
            <a:endParaRPr b="0" i="0" sz="780" u="none" cap="none" strike="noStrike">
              <a:solidFill>
                <a:schemeClr val="dk1"/>
              </a:solidFill>
              <a:latin typeface="Calibri"/>
              <a:ea typeface="Calibri"/>
              <a:cs typeface="Calibri"/>
              <a:sym typeface="Calibri"/>
            </a:endParaRPr>
          </a:p>
        </p:txBody>
      </p:sp>
      <p:sp>
        <p:nvSpPr>
          <p:cNvPr id="254" name="Google Shape;254;p7"/>
          <p:cNvSpPr/>
          <p:nvPr/>
        </p:nvSpPr>
        <p:spPr>
          <a:xfrm>
            <a:off x="4643438" y="1240110"/>
            <a:ext cx="1964531" cy="2286000"/>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p:nvPr/>
        </p:nvSpPr>
        <p:spPr>
          <a:xfrm>
            <a:off x="4643438" y="1240110"/>
            <a:ext cx="1964531" cy="28575"/>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2678906" y="2154510"/>
            <a:ext cx="43169" cy="100013"/>
          </a:xfrm>
          <a:prstGeom prst="rect">
            <a:avLst/>
          </a:prstGeom>
          <a:noFill/>
          <a:ln>
            <a:noFill/>
          </a:ln>
        </p:spPr>
        <p:txBody>
          <a:bodyPr anchorCtr="0" anchor="t" bIns="0" lIns="0" spcFirstLastPara="1" rIns="0" wrap="square" tIns="0">
            <a:noAutofit/>
          </a:bodyPr>
          <a:lstStyle/>
          <a:p>
            <a:pPr indent="0" lvl="0" marL="0" marR="0" rtl="0" algn="l">
              <a:lnSpc>
                <a:spcPct val="155038"/>
              </a:lnSpc>
              <a:spcBef>
                <a:spcPts val="0"/>
              </a:spcBef>
              <a:spcAft>
                <a:spcPts val="0"/>
              </a:spcAft>
              <a:buClr>
                <a:srgbClr val="6B7280"/>
              </a:buClr>
              <a:buSzPts val="516"/>
              <a:buFont typeface="Inter"/>
              <a:buNone/>
            </a:pPr>
            <a:r>
              <a:rPr b="0" i="0" lang="en-US" sz="516" u="none" cap="none" strike="noStrike">
                <a:solidFill>
                  <a:srgbClr val="6B7280"/>
                </a:solidFill>
                <a:latin typeface="Inter"/>
                <a:ea typeface="Inter"/>
                <a:cs typeface="Inter"/>
                <a:sym typeface="Inter"/>
              </a:rPr>
              <a:t>■</a:t>
            </a:r>
            <a:endParaRPr b="0" i="0" sz="516" u="none" cap="none" strike="noStrike">
              <a:solidFill>
                <a:schemeClr val="dk1"/>
              </a:solidFill>
              <a:latin typeface="Calibri"/>
              <a:ea typeface="Calibri"/>
              <a:cs typeface="Calibri"/>
              <a:sym typeface="Calibri"/>
            </a:endParaRPr>
          </a:p>
        </p:txBody>
      </p:sp>
      <p:sp>
        <p:nvSpPr>
          <p:cNvPr id="257" name="Google Shape;257;p7"/>
          <p:cNvSpPr/>
          <p:nvPr/>
        </p:nvSpPr>
        <p:spPr>
          <a:xfrm>
            <a:off x="2678906" y="2540273"/>
            <a:ext cx="43169" cy="100013"/>
          </a:xfrm>
          <a:prstGeom prst="rect">
            <a:avLst/>
          </a:prstGeom>
          <a:noFill/>
          <a:ln>
            <a:noFill/>
          </a:ln>
        </p:spPr>
        <p:txBody>
          <a:bodyPr anchorCtr="0" anchor="t" bIns="0" lIns="0" spcFirstLastPara="1" rIns="0" wrap="square" tIns="0">
            <a:noAutofit/>
          </a:bodyPr>
          <a:lstStyle/>
          <a:p>
            <a:pPr indent="0" lvl="0" marL="0" marR="0" rtl="0" algn="l">
              <a:lnSpc>
                <a:spcPct val="155038"/>
              </a:lnSpc>
              <a:spcBef>
                <a:spcPts val="0"/>
              </a:spcBef>
              <a:spcAft>
                <a:spcPts val="0"/>
              </a:spcAft>
              <a:buClr>
                <a:srgbClr val="6B7280"/>
              </a:buClr>
              <a:buSzPts val="516"/>
              <a:buFont typeface="Inter"/>
              <a:buNone/>
            </a:pPr>
            <a:r>
              <a:rPr b="0" i="0" lang="en-US" sz="516" u="none" cap="none" strike="noStrike">
                <a:solidFill>
                  <a:srgbClr val="6B7280"/>
                </a:solidFill>
                <a:latin typeface="Inter"/>
                <a:ea typeface="Inter"/>
                <a:cs typeface="Inter"/>
                <a:sym typeface="Inter"/>
              </a:rPr>
              <a:t>■</a:t>
            </a:r>
            <a:endParaRPr b="0" i="0" sz="516" u="none" cap="none" strike="noStrike">
              <a:solidFill>
                <a:schemeClr val="dk1"/>
              </a:solidFill>
              <a:latin typeface="Calibri"/>
              <a:ea typeface="Calibri"/>
              <a:cs typeface="Calibri"/>
              <a:sym typeface="Calibri"/>
            </a:endParaRPr>
          </a:p>
        </p:txBody>
      </p:sp>
      <p:sp>
        <p:nvSpPr>
          <p:cNvPr id="258" name="Google Shape;258;p7"/>
          <p:cNvSpPr/>
          <p:nvPr/>
        </p:nvSpPr>
        <p:spPr>
          <a:xfrm>
            <a:off x="2678906" y="2926035"/>
            <a:ext cx="43169" cy="100013"/>
          </a:xfrm>
          <a:prstGeom prst="rect">
            <a:avLst/>
          </a:prstGeom>
          <a:noFill/>
          <a:ln>
            <a:noFill/>
          </a:ln>
        </p:spPr>
        <p:txBody>
          <a:bodyPr anchorCtr="0" anchor="t" bIns="0" lIns="0" spcFirstLastPara="1" rIns="0" wrap="square" tIns="0">
            <a:noAutofit/>
          </a:bodyPr>
          <a:lstStyle/>
          <a:p>
            <a:pPr indent="0" lvl="0" marL="0" marR="0" rtl="0" algn="l">
              <a:lnSpc>
                <a:spcPct val="155038"/>
              </a:lnSpc>
              <a:spcBef>
                <a:spcPts val="0"/>
              </a:spcBef>
              <a:spcAft>
                <a:spcPts val="0"/>
              </a:spcAft>
              <a:buClr>
                <a:srgbClr val="6B7280"/>
              </a:buClr>
              <a:buSzPts val="516"/>
              <a:buFont typeface="Inter"/>
              <a:buNone/>
            </a:pPr>
            <a:r>
              <a:rPr b="0" i="0" lang="en-US" sz="516" u="none" cap="none" strike="noStrike">
                <a:solidFill>
                  <a:srgbClr val="6B7280"/>
                </a:solidFill>
                <a:latin typeface="Inter"/>
                <a:ea typeface="Inter"/>
                <a:cs typeface="Inter"/>
                <a:sym typeface="Inter"/>
              </a:rPr>
              <a:t>■</a:t>
            </a:r>
            <a:endParaRPr b="0" i="0" sz="516" u="none" cap="none" strike="noStrike">
              <a:solidFill>
                <a:schemeClr val="dk1"/>
              </a:solidFill>
              <a:latin typeface="Calibri"/>
              <a:ea typeface="Calibri"/>
              <a:cs typeface="Calibri"/>
              <a:sym typeface="Calibri"/>
            </a:endParaRPr>
          </a:p>
        </p:txBody>
      </p:sp>
      <p:pic>
        <p:nvPicPr>
          <p:cNvPr descr="preencoded.png" id="259" name="Google Shape;259;p7"/>
          <p:cNvPicPr preferRelativeResize="0"/>
          <p:nvPr/>
        </p:nvPicPr>
        <p:blipFill rotWithShape="1">
          <a:blip r:embed="rId6">
            <a:alphaModFix/>
          </a:blip>
          <a:srcRect b="0" l="0" r="0" t="0"/>
          <a:stretch/>
        </p:blipFill>
        <p:spPr>
          <a:xfrm>
            <a:off x="4786313" y="1418704"/>
            <a:ext cx="150019" cy="200025"/>
          </a:xfrm>
          <a:prstGeom prst="rect">
            <a:avLst/>
          </a:prstGeom>
          <a:noFill/>
          <a:ln>
            <a:noFill/>
          </a:ln>
        </p:spPr>
      </p:pic>
      <p:sp>
        <p:nvSpPr>
          <p:cNvPr id="260" name="Google Shape;260;p7"/>
          <p:cNvSpPr/>
          <p:nvPr/>
        </p:nvSpPr>
        <p:spPr>
          <a:xfrm>
            <a:off x="5043488" y="1419597"/>
            <a:ext cx="1060847" cy="19823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Merriweather"/>
              <a:buNone/>
            </a:pPr>
            <a:r>
              <a:rPr b="1" i="0" lang="en-US" sz="1090" u="none" cap="none" strike="noStrike">
                <a:solidFill>
                  <a:srgbClr val="FFFFFF"/>
                </a:solidFill>
                <a:latin typeface="Merriweather"/>
                <a:ea typeface="Merriweather"/>
                <a:cs typeface="Merriweather"/>
                <a:sym typeface="Merriweather"/>
              </a:rPr>
              <a:t>Workload API</a:t>
            </a:r>
            <a:endParaRPr b="0" i="0" sz="1090" u="none" cap="none" strike="noStrike">
              <a:solidFill>
                <a:schemeClr val="dk1"/>
              </a:solidFill>
              <a:latin typeface="Calibri"/>
              <a:ea typeface="Calibri"/>
              <a:cs typeface="Calibri"/>
              <a:sym typeface="Calibri"/>
            </a:endParaRPr>
          </a:p>
        </p:txBody>
      </p:sp>
      <p:sp>
        <p:nvSpPr>
          <p:cNvPr id="261" name="Google Shape;261;p7"/>
          <p:cNvSpPr/>
          <p:nvPr/>
        </p:nvSpPr>
        <p:spPr>
          <a:xfrm>
            <a:off x="4786313" y="1725885"/>
            <a:ext cx="1678781" cy="285750"/>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9CA3AF"/>
              </a:buClr>
              <a:buSzPts val="727"/>
              <a:buFont typeface="Inter"/>
              <a:buNone/>
            </a:pPr>
            <a:r>
              <a:rPr b="0" i="1" lang="en-US" sz="727" u="none" cap="none" strike="noStrike">
                <a:solidFill>
                  <a:srgbClr val="9CA3AF"/>
                </a:solidFill>
                <a:latin typeface="Inter"/>
                <a:ea typeface="Inter"/>
                <a:cs typeface="Inter"/>
                <a:sym typeface="Inter"/>
              </a:rPr>
              <a:t>Local identity and secrets for every application</a:t>
            </a:r>
            <a:endParaRPr b="0" i="0" sz="727" u="none" cap="none" strike="noStrike">
              <a:solidFill>
                <a:schemeClr val="dk1"/>
              </a:solidFill>
              <a:latin typeface="Calibri"/>
              <a:ea typeface="Calibri"/>
              <a:cs typeface="Calibri"/>
              <a:sym typeface="Calibri"/>
            </a:endParaRPr>
          </a:p>
        </p:txBody>
      </p:sp>
      <p:sp>
        <p:nvSpPr>
          <p:cNvPr id="262" name="Google Shape;262;p7"/>
          <p:cNvSpPr/>
          <p:nvPr/>
        </p:nvSpPr>
        <p:spPr>
          <a:xfrm>
            <a:off x="4786313" y="2154510"/>
            <a:ext cx="1678781" cy="150019"/>
          </a:xfrm>
          <a:prstGeom prst="rect">
            <a:avLst/>
          </a:prstGeom>
          <a:noFill/>
          <a:ln>
            <a:noFill/>
          </a:ln>
        </p:spPr>
        <p:txBody>
          <a:bodyPr anchorCtr="0" anchor="t" bIns="0" lIns="17005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19 API endpoints via localhost</a:t>
            </a:r>
            <a:endParaRPr b="0" i="0" sz="780" u="none" cap="none" strike="noStrike">
              <a:solidFill>
                <a:schemeClr val="dk1"/>
              </a:solidFill>
              <a:latin typeface="Calibri"/>
              <a:ea typeface="Calibri"/>
              <a:cs typeface="Calibri"/>
              <a:sym typeface="Calibri"/>
            </a:endParaRPr>
          </a:p>
        </p:txBody>
      </p:sp>
      <p:sp>
        <p:nvSpPr>
          <p:cNvPr id="263" name="Google Shape;263;p7"/>
          <p:cNvSpPr/>
          <p:nvPr/>
        </p:nvSpPr>
        <p:spPr>
          <a:xfrm>
            <a:off x="4786313" y="2390254"/>
            <a:ext cx="1678781" cy="300038"/>
          </a:xfrm>
          <a:prstGeom prst="rect">
            <a:avLst/>
          </a:prstGeom>
          <a:noFill/>
          <a:ln>
            <a:noFill/>
          </a:ln>
        </p:spPr>
        <p:txBody>
          <a:bodyPr anchorCtr="0" anchor="t" bIns="0" lIns="17005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Process attestation verifies caller identity</a:t>
            </a:r>
            <a:endParaRPr b="0" i="0" sz="780" u="none" cap="none" strike="noStrike">
              <a:solidFill>
                <a:schemeClr val="dk1"/>
              </a:solidFill>
              <a:latin typeface="Calibri"/>
              <a:ea typeface="Calibri"/>
              <a:cs typeface="Calibri"/>
              <a:sym typeface="Calibri"/>
            </a:endParaRPr>
          </a:p>
        </p:txBody>
      </p:sp>
      <p:sp>
        <p:nvSpPr>
          <p:cNvPr id="264" name="Google Shape;264;p7"/>
          <p:cNvSpPr/>
          <p:nvPr/>
        </p:nvSpPr>
        <p:spPr>
          <a:xfrm>
            <a:off x="4786313" y="2776017"/>
            <a:ext cx="1678781" cy="300038"/>
          </a:xfrm>
          <a:prstGeom prst="rect">
            <a:avLst/>
          </a:prstGeom>
          <a:noFill/>
          <a:ln>
            <a:noFill/>
          </a:ln>
        </p:spPr>
        <p:txBody>
          <a:bodyPr anchorCtr="0" anchor="t" bIns="0" lIns="17005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Applications never manage certificates</a:t>
            </a:r>
            <a:endParaRPr b="0" i="0" sz="780" u="none" cap="none" strike="noStrike">
              <a:solidFill>
                <a:schemeClr val="dk1"/>
              </a:solidFill>
              <a:latin typeface="Calibri"/>
              <a:ea typeface="Calibri"/>
              <a:cs typeface="Calibri"/>
              <a:sym typeface="Calibri"/>
            </a:endParaRPr>
          </a:p>
        </p:txBody>
      </p:sp>
      <p:sp>
        <p:nvSpPr>
          <p:cNvPr id="265" name="Google Shape;265;p7"/>
          <p:cNvSpPr/>
          <p:nvPr/>
        </p:nvSpPr>
        <p:spPr>
          <a:xfrm>
            <a:off x="6750844" y="1240110"/>
            <a:ext cx="1964531" cy="2286000"/>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6750844" y="1240110"/>
            <a:ext cx="1964531"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
          <p:cNvSpPr/>
          <p:nvPr/>
        </p:nvSpPr>
        <p:spPr>
          <a:xfrm>
            <a:off x="4786313" y="2154510"/>
            <a:ext cx="43169" cy="100013"/>
          </a:xfrm>
          <a:prstGeom prst="rect">
            <a:avLst/>
          </a:prstGeom>
          <a:noFill/>
          <a:ln>
            <a:noFill/>
          </a:ln>
        </p:spPr>
        <p:txBody>
          <a:bodyPr anchorCtr="0" anchor="t" bIns="0" lIns="0" spcFirstLastPara="1" rIns="0" wrap="square" tIns="0">
            <a:noAutofit/>
          </a:bodyPr>
          <a:lstStyle/>
          <a:p>
            <a:pPr indent="0" lvl="0" marL="0" marR="0" rtl="0" algn="l">
              <a:lnSpc>
                <a:spcPct val="155038"/>
              </a:lnSpc>
              <a:spcBef>
                <a:spcPts val="0"/>
              </a:spcBef>
              <a:spcAft>
                <a:spcPts val="0"/>
              </a:spcAft>
              <a:buClr>
                <a:srgbClr val="6B7280"/>
              </a:buClr>
              <a:buSzPts val="516"/>
              <a:buFont typeface="Inter"/>
              <a:buNone/>
            </a:pPr>
            <a:r>
              <a:rPr b="0" i="0" lang="en-US" sz="516" u="none" cap="none" strike="noStrike">
                <a:solidFill>
                  <a:srgbClr val="6B7280"/>
                </a:solidFill>
                <a:latin typeface="Inter"/>
                <a:ea typeface="Inter"/>
                <a:cs typeface="Inter"/>
                <a:sym typeface="Inter"/>
              </a:rPr>
              <a:t>■</a:t>
            </a:r>
            <a:endParaRPr b="0" i="0" sz="516" u="none" cap="none" strike="noStrike">
              <a:solidFill>
                <a:schemeClr val="dk1"/>
              </a:solidFill>
              <a:latin typeface="Calibri"/>
              <a:ea typeface="Calibri"/>
              <a:cs typeface="Calibri"/>
              <a:sym typeface="Calibri"/>
            </a:endParaRPr>
          </a:p>
        </p:txBody>
      </p:sp>
      <p:sp>
        <p:nvSpPr>
          <p:cNvPr id="268" name="Google Shape;268;p7"/>
          <p:cNvSpPr/>
          <p:nvPr/>
        </p:nvSpPr>
        <p:spPr>
          <a:xfrm>
            <a:off x="4786313" y="2390254"/>
            <a:ext cx="43169" cy="100013"/>
          </a:xfrm>
          <a:prstGeom prst="rect">
            <a:avLst/>
          </a:prstGeom>
          <a:noFill/>
          <a:ln>
            <a:noFill/>
          </a:ln>
        </p:spPr>
        <p:txBody>
          <a:bodyPr anchorCtr="0" anchor="t" bIns="0" lIns="0" spcFirstLastPara="1" rIns="0" wrap="square" tIns="0">
            <a:noAutofit/>
          </a:bodyPr>
          <a:lstStyle/>
          <a:p>
            <a:pPr indent="0" lvl="0" marL="0" marR="0" rtl="0" algn="l">
              <a:lnSpc>
                <a:spcPct val="155038"/>
              </a:lnSpc>
              <a:spcBef>
                <a:spcPts val="0"/>
              </a:spcBef>
              <a:spcAft>
                <a:spcPts val="0"/>
              </a:spcAft>
              <a:buClr>
                <a:srgbClr val="6B7280"/>
              </a:buClr>
              <a:buSzPts val="516"/>
              <a:buFont typeface="Inter"/>
              <a:buNone/>
            </a:pPr>
            <a:r>
              <a:rPr b="0" i="0" lang="en-US" sz="516" u="none" cap="none" strike="noStrike">
                <a:solidFill>
                  <a:srgbClr val="6B7280"/>
                </a:solidFill>
                <a:latin typeface="Inter"/>
                <a:ea typeface="Inter"/>
                <a:cs typeface="Inter"/>
                <a:sym typeface="Inter"/>
              </a:rPr>
              <a:t>■</a:t>
            </a:r>
            <a:endParaRPr b="0" i="0" sz="516" u="none" cap="none" strike="noStrike">
              <a:solidFill>
                <a:schemeClr val="dk1"/>
              </a:solidFill>
              <a:latin typeface="Calibri"/>
              <a:ea typeface="Calibri"/>
              <a:cs typeface="Calibri"/>
              <a:sym typeface="Calibri"/>
            </a:endParaRPr>
          </a:p>
        </p:txBody>
      </p:sp>
      <p:sp>
        <p:nvSpPr>
          <p:cNvPr id="269" name="Google Shape;269;p7"/>
          <p:cNvSpPr/>
          <p:nvPr/>
        </p:nvSpPr>
        <p:spPr>
          <a:xfrm>
            <a:off x="4786313" y="2776017"/>
            <a:ext cx="43169" cy="100013"/>
          </a:xfrm>
          <a:prstGeom prst="rect">
            <a:avLst/>
          </a:prstGeom>
          <a:noFill/>
          <a:ln>
            <a:noFill/>
          </a:ln>
        </p:spPr>
        <p:txBody>
          <a:bodyPr anchorCtr="0" anchor="t" bIns="0" lIns="0" spcFirstLastPara="1" rIns="0" wrap="square" tIns="0">
            <a:noAutofit/>
          </a:bodyPr>
          <a:lstStyle/>
          <a:p>
            <a:pPr indent="0" lvl="0" marL="0" marR="0" rtl="0" algn="l">
              <a:lnSpc>
                <a:spcPct val="155038"/>
              </a:lnSpc>
              <a:spcBef>
                <a:spcPts val="0"/>
              </a:spcBef>
              <a:spcAft>
                <a:spcPts val="0"/>
              </a:spcAft>
              <a:buClr>
                <a:srgbClr val="6B7280"/>
              </a:buClr>
              <a:buSzPts val="516"/>
              <a:buFont typeface="Inter"/>
              <a:buNone/>
            </a:pPr>
            <a:r>
              <a:rPr b="0" i="0" lang="en-US" sz="516" u="none" cap="none" strike="noStrike">
                <a:solidFill>
                  <a:srgbClr val="6B7280"/>
                </a:solidFill>
                <a:latin typeface="Inter"/>
                <a:ea typeface="Inter"/>
                <a:cs typeface="Inter"/>
                <a:sym typeface="Inter"/>
              </a:rPr>
              <a:t>■</a:t>
            </a:r>
            <a:endParaRPr b="0" i="0" sz="516" u="none" cap="none" strike="noStrike">
              <a:solidFill>
                <a:schemeClr val="dk1"/>
              </a:solidFill>
              <a:latin typeface="Calibri"/>
              <a:ea typeface="Calibri"/>
              <a:cs typeface="Calibri"/>
              <a:sym typeface="Calibri"/>
            </a:endParaRPr>
          </a:p>
        </p:txBody>
      </p:sp>
      <p:pic>
        <p:nvPicPr>
          <p:cNvPr descr="preencoded.png" id="270" name="Google Shape;270;p7"/>
          <p:cNvPicPr preferRelativeResize="0"/>
          <p:nvPr/>
        </p:nvPicPr>
        <p:blipFill rotWithShape="1">
          <a:blip r:embed="rId7">
            <a:alphaModFix/>
          </a:blip>
          <a:srcRect b="0" l="0" r="0" t="0"/>
          <a:stretch/>
        </p:blipFill>
        <p:spPr>
          <a:xfrm>
            <a:off x="6893719" y="1418704"/>
            <a:ext cx="250031" cy="200025"/>
          </a:xfrm>
          <a:prstGeom prst="rect">
            <a:avLst/>
          </a:prstGeom>
          <a:noFill/>
          <a:ln>
            <a:noFill/>
          </a:ln>
        </p:spPr>
      </p:pic>
      <p:sp>
        <p:nvSpPr>
          <p:cNvPr id="271" name="Google Shape;271;p7"/>
          <p:cNvSpPr/>
          <p:nvPr/>
        </p:nvSpPr>
        <p:spPr>
          <a:xfrm>
            <a:off x="7250906" y="1419597"/>
            <a:ext cx="326827" cy="198239"/>
          </a:xfrm>
          <a:prstGeom prst="rect">
            <a:avLst/>
          </a:prstGeom>
          <a:noFill/>
          <a:ln>
            <a:noFill/>
          </a:ln>
        </p:spPr>
        <p:txBody>
          <a:bodyPr anchorCtr="0" anchor="t" bIns="0" lIns="0" spcFirstLastPara="1" rIns="0" wrap="square" tIns="0">
            <a:noAutofit/>
          </a:bodyPr>
          <a:lstStyle/>
          <a:p>
            <a:pPr indent="0" lvl="0" marL="0" marR="0" rtl="0" algn="l">
              <a:lnSpc>
                <a:spcPct val="137614"/>
              </a:lnSpc>
              <a:spcBef>
                <a:spcPts val="0"/>
              </a:spcBef>
              <a:spcAft>
                <a:spcPts val="0"/>
              </a:spcAft>
              <a:buClr>
                <a:srgbClr val="FFFFFF"/>
              </a:buClr>
              <a:buSzPts val="1090"/>
              <a:buFont typeface="Merriweather"/>
              <a:buNone/>
            </a:pPr>
            <a:r>
              <a:rPr b="1" i="0" lang="en-US" sz="1090" u="none" cap="none" strike="noStrike">
                <a:solidFill>
                  <a:srgbClr val="FFFFFF"/>
                </a:solidFill>
                <a:latin typeface="Merriweather"/>
                <a:ea typeface="Merriweather"/>
                <a:cs typeface="Merriweather"/>
                <a:sym typeface="Merriweather"/>
              </a:rPr>
              <a:t>SDK</a:t>
            </a:r>
            <a:endParaRPr b="0" i="0" sz="1090" u="none" cap="none" strike="noStrike">
              <a:solidFill>
                <a:schemeClr val="dk1"/>
              </a:solidFill>
              <a:latin typeface="Calibri"/>
              <a:ea typeface="Calibri"/>
              <a:cs typeface="Calibri"/>
              <a:sym typeface="Calibri"/>
            </a:endParaRPr>
          </a:p>
        </p:txBody>
      </p:sp>
      <p:sp>
        <p:nvSpPr>
          <p:cNvPr id="272" name="Google Shape;272;p7"/>
          <p:cNvSpPr/>
          <p:nvPr/>
        </p:nvSpPr>
        <p:spPr>
          <a:xfrm>
            <a:off x="6893719" y="1725885"/>
            <a:ext cx="1678781" cy="285750"/>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9CA3AF"/>
              </a:buClr>
              <a:buSzPts val="727"/>
              <a:buFont typeface="Inter"/>
              <a:buNone/>
            </a:pPr>
            <a:r>
              <a:rPr b="0" i="1" lang="en-US" sz="727" u="none" cap="none" strike="noStrike">
                <a:solidFill>
                  <a:srgbClr val="9CA3AF"/>
                </a:solidFill>
                <a:latin typeface="Inter"/>
                <a:ea typeface="Inter"/>
                <a:cs typeface="Inter"/>
                <a:sym typeface="Inter"/>
              </a:rPr>
              <a:t>Consistent client libraries across 5 languages</a:t>
            </a:r>
            <a:endParaRPr b="0" i="0" sz="727" u="none" cap="none" strike="noStrike">
              <a:solidFill>
                <a:schemeClr val="dk1"/>
              </a:solidFill>
              <a:latin typeface="Calibri"/>
              <a:ea typeface="Calibri"/>
              <a:cs typeface="Calibri"/>
              <a:sym typeface="Calibri"/>
            </a:endParaRPr>
          </a:p>
        </p:txBody>
      </p:sp>
      <p:sp>
        <p:nvSpPr>
          <p:cNvPr id="273" name="Google Shape;273;p7"/>
          <p:cNvSpPr/>
          <p:nvPr/>
        </p:nvSpPr>
        <p:spPr>
          <a:xfrm>
            <a:off x="6893719" y="2154510"/>
            <a:ext cx="1678781" cy="300038"/>
          </a:xfrm>
          <a:prstGeom prst="rect">
            <a:avLst/>
          </a:prstGeom>
          <a:noFill/>
          <a:ln>
            <a:noFill/>
          </a:ln>
        </p:spPr>
        <p:txBody>
          <a:bodyPr anchorCtr="0" anchor="t" bIns="0" lIns="17005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Go, Python, Node.js, Rust, Java</a:t>
            </a:r>
            <a:endParaRPr b="0" i="0" sz="780" u="none" cap="none" strike="noStrike">
              <a:solidFill>
                <a:schemeClr val="dk1"/>
              </a:solidFill>
              <a:latin typeface="Calibri"/>
              <a:ea typeface="Calibri"/>
              <a:cs typeface="Calibri"/>
              <a:sym typeface="Calibri"/>
            </a:endParaRPr>
          </a:p>
        </p:txBody>
      </p:sp>
      <p:sp>
        <p:nvSpPr>
          <p:cNvPr id="274" name="Google Shape;274;p7"/>
          <p:cNvSpPr/>
          <p:nvPr/>
        </p:nvSpPr>
        <p:spPr>
          <a:xfrm>
            <a:off x="6893719" y="2540273"/>
            <a:ext cx="1678781" cy="300038"/>
          </a:xfrm>
          <a:prstGeom prst="rect">
            <a:avLst/>
          </a:prstGeom>
          <a:noFill/>
          <a:ln>
            <a:noFill/>
          </a:ln>
        </p:spPr>
        <p:txBody>
          <a:bodyPr anchorCtr="0" anchor="t" bIns="0" lIns="17005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Auto-configuration via Workload API detection</a:t>
            </a:r>
            <a:endParaRPr b="0" i="0" sz="780" u="none" cap="none" strike="noStrike">
              <a:solidFill>
                <a:schemeClr val="dk1"/>
              </a:solidFill>
              <a:latin typeface="Calibri"/>
              <a:ea typeface="Calibri"/>
              <a:cs typeface="Calibri"/>
              <a:sym typeface="Calibri"/>
            </a:endParaRPr>
          </a:p>
        </p:txBody>
      </p:sp>
      <p:sp>
        <p:nvSpPr>
          <p:cNvPr id="275" name="Google Shape;275;p7"/>
          <p:cNvSpPr/>
          <p:nvPr/>
        </p:nvSpPr>
        <p:spPr>
          <a:xfrm>
            <a:off x="6893719" y="2926035"/>
            <a:ext cx="1678781" cy="300038"/>
          </a:xfrm>
          <a:prstGeom prst="rect">
            <a:avLst/>
          </a:prstGeom>
          <a:noFill/>
          <a:ln>
            <a:noFill/>
          </a:ln>
        </p:spPr>
        <p:txBody>
          <a:bodyPr anchorCtr="0" anchor="t" bIns="0" lIns="17005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Built-in caching and real-time watch</a:t>
            </a:r>
            <a:endParaRPr b="0" i="0" sz="780" u="none" cap="none" strike="noStrike">
              <a:solidFill>
                <a:schemeClr val="dk1"/>
              </a:solidFill>
              <a:latin typeface="Calibri"/>
              <a:ea typeface="Calibri"/>
              <a:cs typeface="Calibri"/>
              <a:sym typeface="Calibri"/>
            </a:endParaRPr>
          </a:p>
        </p:txBody>
      </p:sp>
      <p:sp>
        <p:nvSpPr>
          <p:cNvPr id="276" name="Google Shape;276;p7"/>
          <p:cNvSpPr/>
          <p:nvPr/>
        </p:nvSpPr>
        <p:spPr>
          <a:xfrm>
            <a:off x="428625" y="3811860"/>
            <a:ext cx="8286750" cy="857250"/>
          </a:xfrm>
          <a:prstGeom prst="rect">
            <a:avLst/>
          </a:prstGeom>
          <a:solidFill>
            <a:srgbClr val="0D1B2A"/>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6893719" y="2154510"/>
            <a:ext cx="43169" cy="100013"/>
          </a:xfrm>
          <a:prstGeom prst="rect">
            <a:avLst/>
          </a:prstGeom>
          <a:noFill/>
          <a:ln>
            <a:noFill/>
          </a:ln>
        </p:spPr>
        <p:txBody>
          <a:bodyPr anchorCtr="0" anchor="t" bIns="0" lIns="0" spcFirstLastPara="1" rIns="0" wrap="square" tIns="0">
            <a:noAutofit/>
          </a:bodyPr>
          <a:lstStyle/>
          <a:p>
            <a:pPr indent="0" lvl="0" marL="0" marR="0" rtl="0" algn="l">
              <a:lnSpc>
                <a:spcPct val="155038"/>
              </a:lnSpc>
              <a:spcBef>
                <a:spcPts val="0"/>
              </a:spcBef>
              <a:spcAft>
                <a:spcPts val="0"/>
              </a:spcAft>
              <a:buClr>
                <a:srgbClr val="6B7280"/>
              </a:buClr>
              <a:buSzPts val="516"/>
              <a:buFont typeface="Inter"/>
              <a:buNone/>
            </a:pPr>
            <a:r>
              <a:rPr b="0" i="0" lang="en-US" sz="516" u="none" cap="none" strike="noStrike">
                <a:solidFill>
                  <a:srgbClr val="6B7280"/>
                </a:solidFill>
                <a:latin typeface="Inter"/>
                <a:ea typeface="Inter"/>
                <a:cs typeface="Inter"/>
                <a:sym typeface="Inter"/>
              </a:rPr>
              <a:t>■</a:t>
            </a:r>
            <a:endParaRPr b="0" i="0" sz="516" u="none" cap="none" strike="noStrike">
              <a:solidFill>
                <a:schemeClr val="dk1"/>
              </a:solidFill>
              <a:latin typeface="Calibri"/>
              <a:ea typeface="Calibri"/>
              <a:cs typeface="Calibri"/>
              <a:sym typeface="Calibri"/>
            </a:endParaRPr>
          </a:p>
        </p:txBody>
      </p:sp>
      <p:sp>
        <p:nvSpPr>
          <p:cNvPr id="278" name="Google Shape;278;p7"/>
          <p:cNvSpPr/>
          <p:nvPr/>
        </p:nvSpPr>
        <p:spPr>
          <a:xfrm>
            <a:off x="6893719" y="2540273"/>
            <a:ext cx="43169" cy="100013"/>
          </a:xfrm>
          <a:prstGeom prst="rect">
            <a:avLst/>
          </a:prstGeom>
          <a:noFill/>
          <a:ln>
            <a:noFill/>
          </a:ln>
        </p:spPr>
        <p:txBody>
          <a:bodyPr anchorCtr="0" anchor="t" bIns="0" lIns="0" spcFirstLastPara="1" rIns="0" wrap="square" tIns="0">
            <a:noAutofit/>
          </a:bodyPr>
          <a:lstStyle/>
          <a:p>
            <a:pPr indent="0" lvl="0" marL="0" marR="0" rtl="0" algn="l">
              <a:lnSpc>
                <a:spcPct val="155038"/>
              </a:lnSpc>
              <a:spcBef>
                <a:spcPts val="0"/>
              </a:spcBef>
              <a:spcAft>
                <a:spcPts val="0"/>
              </a:spcAft>
              <a:buClr>
                <a:srgbClr val="6B7280"/>
              </a:buClr>
              <a:buSzPts val="516"/>
              <a:buFont typeface="Inter"/>
              <a:buNone/>
            </a:pPr>
            <a:r>
              <a:rPr b="0" i="0" lang="en-US" sz="516" u="none" cap="none" strike="noStrike">
                <a:solidFill>
                  <a:srgbClr val="6B7280"/>
                </a:solidFill>
                <a:latin typeface="Inter"/>
                <a:ea typeface="Inter"/>
                <a:cs typeface="Inter"/>
                <a:sym typeface="Inter"/>
              </a:rPr>
              <a:t>■</a:t>
            </a:r>
            <a:endParaRPr b="0" i="0" sz="516" u="none" cap="none" strike="noStrike">
              <a:solidFill>
                <a:schemeClr val="dk1"/>
              </a:solidFill>
              <a:latin typeface="Calibri"/>
              <a:ea typeface="Calibri"/>
              <a:cs typeface="Calibri"/>
              <a:sym typeface="Calibri"/>
            </a:endParaRPr>
          </a:p>
        </p:txBody>
      </p:sp>
      <p:sp>
        <p:nvSpPr>
          <p:cNvPr id="279" name="Google Shape;279;p7"/>
          <p:cNvSpPr/>
          <p:nvPr/>
        </p:nvSpPr>
        <p:spPr>
          <a:xfrm>
            <a:off x="6893719" y="2926035"/>
            <a:ext cx="43169" cy="100013"/>
          </a:xfrm>
          <a:prstGeom prst="rect">
            <a:avLst/>
          </a:prstGeom>
          <a:noFill/>
          <a:ln>
            <a:noFill/>
          </a:ln>
        </p:spPr>
        <p:txBody>
          <a:bodyPr anchorCtr="0" anchor="t" bIns="0" lIns="0" spcFirstLastPara="1" rIns="0" wrap="square" tIns="0">
            <a:noAutofit/>
          </a:bodyPr>
          <a:lstStyle/>
          <a:p>
            <a:pPr indent="0" lvl="0" marL="0" marR="0" rtl="0" algn="l">
              <a:lnSpc>
                <a:spcPct val="155038"/>
              </a:lnSpc>
              <a:spcBef>
                <a:spcPts val="0"/>
              </a:spcBef>
              <a:spcAft>
                <a:spcPts val="0"/>
              </a:spcAft>
              <a:buClr>
                <a:srgbClr val="6B7280"/>
              </a:buClr>
              <a:buSzPts val="516"/>
              <a:buFont typeface="Inter"/>
              <a:buNone/>
            </a:pPr>
            <a:r>
              <a:rPr b="0" i="0" lang="en-US" sz="516" u="none" cap="none" strike="noStrike">
                <a:solidFill>
                  <a:srgbClr val="6B7280"/>
                </a:solidFill>
                <a:latin typeface="Inter"/>
                <a:ea typeface="Inter"/>
                <a:cs typeface="Inter"/>
                <a:sym typeface="Inter"/>
              </a:rPr>
              <a:t>■</a:t>
            </a:r>
            <a:endParaRPr b="0" i="0" sz="516" u="none" cap="none" strike="noStrike">
              <a:solidFill>
                <a:schemeClr val="dk1"/>
              </a:solidFill>
              <a:latin typeface="Calibri"/>
              <a:ea typeface="Calibri"/>
              <a:cs typeface="Calibri"/>
              <a:sym typeface="Calibri"/>
            </a:endParaRPr>
          </a:p>
        </p:txBody>
      </p:sp>
      <p:sp>
        <p:nvSpPr>
          <p:cNvPr id="280" name="Google Shape;280;p7"/>
          <p:cNvSpPr/>
          <p:nvPr/>
        </p:nvSpPr>
        <p:spPr>
          <a:xfrm>
            <a:off x="642938" y="4097610"/>
            <a:ext cx="1430536" cy="428625"/>
          </a:xfrm>
          <a:prstGeom prst="rect">
            <a:avLst/>
          </a:prstGeom>
          <a:solidFill>
            <a:srgbClr val="FFFFFF">
              <a:alpha val="5098"/>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642938" y="4097610"/>
            <a:ext cx="1430536" cy="428625"/>
          </a:xfrm>
          <a:prstGeom prst="rect">
            <a:avLst/>
          </a:prstGeom>
          <a:noFill/>
          <a:ln>
            <a:noFill/>
          </a:ln>
        </p:spPr>
        <p:txBody>
          <a:bodyPr anchorCtr="0" anchor="ctr" bIns="0" lIns="170050" spcFirstLastPara="1" rIns="170050" wrap="square" tIns="127500">
            <a:noAutofit/>
          </a:bodyPr>
          <a:lstStyle/>
          <a:p>
            <a:pPr indent="0" lvl="0" marL="0" marR="0" rtl="0" algn="ctr">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4 CORE PILLARS</a:t>
            </a:r>
            <a:endParaRPr b="0" i="0" sz="885" u="none" cap="none" strike="noStrike">
              <a:solidFill>
                <a:schemeClr val="dk1"/>
              </a:solidFill>
              <a:latin typeface="Calibri"/>
              <a:ea typeface="Calibri"/>
              <a:cs typeface="Calibri"/>
              <a:sym typeface="Calibri"/>
            </a:endParaRPr>
          </a:p>
        </p:txBody>
      </p:sp>
      <p:pic>
        <p:nvPicPr>
          <p:cNvPr descr="preencoded.png" id="282" name="Google Shape;282;p7"/>
          <p:cNvPicPr preferRelativeResize="0"/>
          <p:nvPr/>
        </p:nvPicPr>
        <p:blipFill rotWithShape="1">
          <a:blip r:embed="rId8">
            <a:alphaModFix/>
          </a:blip>
          <a:srcRect b="0" l="0" r="0" t="0"/>
          <a:stretch/>
        </p:blipFill>
        <p:spPr>
          <a:xfrm>
            <a:off x="3434358" y="4155653"/>
            <a:ext cx="171450" cy="171450"/>
          </a:xfrm>
          <a:prstGeom prst="rect">
            <a:avLst/>
          </a:prstGeom>
          <a:noFill/>
          <a:ln>
            <a:noFill/>
          </a:ln>
        </p:spPr>
      </p:pic>
      <p:sp>
        <p:nvSpPr>
          <p:cNvPr id="283" name="Google Shape;283;p7"/>
          <p:cNvSpPr/>
          <p:nvPr/>
        </p:nvSpPr>
        <p:spPr>
          <a:xfrm>
            <a:off x="3333452" y="4362822"/>
            <a:ext cx="373261"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9CA3AF"/>
              </a:buClr>
              <a:buSzPts val="621"/>
              <a:buFont typeface="Inter"/>
              <a:buNone/>
            </a:pPr>
            <a:r>
              <a:rPr b="0" i="0" lang="en-US" sz="621" u="none" cap="none" strike="noStrike">
                <a:solidFill>
                  <a:srgbClr val="9CA3AF"/>
                </a:solidFill>
                <a:latin typeface="Inter"/>
                <a:ea typeface="Inter"/>
                <a:cs typeface="Inter"/>
                <a:sym typeface="Inter"/>
              </a:rPr>
              <a:t>ENABLE</a:t>
            </a:r>
            <a:endParaRPr b="0" i="0" sz="621" u="none" cap="none" strike="noStrike">
              <a:solidFill>
                <a:schemeClr val="dk1"/>
              </a:solidFill>
              <a:latin typeface="Calibri"/>
              <a:ea typeface="Calibri"/>
              <a:cs typeface="Calibri"/>
              <a:sym typeface="Calibri"/>
            </a:endParaRPr>
          </a:p>
        </p:txBody>
      </p:sp>
      <p:sp>
        <p:nvSpPr>
          <p:cNvPr id="284" name="Google Shape;284;p7"/>
          <p:cNvSpPr/>
          <p:nvPr/>
        </p:nvSpPr>
        <p:spPr>
          <a:xfrm>
            <a:off x="4980980" y="4169048"/>
            <a:ext cx="823317" cy="285750"/>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
          <p:cNvSpPr/>
          <p:nvPr/>
        </p:nvSpPr>
        <p:spPr>
          <a:xfrm>
            <a:off x="4980980" y="4169048"/>
            <a:ext cx="823317" cy="285750"/>
          </a:xfrm>
          <a:prstGeom prst="rect">
            <a:avLst/>
          </a:prstGeom>
          <a:noFill/>
          <a:ln>
            <a:noFill/>
          </a:ln>
        </p:spPr>
        <p:txBody>
          <a:bodyPr anchorCtr="0" anchor="t" bIns="0" lIns="127500" spcFirstLastPara="1" rIns="127500" wrap="square" tIns="85075">
            <a:noAutofit/>
          </a:bodyPr>
          <a:lstStyle/>
          <a:p>
            <a:pPr indent="0" lvl="0" marL="0" marR="0" rtl="0" algn="l">
              <a:lnSpc>
                <a:spcPct val="131771"/>
              </a:lnSpc>
              <a:spcBef>
                <a:spcPts val="0"/>
              </a:spcBef>
              <a:spcAft>
                <a:spcPts val="0"/>
              </a:spcAft>
              <a:buClr>
                <a:srgbClr val="F59E0B"/>
              </a:buClr>
              <a:buSzPts val="683"/>
              <a:buFont typeface="Inter"/>
              <a:buNone/>
            </a:pPr>
            <a:r>
              <a:rPr b="1" i="0" lang="en-US" sz="683" u="none" cap="none" strike="noStrike">
                <a:solidFill>
                  <a:srgbClr val="F59E0B"/>
                </a:solidFill>
                <a:latin typeface="Inter"/>
                <a:ea typeface="Inter"/>
                <a:cs typeface="Inter"/>
                <a:sym typeface="Inter"/>
              </a:rPr>
              <a:t>Agent Mgmt</a:t>
            </a:r>
            <a:endParaRPr b="0" i="0" sz="683" u="none" cap="none" strike="noStrike">
              <a:solidFill>
                <a:schemeClr val="dk1"/>
              </a:solidFill>
              <a:latin typeface="Calibri"/>
              <a:ea typeface="Calibri"/>
              <a:cs typeface="Calibri"/>
              <a:sym typeface="Calibri"/>
            </a:endParaRPr>
          </a:p>
        </p:txBody>
      </p:sp>
      <p:sp>
        <p:nvSpPr>
          <p:cNvPr id="286" name="Google Shape;286;p7"/>
          <p:cNvSpPr/>
          <p:nvPr/>
        </p:nvSpPr>
        <p:spPr>
          <a:xfrm>
            <a:off x="5911453" y="4169048"/>
            <a:ext cx="903684" cy="285750"/>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p:nvPr/>
        </p:nvSpPr>
        <p:spPr>
          <a:xfrm>
            <a:off x="5911453" y="4169048"/>
            <a:ext cx="903684" cy="285750"/>
          </a:xfrm>
          <a:prstGeom prst="rect">
            <a:avLst/>
          </a:prstGeom>
          <a:noFill/>
          <a:ln>
            <a:noFill/>
          </a:ln>
        </p:spPr>
        <p:txBody>
          <a:bodyPr anchorCtr="0" anchor="t" bIns="0" lIns="127500" spcFirstLastPara="1" rIns="127500" wrap="square" tIns="85075">
            <a:noAutofit/>
          </a:bodyPr>
          <a:lstStyle/>
          <a:p>
            <a:pPr indent="0" lvl="0" marL="0" marR="0" rtl="0" algn="l">
              <a:lnSpc>
                <a:spcPct val="131771"/>
              </a:lnSpc>
              <a:spcBef>
                <a:spcPts val="0"/>
              </a:spcBef>
              <a:spcAft>
                <a:spcPts val="0"/>
              </a:spcAft>
              <a:buClr>
                <a:srgbClr val="F59E0B"/>
              </a:buClr>
              <a:buSzPts val="683"/>
              <a:buFont typeface="Inter"/>
              <a:buNone/>
            </a:pPr>
            <a:r>
              <a:rPr b="1" i="0" lang="en-US" sz="683" u="none" cap="none" strike="noStrike">
                <a:solidFill>
                  <a:srgbClr val="F59E0B"/>
                </a:solidFill>
                <a:latin typeface="Inter"/>
                <a:ea typeface="Inter"/>
                <a:cs typeface="Inter"/>
                <a:sym typeface="Inter"/>
              </a:rPr>
              <a:t>Secrets Mgmt</a:t>
            </a:r>
            <a:endParaRPr b="0" i="0" sz="683" u="none" cap="none" strike="noStrike">
              <a:solidFill>
                <a:schemeClr val="dk1"/>
              </a:solidFill>
              <a:latin typeface="Calibri"/>
              <a:ea typeface="Calibri"/>
              <a:cs typeface="Calibri"/>
              <a:sym typeface="Calibri"/>
            </a:endParaRPr>
          </a:p>
        </p:txBody>
      </p:sp>
      <p:sp>
        <p:nvSpPr>
          <p:cNvPr id="288" name="Google Shape;288;p7"/>
          <p:cNvSpPr/>
          <p:nvPr/>
        </p:nvSpPr>
        <p:spPr>
          <a:xfrm>
            <a:off x="6922294" y="4169048"/>
            <a:ext cx="742950" cy="285750"/>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6922294" y="4169048"/>
            <a:ext cx="742950" cy="285750"/>
          </a:xfrm>
          <a:prstGeom prst="rect">
            <a:avLst/>
          </a:prstGeom>
          <a:noFill/>
          <a:ln>
            <a:noFill/>
          </a:ln>
        </p:spPr>
        <p:txBody>
          <a:bodyPr anchorCtr="0" anchor="t" bIns="0" lIns="127500" spcFirstLastPara="1" rIns="127500" wrap="square" tIns="85075">
            <a:noAutofit/>
          </a:bodyPr>
          <a:lstStyle/>
          <a:p>
            <a:pPr indent="0" lvl="0" marL="0" marR="0" rtl="0" algn="l">
              <a:lnSpc>
                <a:spcPct val="131771"/>
              </a:lnSpc>
              <a:spcBef>
                <a:spcPts val="0"/>
              </a:spcBef>
              <a:spcAft>
                <a:spcPts val="0"/>
              </a:spcAft>
              <a:buClr>
                <a:srgbClr val="F59E0B"/>
              </a:buClr>
              <a:buSzPts val="683"/>
              <a:buFont typeface="Inter"/>
              <a:buNone/>
            </a:pPr>
            <a:r>
              <a:rPr b="1" i="0" lang="en-US" sz="683" u="none" cap="none" strike="noStrike">
                <a:solidFill>
                  <a:srgbClr val="F59E0B"/>
                </a:solidFill>
                <a:latin typeface="Inter"/>
                <a:ea typeface="Inter"/>
                <a:cs typeface="Inter"/>
                <a:sym typeface="Inter"/>
              </a:rPr>
              <a:t>Cert Mgmt</a:t>
            </a:r>
            <a:endParaRPr b="0" i="0" sz="683" u="none" cap="none" strike="noStrike">
              <a:solidFill>
                <a:schemeClr val="dk1"/>
              </a:solidFill>
              <a:latin typeface="Calibri"/>
              <a:ea typeface="Calibri"/>
              <a:cs typeface="Calibri"/>
              <a:sym typeface="Calibri"/>
            </a:endParaRPr>
          </a:p>
        </p:txBody>
      </p:sp>
      <p:sp>
        <p:nvSpPr>
          <p:cNvPr id="290" name="Google Shape;290;p7"/>
          <p:cNvSpPr/>
          <p:nvPr/>
        </p:nvSpPr>
        <p:spPr>
          <a:xfrm>
            <a:off x="7772400" y="4169048"/>
            <a:ext cx="728663" cy="285750"/>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7"/>
          <p:cNvSpPr/>
          <p:nvPr/>
        </p:nvSpPr>
        <p:spPr>
          <a:xfrm>
            <a:off x="7772400" y="4169048"/>
            <a:ext cx="728663" cy="285750"/>
          </a:xfrm>
          <a:prstGeom prst="rect">
            <a:avLst/>
          </a:prstGeom>
          <a:noFill/>
          <a:ln>
            <a:noFill/>
          </a:ln>
        </p:spPr>
        <p:txBody>
          <a:bodyPr anchorCtr="0" anchor="t" bIns="0" lIns="127500" spcFirstLastPara="1" rIns="127500" wrap="square" tIns="85075">
            <a:noAutofit/>
          </a:bodyPr>
          <a:lstStyle/>
          <a:p>
            <a:pPr indent="0" lvl="0" marL="0" marR="0" rtl="0" algn="l">
              <a:lnSpc>
                <a:spcPct val="131771"/>
              </a:lnSpc>
              <a:spcBef>
                <a:spcPts val="0"/>
              </a:spcBef>
              <a:spcAft>
                <a:spcPts val="0"/>
              </a:spcAft>
              <a:buClr>
                <a:srgbClr val="F59E0B"/>
              </a:buClr>
              <a:buSzPts val="683"/>
              <a:buFont typeface="Inter"/>
              <a:buNone/>
            </a:pPr>
            <a:r>
              <a:rPr b="1" i="0" lang="en-US" sz="683" u="none" cap="none" strike="noStrike">
                <a:solidFill>
                  <a:srgbClr val="F59E0B"/>
                </a:solidFill>
                <a:latin typeface="Inter"/>
                <a:ea typeface="Inter"/>
                <a:cs typeface="Inter"/>
                <a:sym typeface="Inter"/>
              </a:rPr>
              <a:t>Zero Trust</a:t>
            </a:r>
            <a:endParaRPr b="0" i="0" sz="683"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descr="preencoded.png" id="297" name="Google Shape;297;p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98" name="Google Shape;298;p8"/>
          <p:cNvSpPr/>
          <p:nvPr/>
        </p:nvSpPr>
        <p:spPr>
          <a:xfrm>
            <a:off x="0" y="0"/>
            <a:ext cx="9144000" cy="96864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a:off x="0" y="954360"/>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
          <p:cNvSpPr/>
          <p:nvPr/>
        </p:nvSpPr>
        <p:spPr>
          <a:xfrm>
            <a:off x="428625" y="285750"/>
            <a:ext cx="8286750" cy="668610"/>
          </a:xfrm>
          <a:prstGeom prst="rect">
            <a:avLst/>
          </a:prstGeom>
          <a:noFill/>
          <a:ln>
            <a:noFill/>
          </a:ln>
        </p:spPr>
        <p:txBody>
          <a:bodyPr anchorCtr="0" anchor="t" bIns="0" lIns="0" spcFirstLastPara="1" rIns="0" wrap="square" tIns="0">
            <a:noAutofit/>
          </a:bodyPr>
          <a:lstStyle/>
          <a:p>
            <a:pPr indent="0" lvl="0" marL="0" marR="0" rtl="0" algn="l">
              <a:lnSpc>
                <a:spcPct val="143805"/>
              </a:lnSpc>
              <a:spcBef>
                <a:spcPts val="0"/>
              </a:spcBef>
              <a:spcAft>
                <a:spcPts val="0"/>
              </a:spcAft>
              <a:buClr>
                <a:srgbClr val="FFFFFF"/>
              </a:buClr>
              <a:buSzPts val="1808"/>
              <a:buFont typeface="Merriweather"/>
              <a:buNone/>
            </a:pPr>
            <a:r>
              <a:rPr b="1" i="0" lang="en-US" sz="1808" u="none" cap="none" strike="noStrike">
                <a:solidFill>
                  <a:srgbClr val="FFFFFF"/>
                </a:solidFill>
                <a:latin typeface="Merriweather"/>
                <a:ea typeface="Merriweather"/>
                <a:cs typeface="Merriweather"/>
                <a:sym typeface="Merriweather"/>
              </a:rPr>
              <a:t>State-Based Reconciliation Ensures Perfect Configuration Across the Entire Fleet</a:t>
            </a:r>
            <a:endParaRPr b="0" i="0" sz="1808" u="none" cap="none" strike="noStrike">
              <a:solidFill>
                <a:schemeClr val="dk1"/>
              </a:solidFill>
              <a:latin typeface="Calibri"/>
              <a:ea typeface="Calibri"/>
              <a:cs typeface="Calibri"/>
              <a:sym typeface="Calibri"/>
            </a:endParaRPr>
          </a:p>
        </p:txBody>
      </p:sp>
      <p:sp>
        <p:nvSpPr>
          <p:cNvPr id="301" name="Google Shape;301;p8"/>
          <p:cNvSpPr/>
          <p:nvPr/>
        </p:nvSpPr>
        <p:spPr>
          <a:xfrm>
            <a:off x="428625" y="1240110"/>
            <a:ext cx="8286750" cy="2000250"/>
          </a:xfrm>
          <a:prstGeom prst="rect">
            <a:avLst/>
          </a:prstGeom>
          <a:solidFill>
            <a:srgbClr val="0D1B2A">
              <a:alpha val="50196"/>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
          <p:cNvSpPr/>
          <p:nvPr/>
        </p:nvSpPr>
        <p:spPr>
          <a:xfrm>
            <a:off x="714375" y="1621408"/>
            <a:ext cx="2500313" cy="1451967"/>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
          <p:cNvSpPr/>
          <p:nvPr/>
        </p:nvSpPr>
        <p:spPr>
          <a:xfrm>
            <a:off x="714375" y="1621408"/>
            <a:ext cx="2500313"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4" name="Google Shape;304;p8"/>
          <p:cNvPicPr preferRelativeResize="0"/>
          <p:nvPr/>
        </p:nvPicPr>
        <p:blipFill rotWithShape="1">
          <a:blip r:embed="rId4">
            <a:alphaModFix/>
          </a:blip>
          <a:srcRect b="0" l="0" r="0" t="0"/>
          <a:stretch/>
        </p:blipFill>
        <p:spPr>
          <a:xfrm>
            <a:off x="857250" y="1792858"/>
            <a:ext cx="142875" cy="142875"/>
          </a:xfrm>
          <a:prstGeom prst="rect">
            <a:avLst/>
          </a:prstGeom>
          <a:noFill/>
          <a:ln>
            <a:noFill/>
          </a:ln>
        </p:spPr>
      </p:pic>
      <p:sp>
        <p:nvSpPr>
          <p:cNvPr id="305" name="Google Shape;305;p8"/>
          <p:cNvSpPr/>
          <p:nvPr/>
        </p:nvSpPr>
        <p:spPr>
          <a:xfrm>
            <a:off x="1071563" y="1777678"/>
            <a:ext cx="928688"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Inter"/>
              <a:buNone/>
            </a:pPr>
            <a:r>
              <a:rPr b="1" i="0" lang="en-US" sz="987" u="none" cap="none" strike="noStrike">
                <a:solidFill>
                  <a:srgbClr val="FFFFFF"/>
                </a:solidFill>
                <a:latin typeface="Inter"/>
                <a:ea typeface="Inter"/>
                <a:cs typeface="Inter"/>
                <a:sym typeface="Inter"/>
              </a:rPr>
              <a:t>Control Plane</a:t>
            </a:r>
            <a:endParaRPr b="0" i="0" sz="987" u="none" cap="none" strike="noStrike">
              <a:solidFill>
                <a:schemeClr val="dk1"/>
              </a:solidFill>
              <a:latin typeface="Calibri"/>
              <a:ea typeface="Calibri"/>
              <a:cs typeface="Calibri"/>
              <a:sym typeface="Calibri"/>
            </a:endParaRPr>
          </a:p>
        </p:txBody>
      </p:sp>
      <p:sp>
        <p:nvSpPr>
          <p:cNvPr id="306" name="Google Shape;306;p8"/>
          <p:cNvSpPr/>
          <p:nvPr/>
        </p:nvSpPr>
        <p:spPr>
          <a:xfrm>
            <a:off x="714375" y="1992883"/>
            <a:ext cx="2500313" cy="208955"/>
          </a:xfrm>
          <a:prstGeom prst="rect">
            <a:avLst/>
          </a:prstGeom>
          <a:noFill/>
          <a:ln>
            <a:noFill/>
          </a:ln>
        </p:spPr>
        <p:txBody>
          <a:bodyPr anchorCtr="0" anchor="t" bIns="0" lIns="170050" spcFirstLastPara="1" rIns="0" wrap="square" tIns="85075">
            <a:noAutofit/>
          </a:bodyPr>
          <a:lstStyle/>
          <a:p>
            <a:pPr indent="0" lvl="0" marL="0" marR="0" rtl="0" algn="l">
              <a:lnSpc>
                <a:spcPct val="140306"/>
              </a:lnSpc>
              <a:spcBef>
                <a:spcPts val="0"/>
              </a:spcBef>
              <a:spcAft>
                <a:spcPts val="0"/>
              </a:spcAft>
              <a:buClr>
                <a:srgbClr val="F59E0B"/>
              </a:buClr>
              <a:buSzPts val="784"/>
              <a:buFont typeface="Inter"/>
              <a:buNone/>
            </a:pPr>
            <a:r>
              <a:rPr b="1" i="0" lang="en-US" sz="784" u="none" cap="none" strike="noStrike">
                <a:solidFill>
                  <a:srgbClr val="F59E0B"/>
                </a:solidFill>
                <a:latin typeface="Inter"/>
                <a:ea typeface="Inter"/>
                <a:cs typeface="Inter"/>
                <a:sym typeface="Inter"/>
              </a:rPr>
              <a:t>DESIRED STATE</a:t>
            </a:r>
            <a:endParaRPr b="0" i="0" sz="784" u="none" cap="none" strike="noStrike">
              <a:solidFill>
                <a:schemeClr val="dk1"/>
              </a:solidFill>
              <a:latin typeface="Calibri"/>
              <a:ea typeface="Calibri"/>
              <a:cs typeface="Calibri"/>
              <a:sym typeface="Calibri"/>
            </a:endParaRPr>
          </a:p>
        </p:txBody>
      </p:sp>
      <p:pic>
        <p:nvPicPr>
          <p:cNvPr descr="preencoded.png" id="307" name="Google Shape;307;p8"/>
          <p:cNvPicPr preferRelativeResize="0"/>
          <p:nvPr/>
        </p:nvPicPr>
        <p:blipFill rotWithShape="1">
          <a:blip r:embed="rId5">
            <a:alphaModFix/>
          </a:blip>
          <a:srcRect b="0" l="0" r="0" t="0"/>
          <a:stretch/>
        </p:blipFill>
        <p:spPr>
          <a:xfrm>
            <a:off x="857250" y="2326853"/>
            <a:ext cx="53578" cy="85725"/>
          </a:xfrm>
          <a:prstGeom prst="rect">
            <a:avLst/>
          </a:prstGeom>
          <a:noFill/>
          <a:ln>
            <a:noFill/>
          </a:ln>
        </p:spPr>
      </p:pic>
      <p:sp>
        <p:nvSpPr>
          <p:cNvPr id="308" name="Google Shape;308;p8"/>
          <p:cNvSpPr/>
          <p:nvPr/>
        </p:nvSpPr>
        <p:spPr>
          <a:xfrm>
            <a:off x="982266" y="2308994"/>
            <a:ext cx="1221804" cy="121444"/>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E0E0E0"/>
              </a:buClr>
              <a:buSzPts val="780"/>
              <a:buFont typeface="Courier New"/>
              <a:buNone/>
            </a:pPr>
            <a:r>
              <a:rPr b="0" i="0" lang="en-US" sz="780" u="none" cap="none" strike="noStrike">
                <a:solidFill>
                  <a:srgbClr val="E0E0E0"/>
                </a:solidFill>
                <a:latin typeface="Courier New"/>
                <a:ea typeface="Courier New"/>
                <a:cs typeface="Courier New"/>
                <a:sym typeface="Courier New"/>
              </a:rPr>
              <a:t>Config hash: abc123</a:t>
            </a:r>
            <a:endParaRPr b="0" i="0" sz="780" u="none" cap="none" strike="noStrike">
              <a:solidFill>
                <a:schemeClr val="dk1"/>
              </a:solidFill>
              <a:latin typeface="Calibri"/>
              <a:ea typeface="Calibri"/>
              <a:cs typeface="Calibri"/>
              <a:sym typeface="Calibri"/>
            </a:endParaRPr>
          </a:p>
        </p:txBody>
      </p:sp>
      <p:pic>
        <p:nvPicPr>
          <p:cNvPr descr="preencoded.png" id="309" name="Google Shape;309;p8"/>
          <p:cNvPicPr preferRelativeResize="0"/>
          <p:nvPr/>
        </p:nvPicPr>
        <p:blipFill rotWithShape="1">
          <a:blip r:embed="rId5">
            <a:alphaModFix/>
          </a:blip>
          <a:srcRect b="0" l="0" r="0" t="0"/>
          <a:stretch/>
        </p:blipFill>
        <p:spPr>
          <a:xfrm>
            <a:off x="857250" y="2519735"/>
            <a:ext cx="53578" cy="85725"/>
          </a:xfrm>
          <a:prstGeom prst="rect">
            <a:avLst/>
          </a:prstGeom>
          <a:noFill/>
          <a:ln>
            <a:noFill/>
          </a:ln>
        </p:spPr>
      </p:pic>
      <p:sp>
        <p:nvSpPr>
          <p:cNvPr id="310" name="Google Shape;310;p8"/>
          <p:cNvSpPr/>
          <p:nvPr/>
        </p:nvSpPr>
        <p:spPr>
          <a:xfrm>
            <a:off x="982266" y="2501875"/>
            <a:ext cx="1414714" cy="121444"/>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E0E0E0"/>
              </a:buClr>
              <a:buSzPts val="780"/>
              <a:buFont typeface="Courier New"/>
              <a:buNone/>
            </a:pPr>
            <a:r>
              <a:rPr b="0" i="0" lang="en-US" sz="780" u="none" cap="none" strike="noStrike">
                <a:solidFill>
                  <a:srgbClr val="E0E0E0"/>
                </a:solidFill>
                <a:latin typeface="Courier New"/>
                <a:ea typeface="Courier New"/>
                <a:cs typeface="Courier New"/>
                <a:sym typeface="Courier New"/>
              </a:rPr>
              <a:t>Package version: 1.3.0</a:t>
            </a:r>
            <a:endParaRPr b="0" i="0" sz="780" u="none" cap="none" strike="noStrike">
              <a:solidFill>
                <a:schemeClr val="dk1"/>
              </a:solidFill>
              <a:latin typeface="Calibri"/>
              <a:ea typeface="Calibri"/>
              <a:cs typeface="Calibri"/>
              <a:sym typeface="Calibri"/>
            </a:endParaRPr>
          </a:p>
        </p:txBody>
      </p:sp>
      <p:pic>
        <p:nvPicPr>
          <p:cNvPr descr="preencoded.png" id="311" name="Google Shape;311;p8"/>
          <p:cNvPicPr preferRelativeResize="0"/>
          <p:nvPr/>
        </p:nvPicPr>
        <p:blipFill rotWithShape="1">
          <a:blip r:embed="rId5">
            <a:alphaModFix/>
          </a:blip>
          <a:srcRect b="0" l="0" r="0" t="0"/>
          <a:stretch/>
        </p:blipFill>
        <p:spPr>
          <a:xfrm>
            <a:off x="857250" y="2712616"/>
            <a:ext cx="53578" cy="85725"/>
          </a:xfrm>
          <a:prstGeom prst="rect">
            <a:avLst/>
          </a:prstGeom>
          <a:noFill/>
          <a:ln>
            <a:noFill/>
          </a:ln>
        </p:spPr>
      </p:pic>
      <p:sp>
        <p:nvSpPr>
          <p:cNvPr id="312" name="Google Shape;312;p8"/>
          <p:cNvSpPr/>
          <p:nvPr/>
        </p:nvSpPr>
        <p:spPr>
          <a:xfrm>
            <a:off x="982266" y="2694756"/>
            <a:ext cx="1028867" cy="121444"/>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E0E0E0"/>
              </a:buClr>
              <a:buSzPts val="780"/>
              <a:buFont typeface="Courier New"/>
              <a:buNone/>
            </a:pPr>
            <a:r>
              <a:rPr b="0" i="0" lang="en-US" sz="780" u="none" cap="none" strike="noStrike">
                <a:solidFill>
                  <a:srgbClr val="E0E0E0"/>
                </a:solidFill>
                <a:latin typeface="Courier New"/>
                <a:ea typeface="Courier New"/>
                <a:cs typeface="Courier New"/>
                <a:sym typeface="Courier New"/>
              </a:rPr>
              <a:t>Policies: Active</a:t>
            </a:r>
            <a:endParaRPr b="0" i="0" sz="780" u="none" cap="none" strike="noStrike">
              <a:solidFill>
                <a:schemeClr val="dk1"/>
              </a:solidFill>
              <a:latin typeface="Calibri"/>
              <a:ea typeface="Calibri"/>
              <a:cs typeface="Calibri"/>
              <a:sym typeface="Calibri"/>
            </a:endParaRPr>
          </a:p>
        </p:txBody>
      </p:sp>
      <p:sp>
        <p:nvSpPr>
          <p:cNvPr id="313" name="Google Shape;313;p8"/>
          <p:cNvSpPr/>
          <p:nvPr/>
        </p:nvSpPr>
        <p:spPr>
          <a:xfrm>
            <a:off x="3672780" y="2032174"/>
            <a:ext cx="1798439" cy="137517"/>
          </a:xfrm>
          <a:prstGeom prst="rect">
            <a:avLst/>
          </a:prstGeom>
          <a:noFill/>
          <a:ln>
            <a:noFill/>
          </a:ln>
        </p:spPr>
        <p:txBody>
          <a:bodyPr anchorCtr="0" anchor="t" bIns="0" lIns="0" spcFirstLastPara="1" rIns="0" wrap="square" tIns="0">
            <a:noAutofit/>
          </a:bodyPr>
          <a:lstStyle/>
          <a:p>
            <a:pPr indent="0" lvl="0" marL="0" marR="0" rtl="0" algn="ctr">
              <a:lnSpc>
                <a:spcPct val="140306"/>
              </a:lnSpc>
              <a:spcBef>
                <a:spcPts val="0"/>
              </a:spcBef>
              <a:spcAft>
                <a:spcPts val="0"/>
              </a:spcAft>
              <a:buClr>
                <a:srgbClr val="00E5FF"/>
              </a:buClr>
              <a:buSzPts val="784"/>
              <a:buFont typeface="Inter"/>
              <a:buNone/>
            </a:pPr>
            <a:r>
              <a:rPr b="1" i="0" lang="en-US" sz="784" u="none" cap="none" strike="noStrike">
                <a:solidFill>
                  <a:srgbClr val="00E5FF"/>
                </a:solidFill>
                <a:latin typeface="Inter"/>
                <a:ea typeface="Inter"/>
                <a:cs typeface="Inter"/>
                <a:sym typeface="Inter"/>
              </a:rPr>
              <a:t>OpAMP over WebSocket + mTLS</a:t>
            </a:r>
            <a:endParaRPr b="0" i="0" sz="784" u="none" cap="none" strike="noStrike">
              <a:solidFill>
                <a:schemeClr val="dk1"/>
              </a:solidFill>
              <a:latin typeface="Calibri"/>
              <a:ea typeface="Calibri"/>
              <a:cs typeface="Calibri"/>
              <a:sym typeface="Calibri"/>
            </a:endParaRPr>
          </a:p>
        </p:txBody>
      </p:sp>
      <p:sp>
        <p:nvSpPr>
          <p:cNvPr id="314" name="Google Shape;314;p8"/>
          <p:cNvSpPr/>
          <p:nvPr/>
        </p:nvSpPr>
        <p:spPr>
          <a:xfrm>
            <a:off x="3357563" y="2241128"/>
            <a:ext cx="2428875" cy="1428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8"/>
          <p:cNvSpPr/>
          <p:nvPr/>
        </p:nvSpPr>
        <p:spPr>
          <a:xfrm>
            <a:off x="3357563" y="2241128"/>
            <a:ext cx="2428875" cy="142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6" name="Google Shape;316;p8"/>
          <p:cNvSpPr/>
          <p:nvPr/>
        </p:nvSpPr>
        <p:spPr>
          <a:xfrm>
            <a:off x="3357563" y="2362572"/>
            <a:ext cx="2428875" cy="300038"/>
          </a:xfrm>
          <a:prstGeom prst="rect">
            <a:avLst/>
          </a:prstGeom>
          <a:noFill/>
          <a:ln>
            <a:noFill/>
          </a:ln>
        </p:spPr>
        <p:txBody>
          <a:bodyPr anchorCtr="0" anchor="t" bIns="0" lIns="0" spcFirstLastPara="1" rIns="0" wrap="square" tIns="0">
            <a:noAutofit/>
          </a:bodyPr>
          <a:lstStyle/>
          <a:p>
            <a:pPr indent="0" lvl="0" marL="0" marR="0" rtl="0" algn="ctr">
              <a:lnSpc>
                <a:spcPct val="175695"/>
              </a:lnSpc>
              <a:spcBef>
                <a:spcPts val="0"/>
              </a:spcBef>
              <a:spcAft>
                <a:spcPts val="0"/>
              </a:spcAft>
              <a:buClr>
                <a:srgbClr val="F3F4F6"/>
              </a:buClr>
              <a:buSzPts val="683"/>
              <a:buFont typeface="Inter"/>
              <a:buNone/>
            </a:pPr>
            <a:r>
              <a:rPr b="1" i="0" lang="en-US" sz="683" u="none" cap="none" strike="noStrike">
                <a:solidFill>
                  <a:srgbClr val="F3F4F6"/>
                </a:solidFill>
                <a:latin typeface="Inter"/>
                <a:ea typeface="Inter"/>
                <a:cs typeface="Inter"/>
                <a:sym typeface="Inter"/>
              </a:rPr>
              <a:t>Reconcile → Apply Differences → Report New State → States Match</a:t>
            </a:r>
            <a:endParaRPr b="0" i="0" sz="727" u="none" cap="none" strike="noStrike">
              <a:solidFill>
                <a:schemeClr val="dk1"/>
              </a:solidFill>
              <a:latin typeface="Calibri"/>
              <a:ea typeface="Calibri"/>
              <a:cs typeface="Calibri"/>
              <a:sym typeface="Calibri"/>
            </a:endParaRPr>
          </a:p>
        </p:txBody>
      </p:sp>
      <p:sp>
        <p:nvSpPr>
          <p:cNvPr id="317" name="Google Shape;317;p8"/>
          <p:cNvSpPr/>
          <p:nvPr/>
        </p:nvSpPr>
        <p:spPr>
          <a:xfrm>
            <a:off x="5929313" y="1621408"/>
            <a:ext cx="2500313" cy="1451967"/>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p:nvPr/>
        </p:nvSpPr>
        <p:spPr>
          <a:xfrm>
            <a:off x="5929313" y="1621408"/>
            <a:ext cx="2500313"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9" name="Google Shape;319;p8"/>
          <p:cNvPicPr preferRelativeResize="0"/>
          <p:nvPr/>
        </p:nvPicPr>
        <p:blipFill rotWithShape="1">
          <a:blip r:embed="rId6">
            <a:alphaModFix/>
          </a:blip>
          <a:srcRect b="0" l="0" r="0" t="0"/>
          <a:stretch/>
        </p:blipFill>
        <p:spPr>
          <a:xfrm>
            <a:off x="6072188" y="1792858"/>
            <a:ext cx="142875" cy="142875"/>
          </a:xfrm>
          <a:prstGeom prst="rect">
            <a:avLst/>
          </a:prstGeom>
          <a:noFill/>
          <a:ln>
            <a:noFill/>
          </a:ln>
        </p:spPr>
      </p:pic>
      <p:sp>
        <p:nvSpPr>
          <p:cNvPr id="320" name="Google Shape;320;p8"/>
          <p:cNvSpPr/>
          <p:nvPr/>
        </p:nvSpPr>
        <p:spPr>
          <a:xfrm>
            <a:off x="6286500" y="1777678"/>
            <a:ext cx="757238"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Inter"/>
              <a:buNone/>
            </a:pPr>
            <a:r>
              <a:rPr b="1" i="0" lang="en-US" sz="987" u="none" cap="none" strike="noStrike">
                <a:solidFill>
                  <a:srgbClr val="FFFFFF"/>
                </a:solidFill>
                <a:latin typeface="Inter"/>
                <a:ea typeface="Inter"/>
                <a:cs typeface="Inter"/>
                <a:sym typeface="Inter"/>
              </a:rPr>
              <a:t>Supervisor</a:t>
            </a:r>
            <a:endParaRPr b="0" i="0" sz="987" u="none" cap="none" strike="noStrike">
              <a:solidFill>
                <a:schemeClr val="dk1"/>
              </a:solidFill>
              <a:latin typeface="Calibri"/>
              <a:ea typeface="Calibri"/>
              <a:cs typeface="Calibri"/>
              <a:sym typeface="Calibri"/>
            </a:endParaRPr>
          </a:p>
        </p:txBody>
      </p:sp>
      <p:sp>
        <p:nvSpPr>
          <p:cNvPr id="321" name="Google Shape;321;p8"/>
          <p:cNvSpPr/>
          <p:nvPr/>
        </p:nvSpPr>
        <p:spPr>
          <a:xfrm>
            <a:off x="5929313" y="1992883"/>
            <a:ext cx="2500313" cy="208955"/>
          </a:xfrm>
          <a:prstGeom prst="rect">
            <a:avLst/>
          </a:prstGeom>
          <a:noFill/>
          <a:ln>
            <a:noFill/>
          </a:ln>
        </p:spPr>
        <p:txBody>
          <a:bodyPr anchorCtr="0" anchor="t" bIns="0" lIns="170050" spcFirstLastPara="1" rIns="0" wrap="square" tIns="85075">
            <a:noAutofit/>
          </a:bodyPr>
          <a:lstStyle/>
          <a:p>
            <a:pPr indent="0" lvl="0" marL="0" marR="0" rtl="0" algn="l">
              <a:lnSpc>
                <a:spcPct val="140306"/>
              </a:lnSpc>
              <a:spcBef>
                <a:spcPts val="0"/>
              </a:spcBef>
              <a:spcAft>
                <a:spcPts val="0"/>
              </a:spcAft>
              <a:buClr>
                <a:srgbClr val="00E676"/>
              </a:buClr>
              <a:buSzPts val="784"/>
              <a:buFont typeface="Inter"/>
              <a:buNone/>
            </a:pPr>
            <a:r>
              <a:rPr b="1" i="0" lang="en-US" sz="784" u="none" cap="none" strike="noStrike">
                <a:solidFill>
                  <a:srgbClr val="00E676"/>
                </a:solidFill>
                <a:latin typeface="Inter"/>
                <a:ea typeface="Inter"/>
                <a:cs typeface="Inter"/>
                <a:sym typeface="Inter"/>
              </a:rPr>
              <a:t>ACTUAL STATE</a:t>
            </a:r>
            <a:endParaRPr b="0" i="0" sz="784" u="none" cap="none" strike="noStrike">
              <a:solidFill>
                <a:schemeClr val="dk1"/>
              </a:solidFill>
              <a:latin typeface="Calibri"/>
              <a:ea typeface="Calibri"/>
              <a:cs typeface="Calibri"/>
              <a:sym typeface="Calibri"/>
            </a:endParaRPr>
          </a:p>
        </p:txBody>
      </p:sp>
      <p:pic>
        <p:nvPicPr>
          <p:cNvPr descr="preencoded.png" id="322" name="Google Shape;322;p8"/>
          <p:cNvPicPr preferRelativeResize="0"/>
          <p:nvPr/>
        </p:nvPicPr>
        <p:blipFill rotWithShape="1">
          <a:blip r:embed="rId5">
            <a:alphaModFix/>
          </a:blip>
          <a:srcRect b="0" l="0" r="0" t="0"/>
          <a:stretch/>
        </p:blipFill>
        <p:spPr>
          <a:xfrm>
            <a:off x="6072188" y="2326853"/>
            <a:ext cx="53578" cy="85725"/>
          </a:xfrm>
          <a:prstGeom prst="rect">
            <a:avLst/>
          </a:prstGeom>
          <a:noFill/>
          <a:ln>
            <a:noFill/>
          </a:ln>
        </p:spPr>
      </p:pic>
      <p:sp>
        <p:nvSpPr>
          <p:cNvPr id="323" name="Google Shape;323;p8"/>
          <p:cNvSpPr/>
          <p:nvPr/>
        </p:nvSpPr>
        <p:spPr>
          <a:xfrm>
            <a:off x="6197203" y="2308994"/>
            <a:ext cx="1221804" cy="121444"/>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E0E0E0"/>
              </a:buClr>
              <a:buSzPts val="780"/>
              <a:buFont typeface="Courier New"/>
              <a:buNone/>
            </a:pPr>
            <a:r>
              <a:rPr b="0" i="0" lang="en-US" sz="780" u="none" cap="none" strike="noStrike">
                <a:solidFill>
                  <a:srgbClr val="E0E0E0"/>
                </a:solidFill>
                <a:latin typeface="Courier New"/>
                <a:ea typeface="Courier New"/>
                <a:cs typeface="Courier New"/>
                <a:sym typeface="Courier New"/>
              </a:rPr>
              <a:t>Config hash: def456</a:t>
            </a:r>
            <a:endParaRPr b="0" i="0" sz="780" u="none" cap="none" strike="noStrike">
              <a:solidFill>
                <a:schemeClr val="dk1"/>
              </a:solidFill>
              <a:latin typeface="Calibri"/>
              <a:ea typeface="Calibri"/>
              <a:cs typeface="Calibri"/>
              <a:sym typeface="Calibri"/>
            </a:endParaRPr>
          </a:p>
        </p:txBody>
      </p:sp>
      <p:pic>
        <p:nvPicPr>
          <p:cNvPr descr="preencoded.png" id="324" name="Google Shape;324;p8"/>
          <p:cNvPicPr preferRelativeResize="0"/>
          <p:nvPr/>
        </p:nvPicPr>
        <p:blipFill rotWithShape="1">
          <a:blip r:embed="rId5">
            <a:alphaModFix/>
          </a:blip>
          <a:srcRect b="0" l="0" r="0" t="0"/>
          <a:stretch/>
        </p:blipFill>
        <p:spPr>
          <a:xfrm>
            <a:off x="6072188" y="2519735"/>
            <a:ext cx="53578" cy="85725"/>
          </a:xfrm>
          <a:prstGeom prst="rect">
            <a:avLst/>
          </a:prstGeom>
          <a:noFill/>
          <a:ln>
            <a:noFill/>
          </a:ln>
        </p:spPr>
      </p:pic>
      <p:sp>
        <p:nvSpPr>
          <p:cNvPr id="325" name="Google Shape;325;p8"/>
          <p:cNvSpPr/>
          <p:nvPr/>
        </p:nvSpPr>
        <p:spPr>
          <a:xfrm>
            <a:off x="6197203" y="2501875"/>
            <a:ext cx="1414714" cy="121444"/>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E0E0E0"/>
              </a:buClr>
              <a:buSzPts val="780"/>
              <a:buFont typeface="Courier New"/>
              <a:buNone/>
            </a:pPr>
            <a:r>
              <a:rPr b="0" i="0" lang="en-US" sz="780" u="none" cap="none" strike="noStrike">
                <a:solidFill>
                  <a:srgbClr val="E0E0E0"/>
                </a:solidFill>
                <a:latin typeface="Courier New"/>
                <a:ea typeface="Courier New"/>
                <a:cs typeface="Courier New"/>
                <a:sym typeface="Courier New"/>
              </a:rPr>
              <a:t>Package version: 1.2.0</a:t>
            </a:r>
            <a:endParaRPr b="0" i="0" sz="780" u="none" cap="none" strike="noStrike">
              <a:solidFill>
                <a:schemeClr val="dk1"/>
              </a:solidFill>
              <a:latin typeface="Calibri"/>
              <a:ea typeface="Calibri"/>
              <a:cs typeface="Calibri"/>
              <a:sym typeface="Calibri"/>
            </a:endParaRPr>
          </a:p>
        </p:txBody>
      </p:sp>
      <p:pic>
        <p:nvPicPr>
          <p:cNvPr descr="preencoded.png" id="326" name="Google Shape;326;p8"/>
          <p:cNvPicPr preferRelativeResize="0"/>
          <p:nvPr/>
        </p:nvPicPr>
        <p:blipFill rotWithShape="1">
          <a:blip r:embed="rId5">
            <a:alphaModFix/>
          </a:blip>
          <a:srcRect b="0" l="0" r="0" t="0"/>
          <a:stretch/>
        </p:blipFill>
        <p:spPr>
          <a:xfrm>
            <a:off x="6072188" y="2712616"/>
            <a:ext cx="53578" cy="85725"/>
          </a:xfrm>
          <a:prstGeom prst="rect">
            <a:avLst/>
          </a:prstGeom>
          <a:noFill/>
          <a:ln>
            <a:noFill/>
          </a:ln>
        </p:spPr>
      </p:pic>
      <p:sp>
        <p:nvSpPr>
          <p:cNvPr id="327" name="Google Shape;327;p8"/>
          <p:cNvSpPr/>
          <p:nvPr/>
        </p:nvSpPr>
        <p:spPr>
          <a:xfrm>
            <a:off x="6197203" y="2694756"/>
            <a:ext cx="643049" cy="121444"/>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E0E0E0"/>
              </a:buClr>
              <a:buSzPts val="780"/>
              <a:buFont typeface="Courier New"/>
              <a:buNone/>
            </a:pPr>
            <a:r>
              <a:rPr b="0" i="0" lang="en-US" sz="780" u="none" cap="none" strike="noStrike">
                <a:solidFill>
                  <a:srgbClr val="E0E0E0"/>
                </a:solidFill>
                <a:latin typeface="Courier New"/>
                <a:ea typeface="Courier New"/>
                <a:cs typeface="Courier New"/>
                <a:sym typeface="Courier New"/>
              </a:rPr>
              <a:t>Health: OK</a:t>
            </a:r>
            <a:endParaRPr b="0" i="0" sz="780" u="none" cap="none" strike="noStrike">
              <a:solidFill>
                <a:schemeClr val="dk1"/>
              </a:solidFill>
              <a:latin typeface="Calibri"/>
              <a:ea typeface="Calibri"/>
              <a:cs typeface="Calibri"/>
              <a:sym typeface="Calibri"/>
            </a:endParaRPr>
          </a:p>
        </p:txBody>
      </p:sp>
      <p:sp>
        <p:nvSpPr>
          <p:cNvPr id="328" name="Google Shape;328;p8"/>
          <p:cNvSpPr/>
          <p:nvPr/>
        </p:nvSpPr>
        <p:spPr>
          <a:xfrm>
            <a:off x="428625" y="3526110"/>
            <a:ext cx="1964531" cy="1000125"/>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8"/>
          <p:cNvSpPr/>
          <p:nvPr/>
        </p:nvSpPr>
        <p:spPr>
          <a:xfrm>
            <a:off x="428625" y="3526110"/>
            <a:ext cx="21431" cy="100012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0" name="Google Shape;330;p8"/>
          <p:cNvPicPr preferRelativeResize="0"/>
          <p:nvPr/>
        </p:nvPicPr>
        <p:blipFill rotWithShape="1">
          <a:blip r:embed="rId7">
            <a:alphaModFix/>
          </a:blip>
          <a:srcRect b="0" l="0" r="0" t="0"/>
          <a:stretch/>
        </p:blipFill>
        <p:spPr>
          <a:xfrm>
            <a:off x="571500" y="3682380"/>
            <a:ext cx="128588" cy="128588"/>
          </a:xfrm>
          <a:prstGeom prst="rect">
            <a:avLst/>
          </a:prstGeom>
          <a:noFill/>
          <a:ln>
            <a:noFill/>
          </a:ln>
        </p:spPr>
      </p:pic>
      <p:sp>
        <p:nvSpPr>
          <p:cNvPr id="331" name="Google Shape;331;p8"/>
          <p:cNvSpPr/>
          <p:nvPr/>
        </p:nvSpPr>
        <p:spPr>
          <a:xfrm>
            <a:off x="771525" y="3668985"/>
            <a:ext cx="710803"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Idempotent</a:t>
            </a:r>
            <a:endParaRPr b="0" i="0" sz="885" u="none" cap="none" strike="noStrike">
              <a:solidFill>
                <a:schemeClr val="dk1"/>
              </a:solidFill>
              <a:latin typeface="Calibri"/>
              <a:ea typeface="Calibri"/>
              <a:cs typeface="Calibri"/>
              <a:sym typeface="Calibri"/>
            </a:endParaRPr>
          </a:p>
        </p:txBody>
      </p:sp>
      <p:sp>
        <p:nvSpPr>
          <p:cNvPr id="332" name="Google Shape;332;p8"/>
          <p:cNvSpPr/>
          <p:nvPr/>
        </p:nvSpPr>
        <p:spPr>
          <a:xfrm>
            <a:off x="571500" y="3895799"/>
            <a:ext cx="1662708" cy="482203"/>
          </a:xfrm>
          <a:prstGeom prst="rect">
            <a:avLst/>
          </a:prstGeom>
          <a:noFill/>
          <a:ln>
            <a:noFill/>
          </a:ln>
        </p:spPr>
        <p:txBody>
          <a:bodyPr anchorCtr="0" anchor="t" bIns="0" lIns="0" spcFirstLastPara="1" rIns="0" wrap="square" tIns="0">
            <a:noAutofit/>
          </a:bodyPr>
          <a:lstStyle/>
          <a:p>
            <a:pPr indent="0" lvl="0" marL="0" marR="0" rtl="0" algn="l">
              <a:lnSpc>
                <a:spcPct val="16666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Same desired state can be sent repeatedly without side effects or duplicate operations.</a:t>
            </a:r>
            <a:endParaRPr b="0" i="0" sz="780" u="none" cap="none" strike="noStrike">
              <a:solidFill>
                <a:schemeClr val="dk1"/>
              </a:solidFill>
              <a:latin typeface="Calibri"/>
              <a:ea typeface="Calibri"/>
              <a:cs typeface="Calibri"/>
              <a:sym typeface="Calibri"/>
            </a:endParaRPr>
          </a:p>
        </p:txBody>
      </p:sp>
      <p:sp>
        <p:nvSpPr>
          <p:cNvPr id="333" name="Google Shape;333;p8"/>
          <p:cNvSpPr/>
          <p:nvPr/>
        </p:nvSpPr>
        <p:spPr>
          <a:xfrm>
            <a:off x="2519958" y="3526110"/>
            <a:ext cx="1969889" cy="1000125"/>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8"/>
          <p:cNvSpPr/>
          <p:nvPr/>
        </p:nvSpPr>
        <p:spPr>
          <a:xfrm>
            <a:off x="2519958" y="3526110"/>
            <a:ext cx="21431" cy="100012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5" name="Google Shape;335;p8"/>
          <p:cNvPicPr preferRelativeResize="0"/>
          <p:nvPr/>
        </p:nvPicPr>
        <p:blipFill rotWithShape="1">
          <a:blip r:embed="rId8">
            <a:alphaModFix/>
          </a:blip>
          <a:srcRect b="0" l="0" r="0" t="0"/>
          <a:stretch/>
        </p:blipFill>
        <p:spPr>
          <a:xfrm>
            <a:off x="2668191" y="3682380"/>
            <a:ext cx="128588" cy="128588"/>
          </a:xfrm>
          <a:prstGeom prst="rect">
            <a:avLst/>
          </a:prstGeom>
          <a:noFill/>
          <a:ln>
            <a:noFill/>
          </a:ln>
        </p:spPr>
      </p:pic>
      <p:sp>
        <p:nvSpPr>
          <p:cNvPr id="336" name="Google Shape;336;p8"/>
          <p:cNvSpPr/>
          <p:nvPr/>
        </p:nvSpPr>
        <p:spPr>
          <a:xfrm>
            <a:off x="2868216" y="3668985"/>
            <a:ext cx="776883"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Self-Healing</a:t>
            </a:r>
            <a:endParaRPr b="0" i="0" sz="885" u="none" cap="none" strike="noStrike">
              <a:solidFill>
                <a:schemeClr val="dk1"/>
              </a:solidFill>
              <a:latin typeface="Calibri"/>
              <a:ea typeface="Calibri"/>
              <a:cs typeface="Calibri"/>
              <a:sym typeface="Calibri"/>
            </a:endParaRPr>
          </a:p>
        </p:txBody>
      </p:sp>
      <p:sp>
        <p:nvSpPr>
          <p:cNvPr id="337" name="Google Shape;337;p8"/>
          <p:cNvSpPr/>
          <p:nvPr/>
        </p:nvSpPr>
        <p:spPr>
          <a:xfrm>
            <a:off x="2668191" y="3895799"/>
            <a:ext cx="1668066" cy="482203"/>
          </a:xfrm>
          <a:prstGeom prst="rect">
            <a:avLst/>
          </a:prstGeom>
          <a:noFill/>
          <a:ln>
            <a:noFill/>
          </a:ln>
        </p:spPr>
        <p:txBody>
          <a:bodyPr anchorCtr="0" anchor="t" bIns="0" lIns="0" spcFirstLastPara="1" rIns="0" wrap="square" tIns="0">
            <a:noAutofit/>
          </a:bodyPr>
          <a:lstStyle/>
          <a:p>
            <a:pPr indent="0" lvl="0" marL="0" marR="0" rtl="0" algn="l">
              <a:lnSpc>
                <a:spcPct val="16666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Configuration drift is automatically detected and corrected during the next cycle.</a:t>
            </a:r>
            <a:endParaRPr b="0" i="0" sz="780" u="none" cap="none" strike="noStrike">
              <a:solidFill>
                <a:schemeClr val="dk1"/>
              </a:solidFill>
              <a:latin typeface="Calibri"/>
              <a:ea typeface="Calibri"/>
              <a:cs typeface="Calibri"/>
              <a:sym typeface="Calibri"/>
            </a:endParaRPr>
          </a:p>
        </p:txBody>
      </p:sp>
      <p:sp>
        <p:nvSpPr>
          <p:cNvPr id="338" name="Google Shape;338;p8"/>
          <p:cNvSpPr/>
          <p:nvPr/>
        </p:nvSpPr>
        <p:spPr>
          <a:xfrm>
            <a:off x="4622006" y="3526110"/>
            <a:ext cx="1975247" cy="1000125"/>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8"/>
          <p:cNvSpPr/>
          <p:nvPr/>
        </p:nvSpPr>
        <p:spPr>
          <a:xfrm>
            <a:off x="4622006" y="3526110"/>
            <a:ext cx="21431" cy="100012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0" name="Google Shape;340;p8"/>
          <p:cNvPicPr preferRelativeResize="0"/>
          <p:nvPr/>
        </p:nvPicPr>
        <p:blipFill rotWithShape="1">
          <a:blip r:embed="rId9">
            <a:alphaModFix/>
          </a:blip>
          <a:srcRect b="0" l="0" r="0" t="0"/>
          <a:stretch/>
        </p:blipFill>
        <p:spPr>
          <a:xfrm>
            <a:off x="4775597" y="3682380"/>
            <a:ext cx="160734" cy="128588"/>
          </a:xfrm>
          <a:prstGeom prst="rect">
            <a:avLst/>
          </a:prstGeom>
          <a:noFill/>
          <a:ln>
            <a:noFill/>
          </a:ln>
        </p:spPr>
      </p:pic>
      <p:sp>
        <p:nvSpPr>
          <p:cNvPr id="341" name="Google Shape;341;p8"/>
          <p:cNvSpPr/>
          <p:nvPr/>
        </p:nvSpPr>
        <p:spPr>
          <a:xfrm>
            <a:off x="5007769" y="3668985"/>
            <a:ext cx="1084064"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Partition-Tolerant</a:t>
            </a:r>
            <a:endParaRPr b="0" i="0" sz="885" u="none" cap="none" strike="noStrike">
              <a:solidFill>
                <a:schemeClr val="dk1"/>
              </a:solidFill>
              <a:latin typeface="Calibri"/>
              <a:ea typeface="Calibri"/>
              <a:cs typeface="Calibri"/>
              <a:sym typeface="Calibri"/>
            </a:endParaRPr>
          </a:p>
        </p:txBody>
      </p:sp>
      <p:sp>
        <p:nvSpPr>
          <p:cNvPr id="342" name="Google Shape;342;p8"/>
          <p:cNvSpPr/>
          <p:nvPr/>
        </p:nvSpPr>
        <p:spPr>
          <a:xfrm>
            <a:off x="4775597" y="3895799"/>
            <a:ext cx="1673423" cy="482203"/>
          </a:xfrm>
          <a:prstGeom prst="rect">
            <a:avLst/>
          </a:prstGeom>
          <a:noFill/>
          <a:ln>
            <a:noFill/>
          </a:ln>
        </p:spPr>
        <p:txBody>
          <a:bodyPr anchorCtr="0" anchor="t" bIns="0" lIns="0" spcFirstLastPara="1" rIns="0" wrap="square" tIns="0">
            <a:noAutofit/>
          </a:bodyPr>
          <a:lstStyle/>
          <a:p>
            <a:pPr indent="0" lvl="0" marL="0" marR="0" rtl="0" algn="l">
              <a:lnSpc>
                <a:spcPct val="16666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Local SQLite cache ensures nodes survive control plane outages seamlessly.</a:t>
            </a:r>
            <a:endParaRPr b="0" i="0" sz="780" u="none" cap="none" strike="noStrike">
              <a:solidFill>
                <a:schemeClr val="dk1"/>
              </a:solidFill>
              <a:latin typeface="Calibri"/>
              <a:ea typeface="Calibri"/>
              <a:cs typeface="Calibri"/>
              <a:sym typeface="Calibri"/>
            </a:endParaRPr>
          </a:p>
        </p:txBody>
      </p:sp>
      <p:sp>
        <p:nvSpPr>
          <p:cNvPr id="343" name="Google Shape;343;p8"/>
          <p:cNvSpPr/>
          <p:nvPr/>
        </p:nvSpPr>
        <p:spPr>
          <a:xfrm>
            <a:off x="6734770" y="3526110"/>
            <a:ext cx="1980605" cy="1000125"/>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8"/>
          <p:cNvSpPr/>
          <p:nvPr/>
        </p:nvSpPr>
        <p:spPr>
          <a:xfrm>
            <a:off x="6734770" y="3526110"/>
            <a:ext cx="21431" cy="100012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5" name="Google Shape;345;p8"/>
          <p:cNvPicPr preferRelativeResize="0"/>
          <p:nvPr/>
        </p:nvPicPr>
        <p:blipFill rotWithShape="1">
          <a:blip r:embed="rId10">
            <a:alphaModFix/>
          </a:blip>
          <a:srcRect b="0" l="0" r="0" t="0"/>
          <a:stretch/>
        </p:blipFill>
        <p:spPr>
          <a:xfrm>
            <a:off x="6893719" y="3682380"/>
            <a:ext cx="96441" cy="128588"/>
          </a:xfrm>
          <a:prstGeom prst="rect">
            <a:avLst/>
          </a:prstGeom>
          <a:noFill/>
          <a:ln>
            <a:noFill/>
          </a:ln>
        </p:spPr>
      </p:pic>
      <p:sp>
        <p:nvSpPr>
          <p:cNvPr id="346" name="Google Shape;346;p8"/>
          <p:cNvSpPr/>
          <p:nvPr/>
        </p:nvSpPr>
        <p:spPr>
          <a:xfrm>
            <a:off x="7061597" y="3668985"/>
            <a:ext cx="516136"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Efficient</a:t>
            </a:r>
            <a:endParaRPr b="0" i="0" sz="885" u="none" cap="none" strike="noStrike">
              <a:solidFill>
                <a:schemeClr val="dk1"/>
              </a:solidFill>
              <a:latin typeface="Calibri"/>
              <a:ea typeface="Calibri"/>
              <a:cs typeface="Calibri"/>
              <a:sym typeface="Calibri"/>
            </a:endParaRPr>
          </a:p>
        </p:txBody>
      </p:sp>
      <p:sp>
        <p:nvSpPr>
          <p:cNvPr id="347" name="Google Shape;347;p8"/>
          <p:cNvSpPr/>
          <p:nvPr/>
        </p:nvSpPr>
        <p:spPr>
          <a:xfrm>
            <a:off x="6893719" y="3895799"/>
            <a:ext cx="1678781" cy="482203"/>
          </a:xfrm>
          <a:prstGeom prst="rect">
            <a:avLst/>
          </a:prstGeom>
          <a:noFill/>
          <a:ln>
            <a:noFill/>
          </a:ln>
        </p:spPr>
        <p:txBody>
          <a:bodyPr anchorCtr="0" anchor="t" bIns="0" lIns="0" spcFirstLastPara="1" rIns="0" wrap="square" tIns="0">
            <a:noAutofit/>
          </a:bodyPr>
          <a:lstStyle/>
          <a:p>
            <a:pPr indent="0" lvl="0" marL="0" marR="0" rtl="0" algn="l">
              <a:lnSpc>
                <a:spcPct val="16666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Protobuf binary encoding is 10× smaller than JSON, saving massive bandwidth.</a:t>
            </a:r>
            <a:endParaRPr b="0" i="0" sz="78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descr="preencoded.png" id="353" name="Google Shape;353;p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54" name="Google Shape;354;p9"/>
          <p:cNvSpPr/>
          <p:nvPr/>
        </p:nvSpPr>
        <p:spPr>
          <a:xfrm>
            <a:off x="0" y="0"/>
            <a:ext cx="9144000" cy="96864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9"/>
          <p:cNvSpPr/>
          <p:nvPr/>
        </p:nvSpPr>
        <p:spPr>
          <a:xfrm>
            <a:off x="0" y="954360"/>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9"/>
          <p:cNvSpPr/>
          <p:nvPr/>
        </p:nvSpPr>
        <p:spPr>
          <a:xfrm>
            <a:off x="428625" y="285750"/>
            <a:ext cx="8286750" cy="668610"/>
          </a:xfrm>
          <a:prstGeom prst="rect">
            <a:avLst/>
          </a:prstGeom>
          <a:noFill/>
          <a:ln>
            <a:noFill/>
          </a:ln>
        </p:spPr>
        <p:txBody>
          <a:bodyPr anchorCtr="0" anchor="t" bIns="0" lIns="0" spcFirstLastPara="1" rIns="0" wrap="square" tIns="0">
            <a:noAutofit/>
          </a:bodyPr>
          <a:lstStyle/>
          <a:p>
            <a:pPr indent="0" lvl="0" marL="0" marR="0" rtl="0" algn="l">
              <a:lnSpc>
                <a:spcPct val="143805"/>
              </a:lnSpc>
              <a:spcBef>
                <a:spcPts val="0"/>
              </a:spcBef>
              <a:spcAft>
                <a:spcPts val="0"/>
              </a:spcAft>
              <a:buClr>
                <a:srgbClr val="FFFFFF"/>
              </a:buClr>
              <a:buSzPts val="1808"/>
              <a:buFont typeface="Merriweather"/>
              <a:buNone/>
            </a:pPr>
            <a:r>
              <a:rPr b="1" i="0" lang="en-US" sz="1808" u="none" cap="none" strike="noStrike">
                <a:solidFill>
                  <a:srgbClr val="FFFFFF"/>
                </a:solidFill>
                <a:latin typeface="Merriweather"/>
                <a:ea typeface="Merriweather"/>
                <a:cs typeface="Merriweather"/>
                <a:sym typeface="Merriweather"/>
              </a:rPr>
              <a:t>One Lightweight Binary Adapts Seamlessly to VMs, Sidecars, and Init Containers</a:t>
            </a:r>
            <a:endParaRPr b="0" i="0" sz="1808" u="none" cap="none" strike="noStrike">
              <a:solidFill>
                <a:schemeClr val="dk1"/>
              </a:solidFill>
              <a:latin typeface="Calibri"/>
              <a:ea typeface="Calibri"/>
              <a:cs typeface="Calibri"/>
              <a:sym typeface="Calibri"/>
            </a:endParaRPr>
          </a:p>
        </p:txBody>
      </p:sp>
      <p:sp>
        <p:nvSpPr>
          <p:cNvPr id="357" name="Google Shape;357;p9"/>
          <p:cNvSpPr/>
          <p:nvPr/>
        </p:nvSpPr>
        <p:spPr>
          <a:xfrm>
            <a:off x="428625" y="1240110"/>
            <a:ext cx="2619384" cy="3331890"/>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9"/>
          <p:cNvSpPr/>
          <p:nvPr/>
        </p:nvSpPr>
        <p:spPr>
          <a:xfrm>
            <a:off x="428625" y="1240110"/>
            <a:ext cx="2619384" cy="28575"/>
          </a:xfrm>
          <a:prstGeom prst="rect">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p:nvPr/>
        </p:nvSpPr>
        <p:spPr>
          <a:xfrm>
            <a:off x="428625" y="1240110"/>
            <a:ext cx="2619384" cy="571500"/>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9"/>
          <p:cNvSpPr/>
          <p:nvPr/>
        </p:nvSpPr>
        <p:spPr>
          <a:xfrm>
            <a:off x="428625" y="1804467"/>
            <a:ext cx="2619384"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1" name="Google Shape;361;p9"/>
          <p:cNvPicPr preferRelativeResize="0"/>
          <p:nvPr/>
        </p:nvPicPr>
        <p:blipFill rotWithShape="1">
          <a:blip r:embed="rId4">
            <a:alphaModFix/>
          </a:blip>
          <a:srcRect b="0" l="0" r="0" t="0"/>
          <a:stretch/>
        </p:blipFill>
        <p:spPr>
          <a:xfrm>
            <a:off x="571500" y="1497285"/>
            <a:ext cx="200025" cy="200025"/>
          </a:xfrm>
          <a:prstGeom prst="rect">
            <a:avLst/>
          </a:prstGeom>
          <a:noFill/>
          <a:ln>
            <a:noFill/>
          </a:ln>
        </p:spPr>
      </p:pic>
      <p:sp>
        <p:nvSpPr>
          <p:cNvPr id="362" name="Google Shape;362;p9"/>
          <p:cNvSpPr/>
          <p:nvPr/>
        </p:nvSpPr>
        <p:spPr>
          <a:xfrm>
            <a:off x="878681" y="1490142"/>
            <a:ext cx="1035844" cy="214313"/>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Merriweather"/>
              <a:buNone/>
            </a:pPr>
            <a:r>
              <a:rPr b="1" i="0" lang="en-US" sz="1193" u="none" cap="none" strike="noStrike">
                <a:solidFill>
                  <a:srgbClr val="FFFFFF"/>
                </a:solidFill>
                <a:latin typeface="Merriweather"/>
                <a:ea typeface="Merriweather"/>
                <a:cs typeface="Merriweather"/>
                <a:sym typeface="Merriweather"/>
              </a:rPr>
              <a:t>INIT MODE</a:t>
            </a:r>
            <a:endParaRPr b="0" i="0" sz="1193" u="none" cap="none" strike="noStrike">
              <a:solidFill>
                <a:schemeClr val="dk1"/>
              </a:solidFill>
              <a:latin typeface="Calibri"/>
              <a:ea typeface="Calibri"/>
              <a:cs typeface="Calibri"/>
              <a:sym typeface="Calibri"/>
            </a:endParaRPr>
          </a:p>
        </p:txBody>
      </p:sp>
      <p:sp>
        <p:nvSpPr>
          <p:cNvPr id="363" name="Google Shape;363;p9"/>
          <p:cNvSpPr/>
          <p:nvPr/>
        </p:nvSpPr>
        <p:spPr>
          <a:xfrm>
            <a:off x="571500" y="1954485"/>
            <a:ext cx="2333634"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ENVIRONMENT</a:t>
            </a:r>
            <a:endParaRPr b="0" i="0" sz="683" u="none" cap="none" strike="noStrike">
              <a:solidFill>
                <a:schemeClr val="dk1"/>
              </a:solidFill>
              <a:latin typeface="Calibri"/>
              <a:ea typeface="Calibri"/>
              <a:cs typeface="Calibri"/>
              <a:sym typeface="Calibri"/>
            </a:endParaRPr>
          </a:p>
        </p:txBody>
      </p:sp>
      <p:sp>
        <p:nvSpPr>
          <p:cNvPr id="364" name="Google Shape;364;p9"/>
          <p:cNvSpPr/>
          <p:nvPr/>
        </p:nvSpPr>
        <p:spPr>
          <a:xfrm>
            <a:off x="571500" y="2111648"/>
            <a:ext cx="2333634" cy="180017"/>
          </a:xfrm>
          <a:prstGeom prst="rect">
            <a:avLst/>
          </a:prstGeom>
          <a:noFill/>
          <a:ln>
            <a:noFill/>
          </a:ln>
        </p:spPr>
        <p:txBody>
          <a:bodyPr anchorCtr="0" anchor="t" bIns="0" lIns="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Kubernetes Init Containers</a:t>
            </a:r>
            <a:endParaRPr b="0" i="0" sz="942" u="none" cap="none" strike="noStrike">
              <a:solidFill>
                <a:schemeClr val="dk1"/>
              </a:solidFill>
              <a:latin typeface="Calibri"/>
              <a:ea typeface="Calibri"/>
              <a:cs typeface="Calibri"/>
              <a:sym typeface="Calibri"/>
            </a:endParaRPr>
          </a:p>
        </p:txBody>
      </p:sp>
      <p:sp>
        <p:nvSpPr>
          <p:cNvPr id="365" name="Google Shape;365;p9"/>
          <p:cNvSpPr/>
          <p:nvPr/>
        </p:nvSpPr>
        <p:spPr>
          <a:xfrm>
            <a:off x="571500" y="2434540"/>
            <a:ext cx="2333634"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DURATION</a:t>
            </a:r>
            <a:endParaRPr b="0" i="0" sz="683" u="none" cap="none" strike="noStrike">
              <a:solidFill>
                <a:schemeClr val="dk1"/>
              </a:solidFill>
              <a:latin typeface="Calibri"/>
              <a:ea typeface="Calibri"/>
              <a:cs typeface="Calibri"/>
              <a:sym typeface="Calibri"/>
            </a:endParaRPr>
          </a:p>
        </p:txBody>
      </p:sp>
      <p:sp>
        <p:nvSpPr>
          <p:cNvPr id="366" name="Google Shape;366;p9"/>
          <p:cNvSpPr/>
          <p:nvPr/>
        </p:nvSpPr>
        <p:spPr>
          <a:xfrm>
            <a:off x="571500" y="2591702"/>
            <a:ext cx="2333634" cy="180017"/>
          </a:xfrm>
          <a:prstGeom prst="rect">
            <a:avLst/>
          </a:prstGeom>
          <a:noFill/>
          <a:ln>
            <a:noFill/>
          </a:ln>
        </p:spPr>
        <p:txBody>
          <a:bodyPr anchorCtr="0" anchor="t" bIns="0" lIns="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Seconds to minutes</a:t>
            </a:r>
            <a:endParaRPr b="0" i="0" sz="942" u="none" cap="none" strike="noStrike">
              <a:solidFill>
                <a:schemeClr val="dk1"/>
              </a:solidFill>
              <a:latin typeface="Calibri"/>
              <a:ea typeface="Calibri"/>
              <a:cs typeface="Calibri"/>
              <a:sym typeface="Calibri"/>
            </a:endParaRPr>
          </a:p>
        </p:txBody>
      </p:sp>
      <p:sp>
        <p:nvSpPr>
          <p:cNvPr id="367" name="Google Shape;367;p9"/>
          <p:cNvSpPr/>
          <p:nvPr/>
        </p:nvSpPr>
        <p:spPr>
          <a:xfrm>
            <a:off x="571500" y="2914594"/>
            <a:ext cx="2333634"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CAPABILITIES</a:t>
            </a:r>
            <a:endParaRPr b="0" i="0" sz="683" u="none" cap="none" strike="noStrike">
              <a:solidFill>
                <a:schemeClr val="dk1"/>
              </a:solidFill>
              <a:latin typeface="Calibri"/>
              <a:ea typeface="Calibri"/>
              <a:cs typeface="Calibri"/>
              <a:sym typeface="Calibri"/>
            </a:endParaRPr>
          </a:p>
        </p:txBody>
      </p:sp>
      <p:pic>
        <p:nvPicPr>
          <p:cNvPr descr="preencoded.png" id="368" name="Google Shape;368;p9"/>
          <p:cNvPicPr preferRelativeResize="0"/>
          <p:nvPr/>
        </p:nvPicPr>
        <p:blipFill rotWithShape="1">
          <a:blip r:embed="rId5">
            <a:alphaModFix/>
          </a:blip>
          <a:srcRect b="0" l="0" r="0" t="0"/>
          <a:stretch/>
        </p:blipFill>
        <p:spPr>
          <a:xfrm>
            <a:off x="571500" y="3136050"/>
            <a:ext cx="100013" cy="100013"/>
          </a:xfrm>
          <a:prstGeom prst="rect">
            <a:avLst/>
          </a:prstGeom>
          <a:noFill/>
          <a:ln>
            <a:noFill/>
          </a:ln>
        </p:spPr>
      </p:pic>
      <p:sp>
        <p:nvSpPr>
          <p:cNvPr id="369" name="Google Shape;369;p9"/>
          <p:cNvSpPr/>
          <p:nvPr/>
        </p:nvSpPr>
        <p:spPr>
          <a:xfrm>
            <a:off x="742950" y="3107475"/>
            <a:ext cx="1375172"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Certificate bootstrap only</a:t>
            </a:r>
            <a:endParaRPr b="0" i="0" sz="834" u="none" cap="none" strike="noStrike">
              <a:solidFill>
                <a:schemeClr val="dk1"/>
              </a:solidFill>
              <a:latin typeface="Calibri"/>
              <a:ea typeface="Calibri"/>
              <a:cs typeface="Calibri"/>
              <a:sym typeface="Calibri"/>
            </a:endParaRPr>
          </a:p>
        </p:txBody>
      </p:sp>
      <p:sp>
        <p:nvSpPr>
          <p:cNvPr id="370" name="Google Shape;370;p9"/>
          <p:cNvSpPr/>
          <p:nvPr/>
        </p:nvSpPr>
        <p:spPr>
          <a:xfrm>
            <a:off x="428625" y="4000500"/>
            <a:ext cx="2619384" cy="571500"/>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p:nvPr/>
        </p:nvSpPr>
        <p:spPr>
          <a:xfrm>
            <a:off x="428625" y="4000500"/>
            <a:ext cx="2619384"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9"/>
          <p:cNvSpPr/>
          <p:nvPr/>
        </p:nvSpPr>
        <p:spPr>
          <a:xfrm>
            <a:off x="428625" y="4000500"/>
            <a:ext cx="2619384" cy="571500"/>
          </a:xfrm>
          <a:prstGeom prst="rect">
            <a:avLst/>
          </a:prstGeom>
          <a:noFill/>
          <a:ln>
            <a:noFill/>
          </a:ln>
        </p:spPr>
        <p:txBody>
          <a:bodyPr anchorCtr="0" anchor="t" bIns="0" lIns="170050" spcFirstLastPara="1" rIns="170050" wrap="square" tIns="170050">
            <a:noAutofit/>
          </a:bodyPr>
          <a:lstStyle/>
          <a:p>
            <a:pPr indent="0" lvl="0" marL="0" marR="0" rtl="0" algn="l">
              <a:lnSpc>
                <a:spcPct val="155875"/>
              </a:lnSpc>
              <a:spcBef>
                <a:spcPts val="0"/>
              </a:spcBef>
              <a:spcAft>
                <a:spcPts val="0"/>
              </a:spcAft>
              <a:buClr>
                <a:srgbClr val="9CA3AF"/>
              </a:buClr>
              <a:buSzPts val="834"/>
              <a:buFont typeface="Inter"/>
              <a:buNone/>
            </a:pPr>
            <a:r>
              <a:rPr b="0" i="1" lang="en-US" sz="834" u="none" cap="none" strike="noStrike">
                <a:solidFill>
                  <a:srgbClr val="9CA3AF"/>
                </a:solidFill>
                <a:latin typeface="Inter"/>
                <a:ea typeface="Inter"/>
                <a:cs typeface="Inter"/>
                <a:sym typeface="Inter"/>
              </a:rPr>
              <a:t>"Procure certs, then exit"</a:t>
            </a:r>
            <a:endParaRPr b="0" i="0" sz="834" u="none" cap="none" strike="noStrike">
              <a:solidFill>
                <a:schemeClr val="dk1"/>
              </a:solidFill>
              <a:latin typeface="Calibri"/>
              <a:ea typeface="Calibri"/>
              <a:cs typeface="Calibri"/>
              <a:sym typeface="Calibri"/>
            </a:endParaRPr>
          </a:p>
        </p:txBody>
      </p:sp>
      <p:sp>
        <p:nvSpPr>
          <p:cNvPr id="373" name="Google Shape;373;p9"/>
          <p:cNvSpPr/>
          <p:nvPr/>
        </p:nvSpPr>
        <p:spPr>
          <a:xfrm>
            <a:off x="3262322" y="1240110"/>
            <a:ext cx="2619384" cy="3331890"/>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9"/>
          <p:cNvSpPr/>
          <p:nvPr/>
        </p:nvSpPr>
        <p:spPr>
          <a:xfrm>
            <a:off x="3262322" y="1240110"/>
            <a:ext cx="2619384"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9"/>
          <p:cNvSpPr/>
          <p:nvPr/>
        </p:nvSpPr>
        <p:spPr>
          <a:xfrm>
            <a:off x="3262322" y="1240110"/>
            <a:ext cx="2619384" cy="571500"/>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9"/>
          <p:cNvSpPr/>
          <p:nvPr/>
        </p:nvSpPr>
        <p:spPr>
          <a:xfrm>
            <a:off x="3262322" y="1804467"/>
            <a:ext cx="2619384"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7" name="Google Shape;377;p9"/>
          <p:cNvPicPr preferRelativeResize="0"/>
          <p:nvPr/>
        </p:nvPicPr>
        <p:blipFill rotWithShape="1">
          <a:blip r:embed="rId6">
            <a:alphaModFix/>
          </a:blip>
          <a:srcRect b="0" l="0" r="0" t="0"/>
          <a:stretch/>
        </p:blipFill>
        <p:spPr>
          <a:xfrm>
            <a:off x="3405197" y="1497285"/>
            <a:ext cx="250031" cy="200025"/>
          </a:xfrm>
          <a:prstGeom prst="rect">
            <a:avLst/>
          </a:prstGeom>
          <a:noFill/>
          <a:ln>
            <a:noFill/>
          </a:ln>
        </p:spPr>
      </p:pic>
      <p:sp>
        <p:nvSpPr>
          <p:cNvPr id="378" name="Google Shape;378;p9"/>
          <p:cNvSpPr/>
          <p:nvPr/>
        </p:nvSpPr>
        <p:spPr>
          <a:xfrm>
            <a:off x="3762384" y="1490142"/>
            <a:ext cx="1430536" cy="214313"/>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Merriweather"/>
              <a:buNone/>
            </a:pPr>
            <a:r>
              <a:rPr b="1" i="0" lang="en-US" sz="1193" u="none" cap="none" strike="noStrike">
                <a:solidFill>
                  <a:srgbClr val="FFFFFF"/>
                </a:solidFill>
                <a:latin typeface="Merriweather"/>
                <a:ea typeface="Merriweather"/>
                <a:cs typeface="Merriweather"/>
                <a:sym typeface="Merriweather"/>
              </a:rPr>
              <a:t>SIDECAR MODE</a:t>
            </a:r>
            <a:endParaRPr b="0" i="0" sz="1193" u="none" cap="none" strike="noStrike">
              <a:solidFill>
                <a:schemeClr val="dk1"/>
              </a:solidFill>
              <a:latin typeface="Calibri"/>
              <a:ea typeface="Calibri"/>
              <a:cs typeface="Calibri"/>
              <a:sym typeface="Calibri"/>
            </a:endParaRPr>
          </a:p>
        </p:txBody>
      </p:sp>
      <p:sp>
        <p:nvSpPr>
          <p:cNvPr id="379" name="Google Shape;379;p9"/>
          <p:cNvSpPr/>
          <p:nvPr/>
        </p:nvSpPr>
        <p:spPr>
          <a:xfrm>
            <a:off x="3405197" y="1954485"/>
            <a:ext cx="2333634"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ENVIRONMENT</a:t>
            </a:r>
            <a:endParaRPr b="0" i="0" sz="683" u="none" cap="none" strike="noStrike">
              <a:solidFill>
                <a:schemeClr val="dk1"/>
              </a:solidFill>
              <a:latin typeface="Calibri"/>
              <a:ea typeface="Calibri"/>
              <a:cs typeface="Calibri"/>
              <a:sym typeface="Calibri"/>
            </a:endParaRPr>
          </a:p>
        </p:txBody>
      </p:sp>
      <p:sp>
        <p:nvSpPr>
          <p:cNvPr id="380" name="Google Shape;380;p9"/>
          <p:cNvSpPr/>
          <p:nvPr/>
        </p:nvSpPr>
        <p:spPr>
          <a:xfrm>
            <a:off x="3405197" y="2111648"/>
            <a:ext cx="2333634" cy="180017"/>
          </a:xfrm>
          <a:prstGeom prst="rect">
            <a:avLst/>
          </a:prstGeom>
          <a:noFill/>
          <a:ln>
            <a:noFill/>
          </a:ln>
        </p:spPr>
        <p:txBody>
          <a:bodyPr anchorCtr="0" anchor="t" bIns="0" lIns="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Kubernetes Sidecar Containers</a:t>
            </a:r>
            <a:endParaRPr b="0" i="0" sz="942" u="none" cap="none" strike="noStrike">
              <a:solidFill>
                <a:schemeClr val="dk1"/>
              </a:solidFill>
              <a:latin typeface="Calibri"/>
              <a:ea typeface="Calibri"/>
              <a:cs typeface="Calibri"/>
              <a:sym typeface="Calibri"/>
            </a:endParaRPr>
          </a:p>
        </p:txBody>
      </p:sp>
      <p:sp>
        <p:nvSpPr>
          <p:cNvPr id="381" name="Google Shape;381;p9"/>
          <p:cNvSpPr/>
          <p:nvPr/>
        </p:nvSpPr>
        <p:spPr>
          <a:xfrm>
            <a:off x="3405197" y="2434540"/>
            <a:ext cx="2333634"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DURATION</a:t>
            </a:r>
            <a:endParaRPr b="0" i="0" sz="683" u="none" cap="none" strike="noStrike">
              <a:solidFill>
                <a:schemeClr val="dk1"/>
              </a:solidFill>
              <a:latin typeface="Calibri"/>
              <a:ea typeface="Calibri"/>
              <a:cs typeface="Calibri"/>
              <a:sym typeface="Calibri"/>
            </a:endParaRPr>
          </a:p>
        </p:txBody>
      </p:sp>
      <p:sp>
        <p:nvSpPr>
          <p:cNvPr id="382" name="Google Shape;382;p9"/>
          <p:cNvSpPr/>
          <p:nvPr/>
        </p:nvSpPr>
        <p:spPr>
          <a:xfrm>
            <a:off x="3405197" y="2591702"/>
            <a:ext cx="2333634" cy="180017"/>
          </a:xfrm>
          <a:prstGeom prst="rect">
            <a:avLst/>
          </a:prstGeom>
          <a:noFill/>
          <a:ln>
            <a:noFill/>
          </a:ln>
        </p:spPr>
        <p:txBody>
          <a:bodyPr anchorCtr="0" anchor="t" bIns="0" lIns="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Pod lifetime</a:t>
            </a:r>
            <a:endParaRPr b="0" i="0" sz="942" u="none" cap="none" strike="noStrike">
              <a:solidFill>
                <a:schemeClr val="dk1"/>
              </a:solidFill>
              <a:latin typeface="Calibri"/>
              <a:ea typeface="Calibri"/>
              <a:cs typeface="Calibri"/>
              <a:sym typeface="Calibri"/>
            </a:endParaRPr>
          </a:p>
        </p:txBody>
      </p:sp>
      <p:sp>
        <p:nvSpPr>
          <p:cNvPr id="383" name="Google Shape;383;p9"/>
          <p:cNvSpPr/>
          <p:nvPr/>
        </p:nvSpPr>
        <p:spPr>
          <a:xfrm>
            <a:off x="3405197" y="2914594"/>
            <a:ext cx="2333634"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CAPABILITIES</a:t>
            </a:r>
            <a:endParaRPr b="0" i="0" sz="683" u="none" cap="none" strike="noStrike">
              <a:solidFill>
                <a:schemeClr val="dk1"/>
              </a:solidFill>
              <a:latin typeface="Calibri"/>
              <a:ea typeface="Calibri"/>
              <a:cs typeface="Calibri"/>
              <a:sym typeface="Calibri"/>
            </a:endParaRPr>
          </a:p>
        </p:txBody>
      </p:sp>
      <p:pic>
        <p:nvPicPr>
          <p:cNvPr descr="preencoded.png" id="384" name="Google Shape;384;p9"/>
          <p:cNvPicPr preferRelativeResize="0"/>
          <p:nvPr/>
        </p:nvPicPr>
        <p:blipFill rotWithShape="1">
          <a:blip r:embed="rId7">
            <a:alphaModFix/>
          </a:blip>
          <a:srcRect b="0" l="0" r="0" t="0"/>
          <a:stretch/>
        </p:blipFill>
        <p:spPr>
          <a:xfrm>
            <a:off x="3405197" y="3136050"/>
            <a:ext cx="100013" cy="100013"/>
          </a:xfrm>
          <a:prstGeom prst="rect">
            <a:avLst/>
          </a:prstGeom>
          <a:noFill/>
          <a:ln>
            <a:noFill/>
          </a:ln>
        </p:spPr>
      </p:pic>
      <p:sp>
        <p:nvSpPr>
          <p:cNvPr id="385" name="Google Shape;385;p9"/>
          <p:cNvSpPr/>
          <p:nvPr/>
        </p:nvSpPr>
        <p:spPr>
          <a:xfrm>
            <a:off x="3576647" y="3107475"/>
            <a:ext cx="839391"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Certs + Secrets</a:t>
            </a:r>
            <a:endParaRPr b="0" i="0" sz="834" u="none" cap="none" strike="noStrike">
              <a:solidFill>
                <a:schemeClr val="dk1"/>
              </a:solidFill>
              <a:latin typeface="Calibri"/>
              <a:ea typeface="Calibri"/>
              <a:cs typeface="Calibri"/>
              <a:sym typeface="Calibri"/>
            </a:endParaRPr>
          </a:p>
        </p:txBody>
      </p:sp>
      <p:pic>
        <p:nvPicPr>
          <p:cNvPr descr="preencoded.png" id="386" name="Google Shape;386;p9"/>
          <p:cNvPicPr preferRelativeResize="0"/>
          <p:nvPr/>
        </p:nvPicPr>
        <p:blipFill rotWithShape="1">
          <a:blip r:embed="rId8">
            <a:alphaModFix/>
          </a:blip>
          <a:srcRect b="0" l="0" r="0" t="0"/>
          <a:stretch/>
        </p:blipFill>
        <p:spPr>
          <a:xfrm>
            <a:off x="3405197" y="3330718"/>
            <a:ext cx="100013" cy="100013"/>
          </a:xfrm>
          <a:prstGeom prst="rect">
            <a:avLst/>
          </a:prstGeom>
          <a:noFill/>
          <a:ln>
            <a:noFill/>
          </a:ln>
        </p:spPr>
      </p:pic>
      <p:sp>
        <p:nvSpPr>
          <p:cNvPr id="387" name="Google Shape;387;p9"/>
          <p:cNvSpPr/>
          <p:nvPr/>
        </p:nvSpPr>
        <p:spPr>
          <a:xfrm>
            <a:off x="3576647" y="3302143"/>
            <a:ext cx="728663"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Workload API</a:t>
            </a:r>
            <a:endParaRPr b="0" i="0" sz="834" u="none" cap="none" strike="noStrike">
              <a:solidFill>
                <a:schemeClr val="dk1"/>
              </a:solidFill>
              <a:latin typeface="Calibri"/>
              <a:ea typeface="Calibri"/>
              <a:cs typeface="Calibri"/>
              <a:sym typeface="Calibri"/>
            </a:endParaRPr>
          </a:p>
        </p:txBody>
      </p:sp>
      <p:pic>
        <p:nvPicPr>
          <p:cNvPr descr="preencoded.png" id="388" name="Google Shape;388;p9"/>
          <p:cNvPicPr preferRelativeResize="0"/>
          <p:nvPr/>
        </p:nvPicPr>
        <p:blipFill rotWithShape="1">
          <a:blip r:embed="rId9">
            <a:alphaModFix/>
          </a:blip>
          <a:srcRect b="0" l="0" r="0" t="0"/>
          <a:stretch/>
        </p:blipFill>
        <p:spPr>
          <a:xfrm>
            <a:off x="3405197" y="3525385"/>
            <a:ext cx="100013" cy="100013"/>
          </a:xfrm>
          <a:prstGeom prst="rect">
            <a:avLst/>
          </a:prstGeom>
          <a:noFill/>
          <a:ln>
            <a:noFill/>
          </a:ln>
        </p:spPr>
      </p:pic>
      <p:sp>
        <p:nvSpPr>
          <p:cNvPr id="389" name="Google Shape;389;p9"/>
          <p:cNvSpPr/>
          <p:nvPr/>
        </p:nvSpPr>
        <p:spPr>
          <a:xfrm>
            <a:off x="3576647" y="3496810"/>
            <a:ext cx="967978"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Health Monitoring</a:t>
            </a:r>
            <a:endParaRPr b="0" i="0" sz="834" u="none" cap="none" strike="noStrike">
              <a:solidFill>
                <a:schemeClr val="dk1"/>
              </a:solidFill>
              <a:latin typeface="Calibri"/>
              <a:ea typeface="Calibri"/>
              <a:cs typeface="Calibri"/>
              <a:sym typeface="Calibri"/>
            </a:endParaRPr>
          </a:p>
        </p:txBody>
      </p:sp>
      <p:sp>
        <p:nvSpPr>
          <p:cNvPr id="390" name="Google Shape;390;p9"/>
          <p:cNvSpPr/>
          <p:nvPr/>
        </p:nvSpPr>
        <p:spPr>
          <a:xfrm>
            <a:off x="3262322" y="4000500"/>
            <a:ext cx="2619384" cy="571500"/>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p:nvPr/>
        </p:nvSpPr>
        <p:spPr>
          <a:xfrm>
            <a:off x="3262322" y="4000500"/>
            <a:ext cx="2619384"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9"/>
          <p:cNvSpPr/>
          <p:nvPr/>
        </p:nvSpPr>
        <p:spPr>
          <a:xfrm>
            <a:off x="3262322" y="4000500"/>
            <a:ext cx="2619384" cy="571500"/>
          </a:xfrm>
          <a:prstGeom prst="rect">
            <a:avLst/>
          </a:prstGeom>
          <a:noFill/>
          <a:ln>
            <a:noFill/>
          </a:ln>
        </p:spPr>
        <p:txBody>
          <a:bodyPr anchorCtr="0" anchor="t" bIns="0" lIns="170050" spcFirstLastPara="1" rIns="170050" wrap="square" tIns="170050">
            <a:noAutofit/>
          </a:bodyPr>
          <a:lstStyle/>
          <a:p>
            <a:pPr indent="0" lvl="0" marL="0" marR="0" rtl="0" algn="l">
              <a:lnSpc>
                <a:spcPct val="155875"/>
              </a:lnSpc>
              <a:spcBef>
                <a:spcPts val="0"/>
              </a:spcBef>
              <a:spcAft>
                <a:spcPts val="0"/>
              </a:spcAft>
              <a:buClr>
                <a:srgbClr val="9CA3AF"/>
              </a:buClr>
              <a:buSzPts val="834"/>
              <a:buFont typeface="Inter"/>
              <a:buNone/>
            </a:pPr>
            <a:r>
              <a:rPr b="0" i="1" lang="en-US" sz="834" u="none" cap="none" strike="noStrike">
                <a:solidFill>
                  <a:srgbClr val="9CA3AF"/>
                </a:solidFill>
                <a:latin typeface="Inter"/>
                <a:ea typeface="Inter"/>
                <a:cs typeface="Inter"/>
                <a:sym typeface="Inter"/>
              </a:rPr>
              <a:t>"Continuous cert rotation and secret access for containerized apps"</a:t>
            </a:r>
            <a:endParaRPr b="0" i="0" sz="834" u="none" cap="none" strike="noStrike">
              <a:solidFill>
                <a:schemeClr val="dk1"/>
              </a:solidFill>
              <a:latin typeface="Calibri"/>
              <a:ea typeface="Calibri"/>
              <a:cs typeface="Calibri"/>
              <a:sym typeface="Calibri"/>
            </a:endParaRPr>
          </a:p>
        </p:txBody>
      </p:sp>
      <p:sp>
        <p:nvSpPr>
          <p:cNvPr id="393" name="Google Shape;393;p9"/>
          <p:cNvSpPr/>
          <p:nvPr/>
        </p:nvSpPr>
        <p:spPr>
          <a:xfrm>
            <a:off x="6096019" y="1240110"/>
            <a:ext cx="2619384" cy="3331890"/>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6096019" y="1240110"/>
            <a:ext cx="2619384"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p:nvPr/>
        </p:nvSpPr>
        <p:spPr>
          <a:xfrm>
            <a:off x="6096019" y="1240110"/>
            <a:ext cx="2619384" cy="571500"/>
          </a:xfrm>
          <a:prstGeom prst="rect">
            <a:avLst/>
          </a:prstGeom>
          <a:solidFill>
            <a:srgbClr val="000000">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9"/>
          <p:cNvSpPr/>
          <p:nvPr/>
        </p:nvSpPr>
        <p:spPr>
          <a:xfrm>
            <a:off x="6096019" y="1804467"/>
            <a:ext cx="2619384"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7" name="Google Shape;397;p9"/>
          <p:cNvPicPr preferRelativeResize="0"/>
          <p:nvPr/>
        </p:nvPicPr>
        <p:blipFill rotWithShape="1">
          <a:blip r:embed="rId10">
            <a:alphaModFix/>
          </a:blip>
          <a:srcRect b="0" l="0" r="0" t="0"/>
          <a:stretch/>
        </p:blipFill>
        <p:spPr>
          <a:xfrm>
            <a:off x="6238894" y="1497285"/>
            <a:ext cx="200025" cy="200025"/>
          </a:xfrm>
          <a:prstGeom prst="rect">
            <a:avLst/>
          </a:prstGeom>
          <a:noFill/>
          <a:ln>
            <a:noFill/>
          </a:ln>
        </p:spPr>
      </p:pic>
      <p:sp>
        <p:nvSpPr>
          <p:cNvPr id="398" name="Google Shape;398;p9"/>
          <p:cNvSpPr/>
          <p:nvPr/>
        </p:nvSpPr>
        <p:spPr>
          <a:xfrm>
            <a:off x="6546075" y="1490142"/>
            <a:ext cx="1092994" cy="214313"/>
          </a:xfrm>
          <a:prstGeom prst="rect">
            <a:avLst/>
          </a:prstGeom>
          <a:noFill/>
          <a:ln>
            <a:noFill/>
          </a:ln>
        </p:spPr>
        <p:txBody>
          <a:bodyPr anchorCtr="0" anchor="t" bIns="0" lIns="0" spcFirstLastPara="1" rIns="0" wrap="square" tIns="0">
            <a:noAutofit/>
          </a:bodyPr>
          <a:lstStyle/>
          <a:p>
            <a:pPr indent="0" lvl="0" marL="0" marR="0" rtl="0" algn="l">
              <a:lnSpc>
                <a:spcPct val="134115"/>
              </a:lnSpc>
              <a:spcBef>
                <a:spcPts val="0"/>
              </a:spcBef>
              <a:spcAft>
                <a:spcPts val="0"/>
              </a:spcAft>
              <a:buClr>
                <a:srgbClr val="FFFFFF"/>
              </a:buClr>
              <a:buSzPts val="1193"/>
              <a:buFont typeface="Merriweather"/>
              <a:buNone/>
            </a:pPr>
            <a:r>
              <a:rPr b="1" i="0" lang="en-US" sz="1193" u="none" cap="none" strike="noStrike">
                <a:solidFill>
                  <a:srgbClr val="FFFFFF"/>
                </a:solidFill>
                <a:latin typeface="Merriweather"/>
                <a:ea typeface="Merriweather"/>
                <a:cs typeface="Merriweather"/>
                <a:sym typeface="Merriweather"/>
              </a:rPr>
              <a:t>FULL MODE</a:t>
            </a:r>
            <a:endParaRPr b="0" i="0" sz="1193" u="none" cap="none" strike="noStrike">
              <a:solidFill>
                <a:schemeClr val="dk1"/>
              </a:solidFill>
              <a:latin typeface="Calibri"/>
              <a:ea typeface="Calibri"/>
              <a:cs typeface="Calibri"/>
              <a:sym typeface="Calibri"/>
            </a:endParaRPr>
          </a:p>
        </p:txBody>
      </p:sp>
      <p:sp>
        <p:nvSpPr>
          <p:cNvPr id="399" name="Google Shape;399;p9"/>
          <p:cNvSpPr/>
          <p:nvPr/>
        </p:nvSpPr>
        <p:spPr>
          <a:xfrm>
            <a:off x="6238894" y="1954485"/>
            <a:ext cx="2333634"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ENVIRONMENT</a:t>
            </a:r>
            <a:endParaRPr b="0" i="0" sz="683" u="none" cap="none" strike="noStrike">
              <a:solidFill>
                <a:schemeClr val="dk1"/>
              </a:solidFill>
              <a:latin typeface="Calibri"/>
              <a:ea typeface="Calibri"/>
              <a:cs typeface="Calibri"/>
              <a:sym typeface="Calibri"/>
            </a:endParaRPr>
          </a:p>
        </p:txBody>
      </p:sp>
      <p:sp>
        <p:nvSpPr>
          <p:cNvPr id="400" name="Google Shape;400;p9"/>
          <p:cNvSpPr/>
          <p:nvPr/>
        </p:nvSpPr>
        <p:spPr>
          <a:xfrm>
            <a:off x="6238894" y="2111648"/>
            <a:ext cx="2333634" cy="180017"/>
          </a:xfrm>
          <a:prstGeom prst="rect">
            <a:avLst/>
          </a:prstGeom>
          <a:noFill/>
          <a:ln>
            <a:noFill/>
          </a:ln>
        </p:spPr>
        <p:txBody>
          <a:bodyPr anchorCtr="0" anchor="t" bIns="0" lIns="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VMs, Bare Metal, EC2</a:t>
            </a:r>
            <a:endParaRPr b="0" i="0" sz="942" u="none" cap="none" strike="noStrike">
              <a:solidFill>
                <a:schemeClr val="dk1"/>
              </a:solidFill>
              <a:latin typeface="Calibri"/>
              <a:ea typeface="Calibri"/>
              <a:cs typeface="Calibri"/>
              <a:sym typeface="Calibri"/>
            </a:endParaRPr>
          </a:p>
        </p:txBody>
      </p:sp>
      <p:sp>
        <p:nvSpPr>
          <p:cNvPr id="401" name="Google Shape;401;p9"/>
          <p:cNvSpPr/>
          <p:nvPr/>
        </p:nvSpPr>
        <p:spPr>
          <a:xfrm>
            <a:off x="6238894" y="2434540"/>
            <a:ext cx="2333634"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DURATION</a:t>
            </a:r>
            <a:endParaRPr b="0" i="0" sz="683" u="none" cap="none" strike="noStrike">
              <a:solidFill>
                <a:schemeClr val="dk1"/>
              </a:solidFill>
              <a:latin typeface="Calibri"/>
              <a:ea typeface="Calibri"/>
              <a:cs typeface="Calibri"/>
              <a:sym typeface="Calibri"/>
            </a:endParaRPr>
          </a:p>
        </p:txBody>
      </p:sp>
      <p:sp>
        <p:nvSpPr>
          <p:cNvPr id="402" name="Google Shape;402;p9"/>
          <p:cNvSpPr/>
          <p:nvPr/>
        </p:nvSpPr>
        <p:spPr>
          <a:xfrm>
            <a:off x="6238894" y="2591702"/>
            <a:ext cx="2333634" cy="180017"/>
          </a:xfrm>
          <a:prstGeom prst="rect">
            <a:avLst/>
          </a:prstGeom>
          <a:noFill/>
          <a:ln>
            <a:noFill/>
          </a:ln>
        </p:spPr>
        <p:txBody>
          <a:bodyPr anchorCtr="0" anchor="t" bIns="0" lIns="0" spcFirstLastPara="1" rIns="0" wrap="square" tIns="0">
            <a:noAutofit/>
          </a:bodyPr>
          <a:lstStyle/>
          <a:p>
            <a:pPr indent="0" lvl="0" marL="0" marR="0" rtl="0" algn="l">
              <a:lnSpc>
                <a:spcPct val="148619"/>
              </a:lnSpc>
              <a:spcBef>
                <a:spcPts val="0"/>
              </a:spcBef>
              <a:spcAft>
                <a:spcPts val="0"/>
              </a:spcAft>
              <a:buClr>
                <a:srgbClr val="E0E0E0"/>
              </a:buClr>
              <a:buSzPts val="942"/>
              <a:buFont typeface="Inter"/>
              <a:buNone/>
            </a:pPr>
            <a:r>
              <a:rPr b="0" i="0" lang="en-US" sz="942" u="none" cap="none" strike="noStrike">
                <a:solidFill>
                  <a:srgbClr val="E0E0E0"/>
                </a:solidFill>
                <a:latin typeface="Inter"/>
                <a:ea typeface="Inter"/>
                <a:cs typeface="Inter"/>
                <a:sym typeface="Inter"/>
              </a:rPr>
              <a:t>Node lifetime</a:t>
            </a:r>
            <a:endParaRPr b="0" i="0" sz="942" u="none" cap="none" strike="noStrike">
              <a:solidFill>
                <a:schemeClr val="dk1"/>
              </a:solidFill>
              <a:latin typeface="Calibri"/>
              <a:ea typeface="Calibri"/>
              <a:cs typeface="Calibri"/>
              <a:sym typeface="Calibri"/>
            </a:endParaRPr>
          </a:p>
        </p:txBody>
      </p:sp>
      <p:sp>
        <p:nvSpPr>
          <p:cNvPr id="403" name="Google Shape;403;p9"/>
          <p:cNvSpPr/>
          <p:nvPr/>
        </p:nvSpPr>
        <p:spPr>
          <a:xfrm>
            <a:off x="6238894" y="2914594"/>
            <a:ext cx="2333634"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CAPABILITIES</a:t>
            </a:r>
            <a:endParaRPr b="0" i="0" sz="683" u="none" cap="none" strike="noStrike">
              <a:solidFill>
                <a:schemeClr val="dk1"/>
              </a:solidFill>
              <a:latin typeface="Calibri"/>
              <a:ea typeface="Calibri"/>
              <a:cs typeface="Calibri"/>
              <a:sym typeface="Calibri"/>
            </a:endParaRPr>
          </a:p>
        </p:txBody>
      </p:sp>
      <p:pic>
        <p:nvPicPr>
          <p:cNvPr descr="preencoded.png" id="404" name="Google Shape;404;p9"/>
          <p:cNvPicPr preferRelativeResize="0"/>
          <p:nvPr/>
        </p:nvPicPr>
        <p:blipFill rotWithShape="1">
          <a:blip r:embed="rId11">
            <a:alphaModFix/>
          </a:blip>
          <a:srcRect b="0" l="0" r="0" t="0"/>
          <a:stretch/>
        </p:blipFill>
        <p:spPr>
          <a:xfrm>
            <a:off x="6238894" y="3136050"/>
            <a:ext cx="100013" cy="100013"/>
          </a:xfrm>
          <a:prstGeom prst="rect">
            <a:avLst/>
          </a:prstGeom>
          <a:noFill/>
          <a:ln>
            <a:noFill/>
          </a:ln>
        </p:spPr>
      </p:pic>
      <p:sp>
        <p:nvSpPr>
          <p:cNvPr id="405" name="Google Shape;405;p9"/>
          <p:cNvSpPr/>
          <p:nvPr/>
        </p:nvSpPr>
        <p:spPr>
          <a:xfrm>
            <a:off x="6410344" y="3107475"/>
            <a:ext cx="1228725"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All Sidecar capabilities</a:t>
            </a:r>
            <a:endParaRPr b="0" i="0" sz="834" u="none" cap="none" strike="noStrike">
              <a:solidFill>
                <a:schemeClr val="dk1"/>
              </a:solidFill>
              <a:latin typeface="Calibri"/>
              <a:ea typeface="Calibri"/>
              <a:cs typeface="Calibri"/>
              <a:sym typeface="Calibri"/>
            </a:endParaRPr>
          </a:p>
        </p:txBody>
      </p:sp>
      <p:pic>
        <p:nvPicPr>
          <p:cNvPr descr="preencoded.png" id="406" name="Google Shape;406;p9"/>
          <p:cNvPicPr preferRelativeResize="0"/>
          <p:nvPr/>
        </p:nvPicPr>
        <p:blipFill rotWithShape="1">
          <a:blip r:embed="rId12">
            <a:alphaModFix/>
          </a:blip>
          <a:srcRect b="0" l="0" r="0" t="0"/>
          <a:stretch/>
        </p:blipFill>
        <p:spPr>
          <a:xfrm>
            <a:off x="6238894" y="3330718"/>
            <a:ext cx="100013" cy="100013"/>
          </a:xfrm>
          <a:prstGeom prst="rect">
            <a:avLst/>
          </a:prstGeom>
          <a:noFill/>
          <a:ln>
            <a:noFill/>
          </a:ln>
        </p:spPr>
      </p:pic>
      <p:sp>
        <p:nvSpPr>
          <p:cNvPr id="407" name="Google Shape;407;p9"/>
          <p:cNvSpPr/>
          <p:nvPr/>
        </p:nvSpPr>
        <p:spPr>
          <a:xfrm>
            <a:off x="6410344" y="3302143"/>
            <a:ext cx="1062633"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OpAMP Connection</a:t>
            </a:r>
            <a:endParaRPr b="0" i="0" sz="834" u="none" cap="none" strike="noStrike">
              <a:solidFill>
                <a:schemeClr val="dk1"/>
              </a:solidFill>
              <a:latin typeface="Calibri"/>
              <a:ea typeface="Calibri"/>
              <a:cs typeface="Calibri"/>
              <a:sym typeface="Calibri"/>
            </a:endParaRPr>
          </a:p>
        </p:txBody>
      </p:sp>
      <p:pic>
        <p:nvPicPr>
          <p:cNvPr descr="preencoded.png" id="408" name="Google Shape;408;p9"/>
          <p:cNvPicPr preferRelativeResize="0"/>
          <p:nvPr/>
        </p:nvPicPr>
        <p:blipFill rotWithShape="1">
          <a:blip r:embed="rId13">
            <a:alphaModFix/>
          </a:blip>
          <a:srcRect b="0" l="0" r="0" t="0"/>
          <a:stretch/>
        </p:blipFill>
        <p:spPr>
          <a:xfrm>
            <a:off x="6238894" y="3525385"/>
            <a:ext cx="100013" cy="100013"/>
          </a:xfrm>
          <a:prstGeom prst="rect">
            <a:avLst/>
          </a:prstGeom>
          <a:noFill/>
          <a:ln>
            <a:noFill/>
          </a:ln>
        </p:spPr>
      </p:pic>
      <p:sp>
        <p:nvSpPr>
          <p:cNvPr id="409" name="Google Shape;409;p9"/>
          <p:cNvSpPr/>
          <p:nvPr/>
        </p:nvSpPr>
        <p:spPr>
          <a:xfrm>
            <a:off x="6410344" y="3496810"/>
            <a:ext cx="837605"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Agent Lifecycle</a:t>
            </a:r>
            <a:endParaRPr b="0" i="0" sz="834" u="none" cap="none" strike="noStrike">
              <a:solidFill>
                <a:schemeClr val="dk1"/>
              </a:solidFill>
              <a:latin typeface="Calibri"/>
              <a:ea typeface="Calibri"/>
              <a:cs typeface="Calibri"/>
              <a:sym typeface="Calibri"/>
            </a:endParaRPr>
          </a:p>
        </p:txBody>
      </p:sp>
      <p:pic>
        <p:nvPicPr>
          <p:cNvPr descr="preencoded.png" id="410" name="Google Shape;410;p9"/>
          <p:cNvPicPr preferRelativeResize="0"/>
          <p:nvPr/>
        </p:nvPicPr>
        <p:blipFill rotWithShape="1">
          <a:blip r:embed="rId14">
            <a:alphaModFix/>
          </a:blip>
          <a:srcRect b="0" l="0" r="0" t="0"/>
          <a:stretch/>
        </p:blipFill>
        <p:spPr>
          <a:xfrm>
            <a:off x="6238894" y="3720052"/>
            <a:ext cx="100013" cy="100013"/>
          </a:xfrm>
          <a:prstGeom prst="rect">
            <a:avLst/>
          </a:prstGeom>
          <a:noFill/>
          <a:ln>
            <a:noFill/>
          </a:ln>
        </p:spPr>
      </p:pic>
      <p:sp>
        <p:nvSpPr>
          <p:cNvPr id="411" name="Google Shape;411;p9"/>
          <p:cNvSpPr/>
          <p:nvPr/>
        </p:nvSpPr>
        <p:spPr>
          <a:xfrm>
            <a:off x="6410344" y="3691477"/>
            <a:ext cx="1230511"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0E0E0"/>
              </a:buClr>
              <a:buSzPts val="834"/>
              <a:buFont typeface="Inter"/>
              <a:buNone/>
            </a:pPr>
            <a:r>
              <a:rPr b="0" i="0" lang="en-US" sz="834" u="none" cap="none" strike="noStrike">
                <a:solidFill>
                  <a:srgbClr val="E0E0E0"/>
                </a:solidFill>
                <a:latin typeface="Inter"/>
                <a:ea typeface="Inter"/>
                <a:cs typeface="Inter"/>
                <a:sym typeface="Inter"/>
              </a:rPr>
              <a:t>SSH Certs &amp; Telemetry</a:t>
            </a:r>
            <a:endParaRPr b="0" i="0" sz="834" u="none" cap="none" strike="noStrike">
              <a:solidFill>
                <a:schemeClr val="dk1"/>
              </a:solidFill>
              <a:latin typeface="Calibri"/>
              <a:ea typeface="Calibri"/>
              <a:cs typeface="Calibri"/>
              <a:sym typeface="Calibri"/>
            </a:endParaRPr>
          </a:p>
        </p:txBody>
      </p:sp>
      <p:sp>
        <p:nvSpPr>
          <p:cNvPr id="412" name="Google Shape;412;p9"/>
          <p:cNvSpPr/>
          <p:nvPr/>
        </p:nvSpPr>
        <p:spPr>
          <a:xfrm>
            <a:off x="6096019" y="4000500"/>
            <a:ext cx="2619384" cy="571500"/>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a:off x="6096019" y="4000500"/>
            <a:ext cx="2619384"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9"/>
          <p:cNvSpPr/>
          <p:nvPr/>
        </p:nvSpPr>
        <p:spPr>
          <a:xfrm>
            <a:off x="6096019" y="4000500"/>
            <a:ext cx="2619384" cy="571500"/>
          </a:xfrm>
          <a:prstGeom prst="rect">
            <a:avLst/>
          </a:prstGeom>
          <a:noFill/>
          <a:ln>
            <a:noFill/>
          </a:ln>
        </p:spPr>
        <p:txBody>
          <a:bodyPr anchorCtr="0" anchor="t" bIns="0" lIns="170050" spcFirstLastPara="1" rIns="170050" wrap="square" tIns="170050">
            <a:noAutofit/>
          </a:bodyPr>
          <a:lstStyle/>
          <a:p>
            <a:pPr indent="0" lvl="0" marL="0" marR="0" rtl="0" algn="l">
              <a:lnSpc>
                <a:spcPct val="155875"/>
              </a:lnSpc>
              <a:spcBef>
                <a:spcPts val="0"/>
              </a:spcBef>
              <a:spcAft>
                <a:spcPts val="0"/>
              </a:spcAft>
              <a:buClr>
                <a:srgbClr val="9CA3AF"/>
              </a:buClr>
              <a:buSzPts val="834"/>
              <a:buFont typeface="Inter"/>
              <a:buNone/>
            </a:pPr>
            <a:r>
              <a:rPr b="0" i="1" lang="en-US" sz="834" u="none" cap="none" strike="noStrike">
                <a:solidFill>
                  <a:srgbClr val="9CA3AF"/>
                </a:solidFill>
                <a:latin typeface="Inter"/>
                <a:ea typeface="Inter"/>
                <a:cs typeface="Inter"/>
                <a:sym typeface="Inter"/>
              </a:rPr>
              <a:t>"Complete node management with fleet connectivity"</a:t>
            </a:r>
            <a:endParaRPr b="0" i="0" sz="834" u="none" cap="none" strike="noStrike">
              <a:solidFill>
                <a:schemeClr val="dk1"/>
              </a:solidFill>
              <a:latin typeface="Calibri"/>
              <a:ea typeface="Calibri"/>
              <a:cs typeface="Calibri"/>
              <a:sym typeface="Calibri"/>
            </a:endParaRPr>
          </a:p>
        </p:txBody>
      </p:sp>
      <p:sp>
        <p:nvSpPr>
          <p:cNvPr id="415" name="Google Shape;415;p9"/>
          <p:cNvSpPr/>
          <p:nvPr/>
        </p:nvSpPr>
        <p:spPr>
          <a:xfrm>
            <a:off x="0" y="4572000"/>
            <a:ext cx="9144000" cy="5715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a:off x="0" y="4572000"/>
            <a:ext cx="91440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9"/>
          <p:cNvSpPr/>
          <p:nvPr/>
        </p:nvSpPr>
        <p:spPr>
          <a:xfrm>
            <a:off x="2831604" y="4780062"/>
            <a:ext cx="255389"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6B7280"/>
              </a:buClr>
              <a:buSzPts val="885"/>
              <a:buFont typeface="Inter"/>
              <a:buNone/>
            </a:pPr>
            <a:r>
              <a:rPr b="1" i="0" lang="en-US" sz="885" u="none" cap="none" strike="noStrike">
                <a:solidFill>
                  <a:srgbClr val="6B7280"/>
                </a:solidFill>
                <a:latin typeface="Inter"/>
                <a:ea typeface="Inter"/>
                <a:cs typeface="Inter"/>
                <a:sym typeface="Inter"/>
              </a:rPr>
              <a:t>INIT</a:t>
            </a:r>
            <a:endParaRPr b="0" i="0" sz="885" u="none" cap="none" strike="noStrike">
              <a:solidFill>
                <a:schemeClr val="dk1"/>
              </a:solidFill>
              <a:latin typeface="Calibri"/>
              <a:ea typeface="Calibri"/>
              <a:cs typeface="Calibri"/>
              <a:sym typeface="Calibri"/>
            </a:endParaRPr>
          </a:p>
        </p:txBody>
      </p:sp>
      <p:pic>
        <p:nvPicPr>
          <p:cNvPr descr="preencoded.png" id="418" name="Google Shape;418;p9"/>
          <p:cNvPicPr preferRelativeResize="0"/>
          <p:nvPr/>
        </p:nvPicPr>
        <p:blipFill rotWithShape="1">
          <a:blip r:embed="rId15">
            <a:alphaModFix/>
          </a:blip>
          <a:srcRect b="0" l="0" r="0" t="0"/>
          <a:stretch/>
        </p:blipFill>
        <p:spPr>
          <a:xfrm>
            <a:off x="3194149" y="4807744"/>
            <a:ext cx="100013" cy="100013"/>
          </a:xfrm>
          <a:prstGeom prst="rect">
            <a:avLst/>
          </a:prstGeom>
          <a:noFill/>
          <a:ln>
            <a:noFill/>
          </a:ln>
        </p:spPr>
      </p:pic>
      <p:pic>
        <p:nvPicPr>
          <p:cNvPr descr="preencoded.png" id="419" name="Google Shape;419;p9"/>
          <p:cNvPicPr preferRelativeResize="0"/>
          <p:nvPr/>
        </p:nvPicPr>
        <p:blipFill rotWithShape="1">
          <a:blip r:embed="rId16">
            <a:alphaModFix/>
          </a:blip>
          <a:srcRect b="0" l="0" r="0" t="0"/>
          <a:stretch/>
        </p:blipFill>
        <p:spPr>
          <a:xfrm>
            <a:off x="3579912" y="4786313"/>
            <a:ext cx="89297" cy="142875"/>
          </a:xfrm>
          <a:prstGeom prst="rect">
            <a:avLst/>
          </a:prstGeom>
          <a:noFill/>
          <a:ln>
            <a:noFill/>
          </a:ln>
        </p:spPr>
      </p:pic>
      <p:sp>
        <p:nvSpPr>
          <p:cNvPr id="420" name="Google Shape;420;p9"/>
          <p:cNvSpPr/>
          <p:nvPr/>
        </p:nvSpPr>
        <p:spPr>
          <a:xfrm>
            <a:off x="3954959" y="4780062"/>
            <a:ext cx="558998"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SIDECAR</a:t>
            </a:r>
            <a:endParaRPr b="0" i="0" sz="885" u="none" cap="none" strike="noStrike">
              <a:solidFill>
                <a:schemeClr val="dk1"/>
              </a:solidFill>
              <a:latin typeface="Calibri"/>
              <a:ea typeface="Calibri"/>
              <a:cs typeface="Calibri"/>
              <a:sym typeface="Calibri"/>
            </a:endParaRPr>
          </a:p>
        </p:txBody>
      </p:sp>
      <p:pic>
        <p:nvPicPr>
          <p:cNvPr descr="preencoded.png" id="421" name="Google Shape;421;p9"/>
          <p:cNvPicPr preferRelativeResize="0"/>
          <p:nvPr/>
        </p:nvPicPr>
        <p:blipFill rotWithShape="1">
          <a:blip r:embed="rId17">
            <a:alphaModFix/>
          </a:blip>
          <a:srcRect b="0" l="0" r="0" t="0"/>
          <a:stretch/>
        </p:blipFill>
        <p:spPr>
          <a:xfrm>
            <a:off x="4621113" y="4807744"/>
            <a:ext cx="100013" cy="100013"/>
          </a:xfrm>
          <a:prstGeom prst="rect">
            <a:avLst/>
          </a:prstGeom>
          <a:noFill/>
          <a:ln>
            <a:noFill/>
          </a:ln>
        </p:spPr>
      </p:pic>
      <p:pic>
        <p:nvPicPr>
          <p:cNvPr descr="preencoded.png" id="422" name="Google Shape;422;p9"/>
          <p:cNvPicPr preferRelativeResize="0"/>
          <p:nvPr/>
        </p:nvPicPr>
        <p:blipFill rotWithShape="1">
          <a:blip r:embed="rId17">
            <a:alphaModFix/>
          </a:blip>
          <a:srcRect b="0" l="0" r="0" t="0"/>
          <a:stretch/>
        </p:blipFill>
        <p:spPr>
          <a:xfrm>
            <a:off x="4756845" y="4807744"/>
            <a:ext cx="100013" cy="100013"/>
          </a:xfrm>
          <a:prstGeom prst="rect">
            <a:avLst/>
          </a:prstGeom>
          <a:noFill/>
          <a:ln>
            <a:noFill/>
          </a:ln>
        </p:spPr>
      </p:pic>
      <p:pic>
        <p:nvPicPr>
          <p:cNvPr descr="preencoded.png" id="423" name="Google Shape;423;p9"/>
          <p:cNvPicPr preferRelativeResize="0"/>
          <p:nvPr/>
        </p:nvPicPr>
        <p:blipFill rotWithShape="1">
          <a:blip r:embed="rId18">
            <a:alphaModFix/>
          </a:blip>
          <a:srcRect b="0" l="0" r="0" t="0"/>
          <a:stretch/>
        </p:blipFill>
        <p:spPr>
          <a:xfrm>
            <a:off x="5142607" y="4786313"/>
            <a:ext cx="89297" cy="142875"/>
          </a:xfrm>
          <a:prstGeom prst="rect">
            <a:avLst/>
          </a:prstGeom>
          <a:noFill/>
          <a:ln>
            <a:noFill/>
          </a:ln>
        </p:spPr>
      </p:pic>
      <p:sp>
        <p:nvSpPr>
          <p:cNvPr id="424" name="Google Shape;424;p9"/>
          <p:cNvSpPr/>
          <p:nvPr/>
        </p:nvSpPr>
        <p:spPr>
          <a:xfrm>
            <a:off x="5517654" y="4780062"/>
            <a:ext cx="316111"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59E0B"/>
              </a:buClr>
              <a:buSzPts val="885"/>
              <a:buFont typeface="Inter"/>
              <a:buNone/>
            </a:pPr>
            <a:r>
              <a:rPr b="1" i="0" lang="en-US" sz="885" u="none" cap="none" strike="noStrike">
                <a:solidFill>
                  <a:srgbClr val="F59E0B"/>
                </a:solidFill>
                <a:latin typeface="Inter"/>
                <a:ea typeface="Inter"/>
                <a:cs typeface="Inter"/>
                <a:sym typeface="Inter"/>
              </a:rPr>
              <a:t>FULL</a:t>
            </a:r>
            <a:endParaRPr b="0" i="0" sz="885" u="none" cap="none" strike="noStrike">
              <a:solidFill>
                <a:schemeClr val="dk1"/>
              </a:solidFill>
              <a:latin typeface="Calibri"/>
              <a:ea typeface="Calibri"/>
              <a:cs typeface="Calibri"/>
              <a:sym typeface="Calibri"/>
            </a:endParaRPr>
          </a:p>
        </p:txBody>
      </p:sp>
      <p:pic>
        <p:nvPicPr>
          <p:cNvPr descr="preencoded.png" id="425" name="Google Shape;425;p9"/>
          <p:cNvPicPr preferRelativeResize="0"/>
          <p:nvPr/>
        </p:nvPicPr>
        <p:blipFill rotWithShape="1">
          <a:blip r:embed="rId19">
            <a:alphaModFix/>
          </a:blip>
          <a:srcRect b="0" l="0" r="0" t="0"/>
          <a:stretch/>
        </p:blipFill>
        <p:spPr>
          <a:xfrm>
            <a:off x="5940921" y="4807744"/>
            <a:ext cx="100013" cy="100013"/>
          </a:xfrm>
          <a:prstGeom prst="rect">
            <a:avLst/>
          </a:prstGeom>
          <a:noFill/>
          <a:ln>
            <a:noFill/>
          </a:ln>
        </p:spPr>
      </p:pic>
      <p:pic>
        <p:nvPicPr>
          <p:cNvPr descr="preencoded.png" id="426" name="Google Shape;426;p9"/>
          <p:cNvPicPr preferRelativeResize="0"/>
          <p:nvPr/>
        </p:nvPicPr>
        <p:blipFill rotWithShape="1">
          <a:blip r:embed="rId19">
            <a:alphaModFix/>
          </a:blip>
          <a:srcRect b="0" l="0" r="0" t="0"/>
          <a:stretch/>
        </p:blipFill>
        <p:spPr>
          <a:xfrm>
            <a:off x="6076652" y="4807744"/>
            <a:ext cx="100013" cy="100013"/>
          </a:xfrm>
          <a:prstGeom prst="rect">
            <a:avLst/>
          </a:prstGeom>
          <a:noFill/>
          <a:ln>
            <a:noFill/>
          </a:ln>
        </p:spPr>
      </p:pic>
      <p:pic>
        <p:nvPicPr>
          <p:cNvPr descr="preencoded.png" id="427" name="Google Shape;427;p9"/>
          <p:cNvPicPr preferRelativeResize="0"/>
          <p:nvPr/>
        </p:nvPicPr>
        <p:blipFill rotWithShape="1">
          <a:blip r:embed="rId19">
            <a:alphaModFix/>
          </a:blip>
          <a:srcRect b="0" l="0" r="0" t="0"/>
          <a:stretch/>
        </p:blipFill>
        <p:spPr>
          <a:xfrm>
            <a:off x="6212384" y="4807744"/>
            <a:ext cx="100013" cy="10001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descr="preencoded.png" id="433" name="Google Shape;433;p1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34" name="Google Shape;434;p10"/>
          <p:cNvSpPr/>
          <p:nvPr/>
        </p:nvSpPr>
        <p:spPr>
          <a:xfrm>
            <a:off x="0" y="0"/>
            <a:ext cx="9144000" cy="894364"/>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0"/>
          <p:cNvSpPr/>
          <p:nvPr/>
        </p:nvSpPr>
        <p:spPr>
          <a:xfrm>
            <a:off x="0" y="880077"/>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0"/>
          <p:cNvSpPr/>
          <p:nvPr/>
        </p:nvSpPr>
        <p:spPr>
          <a:xfrm>
            <a:off x="428625" y="285750"/>
            <a:ext cx="8286750" cy="594327"/>
          </a:xfrm>
          <a:prstGeom prst="rect">
            <a:avLst/>
          </a:prstGeom>
          <a:noFill/>
          <a:ln>
            <a:noFill/>
          </a:ln>
        </p:spPr>
        <p:txBody>
          <a:bodyPr anchorCtr="0" anchor="t" bIns="0" lIns="0" spcFirstLastPara="1" rIns="0" wrap="square" tIns="0">
            <a:noAutofit/>
          </a:bodyPr>
          <a:lstStyle/>
          <a:p>
            <a:pPr indent="0" lvl="0" marL="0" marR="0" rtl="0" algn="l">
              <a:lnSpc>
                <a:spcPct val="143570"/>
              </a:lnSpc>
              <a:spcBef>
                <a:spcPts val="0"/>
              </a:spcBef>
              <a:spcAft>
                <a:spcPts val="0"/>
              </a:spcAft>
              <a:buClr>
                <a:srgbClr val="FFFFFF"/>
              </a:buClr>
              <a:buSzPts val="1602"/>
              <a:buFont typeface="Merriweather"/>
              <a:buNone/>
            </a:pPr>
            <a:r>
              <a:rPr b="1" i="0" lang="en-US" sz="1602" u="none" cap="none" strike="noStrike">
                <a:solidFill>
                  <a:srgbClr val="FFFFFF"/>
                </a:solidFill>
                <a:latin typeface="Merriweather"/>
                <a:ea typeface="Merriweather"/>
                <a:cs typeface="Merriweather"/>
                <a:sym typeface="Merriweather"/>
              </a:rPr>
              <a:t>Developers Get Instant Secrets and Identity Without Ever Managing a Certificate</a:t>
            </a:r>
            <a:endParaRPr b="0" i="0" sz="1602" u="none" cap="none" strike="noStrike">
              <a:solidFill>
                <a:schemeClr val="dk1"/>
              </a:solidFill>
              <a:latin typeface="Calibri"/>
              <a:ea typeface="Calibri"/>
              <a:cs typeface="Calibri"/>
              <a:sym typeface="Calibri"/>
            </a:endParaRPr>
          </a:p>
        </p:txBody>
      </p:sp>
      <p:sp>
        <p:nvSpPr>
          <p:cNvPr id="437" name="Google Shape;437;p10"/>
          <p:cNvSpPr/>
          <p:nvPr/>
        </p:nvSpPr>
        <p:spPr>
          <a:xfrm>
            <a:off x="678656" y="1308702"/>
            <a:ext cx="1071563" cy="428625"/>
          </a:xfrm>
          <a:prstGeom prst="rect">
            <a:avLst/>
          </a:prstGeom>
          <a:solidFill>
            <a:srgbClr val="0D1B2A"/>
          </a:solidFill>
          <a:ln cap="flat" cmpd="sng" w="1827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0"/>
          <p:cNvSpPr/>
          <p:nvPr/>
        </p:nvSpPr>
        <p:spPr>
          <a:xfrm>
            <a:off x="785813" y="1455148"/>
            <a:ext cx="510778" cy="242888"/>
          </a:xfrm>
          <a:prstGeom prst="rect">
            <a:avLst/>
          </a:prstGeom>
          <a:noFill/>
          <a:ln>
            <a:noFill/>
          </a:ln>
        </p:spPr>
        <p:txBody>
          <a:bodyPr anchorCtr="0" anchor="t" bIns="0" lIns="0" spcFirstLastPara="1" rIns="0" wrap="square" tIns="0">
            <a:noAutofit/>
          </a:bodyPr>
          <a:lstStyle/>
          <a:p>
            <a:pPr indent="0" lvl="0" marL="0" marR="0" rtl="0" algn="ctr">
              <a:lnSpc>
                <a:spcPct val="131771"/>
              </a:lnSpc>
              <a:spcBef>
                <a:spcPts val="0"/>
              </a:spcBef>
              <a:spcAft>
                <a:spcPts val="0"/>
              </a:spcAft>
              <a:buClr>
                <a:srgbClr val="FFFFFF"/>
              </a:buClr>
              <a:buSzPts val="683"/>
              <a:buFont typeface="Inter"/>
              <a:buNone/>
            </a:pPr>
            <a:r>
              <a:rPr b="1" i="0" lang="en-US" sz="683" u="none" cap="none" strike="noStrike">
                <a:solidFill>
                  <a:srgbClr val="FFFFFF"/>
                </a:solidFill>
                <a:latin typeface="Inter"/>
                <a:ea typeface="Inter"/>
                <a:cs typeface="Inter"/>
                <a:sym typeface="Inter"/>
              </a:rPr>
              <a:t>Secrets Manager</a:t>
            </a:r>
            <a:endParaRPr b="0" i="0" sz="683" u="none" cap="none" strike="noStrike">
              <a:solidFill>
                <a:schemeClr val="dk1"/>
              </a:solidFill>
              <a:latin typeface="Calibri"/>
              <a:ea typeface="Calibri"/>
              <a:cs typeface="Calibri"/>
              <a:sym typeface="Calibri"/>
            </a:endParaRPr>
          </a:p>
        </p:txBody>
      </p:sp>
      <p:sp>
        <p:nvSpPr>
          <p:cNvPr id="439" name="Google Shape;439;p10"/>
          <p:cNvSpPr/>
          <p:nvPr/>
        </p:nvSpPr>
        <p:spPr>
          <a:xfrm>
            <a:off x="1296591" y="1515870"/>
            <a:ext cx="346472" cy="121444"/>
          </a:xfrm>
          <a:prstGeom prst="rect">
            <a:avLst/>
          </a:prstGeom>
          <a:noFill/>
          <a:ln>
            <a:noFill/>
          </a:ln>
        </p:spPr>
        <p:txBody>
          <a:bodyPr anchorCtr="0" anchor="t" bIns="0" lIns="0" spcFirstLastPara="1" rIns="0" wrap="square" tIns="0">
            <a:noAutofit/>
          </a:bodyPr>
          <a:lstStyle/>
          <a:p>
            <a:pPr indent="0" lvl="0" marL="0" marR="0" rtl="0" algn="ctr">
              <a:lnSpc>
                <a:spcPct val="131771"/>
              </a:lnSpc>
              <a:spcBef>
                <a:spcPts val="0"/>
              </a:spcBef>
              <a:spcAft>
                <a:spcPts val="0"/>
              </a:spcAft>
              <a:buClr>
                <a:srgbClr val="FFFFFF"/>
              </a:buClr>
              <a:buSzPts val="683"/>
              <a:buFont typeface="Inter"/>
              <a:buNone/>
            </a:pPr>
            <a:r>
              <a:rPr b="1" i="0" lang="en-US" sz="683" u="none" cap="none" strike="noStrike">
                <a:solidFill>
                  <a:srgbClr val="FFFFFF"/>
                </a:solidFill>
                <a:latin typeface="Inter"/>
                <a:ea typeface="Inter"/>
                <a:cs typeface="Inter"/>
                <a:sym typeface="Inter"/>
              </a:rPr>
              <a:t>(mTLS)</a:t>
            </a:r>
            <a:endParaRPr b="0" i="0" sz="683" u="none" cap="none" strike="noStrike">
              <a:solidFill>
                <a:schemeClr val="dk1"/>
              </a:solidFill>
              <a:latin typeface="Calibri"/>
              <a:ea typeface="Calibri"/>
              <a:cs typeface="Calibri"/>
              <a:sym typeface="Calibri"/>
            </a:endParaRPr>
          </a:p>
        </p:txBody>
      </p:sp>
      <p:sp>
        <p:nvSpPr>
          <p:cNvPr id="440" name="Google Shape;440;p10"/>
          <p:cNvSpPr/>
          <p:nvPr/>
        </p:nvSpPr>
        <p:spPr>
          <a:xfrm>
            <a:off x="1857375" y="1308702"/>
            <a:ext cx="1071563" cy="428625"/>
          </a:xfrm>
          <a:prstGeom prst="rect">
            <a:avLst/>
          </a:prstGeom>
          <a:solidFill>
            <a:srgbClr val="0D1B2A"/>
          </a:solidFill>
          <a:ln cap="flat" cmpd="sng" w="1827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0"/>
          <p:cNvSpPr/>
          <p:nvPr/>
        </p:nvSpPr>
        <p:spPr>
          <a:xfrm>
            <a:off x="1964531" y="1455148"/>
            <a:ext cx="510778" cy="242888"/>
          </a:xfrm>
          <a:prstGeom prst="rect">
            <a:avLst/>
          </a:prstGeom>
          <a:noFill/>
          <a:ln>
            <a:noFill/>
          </a:ln>
        </p:spPr>
        <p:txBody>
          <a:bodyPr anchorCtr="0" anchor="t" bIns="0" lIns="0" spcFirstLastPara="1" rIns="0" wrap="square" tIns="0">
            <a:noAutofit/>
          </a:bodyPr>
          <a:lstStyle/>
          <a:p>
            <a:pPr indent="0" lvl="0" marL="0" marR="0" rtl="0" algn="ctr">
              <a:lnSpc>
                <a:spcPct val="131771"/>
              </a:lnSpc>
              <a:spcBef>
                <a:spcPts val="0"/>
              </a:spcBef>
              <a:spcAft>
                <a:spcPts val="0"/>
              </a:spcAft>
              <a:buClr>
                <a:srgbClr val="FFFFFF"/>
              </a:buClr>
              <a:buSzPts val="683"/>
              <a:buFont typeface="Inter"/>
              <a:buNone/>
            </a:pPr>
            <a:r>
              <a:rPr b="1" i="0" lang="en-US" sz="683" u="none" cap="none" strike="noStrike">
                <a:solidFill>
                  <a:srgbClr val="FFFFFF"/>
                </a:solidFill>
                <a:latin typeface="Inter"/>
                <a:ea typeface="Inter"/>
                <a:cs typeface="Inter"/>
                <a:sym typeface="Inter"/>
              </a:rPr>
              <a:t>Cert Service</a:t>
            </a:r>
            <a:endParaRPr b="0" i="0" sz="683" u="none" cap="none" strike="noStrike">
              <a:solidFill>
                <a:schemeClr val="dk1"/>
              </a:solidFill>
              <a:latin typeface="Calibri"/>
              <a:ea typeface="Calibri"/>
              <a:cs typeface="Calibri"/>
              <a:sym typeface="Calibri"/>
            </a:endParaRPr>
          </a:p>
        </p:txBody>
      </p:sp>
      <p:sp>
        <p:nvSpPr>
          <p:cNvPr id="442" name="Google Shape;442;p10"/>
          <p:cNvSpPr/>
          <p:nvPr/>
        </p:nvSpPr>
        <p:spPr>
          <a:xfrm>
            <a:off x="2475309" y="1515870"/>
            <a:ext cx="346472" cy="121444"/>
          </a:xfrm>
          <a:prstGeom prst="rect">
            <a:avLst/>
          </a:prstGeom>
          <a:noFill/>
          <a:ln>
            <a:noFill/>
          </a:ln>
        </p:spPr>
        <p:txBody>
          <a:bodyPr anchorCtr="0" anchor="t" bIns="0" lIns="0" spcFirstLastPara="1" rIns="0" wrap="square" tIns="0">
            <a:noAutofit/>
          </a:bodyPr>
          <a:lstStyle/>
          <a:p>
            <a:pPr indent="0" lvl="0" marL="0" marR="0" rtl="0" algn="ctr">
              <a:lnSpc>
                <a:spcPct val="131771"/>
              </a:lnSpc>
              <a:spcBef>
                <a:spcPts val="0"/>
              </a:spcBef>
              <a:spcAft>
                <a:spcPts val="0"/>
              </a:spcAft>
              <a:buClr>
                <a:srgbClr val="FFFFFF"/>
              </a:buClr>
              <a:buSzPts val="683"/>
              <a:buFont typeface="Inter"/>
              <a:buNone/>
            </a:pPr>
            <a:r>
              <a:rPr b="1" i="0" lang="en-US" sz="683" u="none" cap="none" strike="noStrike">
                <a:solidFill>
                  <a:srgbClr val="FFFFFF"/>
                </a:solidFill>
                <a:latin typeface="Inter"/>
                <a:ea typeface="Inter"/>
                <a:cs typeface="Inter"/>
                <a:sym typeface="Inter"/>
              </a:rPr>
              <a:t>(mTLS)</a:t>
            </a:r>
            <a:endParaRPr b="0" i="0" sz="683" u="none" cap="none" strike="noStrike">
              <a:solidFill>
                <a:schemeClr val="dk1"/>
              </a:solidFill>
              <a:latin typeface="Calibri"/>
              <a:ea typeface="Calibri"/>
              <a:cs typeface="Calibri"/>
              <a:sym typeface="Calibri"/>
            </a:endParaRPr>
          </a:p>
        </p:txBody>
      </p:sp>
      <p:sp>
        <p:nvSpPr>
          <p:cNvPr id="443" name="Google Shape;443;p10"/>
          <p:cNvSpPr/>
          <p:nvPr/>
        </p:nvSpPr>
        <p:spPr>
          <a:xfrm>
            <a:off x="3036094" y="1308702"/>
            <a:ext cx="1071563" cy="428625"/>
          </a:xfrm>
          <a:prstGeom prst="rect">
            <a:avLst/>
          </a:prstGeom>
          <a:solidFill>
            <a:srgbClr val="0D1B2A"/>
          </a:solidFill>
          <a:ln cap="flat" cmpd="sng" w="1827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0"/>
          <p:cNvSpPr/>
          <p:nvPr/>
        </p:nvSpPr>
        <p:spPr>
          <a:xfrm>
            <a:off x="3224510" y="1515870"/>
            <a:ext cx="344686" cy="121444"/>
          </a:xfrm>
          <a:prstGeom prst="rect">
            <a:avLst/>
          </a:prstGeom>
          <a:noFill/>
          <a:ln>
            <a:noFill/>
          </a:ln>
        </p:spPr>
        <p:txBody>
          <a:bodyPr anchorCtr="0" anchor="t" bIns="0" lIns="0" spcFirstLastPara="1" rIns="0" wrap="square" tIns="0">
            <a:noAutofit/>
          </a:bodyPr>
          <a:lstStyle/>
          <a:p>
            <a:pPr indent="0" lvl="0" marL="0" marR="0" rtl="0" algn="ctr">
              <a:lnSpc>
                <a:spcPct val="131771"/>
              </a:lnSpc>
              <a:spcBef>
                <a:spcPts val="0"/>
              </a:spcBef>
              <a:spcAft>
                <a:spcPts val="0"/>
              </a:spcAft>
              <a:buClr>
                <a:srgbClr val="FFFFFF"/>
              </a:buClr>
              <a:buSzPts val="683"/>
              <a:buFont typeface="Inter"/>
              <a:buNone/>
            </a:pPr>
            <a:r>
              <a:rPr b="1" i="0" lang="en-US" sz="683" u="none" cap="none" strike="noStrike">
                <a:solidFill>
                  <a:srgbClr val="FFFFFF"/>
                </a:solidFill>
                <a:latin typeface="Inter"/>
                <a:ea typeface="Inter"/>
                <a:cs typeface="Inter"/>
                <a:sym typeface="Inter"/>
              </a:rPr>
              <a:t>Athenz</a:t>
            </a:r>
            <a:endParaRPr b="0" i="0" sz="683" u="none" cap="none" strike="noStrike">
              <a:solidFill>
                <a:schemeClr val="dk1"/>
              </a:solidFill>
              <a:latin typeface="Calibri"/>
              <a:ea typeface="Calibri"/>
              <a:cs typeface="Calibri"/>
              <a:sym typeface="Calibri"/>
            </a:endParaRPr>
          </a:p>
        </p:txBody>
      </p:sp>
      <p:sp>
        <p:nvSpPr>
          <p:cNvPr id="445" name="Google Shape;445;p10"/>
          <p:cNvSpPr/>
          <p:nvPr/>
        </p:nvSpPr>
        <p:spPr>
          <a:xfrm>
            <a:off x="3569196" y="1515870"/>
            <a:ext cx="350044" cy="121444"/>
          </a:xfrm>
          <a:prstGeom prst="rect">
            <a:avLst/>
          </a:prstGeom>
          <a:noFill/>
          <a:ln>
            <a:noFill/>
          </a:ln>
        </p:spPr>
        <p:txBody>
          <a:bodyPr anchorCtr="0" anchor="t" bIns="0" lIns="0" spcFirstLastPara="1" rIns="0" wrap="square" tIns="0">
            <a:noAutofit/>
          </a:bodyPr>
          <a:lstStyle/>
          <a:p>
            <a:pPr indent="0" lvl="0" marL="0" marR="0" rtl="0" algn="ctr">
              <a:lnSpc>
                <a:spcPct val="131771"/>
              </a:lnSpc>
              <a:spcBef>
                <a:spcPts val="0"/>
              </a:spcBef>
              <a:spcAft>
                <a:spcPts val="0"/>
              </a:spcAft>
              <a:buClr>
                <a:srgbClr val="FFFFFF"/>
              </a:buClr>
              <a:buSzPts val="683"/>
              <a:buFont typeface="Inter"/>
              <a:buNone/>
            </a:pPr>
            <a:r>
              <a:rPr b="1" i="0" lang="en-US" sz="683" u="none" cap="none" strike="noStrike">
                <a:solidFill>
                  <a:srgbClr val="FFFFFF"/>
                </a:solidFill>
                <a:latin typeface="Inter"/>
                <a:ea typeface="Inter"/>
                <a:cs typeface="Inter"/>
                <a:sym typeface="Inter"/>
              </a:rPr>
              <a:t>(RBAC)</a:t>
            </a:r>
            <a:endParaRPr b="0" i="0" sz="683" u="none" cap="none" strike="noStrike">
              <a:solidFill>
                <a:schemeClr val="dk1"/>
              </a:solidFill>
              <a:latin typeface="Calibri"/>
              <a:ea typeface="Calibri"/>
              <a:cs typeface="Calibri"/>
              <a:sym typeface="Calibri"/>
            </a:endParaRPr>
          </a:p>
        </p:txBody>
      </p:sp>
      <p:sp>
        <p:nvSpPr>
          <p:cNvPr id="446" name="Google Shape;446;p10"/>
          <p:cNvSpPr/>
          <p:nvPr/>
        </p:nvSpPr>
        <p:spPr>
          <a:xfrm>
            <a:off x="1243013" y="1737327"/>
            <a:ext cx="14288" cy="214313"/>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0"/>
          <p:cNvSpPr/>
          <p:nvPr/>
        </p:nvSpPr>
        <p:spPr>
          <a:xfrm>
            <a:off x="2386013" y="1737327"/>
            <a:ext cx="14288" cy="214313"/>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0"/>
          <p:cNvSpPr/>
          <p:nvPr/>
        </p:nvSpPr>
        <p:spPr>
          <a:xfrm>
            <a:off x="3529013" y="1737327"/>
            <a:ext cx="14288" cy="214313"/>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0"/>
          <p:cNvSpPr/>
          <p:nvPr/>
        </p:nvSpPr>
        <p:spPr>
          <a:xfrm>
            <a:off x="678656" y="1951639"/>
            <a:ext cx="3429000" cy="428625"/>
          </a:xfrm>
          <a:prstGeom prst="rect">
            <a:avLst/>
          </a:prstGeom>
          <a:solidFill>
            <a:srgbClr val="0D1B2A"/>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0"/>
          <p:cNvSpPr/>
          <p:nvPr/>
        </p:nvSpPr>
        <p:spPr>
          <a:xfrm>
            <a:off x="678656" y="1951639"/>
            <a:ext cx="3429000" cy="428625"/>
          </a:xfrm>
          <a:prstGeom prst="rect">
            <a:avLst/>
          </a:prstGeom>
          <a:noFill/>
          <a:ln>
            <a:noFill/>
          </a:ln>
        </p:spPr>
        <p:txBody>
          <a:bodyPr anchorCtr="0" anchor="ctr" bIns="0" lIns="127500" spcFirstLastPara="1" rIns="127500" wrap="square" tIns="127500">
            <a:noAutofit/>
          </a:bodyPr>
          <a:lstStyle/>
          <a:p>
            <a:pPr indent="0" lvl="0" marL="0" marR="0" rtl="0" algn="ctr">
              <a:lnSpc>
                <a:spcPct val="141843"/>
              </a:lnSpc>
              <a:spcBef>
                <a:spcPts val="0"/>
              </a:spcBef>
              <a:spcAft>
                <a:spcPts val="0"/>
              </a:spcAft>
              <a:buClr>
                <a:srgbClr val="FFFFFF"/>
              </a:buClr>
              <a:buSzPts val="987"/>
              <a:buFont typeface="Inter"/>
              <a:buNone/>
            </a:pPr>
            <a:r>
              <a:rPr b="1" i="0" lang="en-US" sz="987" u="none" cap="none" strike="noStrike">
                <a:solidFill>
                  <a:srgbClr val="FFFFFF"/>
                </a:solidFill>
                <a:latin typeface="Inter"/>
                <a:ea typeface="Inter"/>
                <a:cs typeface="Inter"/>
                <a:sym typeface="Inter"/>
              </a:rPr>
              <a:t>Supervisor</a:t>
            </a:r>
            <a:endParaRPr b="0" i="0" sz="987" u="none" cap="none" strike="noStrike">
              <a:solidFill>
                <a:schemeClr val="dk1"/>
              </a:solidFill>
              <a:latin typeface="Calibri"/>
              <a:ea typeface="Calibri"/>
              <a:cs typeface="Calibri"/>
              <a:sym typeface="Calibri"/>
            </a:endParaRPr>
          </a:p>
        </p:txBody>
      </p:sp>
      <p:sp>
        <p:nvSpPr>
          <p:cNvPr id="451" name="Google Shape;451;p10"/>
          <p:cNvSpPr/>
          <p:nvPr/>
        </p:nvSpPr>
        <p:spPr>
          <a:xfrm>
            <a:off x="2386013" y="2380264"/>
            <a:ext cx="14288" cy="214313"/>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0"/>
          <p:cNvSpPr/>
          <p:nvPr/>
        </p:nvSpPr>
        <p:spPr>
          <a:xfrm>
            <a:off x="1143000" y="2594577"/>
            <a:ext cx="2500313" cy="428625"/>
          </a:xfrm>
          <a:prstGeom prst="rect">
            <a:avLst/>
          </a:prstGeom>
          <a:solidFill>
            <a:srgbClr val="0D1B2A"/>
          </a:solidFill>
          <a:ln cap="flat" cmpd="sng" w="1827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0"/>
          <p:cNvSpPr/>
          <p:nvPr/>
        </p:nvSpPr>
        <p:spPr>
          <a:xfrm>
            <a:off x="1143000" y="2594577"/>
            <a:ext cx="2500313" cy="428625"/>
          </a:xfrm>
          <a:prstGeom prst="rect">
            <a:avLst/>
          </a:prstGeom>
          <a:noFill/>
          <a:ln>
            <a:noFill/>
          </a:ln>
        </p:spPr>
        <p:txBody>
          <a:bodyPr anchorCtr="0" anchor="ctr" bIns="0" lIns="127500" spcFirstLastPara="1" rIns="127500" wrap="square" tIns="127500">
            <a:noAutofit/>
          </a:bodyPr>
          <a:lstStyle/>
          <a:p>
            <a:pPr indent="0" lvl="0" marL="0" marR="0" rtl="0" algn="ctr">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Workload API (localhost:8888)</a:t>
            </a:r>
            <a:endParaRPr b="0" i="0" sz="784" u="none" cap="none" strike="noStrike">
              <a:solidFill>
                <a:schemeClr val="dk1"/>
              </a:solidFill>
              <a:latin typeface="Calibri"/>
              <a:ea typeface="Calibri"/>
              <a:cs typeface="Calibri"/>
              <a:sym typeface="Calibri"/>
            </a:endParaRPr>
          </a:p>
        </p:txBody>
      </p:sp>
      <p:sp>
        <p:nvSpPr>
          <p:cNvPr id="454" name="Google Shape;454;p10"/>
          <p:cNvSpPr/>
          <p:nvPr/>
        </p:nvSpPr>
        <p:spPr>
          <a:xfrm>
            <a:off x="2386013" y="3023202"/>
            <a:ext cx="14288" cy="214313"/>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0"/>
          <p:cNvSpPr/>
          <p:nvPr/>
        </p:nvSpPr>
        <p:spPr>
          <a:xfrm>
            <a:off x="1500188" y="3237514"/>
            <a:ext cx="1785938" cy="428625"/>
          </a:xfrm>
          <a:prstGeom prst="rect">
            <a:avLst/>
          </a:prstGeom>
          <a:solidFill>
            <a:srgbClr val="FFFFFF">
              <a:alpha val="5098"/>
            </a:srgbClr>
          </a:solidFill>
          <a:ln cap="flat" cmpd="sng" w="182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0"/>
          <p:cNvSpPr/>
          <p:nvPr/>
        </p:nvSpPr>
        <p:spPr>
          <a:xfrm>
            <a:off x="1500188" y="3237514"/>
            <a:ext cx="1785938" cy="428625"/>
          </a:xfrm>
          <a:prstGeom prst="rect">
            <a:avLst/>
          </a:prstGeom>
          <a:noFill/>
          <a:ln>
            <a:noFill/>
          </a:ln>
        </p:spPr>
        <p:txBody>
          <a:bodyPr anchorCtr="0" anchor="ctr" bIns="0" lIns="127500" spcFirstLastPara="1" rIns="127500" wrap="square" tIns="127500">
            <a:noAutofit/>
          </a:bodyPr>
          <a:lstStyle/>
          <a:p>
            <a:pPr indent="0" lvl="0" marL="0" marR="0" rtl="0" algn="ctr">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Application (using SDK)</a:t>
            </a:r>
            <a:endParaRPr b="0" i="0" sz="784" u="none" cap="none" strike="noStrike">
              <a:solidFill>
                <a:schemeClr val="dk1"/>
              </a:solidFill>
              <a:latin typeface="Calibri"/>
              <a:ea typeface="Calibri"/>
              <a:cs typeface="Calibri"/>
              <a:sym typeface="Calibri"/>
            </a:endParaRPr>
          </a:p>
        </p:txBody>
      </p:sp>
      <p:sp>
        <p:nvSpPr>
          <p:cNvPr id="457" name="Google Shape;457;p10"/>
          <p:cNvSpPr/>
          <p:nvPr/>
        </p:nvSpPr>
        <p:spPr>
          <a:xfrm>
            <a:off x="2973586" y="1737327"/>
            <a:ext cx="1526977" cy="171450"/>
          </a:xfrm>
          <a:prstGeom prst="rect">
            <a:avLst/>
          </a:prstGeom>
          <a:solidFill>
            <a:srgbClr val="000000">
              <a:alpha val="5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0"/>
          <p:cNvSpPr/>
          <p:nvPr/>
        </p:nvSpPr>
        <p:spPr>
          <a:xfrm>
            <a:off x="3059311" y="1773045"/>
            <a:ext cx="1287661"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F59E0B"/>
              </a:buClr>
              <a:buSzPts val="683"/>
              <a:buFont typeface="Inter"/>
              <a:buNone/>
            </a:pPr>
            <a:r>
              <a:rPr b="1" i="0" lang="en-US" sz="683" u="none" cap="none" strike="noStrike">
                <a:solidFill>
                  <a:srgbClr val="F59E0B"/>
                </a:solidFill>
                <a:latin typeface="Inter"/>
                <a:ea typeface="Inter"/>
                <a:cs typeface="Inter"/>
                <a:sym typeface="Inter"/>
              </a:rPr>
              <a:t>OPAMP HANDLES THIS</a:t>
            </a:r>
            <a:endParaRPr b="0" i="0" sz="683" u="none" cap="none" strike="noStrike">
              <a:solidFill>
                <a:schemeClr val="dk1"/>
              </a:solidFill>
              <a:latin typeface="Calibri"/>
              <a:ea typeface="Calibri"/>
              <a:cs typeface="Calibri"/>
              <a:sym typeface="Calibri"/>
            </a:endParaRPr>
          </a:p>
        </p:txBody>
      </p:sp>
      <p:pic>
        <p:nvPicPr>
          <p:cNvPr descr="preencoded.png" id="459" name="Google Shape;459;p10"/>
          <p:cNvPicPr preferRelativeResize="0"/>
          <p:nvPr/>
        </p:nvPicPr>
        <p:blipFill rotWithShape="1">
          <a:blip r:embed="rId4">
            <a:alphaModFix/>
          </a:blip>
          <a:srcRect b="0" l="0" r="0" t="0"/>
          <a:stretch/>
        </p:blipFill>
        <p:spPr>
          <a:xfrm>
            <a:off x="4346972" y="1781975"/>
            <a:ext cx="82153" cy="100013"/>
          </a:xfrm>
          <a:prstGeom prst="rect">
            <a:avLst/>
          </a:prstGeom>
          <a:noFill/>
          <a:ln>
            <a:noFill/>
          </a:ln>
        </p:spPr>
      </p:pic>
      <p:sp>
        <p:nvSpPr>
          <p:cNvPr id="460" name="Google Shape;460;p10"/>
          <p:cNvSpPr/>
          <p:nvPr/>
        </p:nvSpPr>
        <p:spPr>
          <a:xfrm>
            <a:off x="428625" y="3971925"/>
            <a:ext cx="1541264" cy="171450"/>
          </a:xfrm>
          <a:prstGeom prst="rect">
            <a:avLst/>
          </a:prstGeom>
          <a:solidFill>
            <a:srgbClr val="000000">
              <a:alpha val="50196"/>
            </a:srgbClr>
          </a:solidFill>
          <a:ln cap="flat" cmpd="sng" w="952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0"/>
          <p:cNvSpPr/>
          <p:nvPr/>
        </p:nvSpPr>
        <p:spPr>
          <a:xfrm>
            <a:off x="500063" y="4021931"/>
            <a:ext cx="1289447"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00E676"/>
              </a:buClr>
              <a:buSzPts val="683"/>
              <a:buFont typeface="Inter"/>
              <a:buNone/>
            </a:pPr>
            <a:r>
              <a:rPr b="1" i="0" lang="en-US" sz="683" u="none" cap="none" strike="noStrike">
                <a:solidFill>
                  <a:srgbClr val="00E676"/>
                </a:solidFill>
                <a:latin typeface="Inter"/>
                <a:ea typeface="Inter"/>
                <a:cs typeface="Inter"/>
                <a:sym typeface="Inter"/>
              </a:rPr>
              <a:t>DEVELOPER SEES THIS</a:t>
            </a:r>
            <a:endParaRPr b="0" i="0" sz="683" u="none" cap="none" strike="noStrike">
              <a:solidFill>
                <a:schemeClr val="dk1"/>
              </a:solidFill>
              <a:latin typeface="Calibri"/>
              <a:ea typeface="Calibri"/>
              <a:cs typeface="Calibri"/>
              <a:sym typeface="Calibri"/>
            </a:endParaRPr>
          </a:p>
        </p:txBody>
      </p:sp>
      <p:pic>
        <p:nvPicPr>
          <p:cNvPr descr="preencoded.png" id="462" name="Google Shape;462;p10"/>
          <p:cNvPicPr preferRelativeResize="0"/>
          <p:nvPr/>
        </p:nvPicPr>
        <p:blipFill rotWithShape="1">
          <a:blip r:embed="rId5">
            <a:alphaModFix/>
          </a:blip>
          <a:srcRect b="0" l="0" r="0" t="0"/>
          <a:stretch/>
        </p:blipFill>
        <p:spPr>
          <a:xfrm>
            <a:off x="1789509" y="4030861"/>
            <a:ext cx="94655" cy="100013"/>
          </a:xfrm>
          <a:prstGeom prst="rect">
            <a:avLst/>
          </a:prstGeom>
          <a:noFill/>
          <a:ln>
            <a:noFill/>
          </a:ln>
        </p:spPr>
      </p:pic>
      <p:sp>
        <p:nvSpPr>
          <p:cNvPr id="463" name="Google Shape;463;p10"/>
          <p:cNvSpPr/>
          <p:nvPr/>
        </p:nvSpPr>
        <p:spPr>
          <a:xfrm>
            <a:off x="4786313" y="1165827"/>
            <a:ext cx="3929063" cy="2292976"/>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0"/>
          <p:cNvSpPr/>
          <p:nvPr/>
        </p:nvSpPr>
        <p:spPr>
          <a:xfrm>
            <a:off x="4786313" y="1165827"/>
            <a:ext cx="3929063"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0"/>
          <p:cNvSpPr/>
          <p:nvPr/>
        </p:nvSpPr>
        <p:spPr>
          <a:xfrm>
            <a:off x="8708231" y="1165827"/>
            <a:ext cx="7144" cy="229297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0"/>
          <p:cNvSpPr/>
          <p:nvPr/>
        </p:nvSpPr>
        <p:spPr>
          <a:xfrm>
            <a:off x="4786313" y="3451659"/>
            <a:ext cx="3929063"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0"/>
          <p:cNvSpPr/>
          <p:nvPr/>
        </p:nvSpPr>
        <p:spPr>
          <a:xfrm>
            <a:off x="4786313" y="1165827"/>
            <a:ext cx="7144" cy="229297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0"/>
          <p:cNvSpPr/>
          <p:nvPr/>
        </p:nvSpPr>
        <p:spPr>
          <a:xfrm>
            <a:off x="4786313" y="1165827"/>
            <a:ext cx="3929063" cy="285750"/>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0"/>
          <p:cNvSpPr/>
          <p:nvPr/>
        </p:nvSpPr>
        <p:spPr>
          <a:xfrm>
            <a:off x="4786313" y="1444433"/>
            <a:ext cx="3929063"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0"/>
          <p:cNvSpPr/>
          <p:nvPr/>
        </p:nvSpPr>
        <p:spPr>
          <a:xfrm>
            <a:off x="4786313" y="1165827"/>
            <a:ext cx="3929063" cy="285750"/>
          </a:xfrm>
          <a:prstGeom prst="rect">
            <a:avLst/>
          </a:prstGeom>
          <a:noFill/>
          <a:ln>
            <a:noFill/>
          </a:ln>
        </p:spPr>
        <p:txBody>
          <a:bodyPr anchorCtr="0" anchor="t" bIns="0" lIns="127500" spcFirstLastPara="1" rIns="0" wrap="square" tIns="85075">
            <a:noAutofit/>
          </a:bodyPr>
          <a:lstStyle/>
          <a:p>
            <a:pPr indent="0" lvl="0" marL="0" marR="0" rtl="0" algn="l">
              <a:lnSpc>
                <a:spcPct val="123796"/>
              </a:lnSpc>
              <a:spcBef>
                <a:spcPts val="0"/>
              </a:spcBef>
              <a:spcAft>
                <a:spcPts val="0"/>
              </a:spcAft>
              <a:buClr>
                <a:srgbClr val="9CA3AF"/>
              </a:buClr>
              <a:buSzPts val="727"/>
              <a:buFont typeface="Arial"/>
              <a:buNone/>
            </a:pPr>
            <a:r>
              <a:rPr b="0" i="0" lang="en-US" sz="727" u="none" cap="none" strike="noStrike">
                <a:solidFill>
                  <a:srgbClr val="9CA3AF"/>
                </a:solidFill>
                <a:latin typeface="Arial"/>
                <a:ea typeface="Arial"/>
                <a:cs typeface="Arial"/>
                <a:sym typeface="Arial"/>
              </a:rPr>
              <a:t>main.go</a:t>
            </a:r>
            <a:endParaRPr b="0" i="0" sz="727" u="none" cap="none" strike="noStrike">
              <a:solidFill>
                <a:schemeClr val="dk1"/>
              </a:solidFill>
              <a:latin typeface="Calibri"/>
              <a:ea typeface="Calibri"/>
              <a:cs typeface="Calibri"/>
              <a:sym typeface="Calibri"/>
            </a:endParaRPr>
          </a:p>
        </p:txBody>
      </p:sp>
      <p:sp>
        <p:nvSpPr>
          <p:cNvPr id="471" name="Google Shape;471;p10"/>
          <p:cNvSpPr/>
          <p:nvPr/>
        </p:nvSpPr>
        <p:spPr>
          <a:xfrm>
            <a:off x="4786313" y="1451577"/>
            <a:ext cx="3929063" cy="1971508"/>
          </a:xfrm>
          <a:prstGeom prst="rect">
            <a:avLst/>
          </a:prstGeom>
          <a:noFill/>
          <a:ln>
            <a:noFill/>
          </a:ln>
        </p:spPr>
        <p:txBody>
          <a:bodyPr anchorCtr="0" anchor="t" bIns="0" lIns="170050" spcFirstLastPara="1" rIns="170050" wrap="square" tIns="170050">
            <a:noAutofit/>
          </a:bodyPr>
          <a:lstStyle/>
          <a:p>
            <a:pPr indent="0" lvl="0" marL="0" marR="0" rtl="0" algn="l">
              <a:lnSpc>
                <a:spcPct val="167865"/>
              </a:lnSpc>
              <a:spcBef>
                <a:spcPts val="0"/>
              </a:spcBef>
              <a:spcAft>
                <a:spcPts val="0"/>
              </a:spcAft>
              <a:buClr>
                <a:srgbClr val="6B7280"/>
              </a:buClr>
              <a:buSzPts val="834"/>
              <a:buFont typeface="Courier New"/>
              <a:buNone/>
            </a:pPr>
            <a:r>
              <a:rPr b="0" i="1" lang="en-US" sz="834" u="none" cap="none" strike="noStrike">
                <a:solidFill>
                  <a:srgbClr val="6B7280"/>
                </a:solidFill>
                <a:latin typeface="Courier New"/>
                <a:ea typeface="Courier New"/>
                <a:cs typeface="Courier New"/>
                <a:sym typeface="Courier New"/>
              </a:rPr>
              <a:t>// That is it. Three lines.</a:t>
            </a:r>
            <a:br>
              <a:rPr b="0" i="0" lang="en-US" sz="834" u="none" cap="none" strike="noStrike">
                <a:solidFill>
                  <a:srgbClr val="E0E0E0"/>
                </a:solidFill>
                <a:latin typeface="Courier New"/>
                <a:ea typeface="Courier New"/>
                <a:cs typeface="Courier New"/>
                <a:sym typeface="Courier New"/>
              </a:rPr>
            </a:br>
            <a:r>
              <a:rPr b="0" i="0" lang="en-US" sz="834" u="none" cap="none" strike="noStrike">
                <a:solidFill>
                  <a:srgbClr val="E0E0E0"/>
                </a:solidFill>
                <a:latin typeface="Courier New"/>
                <a:ea typeface="Courier New"/>
                <a:cs typeface="Courier New"/>
                <a:sym typeface="Courier New"/>
              </a:rPr>
              <a:t>client, _ := secrets.</a:t>
            </a:r>
            <a:r>
              <a:rPr b="0" i="0" lang="en-US" sz="834" u="none" cap="none" strike="noStrike">
                <a:solidFill>
                  <a:srgbClr val="00E5FF"/>
                </a:solidFill>
                <a:latin typeface="Courier New"/>
                <a:ea typeface="Courier New"/>
                <a:cs typeface="Courier New"/>
                <a:sym typeface="Courier New"/>
              </a:rPr>
              <a:t>NewClient</a:t>
            </a:r>
            <a:r>
              <a:rPr b="0" i="0" lang="en-US" sz="834" u="none" cap="none" strike="noStrike">
                <a:solidFill>
                  <a:srgbClr val="E0E0E0"/>
                </a:solidFill>
                <a:latin typeface="Courier New"/>
                <a:ea typeface="Courier New"/>
                <a:cs typeface="Courier New"/>
                <a:sym typeface="Courier New"/>
              </a:rPr>
              <a:t>()</a:t>
            </a:r>
            <a:br>
              <a:rPr b="0" i="0" lang="en-US" sz="834" u="none" cap="none" strike="noStrike">
                <a:solidFill>
                  <a:srgbClr val="E0E0E0"/>
                </a:solidFill>
                <a:latin typeface="Courier New"/>
                <a:ea typeface="Courier New"/>
                <a:cs typeface="Courier New"/>
                <a:sym typeface="Courier New"/>
              </a:rPr>
            </a:br>
            <a:r>
              <a:rPr b="0" i="0" lang="en-US" sz="834" u="none" cap="none" strike="noStrike">
                <a:solidFill>
                  <a:srgbClr val="E0E0E0"/>
                </a:solidFill>
                <a:latin typeface="Courier New"/>
                <a:ea typeface="Courier New"/>
                <a:cs typeface="Courier New"/>
                <a:sym typeface="Courier New"/>
              </a:rPr>
              <a:t>secret, _ := client.</a:t>
            </a:r>
            <a:r>
              <a:rPr b="0" i="0" lang="en-US" sz="834" u="none" cap="none" strike="noStrike">
                <a:solidFill>
                  <a:srgbClr val="00E5FF"/>
                </a:solidFill>
                <a:latin typeface="Courier New"/>
                <a:ea typeface="Courier New"/>
                <a:cs typeface="Courier New"/>
                <a:sym typeface="Courier New"/>
              </a:rPr>
              <a:t>Get</a:t>
            </a:r>
            <a:r>
              <a:rPr b="0" i="0" lang="en-US" sz="834" u="none" cap="none" strike="noStrike">
                <a:solidFill>
                  <a:srgbClr val="E0E0E0"/>
                </a:solidFill>
                <a:latin typeface="Courier New"/>
                <a:ea typeface="Courier New"/>
                <a:cs typeface="Courier New"/>
                <a:sym typeface="Courier New"/>
              </a:rPr>
              <a:t>(ctx, </a:t>
            </a:r>
            <a:r>
              <a:rPr b="0" i="0" lang="en-US" sz="834" u="none" cap="none" strike="noStrike">
                <a:solidFill>
                  <a:srgbClr val="00E676"/>
                </a:solidFill>
                <a:latin typeface="Courier New"/>
                <a:ea typeface="Courier New"/>
                <a:cs typeface="Courier New"/>
                <a:sym typeface="Courier New"/>
              </a:rPr>
              <a:t>"database-password"</a:t>
            </a:r>
            <a:r>
              <a:rPr b="0" i="0" lang="en-US" sz="834" u="none" cap="none" strike="noStrike">
                <a:solidFill>
                  <a:srgbClr val="E0E0E0"/>
                </a:solidFill>
                <a:latin typeface="Courier New"/>
                <a:ea typeface="Courier New"/>
                <a:cs typeface="Courier New"/>
                <a:sym typeface="Courier New"/>
              </a:rPr>
              <a:t>)</a:t>
            </a:r>
            <a:br>
              <a:rPr b="0" i="0" lang="en-US" sz="834" u="none" cap="none" strike="noStrike">
                <a:solidFill>
                  <a:srgbClr val="E0E0E0"/>
                </a:solidFill>
                <a:latin typeface="Courier New"/>
                <a:ea typeface="Courier New"/>
                <a:cs typeface="Courier New"/>
                <a:sym typeface="Courier New"/>
              </a:rPr>
            </a:br>
            <a:r>
              <a:rPr b="0" i="0" lang="en-US" sz="834" u="none" cap="none" strike="noStrike">
                <a:solidFill>
                  <a:srgbClr val="E0E0E0"/>
                </a:solidFill>
                <a:latin typeface="Courier New"/>
                <a:ea typeface="Courier New"/>
                <a:cs typeface="Courier New"/>
                <a:sym typeface="Courier New"/>
              </a:rPr>
              <a:t>fmt.</a:t>
            </a:r>
            <a:r>
              <a:rPr b="0" i="0" lang="en-US" sz="834" u="none" cap="none" strike="noStrike">
                <a:solidFill>
                  <a:srgbClr val="00E5FF"/>
                </a:solidFill>
                <a:latin typeface="Courier New"/>
                <a:ea typeface="Courier New"/>
                <a:cs typeface="Courier New"/>
                <a:sym typeface="Courier New"/>
              </a:rPr>
              <a:t>Println</a:t>
            </a:r>
            <a:r>
              <a:rPr b="0" i="0" lang="en-US" sz="834" u="none" cap="none" strike="noStrike">
                <a:solidFill>
                  <a:srgbClr val="E0E0E0"/>
                </a:solidFill>
                <a:latin typeface="Courier New"/>
                <a:ea typeface="Courier New"/>
                <a:cs typeface="Courier New"/>
                <a:sym typeface="Courier New"/>
              </a:rPr>
              <a:t>(secret.Value)</a:t>
            </a:r>
            <a:br>
              <a:rPr b="0" i="0" lang="en-US" sz="834" u="none" cap="none" strike="noStrike">
                <a:solidFill>
                  <a:srgbClr val="E0E0E0"/>
                </a:solidFill>
                <a:latin typeface="Courier New"/>
                <a:ea typeface="Courier New"/>
                <a:cs typeface="Courier New"/>
                <a:sym typeface="Courier New"/>
              </a:rPr>
            </a:br>
            <a:br>
              <a:rPr b="0" i="0" lang="en-US" sz="834" u="none" cap="none" strike="noStrike">
                <a:solidFill>
                  <a:srgbClr val="E0E0E0"/>
                </a:solidFill>
                <a:latin typeface="Courier New"/>
                <a:ea typeface="Courier New"/>
                <a:cs typeface="Courier New"/>
                <a:sym typeface="Courier New"/>
              </a:rPr>
            </a:br>
            <a:r>
              <a:rPr b="0" i="1" lang="en-US" sz="834" u="none" cap="none" strike="noStrike">
                <a:solidFill>
                  <a:srgbClr val="6B7280"/>
                </a:solidFill>
                <a:latin typeface="Courier New"/>
                <a:ea typeface="Courier New"/>
                <a:cs typeface="Courier New"/>
                <a:sym typeface="Courier New"/>
              </a:rPr>
              <a:t>// Watch for real-time rotation</a:t>
            </a:r>
            <a:br>
              <a:rPr b="0" i="0" lang="en-US" sz="834" u="none" cap="none" strike="noStrike">
                <a:solidFill>
                  <a:srgbClr val="E0E0E0"/>
                </a:solidFill>
                <a:latin typeface="Courier New"/>
                <a:ea typeface="Courier New"/>
                <a:cs typeface="Courier New"/>
                <a:sym typeface="Courier New"/>
              </a:rPr>
            </a:br>
            <a:r>
              <a:rPr b="0" i="0" lang="en-US" sz="834" u="none" cap="none" strike="noStrike">
                <a:solidFill>
                  <a:srgbClr val="E0E0E0"/>
                </a:solidFill>
                <a:latin typeface="Courier New"/>
                <a:ea typeface="Courier New"/>
                <a:cs typeface="Courier New"/>
                <a:sym typeface="Courier New"/>
              </a:rPr>
              <a:t>watcher, _ := client.</a:t>
            </a:r>
            <a:r>
              <a:rPr b="0" i="0" lang="en-US" sz="834" u="none" cap="none" strike="noStrike">
                <a:solidFill>
                  <a:srgbClr val="00E5FF"/>
                </a:solidFill>
                <a:latin typeface="Courier New"/>
                <a:ea typeface="Courier New"/>
                <a:cs typeface="Courier New"/>
                <a:sym typeface="Courier New"/>
              </a:rPr>
              <a:t>Watch</a:t>
            </a:r>
            <a:r>
              <a:rPr b="0" i="0" lang="en-US" sz="834" u="none" cap="none" strike="noStrike">
                <a:solidFill>
                  <a:srgbClr val="E0E0E0"/>
                </a:solidFill>
                <a:latin typeface="Courier New"/>
                <a:ea typeface="Courier New"/>
                <a:cs typeface="Courier New"/>
                <a:sym typeface="Courier New"/>
              </a:rPr>
              <a:t>(ctx, </a:t>
            </a:r>
            <a:r>
              <a:rPr b="0" i="0" lang="en-US" sz="834" u="none" cap="none" strike="noStrike">
                <a:solidFill>
                  <a:srgbClr val="00E676"/>
                </a:solidFill>
                <a:latin typeface="Courier New"/>
                <a:ea typeface="Courier New"/>
                <a:cs typeface="Courier New"/>
                <a:sym typeface="Courier New"/>
              </a:rPr>
              <a:t>"api-key"</a:t>
            </a:r>
            <a:r>
              <a:rPr b="0" i="0" lang="en-US" sz="834" u="none" cap="none" strike="noStrike">
                <a:solidFill>
                  <a:srgbClr val="E0E0E0"/>
                </a:solidFill>
                <a:latin typeface="Courier New"/>
                <a:ea typeface="Courier New"/>
                <a:cs typeface="Courier New"/>
                <a:sym typeface="Courier New"/>
              </a:rPr>
              <a:t>)</a:t>
            </a:r>
            <a:br>
              <a:rPr b="0" i="0" lang="en-US" sz="834" u="none" cap="none" strike="noStrike">
                <a:solidFill>
                  <a:srgbClr val="E0E0E0"/>
                </a:solidFill>
                <a:latin typeface="Courier New"/>
                <a:ea typeface="Courier New"/>
                <a:cs typeface="Courier New"/>
                <a:sym typeface="Courier New"/>
              </a:rPr>
            </a:br>
            <a:r>
              <a:rPr b="1" i="0" lang="en-US" sz="784" u="none" cap="none" strike="noStrike">
                <a:solidFill>
                  <a:srgbClr val="F59E0B"/>
                </a:solidFill>
                <a:latin typeface="Courier New"/>
                <a:ea typeface="Courier New"/>
                <a:cs typeface="Courier New"/>
                <a:sym typeface="Courier New"/>
              </a:rPr>
              <a:t>for</a:t>
            </a:r>
            <a:r>
              <a:rPr b="0" i="0" lang="en-US" sz="834" u="none" cap="none" strike="noStrike">
                <a:solidFill>
                  <a:srgbClr val="E0E0E0"/>
                </a:solidFill>
                <a:latin typeface="Courier New"/>
                <a:ea typeface="Courier New"/>
                <a:cs typeface="Courier New"/>
                <a:sym typeface="Courier New"/>
              </a:rPr>
              <a:t> update := </a:t>
            </a:r>
            <a:r>
              <a:rPr b="1" i="0" lang="en-US" sz="784" u="none" cap="none" strike="noStrike">
                <a:solidFill>
                  <a:srgbClr val="F59E0B"/>
                </a:solidFill>
                <a:latin typeface="Courier New"/>
                <a:ea typeface="Courier New"/>
                <a:cs typeface="Courier New"/>
                <a:sym typeface="Courier New"/>
              </a:rPr>
              <a:t>range</a:t>
            </a:r>
            <a:r>
              <a:rPr b="0" i="0" lang="en-US" sz="834" u="none" cap="none" strike="noStrike">
                <a:solidFill>
                  <a:srgbClr val="E0E0E0"/>
                </a:solidFill>
                <a:latin typeface="Courier New"/>
                <a:ea typeface="Courier New"/>
                <a:cs typeface="Courier New"/>
                <a:sym typeface="Courier New"/>
              </a:rPr>
              <a:t> watcher.</a:t>
            </a:r>
            <a:r>
              <a:rPr b="0" i="0" lang="en-US" sz="834" u="none" cap="none" strike="noStrike">
                <a:solidFill>
                  <a:srgbClr val="00E5FF"/>
                </a:solidFill>
                <a:latin typeface="Courier New"/>
                <a:ea typeface="Courier New"/>
                <a:cs typeface="Courier New"/>
                <a:sym typeface="Courier New"/>
              </a:rPr>
              <a:t>Updates</a:t>
            </a:r>
            <a:r>
              <a:rPr b="0" i="0" lang="en-US" sz="834" u="none" cap="none" strike="noStrike">
                <a:solidFill>
                  <a:srgbClr val="E0E0E0"/>
                </a:solidFill>
                <a:latin typeface="Courier New"/>
                <a:ea typeface="Courier New"/>
                <a:cs typeface="Courier New"/>
                <a:sym typeface="Courier New"/>
              </a:rPr>
              <a:t>() {</a:t>
            </a:r>
            <a:br>
              <a:rPr b="0" i="0" lang="en-US" sz="834" u="none" cap="none" strike="noStrike">
                <a:solidFill>
                  <a:srgbClr val="E0E0E0"/>
                </a:solidFill>
                <a:latin typeface="Courier New"/>
                <a:ea typeface="Courier New"/>
                <a:cs typeface="Courier New"/>
                <a:sym typeface="Courier New"/>
              </a:rPr>
            </a:br>
            <a:r>
              <a:rPr b="0" i="0" lang="en-US" sz="834" u="none" cap="none" strike="noStrike">
                <a:solidFill>
                  <a:srgbClr val="E0E0E0"/>
                </a:solidFill>
                <a:latin typeface="Courier New"/>
                <a:ea typeface="Courier New"/>
                <a:cs typeface="Courier New"/>
                <a:sym typeface="Courier New"/>
              </a:rPr>
              <a:t>    </a:t>
            </a:r>
            <a:r>
              <a:rPr b="0" i="1" lang="en-US" sz="834" u="none" cap="none" strike="noStrike">
                <a:solidFill>
                  <a:srgbClr val="6B7280"/>
                </a:solidFill>
                <a:latin typeface="Courier New"/>
                <a:ea typeface="Courier New"/>
                <a:cs typeface="Courier New"/>
                <a:sym typeface="Courier New"/>
              </a:rPr>
              <a:t>// Hot-reload without restart</a:t>
            </a:r>
            <a:br>
              <a:rPr b="0" i="0" lang="en-US" sz="834" u="none" cap="none" strike="noStrike">
                <a:solidFill>
                  <a:srgbClr val="E0E0E0"/>
                </a:solidFill>
                <a:latin typeface="Courier New"/>
                <a:ea typeface="Courier New"/>
                <a:cs typeface="Courier New"/>
                <a:sym typeface="Courier New"/>
              </a:rPr>
            </a:br>
            <a:r>
              <a:rPr b="0" i="0" lang="en-US" sz="834" u="none" cap="none" strike="noStrike">
                <a:solidFill>
                  <a:srgbClr val="E0E0E0"/>
                </a:solidFill>
                <a:latin typeface="Courier New"/>
                <a:ea typeface="Courier New"/>
                <a:cs typeface="Courier New"/>
                <a:sym typeface="Courier New"/>
              </a:rPr>
              <a:t>}</a:t>
            </a:r>
            <a:endParaRPr b="0" i="0" sz="834" u="none" cap="none" strike="noStrike">
              <a:solidFill>
                <a:schemeClr val="dk1"/>
              </a:solidFill>
              <a:latin typeface="Calibri"/>
              <a:ea typeface="Calibri"/>
              <a:cs typeface="Calibri"/>
              <a:sym typeface="Calibri"/>
            </a:endParaRPr>
          </a:p>
        </p:txBody>
      </p:sp>
      <p:sp>
        <p:nvSpPr>
          <p:cNvPr id="472" name="Google Shape;472;p10"/>
          <p:cNvSpPr/>
          <p:nvPr/>
        </p:nvSpPr>
        <p:spPr>
          <a:xfrm>
            <a:off x="4786313" y="3637397"/>
            <a:ext cx="3929063" cy="714375"/>
          </a:xfrm>
          <a:prstGeom prst="rect">
            <a:avLst/>
          </a:prstGeom>
          <a:solidFill>
            <a:srgbClr val="FFFFFF">
              <a:alpha val="3137"/>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0"/>
          <p:cNvSpPr/>
          <p:nvPr/>
        </p:nvSpPr>
        <p:spPr>
          <a:xfrm>
            <a:off x="5764113" y="3857067"/>
            <a:ext cx="1973461" cy="137517"/>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CONSISTENT SDK AVAILABLE IN</a:t>
            </a:r>
            <a:endParaRPr b="0" i="0" sz="834" u="none" cap="none" strike="noStrike">
              <a:solidFill>
                <a:schemeClr val="dk1"/>
              </a:solidFill>
              <a:latin typeface="Calibri"/>
              <a:ea typeface="Calibri"/>
              <a:cs typeface="Calibri"/>
              <a:sym typeface="Calibri"/>
            </a:endParaRPr>
          </a:p>
        </p:txBody>
      </p:sp>
      <p:sp>
        <p:nvSpPr>
          <p:cNvPr id="474" name="Google Shape;474;p10"/>
          <p:cNvSpPr/>
          <p:nvPr/>
        </p:nvSpPr>
        <p:spPr>
          <a:xfrm>
            <a:off x="5148858" y="4101740"/>
            <a:ext cx="194667"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5FF"/>
              </a:buClr>
              <a:buSzPts val="987"/>
              <a:buFont typeface="Inter"/>
              <a:buNone/>
            </a:pPr>
            <a:r>
              <a:rPr b="1" i="0" lang="en-US" sz="987" u="none" cap="none" strike="noStrike">
                <a:solidFill>
                  <a:srgbClr val="00E5FF"/>
                </a:solidFill>
                <a:latin typeface="Inter"/>
                <a:ea typeface="Inter"/>
                <a:cs typeface="Inter"/>
                <a:sym typeface="Inter"/>
              </a:rPr>
              <a:t>Go</a:t>
            </a:r>
            <a:endParaRPr b="0" i="0" sz="987" u="none" cap="none" strike="noStrike">
              <a:solidFill>
                <a:schemeClr val="dk1"/>
              </a:solidFill>
              <a:latin typeface="Calibri"/>
              <a:ea typeface="Calibri"/>
              <a:cs typeface="Calibri"/>
              <a:sym typeface="Calibri"/>
            </a:endParaRPr>
          </a:p>
        </p:txBody>
      </p:sp>
      <p:sp>
        <p:nvSpPr>
          <p:cNvPr id="475" name="Google Shape;475;p10"/>
          <p:cNvSpPr/>
          <p:nvPr/>
        </p:nvSpPr>
        <p:spPr>
          <a:xfrm>
            <a:off x="5486400" y="4101740"/>
            <a:ext cx="51792"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5FF"/>
              </a:buClr>
              <a:buSzPts val="987"/>
              <a:buFont typeface="Inter"/>
              <a:buNone/>
            </a:pPr>
            <a:r>
              <a:rPr b="1" i="0" lang="en-US" sz="987" u="none" cap="none" strike="noStrike">
                <a:solidFill>
                  <a:srgbClr val="00E5FF"/>
                </a:solidFill>
                <a:latin typeface="Inter"/>
                <a:ea typeface="Inter"/>
                <a:cs typeface="Inter"/>
                <a:sym typeface="Inter"/>
              </a:rPr>
              <a:t>|</a:t>
            </a:r>
            <a:endParaRPr b="0" i="0" sz="987" u="none" cap="none" strike="noStrike">
              <a:solidFill>
                <a:schemeClr val="dk1"/>
              </a:solidFill>
              <a:latin typeface="Calibri"/>
              <a:ea typeface="Calibri"/>
              <a:cs typeface="Calibri"/>
              <a:sym typeface="Calibri"/>
            </a:endParaRPr>
          </a:p>
        </p:txBody>
      </p:sp>
      <p:sp>
        <p:nvSpPr>
          <p:cNvPr id="476" name="Google Shape;476;p10"/>
          <p:cNvSpPr/>
          <p:nvPr/>
        </p:nvSpPr>
        <p:spPr>
          <a:xfrm>
            <a:off x="5681067" y="4101740"/>
            <a:ext cx="491133"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5FF"/>
              </a:buClr>
              <a:buSzPts val="987"/>
              <a:buFont typeface="Inter"/>
              <a:buNone/>
            </a:pPr>
            <a:r>
              <a:rPr b="1" i="0" lang="en-US" sz="987" u="none" cap="none" strike="noStrike">
                <a:solidFill>
                  <a:srgbClr val="00E5FF"/>
                </a:solidFill>
                <a:latin typeface="Inter"/>
                <a:ea typeface="Inter"/>
                <a:cs typeface="Inter"/>
                <a:sym typeface="Inter"/>
              </a:rPr>
              <a:t>Python</a:t>
            </a:r>
            <a:endParaRPr b="0" i="0" sz="987" u="none" cap="none" strike="noStrike">
              <a:solidFill>
                <a:schemeClr val="dk1"/>
              </a:solidFill>
              <a:latin typeface="Calibri"/>
              <a:ea typeface="Calibri"/>
              <a:cs typeface="Calibri"/>
              <a:sym typeface="Calibri"/>
            </a:endParaRPr>
          </a:p>
        </p:txBody>
      </p:sp>
      <p:sp>
        <p:nvSpPr>
          <p:cNvPr id="477" name="Google Shape;477;p10"/>
          <p:cNvSpPr/>
          <p:nvPr/>
        </p:nvSpPr>
        <p:spPr>
          <a:xfrm>
            <a:off x="6315075" y="4101740"/>
            <a:ext cx="51792"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5FF"/>
              </a:buClr>
              <a:buSzPts val="987"/>
              <a:buFont typeface="Inter"/>
              <a:buNone/>
            </a:pPr>
            <a:r>
              <a:rPr b="1" i="0" lang="en-US" sz="987" u="none" cap="none" strike="noStrike">
                <a:solidFill>
                  <a:srgbClr val="00E5FF"/>
                </a:solidFill>
                <a:latin typeface="Inter"/>
                <a:ea typeface="Inter"/>
                <a:cs typeface="Inter"/>
                <a:sym typeface="Inter"/>
              </a:rPr>
              <a:t>|</a:t>
            </a:r>
            <a:endParaRPr b="0" i="0" sz="987" u="none" cap="none" strike="noStrike">
              <a:solidFill>
                <a:schemeClr val="dk1"/>
              </a:solidFill>
              <a:latin typeface="Calibri"/>
              <a:ea typeface="Calibri"/>
              <a:cs typeface="Calibri"/>
              <a:sym typeface="Calibri"/>
            </a:endParaRPr>
          </a:p>
        </p:txBody>
      </p:sp>
      <p:sp>
        <p:nvSpPr>
          <p:cNvPr id="478" name="Google Shape;478;p10"/>
          <p:cNvSpPr/>
          <p:nvPr/>
        </p:nvSpPr>
        <p:spPr>
          <a:xfrm>
            <a:off x="6509742" y="4101740"/>
            <a:ext cx="532209"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5FF"/>
              </a:buClr>
              <a:buSzPts val="987"/>
              <a:buFont typeface="Inter"/>
              <a:buNone/>
            </a:pPr>
            <a:r>
              <a:rPr b="1" i="0" lang="en-US" sz="987" u="none" cap="none" strike="noStrike">
                <a:solidFill>
                  <a:srgbClr val="00E5FF"/>
                </a:solidFill>
                <a:latin typeface="Inter"/>
                <a:ea typeface="Inter"/>
                <a:cs typeface="Inter"/>
                <a:sym typeface="Inter"/>
              </a:rPr>
              <a:t>Node.js</a:t>
            </a:r>
            <a:endParaRPr b="0" i="0" sz="987" u="none" cap="none" strike="noStrike">
              <a:solidFill>
                <a:schemeClr val="dk1"/>
              </a:solidFill>
              <a:latin typeface="Calibri"/>
              <a:ea typeface="Calibri"/>
              <a:cs typeface="Calibri"/>
              <a:sym typeface="Calibri"/>
            </a:endParaRPr>
          </a:p>
        </p:txBody>
      </p:sp>
      <p:sp>
        <p:nvSpPr>
          <p:cNvPr id="479" name="Google Shape;479;p10"/>
          <p:cNvSpPr/>
          <p:nvPr/>
        </p:nvSpPr>
        <p:spPr>
          <a:xfrm>
            <a:off x="7184827" y="4101740"/>
            <a:ext cx="51792"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5FF"/>
              </a:buClr>
              <a:buSzPts val="987"/>
              <a:buFont typeface="Inter"/>
              <a:buNone/>
            </a:pPr>
            <a:r>
              <a:rPr b="1" i="0" lang="en-US" sz="987" u="none" cap="none" strike="noStrike">
                <a:solidFill>
                  <a:srgbClr val="00E5FF"/>
                </a:solidFill>
                <a:latin typeface="Inter"/>
                <a:ea typeface="Inter"/>
                <a:cs typeface="Inter"/>
                <a:sym typeface="Inter"/>
              </a:rPr>
              <a:t>|</a:t>
            </a:r>
            <a:endParaRPr b="0" i="0" sz="987" u="none" cap="none" strike="noStrike">
              <a:solidFill>
                <a:schemeClr val="dk1"/>
              </a:solidFill>
              <a:latin typeface="Calibri"/>
              <a:ea typeface="Calibri"/>
              <a:cs typeface="Calibri"/>
              <a:sym typeface="Calibri"/>
            </a:endParaRPr>
          </a:p>
        </p:txBody>
      </p:sp>
      <p:sp>
        <p:nvSpPr>
          <p:cNvPr id="480" name="Google Shape;480;p10"/>
          <p:cNvSpPr/>
          <p:nvPr/>
        </p:nvSpPr>
        <p:spPr>
          <a:xfrm>
            <a:off x="7379494" y="4101740"/>
            <a:ext cx="308967"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5FF"/>
              </a:buClr>
              <a:buSzPts val="987"/>
              <a:buFont typeface="Inter"/>
              <a:buNone/>
            </a:pPr>
            <a:r>
              <a:rPr b="1" i="0" lang="en-US" sz="987" u="none" cap="none" strike="noStrike">
                <a:solidFill>
                  <a:srgbClr val="00E5FF"/>
                </a:solidFill>
                <a:latin typeface="Inter"/>
                <a:ea typeface="Inter"/>
                <a:cs typeface="Inter"/>
                <a:sym typeface="Inter"/>
              </a:rPr>
              <a:t>Rust</a:t>
            </a:r>
            <a:endParaRPr b="0" i="0" sz="987" u="none" cap="none" strike="noStrike">
              <a:solidFill>
                <a:schemeClr val="dk1"/>
              </a:solidFill>
              <a:latin typeface="Calibri"/>
              <a:ea typeface="Calibri"/>
              <a:cs typeface="Calibri"/>
              <a:sym typeface="Calibri"/>
            </a:endParaRPr>
          </a:p>
        </p:txBody>
      </p:sp>
      <p:sp>
        <p:nvSpPr>
          <p:cNvPr id="481" name="Google Shape;481;p10"/>
          <p:cNvSpPr/>
          <p:nvPr/>
        </p:nvSpPr>
        <p:spPr>
          <a:xfrm>
            <a:off x="7831336" y="4101740"/>
            <a:ext cx="51792"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5FF"/>
              </a:buClr>
              <a:buSzPts val="987"/>
              <a:buFont typeface="Inter"/>
              <a:buNone/>
            </a:pPr>
            <a:r>
              <a:rPr b="1" i="0" lang="en-US" sz="987" u="none" cap="none" strike="noStrike">
                <a:solidFill>
                  <a:srgbClr val="00E5FF"/>
                </a:solidFill>
                <a:latin typeface="Inter"/>
                <a:ea typeface="Inter"/>
                <a:cs typeface="Inter"/>
                <a:sym typeface="Inter"/>
              </a:rPr>
              <a:t>|</a:t>
            </a:r>
            <a:endParaRPr b="0" i="0" sz="987" u="none" cap="none" strike="noStrike">
              <a:solidFill>
                <a:schemeClr val="dk1"/>
              </a:solidFill>
              <a:latin typeface="Calibri"/>
              <a:ea typeface="Calibri"/>
              <a:cs typeface="Calibri"/>
              <a:sym typeface="Calibri"/>
            </a:endParaRPr>
          </a:p>
        </p:txBody>
      </p:sp>
      <p:sp>
        <p:nvSpPr>
          <p:cNvPr id="482" name="Google Shape;482;p10"/>
          <p:cNvSpPr/>
          <p:nvPr/>
        </p:nvSpPr>
        <p:spPr>
          <a:xfrm>
            <a:off x="8026003" y="4101740"/>
            <a:ext cx="326827"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5FF"/>
              </a:buClr>
              <a:buSzPts val="987"/>
              <a:buFont typeface="Inter"/>
              <a:buNone/>
            </a:pPr>
            <a:r>
              <a:rPr b="1" i="0" lang="en-US" sz="987" u="none" cap="none" strike="noStrike">
                <a:solidFill>
                  <a:srgbClr val="00E5FF"/>
                </a:solidFill>
                <a:latin typeface="Inter"/>
                <a:ea typeface="Inter"/>
                <a:cs typeface="Inter"/>
                <a:sym typeface="Inter"/>
              </a:rPr>
              <a:t>Java</a:t>
            </a:r>
            <a:endParaRPr b="0" i="0" sz="987" u="none" cap="none" strike="noStrike">
              <a:solidFill>
                <a:schemeClr val="dk1"/>
              </a:solidFill>
              <a:latin typeface="Calibri"/>
              <a:ea typeface="Calibri"/>
              <a:cs typeface="Calibri"/>
              <a:sym typeface="Calibri"/>
            </a:endParaRPr>
          </a:p>
        </p:txBody>
      </p:sp>
      <p:sp>
        <p:nvSpPr>
          <p:cNvPr id="483" name="Google Shape;483;p10"/>
          <p:cNvSpPr/>
          <p:nvPr/>
        </p:nvSpPr>
        <p:spPr>
          <a:xfrm>
            <a:off x="0" y="4572000"/>
            <a:ext cx="9144000" cy="5715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0"/>
          <p:cNvSpPr/>
          <p:nvPr/>
        </p:nvSpPr>
        <p:spPr>
          <a:xfrm>
            <a:off x="0" y="4572000"/>
            <a:ext cx="91440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0"/>
          <p:cNvSpPr/>
          <p:nvPr/>
        </p:nvSpPr>
        <p:spPr>
          <a:xfrm>
            <a:off x="561677" y="4780062"/>
            <a:ext cx="8020645" cy="155377"/>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19 API endpoints</a:t>
            </a:r>
            <a:r>
              <a:rPr b="1" i="0" lang="en-US" sz="885" u="none" cap="none" strike="noStrike">
                <a:solidFill>
                  <a:srgbClr val="E0E0E0"/>
                </a:solidFill>
                <a:latin typeface="Inter"/>
                <a:ea typeface="Inter"/>
                <a:cs typeface="Inter"/>
                <a:sym typeface="Inter"/>
              </a:rPr>
              <a:t> covering Identity, Secrets, Authorization, and Health — all via localhost, all authenticated by </a:t>
            </a:r>
            <a:r>
              <a:rPr b="1" i="0" lang="en-US" sz="885" u="none" cap="none" strike="noStrike">
                <a:solidFill>
                  <a:srgbClr val="00E5FF"/>
                </a:solidFill>
                <a:latin typeface="Inter"/>
                <a:ea typeface="Inter"/>
                <a:cs typeface="Inter"/>
                <a:sym typeface="Inter"/>
              </a:rPr>
              <a:t>process attestation</a:t>
            </a:r>
            <a:r>
              <a:rPr b="1" i="0" lang="en-US" sz="885" u="none" cap="none" strike="noStrike">
                <a:solidFill>
                  <a:srgbClr val="E0E0E0"/>
                </a:solidFill>
                <a:latin typeface="Inter"/>
                <a:ea typeface="Inter"/>
                <a:cs typeface="Inter"/>
                <a:sym typeface="Inter"/>
              </a:rPr>
              <a:t>.</a:t>
            </a:r>
            <a:endParaRPr b="0" i="0" sz="885"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pic>
        <p:nvPicPr>
          <p:cNvPr descr="preencoded.png" id="491" name="Google Shape;491;p1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92" name="Google Shape;492;p11"/>
          <p:cNvSpPr/>
          <p:nvPr/>
        </p:nvSpPr>
        <p:spPr>
          <a:xfrm>
            <a:off x="0" y="0"/>
            <a:ext cx="9144000" cy="894364"/>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1"/>
          <p:cNvSpPr/>
          <p:nvPr/>
        </p:nvSpPr>
        <p:spPr>
          <a:xfrm>
            <a:off x="0" y="880077"/>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1"/>
          <p:cNvSpPr/>
          <p:nvPr/>
        </p:nvSpPr>
        <p:spPr>
          <a:xfrm>
            <a:off x="428625" y="285750"/>
            <a:ext cx="8286750" cy="594327"/>
          </a:xfrm>
          <a:prstGeom prst="rect">
            <a:avLst/>
          </a:prstGeom>
          <a:noFill/>
          <a:ln>
            <a:noFill/>
          </a:ln>
        </p:spPr>
        <p:txBody>
          <a:bodyPr anchorCtr="0" anchor="t" bIns="0" lIns="0" spcFirstLastPara="1" rIns="0" wrap="square" tIns="0">
            <a:noAutofit/>
          </a:bodyPr>
          <a:lstStyle/>
          <a:p>
            <a:pPr indent="0" lvl="0" marL="0" marR="0" rtl="0" algn="l">
              <a:lnSpc>
                <a:spcPct val="143570"/>
              </a:lnSpc>
              <a:spcBef>
                <a:spcPts val="0"/>
              </a:spcBef>
              <a:spcAft>
                <a:spcPts val="0"/>
              </a:spcAft>
              <a:buClr>
                <a:srgbClr val="FFFFFF"/>
              </a:buClr>
              <a:buSzPts val="1602"/>
              <a:buFont typeface="Merriweather"/>
              <a:buNone/>
            </a:pPr>
            <a:r>
              <a:rPr b="1" i="0" lang="en-US" sz="1602" u="none" cap="none" strike="noStrike">
                <a:solidFill>
                  <a:srgbClr val="FFFFFF"/>
                </a:solidFill>
                <a:latin typeface="Merriweather"/>
                <a:ea typeface="Merriweather"/>
                <a:cs typeface="Merriweather"/>
                <a:sym typeface="Merriweather"/>
              </a:rPr>
              <a:t>Cryptographic Trust Flows from Hardware Attestation Down to 5-Minute Role Tokens</a:t>
            </a:r>
            <a:endParaRPr b="0" i="0" sz="1602" u="none" cap="none" strike="noStrike">
              <a:solidFill>
                <a:schemeClr val="dk1"/>
              </a:solidFill>
              <a:latin typeface="Calibri"/>
              <a:ea typeface="Calibri"/>
              <a:cs typeface="Calibri"/>
              <a:sym typeface="Calibri"/>
            </a:endParaRPr>
          </a:p>
        </p:txBody>
      </p:sp>
      <p:sp>
        <p:nvSpPr>
          <p:cNvPr id="495" name="Google Shape;495;p11"/>
          <p:cNvSpPr/>
          <p:nvPr/>
        </p:nvSpPr>
        <p:spPr>
          <a:xfrm>
            <a:off x="1000125" y="937227"/>
            <a:ext cx="7143750" cy="671513"/>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1"/>
          <p:cNvSpPr/>
          <p:nvPr/>
        </p:nvSpPr>
        <p:spPr>
          <a:xfrm>
            <a:off x="1000125" y="937227"/>
            <a:ext cx="28575" cy="671513"/>
          </a:xfrm>
          <a:prstGeom prst="rect">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7" name="Google Shape;497;p11"/>
          <p:cNvPicPr preferRelativeResize="0"/>
          <p:nvPr/>
        </p:nvPicPr>
        <p:blipFill rotWithShape="1">
          <a:blip r:embed="rId4">
            <a:alphaModFix/>
          </a:blip>
          <a:srcRect b="0" l="0" r="0" t="0"/>
          <a:stretch/>
        </p:blipFill>
        <p:spPr>
          <a:xfrm>
            <a:off x="1143000" y="1063135"/>
            <a:ext cx="142875" cy="142875"/>
          </a:xfrm>
          <a:prstGeom prst="rect">
            <a:avLst/>
          </a:prstGeom>
          <a:noFill/>
          <a:ln>
            <a:noFill/>
          </a:ln>
        </p:spPr>
      </p:pic>
      <p:sp>
        <p:nvSpPr>
          <p:cNvPr id="498" name="Google Shape;498;p11"/>
          <p:cNvSpPr/>
          <p:nvPr/>
        </p:nvSpPr>
        <p:spPr>
          <a:xfrm>
            <a:off x="1357313" y="1044383"/>
            <a:ext cx="1971675"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Merriweather"/>
              <a:buNone/>
            </a:pPr>
            <a:r>
              <a:rPr b="1" i="0" lang="en-US" sz="987" u="none" cap="none" strike="noStrike">
                <a:solidFill>
                  <a:srgbClr val="FFFFFF"/>
                </a:solidFill>
                <a:latin typeface="Merriweather"/>
                <a:ea typeface="Merriweather"/>
                <a:cs typeface="Merriweather"/>
                <a:sym typeface="Merriweather"/>
              </a:rPr>
              <a:t>Level 1: Instance Attestation</a:t>
            </a:r>
            <a:endParaRPr b="0" i="0" sz="987" u="none" cap="none" strike="noStrike">
              <a:solidFill>
                <a:schemeClr val="dk1"/>
              </a:solidFill>
              <a:latin typeface="Calibri"/>
              <a:ea typeface="Calibri"/>
              <a:cs typeface="Calibri"/>
              <a:sym typeface="Calibri"/>
            </a:endParaRPr>
          </a:p>
        </p:txBody>
      </p:sp>
      <p:sp>
        <p:nvSpPr>
          <p:cNvPr id="499" name="Google Shape;499;p11"/>
          <p:cNvSpPr/>
          <p:nvPr/>
        </p:nvSpPr>
        <p:spPr>
          <a:xfrm>
            <a:off x="6874073" y="1048848"/>
            <a:ext cx="1126927" cy="171450"/>
          </a:xfrm>
          <a:prstGeom prst="rect">
            <a:avLst/>
          </a:prstGeom>
          <a:solidFill>
            <a:srgbClr val="FFFF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1"/>
          <p:cNvSpPr/>
          <p:nvPr/>
        </p:nvSpPr>
        <p:spPr>
          <a:xfrm>
            <a:off x="6874073" y="1048848"/>
            <a:ext cx="1126927" cy="171450"/>
          </a:xfrm>
          <a:prstGeom prst="rect">
            <a:avLst/>
          </a:prstGeom>
          <a:noFill/>
          <a:ln>
            <a:noFill/>
          </a:ln>
        </p:spPr>
        <p:txBody>
          <a:bodyPr anchorCtr="0" anchor="t" bIns="0" lIns="85075" spcFirstLastPara="1" rIns="85075" wrap="square" tIns="34025">
            <a:noAutofit/>
          </a:bodyPr>
          <a:lstStyle/>
          <a:p>
            <a:pPr indent="0" lvl="0" marL="0" marR="0" rtl="0" algn="l">
              <a:lnSpc>
                <a:spcPct val="131771"/>
              </a:lnSpc>
              <a:spcBef>
                <a:spcPts val="0"/>
              </a:spcBef>
              <a:spcAft>
                <a:spcPts val="0"/>
              </a:spcAft>
              <a:buClr>
                <a:srgbClr val="E0E0E0"/>
              </a:buClr>
              <a:buSzPts val="683"/>
              <a:buFont typeface="Inter"/>
              <a:buNone/>
            </a:pPr>
            <a:r>
              <a:rPr b="1" i="0" lang="en-US" sz="683" u="none" cap="none" strike="noStrike">
                <a:solidFill>
                  <a:srgbClr val="E0E0E0"/>
                </a:solidFill>
                <a:latin typeface="Inter"/>
                <a:ea typeface="Inter"/>
                <a:cs typeface="Inter"/>
                <a:sym typeface="Inter"/>
              </a:rPr>
              <a:t>TTL: PERMANENT</a:t>
            </a:r>
            <a:endParaRPr b="0" i="0" sz="683" u="none" cap="none" strike="noStrike">
              <a:solidFill>
                <a:schemeClr val="dk1"/>
              </a:solidFill>
              <a:latin typeface="Calibri"/>
              <a:ea typeface="Calibri"/>
              <a:cs typeface="Calibri"/>
              <a:sym typeface="Calibri"/>
            </a:endParaRPr>
          </a:p>
        </p:txBody>
      </p:sp>
      <p:sp>
        <p:nvSpPr>
          <p:cNvPr id="501" name="Google Shape;501;p11"/>
          <p:cNvSpPr/>
          <p:nvPr/>
        </p:nvSpPr>
        <p:spPr>
          <a:xfrm>
            <a:off x="1143000" y="1339062"/>
            <a:ext cx="3429000"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9CA3AF"/>
              </a:buClr>
              <a:buSzPts val="621"/>
              <a:buFont typeface="Inter"/>
              <a:buNone/>
            </a:pPr>
            <a:r>
              <a:rPr b="0" i="0" lang="en-US" sz="621" u="none" cap="none" strike="noStrike">
                <a:solidFill>
                  <a:srgbClr val="9CA3AF"/>
                </a:solidFill>
                <a:latin typeface="Inter"/>
                <a:ea typeface="Inter"/>
                <a:cs typeface="Inter"/>
                <a:sym typeface="Inter"/>
              </a:rPr>
              <a:t>SOURCE</a:t>
            </a:r>
            <a:endParaRPr b="0" i="0" sz="621" u="none" cap="none" strike="noStrike">
              <a:solidFill>
                <a:schemeClr val="dk1"/>
              </a:solidFill>
              <a:latin typeface="Calibri"/>
              <a:ea typeface="Calibri"/>
              <a:cs typeface="Calibri"/>
              <a:sym typeface="Calibri"/>
            </a:endParaRPr>
          </a:p>
        </p:txBody>
      </p:sp>
      <p:sp>
        <p:nvSpPr>
          <p:cNvPr id="502" name="Google Shape;502;p11"/>
          <p:cNvSpPr/>
          <p:nvPr/>
        </p:nvSpPr>
        <p:spPr>
          <a:xfrm>
            <a:off x="1143000" y="1480152"/>
            <a:ext cx="3429000" cy="121444"/>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E0E0E0"/>
              </a:buClr>
              <a:buSzPts val="780"/>
              <a:buFont typeface="Courier New"/>
              <a:buNone/>
            </a:pPr>
            <a:r>
              <a:rPr b="0" i="0" lang="en-US" sz="780" u="none" cap="none" strike="noStrike">
                <a:solidFill>
                  <a:srgbClr val="E0E0E0"/>
                </a:solidFill>
                <a:latin typeface="Courier New"/>
                <a:ea typeface="Courier New"/>
                <a:cs typeface="Courier New"/>
                <a:sym typeface="Courier New"/>
              </a:rPr>
              <a:t>EC2 Instance Profile / K8s Service Account</a:t>
            </a:r>
            <a:endParaRPr b="0" i="0" sz="780" u="none" cap="none" strike="noStrike">
              <a:solidFill>
                <a:schemeClr val="dk1"/>
              </a:solidFill>
              <a:latin typeface="Calibri"/>
              <a:ea typeface="Calibri"/>
              <a:cs typeface="Calibri"/>
              <a:sym typeface="Calibri"/>
            </a:endParaRPr>
          </a:p>
        </p:txBody>
      </p:sp>
      <p:sp>
        <p:nvSpPr>
          <p:cNvPr id="503" name="Google Shape;503;p11"/>
          <p:cNvSpPr/>
          <p:nvPr/>
        </p:nvSpPr>
        <p:spPr>
          <a:xfrm>
            <a:off x="4572000" y="1339062"/>
            <a:ext cx="3429000"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9CA3AF"/>
              </a:buClr>
              <a:buSzPts val="621"/>
              <a:buFont typeface="Inter"/>
              <a:buNone/>
            </a:pPr>
            <a:r>
              <a:rPr b="0" i="0" lang="en-US" sz="621" u="none" cap="none" strike="noStrike">
                <a:solidFill>
                  <a:srgbClr val="9CA3AF"/>
                </a:solidFill>
                <a:latin typeface="Inter"/>
                <a:ea typeface="Inter"/>
                <a:cs typeface="Inter"/>
                <a:sym typeface="Inter"/>
              </a:rPr>
              <a:t>PROVES</a:t>
            </a:r>
            <a:endParaRPr b="0" i="0" sz="621" u="none" cap="none" strike="noStrike">
              <a:solidFill>
                <a:schemeClr val="dk1"/>
              </a:solidFill>
              <a:latin typeface="Calibri"/>
              <a:ea typeface="Calibri"/>
              <a:cs typeface="Calibri"/>
              <a:sym typeface="Calibri"/>
            </a:endParaRPr>
          </a:p>
        </p:txBody>
      </p:sp>
      <p:sp>
        <p:nvSpPr>
          <p:cNvPr id="504" name="Google Shape;504;p11"/>
          <p:cNvSpPr/>
          <p:nvPr/>
        </p:nvSpPr>
        <p:spPr>
          <a:xfrm>
            <a:off x="4572000" y="1480152"/>
            <a:ext cx="3429000" cy="128588"/>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FFFFFF"/>
              </a:buClr>
              <a:buSzPts val="780"/>
              <a:buFont typeface="Inter"/>
              <a:buNone/>
            </a:pPr>
            <a:r>
              <a:rPr b="0" i="1" lang="en-US" sz="780" u="none" cap="none" strike="noStrike">
                <a:solidFill>
                  <a:srgbClr val="FFFFFF"/>
                </a:solidFill>
                <a:latin typeface="Inter"/>
                <a:ea typeface="Inter"/>
                <a:cs typeface="Inter"/>
                <a:sym typeface="Inter"/>
              </a:rPr>
              <a:t>"I am this specific compute instance"</a:t>
            </a:r>
            <a:endParaRPr b="0" i="0" sz="780" u="none" cap="none" strike="noStrike">
              <a:solidFill>
                <a:schemeClr val="dk1"/>
              </a:solidFill>
              <a:latin typeface="Calibri"/>
              <a:ea typeface="Calibri"/>
              <a:cs typeface="Calibri"/>
              <a:sym typeface="Calibri"/>
            </a:endParaRPr>
          </a:p>
        </p:txBody>
      </p:sp>
      <p:sp>
        <p:nvSpPr>
          <p:cNvPr id="505" name="Google Shape;505;p11"/>
          <p:cNvSpPr/>
          <p:nvPr/>
        </p:nvSpPr>
        <p:spPr>
          <a:xfrm>
            <a:off x="4564856" y="1608739"/>
            <a:ext cx="14288" cy="128588"/>
          </a:xfrm>
          <a:prstGeom prst="rect">
            <a:avLst/>
          </a:prstGeom>
          <a:solidFill>
            <a:srgbClr val="FFFFFF">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1"/>
          <p:cNvSpPr/>
          <p:nvPr/>
        </p:nvSpPr>
        <p:spPr>
          <a:xfrm>
            <a:off x="4186238" y="1612311"/>
            <a:ext cx="771525" cy="121444"/>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1"/>
          <p:cNvSpPr/>
          <p:nvPr/>
        </p:nvSpPr>
        <p:spPr>
          <a:xfrm>
            <a:off x="4257675" y="1612311"/>
            <a:ext cx="533995"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ATTESTS</a:t>
            </a:r>
            <a:endParaRPr b="0" i="0" sz="683" u="none" cap="none" strike="noStrike">
              <a:solidFill>
                <a:schemeClr val="dk1"/>
              </a:solidFill>
              <a:latin typeface="Calibri"/>
              <a:ea typeface="Calibri"/>
              <a:cs typeface="Calibri"/>
              <a:sym typeface="Calibri"/>
            </a:endParaRPr>
          </a:p>
        </p:txBody>
      </p:sp>
      <p:pic>
        <p:nvPicPr>
          <p:cNvPr descr="preencoded.png" id="508" name="Google Shape;508;p11"/>
          <p:cNvPicPr preferRelativeResize="0"/>
          <p:nvPr/>
        </p:nvPicPr>
        <p:blipFill rotWithShape="1">
          <a:blip r:embed="rId5">
            <a:alphaModFix/>
          </a:blip>
          <a:srcRect b="0" l="0" r="0" t="0"/>
          <a:stretch/>
        </p:blipFill>
        <p:spPr>
          <a:xfrm>
            <a:off x="4791670" y="1621241"/>
            <a:ext cx="94655" cy="100013"/>
          </a:xfrm>
          <a:prstGeom prst="rect">
            <a:avLst/>
          </a:prstGeom>
          <a:noFill/>
          <a:ln>
            <a:noFill/>
          </a:ln>
        </p:spPr>
      </p:pic>
      <p:sp>
        <p:nvSpPr>
          <p:cNvPr id="509" name="Google Shape;509;p11"/>
          <p:cNvSpPr/>
          <p:nvPr/>
        </p:nvSpPr>
        <p:spPr>
          <a:xfrm>
            <a:off x="1535906" y="1737327"/>
            <a:ext cx="6072188" cy="998339"/>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1"/>
          <p:cNvSpPr/>
          <p:nvPr/>
        </p:nvSpPr>
        <p:spPr>
          <a:xfrm>
            <a:off x="1535906" y="1737327"/>
            <a:ext cx="28575" cy="998339"/>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1" name="Google Shape;511;p11"/>
          <p:cNvPicPr preferRelativeResize="0"/>
          <p:nvPr/>
        </p:nvPicPr>
        <p:blipFill rotWithShape="1">
          <a:blip r:embed="rId6">
            <a:alphaModFix/>
          </a:blip>
          <a:srcRect b="0" l="0" r="0" t="0"/>
          <a:stretch/>
        </p:blipFill>
        <p:spPr>
          <a:xfrm>
            <a:off x="1678781" y="1863235"/>
            <a:ext cx="178594" cy="142875"/>
          </a:xfrm>
          <a:prstGeom prst="rect">
            <a:avLst/>
          </a:prstGeom>
          <a:noFill/>
          <a:ln>
            <a:noFill/>
          </a:ln>
        </p:spPr>
      </p:pic>
      <p:sp>
        <p:nvSpPr>
          <p:cNvPr id="512" name="Google Shape;512;p11"/>
          <p:cNvSpPr/>
          <p:nvPr/>
        </p:nvSpPr>
        <p:spPr>
          <a:xfrm>
            <a:off x="1928813" y="1844483"/>
            <a:ext cx="2421731"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Merriweather"/>
              <a:buNone/>
            </a:pPr>
            <a:r>
              <a:rPr b="1" i="0" lang="en-US" sz="987" u="none" cap="none" strike="noStrike">
                <a:solidFill>
                  <a:srgbClr val="FFFFFF"/>
                </a:solidFill>
                <a:latin typeface="Merriweather"/>
                <a:ea typeface="Merriweather"/>
                <a:cs typeface="Merriweather"/>
                <a:sym typeface="Merriweather"/>
              </a:rPr>
              <a:t>Level 2: Node Identity (Supervisor)</a:t>
            </a:r>
            <a:endParaRPr b="0" i="0" sz="987" u="none" cap="none" strike="noStrike">
              <a:solidFill>
                <a:schemeClr val="dk1"/>
              </a:solidFill>
              <a:latin typeface="Calibri"/>
              <a:ea typeface="Calibri"/>
              <a:cs typeface="Calibri"/>
              <a:sym typeface="Calibri"/>
            </a:endParaRPr>
          </a:p>
        </p:txBody>
      </p:sp>
      <p:sp>
        <p:nvSpPr>
          <p:cNvPr id="513" name="Google Shape;513;p11"/>
          <p:cNvSpPr/>
          <p:nvPr/>
        </p:nvSpPr>
        <p:spPr>
          <a:xfrm>
            <a:off x="6475809" y="1848948"/>
            <a:ext cx="989409" cy="171450"/>
          </a:xfrm>
          <a:prstGeom prst="rect">
            <a:avLst/>
          </a:prstGeom>
          <a:solidFill>
            <a:srgbClr val="FFFF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1"/>
          <p:cNvSpPr/>
          <p:nvPr/>
        </p:nvSpPr>
        <p:spPr>
          <a:xfrm>
            <a:off x="6475809" y="1848948"/>
            <a:ext cx="989409" cy="171450"/>
          </a:xfrm>
          <a:prstGeom prst="rect">
            <a:avLst/>
          </a:prstGeom>
          <a:noFill/>
          <a:ln>
            <a:noFill/>
          </a:ln>
        </p:spPr>
        <p:txBody>
          <a:bodyPr anchorCtr="0" anchor="t" bIns="0" lIns="85075" spcFirstLastPara="1" rIns="85075" wrap="square" tIns="34025">
            <a:noAutofit/>
          </a:bodyPr>
          <a:lstStyle/>
          <a:p>
            <a:pPr indent="0" lvl="0" marL="0" marR="0" rtl="0" algn="l">
              <a:lnSpc>
                <a:spcPct val="131771"/>
              </a:lnSpc>
              <a:spcBef>
                <a:spcPts val="0"/>
              </a:spcBef>
              <a:spcAft>
                <a:spcPts val="0"/>
              </a:spcAft>
              <a:buClr>
                <a:srgbClr val="E0E0E0"/>
              </a:buClr>
              <a:buSzPts val="683"/>
              <a:buFont typeface="Inter"/>
              <a:buNone/>
            </a:pPr>
            <a:r>
              <a:rPr b="1" i="0" lang="en-US" sz="683" u="none" cap="none" strike="noStrike">
                <a:solidFill>
                  <a:srgbClr val="E0E0E0"/>
                </a:solidFill>
                <a:latin typeface="Inter"/>
                <a:ea typeface="Inter"/>
                <a:cs typeface="Inter"/>
                <a:sym typeface="Inter"/>
              </a:rPr>
              <a:t>TTL: 24 HOURS</a:t>
            </a:r>
            <a:endParaRPr b="0" i="0" sz="683" u="none" cap="none" strike="noStrike">
              <a:solidFill>
                <a:schemeClr val="dk1"/>
              </a:solidFill>
              <a:latin typeface="Calibri"/>
              <a:ea typeface="Calibri"/>
              <a:cs typeface="Calibri"/>
              <a:sym typeface="Calibri"/>
            </a:endParaRPr>
          </a:p>
        </p:txBody>
      </p:sp>
      <p:sp>
        <p:nvSpPr>
          <p:cNvPr id="515" name="Google Shape;515;p11"/>
          <p:cNvSpPr/>
          <p:nvPr/>
        </p:nvSpPr>
        <p:spPr>
          <a:xfrm>
            <a:off x="1678781" y="2139162"/>
            <a:ext cx="2893219"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9CA3AF"/>
              </a:buClr>
              <a:buSzPts val="621"/>
              <a:buFont typeface="Inter"/>
              <a:buNone/>
            </a:pPr>
            <a:r>
              <a:rPr b="0" i="0" lang="en-US" sz="621" u="none" cap="none" strike="noStrike">
                <a:solidFill>
                  <a:srgbClr val="9CA3AF"/>
                </a:solidFill>
                <a:latin typeface="Inter"/>
                <a:ea typeface="Inter"/>
                <a:cs typeface="Inter"/>
                <a:sym typeface="Inter"/>
              </a:rPr>
              <a:t>SOURCE</a:t>
            </a:r>
            <a:endParaRPr b="0" i="0" sz="621" u="none" cap="none" strike="noStrike">
              <a:solidFill>
                <a:schemeClr val="dk1"/>
              </a:solidFill>
              <a:latin typeface="Calibri"/>
              <a:ea typeface="Calibri"/>
              <a:cs typeface="Calibri"/>
              <a:sym typeface="Calibri"/>
            </a:endParaRPr>
          </a:p>
        </p:txBody>
      </p:sp>
      <p:sp>
        <p:nvSpPr>
          <p:cNvPr id="516" name="Google Shape;516;p11"/>
          <p:cNvSpPr/>
          <p:nvPr/>
        </p:nvSpPr>
        <p:spPr>
          <a:xfrm>
            <a:off x="1678781" y="2280252"/>
            <a:ext cx="2893219" cy="121444"/>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E0E0E0"/>
              </a:buClr>
              <a:buSzPts val="780"/>
              <a:buFont typeface="Courier New"/>
              <a:buNone/>
            </a:pPr>
            <a:r>
              <a:rPr b="0" i="0" lang="en-US" sz="780" u="none" cap="none" strike="noStrike">
                <a:solidFill>
                  <a:srgbClr val="E0E0E0"/>
                </a:solidFill>
                <a:latin typeface="Courier New"/>
                <a:ea typeface="Courier New"/>
                <a:cs typeface="Courier New"/>
                <a:sym typeface="Courier New"/>
              </a:rPr>
              <a:t>Issued by SPIRE / Cert Service</a:t>
            </a:r>
            <a:endParaRPr b="0" i="0" sz="780" u="none" cap="none" strike="noStrike">
              <a:solidFill>
                <a:schemeClr val="dk1"/>
              </a:solidFill>
              <a:latin typeface="Calibri"/>
              <a:ea typeface="Calibri"/>
              <a:cs typeface="Calibri"/>
              <a:sym typeface="Calibri"/>
            </a:endParaRPr>
          </a:p>
        </p:txBody>
      </p:sp>
      <p:sp>
        <p:nvSpPr>
          <p:cNvPr id="517" name="Google Shape;517;p11"/>
          <p:cNvSpPr/>
          <p:nvPr/>
        </p:nvSpPr>
        <p:spPr>
          <a:xfrm>
            <a:off x="1678781" y="2473133"/>
            <a:ext cx="2893219"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9CA3AF"/>
              </a:buClr>
              <a:buSzPts val="621"/>
              <a:buFont typeface="Inter"/>
              <a:buNone/>
            </a:pPr>
            <a:r>
              <a:rPr b="0" i="0" lang="en-US" sz="621" u="none" cap="none" strike="noStrike">
                <a:solidFill>
                  <a:srgbClr val="9CA3AF"/>
                </a:solidFill>
                <a:latin typeface="Inter"/>
                <a:ea typeface="Inter"/>
                <a:cs typeface="Inter"/>
                <a:sym typeface="Inter"/>
              </a:rPr>
              <a:t>SPIFFE ID</a:t>
            </a:r>
            <a:endParaRPr b="0" i="0" sz="621" u="none" cap="none" strike="noStrike">
              <a:solidFill>
                <a:schemeClr val="dk1"/>
              </a:solidFill>
              <a:latin typeface="Calibri"/>
              <a:ea typeface="Calibri"/>
              <a:cs typeface="Calibri"/>
              <a:sym typeface="Calibri"/>
            </a:endParaRPr>
          </a:p>
        </p:txBody>
      </p:sp>
      <p:sp>
        <p:nvSpPr>
          <p:cNvPr id="518" name="Google Shape;518;p11"/>
          <p:cNvSpPr/>
          <p:nvPr/>
        </p:nvSpPr>
        <p:spPr>
          <a:xfrm>
            <a:off x="1678781" y="2614222"/>
            <a:ext cx="2893219" cy="121444"/>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00E5FF"/>
              </a:buClr>
              <a:buSzPts val="780"/>
              <a:buFont typeface="Courier New"/>
              <a:buNone/>
            </a:pPr>
            <a:r>
              <a:rPr b="0" i="0" lang="en-US" sz="780" u="none" cap="none" strike="noStrike">
                <a:solidFill>
                  <a:srgbClr val="00E5FF"/>
                </a:solidFill>
                <a:latin typeface="Courier New"/>
                <a:ea typeface="Courier New"/>
                <a:cs typeface="Courier New"/>
                <a:sym typeface="Courier New"/>
              </a:rPr>
              <a:t>spiffe://opamp.local/node/prod/us-east-1/001</a:t>
            </a:r>
            <a:endParaRPr b="0" i="0" sz="780" u="none" cap="none" strike="noStrike">
              <a:solidFill>
                <a:schemeClr val="dk1"/>
              </a:solidFill>
              <a:latin typeface="Calibri"/>
              <a:ea typeface="Calibri"/>
              <a:cs typeface="Calibri"/>
              <a:sym typeface="Calibri"/>
            </a:endParaRPr>
          </a:p>
        </p:txBody>
      </p:sp>
      <p:sp>
        <p:nvSpPr>
          <p:cNvPr id="519" name="Google Shape;519;p11"/>
          <p:cNvSpPr/>
          <p:nvPr/>
        </p:nvSpPr>
        <p:spPr>
          <a:xfrm>
            <a:off x="4572000" y="2139162"/>
            <a:ext cx="2893219"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9CA3AF"/>
              </a:buClr>
              <a:buSzPts val="621"/>
              <a:buFont typeface="Inter"/>
              <a:buNone/>
            </a:pPr>
            <a:r>
              <a:rPr b="0" i="0" lang="en-US" sz="621" u="none" cap="none" strike="noStrike">
                <a:solidFill>
                  <a:srgbClr val="9CA3AF"/>
                </a:solidFill>
                <a:latin typeface="Inter"/>
                <a:ea typeface="Inter"/>
                <a:cs typeface="Inter"/>
                <a:sym typeface="Inter"/>
              </a:rPr>
              <a:t>PROVES</a:t>
            </a:r>
            <a:endParaRPr b="0" i="0" sz="621" u="none" cap="none" strike="noStrike">
              <a:solidFill>
                <a:schemeClr val="dk1"/>
              </a:solidFill>
              <a:latin typeface="Calibri"/>
              <a:ea typeface="Calibri"/>
              <a:cs typeface="Calibri"/>
              <a:sym typeface="Calibri"/>
            </a:endParaRPr>
          </a:p>
        </p:txBody>
      </p:sp>
      <p:sp>
        <p:nvSpPr>
          <p:cNvPr id="520" name="Google Shape;520;p11"/>
          <p:cNvSpPr/>
          <p:nvPr/>
        </p:nvSpPr>
        <p:spPr>
          <a:xfrm>
            <a:off x="4572000" y="2280252"/>
            <a:ext cx="2893219" cy="128588"/>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FFFFFF"/>
              </a:buClr>
              <a:buSzPts val="780"/>
              <a:buFont typeface="Inter"/>
              <a:buNone/>
            </a:pPr>
            <a:r>
              <a:rPr b="0" i="1" lang="en-US" sz="780" u="none" cap="none" strike="noStrike">
                <a:solidFill>
                  <a:srgbClr val="FFFFFF"/>
                </a:solidFill>
                <a:latin typeface="Inter"/>
                <a:ea typeface="Inter"/>
                <a:cs typeface="Inter"/>
                <a:sym typeface="Inter"/>
              </a:rPr>
              <a:t>"I am node-001 in production us-east-1"</a:t>
            </a:r>
            <a:endParaRPr b="0" i="0" sz="780" u="none" cap="none" strike="noStrike">
              <a:solidFill>
                <a:schemeClr val="dk1"/>
              </a:solidFill>
              <a:latin typeface="Calibri"/>
              <a:ea typeface="Calibri"/>
              <a:cs typeface="Calibri"/>
              <a:sym typeface="Calibri"/>
            </a:endParaRPr>
          </a:p>
        </p:txBody>
      </p:sp>
      <p:sp>
        <p:nvSpPr>
          <p:cNvPr id="521" name="Google Shape;521;p11"/>
          <p:cNvSpPr/>
          <p:nvPr/>
        </p:nvSpPr>
        <p:spPr>
          <a:xfrm>
            <a:off x="4564856" y="2735666"/>
            <a:ext cx="14288" cy="128588"/>
          </a:xfrm>
          <a:prstGeom prst="rect">
            <a:avLst/>
          </a:prstGeom>
          <a:solidFill>
            <a:srgbClr val="FFFFFF">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1"/>
          <p:cNvSpPr/>
          <p:nvPr/>
        </p:nvSpPr>
        <p:spPr>
          <a:xfrm>
            <a:off x="4238030" y="2739237"/>
            <a:ext cx="667941" cy="121444"/>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1"/>
          <p:cNvSpPr/>
          <p:nvPr/>
        </p:nvSpPr>
        <p:spPr>
          <a:xfrm>
            <a:off x="4309467" y="2739237"/>
            <a:ext cx="430411"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ISSUES</a:t>
            </a:r>
            <a:endParaRPr b="0" i="0" sz="683" u="none" cap="none" strike="noStrike">
              <a:solidFill>
                <a:schemeClr val="dk1"/>
              </a:solidFill>
              <a:latin typeface="Calibri"/>
              <a:ea typeface="Calibri"/>
              <a:cs typeface="Calibri"/>
              <a:sym typeface="Calibri"/>
            </a:endParaRPr>
          </a:p>
        </p:txBody>
      </p:sp>
      <p:pic>
        <p:nvPicPr>
          <p:cNvPr descr="preencoded.png" id="524" name="Google Shape;524;p11"/>
          <p:cNvPicPr preferRelativeResize="0"/>
          <p:nvPr/>
        </p:nvPicPr>
        <p:blipFill rotWithShape="1">
          <a:blip r:embed="rId7">
            <a:alphaModFix/>
          </a:blip>
          <a:srcRect b="0" l="0" r="0" t="0"/>
          <a:stretch/>
        </p:blipFill>
        <p:spPr>
          <a:xfrm>
            <a:off x="4739878" y="2748167"/>
            <a:ext cx="94655" cy="100013"/>
          </a:xfrm>
          <a:prstGeom prst="rect">
            <a:avLst/>
          </a:prstGeom>
          <a:noFill/>
          <a:ln>
            <a:noFill/>
          </a:ln>
        </p:spPr>
      </p:pic>
      <p:sp>
        <p:nvSpPr>
          <p:cNvPr id="525" name="Google Shape;525;p11"/>
          <p:cNvSpPr/>
          <p:nvPr/>
        </p:nvSpPr>
        <p:spPr>
          <a:xfrm>
            <a:off x="2071688" y="2864253"/>
            <a:ext cx="5000625" cy="1119783"/>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1"/>
          <p:cNvSpPr/>
          <p:nvPr/>
        </p:nvSpPr>
        <p:spPr>
          <a:xfrm>
            <a:off x="2071688" y="2864253"/>
            <a:ext cx="28575" cy="1119783"/>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7" name="Google Shape;527;p11"/>
          <p:cNvPicPr preferRelativeResize="0"/>
          <p:nvPr/>
        </p:nvPicPr>
        <p:blipFill rotWithShape="1">
          <a:blip r:embed="rId8">
            <a:alphaModFix/>
          </a:blip>
          <a:srcRect b="0" l="0" r="0" t="0"/>
          <a:stretch/>
        </p:blipFill>
        <p:spPr>
          <a:xfrm>
            <a:off x="2214563" y="2990162"/>
            <a:ext cx="142875" cy="142875"/>
          </a:xfrm>
          <a:prstGeom prst="rect">
            <a:avLst/>
          </a:prstGeom>
          <a:noFill/>
          <a:ln>
            <a:noFill/>
          </a:ln>
        </p:spPr>
      </p:pic>
      <p:sp>
        <p:nvSpPr>
          <p:cNvPr id="528" name="Google Shape;528;p11"/>
          <p:cNvSpPr/>
          <p:nvPr/>
        </p:nvSpPr>
        <p:spPr>
          <a:xfrm>
            <a:off x="2428875" y="2971409"/>
            <a:ext cx="2409230"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Merriweather"/>
              <a:buNone/>
            </a:pPr>
            <a:r>
              <a:rPr b="1" i="0" lang="en-US" sz="987" u="none" cap="none" strike="noStrike">
                <a:solidFill>
                  <a:srgbClr val="FFFFFF"/>
                </a:solidFill>
                <a:latin typeface="Merriweather"/>
                <a:ea typeface="Merriweather"/>
                <a:cs typeface="Merriweather"/>
                <a:sym typeface="Merriweather"/>
              </a:rPr>
              <a:t>Level 3: Agent Identity (Delegated)</a:t>
            </a:r>
            <a:endParaRPr b="0" i="0" sz="987" u="none" cap="none" strike="noStrike">
              <a:solidFill>
                <a:schemeClr val="dk1"/>
              </a:solidFill>
              <a:latin typeface="Calibri"/>
              <a:ea typeface="Calibri"/>
              <a:cs typeface="Calibri"/>
              <a:sym typeface="Calibri"/>
            </a:endParaRPr>
          </a:p>
        </p:txBody>
      </p:sp>
      <p:sp>
        <p:nvSpPr>
          <p:cNvPr id="529" name="Google Shape;529;p11"/>
          <p:cNvSpPr/>
          <p:nvPr/>
        </p:nvSpPr>
        <p:spPr>
          <a:xfrm>
            <a:off x="6102548" y="2975874"/>
            <a:ext cx="826889" cy="171450"/>
          </a:xfrm>
          <a:prstGeom prst="rect">
            <a:avLst/>
          </a:prstGeom>
          <a:solidFill>
            <a:srgbClr val="FFFF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1"/>
          <p:cNvSpPr/>
          <p:nvPr/>
        </p:nvSpPr>
        <p:spPr>
          <a:xfrm>
            <a:off x="6102548" y="2975874"/>
            <a:ext cx="826889" cy="171450"/>
          </a:xfrm>
          <a:prstGeom prst="rect">
            <a:avLst/>
          </a:prstGeom>
          <a:noFill/>
          <a:ln>
            <a:noFill/>
          </a:ln>
        </p:spPr>
        <p:txBody>
          <a:bodyPr anchorCtr="0" anchor="t" bIns="0" lIns="85075" spcFirstLastPara="1" rIns="85075" wrap="square" tIns="34025">
            <a:noAutofit/>
          </a:bodyPr>
          <a:lstStyle/>
          <a:p>
            <a:pPr indent="0" lvl="0" marL="0" marR="0" rtl="0" algn="l">
              <a:lnSpc>
                <a:spcPct val="131771"/>
              </a:lnSpc>
              <a:spcBef>
                <a:spcPts val="0"/>
              </a:spcBef>
              <a:spcAft>
                <a:spcPts val="0"/>
              </a:spcAft>
              <a:buClr>
                <a:srgbClr val="E0E0E0"/>
              </a:buClr>
              <a:buSzPts val="683"/>
              <a:buFont typeface="Inter"/>
              <a:buNone/>
            </a:pPr>
            <a:r>
              <a:rPr b="1" i="0" lang="en-US" sz="683" u="none" cap="none" strike="noStrike">
                <a:solidFill>
                  <a:srgbClr val="E0E0E0"/>
                </a:solidFill>
                <a:latin typeface="Inter"/>
                <a:ea typeface="Inter"/>
                <a:cs typeface="Inter"/>
                <a:sym typeface="Inter"/>
              </a:rPr>
              <a:t>TTL: 1 HOUR</a:t>
            </a:r>
            <a:endParaRPr b="0" i="0" sz="683" u="none" cap="none" strike="noStrike">
              <a:solidFill>
                <a:schemeClr val="dk1"/>
              </a:solidFill>
              <a:latin typeface="Calibri"/>
              <a:ea typeface="Calibri"/>
              <a:cs typeface="Calibri"/>
              <a:sym typeface="Calibri"/>
            </a:endParaRPr>
          </a:p>
        </p:txBody>
      </p:sp>
      <p:sp>
        <p:nvSpPr>
          <p:cNvPr id="531" name="Google Shape;531;p11"/>
          <p:cNvSpPr/>
          <p:nvPr/>
        </p:nvSpPr>
        <p:spPr>
          <a:xfrm>
            <a:off x="2214563" y="3266089"/>
            <a:ext cx="2357438"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9CA3AF"/>
              </a:buClr>
              <a:buSzPts val="621"/>
              <a:buFont typeface="Inter"/>
              <a:buNone/>
            </a:pPr>
            <a:r>
              <a:rPr b="0" i="0" lang="en-US" sz="621" u="none" cap="none" strike="noStrike">
                <a:solidFill>
                  <a:srgbClr val="9CA3AF"/>
                </a:solidFill>
                <a:latin typeface="Inter"/>
                <a:ea typeface="Inter"/>
                <a:cs typeface="Inter"/>
                <a:sym typeface="Inter"/>
              </a:rPr>
              <a:t>SOURCE</a:t>
            </a:r>
            <a:endParaRPr b="0" i="0" sz="621" u="none" cap="none" strike="noStrike">
              <a:solidFill>
                <a:schemeClr val="dk1"/>
              </a:solidFill>
              <a:latin typeface="Calibri"/>
              <a:ea typeface="Calibri"/>
              <a:cs typeface="Calibri"/>
              <a:sym typeface="Calibri"/>
            </a:endParaRPr>
          </a:p>
        </p:txBody>
      </p:sp>
      <p:sp>
        <p:nvSpPr>
          <p:cNvPr id="532" name="Google Shape;532;p11"/>
          <p:cNvSpPr/>
          <p:nvPr/>
        </p:nvSpPr>
        <p:spPr>
          <a:xfrm>
            <a:off x="2214563" y="3407178"/>
            <a:ext cx="2357438" cy="121444"/>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E0E0E0"/>
              </a:buClr>
              <a:buSzPts val="780"/>
              <a:buFont typeface="Courier New"/>
              <a:buNone/>
            </a:pPr>
            <a:r>
              <a:rPr b="0" i="0" lang="en-US" sz="780" u="none" cap="none" strike="noStrike">
                <a:solidFill>
                  <a:srgbClr val="E0E0E0"/>
                </a:solidFill>
                <a:latin typeface="Courier New"/>
                <a:ea typeface="Courier New"/>
                <a:cs typeface="Courier New"/>
                <a:sym typeface="Courier New"/>
              </a:rPr>
              <a:t>Issued by Supervisor (delegated CA)</a:t>
            </a:r>
            <a:endParaRPr b="0" i="0" sz="780" u="none" cap="none" strike="noStrike">
              <a:solidFill>
                <a:schemeClr val="dk1"/>
              </a:solidFill>
              <a:latin typeface="Calibri"/>
              <a:ea typeface="Calibri"/>
              <a:cs typeface="Calibri"/>
              <a:sym typeface="Calibri"/>
            </a:endParaRPr>
          </a:p>
        </p:txBody>
      </p:sp>
      <p:sp>
        <p:nvSpPr>
          <p:cNvPr id="533" name="Google Shape;533;p11"/>
          <p:cNvSpPr/>
          <p:nvPr/>
        </p:nvSpPr>
        <p:spPr>
          <a:xfrm>
            <a:off x="2214563" y="3600059"/>
            <a:ext cx="2357438"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9CA3AF"/>
              </a:buClr>
              <a:buSzPts val="621"/>
              <a:buFont typeface="Inter"/>
              <a:buNone/>
            </a:pPr>
            <a:r>
              <a:rPr b="0" i="0" lang="en-US" sz="621" u="none" cap="none" strike="noStrike">
                <a:solidFill>
                  <a:srgbClr val="9CA3AF"/>
                </a:solidFill>
                <a:latin typeface="Inter"/>
                <a:ea typeface="Inter"/>
                <a:cs typeface="Inter"/>
                <a:sym typeface="Inter"/>
              </a:rPr>
              <a:t>SPIFFE ID</a:t>
            </a:r>
            <a:endParaRPr b="0" i="0" sz="621" u="none" cap="none" strike="noStrike">
              <a:solidFill>
                <a:schemeClr val="dk1"/>
              </a:solidFill>
              <a:latin typeface="Calibri"/>
              <a:ea typeface="Calibri"/>
              <a:cs typeface="Calibri"/>
              <a:sym typeface="Calibri"/>
            </a:endParaRPr>
          </a:p>
        </p:txBody>
      </p:sp>
      <p:sp>
        <p:nvSpPr>
          <p:cNvPr id="534" name="Google Shape;534;p11"/>
          <p:cNvSpPr/>
          <p:nvPr/>
        </p:nvSpPr>
        <p:spPr>
          <a:xfrm>
            <a:off x="2214563" y="3741148"/>
            <a:ext cx="2357438" cy="242888"/>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00E676"/>
              </a:buClr>
              <a:buSzPts val="780"/>
              <a:buFont typeface="Courier New"/>
              <a:buNone/>
            </a:pPr>
            <a:r>
              <a:rPr b="0" i="0" lang="en-US" sz="780" u="none" cap="none" strike="noStrike">
                <a:solidFill>
                  <a:srgbClr val="00E676"/>
                </a:solidFill>
                <a:latin typeface="Courier New"/>
                <a:ea typeface="Courier New"/>
                <a:cs typeface="Courier New"/>
                <a:sym typeface="Courier New"/>
              </a:rPr>
              <a:t>spiffe://opamp.local/agent/cyber-otel/001/01</a:t>
            </a:r>
            <a:endParaRPr b="0" i="0" sz="780" u="none" cap="none" strike="noStrike">
              <a:solidFill>
                <a:schemeClr val="dk1"/>
              </a:solidFill>
              <a:latin typeface="Calibri"/>
              <a:ea typeface="Calibri"/>
              <a:cs typeface="Calibri"/>
              <a:sym typeface="Calibri"/>
            </a:endParaRPr>
          </a:p>
        </p:txBody>
      </p:sp>
      <p:sp>
        <p:nvSpPr>
          <p:cNvPr id="535" name="Google Shape;535;p11"/>
          <p:cNvSpPr/>
          <p:nvPr/>
        </p:nvSpPr>
        <p:spPr>
          <a:xfrm>
            <a:off x="4572000" y="3266089"/>
            <a:ext cx="2357438"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9CA3AF"/>
              </a:buClr>
              <a:buSzPts val="621"/>
              <a:buFont typeface="Inter"/>
              <a:buNone/>
            </a:pPr>
            <a:r>
              <a:rPr b="0" i="0" lang="en-US" sz="621" u="none" cap="none" strike="noStrike">
                <a:solidFill>
                  <a:srgbClr val="9CA3AF"/>
                </a:solidFill>
                <a:latin typeface="Inter"/>
                <a:ea typeface="Inter"/>
                <a:cs typeface="Inter"/>
                <a:sym typeface="Inter"/>
              </a:rPr>
              <a:t>PROVES</a:t>
            </a:r>
            <a:endParaRPr b="0" i="0" sz="621" u="none" cap="none" strike="noStrike">
              <a:solidFill>
                <a:schemeClr val="dk1"/>
              </a:solidFill>
              <a:latin typeface="Calibri"/>
              <a:ea typeface="Calibri"/>
              <a:cs typeface="Calibri"/>
              <a:sym typeface="Calibri"/>
            </a:endParaRPr>
          </a:p>
        </p:txBody>
      </p:sp>
      <p:sp>
        <p:nvSpPr>
          <p:cNvPr id="536" name="Google Shape;536;p11"/>
          <p:cNvSpPr/>
          <p:nvPr/>
        </p:nvSpPr>
        <p:spPr>
          <a:xfrm>
            <a:off x="4572000" y="3407178"/>
            <a:ext cx="2357438" cy="257175"/>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FFFFFF"/>
              </a:buClr>
              <a:buSzPts val="780"/>
              <a:buFont typeface="Inter"/>
              <a:buNone/>
            </a:pPr>
            <a:r>
              <a:rPr b="0" i="1" lang="en-US" sz="780" u="none" cap="none" strike="noStrike">
                <a:solidFill>
                  <a:srgbClr val="FFFFFF"/>
                </a:solidFill>
                <a:latin typeface="Inter"/>
                <a:ea typeface="Inter"/>
                <a:cs typeface="Inter"/>
                <a:sym typeface="Inter"/>
              </a:rPr>
              <a:t>"I am the cyber-otel agent running on node-001"</a:t>
            </a:r>
            <a:endParaRPr b="0" i="0" sz="780" u="none" cap="none" strike="noStrike">
              <a:solidFill>
                <a:schemeClr val="dk1"/>
              </a:solidFill>
              <a:latin typeface="Calibri"/>
              <a:ea typeface="Calibri"/>
              <a:cs typeface="Calibri"/>
              <a:sym typeface="Calibri"/>
            </a:endParaRPr>
          </a:p>
        </p:txBody>
      </p:sp>
      <p:sp>
        <p:nvSpPr>
          <p:cNvPr id="537" name="Google Shape;537;p11"/>
          <p:cNvSpPr/>
          <p:nvPr/>
        </p:nvSpPr>
        <p:spPr>
          <a:xfrm>
            <a:off x="4564856" y="3984036"/>
            <a:ext cx="14288" cy="128588"/>
          </a:xfrm>
          <a:prstGeom prst="rect">
            <a:avLst/>
          </a:prstGeom>
          <a:solidFill>
            <a:srgbClr val="FFFFFF">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1"/>
          <p:cNvSpPr/>
          <p:nvPr/>
        </p:nvSpPr>
        <p:spPr>
          <a:xfrm>
            <a:off x="4116586" y="3987608"/>
            <a:ext cx="910828" cy="121444"/>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1"/>
          <p:cNvSpPr/>
          <p:nvPr/>
        </p:nvSpPr>
        <p:spPr>
          <a:xfrm>
            <a:off x="4188023" y="3987608"/>
            <a:ext cx="673298"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DELEGATES</a:t>
            </a:r>
            <a:endParaRPr b="0" i="0" sz="683" u="none" cap="none" strike="noStrike">
              <a:solidFill>
                <a:schemeClr val="dk1"/>
              </a:solidFill>
              <a:latin typeface="Calibri"/>
              <a:ea typeface="Calibri"/>
              <a:cs typeface="Calibri"/>
              <a:sym typeface="Calibri"/>
            </a:endParaRPr>
          </a:p>
        </p:txBody>
      </p:sp>
      <p:pic>
        <p:nvPicPr>
          <p:cNvPr descr="preencoded.png" id="540" name="Google Shape;540;p11"/>
          <p:cNvPicPr preferRelativeResize="0"/>
          <p:nvPr/>
        </p:nvPicPr>
        <p:blipFill rotWithShape="1">
          <a:blip r:embed="rId9">
            <a:alphaModFix/>
          </a:blip>
          <a:srcRect b="0" l="0" r="0" t="0"/>
          <a:stretch/>
        </p:blipFill>
        <p:spPr>
          <a:xfrm>
            <a:off x="4861322" y="3996537"/>
            <a:ext cx="94655" cy="100013"/>
          </a:xfrm>
          <a:prstGeom prst="rect">
            <a:avLst/>
          </a:prstGeom>
          <a:noFill/>
          <a:ln>
            <a:noFill/>
          </a:ln>
        </p:spPr>
      </p:pic>
      <p:sp>
        <p:nvSpPr>
          <p:cNvPr id="541" name="Google Shape;541;p11"/>
          <p:cNvSpPr/>
          <p:nvPr/>
        </p:nvSpPr>
        <p:spPr>
          <a:xfrm>
            <a:off x="2607469" y="4112623"/>
            <a:ext cx="3929063" cy="998339"/>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1"/>
          <p:cNvSpPr/>
          <p:nvPr/>
        </p:nvSpPr>
        <p:spPr>
          <a:xfrm>
            <a:off x="2607469" y="4112623"/>
            <a:ext cx="28575" cy="998339"/>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3" name="Google Shape;543;p11"/>
          <p:cNvPicPr preferRelativeResize="0"/>
          <p:nvPr/>
        </p:nvPicPr>
        <p:blipFill rotWithShape="1">
          <a:blip r:embed="rId10">
            <a:alphaModFix/>
          </a:blip>
          <a:srcRect b="0" l="0" r="0" t="0"/>
          <a:stretch/>
        </p:blipFill>
        <p:spPr>
          <a:xfrm>
            <a:off x="2750344" y="4238532"/>
            <a:ext cx="142875" cy="142875"/>
          </a:xfrm>
          <a:prstGeom prst="rect">
            <a:avLst/>
          </a:prstGeom>
          <a:noFill/>
          <a:ln>
            <a:noFill/>
          </a:ln>
        </p:spPr>
      </p:pic>
      <p:sp>
        <p:nvSpPr>
          <p:cNvPr id="544" name="Google Shape;544;p11"/>
          <p:cNvSpPr/>
          <p:nvPr/>
        </p:nvSpPr>
        <p:spPr>
          <a:xfrm>
            <a:off x="2964656" y="4219780"/>
            <a:ext cx="1993106"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Merriweather"/>
              <a:buNone/>
            </a:pPr>
            <a:r>
              <a:rPr b="1" i="0" lang="en-US" sz="987" u="none" cap="none" strike="noStrike">
                <a:solidFill>
                  <a:srgbClr val="FFFFFF"/>
                </a:solidFill>
                <a:latin typeface="Merriweather"/>
                <a:ea typeface="Merriweather"/>
                <a:cs typeface="Merriweather"/>
                <a:sym typeface="Merriweather"/>
              </a:rPr>
              <a:t>Level 4: Role Token (Athenz)</a:t>
            </a:r>
            <a:endParaRPr b="0" i="0" sz="987" u="none" cap="none" strike="noStrike">
              <a:solidFill>
                <a:schemeClr val="dk1"/>
              </a:solidFill>
              <a:latin typeface="Calibri"/>
              <a:ea typeface="Calibri"/>
              <a:cs typeface="Calibri"/>
              <a:sym typeface="Calibri"/>
            </a:endParaRPr>
          </a:p>
        </p:txBody>
      </p:sp>
      <p:sp>
        <p:nvSpPr>
          <p:cNvPr id="545" name="Google Shape;545;p11"/>
          <p:cNvSpPr/>
          <p:nvPr/>
        </p:nvSpPr>
        <p:spPr>
          <a:xfrm>
            <a:off x="5356027" y="4224244"/>
            <a:ext cx="1037630" cy="171450"/>
          </a:xfrm>
          <a:prstGeom prst="rect">
            <a:avLst/>
          </a:pr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1"/>
          <p:cNvSpPr/>
          <p:nvPr/>
        </p:nvSpPr>
        <p:spPr>
          <a:xfrm>
            <a:off x="5356027" y="4224244"/>
            <a:ext cx="1037630" cy="171450"/>
          </a:xfrm>
          <a:prstGeom prst="rect">
            <a:avLst/>
          </a:prstGeom>
          <a:noFill/>
          <a:ln>
            <a:noFill/>
          </a:ln>
        </p:spPr>
        <p:txBody>
          <a:bodyPr anchorCtr="0" anchor="t" bIns="0" lIns="85075" spcFirstLastPara="1" rIns="85075" wrap="square" tIns="34025">
            <a:noAutofit/>
          </a:bodyPr>
          <a:lstStyle/>
          <a:p>
            <a:pPr indent="0" lvl="0" marL="0" marR="0" rtl="0" algn="l">
              <a:lnSpc>
                <a:spcPct val="131771"/>
              </a:lnSpc>
              <a:spcBef>
                <a:spcPts val="0"/>
              </a:spcBef>
              <a:spcAft>
                <a:spcPts val="0"/>
              </a:spcAft>
              <a:buClr>
                <a:srgbClr val="F59E0B"/>
              </a:buClr>
              <a:buSzPts val="683"/>
              <a:buFont typeface="Inter"/>
              <a:buNone/>
            </a:pPr>
            <a:r>
              <a:rPr b="1" i="0" lang="en-US" sz="683" u="none" cap="none" strike="noStrike">
                <a:solidFill>
                  <a:srgbClr val="F59E0B"/>
                </a:solidFill>
                <a:latin typeface="Inter"/>
                <a:ea typeface="Inter"/>
                <a:cs typeface="Inter"/>
                <a:sym typeface="Inter"/>
              </a:rPr>
              <a:t>TTL: 5 MINUTES</a:t>
            </a:r>
            <a:endParaRPr b="0" i="0" sz="683" u="none" cap="none" strike="noStrike">
              <a:solidFill>
                <a:schemeClr val="dk1"/>
              </a:solidFill>
              <a:latin typeface="Calibri"/>
              <a:ea typeface="Calibri"/>
              <a:cs typeface="Calibri"/>
              <a:sym typeface="Calibri"/>
            </a:endParaRPr>
          </a:p>
        </p:txBody>
      </p:sp>
      <p:sp>
        <p:nvSpPr>
          <p:cNvPr id="547" name="Google Shape;547;p11"/>
          <p:cNvSpPr/>
          <p:nvPr/>
        </p:nvSpPr>
        <p:spPr>
          <a:xfrm>
            <a:off x="2750344" y="4514459"/>
            <a:ext cx="1821656"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9CA3AF"/>
              </a:buClr>
              <a:buSzPts val="621"/>
              <a:buFont typeface="Inter"/>
              <a:buNone/>
            </a:pPr>
            <a:r>
              <a:rPr b="0" i="0" lang="en-US" sz="621" u="none" cap="none" strike="noStrike">
                <a:solidFill>
                  <a:srgbClr val="9CA3AF"/>
                </a:solidFill>
                <a:latin typeface="Inter"/>
                <a:ea typeface="Inter"/>
                <a:cs typeface="Inter"/>
                <a:sym typeface="Inter"/>
              </a:rPr>
              <a:t>SOURCE</a:t>
            </a:r>
            <a:endParaRPr b="0" i="0" sz="621" u="none" cap="none" strike="noStrike">
              <a:solidFill>
                <a:schemeClr val="dk1"/>
              </a:solidFill>
              <a:latin typeface="Calibri"/>
              <a:ea typeface="Calibri"/>
              <a:cs typeface="Calibri"/>
              <a:sym typeface="Calibri"/>
            </a:endParaRPr>
          </a:p>
        </p:txBody>
      </p:sp>
      <p:sp>
        <p:nvSpPr>
          <p:cNvPr id="548" name="Google Shape;548;p11"/>
          <p:cNvSpPr/>
          <p:nvPr/>
        </p:nvSpPr>
        <p:spPr>
          <a:xfrm>
            <a:off x="2750344" y="4655548"/>
            <a:ext cx="1821656" cy="121444"/>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E0E0E0"/>
              </a:buClr>
              <a:buSzPts val="780"/>
              <a:buFont typeface="Courier New"/>
              <a:buNone/>
            </a:pPr>
            <a:r>
              <a:rPr b="0" i="0" lang="en-US" sz="780" u="none" cap="none" strike="noStrike">
                <a:solidFill>
                  <a:srgbClr val="E0E0E0"/>
                </a:solidFill>
                <a:latin typeface="Courier New"/>
                <a:ea typeface="Courier New"/>
                <a:cs typeface="Courier New"/>
                <a:sym typeface="Courier New"/>
              </a:rPr>
              <a:t>Exchanged via Athenz RBAC</a:t>
            </a:r>
            <a:endParaRPr b="0" i="0" sz="780" u="none" cap="none" strike="noStrike">
              <a:solidFill>
                <a:schemeClr val="dk1"/>
              </a:solidFill>
              <a:latin typeface="Calibri"/>
              <a:ea typeface="Calibri"/>
              <a:cs typeface="Calibri"/>
              <a:sym typeface="Calibri"/>
            </a:endParaRPr>
          </a:p>
        </p:txBody>
      </p:sp>
      <p:sp>
        <p:nvSpPr>
          <p:cNvPr id="549" name="Google Shape;549;p11"/>
          <p:cNvSpPr/>
          <p:nvPr/>
        </p:nvSpPr>
        <p:spPr>
          <a:xfrm>
            <a:off x="2750344" y="4848430"/>
            <a:ext cx="1821656"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9CA3AF"/>
              </a:buClr>
              <a:buSzPts val="621"/>
              <a:buFont typeface="Inter"/>
              <a:buNone/>
            </a:pPr>
            <a:r>
              <a:rPr b="0" i="0" lang="en-US" sz="621" u="none" cap="none" strike="noStrike">
                <a:solidFill>
                  <a:srgbClr val="9CA3AF"/>
                </a:solidFill>
                <a:latin typeface="Inter"/>
                <a:ea typeface="Inter"/>
                <a:cs typeface="Inter"/>
                <a:sym typeface="Inter"/>
              </a:rPr>
              <a:t>ROLE</a:t>
            </a:r>
            <a:endParaRPr b="0" i="0" sz="621" u="none" cap="none" strike="noStrike">
              <a:solidFill>
                <a:schemeClr val="dk1"/>
              </a:solidFill>
              <a:latin typeface="Calibri"/>
              <a:ea typeface="Calibri"/>
              <a:cs typeface="Calibri"/>
              <a:sym typeface="Calibri"/>
            </a:endParaRPr>
          </a:p>
        </p:txBody>
      </p:sp>
      <p:sp>
        <p:nvSpPr>
          <p:cNvPr id="550" name="Google Shape;550;p11"/>
          <p:cNvSpPr/>
          <p:nvPr/>
        </p:nvSpPr>
        <p:spPr>
          <a:xfrm>
            <a:off x="2750344" y="4989519"/>
            <a:ext cx="1821656" cy="121444"/>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F59E0B"/>
              </a:buClr>
              <a:buSzPts val="780"/>
              <a:buFont typeface="Courier New"/>
              <a:buNone/>
            </a:pPr>
            <a:r>
              <a:rPr b="0" i="0" lang="en-US" sz="780" u="none" cap="none" strike="noStrike">
                <a:solidFill>
                  <a:srgbClr val="F59E0B"/>
                </a:solidFill>
                <a:latin typeface="Courier New"/>
                <a:ea typeface="Courier New"/>
                <a:cs typeface="Courier New"/>
                <a:sym typeface="Courier New"/>
              </a:rPr>
              <a:t>opamp:role.secrets-reader</a:t>
            </a:r>
            <a:endParaRPr b="0" i="0" sz="780" u="none" cap="none" strike="noStrike">
              <a:solidFill>
                <a:schemeClr val="dk1"/>
              </a:solidFill>
              <a:latin typeface="Calibri"/>
              <a:ea typeface="Calibri"/>
              <a:cs typeface="Calibri"/>
              <a:sym typeface="Calibri"/>
            </a:endParaRPr>
          </a:p>
        </p:txBody>
      </p:sp>
      <p:sp>
        <p:nvSpPr>
          <p:cNvPr id="551" name="Google Shape;551;p11"/>
          <p:cNvSpPr/>
          <p:nvPr/>
        </p:nvSpPr>
        <p:spPr>
          <a:xfrm>
            <a:off x="4572000" y="4514459"/>
            <a:ext cx="1821656" cy="105370"/>
          </a:xfrm>
          <a:prstGeom prst="rect">
            <a:avLst/>
          </a:prstGeom>
          <a:noFill/>
          <a:ln>
            <a:noFill/>
          </a:ln>
        </p:spPr>
        <p:txBody>
          <a:bodyPr anchorCtr="0" anchor="t" bIns="0" lIns="0" spcFirstLastPara="1" rIns="0" wrap="square" tIns="0">
            <a:noAutofit/>
          </a:bodyPr>
          <a:lstStyle/>
          <a:p>
            <a:pPr indent="0" lvl="0" marL="0" marR="0" rtl="0" algn="l">
              <a:lnSpc>
                <a:spcPct val="128824"/>
              </a:lnSpc>
              <a:spcBef>
                <a:spcPts val="0"/>
              </a:spcBef>
              <a:spcAft>
                <a:spcPts val="0"/>
              </a:spcAft>
              <a:buClr>
                <a:srgbClr val="9CA3AF"/>
              </a:buClr>
              <a:buSzPts val="621"/>
              <a:buFont typeface="Inter"/>
              <a:buNone/>
            </a:pPr>
            <a:r>
              <a:rPr b="0" i="0" lang="en-US" sz="621" u="none" cap="none" strike="noStrike">
                <a:solidFill>
                  <a:srgbClr val="9CA3AF"/>
                </a:solidFill>
                <a:latin typeface="Inter"/>
                <a:ea typeface="Inter"/>
                <a:cs typeface="Inter"/>
                <a:sym typeface="Inter"/>
              </a:rPr>
              <a:t>PROVES</a:t>
            </a:r>
            <a:endParaRPr b="0" i="0" sz="621" u="none" cap="none" strike="noStrike">
              <a:solidFill>
                <a:schemeClr val="dk1"/>
              </a:solidFill>
              <a:latin typeface="Calibri"/>
              <a:ea typeface="Calibri"/>
              <a:cs typeface="Calibri"/>
              <a:sym typeface="Calibri"/>
            </a:endParaRPr>
          </a:p>
        </p:txBody>
      </p:sp>
      <p:sp>
        <p:nvSpPr>
          <p:cNvPr id="552" name="Google Shape;552;p11"/>
          <p:cNvSpPr/>
          <p:nvPr/>
        </p:nvSpPr>
        <p:spPr>
          <a:xfrm>
            <a:off x="4572000" y="4655548"/>
            <a:ext cx="1821656" cy="257175"/>
          </a:xfrm>
          <a:prstGeom prst="rect">
            <a:avLst/>
          </a:prstGeom>
          <a:noFill/>
          <a:ln>
            <a:noFill/>
          </a:ln>
        </p:spPr>
        <p:txBody>
          <a:bodyPr anchorCtr="0" anchor="t" bIns="0" lIns="0" spcFirstLastPara="1" rIns="0" wrap="square" tIns="0">
            <a:noAutofit/>
          </a:bodyPr>
          <a:lstStyle/>
          <a:p>
            <a:pPr indent="0" lvl="0" marL="0" marR="0" rtl="0" algn="l">
              <a:lnSpc>
                <a:spcPct val="128205"/>
              </a:lnSpc>
              <a:spcBef>
                <a:spcPts val="0"/>
              </a:spcBef>
              <a:spcAft>
                <a:spcPts val="0"/>
              </a:spcAft>
              <a:buClr>
                <a:srgbClr val="FFFFFF"/>
              </a:buClr>
              <a:buSzPts val="780"/>
              <a:buFont typeface="Inter"/>
              <a:buNone/>
            </a:pPr>
            <a:r>
              <a:rPr b="0" i="1" lang="en-US" sz="780" u="none" cap="none" strike="noStrike">
                <a:solidFill>
                  <a:srgbClr val="FFFFFF"/>
                </a:solidFill>
                <a:latin typeface="Inter"/>
                <a:ea typeface="Inter"/>
                <a:cs typeface="Inter"/>
                <a:sym typeface="Inter"/>
              </a:rPr>
              <a:t>"I am authorized to read secrets in this domain"</a:t>
            </a:r>
            <a:endParaRPr b="0" i="0" sz="78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pic>
        <p:nvPicPr>
          <p:cNvPr descr="preencoded.png" id="558" name="Google Shape;558;p1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59" name="Google Shape;559;p12"/>
          <p:cNvSpPr/>
          <p:nvPr/>
        </p:nvSpPr>
        <p:spPr>
          <a:xfrm>
            <a:off x="0" y="0"/>
            <a:ext cx="9144000" cy="894364"/>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2"/>
          <p:cNvSpPr/>
          <p:nvPr/>
        </p:nvSpPr>
        <p:spPr>
          <a:xfrm>
            <a:off x="0" y="880077"/>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2"/>
          <p:cNvSpPr/>
          <p:nvPr/>
        </p:nvSpPr>
        <p:spPr>
          <a:xfrm>
            <a:off x="428625" y="285750"/>
            <a:ext cx="8286750" cy="594327"/>
          </a:xfrm>
          <a:prstGeom prst="rect">
            <a:avLst/>
          </a:prstGeom>
          <a:noFill/>
          <a:ln>
            <a:noFill/>
          </a:ln>
        </p:spPr>
        <p:txBody>
          <a:bodyPr anchorCtr="0" anchor="t" bIns="0" lIns="0" spcFirstLastPara="1" rIns="0" wrap="square" tIns="0">
            <a:noAutofit/>
          </a:bodyPr>
          <a:lstStyle/>
          <a:p>
            <a:pPr indent="0" lvl="0" marL="0" marR="0" rtl="0" algn="l">
              <a:lnSpc>
                <a:spcPct val="143570"/>
              </a:lnSpc>
              <a:spcBef>
                <a:spcPts val="0"/>
              </a:spcBef>
              <a:spcAft>
                <a:spcPts val="0"/>
              </a:spcAft>
              <a:buClr>
                <a:srgbClr val="FFFFFF"/>
              </a:buClr>
              <a:buSzPts val="1602"/>
              <a:buFont typeface="Merriweather"/>
              <a:buNone/>
            </a:pPr>
            <a:r>
              <a:rPr b="1" i="0" lang="en-US" sz="1602" u="none" cap="none" strike="noStrike">
                <a:solidFill>
                  <a:srgbClr val="FFFFFF"/>
                </a:solidFill>
                <a:latin typeface="Merriweather"/>
                <a:ea typeface="Merriweather"/>
                <a:cs typeface="Merriweather"/>
                <a:sym typeface="Merriweather"/>
              </a:rPr>
              <a:t>Engineered for 200K+ Nodes with Sub-500ms Latency and Under 100KB Memory Per Agent</a:t>
            </a:r>
            <a:endParaRPr b="0" i="0" sz="1602" u="none" cap="none" strike="noStrike">
              <a:solidFill>
                <a:schemeClr val="dk1"/>
              </a:solidFill>
              <a:latin typeface="Calibri"/>
              <a:ea typeface="Calibri"/>
              <a:cs typeface="Calibri"/>
              <a:sym typeface="Calibri"/>
            </a:endParaRPr>
          </a:p>
        </p:txBody>
      </p:sp>
      <p:sp>
        <p:nvSpPr>
          <p:cNvPr id="562" name="Google Shape;562;p12"/>
          <p:cNvSpPr/>
          <p:nvPr/>
        </p:nvSpPr>
        <p:spPr>
          <a:xfrm>
            <a:off x="428625" y="1051527"/>
            <a:ext cx="2666991" cy="1000125"/>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2"/>
          <p:cNvSpPr/>
          <p:nvPr/>
        </p:nvSpPr>
        <p:spPr>
          <a:xfrm>
            <a:off x="428625" y="1051527"/>
            <a:ext cx="2666991"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2"/>
          <p:cNvSpPr/>
          <p:nvPr/>
        </p:nvSpPr>
        <p:spPr>
          <a:xfrm>
            <a:off x="947719" y="1287270"/>
            <a:ext cx="1628775" cy="430411"/>
          </a:xfrm>
          <a:prstGeom prst="rect">
            <a:avLst/>
          </a:prstGeom>
          <a:noFill/>
          <a:ln>
            <a:noFill/>
          </a:ln>
        </p:spPr>
        <p:txBody>
          <a:bodyPr anchorCtr="0" anchor="t" bIns="0" lIns="0" spcFirstLastPara="1" rIns="0" wrap="square" tIns="0">
            <a:noAutofit/>
          </a:bodyPr>
          <a:lstStyle/>
          <a:p>
            <a:pPr indent="0" lvl="0" marL="0" marR="0" rtl="0" algn="ctr">
              <a:lnSpc>
                <a:spcPct val="131362"/>
              </a:lnSpc>
              <a:spcBef>
                <a:spcPts val="0"/>
              </a:spcBef>
              <a:spcAft>
                <a:spcPts val="0"/>
              </a:spcAft>
              <a:buClr>
                <a:srgbClr val="F59E0B"/>
              </a:buClr>
              <a:buSzPts val="2436"/>
              <a:buFont typeface="Merriweather"/>
              <a:buNone/>
            </a:pPr>
            <a:r>
              <a:rPr b="1" i="0" lang="en-US" sz="2436" u="none" cap="none" strike="noStrike">
                <a:solidFill>
                  <a:srgbClr val="F59E0B"/>
                </a:solidFill>
                <a:latin typeface="Merriweather"/>
                <a:ea typeface="Merriweather"/>
                <a:cs typeface="Merriweather"/>
                <a:sym typeface="Merriweather"/>
              </a:rPr>
              <a:t>200,000+</a:t>
            </a:r>
            <a:endParaRPr b="0" i="0" sz="2436" u="none" cap="none" strike="noStrike">
              <a:solidFill>
                <a:schemeClr val="dk1"/>
              </a:solidFill>
              <a:latin typeface="Calibri"/>
              <a:ea typeface="Calibri"/>
              <a:cs typeface="Calibri"/>
              <a:sym typeface="Calibri"/>
            </a:endParaRPr>
          </a:p>
        </p:txBody>
      </p:sp>
      <p:sp>
        <p:nvSpPr>
          <p:cNvPr id="565" name="Google Shape;565;p12"/>
          <p:cNvSpPr/>
          <p:nvPr/>
        </p:nvSpPr>
        <p:spPr>
          <a:xfrm>
            <a:off x="630715" y="1789119"/>
            <a:ext cx="2262783" cy="155377"/>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E0E0E0"/>
              </a:buClr>
              <a:buSzPts val="885"/>
              <a:buFont typeface="Inter"/>
              <a:buNone/>
            </a:pPr>
            <a:r>
              <a:rPr b="1" i="0" lang="en-US" sz="885" u="none" cap="none" strike="noStrike">
                <a:solidFill>
                  <a:srgbClr val="E0E0E0"/>
                </a:solidFill>
                <a:latin typeface="Inter"/>
                <a:ea typeface="Inter"/>
                <a:cs typeface="Inter"/>
                <a:sym typeface="Inter"/>
              </a:rPr>
              <a:t>CONCURRENT MANAGED NODES</a:t>
            </a:r>
            <a:endParaRPr b="0" i="0" sz="885" u="none" cap="none" strike="noStrike">
              <a:solidFill>
                <a:schemeClr val="dk1"/>
              </a:solidFill>
              <a:latin typeface="Calibri"/>
              <a:ea typeface="Calibri"/>
              <a:cs typeface="Calibri"/>
              <a:sym typeface="Calibri"/>
            </a:endParaRPr>
          </a:p>
        </p:txBody>
      </p:sp>
      <p:sp>
        <p:nvSpPr>
          <p:cNvPr id="566" name="Google Shape;566;p12"/>
          <p:cNvSpPr/>
          <p:nvPr/>
        </p:nvSpPr>
        <p:spPr>
          <a:xfrm>
            <a:off x="3238491" y="1051527"/>
            <a:ext cx="2666991" cy="1000125"/>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2"/>
          <p:cNvSpPr/>
          <p:nvPr/>
        </p:nvSpPr>
        <p:spPr>
          <a:xfrm>
            <a:off x="3238491" y="1051527"/>
            <a:ext cx="2666991"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2"/>
          <p:cNvSpPr/>
          <p:nvPr/>
        </p:nvSpPr>
        <p:spPr>
          <a:xfrm>
            <a:off x="3879921" y="1287270"/>
            <a:ext cx="1384102" cy="430411"/>
          </a:xfrm>
          <a:prstGeom prst="rect">
            <a:avLst/>
          </a:prstGeom>
          <a:noFill/>
          <a:ln>
            <a:noFill/>
          </a:ln>
        </p:spPr>
        <p:txBody>
          <a:bodyPr anchorCtr="0" anchor="t" bIns="0" lIns="0" spcFirstLastPara="1" rIns="0" wrap="square" tIns="0">
            <a:noAutofit/>
          </a:bodyPr>
          <a:lstStyle/>
          <a:p>
            <a:pPr indent="0" lvl="0" marL="0" marR="0" rtl="0" algn="ctr">
              <a:lnSpc>
                <a:spcPct val="131362"/>
              </a:lnSpc>
              <a:spcBef>
                <a:spcPts val="0"/>
              </a:spcBef>
              <a:spcAft>
                <a:spcPts val="0"/>
              </a:spcAft>
              <a:buClr>
                <a:srgbClr val="F59E0B"/>
              </a:buClr>
              <a:buSzPts val="2436"/>
              <a:buFont typeface="Merriweather"/>
              <a:buNone/>
            </a:pPr>
            <a:r>
              <a:rPr b="1" i="0" lang="en-US" sz="2436" u="none" cap="none" strike="noStrike">
                <a:solidFill>
                  <a:srgbClr val="F59E0B"/>
                </a:solidFill>
                <a:latin typeface="Merriweather"/>
                <a:ea typeface="Merriweather"/>
                <a:cs typeface="Merriweather"/>
                <a:sym typeface="Merriweather"/>
              </a:rPr>
              <a:t>&lt;500ms</a:t>
            </a:r>
            <a:endParaRPr b="0" i="0" sz="2436" u="none" cap="none" strike="noStrike">
              <a:solidFill>
                <a:schemeClr val="dk1"/>
              </a:solidFill>
              <a:latin typeface="Calibri"/>
              <a:ea typeface="Calibri"/>
              <a:cs typeface="Calibri"/>
              <a:sym typeface="Calibri"/>
            </a:endParaRPr>
          </a:p>
        </p:txBody>
      </p:sp>
      <p:sp>
        <p:nvSpPr>
          <p:cNvPr id="569" name="Google Shape;569;p12"/>
          <p:cNvSpPr/>
          <p:nvPr/>
        </p:nvSpPr>
        <p:spPr>
          <a:xfrm>
            <a:off x="3749548" y="1789119"/>
            <a:ext cx="1644848" cy="155377"/>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E0E0E0"/>
              </a:buClr>
              <a:buSzPts val="885"/>
              <a:buFont typeface="Inter"/>
              <a:buNone/>
            </a:pPr>
            <a:r>
              <a:rPr b="1" i="0" lang="en-US" sz="885" u="none" cap="none" strike="noStrike">
                <a:solidFill>
                  <a:srgbClr val="E0E0E0"/>
                </a:solidFill>
                <a:latin typeface="Inter"/>
                <a:ea typeface="Inter"/>
                <a:cs typeface="Inter"/>
                <a:sym typeface="Inter"/>
              </a:rPr>
              <a:t>CONNECTION LATENCY</a:t>
            </a:r>
            <a:endParaRPr b="0" i="0" sz="885" u="none" cap="none" strike="noStrike">
              <a:solidFill>
                <a:schemeClr val="dk1"/>
              </a:solidFill>
              <a:latin typeface="Calibri"/>
              <a:ea typeface="Calibri"/>
              <a:cs typeface="Calibri"/>
              <a:sym typeface="Calibri"/>
            </a:endParaRPr>
          </a:p>
        </p:txBody>
      </p:sp>
      <p:sp>
        <p:nvSpPr>
          <p:cNvPr id="570" name="Google Shape;570;p12"/>
          <p:cNvSpPr/>
          <p:nvPr/>
        </p:nvSpPr>
        <p:spPr>
          <a:xfrm>
            <a:off x="6048356" y="1051527"/>
            <a:ext cx="2666991" cy="1000125"/>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2"/>
          <p:cNvSpPr/>
          <p:nvPr/>
        </p:nvSpPr>
        <p:spPr>
          <a:xfrm>
            <a:off x="6048356" y="1051527"/>
            <a:ext cx="2666991"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2"/>
          <p:cNvSpPr/>
          <p:nvPr/>
        </p:nvSpPr>
        <p:spPr>
          <a:xfrm>
            <a:off x="6732650" y="1287270"/>
            <a:ext cx="1298377" cy="430411"/>
          </a:xfrm>
          <a:prstGeom prst="rect">
            <a:avLst/>
          </a:prstGeom>
          <a:noFill/>
          <a:ln>
            <a:noFill/>
          </a:ln>
        </p:spPr>
        <p:txBody>
          <a:bodyPr anchorCtr="0" anchor="t" bIns="0" lIns="0" spcFirstLastPara="1" rIns="0" wrap="square" tIns="0">
            <a:noAutofit/>
          </a:bodyPr>
          <a:lstStyle/>
          <a:p>
            <a:pPr indent="0" lvl="0" marL="0" marR="0" rtl="0" algn="ctr">
              <a:lnSpc>
                <a:spcPct val="131362"/>
              </a:lnSpc>
              <a:spcBef>
                <a:spcPts val="0"/>
              </a:spcBef>
              <a:spcAft>
                <a:spcPts val="0"/>
              </a:spcAft>
              <a:buClr>
                <a:srgbClr val="F59E0B"/>
              </a:buClr>
              <a:buSzPts val="2436"/>
              <a:buFont typeface="Merriweather"/>
              <a:buNone/>
            </a:pPr>
            <a:r>
              <a:rPr b="1" i="0" lang="en-US" sz="2436" u="none" cap="none" strike="noStrike">
                <a:solidFill>
                  <a:srgbClr val="F59E0B"/>
                </a:solidFill>
                <a:latin typeface="Merriweather"/>
                <a:ea typeface="Merriweather"/>
                <a:cs typeface="Merriweather"/>
                <a:sym typeface="Merriweather"/>
              </a:rPr>
              <a:t>&lt;100KB</a:t>
            </a:r>
            <a:endParaRPr b="0" i="0" sz="2436" u="none" cap="none" strike="noStrike">
              <a:solidFill>
                <a:schemeClr val="dk1"/>
              </a:solidFill>
              <a:latin typeface="Calibri"/>
              <a:ea typeface="Calibri"/>
              <a:cs typeface="Calibri"/>
              <a:sym typeface="Calibri"/>
            </a:endParaRPr>
          </a:p>
        </p:txBody>
      </p:sp>
      <p:sp>
        <p:nvSpPr>
          <p:cNvPr id="573" name="Google Shape;573;p12"/>
          <p:cNvSpPr/>
          <p:nvPr/>
        </p:nvSpPr>
        <p:spPr>
          <a:xfrm>
            <a:off x="6420110" y="1789119"/>
            <a:ext cx="1923455" cy="155377"/>
          </a:xfrm>
          <a:prstGeom prst="rect">
            <a:avLst/>
          </a:prstGeom>
          <a:noFill/>
          <a:ln>
            <a:noFill/>
          </a:ln>
        </p:spPr>
        <p:txBody>
          <a:bodyPr anchorCtr="0" anchor="t" bIns="0" lIns="0" spcFirstLastPara="1" rIns="0" wrap="square" tIns="0">
            <a:noAutofit/>
          </a:bodyPr>
          <a:lstStyle/>
          <a:p>
            <a:pPr indent="0" lvl="0" marL="0" marR="0" rtl="0" algn="ctr">
              <a:lnSpc>
                <a:spcPct val="135593"/>
              </a:lnSpc>
              <a:spcBef>
                <a:spcPts val="0"/>
              </a:spcBef>
              <a:spcAft>
                <a:spcPts val="0"/>
              </a:spcAft>
              <a:buClr>
                <a:srgbClr val="E0E0E0"/>
              </a:buClr>
              <a:buSzPts val="885"/>
              <a:buFont typeface="Inter"/>
              <a:buNone/>
            </a:pPr>
            <a:r>
              <a:rPr b="1" i="0" lang="en-US" sz="885" u="none" cap="none" strike="noStrike">
                <a:solidFill>
                  <a:srgbClr val="E0E0E0"/>
                </a:solidFill>
                <a:latin typeface="Inter"/>
                <a:ea typeface="Inter"/>
                <a:cs typeface="Inter"/>
                <a:sym typeface="Inter"/>
              </a:rPr>
              <a:t>MEMORY PER CONNECTION</a:t>
            </a:r>
            <a:endParaRPr b="0" i="0" sz="885" u="none" cap="none" strike="noStrike">
              <a:solidFill>
                <a:schemeClr val="dk1"/>
              </a:solidFill>
              <a:latin typeface="Calibri"/>
              <a:ea typeface="Calibri"/>
              <a:cs typeface="Calibri"/>
              <a:sym typeface="Calibri"/>
            </a:endParaRPr>
          </a:p>
        </p:txBody>
      </p:sp>
      <p:sp>
        <p:nvSpPr>
          <p:cNvPr id="574" name="Google Shape;574;p12"/>
          <p:cNvSpPr/>
          <p:nvPr/>
        </p:nvSpPr>
        <p:spPr>
          <a:xfrm>
            <a:off x="428625" y="2194527"/>
            <a:ext cx="2666991" cy="642938"/>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2"/>
          <p:cNvSpPr/>
          <p:nvPr/>
        </p:nvSpPr>
        <p:spPr>
          <a:xfrm>
            <a:off x="428625" y="2194527"/>
            <a:ext cx="21431" cy="64293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2"/>
          <p:cNvSpPr/>
          <p:nvPr/>
        </p:nvSpPr>
        <p:spPr>
          <a:xfrm>
            <a:off x="571500" y="2400802"/>
            <a:ext cx="857250" cy="287536"/>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00E5FF"/>
              </a:buClr>
              <a:buSzPts val="1602"/>
              <a:buFont typeface="Merriweather"/>
              <a:buNone/>
            </a:pPr>
            <a:r>
              <a:rPr b="1" i="0" lang="en-US" sz="1602" u="none" cap="none" strike="noStrike">
                <a:solidFill>
                  <a:srgbClr val="00E5FF"/>
                </a:solidFill>
                <a:latin typeface="Merriweather"/>
                <a:ea typeface="Merriweather"/>
                <a:cs typeface="Merriweather"/>
                <a:sym typeface="Merriweather"/>
              </a:rPr>
              <a:t>&lt;50ms</a:t>
            </a:r>
            <a:endParaRPr b="0" i="0" sz="1602" u="none" cap="none" strike="noStrike">
              <a:solidFill>
                <a:schemeClr val="dk1"/>
              </a:solidFill>
              <a:latin typeface="Calibri"/>
              <a:ea typeface="Calibri"/>
              <a:cs typeface="Calibri"/>
              <a:sym typeface="Calibri"/>
            </a:endParaRPr>
          </a:p>
        </p:txBody>
      </p:sp>
      <p:sp>
        <p:nvSpPr>
          <p:cNvPr id="577" name="Google Shape;577;p12"/>
          <p:cNvSpPr/>
          <p:nvPr/>
        </p:nvSpPr>
        <p:spPr>
          <a:xfrm>
            <a:off x="1543050" y="2384561"/>
            <a:ext cx="1395403" cy="320018"/>
          </a:xfrm>
          <a:prstGeom prst="rect">
            <a:avLst/>
          </a:prstGeom>
          <a:noFill/>
          <a:ln>
            <a:noFill/>
          </a:ln>
        </p:spPr>
        <p:txBody>
          <a:bodyPr anchorCtr="0" anchor="t" bIns="0" lIns="0" spcFirstLastPara="1" rIns="0" wrap="square" tIns="0">
            <a:noAutofit/>
          </a:bodyPr>
          <a:lstStyle/>
          <a:p>
            <a:pPr indent="0" lvl="0" marL="0" marR="0" rtl="0" algn="l">
              <a:lnSpc>
                <a:spcPct val="155875"/>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Secret fetch via local proxy cache</a:t>
            </a:r>
            <a:endParaRPr b="0" i="0" sz="834" u="none" cap="none" strike="noStrike">
              <a:solidFill>
                <a:schemeClr val="dk1"/>
              </a:solidFill>
              <a:latin typeface="Calibri"/>
              <a:ea typeface="Calibri"/>
              <a:cs typeface="Calibri"/>
              <a:sym typeface="Calibri"/>
            </a:endParaRPr>
          </a:p>
        </p:txBody>
      </p:sp>
      <p:sp>
        <p:nvSpPr>
          <p:cNvPr id="578" name="Google Shape;578;p12"/>
          <p:cNvSpPr/>
          <p:nvPr/>
        </p:nvSpPr>
        <p:spPr>
          <a:xfrm>
            <a:off x="3224203" y="2194527"/>
            <a:ext cx="2674134" cy="642938"/>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2"/>
          <p:cNvSpPr/>
          <p:nvPr/>
        </p:nvSpPr>
        <p:spPr>
          <a:xfrm>
            <a:off x="3224203" y="2194527"/>
            <a:ext cx="21431" cy="64293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2"/>
          <p:cNvSpPr/>
          <p:nvPr/>
        </p:nvSpPr>
        <p:spPr>
          <a:xfrm>
            <a:off x="3374222" y="2400802"/>
            <a:ext cx="857250" cy="287536"/>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00E5FF"/>
              </a:buClr>
              <a:buSzPts val="1602"/>
              <a:buFont typeface="Merriweather"/>
              <a:buNone/>
            </a:pPr>
            <a:r>
              <a:rPr b="1" i="0" lang="en-US" sz="1602" u="none" cap="none" strike="noStrike">
                <a:solidFill>
                  <a:srgbClr val="00E5FF"/>
                </a:solidFill>
                <a:latin typeface="Merriweather"/>
                <a:ea typeface="Merriweather"/>
                <a:cs typeface="Merriweather"/>
                <a:sym typeface="Merriweather"/>
              </a:rPr>
              <a:t>&lt;100ms</a:t>
            </a:r>
            <a:endParaRPr b="0" i="0" sz="1602" u="none" cap="none" strike="noStrike">
              <a:solidFill>
                <a:schemeClr val="dk1"/>
              </a:solidFill>
              <a:latin typeface="Calibri"/>
              <a:ea typeface="Calibri"/>
              <a:cs typeface="Calibri"/>
              <a:sym typeface="Calibri"/>
            </a:endParaRPr>
          </a:p>
        </p:txBody>
      </p:sp>
      <p:sp>
        <p:nvSpPr>
          <p:cNvPr id="581" name="Google Shape;581;p12"/>
          <p:cNvSpPr/>
          <p:nvPr/>
        </p:nvSpPr>
        <p:spPr>
          <a:xfrm>
            <a:off x="4345772" y="2384561"/>
            <a:ext cx="1402547" cy="320018"/>
          </a:xfrm>
          <a:prstGeom prst="rect">
            <a:avLst/>
          </a:prstGeom>
          <a:noFill/>
          <a:ln>
            <a:noFill/>
          </a:ln>
        </p:spPr>
        <p:txBody>
          <a:bodyPr anchorCtr="0" anchor="t" bIns="0" lIns="0" spcFirstLastPara="1" rIns="0" wrap="square" tIns="0">
            <a:noAutofit/>
          </a:bodyPr>
          <a:lstStyle/>
          <a:p>
            <a:pPr indent="0" lvl="0" marL="0" marR="0" rtl="0" algn="l">
              <a:lnSpc>
                <a:spcPct val="155875"/>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SVID issuance via delegated signing</a:t>
            </a:r>
            <a:endParaRPr b="0" i="0" sz="834" u="none" cap="none" strike="noStrike">
              <a:solidFill>
                <a:schemeClr val="dk1"/>
              </a:solidFill>
              <a:latin typeface="Calibri"/>
              <a:ea typeface="Calibri"/>
              <a:cs typeface="Calibri"/>
              <a:sym typeface="Calibri"/>
            </a:endParaRPr>
          </a:p>
        </p:txBody>
      </p:sp>
      <p:sp>
        <p:nvSpPr>
          <p:cNvPr id="582" name="Google Shape;582;p12"/>
          <p:cNvSpPr/>
          <p:nvPr/>
        </p:nvSpPr>
        <p:spPr>
          <a:xfrm>
            <a:off x="6034069" y="2194527"/>
            <a:ext cx="2681278" cy="642938"/>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2"/>
          <p:cNvSpPr/>
          <p:nvPr/>
        </p:nvSpPr>
        <p:spPr>
          <a:xfrm>
            <a:off x="6034069" y="2194527"/>
            <a:ext cx="21431" cy="642938"/>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2"/>
          <p:cNvSpPr/>
          <p:nvPr/>
        </p:nvSpPr>
        <p:spPr>
          <a:xfrm>
            <a:off x="6191231" y="2400802"/>
            <a:ext cx="857250" cy="287536"/>
          </a:xfrm>
          <a:prstGeom prst="rect">
            <a:avLst/>
          </a:prstGeom>
          <a:noFill/>
          <a:ln>
            <a:noFill/>
          </a:ln>
        </p:spPr>
        <p:txBody>
          <a:bodyPr anchorCtr="0" anchor="t" bIns="0" lIns="0" spcFirstLastPara="1" rIns="0" wrap="square" tIns="0">
            <a:noAutofit/>
          </a:bodyPr>
          <a:lstStyle/>
          <a:p>
            <a:pPr indent="0" lvl="0" marL="0" marR="0" rtl="0" algn="l">
              <a:lnSpc>
                <a:spcPct val="137328"/>
              </a:lnSpc>
              <a:spcBef>
                <a:spcPts val="0"/>
              </a:spcBef>
              <a:spcAft>
                <a:spcPts val="0"/>
              </a:spcAft>
              <a:buClr>
                <a:srgbClr val="00E5FF"/>
              </a:buClr>
              <a:buSzPts val="1602"/>
              <a:buFont typeface="Merriweather"/>
              <a:buNone/>
            </a:pPr>
            <a:r>
              <a:rPr b="1" i="0" lang="en-US" sz="1602" u="none" cap="none" strike="noStrike">
                <a:solidFill>
                  <a:srgbClr val="00E5FF"/>
                </a:solidFill>
                <a:latin typeface="Merriweather"/>
                <a:ea typeface="Merriweather"/>
                <a:cs typeface="Merriweather"/>
                <a:sym typeface="Merriweather"/>
              </a:rPr>
              <a:t>&lt;4 hrs</a:t>
            </a:r>
            <a:endParaRPr b="0" i="0" sz="1602" u="none" cap="none" strike="noStrike">
              <a:solidFill>
                <a:schemeClr val="dk1"/>
              </a:solidFill>
              <a:latin typeface="Calibri"/>
              <a:ea typeface="Calibri"/>
              <a:cs typeface="Calibri"/>
              <a:sym typeface="Calibri"/>
            </a:endParaRPr>
          </a:p>
        </p:txBody>
      </p:sp>
      <p:sp>
        <p:nvSpPr>
          <p:cNvPr id="585" name="Google Shape;585;p12"/>
          <p:cNvSpPr/>
          <p:nvPr/>
        </p:nvSpPr>
        <p:spPr>
          <a:xfrm>
            <a:off x="7162781" y="2384561"/>
            <a:ext cx="1409691" cy="320018"/>
          </a:xfrm>
          <a:prstGeom prst="rect">
            <a:avLst/>
          </a:prstGeom>
          <a:noFill/>
          <a:ln>
            <a:noFill/>
          </a:ln>
        </p:spPr>
        <p:txBody>
          <a:bodyPr anchorCtr="0" anchor="t" bIns="0" lIns="0" spcFirstLastPara="1" rIns="0" wrap="square" tIns="0">
            <a:noAutofit/>
          </a:bodyPr>
          <a:lstStyle/>
          <a:p>
            <a:pPr indent="0" lvl="0" marL="0" marR="0" rtl="0" algn="l">
              <a:lnSpc>
                <a:spcPct val="155875"/>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Full fleet configuration propagation</a:t>
            </a:r>
            <a:endParaRPr b="0" i="0" sz="834" u="none" cap="none" strike="noStrike">
              <a:solidFill>
                <a:schemeClr val="dk1"/>
              </a:solidFill>
              <a:latin typeface="Calibri"/>
              <a:ea typeface="Calibri"/>
              <a:cs typeface="Calibri"/>
              <a:sym typeface="Calibri"/>
            </a:endParaRPr>
          </a:p>
        </p:txBody>
      </p:sp>
      <p:sp>
        <p:nvSpPr>
          <p:cNvPr id="586" name="Google Shape;586;p12"/>
          <p:cNvSpPr/>
          <p:nvPr/>
        </p:nvSpPr>
        <p:spPr>
          <a:xfrm>
            <a:off x="428625" y="2980339"/>
            <a:ext cx="8286750" cy="2106011"/>
          </a:xfrm>
          <a:prstGeom prst="rect">
            <a:avLst/>
          </a:prstGeom>
          <a:solidFill>
            <a:srgbClr val="0D1B2A"/>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7" name="Google Shape;587;p12"/>
          <p:cNvPicPr preferRelativeResize="0"/>
          <p:nvPr/>
        </p:nvPicPr>
        <p:blipFill rotWithShape="1">
          <a:blip r:embed="rId4">
            <a:alphaModFix/>
          </a:blip>
          <a:srcRect b="0" l="0" r="0" t="0"/>
          <a:stretch/>
        </p:blipFill>
        <p:spPr>
          <a:xfrm>
            <a:off x="600075" y="3109819"/>
            <a:ext cx="178594" cy="142875"/>
          </a:xfrm>
          <a:prstGeom prst="rect">
            <a:avLst/>
          </a:prstGeom>
          <a:noFill/>
          <a:ln>
            <a:noFill/>
          </a:ln>
        </p:spPr>
      </p:pic>
      <p:sp>
        <p:nvSpPr>
          <p:cNvPr id="588" name="Google Shape;588;p12"/>
          <p:cNvSpPr/>
          <p:nvPr/>
        </p:nvSpPr>
        <p:spPr>
          <a:xfrm>
            <a:off x="850106" y="3094639"/>
            <a:ext cx="1500188"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Inter"/>
              <a:buNone/>
            </a:pPr>
            <a:r>
              <a:rPr b="1" i="0" lang="en-US" sz="987" u="none" cap="none" strike="noStrike">
                <a:solidFill>
                  <a:srgbClr val="FFFFFF"/>
                </a:solidFill>
                <a:latin typeface="Inter"/>
                <a:ea typeface="Inter"/>
                <a:cs typeface="Inter"/>
                <a:sym typeface="Inter"/>
              </a:rPr>
              <a:t>How We Achieve This</a:t>
            </a:r>
            <a:endParaRPr b="0" i="0" sz="987" u="none" cap="none" strike="noStrike">
              <a:solidFill>
                <a:schemeClr val="dk1"/>
              </a:solidFill>
              <a:latin typeface="Calibri"/>
              <a:ea typeface="Calibri"/>
              <a:cs typeface="Calibri"/>
              <a:sym typeface="Calibri"/>
            </a:endParaRPr>
          </a:p>
        </p:txBody>
      </p:sp>
      <p:pic>
        <p:nvPicPr>
          <p:cNvPr descr="preencoded.png" id="589" name="Google Shape;589;p12"/>
          <p:cNvPicPr preferRelativeResize="0"/>
          <p:nvPr/>
        </p:nvPicPr>
        <p:blipFill rotWithShape="1">
          <a:blip r:embed="rId5">
            <a:alphaModFix/>
          </a:blip>
          <a:srcRect b="0" l="0" r="0" t="0"/>
          <a:stretch/>
        </p:blipFill>
        <p:spPr>
          <a:xfrm>
            <a:off x="600075" y="3439325"/>
            <a:ext cx="112514" cy="128588"/>
          </a:xfrm>
          <a:prstGeom prst="rect">
            <a:avLst/>
          </a:prstGeom>
          <a:noFill/>
          <a:ln>
            <a:noFill/>
          </a:ln>
        </p:spPr>
      </p:pic>
      <p:sp>
        <p:nvSpPr>
          <p:cNvPr id="590" name="Google Shape;590;p12"/>
          <p:cNvSpPr/>
          <p:nvPr/>
        </p:nvSpPr>
        <p:spPr>
          <a:xfrm>
            <a:off x="798314" y="3417894"/>
            <a:ext cx="3673673" cy="342900"/>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WebSocket connection pooling</a:t>
            </a:r>
            <a:r>
              <a:rPr b="0" i="0" lang="en-US" sz="834" u="none" cap="none" strike="noStrike">
                <a:solidFill>
                  <a:srgbClr val="E0E0E0"/>
                </a:solidFill>
                <a:latin typeface="Inter"/>
                <a:ea typeface="Inter"/>
                <a:cs typeface="Inter"/>
                <a:sym typeface="Inter"/>
              </a:rPr>
              <a:t> with epoll for efficient I/O multiplexing across 200K+ concurrent connections.</a:t>
            </a:r>
            <a:endParaRPr b="0" i="0" sz="784" u="none" cap="none" strike="noStrike">
              <a:solidFill>
                <a:schemeClr val="dk1"/>
              </a:solidFill>
              <a:latin typeface="Calibri"/>
              <a:ea typeface="Calibri"/>
              <a:cs typeface="Calibri"/>
              <a:sym typeface="Calibri"/>
            </a:endParaRPr>
          </a:p>
        </p:txBody>
      </p:sp>
      <p:pic>
        <p:nvPicPr>
          <p:cNvPr descr="preencoded.png" id="591" name="Google Shape;591;p12"/>
          <p:cNvPicPr preferRelativeResize="0"/>
          <p:nvPr/>
        </p:nvPicPr>
        <p:blipFill rotWithShape="1">
          <a:blip r:embed="rId5">
            <a:alphaModFix/>
          </a:blip>
          <a:srcRect b="0" l="0" r="0" t="0"/>
          <a:stretch/>
        </p:blipFill>
        <p:spPr>
          <a:xfrm>
            <a:off x="4672013" y="3439325"/>
            <a:ext cx="112514" cy="128588"/>
          </a:xfrm>
          <a:prstGeom prst="rect">
            <a:avLst/>
          </a:prstGeom>
          <a:noFill/>
          <a:ln>
            <a:noFill/>
          </a:ln>
        </p:spPr>
      </p:pic>
      <p:sp>
        <p:nvSpPr>
          <p:cNvPr id="592" name="Google Shape;592;p12"/>
          <p:cNvSpPr/>
          <p:nvPr/>
        </p:nvSpPr>
        <p:spPr>
          <a:xfrm>
            <a:off x="4870252" y="3417894"/>
            <a:ext cx="3673673" cy="342900"/>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TLS session resumption</a:t>
            </a:r>
            <a:r>
              <a:rPr b="0" i="0" lang="en-US" sz="834" u="none" cap="none" strike="noStrike">
                <a:solidFill>
                  <a:srgbClr val="E0E0E0"/>
                </a:solidFill>
                <a:latin typeface="Inter"/>
                <a:ea typeface="Inter"/>
                <a:cs typeface="Inter"/>
                <a:sym typeface="Inter"/>
              </a:rPr>
              <a:t> ensures reconnections after network blips do not require a full, expensive handshake.</a:t>
            </a:r>
            <a:endParaRPr b="0" i="0" sz="784" u="none" cap="none" strike="noStrike">
              <a:solidFill>
                <a:schemeClr val="dk1"/>
              </a:solidFill>
              <a:latin typeface="Calibri"/>
              <a:ea typeface="Calibri"/>
              <a:cs typeface="Calibri"/>
              <a:sym typeface="Calibri"/>
            </a:endParaRPr>
          </a:p>
        </p:txBody>
      </p:sp>
      <p:pic>
        <p:nvPicPr>
          <p:cNvPr descr="preencoded.png" id="593" name="Google Shape;593;p12"/>
          <p:cNvPicPr preferRelativeResize="0"/>
          <p:nvPr/>
        </p:nvPicPr>
        <p:blipFill rotWithShape="1">
          <a:blip r:embed="rId5">
            <a:alphaModFix/>
          </a:blip>
          <a:srcRect b="0" l="0" r="0" t="0"/>
          <a:stretch/>
        </p:blipFill>
        <p:spPr>
          <a:xfrm>
            <a:off x="600075" y="3896525"/>
            <a:ext cx="112514" cy="128588"/>
          </a:xfrm>
          <a:prstGeom prst="rect">
            <a:avLst/>
          </a:prstGeom>
          <a:noFill/>
          <a:ln>
            <a:noFill/>
          </a:ln>
        </p:spPr>
      </p:pic>
      <p:sp>
        <p:nvSpPr>
          <p:cNvPr id="594" name="Google Shape;594;p12"/>
          <p:cNvSpPr/>
          <p:nvPr/>
        </p:nvSpPr>
        <p:spPr>
          <a:xfrm>
            <a:off x="798314" y="3875094"/>
            <a:ext cx="3673673" cy="342900"/>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Lightweight goroutines</a:t>
            </a:r>
            <a:r>
              <a:rPr b="0" i="0" lang="en-US" sz="834" u="none" cap="none" strike="noStrike">
                <a:solidFill>
                  <a:srgbClr val="E0E0E0"/>
                </a:solidFill>
                <a:latin typeface="Inter"/>
                <a:ea typeface="Inter"/>
                <a:cs typeface="Inter"/>
                <a:sym typeface="Inter"/>
              </a:rPr>
              <a:t> on the server side keep memory overhead minimal per agent connection.</a:t>
            </a:r>
            <a:endParaRPr b="0" i="0" sz="784" u="none" cap="none" strike="noStrike">
              <a:solidFill>
                <a:schemeClr val="dk1"/>
              </a:solidFill>
              <a:latin typeface="Calibri"/>
              <a:ea typeface="Calibri"/>
              <a:cs typeface="Calibri"/>
              <a:sym typeface="Calibri"/>
            </a:endParaRPr>
          </a:p>
        </p:txBody>
      </p:sp>
      <p:pic>
        <p:nvPicPr>
          <p:cNvPr descr="preencoded.png" id="595" name="Google Shape;595;p12"/>
          <p:cNvPicPr preferRelativeResize="0"/>
          <p:nvPr/>
        </p:nvPicPr>
        <p:blipFill rotWithShape="1">
          <a:blip r:embed="rId5">
            <a:alphaModFix/>
          </a:blip>
          <a:srcRect b="0" l="0" r="0" t="0"/>
          <a:stretch/>
        </p:blipFill>
        <p:spPr>
          <a:xfrm>
            <a:off x="4672013" y="3896525"/>
            <a:ext cx="112514" cy="128588"/>
          </a:xfrm>
          <a:prstGeom prst="rect">
            <a:avLst/>
          </a:prstGeom>
          <a:noFill/>
          <a:ln>
            <a:noFill/>
          </a:ln>
        </p:spPr>
      </p:pic>
      <p:sp>
        <p:nvSpPr>
          <p:cNvPr id="596" name="Google Shape;596;p12"/>
          <p:cNvSpPr/>
          <p:nvPr/>
        </p:nvSpPr>
        <p:spPr>
          <a:xfrm>
            <a:off x="4870252" y="3875094"/>
            <a:ext cx="3673673" cy="342900"/>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Staggered rollout with jitter</a:t>
            </a:r>
            <a:r>
              <a:rPr b="0" i="0" lang="en-US" sz="834" u="none" cap="none" strike="noStrike">
                <a:solidFill>
                  <a:srgbClr val="E0E0E0"/>
                </a:solidFill>
                <a:latin typeface="Inter"/>
                <a:ea typeface="Inter"/>
                <a:cs typeface="Inter"/>
                <a:sym typeface="Inter"/>
              </a:rPr>
              <a:t> for configuration propagation prevents thundering herd effects on the control plane.</a:t>
            </a:r>
            <a:endParaRPr b="0" i="0" sz="784" u="none" cap="none" strike="noStrike">
              <a:solidFill>
                <a:schemeClr val="dk1"/>
              </a:solidFill>
              <a:latin typeface="Calibri"/>
              <a:ea typeface="Calibri"/>
              <a:cs typeface="Calibri"/>
              <a:sym typeface="Calibri"/>
            </a:endParaRPr>
          </a:p>
        </p:txBody>
      </p:sp>
      <p:pic>
        <p:nvPicPr>
          <p:cNvPr descr="preencoded.png" id="597" name="Google Shape;597;p12"/>
          <p:cNvPicPr preferRelativeResize="0"/>
          <p:nvPr/>
        </p:nvPicPr>
        <p:blipFill rotWithShape="1">
          <a:blip r:embed="rId5">
            <a:alphaModFix/>
          </a:blip>
          <a:srcRect b="0" l="0" r="0" t="0"/>
          <a:stretch/>
        </p:blipFill>
        <p:spPr>
          <a:xfrm>
            <a:off x="600075" y="4353725"/>
            <a:ext cx="112514" cy="128588"/>
          </a:xfrm>
          <a:prstGeom prst="rect">
            <a:avLst/>
          </a:prstGeom>
          <a:noFill/>
          <a:ln>
            <a:noFill/>
          </a:ln>
        </p:spPr>
      </p:pic>
      <p:sp>
        <p:nvSpPr>
          <p:cNvPr id="598" name="Google Shape;598;p12"/>
          <p:cNvSpPr/>
          <p:nvPr/>
        </p:nvSpPr>
        <p:spPr>
          <a:xfrm>
            <a:off x="798314" y="4332294"/>
            <a:ext cx="3673673" cy="342900"/>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Local SQLite cache</a:t>
            </a:r>
            <a:r>
              <a:rPr b="0" i="0" lang="en-US" sz="834" u="none" cap="none" strike="noStrike">
                <a:solidFill>
                  <a:srgbClr val="E0E0E0"/>
                </a:solidFill>
                <a:latin typeface="Inter"/>
                <a:ea typeface="Inter"/>
                <a:cs typeface="Inter"/>
                <a:sym typeface="Inter"/>
              </a:rPr>
              <a:t> on every Supervisor ensures partition tolerance and continuous operation during outages.</a:t>
            </a:r>
            <a:endParaRPr b="0" i="0" sz="784"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pic>
        <p:nvPicPr>
          <p:cNvPr descr="preencoded.png" id="604" name="Google Shape;604;p1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05" name="Google Shape;605;p13"/>
          <p:cNvSpPr/>
          <p:nvPr/>
        </p:nvSpPr>
        <p:spPr>
          <a:xfrm>
            <a:off x="0" y="0"/>
            <a:ext cx="9144000" cy="96864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3"/>
          <p:cNvSpPr/>
          <p:nvPr/>
        </p:nvSpPr>
        <p:spPr>
          <a:xfrm>
            <a:off x="0" y="954360"/>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3"/>
          <p:cNvSpPr/>
          <p:nvPr/>
        </p:nvSpPr>
        <p:spPr>
          <a:xfrm>
            <a:off x="428625" y="285750"/>
            <a:ext cx="8286750" cy="668610"/>
          </a:xfrm>
          <a:prstGeom prst="rect">
            <a:avLst/>
          </a:prstGeom>
          <a:noFill/>
          <a:ln>
            <a:noFill/>
          </a:ln>
        </p:spPr>
        <p:txBody>
          <a:bodyPr anchorCtr="0" anchor="t" bIns="0" lIns="0" spcFirstLastPara="1" rIns="0" wrap="square" tIns="0">
            <a:noAutofit/>
          </a:bodyPr>
          <a:lstStyle/>
          <a:p>
            <a:pPr indent="0" lvl="0" marL="0" marR="0" rtl="0" algn="l">
              <a:lnSpc>
                <a:spcPct val="143805"/>
              </a:lnSpc>
              <a:spcBef>
                <a:spcPts val="0"/>
              </a:spcBef>
              <a:spcAft>
                <a:spcPts val="0"/>
              </a:spcAft>
              <a:buClr>
                <a:srgbClr val="FFFFFF"/>
              </a:buClr>
              <a:buSzPts val="1808"/>
              <a:buFont typeface="Merriweather"/>
              <a:buNone/>
            </a:pPr>
            <a:r>
              <a:rPr b="1" i="0" lang="en-US" sz="1808" u="none" cap="none" strike="noStrike">
                <a:solidFill>
                  <a:srgbClr val="FFFFFF"/>
                </a:solidFill>
                <a:latin typeface="Merriweather"/>
                <a:ea typeface="Merriweather"/>
                <a:cs typeface="Merriweather"/>
                <a:sym typeface="Merriweather"/>
              </a:rPr>
              <a:t>Four Concentric Security Layers Achieve CISA Zero Trust Optimal Maturity</a:t>
            </a:r>
            <a:endParaRPr b="0" i="0" sz="1808" u="none" cap="none" strike="noStrike">
              <a:solidFill>
                <a:schemeClr val="dk1"/>
              </a:solidFill>
              <a:latin typeface="Calibri"/>
              <a:ea typeface="Calibri"/>
              <a:cs typeface="Calibri"/>
              <a:sym typeface="Calibri"/>
            </a:endParaRPr>
          </a:p>
        </p:txBody>
      </p:sp>
      <p:sp>
        <p:nvSpPr>
          <p:cNvPr id="608" name="Google Shape;608;p13"/>
          <p:cNvSpPr/>
          <p:nvPr/>
        </p:nvSpPr>
        <p:spPr>
          <a:xfrm>
            <a:off x="428625" y="1477305"/>
            <a:ext cx="2857500" cy="2857500"/>
          </a:xfrm>
          <a:prstGeom prst="rect">
            <a:avLst/>
          </a:prstGeom>
          <a:solidFill>
            <a:srgbClr val="00E5FF">
              <a:alpha val="3137"/>
            </a:srgbClr>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3"/>
          <p:cNvSpPr/>
          <p:nvPr/>
        </p:nvSpPr>
        <p:spPr>
          <a:xfrm>
            <a:off x="428625" y="1477305"/>
            <a:ext cx="2857500" cy="2857500"/>
          </a:xfrm>
          <a:prstGeom prst="rect">
            <a:avLst/>
          </a:prstGeom>
          <a:noFill/>
          <a:ln>
            <a:noFill/>
          </a:ln>
        </p:spPr>
        <p:txBody>
          <a:bodyPr anchorCtr="0" anchor="t" bIns="0" lIns="0" spcFirstLastPara="1" rIns="0" wrap="square" tIns="127500">
            <a:noAutofit/>
          </a:bodyPr>
          <a:lstStyle/>
          <a:p>
            <a:pPr indent="0" lvl="0" marL="0" marR="0" rtl="0" algn="l">
              <a:lnSpc>
                <a:spcPct val="131771"/>
              </a:lnSpc>
              <a:spcBef>
                <a:spcPts val="0"/>
              </a:spcBef>
              <a:spcAft>
                <a:spcPts val="0"/>
              </a:spcAft>
              <a:buClr>
                <a:srgbClr val="00E5FF"/>
              </a:buClr>
              <a:buSzPts val="683"/>
              <a:buFont typeface="Inter"/>
              <a:buNone/>
            </a:pPr>
            <a:r>
              <a:rPr b="1" i="0" lang="en-US" sz="683" u="none" cap="none" strike="noStrike">
                <a:solidFill>
                  <a:srgbClr val="00E5FF"/>
                </a:solidFill>
                <a:latin typeface="Inter"/>
                <a:ea typeface="Inter"/>
                <a:cs typeface="Inter"/>
                <a:sym typeface="Inter"/>
              </a:rPr>
              <a:t>LAYER 1: TRANSPORT</a:t>
            </a:r>
            <a:endParaRPr b="0" i="0" sz="683" u="none" cap="none" strike="noStrike">
              <a:solidFill>
                <a:schemeClr val="dk1"/>
              </a:solidFill>
              <a:latin typeface="Calibri"/>
              <a:ea typeface="Calibri"/>
              <a:cs typeface="Calibri"/>
              <a:sym typeface="Calibri"/>
            </a:endParaRPr>
          </a:p>
        </p:txBody>
      </p:sp>
      <p:sp>
        <p:nvSpPr>
          <p:cNvPr id="610" name="Google Shape;610;p13"/>
          <p:cNvSpPr/>
          <p:nvPr/>
        </p:nvSpPr>
        <p:spPr>
          <a:xfrm>
            <a:off x="785813" y="1834493"/>
            <a:ext cx="2143125" cy="2143125"/>
          </a:xfrm>
          <a:prstGeom prst="rect">
            <a:avLst/>
          </a:prstGeom>
          <a:solidFill>
            <a:srgbClr val="00E676">
              <a:alpha val="5098"/>
            </a:srgbClr>
          </a:solidFill>
          <a:ln cap="flat" cmpd="sng" w="1827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3"/>
          <p:cNvSpPr/>
          <p:nvPr/>
        </p:nvSpPr>
        <p:spPr>
          <a:xfrm>
            <a:off x="785813" y="1834493"/>
            <a:ext cx="2143125" cy="2143125"/>
          </a:xfrm>
          <a:prstGeom prst="rect">
            <a:avLst/>
          </a:prstGeom>
          <a:noFill/>
          <a:ln>
            <a:noFill/>
          </a:ln>
        </p:spPr>
        <p:txBody>
          <a:bodyPr anchorCtr="0" anchor="t" bIns="0" lIns="0" spcFirstLastPara="1" rIns="0" wrap="square" tIns="127500">
            <a:noAutofit/>
          </a:bodyPr>
          <a:lstStyle/>
          <a:p>
            <a:pPr indent="0" lvl="0" marL="0" marR="0" rtl="0" algn="l">
              <a:lnSpc>
                <a:spcPct val="131771"/>
              </a:lnSpc>
              <a:spcBef>
                <a:spcPts val="0"/>
              </a:spcBef>
              <a:spcAft>
                <a:spcPts val="0"/>
              </a:spcAft>
              <a:buClr>
                <a:srgbClr val="00E676"/>
              </a:buClr>
              <a:buSzPts val="683"/>
              <a:buFont typeface="Inter"/>
              <a:buNone/>
            </a:pPr>
            <a:r>
              <a:rPr b="1" i="0" lang="en-US" sz="683" u="none" cap="none" strike="noStrike">
                <a:solidFill>
                  <a:srgbClr val="00E676"/>
                </a:solidFill>
                <a:latin typeface="Inter"/>
                <a:ea typeface="Inter"/>
                <a:cs typeface="Inter"/>
                <a:sym typeface="Inter"/>
              </a:rPr>
              <a:t>LAYER 2: IDENTITY</a:t>
            </a:r>
            <a:endParaRPr b="0" i="0" sz="683" u="none" cap="none" strike="noStrike">
              <a:solidFill>
                <a:schemeClr val="dk1"/>
              </a:solidFill>
              <a:latin typeface="Calibri"/>
              <a:ea typeface="Calibri"/>
              <a:cs typeface="Calibri"/>
              <a:sym typeface="Calibri"/>
            </a:endParaRPr>
          </a:p>
        </p:txBody>
      </p:sp>
      <p:sp>
        <p:nvSpPr>
          <p:cNvPr id="612" name="Google Shape;612;p13"/>
          <p:cNvSpPr/>
          <p:nvPr/>
        </p:nvSpPr>
        <p:spPr>
          <a:xfrm>
            <a:off x="1143000" y="2191680"/>
            <a:ext cx="1428750" cy="1428750"/>
          </a:xfrm>
          <a:prstGeom prst="rect">
            <a:avLst/>
          </a:prstGeom>
          <a:solidFill>
            <a:srgbClr val="3B82F6">
              <a:alpha val="7843"/>
            </a:srgbClr>
          </a:solidFill>
          <a:ln cap="flat" cmpd="sng" w="18275">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3"/>
          <p:cNvSpPr/>
          <p:nvPr/>
        </p:nvSpPr>
        <p:spPr>
          <a:xfrm>
            <a:off x="1143000" y="2191680"/>
            <a:ext cx="1428750" cy="1428750"/>
          </a:xfrm>
          <a:prstGeom prst="rect">
            <a:avLst/>
          </a:prstGeom>
          <a:noFill/>
          <a:ln>
            <a:noFill/>
          </a:ln>
        </p:spPr>
        <p:txBody>
          <a:bodyPr anchorCtr="0" anchor="t" bIns="0" lIns="0" spcFirstLastPara="1" rIns="0" wrap="square" tIns="127500">
            <a:noAutofit/>
          </a:bodyPr>
          <a:lstStyle/>
          <a:p>
            <a:pPr indent="0" lvl="0" marL="0" marR="0" rtl="0" algn="l">
              <a:lnSpc>
                <a:spcPct val="131771"/>
              </a:lnSpc>
              <a:spcBef>
                <a:spcPts val="0"/>
              </a:spcBef>
              <a:spcAft>
                <a:spcPts val="0"/>
              </a:spcAft>
              <a:buClr>
                <a:srgbClr val="3B82F6"/>
              </a:buClr>
              <a:buSzPts val="683"/>
              <a:buFont typeface="Inter"/>
              <a:buNone/>
            </a:pPr>
            <a:r>
              <a:rPr b="1" i="0" lang="en-US" sz="683" u="none" cap="none" strike="noStrike">
                <a:solidFill>
                  <a:srgbClr val="3B82F6"/>
                </a:solidFill>
                <a:latin typeface="Inter"/>
                <a:ea typeface="Inter"/>
                <a:cs typeface="Inter"/>
                <a:sym typeface="Inter"/>
              </a:rPr>
              <a:t>LAYER 3: AUTHZ</a:t>
            </a:r>
            <a:endParaRPr b="0" i="0" sz="683" u="none" cap="none" strike="noStrike">
              <a:solidFill>
                <a:schemeClr val="dk1"/>
              </a:solidFill>
              <a:latin typeface="Calibri"/>
              <a:ea typeface="Calibri"/>
              <a:cs typeface="Calibri"/>
              <a:sym typeface="Calibri"/>
            </a:endParaRPr>
          </a:p>
        </p:txBody>
      </p:sp>
      <p:sp>
        <p:nvSpPr>
          <p:cNvPr id="614" name="Google Shape;614;p13"/>
          <p:cNvSpPr/>
          <p:nvPr/>
        </p:nvSpPr>
        <p:spPr>
          <a:xfrm>
            <a:off x="1500188" y="2548868"/>
            <a:ext cx="714375" cy="714375"/>
          </a:xfrm>
          <a:prstGeom prst="rect">
            <a:avLst/>
          </a:prstGeom>
          <a:solidFill>
            <a:srgbClr val="F59E0B">
              <a:alpha val="14901"/>
            </a:srgbClr>
          </a:solidFill>
          <a:ln cap="flat" cmpd="sng" w="1827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3"/>
          <p:cNvSpPr/>
          <p:nvPr/>
        </p:nvSpPr>
        <p:spPr>
          <a:xfrm>
            <a:off x="1500188" y="2784611"/>
            <a:ext cx="367903" cy="242888"/>
          </a:xfrm>
          <a:prstGeom prst="rect">
            <a:avLst/>
          </a:prstGeom>
          <a:noFill/>
          <a:ln>
            <a:noFill/>
          </a:ln>
        </p:spPr>
        <p:txBody>
          <a:bodyPr anchorCtr="0" anchor="t" bIns="0" lIns="0" spcFirstLastPara="1" rIns="0" wrap="square" tIns="0">
            <a:noAutofit/>
          </a:bodyPr>
          <a:lstStyle/>
          <a:p>
            <a:pPr indent="0" lvl="0" marL="0" marR="0" rtl="0" algn="ctr">
              <a:lnSpc>
                <a:spcPct val="131771"/>
              </a:lnSpc>
              <a:spcBef>
                <a:spcPts val="0"/>
              </a:spcBef>
              <a:spcAft>
                <a:spcPts val="0"/>
              </a:spcAft>
              <a:buClr>
                <a:srgbClr val="F59E0B"/>
              </a:buClr>
              <a:buSzPts val="683"/>
              <a:buFont typeface="Inter"/>
              <a:buNone/>
            </a:pPr>
            <a:r>
              <a:rPr b="1" i="0" lang="en-US" sz="683" u="none" cap="none" strike="noStrike">
                <a:solidFill>
                  <a:srgbClr val="F59E0B"/>
                </a:solidFill>
                <a:latin typeface="Inter"/>
                <a:ea typeface="Inter"/>
                <a:cs typeface="Inter"/>
                <a:sym typeface="Inter"/>
              </a:rPr>
              <a:t>LAYER 4:</a:t>
            </a:r>
            <a:endParaRPr b="0" i="0" sz="683" u="none" cap="none" strike="noStrike">
              <a:solidFill>
                <a:schemeClr val="dk1"/>
              </a:solidFill>
              <a:latin typeface="Calibri"/>
              <a:ea typeface="Calibri"/>
              <a:cs typeface="Calibri"/>
              <a:sym typeface="Calibri"/>
            </a:endParaRPr>
          </a:p>
        </p:txBody>
      </p:sp>
      <p:sp>
        <p:nvSpPr>
          <p:cNvPr id="616" name="Google Shape;616;p13"/>
          <p:cNvSpPr/>
          <p:nvPr/>
        </p:nvSpPr>
        <p:spPr>
          <a:xfrm>
            <a:off x="1868091" y="2845333"/>
            <a:ext cx="346472" cy="121444"/>
          </a:xfrm>
          <a:prstGeom prst="rect">
            <a:avLst/>
          </a:prstGeom>
          <a:noFill/>
          <a:ln>
            <a:noFill/>
          </a:ln>
        </p:spPr>
        <p:txBody>
          <a:bodyPr anchorCtr="0" anchor="t" bIns="0" lIns="0" spcFirstLastPara="1" rIns="0" wrap="square" tIns="0">
            <a:noAutofit/>
          </a:bodyPr>
          <a:lstStyle/>
          <a:p>
            <a:pPr indent="0" lvl="0" marL="0" marR="0" rtl="0" algn="ctr">
              <a:lnSpc>
                <a:spcPct val="131771"/>
              </a:lnSpc>
              <a:spcBef>
                <a:spcPts val="0"/>
              </a:spcBef>
              <a:spcAft>
                <a:spcPts val="0"/>
              </a:spcAft>
              <a:buClr>
                <a:srgbClr val="F59E0B"/>
              </a:buClr>
              <a:buSzPts val="683"/>
              <a:buFont typeface="Inter"/>
              <a:buNone/>
            </a:pPr>
            <a:r>
              <a:rPr b="1" i="0" lang="en-US" sz="683" u="none" cap="none" strike="noStrike">
                <a:solidFill>
                  <a:srgbClr val="F59E0B"/>
                </a:solidFill>
                <a:latin typeface="Inter"/>
                <a:ea typeface="Inter"/>
                <a:cs typeface="Inter"/>
                <a:sym typeface="Inter"/>
              </a:rPr>
              <a:t>AUDIT</a:t>
            </a:r>
            <a:endParaRPr b="0" i="0" sz="683" u="none" cap="none" strike="noStrike">
              <a:solidFill>
                <a:schemeClr val="dk1"/>
              </a:solidFill>
              <a:latin typeface="Calibri"/>
              <a:ea typeface="Calibri"/>
              <a:cs typeface="Calibri"/>
              <a:sym typeface="Calibri"/>
            </a:endParaRPr>
          </a:p>
        </p:txBody>
      </p:sp>
      <p:sp>
        <p:nvSpPr>
          <p:cNvPr id="617" name="Google Shape;617;p13"/>
          <p:cNvSpPr/>
          <p:nvPr/>
        </p:nvSpPr>
        <p:spPr>
          <a:xfrm>
            <a:off x="3643313" y="1240110"/>
            <a:ext cx="5072063" cy="678656"/>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3"/>
          <p:cNvSpPr/>
          <p:nvPr/>
        </p:nvSpPr>
        <p:spPr>
          <a:xfrm>
            <a:off x="3643313" y="1240110"/>
            <a:ext cx="28575" cy="678656"/>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9" name="Google Shape;619;p13"/>
          <p:cNvPicPr preferRelativeResize="0"/>
          <p:nvPr/>
        </p:nvPicPr>
        <p:blipFill rotWithShape="1">
          <a:blip r:embed="rId4">
            <a:alphaModFix/>
          </a:blip>
          <a:srcRect b="0" l="0" r="0" t="0"/>
          <a:stretch/>
        </p:blipFill>
        <p:spPr>
          <a:xfrm>
            <a:off x="3786188" y="1402268"/>
            <a:ext cx="178594" cy="142875"/>
          </a:xfrm>
          <a:prstGeom prst="rect">
            <a:avLst/>
          </a:prstGeom>
          <a:noFill/>
          <a:ln>
            <a:noFill/>
          </a:ln>
        </p:spPr>
      </p:pic>
      <p:sp>
        <p:nvSpPr>
          <p:cNvPr id="620" name="Google Shape;620;p13"/>
          <p:cNvSpPr/>
          <p:nvPr/>
        </p:nvSpPr>
        <p:spPr>
          <a:xfrm>
            <a:off x="4036219" y="1383516"/>
            <a:ext cx="1332309"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5FF"/>
              </a:buClr>
              <a:buSzPts val="987"/>
              <a:buFont typeface="Merriweather"/>
              <a:buNone/>
            </a:pPr>
            <a:r>
              <a:rPr b="1" i="0" lang="en-US" sz="987" u="none" cap="none" strike="noStrike">
                <a:solidFill>
                  <a:srgbClr val="00E5FF"/>
                </a:solidFill>
                <a:latin typeface="Merriweather"/>
                <a:ea typeface="Merriweather"/>
                <a:cs typeface="Merriweather"/>
                <a:sym typeface="Merriweather"/>
              </a:rPr>
              <a:t>Transport Security</a:t>
            </a:r>
            <a:endParaRPr b="0" i="0" sz="987" u="none" cap="none" strike="noStrike">
              <a:solidFill>
                <a:schemeClr val="dk1"/>
              </a:solidFill>
              <a:latin typeface="Calibri"/>
              <a:ea typeface="Calibri"/>
              <a:cs typeface="Calibri"/>
              <a:sym typeface="Calibri"/>
            </a:endParaRPr>
          </a:p>
        </p:txBody>
      </p:sp>
      <p:pic>
        <p:nvPicPr>
          <p:cNvPr descr="preencoded.png" id="621" name="Google Shape;621;p13"/>
          <p:cNvPicPr preferRelativeResize="0"/>
          <p:nvPr/>
        </p:nvPicPr>
        <p:blipFill rotWithShape="1">
          <a:blip r:embed="rId5">
            <a:alphaModFix/>
          </a:blip>
          <a:srcRect b="0" l="0" r="0" t="0"/>
          <a:stretch/>
        </p:blipFill>
        <p:spPr>
          <a:xfrm>
            <a:off x="3786188" y="1656764"/>
            <a:ext cx="75009" cy="85725"/>
          </a:xfrm>
          <a:prstGeom prst="rect">
            <a:avLst/>
          </a:prstGeom>
          <a:noFill/>
          <a:ln>
            <a:noFill/>
          </a:ln>
        </p:spPr>
      </p:pic>
      <p:sp>
        <p:nvSpPr>
          <p:cNvPr id="622" name="Google Shape;622;p13"/>
          <p:cNvSpPr/>
          <p:nvPr/>
        </p:nvSpPr>
        <p:spPr>
          <a:xfrm>
            <a:off x="3918347" y="1635333"/>
            <a:ext cx="941189"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TLS 1.3+ mandatory</a:t>
            </a:r>
            <a:endParaRPr b="0" i="0" sz="727" u="none" cap="none" strike="noStrike">
              <a:solidFill>
                <a:schemeClr val="dk1"/>
              </a:solidFill>
              <a:latin typeface="Calibri"/>
              <a:ea typeface="Calibri"/>
              <a:cs typeface="Calibri"/>
              <a:sym typeface="Calibri"/>
            </a:endParaRPr>
          </a:p>
        </p:txBody>
      </p:sp>
      <p:pic>
        <p:nvPicPr>
          <p:cNvPr descr="preencoded.png" id="623" name="Google Shape;623;p13"/>
          <p:cNvPicPr preferRelativeResize="0"/>
          <p:nvPr/>
        </p:nvPicPr>
        <p:blipFill rotWithShape="1">
          <a:blip r:embed="rId6">
            <a:alphaModFix/>
          </a:blip>
          <a:srcRect b="0" l="0" r="0" t="0"/>
          <a:stretch/>
        </p:blipFill>
        <p:spPr>
          <a:xfrm>
            <a:off x="5417334" y="1656764"/>
            <a:ext cx="75009" cy="85725"/>
          </a:xfrm>
          <a:prstGeom prst="rect">
            <a:avLst/>
          </a:prstGeom>
          <a:noFill/>
          <a:ln>
            <a:noFill/>
          </a:ln>
        </p:spPr>
      </p:pic>
      <p:sp>
        <p:nvSpPr>
          <p:cNvPr id="624" name="Google Shape;624;p13"/>
          <p:cNvSpPr/>
          <p:nvPr/>
        </p:nvSpPr>
        <p:spPr>
          <a:xfrm>
            <a:off x="5549494" y="1635333"/>
            <a:ext cx="1171575"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mTLS for all connections</a:t>
            </a:r>
            <a:endParaRPr b="0" i="0" sz="727" u="none" cap="none" strike="noStrike">
              <a:solidFill>
                <a:schemeClr val="dk1"/>
              </a:solidFill>
              <a:latin typeface="Calibri"/>
              <a:ea typeface="Calibri"/>
              <a:cs typeface="Calibri"/>
              <a:sym typeface="Calibri"/>
            </a:endParaRPr>
          </a:p>
        </p:txBody>
      </p:sp>
      <p:pic>
        <p:nvPicPr>
          <p:cNvPr descr="preencoded.png" id="625" name="Google Shape;625;p13"/>
          <p:cNvPicPr preferRelativeResize="0"/>
          <p:nvPr/>
        </p:nvPicPr>
        <p:blipFill rotWithShape="1">
          <a:blip r:embed="rId7">
            <a:alphaModFix/>
          </a:blip>
          <a:srcRect b="0" l="0" r="0" t="0"/>
          <a:stretch/>
        </p:blipFill>
        <p:spPr>
          <a:xfrm>
            <a:off x="7048481" y="1656764"/>
            <a:ext cx="75009" cy="85725"/>
          </a:xfrm>
          <a:prstGeom prst="rect">
            <a:avLst/>
          </a:prstGeom>
          <a:noFill/>
          <a:ln>
            <a:noFill/>
          </a:ln>
        </p:spPr>
      </p:pic>
      <p:sp>
        <p:nvSpPr>
          <p:cNvPr id="626" name="Google Shape;626;p13"/>
          <p:cNvSpPr/>
          <p:nvPr/>
        </p:nvSpPr>
        <p:spPr>
          <a:xfrm>
            <a:off x="7180641" y="1635333"/>
            <a:ext cx="1210866"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OCSP stapling fail-closed</a:t>
            </a:r>
            <a:endParaRPr b="0" i="0" sz="727" u="none" cap="none" strike="noStrike">
              <a:solidFill>
                <a:schemeClr val="dk1"/>
              </a:solidFill>
              <a:latin typeface="Calibri"/>
              <a:ea typeface="Calibri"/>
              <a:cs typeface="Calibri"/>
              <a:sym typeface="Calibri"/>
            </a:endParaRPr>
          </a:p>
        </p:txBody>
      </p:sp>
      <p:sp>
        <p:nvSpPr>
          <p:cNvPr id="627" name="Google Shape;627;p13"/>
          <p:cNvSpPr/>
          <p:nvPr/>
        </p:nvSpPr>
        <p:spPr>
          <a:xfrm>
            <a:off x="3643313" y="2025923"/>
            <a:ext cx="5072063" cy="746131"/>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3"/>
          <p:cNvSpPr/>
          <p:nvPr/>
        </p:nvSpPr>
        <p:spPr>
          <a:xfrm>
            <a:off x="3643313" y="2025923"/>
            <a:ext cx="28575" cy="746131"/>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9" name="Google Shape;629;p13"/>
          <p:cNvPicPr preferRelativeResize="0"/>
          <p:nvPr/>
        </p:nvPicPr>
        <p:blipFill rotWithShape="1">
          <a:blip r:embed="rId8">
            <a:alphaModFix/>
          </a:blip>
          <a:srcRect b="0" l="0" r="0" t="0"/>
          <a:stretch/>
        </p:blipFill>
        <p:spPr>
          <a:xfrm>
            <a:off x="3786188" y="2151831"/>
            <a:ext cx="107156" cy="142875"/>
          </a:xfrm>
          <a:prstGeom prst="rect">
            <a:avLst/>
          </a:prstGeom>
          <a:noFill/>
          <a:ln>
            <a:noFill/>
          </a:ln>
        </p:spPr>
      </p:pic>
      <p:sp>
        <p:nvSpPr>
          <p:cNvPr id="630" name="Google Shape;630;p13"/>
          <p:cNvSpPr/>
          <p:nvPr/>
        </p:nvSpPr>
        <p:spPr>
          <a:xfrm>
            <a:off x="3964781" y="2133079"/>
            <a:ext cx="1419820"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00E676"/>
              </a:buClr>
              <a:buSzPts val="987"/>
              <a:buFont typeface="Merriweather"/>
              <a:buNone/>
            </a:pPr>
            <a:r>
              <a:rPr b="1" i="0" lang="en-US" sz="987" u="none" cap="none" strike="noStrike">
                <a:solidFill>
                  <a:srgbClr val="00E676"/>
                </a:solidFill>
                <a:latin typeface="Merriweather"/>
                <a:ea typeface="Merriweather"/>
                <a:cs typeface="Merriweather"/>
                <a:sym typeface="Merriweather"/>
              </a:rPr>
              <a:t>Identity Verification</a:t>
            </a:r>
            <a:endParaRPr b="0" i="0" sz="987" u="none" cap="none" strike="noStrike">
              <a:solidFill>
                <a:schemeClr val="dk1"/>
              </a:solidFill>
              <a:latin typeface="Calibri"/>
              <a:ea typeface="Calibri"/>
              <a:cs typeface="Calibri"/>
              <a:sym typeface="Calibri"/>
            </a:endParaRPr>
          </a:p>
        </p:txBody>
      </p:sp>
      <p:pic>
        <p:nvPicPr>
          <p:cNvPr descr="preencoded.png" id="631" name="Google Shape;631;p13"/>
          <p:cNvPicPr preferRelativeResize="0"/>
          <p:nvPr/>
        </p:nvPicPr>
        <p:blipFill rotWithShape="1">
          <a:blip r:embed="rId9">
            <a:alphaModFix/>
          </a:blip>
          <a:srcRect b="0" l="0" r="0" t="0"/>
          <a:stretch/>
        </p:blipFill>
        <p:spPr>
          <a:xfrm>
            <a:off x="3786188" y="2406328"/>
            <a:ext cx="75009" cy="85725"/>
          </a:xfrm>
          <a:prstGeom prst="rect">
            <a:avLst/>
          </a:prstGeom>
          <a:noFill/>
          <a:ln>
            <a:noFill/>
          </a:ln>
        </p:spPr>
      </p:pic>
      <p:sp>
        <p:nvSpPr>
          <p:cNvPr id="632" name="Google Shape;632;p13"/>
          <p:cNvSpPr/>
          <p:nvPr/>
        </p:nvSpPr>
        <p:spPr>
          <a:xfrm>
            <a:off x="3918347" y="2384896"/>
            <a:ext cx="1062633"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SPIFFE SVIDs (1h TTL)</a:t>
            </a:r>
            <a:endParaRPr b="0" i="0" sz="727" u="none" cap="none" strike="noStrike">
              <a:solidFill>
                <a:schemeClr val="dk1"/>
              </a:solidFill>
              <a:latin typeface="Calibri"/>
              <a:ea typeface="Calibri"/>
              <a:cs typeface="Calibri"/>
              <a:sym typeface="Calibri"/>
            </a:endParaRPr>
          </a:p>
        </p:txBody>
      </p:sp>
      <p:pic>
        <p:nvPicPr>
          <p:cNvPr descr="preencoded.png" id="633" name="Google Shape;633;p13"/>
          <p:cNvPicPr preferRelativeResize="0"/>
          <p:nvPr/>
        </p:nvPicPr>
        <p:blipFill rotWithShape="1">
          <a:blip r:embed="rId10">
            <a:alphaModFix/>
          </a:blip>
          <a:srcRect b="0" l="0" r="0" t="0"/>
          <a:stretch/>
        </p:blipFill>
        <p:spPr>
          <a:xfrm>
            <a:off x="5417334" y="2406328"/>
            <a:ext cx="75009" cy="85725"/>
          </a:xfrm>
          <a:prstGeom prst="rect">
            <a:avLst/>
          </a:prstGeom>
          <a:noFill/>
          <a:ln>
            <a:noFill/>
          </a:ln>
        </p:spPr>
      </p:pic>
      <p:sp>
        <p:nvSpPr>
          <p:cNvPr id="634" name="Google Shape;634;p13"/>
          <p:cNvSpPr/>
          <p:nvPr/>
        </p:nvSpPr>
        <p:spPr>
          <a:xfrm>
            <a:off x="5549494" y="2384896"/>
            <a:ext cx="1375172"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Process attestation (UID/PID)</a:t>
            </a:r>
            <a:endParaRPr b="0" i="0" sz="727" u="none" cap="none" strike="noStrike">
              <a:solidFill>
                <a:schemeClr val="dk1"/>
              </a:solidFill>
              <a:latin typeface="Calibri"/>
              <a:ea typeface="Calibri"/>
              <a:cs typeface="Calibri"/>
              <a:sym typeface="Calibri"/>
            </a:endParaRPr>
          </a:p>
        </p:txBody>
      </p:sp>
      <p:pic>
        <p:nvPicPr>
          <p:cNvPr descr="preencoded.png" id="635" name="Google Shape;635;p13"/>
          <p:cNvPicPr preferRelativeResize="0"/>
          <p:nvPr/>
        </p:nvPicPr>
        <p:blipFill rotWithShape="1">
          <a:blip r:embed="rId11">
            <a:alphaModFix/>
          </a:blip>
          <a:srcRect b="0" l="0" r="0" t="0"/>
          <a:stretch/>
        </p:blipFill>
        <p:spPr>
          <a:xfrm>
            <a:off x="7048481" y="2406328"/>
            <a:ext cx="75009" cy="85725"/>
          </a:xfrm>
          <a:prstGeom prst="rect">
            <a:avLst/>
          </a:prstGeom>
          <a:noFill/>
          <a:ln>
            <a:noFill/>
          </a:ln>
        </p:spPr>
      </p:pic>
      <p:sp>
        <p:nvSpPr>
          <p:cNvPr id="636" name="Google Shape;636;p13"/>
          <p:cNvSpPr/>
          <p:nvPr/>
        </p:nvSpPr>
        <p:spPr>
          <a:xfrm>
            <a:off x="7180641" y="2384896"/>
            <a:ext cx="1391831" cy="280002"/>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Instance attestation (EC2/K8s)</a:t>
            </a:r>
            <a:endParaRPr b="0" i="0" sz="727" u="none" cap="none" strike="noStrike">
              <a:solidFill>
                <a:schemeClr val="dk1"/>
              </a:solidFill>
              <a:latin typeface="Calibri"/>
              <a:ea typeface="Calibri"/>
              <a:cs typeface="Calibri"/>
              <a:sym typeface="Calibri"/>
            </a:endParaRPr>
          </a:p>
        </p:txBody>
      </p:sp>
      <p:sp>
        <p:nvSpPr>
          <p:cNvPr id="637" name="Google Shape;637;p13"/>
          <p:cNvSpPr/>
          <p:nvPr/>
        </p:nvSpPr>
        <p:spPr>
          <a:xfrm>
            <a:off x="3643313" y="2879210"/>
            <a:ext cx="5072063" cy="678656"/>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3"/>
          <p:cNvSpPr/>
          <p:nvPr/>
        </p:nvSpPr>
        <p:spPr>
          <a:xfrm>
            <a:off x="3643313" y="2879210"/>
            <a:ext cx="28575" cy="678656"/>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9" name="Google Shape;639;p13"/>
          <p:cNvPicPr preferRelativeResize="0"/>
          <p:nvPr/>
        </p:nvPicPr>
        <p:blipFill rotWithShape="1">
          <a:blip r:embed="rId12">
            <a:alphaModFix/>
          </a:blip>
          <a:srcRect b="0" l="0" r="0" t="0"/>
          <a:stretch/>
        </p:blipFill>
        <p:spPr>
          <a:xfrm>
            <a:off x="3786188" y="3041368"/>
            <a:ext cx="142875" cy="142875"/>
          </a:xfrm>
          <a:prstGeom prst="rect">
            <a:avLst/>
          </a:prstGeom>
          <a:noFill/>
          <a:ln>
            <a:noFill/>
          </a:ln>
        </p:spPr>
      </p:pic>
      <p:sp>
        <p:nvSpPr>
          <p:cNvPr id="640" name="Google Shape;640;p13"/>
          <p:cNvSpPr/>
          <p:nvPr/>
        </p:nvSpPr>
        <p:spPr>
          <a:xfrm>
            <a:off x="4000500" y="3022616"/>
            <a:ext cx="984052"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3B82F6"/>
              </a:buClr>
              <a:buSzPts val="987"/>
              <a:buFont typeface="Merriweather"/>
              <a:buNone/>
            </a:pPr>
            <a:r>
              <a:rPr b="1" i="0" lang="en-US" sz="987" u="none" cap="none" strike="noStrike">
                <a:solidFill>
                  <a:srgbClr val="3B82F6"/>
                </a:solidFill>
                <a:latin typeface="Merriweather"/>
                <a:ea typeface="Merriweather"/>
                <a:cs typeface="Merriweather"/>
                <a:sym typeface="Merriweather"/>
              </a:rPr>
              <a:t>Authorization</a:t>
            </a:r>
            <a:endParaRPr b="0" i="0" sz="987" u="none" cap="none" strike="noStrike">
              <a:solidFill>
                <a:schemeClr val="dk1"/>
              </a:solidFill>
              <a:latin typeface="Calibri"/>
              <a:ea typeface="Calibri"/>
              <a:cs typeface="Calibri"/>
              <a:sym typeface="Calibri"/>
            </a:endParaRPr>
          </a:p>
        </p:txBody>
      </p:sp>
      <p:pic>
        <p:nvPicPr>
          <p:cNvPr descr="preencoded.png" id="641" name="Google Shape;641;p13"/>
          <p:cNvPicPr preferRelativeResize="0"/>
          <p:nvPr/>
        </p:nvPicPr>
        <p:blipFill rotWithShape="1">
          <a:blip r:embed="rId13">
            <a:alphaModFix/>
          </a:blip>
          <a:srcRect b="0" l="0" r="0" t="0"/>
          <a:stretch/>
        </p:blipFill>
        <p:spPr>
          <a:xfrm>
            <a:off x="3786188" y="3295864"/>
            <a:ext cx="75009" cy="85725"/>
          </a:xfrm>
          <a:prstGeom prst="rect">
            <a:avLst/>
          </a:prstGeom>
          <a:noFill/>
          <a:ln>
            <a:noFill/>
          </a:ln>
        </p:spPr>
      </p:pic>
      <p:sp>
        <p:nvSpPr>
          <p:cNvPr id="642" name="Google Shape;642;p13"/>
          <p:cNvSpPr/>
          <p:nvPr/>
        </p:nvSpPr>
        <p:spPr>
          <a:xfrm>
            <a:off x="3918347" y="3274433"/>
            <a:ext cx="1025128"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Athenz RBAC policies</a:t>
            </a:r>
            <a:endParaRPr b="0" i="0" sz="727" u="none" cap="none" strike="noStrike">
              <a:solidFill>
                <a:schemeClr val="dk1"/>
              </a:solidFill>
              <a:latin typeface="Calibri"/>
              <a:ea typeface="Calibri"/>
              <a:cs typeface="Calibri"/>
              <a:sym typeface="Calibri"/>
            </a:endParaRPr>
          </a:p>
        </p:txBody>
      </p:sp>
      <p:pic>
        <p:nvPicPr>
          <p:cNvPr descr="preencoded.png" id="643" name="Google Shape;643;p13"/>
          <p:cNvPicPr preferRelativeResize="0"/>
          <p:nvPr/>
        </p:nvPicPr>
        <p:blipFill rotWithShape="1">
          <a:blip r:embed="rId14">
            <a:alphaModFix/>
          </a:blip>
          <a:srcRect b="0" l="0" r="0" t="0"/>
          <a:stretch/>
        </p:blipFill>
        <p:spPr>
          <a:xfrm>
            <a:off x="5417334" y="3295864"/>
            <a:ext cx="75009" cy="85725"/>
          </a:xfrm>
          <a:prstGeom prst="rect">
            <a:avLst/>
          </a:prstGeom>
          <a:noFill/>
          <a:ln>
            <a:noFill/>
          </a:ln>
        </p:spPr>
      </p:pic>
      <p:sp>
        <p:nvSpPr>
          <p:cNvPr id="644" name="Google Shape;644;p13"/>
          <p:cNvSpPr/>
          <p:nvPr/>
        </p:nvSpPr>
        <p:spPr>
          <a:xfrm>
            <a:off x="5549494" y="3274433"/>
            <a:ext cx="1012627"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Role tokens (5m TTL)</a:t>
            </a:r>
            <a:endParaRPr b="0" i="0" sz="727" u="none" cap="none" strike="noStrike">
              <a:solidFill>
                <a:schemeClr val="dk1"/>
              </a:solidFill>
              <a:latin typeface="Calibri"/>
              <a:ea typeface="Calibri"/>
              <a:cs typeface="Calibri"/>
              <a:sym typeface="Calibri"/>
            </a:endParaRPr>
          </a:p>
        </p:txBody>
      </p:sp>
      <p:pic>
        <p:nvPicPr>
          <p:cNvPr descr="preencoded.png" id="645" name="Google Shape;645;p13"/>
          <p:cNvPicPr preferRelativeResize="0"/>
          <p:nvPr/>
        </p:nvPicPr>
        <p:blipFill rotWithShape="1">
          <a:blip r:embed="rId15">
            <a:alphaModFix/>
          </a:blip>
          <a:srcRect b="0" l="0" r="0" t="0"/>
          <a:stretch/>
        </p:blipFill>
        <p:spPr>
          <a:xfrm>
            <a:off x="7048481" y="3295864"/>
            <a:ext cx="75009" cy="85725"/>
          </a:xfrm>
          <a:prstGeom prst="rect">
            <a:avLst/>
          </a:prstGeom>
          <a:noFill/>
          <a:ln>
            <a:noFill/>
          </a:ln>
        </p:spPr>
      </p:pic>
      <p:sp>
        <p:nvSpPr>
          <p:cNvPr id="646" name="Google Shape;646;p13"/>
          <p:cNvSpPr/>
          <p:nvPr/>
        </p:nvSpPr>
        <p:spPr>
          <a:xfrm>
            <a:off x="7180641" y="3274433"/>
            <a:ext cx="1076920"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Resource-level access</a:t>
            </a:r>
            <a:endParaRPr b="0" i="0" sz="727" u="none" cap="none" strike="noStrike">
              <a:solidFill>
                <a:schemeClr val="dk1"/>
              </a:solidFill>
              <a:latin typeface="Calibri"/>
              <a:ea typeface="Calibri"/>
              <a:cs typeface="Calibri"/>
              <a:sym typeface="Calibri"/>
            </a:endParaRPr>
          </a:p>
        </p:txBody>
      </p:sp>
      <p:sp>
        <p:nvSpPr>
          <p:cNvPr id="647" name="Google Shape;647;p13"/>
          <p:cNvSpPr/>
          <p:nvPr/>
        </p:nvSpPr>
        <p:spPr>
          <a:xfrm>
            <a:off x="3643313" y="3665023"/>
            <a:ext cx="5072063" cy="678656"/>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3"/>
          <p:cNvSpPr/>
          <p:nvPr/>
        </p:nvSpPr>
        <p:spPr>
          <a:xfrm>
            <a:off x="3643313" y="3665023"/>
            <a:ext cx="28575" cy="678656"/>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9" name="Google Shape;649;p13"/>
          <p:cNvPicPr preferRelativeResize="0"/>
          <p:nvPr/>
        </p:nvPicPr>
        <p:blipFill rotWithShape="1">
          <a:blip r:embed="rId16">
            <a:alphaModFix/>
          </a:blip>
          <a:srcRect b="0" l="0" r="0" t="0"/>
          <a:stretch/>
        </p:blipFill>
        <p:spPr>
          <a:xfrm>
            <a:off x="3786188" y="3827180"/>
            <a:ext cx="107156" cy="142875"/>
          </a:xfrm>
          <a:prstGeom prst="rect">
            <a:avLst/>
          </a:prstGeom>
          <a:noFill/>
          <a:ln>
            <a:noFill/>
          </a:ln>
        </p:spPr>
      </p:pic>
      <p:sp>
        <p:nvSpPr>
          <p:cNvPr id="650" name="Google Shape;650;p13"/>
          <p:cNvSpPr/>
          <p:nvPr/>
        </p:nvSpPr>
        <p:spPr>
          <a:xfrm>
            <a:off x="3964781" y="3808428"/>
            <a:ext cx="1387673"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59E0B"/>
              </a:buClr>
              <a:buSzPts val="987"/>
              <a:buFont typeface="Merriweather"/>
              <a:buNone/>
            </a:pPr>
            <a:r>
              <a:rPr b="1" i="0" lang="en-US" sz="987" u="none" cap="none" strike="noStrike">
                <a:solidFill>
                  <a:srgbClr val="F59E0B"/>
                </a:solidFill>
                <a:latin typeface="Merriweather"/>
                <a:ea typeface="Merriweather"/>
                <a:cs typeface="Merriweather"/>
                <a:sym typeface="Merriweather"/>
              </a:rPr>
              <a:t>Audit &amp; Compliance</a:t>
            </a:r>
            <a:endParaRPr b="0" i="0" sz="987" u="none" cap="none" strike="noStrike">
              <a:solidFill>
                <a:schemeClr val="dk1"/>
              </a:solidFill>
              <a:latin typeface="Calibri"/>
              <a:ea typeface="Calibri"/>
              <a:cs typeface="Calibri"/>
              <a:sym typeface="Calibri"/>
            </a:endParaRPr>
          </a:p>
        </p:txBody>
      </p:sp>
      <p:pic>
        <p:nvPicPr>
          <p:cNvPr descr="preencoded.png" id="651" name="Google Shape;651;p13"/>
          <p:cNvPicPr preferRelativeResize="0"/>
          <p:nvPr/>
        </p:nvPicPr>
        <p:blipFill rotWithShape="1">
          <a:blip r:embed="rId17">
            <a:alphaModFix/>
          </a:blip>
          <a:srcRect b="0" l="0" r="0" t="0"/>
          <a:stretch/>
        </p:blipFill>
        <p:spPr>
          <a:xfrm>
            <a:off x="3786188" y="4081676"/>
            <a:ext cx="75009" cy="85725"/>
          </a:xfrm>
          <a:prstGeom prst="rect">
            <a:avLst/>
          </a:prstGeom>
          <a:noFill/>
          <a:ln>
            <a:noFill/>
          </a:ln>
        </p:spPr>
      </p:pic>
      <p:sp>
        <p:nvSpPr>
          <p:cNvPr id="652" name="Google Shape;652;p13"/>
          <p:cNvSpPr/>
          <p:nvPr/>
        </p:nvSpPr>
        <p:spPr>
          <a:xfrm>
            <a:off x="3918347" y="4060245"/>
            <a:ext cx="1039416"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Full session recording</a:t>
            </a:r>
            <a:endParaRPr b="0" i="0" sz="727" u="none" cap="none" strike="noStrike">
              <a:solidFill>
                <a:schemeClr val="dk1"/>
              </a:solidFill>
              <a:latin typeface="Calibri"/>
              <a:ea typeface="Calibri"/>
              <a:cs typeface="Calibri"/>
              <a:sym typeface="Calibri"/>
            </a:endParaRPr>
          </a:p>
        </p:txBody>
      </p:sp>
      <p:pic>
        <p:nvPicPr>
          <p:cNvPr descr="preencoded.png" id="653" name="Google Shape;653;p13"/>
          <p:cNvPicPr preferRelativeResize="0"/>
          <p:nvPr/>
        </p:nvPicPr>
        <p:blipFill rotWithShape="1">
          <a:blip r:embed="rId18">
            <a:alphaModFix/>
          </a:blip>
          <a:srcRect b="0" l="0" r="0" t="0"/>
          <a:stretch/>
        </p:blipFill>
        <p:spPr>
          <a:xfrm>
            <a:off x="5417334" y="4081676"/>
            <a:ext cx="75009" cy="85725"/>
          </a:xfrm>
          <a:prstGeom prst="rect">
            <a:avLst/>
          </a:prstGeom>
          <a:noFill/>
          <a:ln>
            <a:noFill/>
          </a:ln>
        </p:spPr>
      </p:pic>
      <p:sp>
        <p:nvSpPr>
          <p:cNvPr id="654" name="Google Shape;654;p13"/>
          <p:cNvSpPr/>
          <p:nvPr/>
        </p:nvSpPr>
        <p:spPr>
          <a:xfrm>
            <a:off x="5549494" y="4060245"/>
            <a:ext cx="919758"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Complete audit trail</a:t>
            </a:r>
            <a:endParaRPr b="0" i="0" sz="727" u="none" cap="none" strike="noStrike">
              <a:solidFill>
                <a:schemeClr val="dk1"/>
              </a:solidFill>
              <a:latin typeface="Calibri"/>
              <a:ea typeface="Calibri"/>
              <a:cs typeface="Calibri"/>
              <a:sym typeface="Calibri"/>
            </a:endParaRPr>
          </a:p>
        </p:txBody>
      </p:sp>
      <p:pic>
        <p:nvPicPr>
          <p:cNvPr descr="preencoded.png" id="655" name="Google Shape;655;p13"/>
          <p:cNvPicPr preferRelativeResize="0"/>
          <p:nvPr/>
        </p:nvPicPr>
        <p:blipFill rotWithShape="1">
          <a:blip r:embed="rId19">
            <a:alphaModFix/>
          </a:blip>
          <a:srcRect b="0" l="0" r="0" t="0"/>
          <a:stretch/>
        </p:blipFill>
        <p:spPr>
          <a:xfrm>
            <a:off x="7048481" y="4081676"/>
            <a:ext cx="75009" cy="85725"/>
          </a:xfrm>
          <a:prstGeom prst="rect">
            <a:avLst/>
          </a:prstGeom>
          <a:noFill/>
          <a:ln>
            <a:noFill/>
          </a:ln>
        </p:spPr>
      </p:pic>
      <p:sp>
        <p:nvSpPr>
          <p:cNvPr id="656" name="Google Shape;656;p13"/>
          <p:cNvSpPr/>
          <p:nvPr/>
        </p:nvSpPr>
        <p:spPr>
          <a:xfrm>
            <a:off x="7180641" y="4060245"/>
            <a:ext cx="1310878" cy="140001"/>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NIST/SOC2/PCI compliance</a:t>
            </a:r>
            <a:endParaRPr b="0" i="0" sz="727" u="none" cap="none" strike="noStrike">
              <a:solidFill>
                <a:schemeClr val="dk1"/>
              </a:solidFill>
              <a:latin typeface="Calibri"/>
              <a:ea typeface="Calibri"/>
              <a:cs typeface="Calibri"/>
              <a:sym typeface="Calibri"/>
            </a:endParaRPr>
          </a:p>
        </p:txBody>
      </p:sp>
      <p:sp>
        <p:nvSpPr>
          <p:cNvPr id="657" name="Google Shape;657;p13"/>
          <p:cNvSpPr/>
          <p:nvPr/>
        </p:nvSpPr>
        <p:spPr>
          <a:xfrm>
            <a:off x="0" y="4572000"/>
            <a:ext cx="9144000" cy="5715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3"/>
          <p:cNvSpPr/>
          <p:nvPr/>
        </p:nvSpPr>
        <p:spPr>
          <a:xfrm>
            <a:off x="0" y="4572000"/>
            <a:ext cx="91440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9" name="Google Shape;659;p13"/>
          <p:cNvPicPr preferRelativeResize="0"/>
          <p:nvPr/>
        </p:nvPicPr>
        <p:blipFill rotWithShape="1">
          <a:blip r:embed="rId20">
            <a:alphaModFix/>
          </a:blip>
          <a:srcRect b="0" l="0" r="0" t="0"/>
          <a:stretch/>
        </p:blipFill>
        <p:spPr>
          <a:xfrm>
            <a:off x="428625" y="4793456"/>
            <a:ext cx="135731" cy="128588"/>
          </a:xfrm>
          <a:prstGeom prst="rect">
            <a:avLst/>
          </a:prstGeom>
          <a:noFill/>
          <a:ln>
            <a:noFill/>
          </a:ln>
        </p:spPr>
      </p:pic>
      <p:sp>
        <p:nvSpPr>
          <p:cNvPr id="660" name="Google Shape;660;p13"/>
          <p:cNvSpPr/>
          <p:nvPr/>
        </p:nvSpPr>
        <p:spPr>
          <a:xfrm>
            <a:off x="635794" y="4780062"/>
            <a:ext cx="969764"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9CA3AF"/>
              </a:buClr>
              <a:buSzPts val="885"/>
              <a:buFont typeface="Inter"/>
              <a:buNone/>
            </a:pPr>
            <a:r>
              <a:rPr b="1" i="0" lang="en-US" sz="885" u="none" cap="none" strike="noStrike">
                <a:solidFill>
                  <a:srgbClr val="9CA3AF"/>
                </a:solidFill>
                <a:latin typeface="Inter"/>
                <a:ea typeface="Inter"/>
                <a:cs typeface="Inter"/>
                <a:sym typeface="Inter"/>
              </a:rPr>
              <a:t>NIST 800-207</a:t>
            </a:r>
            <a:endParaRPr b="0" i="0" sz="885" u="none" cap="none" strike="noStrike">
              <a:solidFill>
                <a:schemeClr val="dk1"/>
              </a:solidFill>
              <a:latin typeface="Calibri"/>
              <a:ea typeface="Calibri"/>
              <a:cs typeface="Calibri"/>
              <a:sym typeface="Calibri"/>
            </a:endParaRPr>
          </a:p>
        </p:txBody>
      </p:sp>
      <p:pic>
        <p:nvPicPr>
          <p:cNvPr descr="preencoded.png" id="661" name="Google Shape;661;p13"/>
          <p:cNvPicPr preferRelativeResize="0"/>
          <p:nvPr/>
        </p:nvPicPr>
        <p:blipFill rotWithShape="1">
          <a:blip r:embed="rId20">
            <a:alphaModFix/>
          </a:blip>
          <a:srcRect b="0" l="0" r="0" t="0"/>
          <a:stretch/>
        </p:blipFill>
        <p:spPr>
          <a:xfrm>
            <a:off x="2531259" y="4793456"/>
            <a:ext cx="135731" cy="128588"/>
          </a:xfrm>
          <a:prstGeom prst="rect">
            <a:avLst/>
          </a:prstGeom>
          <a:noFill/>
          <a:ln>
            <a:noFill/>
          </a:ln>
        </p:spPr>
      </p:pic>
      <p:sp>
        <p:nvSpPr>
          <p:cNvPr id="662" name="Google Shape;662;p13"/>
          <p:cNvSpPr/>
          <p:nvPr/>
        </p:nvSpPr>
        <p:spPr>
          <a:xfrm>
            <a:off x="2738428" y="4780062"/>
            <a:ext cx="957263"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9CA3AF"/>
              </a:buClr>
              <a:buSzPts val="885"/>
              <a:buFont typeface="Inter"/>
              <a:buNone/>
            </a:pPr>
            <a:r>
              <a:rPr b="1" i="0" lang="en-US" sz="885" u="none" cap="none" strike="noStrike">
                <a:solidFill>
                  <a:srgbClr val="9CA3AF"/>
                </a:solidFill>
                <a:latin typeface="Inter"/>
                <a:ea typeface="Inter"/>
                <a:cs typeface="Inter"/>
                <a:sym typeface="Inter"/>
              </a:rPr>
              <a:t>SOC 2 TYPE II</a:t>
            </a:r>
            <a:endParaRPr b="0" i="0" sz="885" u="none" cap="none" strike="noStrike">
              <a:solidFill>
                <a:schemeClr val="dk1"/>
              </a:solidFill>
              <a:latin typeface="Calibri"/>
              <a:ea typeface="Calibri"/>
              <a:cs typeface="Calibri"/>
              <a:sym typeface="Calibri"/>
            </a:endParaRPr>
          </a:p>
        </p:txBody>
      </p:sp>
      <p:pic>
        <p:nvPicPr>
          <p:cNvPr descr="preencoded.png" id="663" name="Google Shape;663;p13"/>
          <p:cNvPicPr preferRelativeResize="0"/>
          <p:nvPr/>
        </p:nvPicPr>
        <p:blipFill rotWithShape="1">
          <a:blip r:embed="rId21">
            <a:alphaModFix/>
          </a:blip>
          <a:srcRect b="0" l="0" r="0" t="0"/>
          <a:stretch/>
        </p:blipFill>
        <p:spPr>
          <a:xfrm>
            <a:off x="4621392" y="4793456"/>
            <a:ext cx="135731" cy="128588"/>
          </a:xfrm>
          <a:prstGeom prst="rect">
            <a:avLst/>
          </a:prstGeom>
          <a:noFill/>
          <a:ln>
            <a:noFill/>
          </a:ln>
        </p:spPr>
      </p:pic>
      <p:sp>
        <p:nvSpPr>
          <p:cNvPr id="664" name="Google Shape;664;p13"/>
          <p:cNvSpPr/>
          <p:nvPr/>
        </p:nvSpPr>
        <p:spPr>
          <a:xfrm>
            <a:off x="4828561" y="4780062"/>
            <a:ext cx="555427"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9CA3AF"/>
              </a:buClr>
              <a:buSzPts val="885"/>
              <a:buFont typeface="Inter"/>
              <a:buNone/>
            </a:pPr>
            <a:r>
              <a:rPr b="1" i="0" lang="en-US" sz="885" u="none" cap="none" strike="noStrike">
                <a:solidFill>
                  <a:srgbClr val="9CA3AF"/>
                </a:solidFill>
                <a:latin typeface="Inter"/>
                <a:ea typeface="Inter"/>
                <a:cs typeface="Inter"/>
                <a:sym typeface="Inter"/>
              </a:rPr>
              <a:t>PCI DSS</a:t>
            </a:r>
            <a:endParaRPr b="0" i="0" sz="885" u="none" cap="none" strike="noStrike">
              <a:solidFill>
                <a:schemeClr val="dk1"/>
              </a:solidFill>
              <a:latin typeface="Calibri"/>
              <a:ea typeface="Calibri"/>
              <a:cs typeface="Calibri"/>
              <a:sym typeface="Calibri"/>
            </a:endParaRPr>
          </a:p>
        </p:txBody>
      </p:sp>
      <p:sp>
        <p:nvSpPr>
          <p:cNvPr id="665" name="Google Shape;665;p13"/>
          <p:cNvSpPr/>
          <p:nvPr/>
        </p:nvSpPr>
        <p:spPr>
          <a:xfrm>
            <a:off x="6309689" y="4701480"/>
            <a:ext cx="2405658" cy="312539"/>
          </a:xfrm>
          <a:prstGeom prst="rect">
            <a:avLst/>
          </a:prstGeom>
          <a:solidFill>
            <a:srgbClr val="F59E0B">
              <a:alpha val="10196"/>
            </a:srgbClr>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66" name="Google Shape;666;p13"/>
          <p:cNvPicPr preferRelativeResize="0"/>
          <p:nvPr/>
        </p:nvPicPr>
        <p:blipFill rotWithShape="1">
          <a:blip r:embed="rId22">
            <a:alphaModFix/>
          </a:blip>
          <a:srcRect b="0" l="0" r="0" t="0"/>
          <a:stretch/>
        </p:blipFill>
        <p:spPr>
          <a:xfrm>
            <a:off x="6466880" y="4793456"/>
            <a:ext cx="103584" cy="128588"/>
          </a:xfrm>
          <a:prstGeom prst="rect">
            <a:avLst/>
          </a:prstGeom>
          <a:noFill/>
          <a:ln>
            <a:noFill/>
          </a:ln>
        </p:spPr>
      </p:pic>
      <p:sp>
        <p:nvSpPr>
          <p:cNvPr id="667" name="Google Shape;667;p13"/>
          <p:cNvSpPr/>
          <p:nvPr/>
        </p:nvSpPr>
        <p:spPr>
          <a:xfrm>
            <a:off x="6641902" y="4780062"/>
            <a:ext cx="1930598"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CISA ZERO TRUST OPTIMAL</a:t>
            </a:r>
            <a:endParaRPr b="0" i="0" sz="885"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descr="preencoded.png" id="673" name="Google Shape;673;p1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74" name="Google Shape;674;p14"/>
          <p:cNvSpPr/>
          <p:nvPr/>
        </p:nvSpPr>
        <p:spPr>
          <a:xfrm>
            <a:off x="0" y="0"/>
            <a:ext cx="9144000" cy="968648"/>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4"/>
          <p:cNvSpPr/>
          <p:nvPr/>
        </p:nvSpPr>
        <p:spPr>
          <a:xfrm>
            <a:off x="0" y="954360"/>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4"/>
          <p:cNvSpPr/>
          <p:nvPr/>
        </p:nvSpPr>
        <p:spPr>
          <a:xfrm>
            <a:off x="428625" y="285750"/>
            <a:ext cx="8286750" cy="668610"/>
          </a:xfrm>
          <a:prstGeom prst="rect">
            <a:avLst/>
          </a:prstGeom>
          <a:noFill/>
          <a:ln>
            <a:noFill/>
          </a:ln>
        </p:spPr>
        <p:txBody>
          <a:bodyPr anchorCtr="0" anchor="t" bIns="0" lIns="0" spcFirstLastPara="1" rIns="0" wrap="square" tIns="0">
            <a:noAutofit/>
          </a:bodyPr>
          <a:lstStyle/>
          <a:p>
            <a:pPr indent="0" lvl="0" marL="0" marR="0" rtl="0" algn="l">
              <a:lnSpc>
                <a:spcPct val="143805"/>
              </a:lnSpc>
              <a:spcBef>
                <a:spcPts val="0"/>
              </a:spcBef>
              <a:spcAft>
                <a:spcPts val="0"/>
              </a:spcAft>
              <a:buClr>
                <a:srgbClr val="FFFFFF"/>
              </a:buClr>
              <a:buSzPts val="1808"/>
              <a:buFont typeface="Merriweather"/>
              <a:buNone/>
            </a:pPr>
            <a:r>
              <a:rPr b="1" i="0" lang="en-US" sz="1808" u="none" cap="none" strike="noStrike">
                <a:solidFill>
                  <a:srgbClr val="FFFFFF"/>
                </a:solidFill>
                <a:latin typeface="Merriweather"/>
                <a:ea typeface="Merriweather"/>
                <a:cs typeface="Merriweather"/>
                <a:sym typeface="Merriweather"/>
              </a:rPr>
              <a:t>OpAMP Unifies Your Existing Infrastructure — It Does Not Replace It</a:t>
            </a:r>
            <a:endParaRPr b="0" i="0" sz="1808" u="none" cap="none" strike="noStrike">
              <a:solidFill>
                <a:schemeClr val="dk1"/>
              </a:solidFill>
              <a:latin typeface="Calibri"/>
              <a:ea typeface="Calibri"/>
              <a:cs typeface="Calibri"/>
              <a:sym typeface="Calibri"/>
            </a:endParaRPr>
          </a:p>
        </p:txBody>
      </p:sp>
      <p:sp>
        <p:nvSpPr>
          <p:cNvPr id="677" name="Google Shape;677;p14"/>
          <p:cNvSpPr/>
          <p:nvPr/>
        </p:nvSpPr>
        <p:spPr>
          <a:xfrm>
            <a:off x="428625" y="1168673"/>
            <a:ext cx="2786063" cy="967755"/>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4"/>
          <p:cNvSpPr/>
          <p:nvPr/>
        </p:nvSpPr>
        <p:spPr>
          <a:xfrm>
            <a:off x="428625" y="1168673"/>
            <a:ext cx="28575" cy="96775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9" name="Google Shape;679;p14"/>
          <p:cNvPicPr preferRelativeResize="0"/>
          <p:nvPr/>
        </p:nvPicPr>
        <p:blipFill rotWithShape="1">
          <a:blip r:embed="rId4">
            <a:alphaModFix/>
          </a:blip>
          <a:srcRect b="0" l="0" r="0" t="0"/>
          <a:stretch/>
        </p:blipFill>
        <p:spPr>
          <a:xfrm>
            <a:off x="571500" y="1377516"/>
            <a:ext cx="160734" cy="142875"/>
          </a:xfrm>
          <a:prstGeom prst="rect">
            <a:avLst/>
          </a:prstGeom>
          <a:noFill/>
          <a:ln>
            <a:noFill/>
          </a:ln>
        </p:spPr>
      </p:pic>
      <p:sp>
        <p:nvSpPr>
          <p:cNvPr id="680" name="Google Shape;680;p14"/>
          <p:cNvSpPr/>
          <p:nvPr/>
        </p:nvSpPr>
        <p:spPr>
          <a:xfrm>
            <a:off x="817959" y="1371265"/>
            <a:ext cx="1493044"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IDENTITY PROVIDERS</a:t>
            </a:r>
            <a:endParaRPr b="0" i="0" sz="885" u="none" cap="none" strike="noStrike">
              <a:solidFill>
                <a:schemeClr val="dk1"/>
              </a:solidFill>
              <a:latin typeface="Calibri"/>
              <a:ea typeface="Calibri"/>
              <a:cs typeface="Calibri"/>
              <a:sym typeface="Calibri"/>
            </a:endParaRPr>
          </a:p>
        </p:txBody>
      </p:sp>
      <p:sp>
        <p:nvSpPr>
          <p:cNvPr id="681" name="Google Shape;681;p14"/>
          <p:cNvSpPr/>
          <p:nvPr/>
        </p:nvSpPr>
        <p:spPr>
          <a:xfrm>
            <a:off x="571500" y="1598079"/>
            <a:ext cx="437555"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4"/>
          <p:cNvSpPr/>
          <p:nvPr/>
        </p:nvSpPr>
        <p:spPr>
          <a:xfrm>
            <a:off x="571500" y="1598079"/>
            <a:ext cx="437555"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SPIRE</a:t>
            </a:r>
            <a:endParaRPr b="0" i="0" sz="727" u="none" cap="none" strike="noStrike">
              <a:solidFill>
                <a:schemeClr val="dk1"/>
              </a:solidFill>
              <a:latin typeface="Calibri"/>
              <a:ea typeface="Calibri"/>
              <a:cs typeface="Calibri"/>
              <a:sym typeface="Calibri"/>
            </a:endParaRPr>
          </a:p>
        </p:txBody>
      </p:sp>
      <p:sp>
        <p:nvSpPr>
          <p:cNvPr id="683" name="Google Shape;683;p14"/>
          <p:cNvSpPr/>
          <p:nvPr/>
        </p:nvSpPr>
        <p:spPr>
          <a:xfrm>
            <a:off x="1051917" y="1598079"/>
            <a:ext cx="489347"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4"/>
          <p:cNvSpPr/>
          <p:nvPr/>
        </p:nvSpPr>
        <p:spPr>
          <a:xfrm>
            <a:off x="1051917" y="1598079"/>
            <a:ext cx="489347"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Athenz</a:t>
            </a:r>
            <a:endParaRPr b="0" i="0" sz="727" u="none" cap="none" strike="noStrike">
              <a:solidFill>
                <a:schemeClr val="dk1"/>
              </a:solidFill>
              <a:latin typeface="Calibri"/>
              <a:ea typeface="Calibri"/>
              <a:cs typeface="Calibri"/>
              <a:sym typeface="Calibri"/>
            </a:endParaRPr>
          </a:p>
        </p:txBody>
      </p:sp>
      <p:sp>
        <p:nvSpPr>
          <p:cNvPr id="685" name="Google Shape;685;p14"/>
          <p:cNvSpPr/>
          <p:nvPr/>
        </p:nvSpPr>
        <p:spPr>
          <a:xfrm>
            <a:off x="1584127" y="1598079"/>
            <a:ext cx="862608"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4"/>
          <p:cNvSpPr/>
          <p:nvPr/>
        </p:nvSpPr>
        <p:spPr>
          <a:xfrm>
            <a:off x="1584127" y="1598079"/>
            <a:ext cx="862608"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Kubernetes SA</a:t>
            </a:r>
            <a:endParaRPr b="0" i="0" sz="727" u="none" cap="none" strike="noStrike">
              <a:solidFill>
                <a:schemeClr val="dk1"/>
              </a:solidFill>
              <a:latin typeface="Calibri"/>
              <a:ea typeface="Calibri"/>
              <a:cs typeface="Calibri"/>
              <a:sym typeface="Calibri"/>
            </a:endParaRPr>
          </a:p>
        </p:txBody>
      </p:sp>
      <p:sp>
        <p:nvSpPr>
          <p:cNvPr id="687" name="Google Shape;687;p14"/>
          <p:cNvSpPr/>
          <p:nvPr/>
        </p:nvSpPr>
        <p:spPr>
          <a:xfrm>
            <a:off x="571500" y="1840967"/>
            <a:ext cx="600075"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4"/>
          <p:cNvSpPr/>
          <p:nvPr/>
        </p:nvSpPr>
        <p:spPr>
          <a:xfrm>
            <a:off x="571500" y="1840967"/>
            <a:ext cx="600075"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AWS IAM</a:t>
            </a:r>
            <a:endParaRPr b="0" i="0" sz="727" u="none" cap="none" strike="noStrike">
              <a:solidFill>
                <a:schemeClr val="dk1"/>
              </a:solidFill>
              <a:latin typeface="Calibri"/>
              <a:ea typeface="Calibri"/>
              <a:cs typeface="Calibri"/>
              <a:sym typeface="Calibri"/>
            </a:endParaRPr>
          </a:p>
        </p:txBody>
      </p:sp>
      <p:sp>
        <p:nvSpPr>
          <p:cNvPr id="689" name="Google Shape;689;p14"/>
          <p:cNvSpPr/>
          <p:nvPr/>
        </p:nvSpPr>
        <p:spPr>
          <a:xfrm>
            <a:off x="5929313" y="1168673"/>
            <a:ext cx="2786063" cy="967755"/>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4"/>
          <p:cNvSpPr/>
          <p:nvPr/>
        </p:nvSpPr>
        <p:spPr>
          <a:xfrm>
            <a:off x="5929313" y="1168673"/>
            <a:ext cx="28575" cy="967755"/>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1" name="Google Shape;691;p14"/>
          <p:cNvPicPr preferRelativeResize="0"/>
          <p:nvPr/>
        </p:nvPicPr>
        <p:blipFill rotWithShape="1">
          <a:blip r:embed="rId5">
            <a:alphaModFix/>
          </a:blip>
          <a:srcRect b="0" l="0" r="0" t="0"/>
          <a:stretch/>
        </p:blipFill>
        <p:spPr>
          <a:xfrm>
            <a:off x="6072188" y="1377516"/>
            <a:ext cx="142875" cy="142875"/>
          </a:xfrm>
          <a:prstGeom prst="rect">
            <a:avLst/>
          </a:prstGeom>
          <a:noFill/>
          <a:ln>
            <a:noFill/>
          </a:ln>
        </p:spPr>
      </p:pic>
      <p:sp>
        <p:nvSpPr>
          <p:cNvPr id="692" name="Google Shape;692;p14"/>
          <p:cNvSpPr/>
          <p:nvPr/>
        </p:nvSpPr>
        <p:spPr>
          <a:xfrm>
            <a:off x="6300788" y="1371265"/>
            <a:ext cx="1705570"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PKI / CERTIFICATE AUTH</a:t>
            </a:r>
            <a:endParaRPr b="0" i="0" sz="885" u="none" cap="none" strike="noStrike">
              <a:solidFill>
                <a:schemeClr val="dk1"/>
              </a:solidFill>
              <a:latin typeface="Calibri"/>
              <a:ea typeface="Calibri"/>
              <a:cs typeface="Calibri"/>
              <a:sym typeface="Calibri"/>
            </a:endParaRPr>
          </a:p>
        </p:txBody>
      </p:sp>
      <p:sp>
        <p:nvSpPr>
          <p:cNvPr id="693" name="Google Shape;693;p14"/>
          <p:cNvSpPr/>
          <p:nvPr/>
        </p:nvSpPr>
        <p:spPr>
          <a:xfrm>
            <a:off x="6072188" y="1598079"/>
            <a:ext cx="680442"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4"/>
          <p:cNvSpPr/>
          <p:nvPr/>
        </p:nvSpPr>
        <p:spPr>
          <a:xfrm>
            <a:off x="6072188" y="1598079"/>
            <a:ext cx="680442"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Internal CA</a:t>
            </a:r>
            <a:endParaRPr b="0" i="0" sz="727" u="none" cap="none" strike="noStrike">
              <a:solidFill>
                <a:schemeClr val="dk1"/>
              </a:solidFill>
              <a:latin typeface="Calibri"/>
              <a:ea typeface="Calibri"/>
              <a:cs typeface="Calibri"/>
              <a:sym typeface="Calibri"/>
            </a:endParaRPr>
          </a:p>
        </p:txBody>
      </p:sp>
      <p:sp>
        <p:nvSpPr>
          <p:cNvPr id="695" name="Google Shape;695;p14"/>
          <p:cNvSpPr/>
          <p:nvPr/>
        </p:nvSpPr>
        <p:spPr>
          <a:xfrm>
            <a:off x="6795492" y="1598079"/>
            <a:ext cx="582216"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4"/>
          <p:cNvSpPr/>
          <p:nvPr/>
        </p:nvSpPr>
        <p:spPr>
          <a:xfrm>
            <a:off x="6795492" y="1598079"/>
            <a:ext cx="582216"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Vault PKI</a:t>
            </a:r>
            <a:endParaRPr b="0" i="0" sz="727" u="none" cap="none" strike="noStrike">
              <a:solidFill>
                <a:schemeClr val="dk1"/>
              </a:solidFill>
              <a:latin typeface="Calibri"/>
              <a:ea typeface="Calibri"/>
              <a:cs typeface="Calibri"/>
              <a:sym typeface="Calibri"/>
            </a:endParaRPr>
          </a:p>
        </p:txBody>
      </p:sp>
      <p:sp>
        <p:nvSpPr>
          <p:cNvPr id="697" name="Google Shape;697;p14"/>
          <p:cNvSpPr/>
          <p:nvPr/>
        </p:nvSpPr>
        <p:spPr>
          <a:xfrm>
            <a:off x="7420570" y="1598079"/>
            <a:ext cx="876895"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4"/>
          <p:cNvSpPr/>
          <p:nvPr/>
        </p:nvSpPr>
        <p:spPr>
          <a:xfrm>
            <a:off x="7420570" y="1598079"/>
            <a:ext cx="876895"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AWS ACM PCA</a:t>
            </a:r>
            <a:endParaRPr b="0" i="0" sz="727" u="none" cap="none" strike="noStrike">
              <a:solidFill>
                <a:schemeClr val="dk1"/>
              </a:solidFill>
              <a:latin typeface="Calibri"/>
              <a:ea typeface="Calibri"/>
              <a:cs typeface="Calibri"/>
              <a:sym typeface="Calibri"/>
            </a:endParaRPr>
          </a:p>
        </p:txBody>
      </p:sp>
      <p:sp>
        <p:nvSpPr>
          <p:cNvPr id="699" name="Google Shape;699;p14"/>
          <p:cNvSpPr/>
          <p:nvPr/>
        </p:nvSpPr>
        <p:spPr>
          <a:xfrm>
            <a:off x="6072188" y="1840967"/>
            <a:ext cx="782241"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4"/>
          <p:cNvSpPr/>
          <p:nvPr/>
        </p:nvSpPr>
        <p:spPr>
          <a:xfrm>
            <a:off x="6072188" y="1840967"/>
            <a:ext cx="782241"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Let's Encrypt</a:t>
            </a:r>
            <a:endParaRPr b="0" i="0" sz="727" u="none" cap="none" strike="noStrike">
              <a:solidFill>
                <a:schemeClr val="dk1"/>
              </a:solidFill>
              <a:latin typeface="Calibri"/>
              <a:ea typeface="Calibri"/>
              <a:cs typeface="Calibri"/>
              <a:sym typeface="Calibri"/>
            </a:endParaRPr>
          </a:p>
        </p:txBody>
      </p:sp>
      <p:sp>
        <p:nvSpPr>
          <p:cNvPr id="701" name="Google Shape;701;p14"/>
          <p:cNvSpPr/>
          <p:nvPr/>
        </p:nvSpPr>
        <p:spPr>
          <a:xfrm>
            <a:off x="428625" y="2279303"/>
            <a:ext cx="2786063" cy="967755"/>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4"/>
          <p:cNvSpPr/>
          <p:nvPr/>
        </p:nvSpPr>
        <p:spPr>
          <a:xfrm>
            <a:off x="428625" y="2279303"/>
            <a:ext cx="28575" cy="967755"/>
          </a:xfrm>
          <a:prstGeom prst="rect">
            <a:avLst/>
          </a:prstGeom>
          <a:solidFill>
            <a:srgbClr val="EC48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03" name="Google Shape;703;p14"/>
          <p:cNvPicPr preferRelativeResize="0"/>
          <p:nvPr/>
        </p:nvPicPr>
        <p:blipFill rotWithShape="1">
          <a:blip r:embed="rId6">
            <a:alphaModFix/>
          </a:blip>
          <a:srcRect b="0" l="0" r="0" t="0"/>
          <a:stretch/>
        </p:blipFill>
        <p:spPr>
          <a:xfrm>
            <a:off x="571500" y="2613161"/>
            <a:ext cx="178594" cy="142875"/>
          </a:xfrm>
          <a:prstGeom prst="rect">
            <a:avLst/>
          </a:prstGeom>
          <a:noFill/>
          <a:ln>
            <a:noFill/>
          </a:ln>
        </p:spPr>
      </p:pic>
      <p:sp>
        <p:nvSpPr>
          <p:cNvPr id="704" name="Google Shape;704;p14"/>
          <p:cNvSpPr/>
          <p:nvPr/>
        </p:nvSpPr>
        <p:spPr>
          <a:xfrm>
            <a:off x="835819" y="2606911"/>
            <a:ext cx="1528763"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DIRECTORY SERVICES</a:t>
            </a:r>
            <a:endParaRPr b="0" i="0" sz="885" u="none" cap="none" strike="noStrike">
              <a:solidFill>
                <a:schemeClr val="dk1"/>
              </a:solidFill>
              <a:latin typeface="Calibri"/>
              <a:ea typeface="Calibri"/>
              <a:cs typeface="Calibri"/>
              <a:sym typeface="Calibri"/>
            </a:endParaRPr>
          </a:p>
        </p:txBody>
      </p:sp>
      <p:sp>
        <p:nvSpPr>
          <p:cNvPr id="705" name="Google Shape;705;p14"/>
          <p:cNvSpPr/>
          <p:nvPr/>
        </p:nvSpPr>
        <p:spPr>
          <a:xfrm>
            <a:off x="571500" y="2833725"/>
            <a:ext cx="916186"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4"/>
          <p:cNvSpPr/>
          <p:nvPr/>
        </p:nvSpPr>
        <p:spPr>
          <a:xfrm>
            <a:off x="571500" y="2833725"/>
            <a:ext cx="916186"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Active Directory</a:t>
            </a:r>
            <a:endParaRPr b="0" i="0" sz="727" u="none" cap="none" strike="noStrike">
              <a:solidFill>
                <a:schemeClr val="dk1"/>
              </a:solidFill>
              <a:latin typeface="Calibri"/>
              <a:ea typeface="Calibri"/>
              <a:cs typeface="Calibri"/>
              <a:sym typeface="Calibri"/>
            </a:endParaRPr>
          </a:p>
        </p:txBody>
      </p:sp>
      <p:sp>
        <p:nvSpPr>
          <p:cNvPr id="707" name="Google Shape;707;p14"/>
          <p:cNvSpPr/>
          <p:nvPr/>
        </p:nvSpPr>
        <p:spPr>
          <a:xfrm>
            <a:off x="1530548" y="2833725"/>
            <a:ext cx="416123"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4"/>
          <p:cNvSpPr/>
          <p:nvPr/>
        </p:nvSpPr>
        <p:spPr>
          <a:xfrm>
            <a:off x="1530548" y="2833725"/>
            <a:ext cx="416123"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LDAP</a:t>
            </a:r>
            <a:endParaRPr b="0" i="0" sz="727" u="none" cap="none" strike="noStrike">
              <a:solidFill>
                <a:schemeClr val="dk1"/>
              </a:solidFill>
              <a:latin typeface="Calibri"/>
              <a:ea typeface="Calibri"/>
              <a:cs typeface="Calibri"/>
              <a:sym typeface="Calibri"/>
            </a:endParaRPr>
          </a:p>
        </p:txBody>
      </p:sp>
      <p:sp>
        <p:nvSpPr>
          <p:cNvPr id="709" name="Google Shape;709;p14"/>
          <p:cNvSpPr/>
          <p:nvPr/>
        </p:nvSpPr>
        <p:spPr>
          <a:xfrm>
            <a:off x="1989534" y="2833725"/>
            <a:ext cx="376833"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4"/>
          <p:cNvSpPr/>
          <p:nvPr/>
        </p:nvSpPr>
        <p:spPr>
          <a:xfrm>
            <a:off x="1989534" y="2833725"/>
            <a:ext cx="376833"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Okta</a:t>
            </a:r>
            <a:endParaRPr b="0" i="0" sz="727" u="none" cap="none" strike="noStrike">
              <a:solidFill>
                <a:schemeClr val="dk1"/>
              </a:solidFill>
              <a:latin typeface="Calibri"/>
              <a:ea typeface="Calibri"/>
              <a:cs typeface="Calibri"/>
              <a:sym typeface="Calibri"/>
            </a:endParaRPr>
          </a:p>
        </p:txBody>
      </p:sp>
      <p:sp>
        <p:nvSpPr>
          <p:cNvPr id="711" name="Google Shape;711;p14"/>
          <p:cNvSpPr/>
          <p:nvPr/>
        </p:nvSpPr>
        <p:spPr>
          <a:xfrm>
            <a:off x="3714750" y="1905930"/>
            <a:ext cx="1714500" cy="1714500"/>
          </a:xfrm>
          <a:prstGeom prst="rect">
            <a:avLst/>
          </a:prstGeom>
          <a:solidFill>
            <a:srgbClr val="0D1B2A"/>
          </a:solidFill>
          <a:ln cap="flat" cmpd="sng" w="2742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2" name="Google Shape;712;p14"/>
          <p:cNvPicPr preferRelativeResize="0"/>
          <p:nvPr/>
        </p:nvPicPr>
        <p:blipFill rotWithShape="1">
          <a:blip r:embed="rId7">
            <a:alphaModFix/>
          </a:blip>
          <a:srcRect b="0" l="0" r="0" t="0"/>
          <a:stretch/>
        </p:blipFill>
        <p:spPr>
          <a:xfrm>
            <a:off x="4286250" y="2248830"/>
            <a:ext cx="571500" cy="457200"/>
          </a:xfrm>
          <a:prstGeom prst="rect">
            <a:avLst/>
          </a:prstGeom>
          <a:noFill/>
          <a:ln>
            <a:noFill/>
          </a:ln>
        </p:spPr>
      </p:pic>
      <p:sp>
        <p:nvSpPr>
          <p:cNvPr id="713" name="Google Shape;713;p14"/>
          <p:cNvSpPr/>
          <p:nvPr/>
        </p:nvSpPr>
        <p:spPr>
          <a:xfrm>
            <a:off x="4196060" y="2848905"/>
            <a:ext cx="751880" cy="428625"/>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FFFFFF"/>
              </a:buClr>
              <a:buSzPts val="1193"/>
              <a:buFont typeface="Merriweather"/>
              <a:buNone/>
            </a:pPr>
            <a:r>
              <a:rPr b="1" i="0" lang="en-US" sz="1193" u="none" cap="none" strike="noStrike">
                <a:solidFill>
                  <a:srgbClr val="FFFFFF"/>
                </a:solidFill>
                <a:latin typeface="Merriweather"/>
                <a:ea typeface="Merriweather"/>
                <a:cs typeface="Merriweather"/>
                <a:sym typeface="Merriweather"/>
              </a:rPr>
              <a:t>OpAMP</a:t>
            </a:r>
            <a:br>
              <a:rPr b="1" i="0" lang="en-US" sz="1193" u="none" cap="none" strike="noStrike">
                <a:solidFill>
                  <a:srgbClr val="FFFFFF"/>
                </a:solidFill>
                <a:latin typeface="Merriweather"/>
                <a:ea typeface="Merriweather"/>
                <a:cs typeface="Merriweather"/>
                <a:sym typeface="Merriweather"/>
              </a:rPr>
            </a:br>
            <a:r>
              <a:rPr b="1" i="0" lang="en-US" sz="1193" u="none" cap="none" strike="noStrike">
                <a:solidFill>
                  <a:srgbClr val="FFFFFF"/>
                </a:solidFill>
                <a:latin typeface="Merriweather"/>
                <a:ea typeface="Merriweather"/>
                <a:cs typeface="Merriweather"/>
                <a:sym typeface="Merriweather"/>
              </a:rPr>
              <a:t>Platform</a:t>
            </a:r>
            <a:endParaRPr b="0" i="0" sz="1193" u="none" cap="none" strike="noStrike">
              <a:solidFill>
                <a:schemeClr val="dk1"/>
              </a:solidFill>
              <a:latin typeface="Calibri"/>
              <a:ea typeface="Calibri"/>
              <a:cs typeface="Calibri"/>
              <a:sym typeface="Calibri"/>
            </a:endParaRPr>
          </a:p>
        </p:txBody>
      </p:sp>
      <p:sp>
        <p:nvSpPr>
          <p:cNvPr id="714" name="Google Shape;714;p14"/>
          <p:cNvSpPr/>
          <p:nvPr/>
        </p:nvSpPr>
        <p:spPr>
          <a:xfrm>
            <a:off x="5929313" y="2279303"/>
            <a:ext cx="2786063" cy="967755"/>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4"/>
          <p:cNvSpPr/>
          <p:nvPr/>
        </p:nvSpPr>
        <p:spPr>
          <a:xfrm>
            <a:off x="5929313" y="2279303"/>
            <a:ext cx="28575" cy="96775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6" name="Google Shape;716;p14"/>
          <p:cNvPicPr preferRelativeResize="0"/>
          <p:nvPr/>
        </p:nvPicPr>
        <p:blipFill rotWithShape="1">
          <a:blip r:embed="rId8">
            <a:alphaModFix/>
          </a:blip>
          <a:srcRect b="0" l="0" r="0" t="0"/>
          <a:stretch/>
        </p:blipFill>
        <p:spPr>
          <a:xfrm>
            <a:off x="6072188" y="2488146"/>
            <a:ext cx="142875" cy="142875"/>
          </a:xfrm>
          <a:prstGeom prst="rect">
            <a:avLst/>
          </a:prstGeom>
          <a:noFill/>
          <a:ln>
            <a:noFill/>
          </a:ln>
        </p:spPr>
      </p:pic>
      <p:sp>
        <p:nvSpPr>
          <p:cNvPr id="717" name="Google Shape;717;p14"/>
          <p:cNvSpPr/>
          <p:nvPr/>
        </p:nvSpPr>
        <p:spPr>
          <a:xfrm>
            <a:off x="6300788" y="2481895"/>
            <a:ext cx="1141214"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SECRET STORES</a:t>
            </a:r>
            <a:endParaRPr b="0" i="0" sz="885" u="none" cap="none" strike="noStrike">
              <a:solidFill>
                <a:schemeClr val="dk1"/>
              </a:solidFill>
              <a:latin typeface="Calibri"/>
              <a:ea typeface="Calibri"/>
              <a:cs typeface="Calibri"/>
              <a:sym typeface="Calibri"/>
            </a:endParaRPr>
          </a:p>
        </p:txBody>
      </p:sp>
      <p:sp>
        <p:nvSpPr>
          <p:cNvPr id="718" name="Google Shape;718;p14"/>
          <p:cNvSpPr/>
          <p:nvPr/>
        </p:nvSpPr>
        <p:spPr>
          <a:xfrm>
            <a:off x="6072188" y="2708709"/>
            <a:ext cx="925116"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4"/>
          <p:cNvSpPr/>
          <p:nvPr/>
        </p:nvSpPr>
        <p:spPr>
          <a:xfrm>
            <a:off x="6072188" y="2708709"/>
            <a:ext cx="925116"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HashiCorp Vault</a:t>
            </a:r>
            <a:endParaRPr b="0" i="0" sz="727" u="none" cap="none" strike="noStrike">
              <a:solidFill>
                <a:schemeClr val="dk1"/>
              </a:solidFill>
              <a:latin typeface="Calibri"/>
              <a:ea typeface="Calibri"/>
              <a:cs typeface="Calibri"/>
              <a:sym typeface="Calibri"/>
            </a:endParaRPr>
          </a:p>
        </p:txBody>
      </p:sp>
      <p:sp>
        <p:nvSpPr>
          <p:cNvPr id="720" name="Google Shape;720;p14"/>
          <p:cNvSpPr/>
          <p:nvPr/>
        </p:nvSpPr>
        <p:spPr>
          <a:xfrm>
            <a:off x="7040166" y="2708709"/>
            <a:ext cx="1218009"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4"/>
          <p:cNvSpPr/>
          <p:nvPr/>
        </p:nvSpPr>
        <p:spPr>
          <a:xfrm>
            <a:off x="7040166" y="2708709"/>
            <a:ext cx="1218009"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AWS Secrets Manager</a:t>
            </a:r>
            <a:endParaRPr b="0" i="0" sz="727" u="none" cap="none" strike="noStrike">
              <a:solidFill>
                <a:schemeClr val="dk1"/>
              </a:solidFill>
              <a:latin typeface="Calibri"/>
              <a:ea typeface="Calibri"/>
              <a:cs typeface="Calibri"/>
              <a:sym typeface="Calibri"/>
            </a:endParaRPr>
          </a:p>
        </p:txBody>
      </p:sp>
      <p:sp>
        <p:nvSpPr>
          <p:cNvPr id="722" name="Google Shape;722;p14"/>
          <p:cNvSpPr/>
          <p:nvPr/>
        </p:nvSpPr>
        <p:spPr>
          <a:xfrm>
            <a:off x="6072188" y="2951597"/>
            <a:ext cx="907256"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4"/>
          <p:cNvSpPr/>
          <p:nvPr/>
        </p:nvSpPr>
        <p:spPr>
          <a:xfrm>
            <a:off x="6072188" y="2951597"/>
            <a:ext cx="907256"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Azure Key Vault</a:t>
            </a:r>
            <a:endParaRPr b="0" i="0" sz="727" u="none" cap="none" strike="noStrike">
              <a:solidFill>
                <a:schemeClr val="dk1"/>
              </a:solidFill>
              <a:latin typeface="Calibri"/>
              <a:ea typeface="Calibri"/>
              <a:cs typeface="Calibri"/>
              <a:sym typeface="Calibri"/>
            </a:endParaRPr>
          </a:p>
        </p:txBody>
      </p:sp>
      <p:sp>
        <p:nvSpPr>
          <p:cNvPr id="724" name="Google Shape;724;p14"/>
          <p:cNvSpPr/>
          <p:nvPr/>
        </p:nvSpPr>
        <p:spPr>
          <a:xfrm>
            <a:off x="7022306" y="2951597"/>
            <a:ext cx="1151930"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4"/>
          <p:cNvSpPr/>
          <p:nvPr/>
        </p:nvSpPr>
        <p:spPr>
          <a:xfrm>
            <a:off x="7022306" y="2951597"/>
            <a:ext cx="1151930"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GCP Secret Manager</a:t>
            </a:r>
            <a:endParaRPr b="0" i="0" sz="727" u="none" cap="none" strike="noStrike">
              <a:solidFill>
                <a:schemeClr val="dk1"/>
              </a:solidFill>
              <a:latin typeface="Calibri"/>
              <a:ea typeface="Calibri"/>
              <a:cs typeface="Calibri"/>
              <a:sym typeface="Calibri"/>
            </a:endParaRPr>
          </a:p>
        </p:txBody>
      </p:sp>
      <p:sp>
        <p:nvSpPr>
          <p:cNvPr id="726" name="Google Shape;726;p14"/>
          <p:cNvSpPr/>
          <p:nvPr/>
        </p:nvSpPr>
        <p:spPr>
          <a:xfrm>
            <a:off x="428625" y="3389933"/>
            <a:ext cx="2786063" cy="967755"/>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4"/>
          <p:cNvSpPr/>
          <p:nvPr/>
        </p:nvSpPr>
        <p:spPr>
          <a:xfrm>
            <a:off x="428625" y="3389933"/>
            <a:ext cx="28575" cy="967755"/>
          </a:xfrm>
          <a:prstGeom prst="rect">
            <a:avLst/>
          </a:prstGeom>
          <a:solidFill>
            <a:srgbClr val="A85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8" name="Google Shape;728;p14"/>
          <p:cNvPicPr preferRelativeResize="0"/>
          <p:nvPr/>
        </p:nvPicPr>
        <p:blipFill rotWithShape="1">
          <a:blip r:embed="rId9">
            <a:alphaModFix/>
          </a:blip>
          <a:srcRect b="0" l="0" r="0" t="0"/>
          <a:stretch/>
        </p:blipFill>
        <p:spPr>
          <a:xfrm>
            <a:off x="571500" y="3598776"/>
            <a:ext cx="142875" cy="142875"/>
          </a:xfrm>
          <a:prstGeom prst="rect">
            <a:avLst/>
          </a:prstGeom>
          <a:noFill/>
          <a:ln>
            <a:noFill/>
          </a:ln>
        </p:spPr>
      </p:pic>
      <p:sp>
        <p:nvSpPr>
          <p:cNvPr id="729" name="Google Shape;729;p14"/>
          <p:cNvSpPr/>
          <p:nvPr/>
        </p:nvSpPr>
        <p:spPr>
          <a:xfrm>
            <a:off x="800100" y="3592525"/>
            <a:ext cx="1103709"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OBSERVABILITY</a:t>
            </a:r>
            <a:endParaRPr b="0" i="0" sz="885" u="none" cap="none" strike="noStrike">
              <a:solidFill>
                <a:schemeClr val="dk1"/>
              </a:solidFill>
              <a:latin typeface="Calibri"/>
              <a:ea typeface="Calibri"/>
              <a:cs typeface="Calibri"/>
              <a:sym typeface="Calibri"/>
            </a:endParaRPr>
          </a:p>
        </p:txBody>
      </p:sp>
      <p:sp>
        <p:nvSpPr>
          <p:cNvPr id="730" name="Google Shape;730;p14"/>
          <p:cNvSpPr/>
          <p:nvPr/>
        </p:nvSpPr>
        <p:spPr>
          <a:xfrm>
            <a:off x="571500" y="3819339"/>
            <a:ext cx="878681"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4"/>
          <p:cNvSpPr/>
          <p:nvPr/>
        </p:nvSpPr>
        <p:spPr>
          <a:xfrm>
            <a:off x="571500" y="3819339"/>
            <a:ext cx="878681"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OpenTelemetry</a:t>
            </a:r>
            <a:endParaRPr b="0" i="0" sz="727" u="none" cap="none" strike="noStrike">
              <a:solidFill>
                <a:schemeClr val="dk1"/>
              </a:solidFill>
              <a:latin typeface="Calibri"/>
              <a:ea typeface="Calibri"/>
              <a:cs typeface="Calibri"/>
              <a:sym typeface="Calibri"/>
            </a:endParaRPr>
          </a:p>
        </p:txBody>
      </p:sp>
      <p:sp>
        <p:nvSpPr>
          <p:cNvPr id="732" name="Google Shape;732;p14"/>
          <p:cNvSpPr/>
          <p:nvPr/>
        </p:nvSpPr>
        <p:spPr>
          <a:xfrm>
            <a:off x="1493044" y="3819339"/>
            <a:ext cx="726877"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4"/>
          <p:cNvSpPr/>
          <p:nvPr/>
        </p:nvSpPr>
        <p:spPr>
          <a:xfrm>
            <a:off x="1493044" y="3819339"/>
            <a:ext cx="726877"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Prometheus</a:t>
            </a:r>
            <a:endParaRPr b="0" i="0" sz="727" u="none" cap="none" strike="noStrike">
              <a:solidFill>
                <a:schemeClr val="dk1"/>
              </a:solidFill>
              <a:latin typeface="Calibri"/>
              <a:ea typeface="Calibri"/>
              <a:cs typeface="Calibri"/>
              <a:sym typeface="Calibri"/>
            </a:endParaRPr>
          </a:p>
        </p:txBody>
      </p:sp>
      <p:sp>
        <p:nvSpPr>
          <p:cNvPr id="734" name="Google Shape;734;p14"/>
          <p:cNvSpPr/>
          <p:nvPr/>
        </p:nvSpPr>
        <p:spPr>
          <a:xfrm>
            <a:off x="2262783" y="3819339"/>
            <a:ext cx="530423"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4"/>
          <p:cNvSpPr/>
          <p:nvPr/>
        </p:nvSpPr>
        <p:spPr>
          <a:xfrm>
            <a:off x="2262783" y="3819339"/>
            <a:ext cx="530423"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Grafana</a:t>
            </a:r>
            <a:endParaRPr b="0" i="0" sz="727" u="none" cap="none" strike="noStrike">
              <a:solidFill>
                <a:schemeClr val="dk1"/>
              </a:solidFill>
              <a:latin typeface="Calibri"/>
              <a:ea typeface="Calibri"/>
              <a:cs typeface="Calibri"/>
              <a:sym typeface="Calibri"/>
            </a:endParaRPr>
          </a:p>
        </p:txBody>
      </p:sp>
      <p:sp>
        <p:nvSpPr>
          <p:cNvPr id="736" name="Google Shape;736;p14"/>
          <p:cNvSpPr/>
          <p:nvPr/>
        </p:nvSpPr>
        <p:spPr>
          <a:xfrm>
            <a:off x="571500" y="4062226"/>
            <a:ext cx="635794"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4"/>
          <p:cNvSpPr/>
          <p:nvPr/>
        </p:nvSpPr>
        <p:spPr>
          <a:xfrm>
            <a:off x="571500" y="4062226"/>
            <a:ext cx="635794"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ELK Stack</a:t>
            </a:r>
            <a:endParaRPr b="0" i="0" sz="727" u="none" cap="none" strike="noStrike">
              <a:solidFill>
                <a:schemeClr val="dk1"/>
              </a:solidFill>
              <a:latin typeface="Calibri"/>
              <a:ea typeface="Calibri"/>
              <a:cs typeface="Calibri"/>
              <a:sym typeface="Calibri"/>
            </a:endParaRPr>
          </a:p>
        </p:txBody>
      </p:sp>
      <p:sp>
        <p:nvSpPr>
          <p:cNvPr id="738" name="Google Shape;738;p14"/>
          <p:cNvSpPr/>
          <p:nvPr/>
        </p:nvSpPr>
        <p:spPr>
          <a:xfrm>
            <a:off x="5929313" y="3389933"/>
            <a:ext cx="2786063" cy="967755"/>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4"/>
          <p:cNvSpPr/>
          <p:nvPr/>
        </p:nvSpPr>
        <p:spPr>
          <a:xfrm>
            <a:off x="5929313" y="3389933"/>
            <a:ext cx="28575" cy="96775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40" name="Google Shape;740;p14"/>
          <p:cNvPicPr preferRelativeResize="0"/>
          <p:nvPr/>
        </p:nvPicPr>
        <p:blipFill rotWithShape="1">
          <a:blip r:embed="rId10">
            <a:alphaModFix/>
          </a:blip>
          <a:srcRect b="0" l="0" r="0" t="0"/>
          <a:stretch/>
        </p:blipFill>
        <p:spPr>
          <a:xfrm>
            <a:off x="6072188" y="3598776"/>
            <a:ext cx="178594" cy="142875"/>
          </a:xfrm>
          <a:prstGeom prst="rect">
            <a:avLst/>
          </a:prstGeom>
          <a:noFill/>
          <a:ln>
            <a:noFill/>
          </a:ln>
        </p:spPr>
      </p:pic>
      <p:sp>
        <p:nvSpPr>
          <p:cNvPr id="741" name="Google Shape;741;p14"/>
          <p:cNvSpPr/>
          <p:nvPr/>
        </p:nvSpPr>
        <p:spPr>
          <a:xfrm>
            <a:off x="6336506" y="3592525"/>
            <a:ext cx="1371600"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FFFFFF"/>
              </a:buClr>
              <a:buSzPts val="885"/>
              <a:buFont typeface="Inter"/>
              <a:buNone/>
            </a:pPr>
            <a:r>
              <a:rPr b="1" i="0" lang="en-US" sz="885" u="none" cap="none" strike="noStrike">
                <a:solidFill>
                  <a:srgbClr val="FFFFFF"/>
                </a:solidFill>
                <a:latin typeface="Inter"/>
                <a:ea typeface="Inter"/>
                <a:cs typeface="Inter"/>
                <a:sym typeface="Inter"/>
              </a:rPr>
              <a:t>CLOUD PLATFORMS</a:t>
            </a:r>
            <a:endParaRPr b="0" i="0" sz="885" u="none" cap="none" strike="noStrike">
              <a:solidFill>
                <a:schemeClr val="dk1"/>
              </a:solidFill>
              <a:latin typeface="Calibri"/>
              <a:ea typeface="Calibri"/>
              <a:cs typeface="Calibri"/>
              <a:sym typeface="Calibri"/>
            </a:endParaRPr>
          </a:p>
        </p:txBody>
      </p:sp>
      <p:sp>
        <p:nvSpPr>
          <p:cNvPr id="742" name="Google Shape;742;p14"/>
          <p:cNvSpPr/>
          <p:nvPr/>
        </p:nvSpPr>
        <p:spPr>
          <a:xfrm>
            <a:off x="6072188" y="3819339"/>
            <a:ext cx="926902"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4"/>
          <p:cNvSpPr/>
          <p:nvPr/>
        </p:nvSpPr>
        <p:spPr>
          <a:xfrm>
            <a:off x="6072188" y="3819339"/>
            <a:ext cx="926902"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AWS (EC2, EKS)</a:t>
            </a:r>
            <a:endParaRPr b="0" i="0" sz="727" u="none" cap="none" strike="noStrike">
              <a:solidFill>
                <a:schemeClr val="dk1"/>
              </a:solidFill>
              <a:latin typeface="Calibri"/>
              <a:ea typeface="Calibri"/>
              <a:cs typeface="Calibri"/>
              <a:sym typeface="Calibri"/>
            </a:endParaRPr>
          </a:p>
        </p:txBody>
      </p:sp>
      <p:sp>
        <p:nvSpPr>
          <p:cNvPr id="744" name="Google Shape;744;p14"/>
          <p:cNvSpPr/>
          <p:nvPr/>
        </p:nvSpPr>
        <p:spPr>
          <a:xfrm>
            <a:off x="7041952" y="3819339"/>
            <a:ext cx="1007269"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4"/>
          <p:cNvSpPr/>
          <p:nvPr/>
        </p:nvSpPr>
        <p:spPr>
          <a:xfrm>
            <a:off x="7041952" y="3819339"/>
            <a:ext cx="1007269"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Azure (VMs, AKS)</a:t>
            </a:r>
            <a:endParaRPr b="0" i="0" sz="727" u="none" cap="none" strike="noStrike">
              <a:solidFill>
                <a:schemeClr val="dk1"/>
              </a:solidFill>
              <a:latin typeface="Calibri"/>
              <a:ea typeface="Calibri"/>
              <a:cs typeface="Calibri"/>
              <a:sym typeface="Calibri"/>
            </a:endParaRPr>
          </a:p>
        </p:txBody>
      </p:sp>
      <p:sp>
        <p:nvSpPr>
          <p:cNvPr id="746" name="Google Shape;746;p14"/>
          <p:cNvSpPr/>
          <p:nvPr/>
        </p:nvSpPr>
        <p:spPr>
          <a:xfrm>
            <a:off x="6072188" y="4062226"/>
            <a:ext cx="939403"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4"/>
          <p:cNvSpPr/>
          <p:nvPr/>
        </p:nvSpPr>
        <p:spPr>
          <a:xfrm>
            <a:off x="6072188" y="4062226"/>
            <a:ext cx="939403"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GCP (GCE, GKE)</a:t>
            </a:r>
            <a:endParaRPr b="0" i="0" sz="727" u="none" cap="none" strike="noStrike">
              <a:solidFill>
                <a:schemeClr val="dk1"/>
              </a:solidFill>
              <a:latin typeface="Calibri"/>
              <a:ea typeface="Calibri"/>
              <a:cs typeface="Calibri"/>
              <a:sym typeface="Calibri"/>
            </a:endParaRPr>
          </a:p>
        </p:txBody>
      </p:sp>
      <p:sp>
        <p:nvSpPr>
          <p:cNvPr id="748" name="Google Shape;748;p14"/>
          <p:cNvSpPr/>
          <p:nvPr/>
        </p:nvSpPr>
        <p:spPr>
          <a:xfrm>
            <a:off x="7054453" y="4062226"/>
            <a:ext cx="773311" cy="192881"/>
          </a:xfrm>
          <a:prstGeom prst="rect">
            <a:avLst/>
          </a:prstGeom>
          <a:solidFill>
            <a:srgbClr val="FFFFFF">
              <a:alpha val="5098"/>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4"/>
          <p:cNvSpPr/>
          <p:nvPr/>
        </p:nvSpPr>
        <p:spPr>
          <a:xfrm>
            <a:off x="7054453" y="4062226"/>
            <a:ext cx="773311" cy="192881"/>
          </a:xfrm>
          <a:prstGeom prst="rect">
            <a:avLst/>
          </a:prstGeom>
          <a:noFill/>
          <a:ln>
            <a:noFill/>
          </a:ln>
        </p:spPr>
        <p:txBody>
          <a:bodyPr anchorCtr="0" anchor="t" bIns="34025" lIns="85075" spcFirstLastPara="1" rIns="85075" wrap="square" tIns="34025">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On-premises</a:t>
            </a:r>
            <a:endParaRPr b="0" i="0" sz="727" u="none" cap="none" strike="noStrike">
              <a:solidFill>
                <a:schemeClr val="dk1"/>
              </a:solidFill>
              <a:latin typeface="Calibri"/>
              <a:ea typeface="Calibri"/>
              <a:cs typeface="Calibri"/>
              <a:sym typeface="Calibri"/>
            </a:endParaRPr>
          </a:p>
        </p:txBody>
      </p:sp>
      <p:sp>
        <p:nvSpPr>
          <p:cNvPr id="750" name="Google Shape;750;p14"/>
          <p:cNvSpPr/>
          <p:nvPr/>
        </p:nvSpPr>
        <p:spPr>
          <a:xfrm>
            <a:off x="0" y="4572000"/>
            <a:ext cx="9144000" cy="5715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4"/>
          <p:cNvSpPr/>
          <p:nvPr/>
        </p:nvSpPr>
        <p:spPr>
          <a:xfrm>
            <a:off x="0" y="4572000"/>
            <a:ext cx="91440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4"/>
          <p:cNvSpPr/>
          <p:nvPr/>
        </p:nvSpPr>
        <p:spPr>
          <a:xfrm>
            <a:off x="1109067" y="4771132"/>
            <a:ext cx="6925866" cy="173236"/>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Inter"/>
              <a:buNone/>
            </a:pPr>
            <a:r>
              <a:rPr b="1" i="0" lang="en-US" sz="987" u="none" cap="none" strike="noStrike">
                <a:solidFill>
                  <a:srgbClr val="FFFFFF"/>
                </a:solidFill>
                <a:latin typeface="Inter"/>
                <a:ea typeface="Inter"/>
                <a:cs typeface="Inter"/>
                <a:sym typeface="Inter"/>
              </a:rPr>
              <a:t>Plug into what you already have. OpAMP becomes the unified management layer across all of it.</a:t>
            </a:r>
            <a:endParaRPr b="0" i="0" sz="987"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pic>
        <p:nvPicPr>
          <p:cNvPr descr="preencoded.png" id="758" name="Google Shape;758;p1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59" name="Google Shape;759;p15"/>
          <p:cNvSpPr/>
          <p:nvPr/>
        </p:nvSpPr>
        <p:spPr>
          <a:xfrm>
            <a:off x="2469952" y="285750"/>
            <a:ext cx="4204097" cy="860822"/>
          </a:xfrm>
          <a:prstGeom prst="rect">
            <a:avLst/>
          </a:prstGeom>
          <a:noFill/>
          <a:ln>
            <a:noFill/>
          </a:ln>
        </p:spPr>
        <p:txBody>
          <a:bodyPr anchorCtr="0" anchor="t" bIns="0" lIns="0" spcFirstLastPara="1" rIns="0" wrap="square" tIns="0">
            <a:noAutofit/>
          </a:bodyPr>
          <a:lstStyle/>
          <a:p>
            <a:pPr indent="0" lvl="0" marL="0" marR="0" rtl="0" algn="ctr">
              <a:lnSpc>
                <a:spcPct val="131362"/>
              </a:lnSpc>
              <a:spcBef>
                <a:spcPts val="0"/>
              </a:spcBef>
              <a:spcAft>
                <a:spcPts val="0"/>
              </a:spcAft>
              <a:buClr>
                <a:srgbClr val="00E5FF"/>
              </a:buClr>
              <a:buSzPts val="2436"/>
              <a:buFont typeface="Merriweather"/>
              <a:buNone/>
            </a:pPr>
            <a:r>
              <a:rPr b="1" i="0" lang="en-US" sz="2436" u="none" cap="none" strike="noStrike">
                <a:solidFill>
                  <a:srgbClr val="00E5FF"/>
                </a:solidFill>
                <a:latin typeface="Merriweather"/>
                <a:ea typeface="Merriweather"/>
                <a:cs typeface="Merriweather"/>
                <a:sym typeface="Merriweather"/>
              </a:rPr>
              <a:t>Unified. Secure. Scalable. </a:t>
            </a:r>
            <a:br>
              <a:rPr b="1" i="0" lang="en-US" sz="2436" u="none" cap="none" strike="noStrike">
                <a:solidFill>
                  <a:srgbClr val="FFFFFF"/>
                </a:solidFill>
                <a:latin typeface="Merriweather"/>
                <a:ea typeface="Merriweather"/>
                <a:cs typeface="Merriweather"/>
                <a:sym typeface="Merriweather"/>
              </a:rPr>
            </a:br>
            <a:r>
              <a:rPr b="1" i="0" lang="en-US" sz="2436" u="none" cap="none" strike="noStrike">
                <a:solidFill>
                  <a:srgbClr val="00E5FF"/>
                </a:solidFill>
                <a:latin typeface="Merriweather"/>
                <a:ea typeface="Merriweather"/>
                <a:cs typeface="Merriweather"/>
                <a:sym typeface="Merriweather"/>
              </a:rPr>
              <a:t>The OpAMP Platform</a:t>
            </a:r>
            <a:endParaRPr b="0" i="0" sz="2436" u="none" cap="none" strike="noStrike">
              <a:solidFill>
                <a:schemeClr val="dk1"/>
              </a:solidFill>
              <a:latin typeface="Calibri"/>
              <a:ea typeface="Calibri"/>
              <a:cs typeface="Calibri"/>
              <a:sym typeface="Calibri"/>
            </a:endParaRPr>
          </a:p>
        </p:txBody>
      </p:sp>
      <p:sp>
        <p:nvSpPr>
          <p:cNvPr id="760" name="Google Shape;760;p15"/>
          <p:cNvSpPr/>
          <p:nvPr/>
        </p:nvSpPr>
        <p:spPr>
          <a:xfrm>
            <a:off x="1714500" y="1346597"/>
            <a:ext cx="5715000" cy="719733"/>
          </a:xfrm>
          <a:prstGeom prst="rect">
            <a:avLst/>
          </a:prstGeom>
          <a:solidFill>
            <a:srgbClr val="0D1B2A">
              <a:alpha val="80000"/>
            </a:srgbClr>
          </a:solidFill>
          <a:ln cap="flat" cmpd="sng" w="18275">
            <a:solidFill>
              <a:srgbClr val="00E5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5"/>
          <p:cNvSpPr/>
          <p:nvPr/>
        </p:nvSpPr>
        <p:spPr>
          <a:xfrm>
            <a:off x="3934420" y="1453753"/>
            <a:ext cx="1275159"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00E5FF"/>
              </a:buClr>
              <a:buSzPts val="885"/>
              <a:buFont typeface="Inter"/>
              <a:buNone/>
            </a:pPr>
            <a:r>
              <a:rPr b="1" i="0" lang="en-US" sz="885" u="none" cap="none" strike="noStrike">
                <a:solidFill>
                  <a:srgbClr val="00E5FF"/>
                </a:solidFill>
                <a:latin typeface="Inter"/>
                <a:ea typeface="Inter"/>
                <a:cs typeface="Inter"/>
                <a:sym typeface="Inter"/>
              </a:rPr>
              <a:t>CONTROL PLANE</a:t>
            </a:r>
            <a:endParaRPr b="0" i="0" sz="885" u="none" cap="none" strike="noStrike">
              <a:solidFill>
                <a:schemeClr val="dk1"/>
              </a:solidFill>
              <a:latin typeface="Calibri"/>
              <a:ea typeface="Calibri"/>
              <a:cs typeface="Calibri"/>
              <a:sym typeface="Calibri"/>
            </a:endParaRPr>
          </a:p>
        </p:txBody>
      </p:sp>
      <p:sp>
        <p:nvSpPr>
          <p:cNvPr id="762" name="Google Shape;762;p15"/>
          <p:cNvSpPr/>
          <p:nvPr/>
        </p:nvSpPr>
        <p:spPr>
          <a:xfrm>
            <a:off x="3037880" y="1680567"/>
            <a:ext cx="928688" cy="250031"/>
          </a:xfrm>
          <a:prstGeom prst="rect">
            <a:avLst/>
          </a:prstGeom>
          <a:solidFill>
            <a:srgbClr val="FFFFFF">
              <a:alpha val="5098"/>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5"/>
          <p:cNvSpPr/>
          <p:nvPr/>
        </p:nvSpPr>
        <p:spPr>
          <a:xfrm>
            <a:off x="3037880" y="1680567"/>
            <a:ext cx="928688" cy="250031"/>
          </a:xfrm>
          <a:prstGeom prst="rect">
            <a:avLst/>
          </a:prstGeom>
          <a:noFill/>
          <a:ln>
            <a:noFill/>
          </a:ln>
        </p:spPr>
        <p:txBody>
          <a:bodyPr anchorCtr="0" anchor="t" bIns="68050" lIns="127500" spcFirstLastPara="1" rIns="127500" wrap="square" tIns="6805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OpAMP Server</a:t>
            </a:r>
            <a:endParaRPr b="0" i="0" sz="727" u="none" cap="none" strike="noStrike">
              <a:solidFill>
                <a:schemeClr val="dk1"/>
              </a:solidFill>
              <a:latin typeface="Calibri"/>
              <a:ea typeface="Calibri"/>
              <a:cs typeface="Calibri"/>
              <a:sym typeface="Calibri"/>
            </a:endParaRPr>
          </a:p>
        </p:txBody>
      </p:sp>
      <p:sp>
        <p:nvSpPr>
          <p:cNvPr id="764" name="Google Shape;764;p15"/>
          <p:cNvSpPr/>
          <p:nvPr/>
        </p:nvSpPr>
        <p:spPr>
          <a:xfrm>
            <a:off x="4102298" y="1680567"/>
            <a:ext cx="819745" cy="250031"/>
          </a:xfrm>
          <a:prstGeom prst="rect">
            <a:avLst/>
          </a:prstGeom>
          <a:solidFill>
            <a:srgbClr val="FFFFFF">
              <a:alpha val="5098"/>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5"/>
          <p:cNvSpPr/>
          <p:nvPr/>
        </p:nvSpPr>
        <p:spPr>
          <a:xfrm>
            <a:off x="4102298" y="1680567"/>
            <a:ext cx="819745" cy="250031"/>
          </a:xfrm>
          <a:prstGeom prst="rect">
            <a:avLst/>
          </a:prstGeom>
          <a:noFill/>
          <a:ln>
            <a:noFill/>
          </a:ln>
        </p:spPr>
        <p:txBody>
          <a:bodyPr anchorCtr="0" anchor="t" bIns="68050" lIns="127500" spcFirstLastPara="1" rIns="127500" wrap="square" tIns="6805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Cert Service</a:t>
            </a:r>
            <a:endParaRPr b="0" i="0" sz="727" u="none" cap="none" strike="noStrike">
              <a:solidFill>
                <a:schemeClr val="dk1"/>
              </a:solidFill>
              <a:latin typeface="Calibri"/>
              <a:ea typeface="Calibri"/>
              <a:cs typeface="Calibri"/>
              <a:sym typeface="Calibri"/>
            </a:endParaRPr>
          </a:p>
        </p:txBody>
      </p:sp>
      <p:sp>
        <p:nvSpPr>
          <p:cNvPr id="766" name="Google Shape;766;p15"/>
          <p:cNvSpPr/>
          <p:nvPr/>
        </p:nvSpPr>
        <p:spPr>
          <a:xfrm>
            <a:off x="5057775" y="1680567"/>
            <a:ext cx="1034058" cy="250031"/>
          </a:xfrm>
          <a:prstGeom prst="rect">
            <a:avLst/>
          </a:prstGeom>
          <a:solidFill>
            <a:srgbClr val="FFFFFF">
              <a:alpha val="5098"/>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5"/>
          <p:cNvSpPr/>
          <p:nvPr/>
        </p:nvSpPr>
        <p:spPr>
          <a:xfrm>
            <a:off x="5057775" y="1680567"/>
            <a:ext cx="1034058" cy="250031"/>
          </a:xfrm>
          <a:prstGeom prst="rect">
            <a:avLst/>
          </a:prstGeom>
          <a:noFill/>
          <a:ln>
            <a:noFill/>
          </a:ln>
        </p:spPr>
        <p:txBody>
          <a:bodyPr anchorCtr="0" anchor="t" bIns="68050" lIns="127500" spcFirstLastPara="1" rIns="127500" wrap="square" tIns="6805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Secrets Manager</a:t>
            </a:r>
            <a:endParaRPr b="0" i="0" sz="727" u="none" cap="none" strike="noStrike">
              <a:solidFill>
                <a:schemeClr val="dk1"/>
              </a:solidFill>
              <a:latin typeface="Calibri"/>
              <a:ea typeface="Calibri"/>
              <a:cs typeface="Calibri"/>
              <a:sym typeface="Calibri"/>
            </a:endParaRPr>
          </a:p>
        </p:txBody>
      </p:sp>
      <p:sp>
        <p:nvSpPr>
          <p:cNvPr id="768" name="Google Shape;768;p15"/>
          <p:cNvSpPr/>
          <p:nvPr/>
        </p:nvSpPr>
        <p:spPr>
          <a:xfrm>
            <a:off x="4026396" y="2161877"/>
            <a:ext cx="1091208" cy="151805"/>
          </a:xfrm>
          <a:prstGeom prst="rect">
            <a:avLst/>
          </a:prstGeom>
          <a:solidFill>
            <a:srgbClr val="1F2937"/>
          </a:solidFill>
          <a:ln cap="flat" cmpd="sng" w="9525">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5"/>
          <p:cNvSpPr/>
          <p:nvPr/>
        </p:nvSpPr>
        <p:spPr>
          <a:xfrm>
            <a:off x="4026396" y="2161877"/>
            <a:ext cx="1091208" cy="151805"/>
          </a:xfrm>
          <a:prstGeom prst="rect">
            <a:avLst/>
          </a:prstGeom>
          <a:noFill/>
          <a:ln>
            <a:noFill/>
          </a:ln>
        </p:spPr>
        <p:txBody>
          <a:bodyPr anchorCtr="0" anchor="t" bIns="0" lIns="127500" spcFirstLastPara="1" rIns="127500" wrap="square" tIns="0">
            <a:noAutofit/>
          </a:bodyPr>
          <a:lstStyle/>
          <a:p>
            <a:pPr indent="0" lvl="0" marL="0" marR="0" rtl="0" algn="l">
              <a:lnSpc>
                <a:spcPct val="140306"/>
              </a:lnSpc>
              <a:spcBef>
                <a:spcPts val="0"/>
              </a:spcBef>
              <a:spcAft>
                <a:spcPts val="0"/>
              </a:spcAft>
              <a:buClr>
                <a:srgbClr val="F59E0B"/>
              </a:buClr>
              <a:buSzPts val="784"/>
              <a:buFont typeface="Inter"/>
              <a:buNone/>
            </a:pPr>
            <a:r>
              <a:rPr b="1" i="0" lang="en-US" sz="784" u="none" cap="none" strike="noStrike">
                <a:solidFill>
                  <a:srgbClr val="F59E0B"/>
                </a:solidFill>
                <a:latin typeface="Inter"/>
                <a:ea typeface="Inter"/>
                <a:cs typeface="Inter"/>
                <a:sym typeface="Inter"/>
              </a:rPr>
              <a:t>OpAMP + mTLS</a:t>
            </a:r>
            <a:endParaRPr b="0" i="0" sz="784" u="none" cap="none" strike="noStrike">
              <a:solidFill>
                <a:schemeClr val="dk1"/>
              </a:solidFill>
              <a:latin typeface="Calibri"/>
              <a:ea typeface="Calibri"/>
              <a:cs typeface="Calibri"/>
              <a:sym typeface="Calibri"/>
            </a:endParaRPr>
          </a:p>
        </p:txBody>
      </p:sp>
      <p:sp>
        <p:nvSpPr>
          <p:cNvPr id="770" name="Google Shape;770;p15"/>
          <p:cNvSpPr/>
          <p:nvPr/>
        </p:nvSpPr>
        <p:spPr>
          <a:xfrm>
            <a:off x="1714500" y="2452092"/>
            <a:ext cx="5715000" cy="719733"/>
          </a:xfrm>
          <a:prstGeom prst="rect">
            <a:avLst/>
          </a:prstGeom>
          <a:solidFill>
            <a:srgbClr val="0D1B2A">
              <a:alpha val="80000"/>
            </a:srgbClr>
          </a:solidFill>
          <a:ln cap="flat" cmpd="sng" w="18275">
            <a:solidFill>
              <a:srgbClr val="00E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5"/>
          <p:cNvSpPr/>
          <p:nvPr/>
        </p:nvSpPr>
        <p:spPr>
          <a:xfrm>
            <a:off x="3754934" y="2559248"/>
            <a:ext cx="1634133" cy="155377"/>
          </a:xfrm>
          <a:prstGeom prst="rect">
            <a:avLst/>
          </a:prstGeom>
          <a:noFill/>
          <a:ln>
            <a:noFill/>
          </a:ln>
        </p:spPr>
        <p:txBody>
          <a:bodyPr anchorCtr="0" anchor="t" bIns="0" lIns="0" spcFirstLastPara="1" rIns="0" wrap="square" tIns="0">
            <a:noAutofit/>
          </a:bodyPr>
          <a:lstStyle/>
          <a:p>
            <a:pPr indent="0" lvl="0" marL="0" marR="0" rtl="0" algn="l">
              <a:lnSpc>
                <a:spcPct val="135593"/>
              </a:lnSpc>
              <a:spcBef>
                <a:spcPts val="0"/>
              </a:spcBef>
              <a:spcAft>
                <a:spcPts val="0"/>
              </a:spcAft>
              <a:buClr>
                <a:srgbClr val="00E676"/>
              </a:buClr>
              <a:buSzPts val="885"/>
              <a:buFont typeface="Inter"/>
              <a:buNone/>
            </a:pPr>
            <a:r>
              <a:rPr b="1" i="0" lang="en-US" sz="885" u="none" cap="none" strike="noStrike">
                <a:solidFill>
                  <a:srgbClr val="00E676"/>
                </a:solidFill>
                <a:latin typeface="Inter"/>
                <a:ea typeface="Inter"/>
                <a:cs typeface="Inter"/>
                <a:sym typeface="Inter"/>
              </a:rPr>
              <a:t>EDGE (200K+ NODES)</a:t>
            </a:r>
            <a:endParaRPr b="0" i="0" sz="885" u="none" cap="none" strike="noStrike">
              <a:solidFill>
                <a:schemeClr val="dk1"/>
              </a:solidFill>
              <a:latin typeface="Calibri"/>
              <a:ea typeface="Calibri"/>
              <a:cs typeface="Calibri"/>
              <a:sym typeface="Calibri"/>
            </a:endParaRPr>
          </a:p>
        </p:txBody>
      </p:sp>
      <p:sp>
        <p:nvSpPr>
          <p:cNvPr id="772" name="Google Shape;772;p15"/>
          <p:cNvSpPr/>
          <p:nvPr/>
        </p:nvSpPr>
        <p:spPr>
          <a:xfrm>
            <a:off x="2988766" y="2786063"/>
            <a:ext cx="742950" cy="250031"/>
          </a:xfrm>
          <a:prstGeom prst="rect">
            <a:avLst/>
          </a:prstGeom>
          <a:solidFill>
            <a:srgbClr val="FFFFFF">
              <a:alpha val="5098"/>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5"/>
          <p:cNvSpPr/>
          <p:nvPr/>
        </p:nvSpPr>
        <p:spPr>
          <a:xfrm>
            <a:off x="2988766" y="2786063"/>
            <a:ext cx="742950" cy="250031"/>
          </a:xfrm>
          <a:prstGeom prst="rect">
            <a:avLst/>
          </a:prstGeom>
          <a:noFill/>
          <a:ln>
            <a:noFill/>
          </a:ln>
        </p:spPr>
        <p:txBody>
          <a:bodyPr anchorCtr="0" anchor="t" bIns="68050" lIns="127500" spcFirstLastPara="1" rIns="127500" wrap="square" tIns="6805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Supervisor</a:t>
            </a:r>
            <a:endParaRPr b="0" i="0" sz="727" u="none" cap="none" strike="noStrike">
              <a:solidFill>
                <a:schemeClr val="dk1"/>
              </a:solidFill>
              <a:latin typeface="Calibri"/>
              <a:ea typeface="Calibri"/>
              <a:cs typeface="Calibri"/>
              <a:sym typeface="Calibri"/>
            </a:endParaRPr>
          </a:p>
        </p:txBody>
      </p:sp>
      <p:sp>
        <p:nvSpPr>
          <p:cNvPr id="774" name="Google Shape;774;p15"/>
          <p:cNvSpPr/>
          <p:nvPr/>
        </p:nvSpPr>
        <p:spPr>
          <a:xfrm>
            <a:off x="3867448" y="2786063"/>
            <a:ext cx="869752" cy="250031"/>
          </a:xfrm>
          <a:prstGeom prst="rect">
            <a:avLst/>
          </a:prstGeom>
          <a:solidFill>
            <a:srgbClr val="FFFFFF">
              <a:alpha val="5098"/>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5"/>
          <p:cNvSpPr/>
          <p:nvPr/>
        </p:nvSpPr>
        <p:spPr>
          <a:xfrm>
            <a:off x="3867448" y="2786063"/>
            <a:ext cx="869752" cy="250031"/>
          </a:xfrm>
          <a:prstGeom prst="rect">
            <a:avLst/>
          </a:prstGeom>
          <a:noFill/>
          <a:ln>
            <a:noFill/>
          </a:ln>
        </p:spPr>
        <p:txBody>
          <a:bodyPr anchorCtr="0" anchor="t" bIns="68050" lIns="127500" spcFirstLastPara="1" rIns="127500" wrap="square" tIns="6805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Workload API</a:t>
            </a:r>
            <a:endParaRPr b="0" i="0" sz="727" u="none" cap="none" strike="noStrike">
              <a:solidFill>
                <a:schemeClr val="dk1"/>
              </a:solidFill>
              <a:latin typeface="Calibri"/>
              <a:ea typeface="Calibri"/>
              <a:cs typeface="Calibri"/>
              <a:sym typeface="Calibri"/>
            </a:endParaRPr>
          </a:p>
        </p:txBody>
      </p:sp>
      <p:sp>
        <p:nvSpPr>
          <p:cNvPr id="776" name="Google Shape;776;p15"/>
          <p:cNvSpPr/>
          <p:nvPr/>
        </p:nvSpPr>
        <p:spPr>
          <a:xfrm>
            <a:off x="4872930" y="2786063"/>
            <a:ext cx="1268016" cy="250031"/>
          </a:xfrm>
          <a:prstGeom prst="rect">
            <a:avLst/>
          </a:prstGeom>
          <a:solidFill>
            <a:srgbClr val="FFFFFF">
              <a:alpha val="5098"/>
            </a:srgbClr>
          </a:solidFill>
          <a:ln cap="flat" cmpd="sng" w="9525">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5"/>
          <p:cNvSpPr/>
          <p:nvPr/>
        </p:nvSpPr>
        <p:spPr>
          <a:xfrm>
            <a:off x="4872930" y="2786063"/>
            <a:ext cx="1268016" cy="250031"/>
          </a:xfrm>
          <a:prstGeom prst="rect">
            <a:avLst/>
          </a:prstGeom>
          <a:noFill/>
          <a:ln>
            <a:noFill/>
          </a:ln>
        </p:spPr>
        <p:txBody>
          <a:bodyPr anchorCtr="0" anchor="t" bIns="68050" lIns="127500" spcFirstLastPara="1" rIns="127500" wrap="square" tIns="6805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Applications &amp; Agents</a:t>
            </a:r>
            <a:endParaRPr b="0" i="0" sz="727" u="none" cap="none" strike="noStrike">
              <a:solidFill>
                <a:schemeClr val="dk1"/>
              </a:solidFill>
              <a:latin typeface="Calibri"/>
              <a:ea typeface="Calibri"/>
              <a:cs typeface="Calibri"/>
              <a:sym typeface="Calibri"/>
            </a:endParaRPr>
          </a:p>
        </p:txBody>
      </p:sp>
      <p:sp>
        <p:nvSpPr>
          <p:cNvPr id="778" name="Google Shape;778;p15"/>
          <p:cNvSpPr/>
          <p:nvPr/>
        </p:nvSpPr>
        <p:spPr>
          <a:xfrm>
            <a:off x="1000125" y="3328988"/>
            <a:ext cx="2238366" cy="725091"/>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5"/>
          <p:cNvSpPr/>
          <p:nvPr/>
        </p:nvSpPr>
        <p:spPr>
          <a:xfrm>
            <a:off x="1000125" y="3328988"/>
            <a:ext cx="2238366" cy="21431"/>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5"/>
          <p:cNvSpPr/>
          <p:nvPr/>
        </p:nvSpPr>
        <p:spPr>
          <a:xfrm>
            <a:off x="1143000" y="3471863"/>
            <a:ext cx="1952616" cy="214313"/>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FFFFFF"/>
              </a:buClr>
              <a:buSzPts val="1193"/>
              <a:buFont typeface="Merriweather"/>
              <a:buNone/>
            </a:pPr>
            <a:r>
              <a:rPr b="1" i="0" lang="en-US" sz="1193" u="none" cap="none" strike="noStrike">
                <a:solidFill>
                  <a:srgbClr val="FFFFFF"/>
                </a:solidFill>
                <a:latin typeface="Merriweather"/>
                <a:ea typeface="Merriweather"/>
                <a:cs typeface="Merriweather"/>
                <a:sym typeface="Merriweather"/>
              </a:rPr>
              <a:t>UNIFIED</a:t>
            </a:r>
            <a:endParaRPr b="0" i="0" sz="1193" u="none" cap="none" strike="noStrike">
              <a:solidFill>
                <a:schemeClr val="dk1"/>
              </a:solidFill>
              <a:latin typeface="Calibri"/>
              <a:ea typeface="Calibri"/>
              <a:cs typeface="Calibri"/>
              <a:sym typeface="Calibri"/>
            </a:endParaRPr>
          </a:p>
        </p:txBody>
      </p:sp>
      <p:sp>
        <p:nvSpPr>
          <p:cNvPr id="781" name="Google Shape;781;p15"/>
          <p:cNvSpPr/>
          <p:nvPr/>
        </p:nvSpPr>
        <p:spPr>
          <a:xfrm>
            <a:off x="1143000" y="3757613"/>
            <a:ext cx="1952616" cy="275034"/>
          </a:xfrm>
          <a:prstGeom prst="rect">
            <a:avLst/>
          </a:prstGeom>
          <a:noFill/>
          <a:ln>
            <a:noFill/>
          </a:ln>
        </p:spPr>
        <p:txBody>
          <a:bodyPr anchorCtr="0" anchor="t" bIns="0" lIns="0" spcFirstLastPara="1" rIns="0" wrap="square" tIns="0">
            <a:noAutofit/>
          </a:bodyPr>
          <a:lstStyle/>
          <a:p>
            <a:pPr indent="0" lvl="0" marL="0" marR="0" rtl="0" algn="ctr">
              <a:lnSpc>
                <a:spcPct val="131894"/>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One agent, one protocol, one platform</a:t>
            </a:r>
            <a:endParaRPr b="0" i="0" sz="834" u="none" cap="none" strike="noStrike">
              <a:solidFill>
                <a:schemeClr val="dk1"/>
              </a:solidFill>
              <a:latin typeface="Calibri"/>
              <a:ea typeface="Calibri"/>
              <a:cs typeface="Calibri"/>
              <a:sym typeface="Calibri"/>
            </a:endParaRPr>
          </a:p>
        </p:txBody>
      </p:sp>
      <p:sp>
        <p:nvSpPr>
          <p:cNvPr id="782" name="Google Shape;782;p15"/>
          <p:cNvSpPr/>
          <p:nvPr/>
        </p:nvSpPr>
        <p:spPr>
          <a:xfrm>
            <a:off x="3452803" y="3328988"/>
            <a:ext cx="2238366" cy="725091"/>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5"/>
          <p:cNvSpPr/>
          <p:nvPr/>
        </p:nvSpPr>
        <p:spPr>
          <a:xfrm>
            <a:off x="3452803" y="3328988"/>
            <a:ext cx="2238366" cy="21431"/>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5"/>
          <p:cNvSpPr/>
          <p:nvPr/>
        </p:nvSpPr>
        <p:spPr>
          <a:xfrm>
            <a:off x="3595678" y="3471863"/>
            <a:ext cx="1952616" cy="214313"/>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FFFFFF"/>
              </a:buClr>
              <a:buSzPts val="1193"/>
              <a:buFont typeface="Merriweather"/>
              <a:buNone/>
            </a:pPr>
            <a:r>
              <a:rPr b="1" i="0" lang="en-US" sz="1193" u="none" cap="none" strike="noStrike">
                <a:solidFill>
                  <a:srgbClr val="FFFFFF"/>
                </a:solidFill>
                <a:latin typeface="Merriweather"/>
                <a:ea typeface="Merriweather"/>
                <a:cs typeface="Merriweather"/>
                <a:sym typeface="Merriweather"/>
              </a:rPr>
              <a:t>SECURE</a:t>
            </a:r>
            <a:endParaRPr b="0" i="0" sz="1193" u="none" cap="none" strike="noStrike">
              <a:solidFill>
                <a:schemeClr val="dk1"/>
              </a:solidFill>
              <a:latin typeface="Calibri"/>
              <a:ea typeface="Calibri"/>
              <a:cs typeface="Calibri"/>
              <a:sym typeface="Calibri"/>
            </a:endParaRPr>
          </a:p>
        </p:txBody>
      </p:sp>
      <p:sp>
        <p:nvSpPr>
          <p:cNvPr id="785" name="Google Shape;785;p15"/>
          <p:cNvSpPr/>
          <p:nvPr/>
        </p:nvSpPr>
        <p:spPr>
          <a:xfrm>
            <a:off x="3595678" y="3757613"/>
            <a:ext cx="1952616" cy="275034"/>
          </a:xfrm>
          <a:prstGeom prst="rect">
            <a:avLst/>
          </a:prstGeom>
          <a:noFill/>
          <a:ln>
            <a:noFill/>
          </a:ln>
        </p:spPr>
        <p:txBody>
          <a:bodyPr anchorCtr="0" anchor="t" bIns="0" lIns="0" spcFirstLastPara="1" rIns="0" wrap="square" tIns="0">
            <a:noAutofit/>
          </a:bodyPr>
          <a:lstStyle/>
          <a:p>
            <a:pPr indent="0" lvl="0" marL="0" marR="0" rtl="0" algn="ctr">
              <a:lnSpc>
                <a:spcPct val="131894"/>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Zero trust from hardware to role token</a:t>
            </a:r>
            <a:endParaRPr b="0" i="0" sz="834" u="none" cap="none" strike="noStrike">
              <a:solidFill>
                <a:schemeClr val="dk1"/>
              </a:solidFill>
              <a:latin typeface="Calibri"/>
              <a:ea typeface="Calibri"/>
              <a:cs typeface="Calibri"/>
              <a:sym typeface="Calibri"/>
            </a:endParaRPr>
          </a:p>
        </p:txBody>
      </p:sp>
      <p:sp>
        <p:nvSpPr>
          <p:cNvPr id="786" name="Google Shape;786;p15"/>
          <p:cNvSpPr/>
          <p:nvPr/>
        </p:nvSpPr>
        <p:spPr>
          <a:xfrm>
            <a:off x="5905481" y="3328988"/>
            <a:ext cx="2238366" cy="725091"/>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5"/>
          <p:cNvSpPr/>
          <p:nvPr/>
        </p:nvSpPr>
        <p:spPr>
          <a:xfrm>
            <a:off x="5905481" y="3328988"/>
            <a:ext cx="2238366" cy="21431"/>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5"/>
          <p:cNvSpPr/>
          <p:nvPr/>
        </p:nvSpPr>
        <p:spPr>
          <a:xfrm>
            <a:off x="6048356" y="3471863"/>
            <a:ext cx="1952616" cy="214313"/>
          </a:xfrm>
          <a:prstGeom prst="rect">
            <a:avLst/>
          </a:prstGeom>
          <a:noFill/>
          <a:ln>
            <a:noFill/>
          </a:ln>
        </p:spPr>
        <p:txBody>
          <a:bodyPr anchorCtr="0" anchor="t" bIns="0" lIns="0" spcFirstLastPara="1" rIns="0" wrap="square" tIns="0">
            <a:noAutofit/>
          </a:bodyPr>
          <a:lstStyle/>
          <a:p>
            <a:pPr indent="0" lvl="0" marL="0" marR="0" rtl="0" algn="ctr">
              <a:lnSpc>
                <a:spcPct val="134115"/>
              </a:lnSpc>
              <a:spcBef>
                <a:spcPts val="0"/>
              </a:spcBef>
              <a:spcAft>
                <a:spcPts val="0"/>
              </a:spcAft>
              <a:buClr>
                <a:srgbClr val="FFFFFF"/>
              </a:buClr>
              <a:buSzPts val="1193"/>
              <a:buFont typeface="Merriweather"/>
              <a:buNone/>
            </a:pPr>
            <a:r>
              <a:rPr b="1" i="0" lang="en-US" sz="1193" u="none" cap="none" strike="noStrike">
                <a:solidFill>
                  <a:srgbClr val="FFFFFF"/>
                </a:solidFill>
                <a:latin typeface="Merriweather"/>
                <a:ea typeface="Merriweather"/>
                <a:cs typeface="Merriweather"/>
                <a:sym typeface="Merriweather"/>
              </a:rPr>
              <a:t>SCALABLE</a:t>
            </a:r>
            <a:endParaRPr b="0" i="0" sz="1193" u="none" cap="none" strike="noStrike">
              <a:solidFill>
                <a:schemeClr val="dk1"/>
              </a:solidFill>
              <a:latin typeface="Calibri"/>
              <a:ea typeface="Calibri"/>
              <a:cs typeface="Calibri"/>
              <a:sym typeface="Calibri"/>
            </a:endParaRPr>
          </a:p>
        </p:txBody>
      </p:sp>
      <p:sp>
        <p:nvSpPr>
          <p:cNvPr id="789" name="Google Shape;789;p15"/>
          <p:cNvSpPr/>
          <p:nvPr/>
        </p:nvSpPr>
        <p:spPr>
          <a:xfrm>
            <a:off x="6048356" y="3757613"/>
            <a:ext cx="1952616" cy="275034"/>
          </a:xfrm>
          <a:prstGeom prst="rect">
            <a:avLst/>
          </a:prstGeom>
          <a:noFill/>
          <a:ln>
            <a:noFill/>
          </a:ln>
        </p:spPr>
        <p:txBody>
          <a:bodyPr anchorCtr="0" anchor="t" bIns="0" lIns="0" spcFirstLastPara="1" rIns="0" wrap="square" tIns="0">
            <a:noAutofit/>
          </a:bodyPr>
          <a:lstStyle/>
          <a:p>
            <a:pPr indent="0" lvl="0" marL="0" marR="0" rtl="0" algn="ctr">
              <a:lnSpc>
                <a:spcPct val="131894"/>
              </a:lnSpc>
              <a:spcBef>
                <a:spcPts val="0"/>
              </a:spcBef>
              <a:spcAft>
                <a:spcPts val="0"/>
              </a:spcAft>
              <a:buClr>
                <a:srgbClr val="9CA3AF"/>
              </a:buClr>
              <a:buSzPts val="834"/>
              <a:buFont typeface="Inter"/>
              <a:buNone/>
            </a:pPr>
            <a:r>
              <a:rPr b="0" i="0" lang="en-US" sz="834" u="none" cap="none" strike="noStrike">
                <a:solidFill>
                  <a:srgbClr val="9CA3AF"/>
                </a:solidFill>
                <a:latin typeface="Inter"/>
                <a:ea typeface="Inter"/>
                <a:cs typeface="Inter"/>
                <a:sym typeface="Inter"/>
              </a:rPr>
              <a:t>200,000+ nodes, sub-second response</a:t>
            </a:r>
            <a:endParaRPr b="0" i="0" sz="834" u="none" cap="none" strike="noStrike">
              <a:solidFill>
                <a:schemeClr val="dk1"/>
              </a:solidFill>
              <a:latin typeface="Calibri"/>
              <a:ea typeface="Calibri"/>
              <a:cs typeface="Calibri"/>
              <a:sym typeface="Calibri"/>
            </a:endParaRPr>
          </a:p>
        </p:txBody>
      </p:sp>
      <p:sp>
        <p:nvSpPr>
          <p:cNvPr id="790" name="Google Shape;790;p15"/>
          <p:cNvSpPr/>
          <p:nvPr/>
        </p:nvSpPr>
        <p:spPr>
          <a:xfrm>
            <a:off x="0" y="4429125"/>
            <a:ext cx="9144000" cy="714375"/>
          </a:xfrm>
          <a:prstGeom prst="rect">
            <a:avLst/>
          </a:prstGeom>
          <a:solidFill>
            <a:srgbClr val="00000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5"/>
          <p:cNvSpPr/>
          <p:nvPr/>
        </p:nvSpPr>
        <p:spPr>
          <a:xfrm>
            <a:off x="0" y="4429125"/>
            <a:ext cx="91440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5"/>
          <p:cNvSpPr/>
          <p:nvPr/>
        </p:nvSpPr>
        <p:spPr>
          <a:xfrm>
            <a:off x="1866305" y="4599682"/>
            <a:ext cx="2514600"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E0E0E0"/>
              </a:buClr>
              <a:buSzPts val="683"/>
              <a:buFont typeface="Inter"/>
              <a:buNone/>
            </a:pPr>
            <a:r>
              <a:rPr b="1" i="0" lang="en-US" sz="683" u="none" cap="none" strike="noStrike">
                <a:solidFill>
                  <a:srgbClr val="E0E0E0"/>
                </a:solidFill>
                <a:latin typeface="Inter"/>
                <a:ea typeface="Inter"/>
                <a:cs typeface="Inter"/>
                <a:sym typeface="Inter"/>
              </a:rPr>
              <a:t>SDKS: GO | PYTHON | NODE.JS | RUST | JAVA</a:t>
            </a:r>
            <a:endParaRPr b="0" i="0" sz="683" u="none" cap="none" strike="noStrike">
              <a:solidFill>
                <a:schemeClr val="dk1"/>
              </a:solidFill>
              <a:latin typeface="Calibri"/>
              <a:ea typeface="Calibri"/>
              <a:cs typeface="Calibri"/>
              <a:sym typeface="Calibri"/>
            </a:endParaRPr>
          </a:p>
        </p:txBody>
      </p:sp>
      <p:sp>
        <p:nvSpPr>
          <p:cNvPr id="793" name="Google Shape;793;p15"/>
          <p:cNvSpPr/>
          <p:nvPr/>
        </p:nvSpPr>
        <p:spPr>
          <a:xfrm>
            <a:off x="4666655" y="4599682"/>
            <a:ext cx="2611041" cy="121444"/>
          </a:xfrm>
          <a:prstGeom prst="rect">
            <a:avLst/>
          </a:prstGeom>
          <a:noFill/>
          <a:ln>
            <a:noFill/>
          </a:ln>
        </p:spPr>
        <p:txBody>
          <a:bodyPr anchorCtr="0" anchor="t" bIns="0" lIns="0" spcFirstLastPara="1" rIns="0" wrap="square" tIns="0">
            <a:noAutofit/>
          </a:bodyPr>
          <a:lstStyle/>
          <a:p>
            <a:pPr indent="0" lvl="0" marL="0" marR="0" rtl="0" algn="l">
              <a:lnSpc>
                <a:spcPct val="131771"/>
              </a:lnSpc>
              <a:spcBef>
                <a:spcPts val="0"/>
              </a:spcBef>
              <a:spcAft>
                <a:spcPts val="0"/>
              </a:spcAft>
              <a:buClr>
                <a:srgbClr val="E0E0E0"/>
              </a:buClr>
              <a:buSzPts val="683"/>
              <a:buFont typeface="Inter"/>
              <a:buNone/>
            </a:pPr>
            <a:r>
              <a:rPr b="1" i="0" lang="en-US" sz="683" u="none" cap="none" strike="noStrike">
                <a:solidFill>
                  <a:srgbClr val="E0E0E0"/>
                </a:solidFill>
                <a:latin typeface="Inter"/>
                <a:ea typeface="Inter"/>
                <a:cs typeface="Inter"/>
                <a:sym typeface="Inter"/>
              </a:rPr>
              <a:t>PROTOCOLS: OPAMP | SPIFFE | MTLS | ATHENZ</a:t>
            </a:r>
            <a:endParaRPr b="0" i="0" sz="683" u="none" cap="none" strike="noStrike">
              <a:solidFill>
                <a:schemeClr val="dk1"/>
              </a:solidFill>
              <a:latin typeface="Calibri"/>
              <a:ea typeface="Calibri"/>
              <a:cs typeface="Calibri"/>
              <a:sym typeface="Calibri"/>
            </a:endParaRPr>
          </a:p>
        </p:txBody>
      </p:sp>
      <p:sp>
        <p:nvSpPr>
          <p:cNvPr id="794" name="Google Shape;794;p15"/>
          <p:cNvSpPr/>
          <p:nvPr/>
        </p:nvSpPr>
        <p:spPr>
          <a:xfrm>
            <a:off x="4030861" y="4828282"/>
            <a:ext cx="1082278" cy="251817"/>
          </a:xfrm>
          <a:prstGeom prst="rect">
            <a:avLst/>
          </a:prstGeom>
          <a:noFill/>
          <a:ln>
            <a:noFill/>
          </a:ln>
        </p:spPr>
        <p:txBody>
          <a:bodyPr anchorCtr="0" anchor="t" bIns="0" lIns="0" spcFirstLastPara="1" rIns="0" wrap="square" tIns="0">
            <a:noAutofit/>
          </a:bodyPr>
          <a:lstStyle/>
          <a:p>
            <a:pPr indent="0" lvl="0" marL="0" marR="0" rtl="0" algn="l">
              <a:lnSpc>
                <a:spcPct val="136005"/>
              </a:lnSpc>
              <a:spcBef>
                <a:spcPts val="0"/>
              </a:spcBef>
              <a:spcAft>
                <a:spcPts val="0"/>
              </a:spcAft>
              <a:buClr>
                <a:srgbClr val="00E5FF"/>
              </a:buClr>
              <a:buSzPts val="1397"/>
              <a:buFont typeface="Merriweather"/>
              <a:buNone/>
            </a:pPr>
            <a:r>
              <a:rPr b="1" i="0" lang="en-US" sz="1397" u="none" cap="none" strike="noStrike">
                <a:solidFill>
                  <a:srgbClr val="00E5FF"/>
                </a:solidFill>
                <a:latin typeface="Merriweather"/>
                <a:ea typeface="Merriweather"/>
                <a:cs typeface="Merriweather"/>
                <a:sym typeface="Merriweather"/>
              </a:rPr>
              <a:t>Questions?</a:t>
            </a:r>
            <a:endParaRPr b="0" i="0" sz="1397"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pic>
        <p:nvPicPr>
          <p:cNvPr descr="preencoded.png" id="800" name="Google Shape;800;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01" name="Google Shape;801;p16"/>
          <p:cNvSpPr/>
          <p:nvPr/>
        </p:nvSpPr>
        <p:spPr>
          <a:xfrm>
            <a:off x="0" y="0"/>
            <a:ext cx="9144000" cy="894364"/>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6"/>
          <p:cNvSpPr/>
          <p:nvPr/>
        </p:nvSpPr>
        <p:spPr>
          <a:xfrm>
            <a:off x="0" y="880077"/>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6"/>
          <p:cNvSpPr/>
          <p:nvPr/>
        </p:nvSpPr>
        <p:spPr>
          <a:xfrm>
            <a:off x="428625" y="285750"/>
            <a:ext cx="8286750" cy="594327"/>
          </a:xfrm>
          <a:prstGeom prst="rect">
            <a:avLst/>
          </a:prstGeom>
          <a:noFill/>
          <a:ln>
            <a:noFill/>
          </a:ln>
        </p:spPr>
        <p:txBody>
          <a:bodyPr anchorCtr="0" anchor="t" bIns="0" lIns="0" spcFirstLastPara="1" rIns="0" wrap="square" tIns="0">
            <a:noAutofit/>
          </a:bodyPr>
          <a:lstStyle/>
          <a:p>
            <a:pPr indent="0" lvl="0" marL="0" marR="0" rtl="0" algn="l">
              <a:lnSpc>
                <a:spcPct val="143570"/>
              </a:lnSpc>
              <a:spcBef>
                <a:spcPts val="0"/>
              </a:spcBef>
              <a:spcAft>
                <a:spcPts val="0"/>
              </a:spcAft>
              <a:buClr>
                <a:srgbClr val="FFFFFF"/>
              </a:buClr>
              <a:buSzPts val="1602"/>
              <a:buFont typeface="Merriweather"/>
              <a:buNone/>
            </a:pPr>
            <a:r>
              <a:rPr b="1" i="0" lang="en-US" sz="1602" u="none" cap="none" strike="noStrike">
                <a:solidFill>
                  <a:srgbClr val="FFFFFF"/>
                </a:solidFill>
                <a:latin typeface="Merriweather"/>
                <a:ea typeface="Merriweather"/>
                <a:cs typeface="Merriweather"/>
                <a:sym typeface="Merriweather"/>
              </a:rPr>
              <a:t>Appendix: Flexible Deployment Patterns for VM, Kubernetes, and Hybrid Environments</a:t>
            </a:r>
            <a:endParaRPr b="0" i="0" sz="1602" u="none" cap="none" strike="noStrike">
              <a:solidFill>
                <a:schemeClr val="dk1"/>
              </a:solidFill>
              <a:latin typeface="Calibri"/>
              <a:ea typeface="Calibri"/>
              <a:cs typeface="Calibri"/>
              <a:sym typeface="Calibri"/>
            </a:endParaRPr>
          </a:p>
        </p:txBody>
      </p:sp>
      <p:sp>
        <p:nvSpPr>
          <p:cNvPr id="804" name="Google Shape;804;p16"/>
          <p:cNvSpPr/>
          <p:nvPr/>
        </p:nvSpPr>
        <p:spPr>
          <a:xfrm>
            <a:off x="428625" y="1094389"/>
            <a:ext cx="2619384" cy="1723430"/>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6"/>
          <p:cNvSpPr/>
          <p:nvPr/>
        </p:nvSpPr>
        <p:spPr>
          <a:xfrm>
            <a:off x="428625" y="1094389"/>
            <a:ext cx="2619384"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6" name="Google Shape;806;p16"/>
          <p:cNvPicPr preferRelativeResize="0"/>
          <p:nvPr/>
        </p:nvPicPr>
        <p:blipFill rotWithShape="1">
          <a:blip r:embed="rId4">
            <a:alphaModFix/>
          </a:blip>
          <a:srcRect b="0" l="0" r="0" t="0"/>
          <a:stretch/>
        </p:blipFill>
        <p:spPr>
          <a:xfrm>
            <a:off x="571500" y="1256016"/>
            <a:ext cx="142875" cy="142875"/>
          </a:xfrm>
          <a:prstGeom prst="rect">
            <a:avLst/>
          </a:prstGeom>
          <a:noFill/>
          <a:ln>
            <a:noFill/>
          </a:ln>
        </p:spPr>
      </p:pic>
      <p:sp>
        <p:nvSpPr>
          <p:cNvPr id="807" name="Google Shape;807;p16"/>
          <p:cNvSpPr/>
          <p:nvPr/>
        </p:nvSpPr>
        <p:spPr>
          <a:xfrm>
            <a:off x="785813" y="1237264"/>
            <a:ext cx="1196578"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Merriweather"/>
              <a:buNone/>
            </a:pPr>
            <a:r>
              <a:rPr b="1" i="0" lang="en-US" sz="987" u="none" cap="none" strike="noStrike">
                <a:solidFill>
                  <a:srgbClr val="FFFFFF"/>
                </a:solidFill>
                <a:latin typeface="Merriweather"/>
                <a:ea typeface="Merriweather"/>
                <a:cs typeface="Merriweather"/>
                <a:sym typeface="Merriweather"/>
              </a:rPr>
              <a:t>VM / EC2 Pattern</a:t>
            </a:r>
            <a:endParaRPr b="0" i="0" sz="987" u="none" cap="none" strike="noStrike">
              <a:solidFill>
                <a:schemeClr val="dk1"/>
              </a:solidFill>
              <a:latin typeface="Calibri"/>
              <a:ea typeface="Calibri"/>
              <a:cs typeface="Calibri"/>
              <a:sym typeface="Calibri"/>
            </a:endParaRPr>
          </a:p>
        </p:txBody>
      </p:sp>
      <p:pic>
        <p:nvPicPr>
          <p:cNvPr descr="preencoded.png" id="808" name="Google Shape;808;p16"/>
          <p:cNvPicPr preferRelativeResize="0"/>
          <p:nvPr/>
        </p:nvPicPr>
        <p:blipFill rotWithShape="1">
          <a:blip r:embed="rId5">
            <a:alphaModFix/>
          </a:blip>
          <a:srcRect b="0" l="0" r="0" t="0"/>
          <a:stretch/>
        </p:blipFill>
        <p:spPr>
          <a:xfrm>
            <a:off x="571500" y="1631956"/>
            <a:ext cx="85725" cy="85725"/>
          </a:xfrm>
          <a:prstGeom prst="rect">
            <a:avLst/>
          </a:prstGeom>
          <a:noFill/>
          <a:ln>
            <a:noFill/>
          </a:ln>
        </p:spPr>
      </p:pic>
      <p:sp>
        <p:nvSpPr>
          <p:cNvPr id="809" name="Google Shape;809;p16"/>
          <p:cNvSpPr/>
          <p:nvPr/>
        </p:nvSpPr>
        <p:spPr>
          <a:xfrm>
            <a:off x="728663" y="1603381"/>
            <a:ext cx="2176472" cy="300038"/>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Supervisor (Full Mode) with OpAMP connection</a:t>
            </a:r>
            <a:endParaRPr b="0" i="0" sz="780" u="none" cap="none" strike="noStrike">
              <a:solidFill>
                <a:schemeClr val="dk1"/>
              </a:solidFill>
              <a:latin typeface="Calibri"/>
              <a:ea typeface="Calibri"/>
              <a:cs typeface="Calibri"/>
              <a:sym typeface="Calibri"/>
            </a:endParaRPr>
          </a:p>
        </p:txBody>
      </p:sp>
      <p:pic>
        <p:nvPicPr>
          <p:cNvPr descr="preencoded.png" id="810" name="Google Shape;810;p16"/>
          <p:cNvPicPr preferRelativeResize="0"/>
          <p:nvPr/>
        </p:nvPicPr>
        <p:blipFill rotWithShape="1">
          <a:blip r:embed="rId5">
            <a:alphaModFix/>
          </a:blip>
          <a:srcRect b="0" l="0" r="0" t="0"/>
          <a:stretch/>
        </p:blipFill>
        <p:spPr>
          <a:xfrm>
            <a:off x="571500" y="2003431"/>
            <a:ext cx="85725" cy="85725"/>
          </a:xfrm>
          <a:prstGeom prst="rect">
            <a:avLst/>
          </a:prstGeom>
          <a:noFill/>
          <a:ln>
            <a:noFill/>
          </a:ln>
        </p:spPr>
      </p:pic>
      <p:sp>
        <p:nvSpPr>
          <p:cNvPr id="811" name="Google Shape;811;p16"/>
          <p:cNvSpPr/>
          <p:nvPr/>
        </p:nvSpPr>
        <p:spPr>
          <a:xfrm>
            <a:off x="728663" y="1974856"/>
            <a:ext cx="1325166" cy="150019"/>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Manages 3–5 local agents</a:t>
            </a:r>
            <a:endParaRPr b="0" i="0" sz="780" u="none" cap="none" strike="noStrike">
              <a:solidFill>
                <a:schemeClr val="dk1"/>
              </a:solidFill>
              <a:latin typeface="Calibri"/>
              <a:ea typeface="Calibri"/>
              <a:cs typeface="Calibri"/>
              <a:sym typeface="Calibri"/>
            </a:endParaRPr>
          </a:p>
        </p:txBody>
      </p:sp>
      <p:pic>
        <p:nvPicPr>
          <p:cNvPr descr="preencoded.png" id="812" name="Google Shape;812;p16"/>
          <p:cNvPicPr preferRelativeResize="0"/>
          <p:nvPr/>
        </p:nvPicPr>
        <p:blipFill rotWithShape="1">
          <a:blip r:embed="rId5">
            <a:alphaModFix/>
          </a:blip>
          <a:srcRect b="0" l="0" r="0" t="0"/>
          <a:stretch/>
        </p:blipFill>
        <p:spPr>
          <a:xfrm>
            <a:off x="571500" y="2224887"/>
            <a:ext cx="85725" cy="85725"/>
          </a:xfrm>
          <a:prstGeom prst="rect">
            <a:avLst/>
          </a:prstGeom>
          <a:noFill/>
          <a:ln>
            <a:noFill/>
          </a:ln>
        </p:spPr>
      </p:pic>
      <p:sp>
        <p:nvSpPr>
          <p:cNvPr id="813" name="Google Shape;813;p16"/>
          <p:cNvSpPr/>
          <p:nvPr/>
        </p:nvSpPr>
        <p:spPr>
          <a:xfrm>
            <a:off x="728663" y="2196312"/>
            <a:ext cx="1503759" cy="150019"/>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Workload API for applications</a:t>
            </a:r>
            <a:endParaRPr b="0" i="0" sz="780" u="none" cap="none" strike="noStrike">
              <a:solidFill>
                <a:schemeClr val="dk1"/>
              </a:solidFill>
              <a:latin typeface="Calibri"/>
              <a:ea typeface="Calibri"/>
              <a:cs typeface="Calibri"/>
              <a:sym typeface="Calibri"/>
            </a:endParaRPr>
          </a:p>
        </p:txBody>
      </p:sp>
      <p:pic>
        <p:nvPicPr>
          <p:cNvPr descr="preencoded.png" id="814" name="Google Shape;814;p16"/>
          <p:cNvPicPr preferRelativeResize="0"/>
          <p:nvPr/>
        </p:nvPicPr>
        <p:blipFill rotWithShape="1">
          <a:blip r:embed="rId5">
            <a:alphaModFix/>
          </a:blip>
          <a:srcRect b="0" l="0" r="0" t="0"/>
          <a:stretch/>
        </p:blipFill>
        <p:spPr>
          <a:xfrm>
            <a:off x="571500" y="2446344"/>
            <a:ext cx="85725" cy="85725"/>
          </a:xfrm>
          <a:prstGeom prst="rect">
            <a:avLst/>
          </a:prstGeom>
          <a:noFill/>
          <a:ln>
            <a:noFill/>
          </a:ln>
        </p:spPr>
      </p:pic>
      <p:sp>
        <p:nvSpPr>
          <p:cNvPr id="815" name="Google Shape;815;p16"/>
          <p:cNvSpPr/>
          <p:nvPr/>
        </p:nvSpPr>
        <p:spPr>
          <a:xfrm>
            <a:off x="728663" y="2417769"/>
            <a:ext cx="1382316" cy="150019"/>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SSH certificates for access</a:t>
            </a:r>
            <a:endParaRPr b="0" i="0" sz="780" u="none" cap="none" strike="noStrike">
              <a:solidFill>
                <a:schemeClr val="dk1"/>
              </a:solidFill>
              <a:latin typeface="Calibri"/>
              <a:ea typeface="Calibri"/>
              <a:cs typeface="Calibri"/>
              <a:sym typeface="Calibri"/>
            </a:endParaRPr>
          </a:p>
        </p:txBody>
      </p:sp>
      <p:sp>
        <p:nvSpPr>
          <p:cNvPr id="816" name="Google Shape;816;p16"/>
          <p:cNvSpPr/>
          <p:nvPr/>
        </p:nvSpPr>
        <p:spPr>
          <a:xfrm>
            <a:off x="3262322" y="1094389"/>
            <a:ext cx="2619384" cy="1723430"/>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6"/>
          <p:cNvSpPr/>
          <p:nvPr/>
        </p:nvSpPr>
        <p:spPr>
          <a:xfrm>
            <a:off x="3262322" y="1094389"/>
            <a:ext cx="2619384"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8" name="Google Shape;818;p16"/>
          <p:cNvPicPr preferRelativeResize="0"/>
          <p:nvPr/>
        </p:nvPicPr>
        <p:blipFill rotWithShape="1">
          <a:blip r:embed="rId6">
            <a:alphaModFix/>
          </a:blip>
          <a:srcRect b="0" l="0" r="0" t="0"/>
          <a:stretch/>
        </p:blipFill>
        <p:spPr>
          <a:xfrm>
            <a:off x="3405197" y="1256016"/>
            <a:ext cx="160734" cy="142875"/>
          </a:xfrm>
          <a:prstGeom prst="rect">
            <a:avLst/>
          </a:prstGeom>
          <a:noFill/>
          <a:ln>
            <a:noFill/>
          </a:ln>
        </p:spPr>
      </p:pic>
      <p:sp>
        <p:nvSpPr>
          <p:cNvPr id="819" name="Google Shape;819;p16"/>
          <p:cNvSpPr/>
          <p:nvPr/>
        </p:nvSpPr>
        <p:spPr>
          <a:xfrm>
            <a:off x="3637369" y="1237264"/>
            <a:ext cx="1664494"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Merriweather"/>
              <a:buNone/>
            </a:pPr>
            <a:r>
              <a:rPr b="1" i="0" lang="en-US" sz="987" u="none" cap="none" strike="noStrike">
                <a:solidFill>
                  <a:srgbClr val="FFFFFF"/>
                </a:solidFill>
                <a:latin typeface="Merriweather"/>
                <a:ea typeface="Merriweather"/>
                <a:cs typeface="Merriweather"/>
                <a:sym typeface="Merriweather"/>
              </a:rPr>
              <a:t>Kubernetes Pod Pattern</a:t>
            </a:r>
            <a:endParaRPr b="0" i="0" sz="987" u="none" cap="none" strike="noStrike">
              <a:solidFill>
                <a:schemeClr val="dk1"/>
              </a:solidFill>
              <a:latin typeface="Calibri"/>
              <a:ea typeface="Calibri"/>
              <a:cs typeface="Calibri"/>
              <a:sym typeface="Calibri"/>
            </a:endParaRPr>
          </a:p>
        </p:txBody>
      </p:sp>
      <p:pic>
        <p:nvPicPr>
          <p:cNvPr descr="preencoded.png" id="820" name="Google Shape;820;p16"/>
          <p:cNvPicPr preferRelativeResize="0"/>
          <p:nvPr/>
        </p:nvPicPr>
        <p:blipFill rotWithShape="1">
          <a:blip r:embed="rId7">
            <a:alphaModFix/>
          </a:blip>
          <a:srcRect b="0" l="0" r="0" t="0"/>
          <a:stretch/>
        </p:blipFill>
        <p:spPr>
          <a:xfrm>
            <a:off x="3405197" y="1631956"/>
            <a:ext cx="85725" cy="85725"/>
          </a:xfrm>
          <a:prstGeom prst="rect">
            <a:avLst/>
          </a:prstGeom>
          <a:noFill/>
          <a:ln>
            <a:noFill/>
          </a:ln>
        </p:spPr>
      </p:pic>
      <p:sp>
        <p:nvSpPr>
          <p:cNvPr id="821" name="Google Shape;821;p16"/>
          <p:cNvSpPr/>
          <p:nvPr/>
        </p:nvSpPr>
        <p:spPr>
          <a:xfrm>
            <a:off x="3562359" y="1603381"/>
            <a:ext cx="2176472" cy="300038"/>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Supervisor (Sidecar) alongside App container</a:t>
            </a:r>
            <a:endParaRPr b="0" i="0" sz="780" u="none" cap="none" strike="noStrike">
              <a:solidFill>
                <a:schemeClr val="dk1"/>
              </a:solidFill>
              <a:latin typeface="Calibri"/>
              <a:ea typeface="Calibri"/>
              <a:cs typeface="Calibri"/>
              <a:sym typeface="Calibri"/>
            </a:endParaRPr>
          </a:p>
        </p:txBody>
      </p:sp>
      <p:pic>
        <p:nvPicPr>
          <p:cNvPr descr="preencoded.png" id="822" name="Google Shape;822;p16"/>
          <p:cNvPicPr preferRelativeResize="0"/>
          <p:nvPr/>
        </p:nvPicPr>
        <p:blipFill rotWithShape="1">
          <a:blip r:embed="rId7">
            <a:alphaModFix/>
          </a:blip>
          <a:srcRect b="0" l="0" r="0" t="0"/>
          <a:stretch/>
        </p:blipFill>
        <p:spPr>
          <a:xfrm>
            <a:off x="3405197" y="2003431"/>
            <a:ext cx="85725" cy="85725"/>
          </a:xfrm>
          <a:prstGeom prst="rect">
            <a:avLst/>
          </a:prstGeom>
          <a:noFill/>
          <a:ln>
            <a:noFill/>
          </a:ln>
        </p:spPr>
      </p:pic>
      <p:sp>
        <p:nvSpPr>
          <p:cNvPr id="823" name="Google Shape;823;p16"/>
          <p:cNvSpPr/>
          <p:nvPr/>
        </p:nvSpPr>
        <p:spPr>
          <a:xfrm>
            <a:off x="3562359" y="1974856"/>
            <a:ext cx="1712714" cy="150019"/>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No OpAMP connection (stateless)</a:t>
            </a:r>
            <a:endParaRPr b="0" i="0" sz="780" u="none" cap="none" strike="noStrike">
              <a:solidFill>
                <a:schemeClr val="dk1"/>
              </a:solidFill>
              <a:latin typeface="Calibri"/>
              <a:ea typeface="Calibri"/>
              <a:cs typeface="Calibri"/>
              <a:sym typeface="Calibri"/>
            </a:endParaRPr>
          </a:p>
        </p:txBody>
      </p:sp>
      <p:pic>
        <p:nvPicPr>
          <p:cNvPr descr="preencoded.png" id="824" name="Google Shape;824;p16"/>
          <p:cNvPicPr preferRelativeResize="0"/>
          <p:nvPr/>
        </p:nvPicPr>
        <p:blipFill rotWithShape="1">
          <a:blip r:embed="rId7">
            <a:alphaModFix/>
          </a:blip>
          <a:srcRect b="0" l="0" r="0" t="0"/>
          <a:stretch/>
        </p:blipFill>
        <p:spPr>
          <a:xfrm>
            <a:off x="3405197" y="2224887"/>
            <a:ext cx="85725" cy="85725"/>
          </a:xfrm>
          <a:prstGeom prst="rect">
            <a:avLst/>
          </a:prstGeom>
          <a:noFill/>
          <a:ln>
            <a:noFill/>
          </a:ln>
        </p:spPr>
      </p:pic>
      <p:sp>
        <p:nvSpPr>
          <p:cNvPr id="825" name="Google Shape;825;p16"/>
          <p:cNvSpPr/>
          <p:nvPr/>
        </p:nvSpPr>
        <p:spPr>
          <a:xfrm>
            <a:off x="3562359" y="2196312"/>
            <a:ext cx="2176472" cy="300038"/>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Cert rotation and secrets proxy via localhost</a:t>
            </a:r>
            <a:endParaRPr b="0" i="0" sz="780" u="none" cap="none" strike="noStrike">
              <a:solidFill>
                <a:schemeClr val="dk1"/>
              </a:solidFill>
              <a:latin typeface="Calibri"/>
              <a:ea typeface="Calibri"/>
              <a:cs typeface="Calibri"/>
              <a:sym typeface="Calibri"/>
            </a:endParaRPr>
          </a:p>
        </p:txBody>
      </p:sp>
      <p:pic>
        <p:nvPicPr>
          <p:cNvPr descr="preencoded.png" id="826" name="Google Shape;826;p16"/>
          <p:cNvPicPr preferRelativeResize="0"/>
          <p:nvPr/>
        </p:nvPicPr>
        <p:blipFill rotWithShape="1">
          <a:blip r:embed="rId7">
            <a:alphaModFix/>
          </a:blip>
          <a:srcRect b="0" l="0" r="0" t="0"/>
          <a:stretch/>
        </p:blipFill>
        <p:spPr>
          <a:xfrm>
            <a:off x="3405197" y="2596362"/>
            <a:ext cx="85725" cy="85725"/>
          </a:xfrm>
          <a:prstGeom prst="rect">
            <a:avLst/>
          </a:prstGeom>
          <a:noFill/>
          <a:ln>
            <a:noFill/>
          </a:ln>
        </p:spPr>
      </p:pic>
      <p:sp>
        <p:nvSpPr>
          <p:cNvPr id="827" name="Google Shape;827;p16"/>
          <p:cNvSpPr/>
          <p:nvPr/>
        </p:nvSpPr>
        <p:spPr>
          <a:xfrm>
            <a:off x="3562359" y="2567787"/>
            <a:ext cx="1214438" cy="150019"/>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SPIFFE SVID for identity</a:t>
            </a:r>
            <a:endParaRPr b="0" i="0" sz="780" u="none" cap="none" strike="noStrike">
              <a:solidFill>
                <a:schemeClr val="dk1"/>
              </a:solidFill>
              <a:latin typeface="Calibri"/>
              <a:ea typeface="Calibri"/>
              <a:cs typeface="Calibri"/>
              <a:sym typeface="Calibri"/>
            </a:endParaRPr>
          </a:p>
        </p:txBody>
      </p:sp>
      <p:sp>
        <p:nvSpPr>
          <p:cNvPr id="828" name="Google Shape;828;p16"/>
          <p:cNvSpPr/>
          <p:nvPr/>
        </p:nvSpPr>
        <p:spPr>
          <a:xfrm>
            <a:off x="6096019" y="1094389"/>
            <a:ext cx="2619384" cy="1694855"/>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6"/>
          <p:cNvSpPr/>
          <p:nvPr/>
        </p:nvSpPr>
        <p:spPr>
          <a:xfrm>
            <a:off x="6096019" y="1094389"/>
            <a:ext cx="2619384"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30" name="Google Shape;830;p16"/>
          <p:cNvPicPr preferRelativeResize="0"/>
          <p:nvPr/>
        </p:nvPicPr>
        <p:blipFill rotWithShape="1">
          <a:blip r:embed="rId8">
            <a:alphaModFix/>
          </a:blip>
          <a:srcRect b="0" l="0" r="0" t="0"/>
          <a:stretch/>
        </p:blipFill>
        <p:spPr>
          <a:xfrm>
            <a:off x="6238894" y="1256016"/>
            <a:ext cx="178594" cy="142875"/>
          </a:xfrm>
          <a:prstGeom prst="rect">
            <a:avLst/>
          </a:prstGeom>
          <a:noFill/>
          <a:ln>
            <a:noFill/>
          </a:ln>
        </p:spPr>
      </p:pic>
      <p:sp>
        <p:nvSpPr>
          <p:cNvPr id="831" name="Google Shape;831;p16"/>
          <p:cNvSpPr/>
          <p:nvPr/>
        </p:nvSpPr>
        <p:spPr>
          <a:xfrm>
            <a:off x="6488925" y="1237264"/>
            <a:ext cx="1760934"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Merriweather"/>
              <a:buNone/>
            </a:pPr>
            <a:r>
              <a:rPr b="1" i="0" lang="en-US" sz="987" u="none" cap="none" strike="noStrike">
                <a:solidFill>
                  <a:srgbClr val="FFFFFF"/>
                </a:solidFill>
                <a:latin typeface="Merriweather"/>
                <a:ea typeface="Merriweather"/>
                <a:cs typeface="Merriweather"/>
                <a:sym typeface="Merriweather"/>
              </a:rPr>
              <a:t>Control Plane HA Pattern</a:t>
            </a:r>
            <a:endParaRPr b="0" i="0" sz="987" u="none" cap="none" strike="noStrike">
              <a:solidFill>
                <a:schemeClr val="dk1"/>
              </a:solidFill>
              <a:latin typeface="Calibri"/>
              <a:ea typeface="Calibri"/>
              <a:cs typeface="Calibri"/>
              <a:sym typeface="Calibri"/>
            </a:endParaRPr>
          </a:p>
        </p:txBody>
      </p:sp>
      <p:pic>
        <p:nvPicPr>
          <p:cNvPr descr="preencoded.png" id="832" name="Google Shape;832;p16"/>
          <p:cNvPicPr preferRelativeResize="0"/>
          <p:nvPr/>
        </p:nvPicPr>
        <p:blipFill rotWithShape="1">
          <a:blip r:embed="rId9">
            <a:alphaModFix/>
          </a:blip>
          <a:srcRect b="0" l="0" r="0" t="0"/>
          <a:stretch/>
        </p:blipFill>
        <p:spPr>
          <a:xfrm>
            <a:off x="6238894" y="1631956"/>
            <a:ext cx="85725" cy="85725"/>
          </a:xfrm>
          <a:prstGeom prst="rect">
            <a:avLst/>
          </a:prstGeom>
          <a:noFill/>
          <a:ln>
            <a:noFill/>
          </a:ln>
        </p:spPr>
      </p:pic>
      <p:sp>
        <p:nvSpPr>
          <p:cNvPr id="833" name="Google Shape;833;p16"/>
          <p:cNvSpPr/>
          <p:nvPr/>
        </p:nvSpPr>
        <p:spPr>
          <a:xfrm>
            <a:off x="6396056" y="1603381"/>
            <a:ext cx="2176472" cy="300038"/>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3× OpAMP Server instances behind load balancer</a:t>
            </a:r>
            <a:endParaRPr b="0" i="0" sz="780" u="none" cap="none" strike="noStrike">
              <a:solidFill>
                <a:schemeClr val="dk1"/>
              </a:solidFill>
              <a:latin typeface="Calibri"/>
              <a:ea typeface="Calibri"/>
              <a:cs typeface="Calibri"/>
              <a:sym typeface="Calibri"/>
            </a:endParaRPr>
          </a:p>
        </p:txBody>
      </p:sp>
      <p:pic>
        <p:nvPicPr>
          <p:cNvPr descr="preencoded.png" id="834" name="Google Shape;834;p16"/>
          <p:cNvPicPr preferRelativeResize="0"/>
          <p:nvPr/>
        </p:nvPicPr>
        <p:blipFill rotWithShape="1">
          <a:blip r:embed="rId9">
            <a:alphaModFix/>
          </a:blip>
          <a:srcRect b="0" l="0" r="0" t="0"/>
          <a:stretch/>
        </p:blipFill>
        <p:spPr>
          <a:xfrm>
            <a:off x="6238894" y="2003431"/>
            <a:ext cx="85725" cy="85725"/>
          </a:xfrm>
          <a:prstGeom prst="rect">
            <a:avLst/>
          </a:prstGeom>
          <a:noFill/>
          <a:ln>
            <a:noFill/>
          </a:ln>
        </p:spPr>
      </p:pic>
      <p:sp>
        <p:nvSpPr>
          <p:cNvPr id="835" name="Google Shape;835;p16"/>
          <p:cNvSpPr/>
          <p:nvPr/>
        </p:nvSpPr>
        <p:spPr>
          <a:xfrm>
            <a:off x="6396056" y="1974856"/>
            <a:ext cx="1535906" cy="150019"/>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PostgreSQL Primary + Replica</a:t>
            </a:r>
            <a:endParaRPr b="0" i="0" sz="780" u="none" cap="none" strike="noStrike">
              <a:solidFill>
                <a:schemeClr val="dk1"/>
              </a:solidFill>
              <a:latin typeface="Calibri"/>
              <a:ea typeface="Calibri"/>
              <a:cs typeface="Calibri"/>
              <a:sym typeface="Calibri"/>
            </a:endParaRPr>
          </a:p>
        </p:txBody>
      </p:sp>
      <p:pic>
        <p:nvPicPr>
          <p:cNvPr descr="preencoded.png" id="836" name="Google Shape;836;p16"/>
          <p:cNvPicPr preferRelativeResize="0"/>
          <p:nvPr/>
        </p:nvPicPr>
        <p:blipFill rotWithShape="1">
          <a:blip r:embed="rId9">
            <a:alphaModFix/>
          </a:blip>
          <a:srcRect b="0" l="0" r="0" t="0"/>
          <a:stretch/>
        </p:blipFill>
        <p:spPr>
          <a:xfrm>
            <a:off x="6238894" y="2224887"/>
            <a:ext cx="85725" cy="85725"/>
          </a:xfrm>
          <a:prstGeom prst="rect">
            <a:avLst/>
          </a:prstGeom>
          <a:noFill/>
          <a:ln>
            <a:noFill/>
          </a:ln>
        </p:spPr>
      </p:pic>
      <p:sp>
        <p:nvSpPr>
          <p:cNvPr id="837" name="Google Shape;837;p16"/>
          <p:cNvSpPr/>
          <p:nvPr/>
        </p:nvSpPr>
        <p:spPr>
          <a:xfrm>
            <a:off x="6396056" y="2196312"/>
            <a:ext cx="2134195" cy="150019"/>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Redis Cluster for state cache and pub/sub</a:t>
            </a:r>
            <a:endParaRPr b="0" i="0" sz="780" u="none" cap="none" strike="noStrike">
              <a:solidFill>
                <a:schemeClr val="dk1"/>
              </a:solidFill>
              <a:latin typeface="Calibri"/>
              <a:ea typeface="Calibri"/>
              <a:cs typeface="Calibri"/>
              <a:sym typeface="Calibri"/>
            </a:endParaRPr>
          </a:p>
        </p:txBody>
      </p:sp>
      <p:pic>
        <p:nvPicPr>
          <p:cNvPr descr="preencoded.png" id="838" name="Google Shape;838;p16"/>
          <p:cNvPicPr preferRelativeResize="0"/>
          <p:nvPr/>
        </p:nvPicPr>
        <p:blipFill rotWithShape="1">
          <a:blip r:embed="rId9">
            <a:alphaModFix/>
          </a:blip>
          <a:srcRect b="0" l="0" r="0" t="0"/>
          <a:stretch/>
        </p:blipFill>
        <p:spPr>
          <a:xfrm>
            <a:off x="6238894" y="2446344"/>
            <a:ext cx="85725" cy="85725"/>
          </a:xfrm>
          <a:prstGeom prst="rect">
            <a:avLst/>
          </a:prstGeom>
          <a:noFill/>
          <a:ln>
            <a:noFill/>
          </a:ln>
        </p:spPr>
      </p:pic>
      <p:sp>
        <p:nvSpPr>
          <p:cNvPr id="839" name="Google Shape;839;p16"/>
          <p:cNvSpPr/>
          <p:nvPr/>
        </p:nvSpPr>
        <p:spPr>
          <a:xfrm>
            <a:off x="6396056" y="2417769"/>
            <a:ext cx="2146697" cy="150019"/>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Horizontal scaling for connection capacity</a:t>
            </a:r>
            <a:endParaRPr b="0" i="0" sz="780" u="none" cap="none" strike="noStrike">
              <a:solidFill>
                <a:schemeClr val="dk1"/>
              </a:solidFill>
              <a:latin typeface="Calibri"/>
              <a:ea typeface="Calibri"/>
              <a:cs typeface="Calibri"/>
              <a:sym typeface="Calibri"/>
            </a:endParaRPr>
          </a:p>
        </p:txBody>
      </p:sp>
      <p:sp>
        <p:nvSpPr>
          <p:cNvPr id="840" name="Google Shape;840;p16"/>
          <p:cNvSpPr/>
          <p:nvPr/>
        </p:nvSpPr>
        <p:spPr>
          <a:xfrm>
            <a:off x="428625" y="3003556"/>
            <a:ext cx="8286750" cy="1550194"/>
          </a:xfrm>
          <a:prstGeom prst="rect">
            <a:avLst/>
          </a:prstGeom>
          <a:solidFill>
            <a:srgbClr val="FFFFFF">
              <a:alpha val="1960"/>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6"/>
          <p:cNvSpPr/>
          <p:nvPr/>
        </p:nvSpPr>
        <p:spPr>
          <a:xfrm>
            <a:off x="428625" y="3003556"/>
            <a:ext cx="1545087" cy="300038"/>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6"/>
          <p:cNvSpPr/>
          <p:nvPr/>
        </p:nvSpPr>
        <p:spPr>
          <a:xfrm>
            <a:off x="428625" y="3289306"/>
            <a:ext cx="1545087"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6"/>
          <p:cNvSpPr/>
          <p:nvPr/>
        </p:nvSpPr>
        <p:spPr>
          <a:xfrm>
            <a:off x="428625" y="3003556"/>
            <a:ext cx="1545087" cy="300038"/>
          </a:xfrm>
          <a:prstGeom prst="rect">
            <a:avLst/>
          </a:prstGeom>
          <a:noFill/>
          <a:ln>
            <a:noFill/>
          </a:ln>
        </p:spPr>
        <p:txBody>
          <a:bodyPr anchorCtr="0" anchor="ctr" bIns="102100" lIns="170050" spcFirstLastPara="1" rIns="170050" wrap="square" tIns="10210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PATTERN</a:t>
            </a:r>
            <a:endParaRPr b="0" i="0" sz="683" u="none" cap="none" strike="noStrike">
              <a:solidFill>
                <a:schemeClr val="dk1"/>
              </a:solidFill>
              <a:latin typeface="Calibri"/>
              <a:ea typeface="Calibri"/>
              <a:cs typeface="Calibri"/>
              <a:sym typeface="Calibri"/>
            </a:endParaRPr>
          </a:p>
        </p:txBody>
      </p:sp>
      <p:sp>
        <p:nvSpPr>
          <p:cNvPr id="844" name="Google Shape;844;p16"/>
          <p:cNvSpPr/>
          <p:nvPr/>
        </p:nvSpPr>
        <p:spPr>
          <a:xfrm>
            <a:off x="1973712" y="3003556"/>
            <a:ext cx="1944412" cy="300038"/>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6"/>
          <p:cNvSpPr/>
          <p:nvPr/>
        </p:nvSpPr>
        <p:spPr>
          <a:xfrm>
            <a:off x="1973712" y="3289306"/>
            <a:ext cx="1944412"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6"/>
          <p:cNvSpPr/>
          <p:nvPr/>
        </p:nvSpPr>
        <p:spPr>
          <a:xfrm>
            <a:off x="1973712" y="3003556"/>
            <a:ext cx="1944412" cy="300038"/>
          </a:xfrm>
          <a:prstGeom prst="rect">
            <a:avLst/>
          </a:prstGeom>
          <a:noFill/>
          <a:ln>
            <a:noFill/>
          </a:ln>
        </p:spPr>
        <p:txBody>
          <a:bodyPr anchorCtr="0" anchor="ctr" bIns="102100" lIns="170050" spcFirstLastPara="1" rIns="170050" wrap="square" tIns="10210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COMPONENTS</a:t>
            </a:r>
            <a:endParaRPr b="0" i="0" sz="683" u="none" cap="none" strike="noStrike">
              <a:solidFill>
                <a:schemeClr val="dk1"/>
              </a:solidFill>
              <a:latin typeface="Calibri"/>
              <a:ea typeface="Calibri"/>
              <a:cs typeface="Calibri"/>
              <a:sym typeface="Calibri"/>
            </a:endParaRPr>
          </a:p>
        </p:txBody>
      </p:sp>
      <p:sp>
        <p:nvSpPr>
          <p:cNvPr id="847" name="Google Shape;847;p16"/>
          <p:cNvSpPr/>
          <p:nvPr/>
        </p:nvSpPr>
        <p:spPr>
          <a:xfrm>
            <a:off x="3918124" y="3003556"/>
            <a:ext cx="1075413" cy="300038"/>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6"/>
          <p:cNvSpPr/>
          <p:nvPr/>
        </p:nvSpPr>
        <p:spPr>
          <a:xfrm>
            <a:off x="3918124" y="3289306"/>
            <a:ext cx="1075413"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6"/>
          <p:cNvSpPr/>
          <p:nvPr/>
        </p:nvSpPr>
        <p:spPr>
          <a:xfrm>
            <a:off x="3918124" y="3003556"/>
            <a:ext cx="1075413" cy="300038"/>
          </a:xfrm>
          <a:prstGeom prst="rect">
            <a:avLst/>
          </a:prstGeom>
          <a:noFill/>
          <a:ln>
            <a:noFill/>
          </a:ln>
        </p:spPr>
        <p:txBody>
          <a:bodyPr anchorCtr="0" anchor="ctr" bIns="102100" lIns="170050" spcFirstLastPara="1" rIns="170050" wrap="square" tIns="10210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MODE</a:t>
            </a:r>
            <a:endParaRPr b="0" i="0" sz="683" u="none" cap="none" strike="noStrike">
              <a:solidFill>
                <a:schemeClr val="dk1"/>
              </a:solidFill>
              <a:latin typeface="Calibri"/>
              <a:ea typeface="Calibri"/>
              <a:cs typeface="Calibri"/>
              <a:sym typeface="Calibri"/>
            </a:endParaRPr>
          </a:p>
        </p:txBody>
      </p:sp>
      <p:sp>
        <p:nvSpPr>
          <p:cNvPr id="850" name="Google Shape;850;p16"/>
          <p:cNvSpPr/>
          <p:nvPr/>
        </p:nvSpPr>
        <p:spPr>
          <a:xfrm>
            <a:off x="4993537" y="3003556"/>
            <a:ext cx="2087956" cy="300038"/>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6"/>
          <p:cNvSpPr/>
          <p:nvPr/>
        </p:nvSpPr>
        <p:spPr>
          <a:xfrm>
            <a:off x="4993537" y="3289306"/>
            <a:ext cx="2087956"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6"/>
          <p:cNvSpPr/>
          <p:nvPr/>
        </p:nvSpPr>
        <p:spPr>
          <a:xfrm>
            <a:off x="4993537" y="3003556"/>
            <a:ext cx="2087956" cy="300038"/>
          </a:xfrm>
          <a:prstGeom prst="rect">
            <a:avLst/>
          </a:prstGeom>
          <a:noFill/>
          <a:ln>
            <a:noFill/>
          </a:ln>
        </p:spPr>
        <p:txBody>
          <a:bodyPr anchorCtr="0" anchor="ctr" bIns="102100" lIns="170050" spcFirstLastPara="1" rIns="170050" wrap="square" tIns="10210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USE CASE</a:t>
            </a:r>
            <a:endParaRPr b="0" i="0" sz="683" u="none" cap="none" strike="noStrike">
              <a:solidFill>
                <a:schemeClr val="dk1"/>
              </a:solidFill>
              <a:latin typeface="Calibri"/>
              <a:ea typeface="Calibri"/>
              <a:cs typeface="Calibri"/>
              <a:sym typeface="Calibri"/>
            </a:endParaRPr>
          </a:p>
        </p:txBody>
      </p:sp>
      <p:sp>
        <p:nvSpPr>
          <p:cNvPr id="853" name="Google Shape;853;p16"/>
          <p:cNvSpPr/>
          <p:nvPr/>
        </p:nvSpPr>
        <p:spPr>
          <a:xfrm>
            <a:off x="7081493" y="3003556"/>
            <a:ext cx="1633882" cy="300038"/>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6"/>
          <p:cNvSpPr/>
          <p:nvPr/>
        </p:nvSpPr>
        <p:spPr>
          <a:xfrm>
            <a:off x="7081493" y="3289306"/>
            <a:ext cx="1633882"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6"/>
          <p:cNvSpPr/>
          <p:nvPr/>
        </p:nvSpPr>
        <p:spPr>
          <a:xfrm>
            <a:off x="7081493" y="3003556"/>
            <a:ext cx="1633882" cy="300038"/>
          </a:xfrm>
          <a:prstGeom prst="rect">
            <a:avLst/>
          </a:prstGeom>
          <a:noFill/>
          <a:ln>
            <a:noFill/>
          </a:ln>
        </p:spPr>
        <p:txBody>
          <a:bodyPr anchorCtr="0" anchor="ctr" bIns="102100" lIns="170050" spcFirstLastPara="1" rIns="170050" wrap="square" tIns="102100">
            <a:noAutofit/>
          </a:bodyPr>
          <a:lstStyle/>
          <a:p>
            <a:pPr indent="0" lvl="0" marL="0" marR="0" rtl="0" algn="l">
              <a:lnSpc>
                <a:spcPct val="131771"/>
              </a:lnSpc>
              <a:spcBef>
                <a:spcPts val="0"/>
              </a:spcBef>
              <a:spcAft>
                <a:spcPts val="0"/>
              </a:spcAft>
              <a:buClr>
                <a:srgbClr val="9CA3AF"/>
              </a:buClr>
              <a:buSzPts val="683"/>
              <a:buFont typeface="Inter"/>
              <a:buNone/>
            </a:pPr>
            <a:r>
              <a:rPr b="1" i="0" lang="en-US" sz="683" u="none" cap="none" strike="noStrike">
                <a:solidFill>
                  <a:srgbClr val="9CA3AF"/>
                </a:solidFill>
                <a:latin typeface="Inter"/>
                <a:ea typeface="Inter"/>
                <a:cs typeface="Inter"/>
                <a:sym typeface="Inter"/>
              </a:rPr>
              <a:t>LIFETIME</a:t>
            </a:r>
            <a:endParaRPr b="0" i="0" sz="683" u="none" cap="none" strike="noStrike">
              <a:solidFill>
                <a:schemeClr val="dk1"/>
              </a:solidFill>
              <a:latin typeface="Calibri"/>
              <a:ea typeface="Calibri"/>
              <a:cs typeface="Calibri"/>
              <a:sym typeface="Calibri"/>
            </a:endParaRPr>
          </a:p>
        </p:txBody>
      </p:sp>
      <p:sp>
        <p:nvSpPr>
          <p:cNvPr id="856" name="Google Shape;856;p16"/>
          <p:cNvSpPr/>
          <p:nvPr/>
        </p:nvSpPr>
        <p:spPr>
          <a:xfrm>
            <a:off x="428625" y="3296450"/>
            <a:ext cx="1545087" cy="303609"/>
          </a:xfrm>
          <a:prstGeom prst="rect">
            <a:avLst/>
          </a:prstGeom>
          <a:noFill/>
          <a:ln>
            <a:noFill/>
          </a:ln>
        </p:spPr>
        <p:txBody>
          <a:bodyPr anchorCtr="0" anchor="ctr" bIns="102100" lIns="170050" spcFirstLastPara="1" rIns="170050" wrap="square" tIns="10210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VM/Bare Metal</a:t>
            </a:r>
            <a:endParaRPr b="0" i="0" sz="734" u="none" cap="none" strike="noStrike">
              <a:solidFill>
                <a:schemeClr val="dk1"/>
              </a:solidFill>
              <a:latin typeface="Calibri"/>
              <a:ea typeface="Calibri"/>
              <a:cs typeface="Calibri"/>
              <a:sym typeface="Calibri"/>
            </a:endParaRPr>
          </a:p>
        </p:txBody>
      </p:sp>
      <p:sp>
        <p:nvSpPr>
          <p:cNvPr id="857" name="Google Shape;857;p16"/>
          <p:cNvSpPr/>
          <p:nvPr/>
        </p:nvSpPr>
        <p:spPr>
          <a:xfrm>
            <a:off x="1973712" y="3296450"/>
            <a:ext cx="1944412" cy="303609"/>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Supervisor + Agents</a:t>
            </a:r>
            <a:endParaRPr b="0" i="0" sz="780" u="none" cap="none" strike="noStrike">
              <a:solidFill>
                <a:schemeClr val="dk1"/>
              </a:solidFill>
              <a:latin typeface="Calibri"/>
              <a:ea typeface="Calibri"/>
              <a:cs typeface="Calibri"/>
              <a:sym typeface="Calibri"/>
            </a:endParaRPr>
          </a:p>
        </p:txBody>
      </p:sp>
      <p:sp>
        <p:nvSpPr>
          <p:cNvPr id="858" name="Google Shape;858;p16"/>
          <p:cNvSpPr/>
          <p:nvPr/>
        </p:nvSpPr>
        <p:spPr>
          <a:xfrm>
            <a:off x="3918124" y="3296450"/>
            <a:ext cx="1075413" cy="303609"/>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00E5FF"/>
              </a:buClr>
              <a:buSzPts val="780"/>
              <a:buFont typeface="Courier New"/>
              <a:buNone/>
            </a:pPr>
            <a:r>
              <a:rPr b="0" i="0" lang="en-US" sz="780" u="none" cap="none" strike="noStrike">
                <a:solidFill>
                  <a:srgbClr val="00E5FF"/>
                </a:solidFill>
                <a:latin typeface="Courier New"/>
                <a:ea typeface="Courier New"/>
                <a:cs typeface="Courier New"/>
                <a:sym typeface="Courier New"/>
              </a:rPr>
              <a:t>Full</a:t>
            </a:r>
            <a:endParaRPr b="0" i="0" sz="780" u="none" cap="none" strike="noStrike">
              <a:solidFill>
                <a:schemeClr val="dk1"/>
              </a:solidFill>
              <a:latin typeface="Calibri"/>
              <a:ea typeface="Calibri"/>
              <a:cs typeface="Calibri"/>
              <a:sym typeface="Calibri"/>
            </a:endParaRPr>
          </a:p>
        </p:txBody>
      </p:sp>
      <p:sp>
        <p:nvSpPr>
          <p:cNvPr id="859" name="Google Shape;859;p16"/>
          <p:cNvSpPr/>
          <p:nvPr/>
        </p:nvSpPr>
        <p:spPr>
          <a:xfrm>
            <a:off x="4993537" y="3296450"/>
            <a:ext cx="2087956" cy="303609"/>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Traditional data center</a:t>
            </a:r>
            <a:endParaRPr b="0" i="0" sz="780" u="none" cap="none" strike="noStrike">
              <a:solidFill>
                <a:schemeClr val="dk1"/>
              </a:solidFill>
              <a:latin typeface="Calibri"/>
              <a:ea typeface="Calibri"/>
              <a:cs typeface="Calibri"/>
              <a:sym typeface="Calibri"/>
            </a:endParaRPr>
          </a:p>
        </p:txBody>
      </p:sp>
      <p:sp>
        <p:nvSpPr>
          <p:cNvPr id="860" name="Google Shape;860;p16"/>
          <p:cNvSpPr/>
          <p:nvPr/>
        </p:nvSpPr>
        <p:spPr>
          <a:xfrm>
            <a:off x="7081493" y="3296450"/>
            <a:ext cx="1633882" cy="303609"/>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Node lifetime</a:t>
            </a:r>
            <a:endParaRPr b="0" i="0" sz="780" u="none" cap="none" strike="noStrike">
              <a:solidFill>
                <a:schemeClr val="dk1"/>
              </a:solidFill>
              <a:latin typeface="Calibri"/>
              <a:ea typeface="Calibri"/>
              <a:cs typeface="Calibri"/>
              <a:sym typeface="Calibri"/>
            </a:endParaRPr>
          </a:p>
        </p:txBody>
      </p:sp>
      <p:sp>
        <p:nvSpPr>
          <p:cNvPr id="861" name="Google Shape;861;p16"/>
          <p:cNvSpPr/>
          <p:nvPr/>
        </p:nvSpPr>
        <p:spPr>
          <a:xfrm>
            <a:off x="428625" y="3600059"/>
            <a:ext cx="8286750" cy="307181"/>
          </a:xfrm>
          <a:prstGeom prst="rect">
            <a:avLst/>
          </a:prstGeom>
          <a:solidFill>
            <a:srgbClr val="FFFFFF">
              <a:alpha val="117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6"/>
          <p:cNvSpPr/>
          <p:nvPr/>
        </p:nvSpPr>
        <p:spPr>
          <a:xfrm>
            <a:off x="428625" y="3600059"/>
            <a:ext cx="1545087"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EC2 Fleet</a:t>
            </a:r>
            <a:endParaRPr b="0" i="0" sz="734" u="none" cap="none" strike="noStrike">
              <a:solidFill>
                <a:schemeClr val="dk1"/>
              </a:solidFill>
              <a:latin typeface="Calibri"/>
              <a:ea typeface="Calibri"/>
              <a:cs typeface="Calibri"/>
              <a:sym typeface="Calibri"/>
            </a:endParaRPr>
          </a:p>
        </p:txBody>
      </p:sp>
      <p:sp>
        <p:nvSpPr>
          <p:cNvPr id="863" name="Google Shape;863;p16"/>
          <p:cNvSpPr/>
          <p:nvPr/>
        </p:nvSpPr>
        <p:spPr>
          <a:xfrm>
            <a:off x="1973712" y="3600059"/>
            <a:ext cx="1944412"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AMI with Supervisor</a:t>
            </a:r>
            <a:endParaRPr b="0" i="0" sz="780" u="none" cap="none" strike="noStrike">
              <a:solidFill>
                <a:schemeClr val="dk1"/>
              </a:solidFill>
              <a:latin typeface="Calibri"/>
              <a:ea typeface="Calibri"/>
              <a:cs typeface="Calibri"/>
              <a:sym typeface="Calibri"/>
            </a:endParaRPr>
          </a:p>
        </p:txBody>
      </p:sp>
      <p:sp>
        <p:nvSpPr>
          <p:cNvPr id="864" name="Google Shape;864;p16"/>
          <p:cNvSpPr/>
          <p:nvPr/>
        </p:nvSpPr>
        <p:spPr>
          <a:xfrm>
            <a:off x="3918124" y="3600059"/>
            <a:ext cx="1075413"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00E5FF"/>
              </a:buClr>
              <a:buSzPts val="780"/>
              <a:buFont typeface="Courier New"/>
              <a:buNone/>
            </a:pPr>
            <a:r>
              <a:rPr b="0" i="0" lang="en-US" sz="780" u="none" cap="none" strike="noStrike">
                <a:solidFill>
                  <a:srgbClr val="00E5FF"/>
                </a:solidFill>
                <a:latin typeface="Courier New"/>
                <a:ea typeface="Courier New"/>
                <a:cs typeface="Courier New"/>
                <a:sym typeface="Courier New"/>
              </a:rPr>
              <a:t>Full</a:t>
            </a:r>
            <a:endParaRPr b="0" i="0" sz="780" u="none" cap="none" strike="noStrike">
              <a:solidFill>
                <a:schemeClr val="dk1"/>
              </a:solidFill>
              <a:latin typeface="Calibri"/>
              <a:ea typeface="Calibri"/>
              <a:cs typeface="Calibri"/>
              <a:sym typeface="Calibri"/>
            </a:endParaRPr>
          </a:p>
        </p:txBody>
      </p:sp>
      <p:sp>
        <p:nvSpPr>
          <p:cNvPr id="865" name="Google Shape;865;p16"/>
          <p:cNvSpPr/>
          <p:nvPr/>
        </p:nvSpPr>
        <p:spPr>
          <a:xfrm>
            <a:off x="4993537" y="3600059"/>
            <a:ext cx="2087956"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Cloud instances</a:t>
            </a:r>
            <a:endParaRPr b="0" i="0" sz="780" u="none" cap="none" strike="noStrike">
              <a:solidFill>
                <a:schemeClr val="dk1"/>
              </a:solidFill>
              <a:latin typeface="Calibri"/>
              <a:ea typeface="Calibri"/>
              <a:cs typeface="Calibri"/>
              <a:sym typeface="Calibri"/>
            </a:endParaRPr>
          </a:p>
        </p:txBody>
      </p:sp>
      <p:sp>
        <p:nvSpPr>
          <p:cNvPr id="866" name="Google Shape;866;p16"/>
          <p:cNvSpPr/>
          <p:nvPr/>
        </p:nvSpPr>
        <p:spPr>
          <a:xfrm>
            <a:off x="7081493" y="3600059"/>
            <a:ext cx="1633882"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Instance lifetime</a:t>
            </a:r>
            <a:endParaRPr b="0" i="0" sz="780" u="none" cap="none" strike="noStrike">
              <a:solidFill>
                <a:schemeClr val="dk1"/>
              </a:solidFill>
              <a:latin typeface="Calibri"/>
              <a:ea typeface="Calibri"/>
              <a:cs typeface="Calibri"/>
              <a:sym typeface="Calibri"/>
            </a:endParaRPr>
          </a:p>
        </p:txBody>
      </p:sp>
      <p:sp>
        <p:nvSpPr>
          <p:cNvPr id="867" name="Google Shape;867;p16"/>
          <p:cNvSpPr/>
          <p:nvPr/>
        </p:nvSpPr>
        <p:spPr>
          <a:xfrm>
            <a:off x="428625" y="3907241"/>
            <a:ext cx="1545087"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K8s Sidecar</a:t>
            </a:r>
            <a:endParaRPr b="0" i="0" sz="734" u="none" cap="none" strike="noStrike">
              <a:solidFill>
                <a:schemeClr val="dk1"/>
              </a:solidFill>
              <a:latin typeface="Calibri"/>
              <a:ea typeface="Calibri"/>
              <a:cs typeface="Calibri"/>
              <a:sym typeface="Calibri"/>
            </a:endParaRPr>
          </a:p>
        </p:txBody>
      </p:sp>
      <p:sp>
        <p:nvSpPr>
          <p:cNvPr id="868" name="Google Shape;868;p16"/>
          <p:cNvSpPr/>
          <p:nvPr/>
        </p:nvSpPr>
        <p:spPr>
          <a:xfrm>
            <a:off x="1973712" y="3907241"/>
            <a:ext cx="1944412"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Supervisor + App</a:t>
            </a:r>
            <a:endParaRPr b="0" i="0" sz="780" u="none" cap="none" strike="noStrike">
              <a:solidFill>
                <a:schemeClr val="dk1"/>
              </a:solidFill>
              <a:latin typeface="Calibri"/>
              <a:ea typeface="Calibri"/>
              <a:cs typeface="Calibri"/>
              <a:sym typeface="Calibri"/>
            </a:endParaRPr>
          </a:p>
        </p:txBody>
      </p:sp>
      <p:sp>
        <p:nvSpPr>
          <p:cNvPr id="869" name="Google Shape;869;p16"/>
          <p:cNvSpPr/>
          <p:nvPr/>
        </p:nvSpPr>
        <p:spPr>
          <a:xfrm>
            <a:off x="3918124" y="3907241"/>
            <a:ext cx="1075413"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00E5FF"/>
              </a:buClr>
              <a:buSzPts val="780"/>
              <a:buFont typeface="Courier New"/>
              <a:buNone/>
            </a:pPr>
            <a:r>
              <a:rPr b="0" i="0" lang="en-US" sz="780" u="none" cap="none" strike="noStrike">
                <a:solidFill>
                  <a:srgbClr val="00E5FF"/>
                </a:solidFill>
                <a:latin typeface="Courier New"/>
                <a:ea typeface="Courier New"/>
                <a:cs typeface="Courier New"/>
                <a:sym typeface="Courier New"/>
              </a:rPr>
              <a:t>Sidecar</a:t>
            </a:r>
            <a:endParaRPr b="0" i="0" sz="780" u="none" cap="none" strike="noStrike">
              <a:solidFill>
                <a:schemeClr val="dk1"/>
              </a:solidFill>
              <a:latin typeface="Calibri"/>
              <a:ea typeface="Calibri"/>
              <a:cs typeface="Calibri"/>
              <a:sym typeface="Calibri"/>
            </a:endParaRPr>
          </a:p>
        </p:txBody>
      </p:sp>
      <p:sp>
        <p:nvSpPr>
          <p:cNvPr id="870" name="Google Shape;870;p16"/>
          <p:cNvSpPr/>
          <p:nvPr/>
        </p:nvSpPr>
        <p:spPr>
          <a:xfrm>
            <a:off x="4993537" y="3907241"/>
            <a:ext cx="2087956"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Containerized apps</a:t>
            </a:r>
            <a:endParaRPr b="0" i="0" sz="780" u="none" cap="none" strike="noStrike">
              <a:solidFill>
                <a:schemeClr val="dk1"/>
              </a:solidFill>
              <a:latin typeface="Calibri"/>
              <a:ea typeface="Calibri"/>
              <a:cs typeface="Calibri"/>
              <a:sym typeface="Calibri"/>
            </a:endParaRPr>
          </a:p>
        </p:txBody>
      </p:sp>
      <p:sp>
        <p:nvSpPr>
          <p:cNvPr id="871" name="Google Shape;871;p16"/>
          <p:cNvSpPr/>
          <p:nvPr/>
        </p:nvSpPr>
        <p:spPr>
          <a:xfrm>
            <a:off x="7081493" y="3907241"/>
            <a:ext cx="1633882"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Pod lifetime</a:t>
            </a:r>
            <a:endParaRPr b="0" i="0" sz="780" u="none" cap="none" strike="noStrike">
              <a:solidFill>
                <a:schemeClr val="dk1"/>
              </a:solidFill>
              <a:latin typeface="Calibri"/>
              <a:ea typeface="Calibri"/>
              <a:cs typeface="Calibri"/>
              <a:sym typeface="Calibri"/>
            </a:endParaRPr>
          </a:p>
        </p:txBody>
      </p:sp>
      <p:sp>
        <p:nvSpPr>
          <p:cNvPr id="872" name="Google Shape;872;p16"/>
          <p:cNvSpPr/>
          <p:nvPr/>
        </p:nvSpPr>
        <p:spPr>
          <a:xfrm>
            <a:off x="428625" y="4214422"/>
            <a:ext cx="8286750" cy="307181"/>
          </a:xfrm>
          <a:prstGeom prst="rect">
            <a:avLst/>
          </a:prstGeom>
          <a:solidFill>
            <a:srgbClr val="FFFFFF">
              <a:alpha val="117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6"/>
          <p:cNvSpPr/>
          <p:nvPr/>
        </p:nvSpPr>
        <p:spPr>
          <a:xfrm>
            <a:off x="428625" y="4214422"/>
            <a:ext cx="1545087"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K8s Init</a:t>
            </a:r>
            <a:endParaRPr b="0" i="0" sz="734" u="none" cap="none" strike="noStrike">
              <a:solidFill>
                <a:schemeClr val="dk1"/>
              </a:solidFill>
              <a:latin typeface="Calibri"/>
              <a:ea typeface="Calibri"/>
              <a:cs typeface="Calibri"/>
              <a:sym typeface="Calibri"/>
            </a:endParaRPr>
          </a:p>
        </p:txBody>
      </p:sp>
      <p:sp>
        <p:nvSpPr>
          <p:cNvPr id="874" name="Google Shape;874;p16"/>
          <p:cNvSpPr/>
          <p:nvPr/>
        </p:nvSpPr>
        <p:spPr>
          <a:xfrm>
            <a:off x="1973712" y="4214422"/>
            <a:ext cx="1944412"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Supervisor only</a:t>
            </a:r>
            <a:endParaRPr b="0" i="0" sz="780" u="none" cap="none" strike="noStrike">
              <a:solidFill>
                <a:schemeClr val="dk1"/>
              </a:solidFill>
              <a:latin typeface="Calibri"/>
              <a:ea typeface="Calibri"/>
              <a:cs typeface="Calibri"/>
              <a:sym typeface="Calibri"/>
            </a:endParaRPr>
          </a:p>
        </p:txBody>
      </p:sp>
      <p:sp>
        <p:nvSpPr>
          <p:cNvPr id="875" name="Google Shape;875;p16"/>
          <p:cNvSpPr/>
          <p:nvPr/>
        </p:nvSpPr>
        <p:spPr>
          <a:xfrm>
            <a:off x="3918124" y="4214422"/>
            <a:ext cx="1075413"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00E5FF"/>
              </a:buClr>
              <a:buSzPts val="780"/>
              <a:buFont typeface="Courier New"/>
              <a:buNone/>
            </a:pPr>
            <a:r>
              <a:rPr b="0" i="0" lang="en-US" sz="780" u="none" cap="none" strike="noStrike">
                <a:solidFill>
                  <a:srgbClr val="00E5FF"/>
                </a:solidFill>
                <a:latin typeface="Courier New"/>
                <a:ea typeface="Courier New"/>
                <a:cs typeface="Courier New"/>
                <a:sym typeface="Courier New"/>
              </a:rPr>
              <a:t>Init</a:t>
            </a:r>
            <a:endParaRPr b="0" i="0" sz="780" u="none" cap="none" strike="noStrike">
              <a:solidFill>
                <a:schemeClr val="dk1"/>
              </a:solidFill>
              <a:latin typeface="Calibri"/>
              <a:ea typeface="Calibri"/>
              <a:cs typeface="Calibri"/>
              <a:sym typeface="Calibri"/>
            </a:endParaRPr>
          </a:p>
        </p:txBody>
      </p:sp>
      <p:sp>
        <p:nvSpPr>
          <p:cNvPr id="876" name="Google Shape;876;p16"/>
          <p:cNvSpPr/>
          <p:nvPr/>
        </p:nvSpPr>
        <p:spPr>
          <a:xfrm>
            <a:off x="4993537" y="4214422"/>
            <a:ext cx="2087956"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Certificate bootstrap</a:t>
            </a:r>
            <a:endParaRPr b="0" i="0" sz="780" u="none" cap="none" strike="noStrike">
              <a:solidFill>
                <a:schemeClr val="dk1"/>
              </a:solidFill>
              <a:latin typeface="Calibri"/>
              <a:ea typeface="Calibri"/>
              <a:cs typeface="Calibri"/>
              <a:sym typeface="Calibri"/>
            </a:endParaRPr>
          </a:p>
        </p:txBody>
      </p:sp>
      <p:sp>
        <p:nvSpPr>
          <p:cNvPr id="877" name="Google Shape;877;p16"/>
          <p:cNvSpPr/>
          <p:nvPr/>
        </p:nvSpPr>
        <p:spPr>
          <a:xfrm>
            <a:off x="7081493" y="4214422"/>
            <a:ext cx="1633882" cy="307181"/>
          </a:xfrm>
          <a:prstGeom prst="rect">
            <a:avLst/>
          </a:prstGeom>
          <a:noFill/>
          <a:ln>
            <a:noFill/>
          </a:ln>
        </p:spPr>
        <p:txBody>
          <a:bodyPr anchorCtr="0" anchor="ctr" bIns="102100" lIns="170050" spcFirstLastPara="1" rIns="170050" wrap="square" tIns="102100">
            <a:noAutofit/>
          </a:bodyPr>
          <a:lstStyle/>
          <a:p>
            <a:pPr indent="0" lvl="0" marL="0" marR="0" rtl="0" algn="l">
              <a:lnSpc>
                <a:spcPct val="128205"/>
              </a:lnSpc>
              <a:spcBef>
                <a:spcPts val="0"/>
              </a:spcBef>
              <a:spcAft>
                <a:spcPts val="0"/>
              </a:spcAft>
              <a:buClr>
                <a:srgbClr val="E0E0E0"/>
              </a:buClr>
              <a:buSzPts val="780"/>
              <a:buFont typeface="Inter"/>
              <a:buNone/>
            </a:pPr>
            <a:r>
              <a:rPr b="0" i="0" lang="en-US" sz="780" u="none" cap="none" strike="noStrike">
                <a:solidFill>
                  <a:srgbClr val="E0E0E0"/>
                </a:solidFill>
                <a:latin typeface="Inter"/>
                <a:ea typeface="Inter"/>
                <a:cs typeface="Inter"/>
                <a:sym typeface="Inter"/>
              </a:rPr>
              <a:t>Seconds</a:t>
            </a:r>
            <a:endParaRPr b="0" i="0" sz="78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pic>
        <p:nvPicPr>
          <p:cNvPr descr="preencoded.png" id="883" name="Google Shape;883;p1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84" name="Google Shape;884;p17"/>
          <p:cNvSpPr/>
          <p:nvPr/>
        </p:nvSpPr>
        <p:spPr>
          <a:xfrm>
            <a:off x="0" y="0"/>
            <a:ext cx="9144000" cy="822927"/>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7"/>
          <p:cNvSpPr/>
          <p:nvPr/>
        </p:nvSpPr>
        <p:spPr>
          <a:xfrm>
            <a:off x="0" y="808639"/>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7"/>
          <p:cNvSpPr/>
          <p:nvPr/>
        </p:nvSpPr>
        <p:spPr>
          <a:xfrm>
            <a:off x="428625" y="214313"/>
            <a:ext cx="8286750" cy="594327"/>
          </a:xfrm>
          <a:prstGeom prst="rect">
            <a:avLst/>
          </a:prstGeom>
          <a:noFill/>
          <a:ln>
            <a:noFill/>
          </a:ln>
        </p:spPr>
        <p:txBody>
          <a:bodyPr anchorCtr="0" anchor="t" bIns="0" lIns="0" spcFirstLastPara="1" rIns="0" wrap="square" tIns="0">
            <a:noAutofit/>
          </a:bodyPr>
          <a:lstStyle/>
          <a:p>
            <a:pPr indent="0" lvl="0" marL="0" marR="0" rtl="0" algn="l">
              <a:lnSpc>
                <a:spcPct val="143570"/>
              </a:lnSpc>
              <a:spcBef>
                <a:spcPts val="0"/>
              </a:spcBef>
              <a:spcAft>
                <a:spcPts val="0"/>
              </a:spcAft>
              <a:buClr>
                <a:srgbClr val="FFFFFF"/>
              </a:buClr>
              <a:buSzPts val="1602"/>
              <a:buFont typeface="Merriweather"/>
              <a:buNone/>
            </a:pPr>
            <a:r>
              <a:rPr b="1" i="0" lang="en-US" sz="1602" u="none" cap="none" strike="noStrike">
                <a:solidFill>
                  <a:srgbClr val="FFFFFF"/>
                </a:solidFill>
                <a:latin typeface="Merriweather"/>
                <a:ea typeface="Merriweather"/>
                <a:cs typeface="Merriweather"/>
                <a:sym typeface="Merriweather"/>
              </a:rPr>
              <a:t>Appendix: Complete Feature Coverage Across All Four Platform Components</a:t>
            </a:r>
            <a:endParaRPr b="0" i="0" sz="1602" u="none" cap="none" strike="noStrike">
              <a:solidFill>
                <a:schemeClr val="dk1"/>
              </a:solidFill>
              <a:latin typeface="Calibri"/>
              <a:ea typeface="Calibri"/>
              <a:cs typeface="Calibri"/>
              <a:sym typeface="Calibri"/>
            </a:endParaRPr>
          </a:p>
        </p:txBody>
      </p:sp>
      <p:sp>
        <p:nvSpPr>
          <p:cNvPr id="887" name="Google Shape;887;p17"/>
          <p:cNvSpPr/>
          <p:nvPr/>
        </p:nvSpPr>
        <p:spPr>
          <a:xfrm>
            <a:off x="342900" y="894364"/>
            <a:ext cx="8458200" cy="4200525"/>
          </a:xfrm>
          <a:prstGeom prst="rect">
            <a:avLst/>
          </a:prstGeom>
          <a:solidFill>
            <a:srgbClr val="0D1B2A">
              <a:alpha val="60000"/>
            </a:srgbClr>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7"/>
          <p:cNvSpPr/>
          <p:nvPr/>
        </p:nvSpPr>
        <p:spPr>
          <a:xfrm>
            <a:off x="414338" y="980089"/>
            <a:ext cx="937617" cy="410766"/>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7"/>
          <p:cNvSpPr/>
          <p:nvPr/>
        </p:nvSpPr>
        <p:spPr>
          <a:xfrm>
            <a:off x="1344811" y="980089"/>
            <a:ext cx="7144" cy="41076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7"/>
          <p:cNvSpPr/>
          <p:nvPr/>
        </p:nvSpPr>
        <p:spPr>
          <a:xfrm>
            <a:off x="414338" y="1376567"/>
            <a:ext cx="937617"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7"/>
          <p:cNvSpPr/>
          <p:nvPr/>
        </p:nvSpPr>
        <p:spPr>
          <a:xfrm>
            <a:off x="414338" y="980089"/>
            <a:ext cx="937617" cy="410766"/>
          </a:xfrm>
          <a:prstGeom prst="rect">
            <a:avLst/>
          </a:prstGeom>
          <a:noFill/>
          <a:ln>
            <a:noFill/>
          </a:ln>
        </p:spPr>
        <p:txBody>
          <a:bodyPr anchorCtr="0" anchor="ctr" bIns="68050" lIns="102100" spcFirstLastPara="1" rIns="102100" wrap="square" tIns="6805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FEATURE</a:t>
            </a:r>
            <a:endParaRPr b="0" i="0" sz="784" u="none" cap="none" strike="noStrike">
              <a:solidFill>
                <a:schemeClr val="dk1"/>
              </a:solidFill>
              <a:latin typeface="Calibri"/>
              <a:ea typeface="Calibri"/>
              <a:cs typeface="Calibri"/>
              <a:sym typeface="Calibri"/>
            </a:endParaRPr>
          </a:p>
        </p:txBody>
      </p:sp>
      <p:sp>
        <p:nvSpPr>
          <p:cNvPr id="892" name="Google Shape;892;p17"/>
          <p:cNvSpPr/>
          <p:nvPr/>
        </p:nvSpPr>
        <p:spPr>
          <a:xfrm>
            <a:off x="1355527" y="980089"/>
            <a:ext cx="859036" cy="410766"/>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7"/>
          <p:cNvSpPr/>
          <p:nvPr/>
        </p:nvSpPr>
        <p:spPr>
          <a:xfrm>
            <a:off x="1355527" y="980089"/>
            <a:ext cx="859036"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7"/>
          <p:cNvSpPr/>
          <p:nvPr/>
        </p:nvSpPr>
        <p:spPr>
          <a:xfrm>
            <a:off x="2207419" y="980089"/>
            <a:ext cx="7144" cy="41076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7"/>
          <p:cNvSpPr/>
          <p:nvPr/>
        </p:nvSpPr>
        <p:spPr>
          <a:xfrm>
            <a:off x="1355527" y="1376567"/>
            <a:ext cx="859036"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7"/>
          <p:cNvSpPr/>
          <p:nvPr/>
        </p:nvSpPr>
        <p:spPr>
          <a:xfrm>
            <a:off x="1355527" y="980089"/>
            <a:ext cx="859036" cy="410766"/>
          </a:xfrm>
          <a:prstGeom prst="rect">
            <a:avLst/>
          </a:prstGeom>
          <a:noFill/>
          <a:ln>
            <a:noFill/>
          </a:ln>
        </p:spPr>
        <p:txBody>
          <a:bodyPr anchorCtr="0" anchor="ctr" bIns="68050" lIns="102100" spcFirstLastPara="1" rIns="102100" wrap="square" tIns="68050">
            <a:noAutofit/>
          </a:bodyPr>
          <a:lstStyle/>
          <a:p>
            <a:pPr indent="0" lvl="0" marL="0" marR="0" rtl="0" algn="ctr">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OPAMP PROTOCOL</a:t>
            </a:r>
            <a:endParaRPr b="0" i="0" sz="784" u="none" cap="none" strike="noStrike">
              <a:solidFill>
                <a:schemeClr val="dk1"/>
              </a:solidFill>
              <a:latin typeface="Calibri"/>
              <a:ea typeface="Calibri"/>
              <a:cs typeface="Calibri"/>
              <a:sym typeface="Calibri"/>
            </a:endParaRPr>
          </a:p>
        </p:txBody>
      </p:sp>
      <p:sp>
        <p:nvSpPr>
          <p:cNvPr id="897" name="Google Shape;897;p17"/>
          <p:cNvSpPr/>
          <p:nvPr/>
        </p:nvSpPr>
        <p:spPr>
          <a:xfrm>
            <a:off x="2218134" y="980089"/>
            <a:ext cx="975122" cy="410766"/>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7"/>
          <p:cNvSpPr/>
          <p:nvPr/>
        </p:nvSpPr>
        <p:spPr>
          <a:xfrm>
            <a:off x="2218134" y="980089"/>
            <a:ext cx="975122"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7"/>
          <p:cNvSpPr/>
          <p:nvPr/>
        </p:nvSpPr>
        <p:spPr>
          <a:xfrm>
            <a:off x="3186113" y="980089"/>
            <a:ext cx="7144" cy="41076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7"/>
          <p:cNvSpPr/>
          <p:nvPr/>
        </p:nvSpPr>
        <p:spPr>
          <a:xfrm>
            <a:off x="2218134" y="1376567"/>
            <a:ext cx="975122"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7"/>
          <p:cNvSpPr/>
          <p:nvPr/>
        </p:nvSpPr>
        <p:spPr>
          <a:xfrm>
            <a:off x="2218134" y="980089"/>
            <a:ext cx="975122" cy="410766"/>
          </a:xfrm>
          <a:prstGeom prst="rect">
            <a:avLst/>
          </a:prstGeom>
          <a:noFill/>
          <a:ln>
            <a:noFill/>
          </a:ln>
        </p:spPr>
        <p:txBody>
          <a:bodyPr anchorCtr="0" anchor="ctr" bIns="68050" lIns="102100" spcFirstLastPara="1" rIns="102100" wrap="square" tIns="68050">
            <a:noAutofit/>
          </a:bodyPr>
          <a:lstStyle/>
          <a:p>
            <a:pPr indent="0" lvl="0" marL="0" marR="0" rtl="0" algn="ctr">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SUPERVISOR</a:t>
            </a:r>
            <a:endParaRPr b="0" i="0" sz="784" u="none" cap="none" strike="noStrike">
              <a:solidFill>
                <a:schemeClr val="dk1"/>
              </a:solidFill>
              <a:latin typeface="Calibri"/>
              <a:ea typeface="Calibri"/>
              <a:cs typeface="Calibri"/>
              <a:sym typeface="Calibri"/>
            </a:endParaRPr>
          </a:p>
        </p:txBody>
      </p:sp>
      <p:sp>
        <p:nvSpPr>
          <p:cNvPr id="902" name="Google Shape;902;p17"/>
          <p:cNvSpPr/>
          <p:nvPr/>
        </p:nvSpPr>
        <p:spPr>
          <a:xfrm>
            <a:off x="3196828" y="980089"/>
            <a:ext cx="898327" cy="410766"/>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7"/>
          <p:cNvSpPr/>
          <p:nvPr/>
        </p:nvSpPr>
        <p:spPr>
          <a:xfrm>
            <a:off x="3196828" y="980089"/>
            <a:ext cx="898327" cy="28575"/>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7"/>
          <p:cNvSpPr/>
          <p:nvPr/>
        </p:nvSpPr>
        <p:spPr>
          <a:xfrm>
            <a:off x="4088011" y="980089"/>
            <a:ext cx="7144" cy="41076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7"/>
          <p:cNvSpPr/>
          <p:nvPr/>
        </p:nvSpPr>
        <p:spPr>
          <a:xfrm>
            <a:off x="3196828" y="1376567"/>
            <a:ext cx="898327"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7"/>
          <p:cNvSpPr/>
          <p:nvPr/>
        </p:nvSpPr>
        <p:spPr>
          <a:xfrm>
            <a:off x="3196828" y="980089"/>
            <a:ext cx="898327" cy="410766"/>
          </a:xfrm>
          <a:prstGeom prst="rect">
            <a:avLst/>
          </a:prstGeom>
          <a:noFill/>
          <a:ln>
            <a:noFill/>
          </a:ln>
        </p:spPr>
        <p:txBody>
          <a:bodyPr anchorCtr="0" anchor="ctr" bIns="68050" lIns="102100" spcFirstLastPara="1" rIns="102100" wrap="square" tIns="68050">
            <a:noAutofit/>
          </a:bodyPr>
          <a:lstStyle/>
          <a:p>
            <a:pPr indent="0" lvl="0" marL="0" marR="0" rtl="0" algn="ctr">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WORKLOAD API</a:t>
            </a:r>
            <a:endParaRPr b="0" i="0" sz="784" u="none" cap="none" strike="noStrike">
              <a:solidFill>
                <a:schemeClr val="dk1"/>
              </a:solidFill>
              <a:latin typeface="Calibri"/>
              <a:ea typeface="Calibri"/>
              <a:cs typeface="Calibri"/>
              <a:sym typeface="Calibri"/>
            </a:endParaRPr>
          </a:p>
        </p:txBody>
      </p:sp>
      <p:sp>
        <p:nvSpPr>
          <p:cNvPr id="907" name="Google Shape;907;p17"/>
          <p:cNvSpPr/>
          <p:nvPr/>
        </p:nvSpPr>
        <p:spPr>
          <a:xfrm>
            <a:off x="4098727" y="980089"/>
            <a:ext cx="430411" cy="389334"/>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7"/>
          <p:cNvSpPr/>
          <p:nvPr/>
        </p:nvSpPr>
        <p:spPr>
          <a:xfrm>
            <a:off x="4098727" y="980089"/>
            <a:ext cx="430411"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7"/>
          <p:cNvSpPr/>
          <p:nvPr/>
        </p:nvSpPr>
        <p:spPr>
          <a:xfrm>
            <a:off x="4098727" y="1355136"/>
            <a:ext cx="430411"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7"/>
          <p:cNvSpPr/>
          <p:nvPr/>
        </p:nvSpPr>
        <p:spPr>
          <a:xfrm>
            <a:off x="4098727" y="980089"/>
            <a:ext cx="430411" cy="389334"/>
          </a:xfrm>
          <a:prstGeom prst="rect">
            <a:avLst/>
          </a:prstGeom>
          <a:noFill/>
          <a:ln>
            <a:noFill/>
          </a:ln>
        </p:spPr>
        <p:txBody>
          <a:bodyPr anchorCtr="0" anchor="ctr" bIns="68050" lIns="102100" spcFirstLastPara="1" rIns="102100" wrap="square" tIns="68050">
            <a:noAutofit/>
          </a:bodyPr>
          <a:lstStyle/>
          <a:p>
            <a:pPr indent="0" lvl="0" marL="0" marR="0" rtl="0" algn="ctr">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SDK</a:t>
            </a:r>
            <a:endParaRPr b="0" i="0" sz="784" u="none" cap="none" strike="noStrike">
              <a:solidFill>
                <a:schemeClr val="dk1"/>
              </a:solidFill>
              <a:latin typeface="Calibri"/>
              <a:ea typeface="Calibri"/>
              <a:cs typeface="Calibri"/>
              <a:sym typeface="Calibri"/>
            </a:endParaRPr>
          </a:p>
        </p:txBody>
      </p:sp>
      <p:sp>
        <p:nvSpPr>
          <p:cNvPr id="911" name="Google Shape;911;p17"/>
          <p:cNvSpPr/>
          <p:nvPr/>
        </p:nvSpPr>
        <p:spPr>
          <a:xfrm>
            <a:off x="414338" y="1355136"/>
            <a:ext cx="4114800" cy="226814"/>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7"/>
          <p:cNvSpPr/>
          <p:nvPr/>
        </p:nvSpPr>
        <p:spPr>
          <a:xfrm>
            <a:off x="414338" y="1574806"/>
            <a:ext cx="41148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13" name="Google Shape;913;p17"/>
          <p:cNvPicPr preferRelativeResize="0"/>
          <p:nvPr/>
        </p:nvPicPr>
        <p:blipFill rotWithShape="1">
          <a:blip r:embed="rId4">
            <a:alphaModFix/>
          </a:blip>
          <a:srcRect b="0" l="0" r="0" t="0"/>
          <a:stretch/>
        </p:blipFill>
        <p:spPr>
          <a:xfrm>
            <a:off x="557213" y="1408714"/>
            <a:ext cx="142875" cy="114300"/>
          </a:xfrm>
          <a:prstGeom prst="rect">
            <a:avLst/>
          </a:prstGeom>
          <a:noFill/>
          <a:ln>
            <a:noFill/>
          </a:ln>
        </p:spPr>
      </p:pic>
      <p:sp>
        <p:nvSpPr>
          <p:cNvPr id="914" name="Google Shape;914;p17"/>
          <p:cNvSpPr/>
          <p:nvPr/>
        </p:nvSpPr>
        <p:spPr>
          <a:xfrm>
            <a:off x="742950" y="1397998"/>
            <a:ext cx="1117997" cy="13751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Agent Management</a:t>
            </a:r>
            <a:endParaRPr b="0" i="0" sz="784" u="none" cap="none" strike="noStrike">
              <a:solidFill>
                <a:schemeClr val="dk1"/>
              </a:solidFill>
              <a:latin typeface="Calibri"/>
              <a:ea typeface="Calibri"/>
              <a:cs typeface="Calibri"/>
              <a:sym typeface="Calibri"/>
            </a:endParaRPr>
          </a:p>
        </p:txBody>
      </p:sp>
      <p:sp>
        <p:nvSpPr>
          <p:cNvPr id="915" name="Google Shape;915;p17"/>
          <p:cNvSpPr/>
          <p:nvPr/>
        </p:nvSpPr>
        <p:spPr>
          <a:xfrm>
            <a:off x="414338" y="1578378"/>
            <a:ext cx="4114800" cy="346472"/>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7"/>
          <p:cNvSpPr/>
          <p:nvPr/>
        </p:nvSpPr>
        <p:spPr>
          <a:xfrm>
            <a:off x="414338" y="1578378"/>
            <a:ext cx="962620" cy="346472"/>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Fleet discovery</a:t>
            </a:r>
            <a:endParaRPr b="0" i="0" sz="734" u="none" cap="none" strike="noStrike">
              <a:solidFill>
                <a:schemeClr val="dk1"/>
              </a:solidFill>
              <a:latin typeface="Calibri"/>
              <a:ea typeface="Calibri"/>
              <a:cs typeface="Calibri"/>
              <a:sym typeface="Calibri"/>
            </a:endParaRPr>
          </a:p>
        </p:txBody>
      </p:sp>
      <p:pic>
        <p:nvPicPr>
          <p:cNvPr descr="preencoded.png" id="917" name="Google Shape;917;p17"/>
          <p:cNvPicPr preferRelativeResize="0"/>
          <p:nvPr/>
        </p:nvPicPr>
        <p:blipFill rotWithShape="1">
          <a:blip r:embed="rId5">
            <a:alphaModFix/>
          </a:blip>
          <a:srcRect b="0" l="0" r="0" t="0"/>
          <a:stretch/>
        </p:blipFill>
        <p:spPr>
          <a:xfrm>
            <a:off x="1747540" y="1689106"/>
            <a:ext cx="114300" cy="114300"/>
          </a:xfrm>
          <a:prstGeom prst="rect">
            <a:avLst/>
          </a:prstGeom>
          <a:noFill/>
          <a:ln>
            <a:noFill/>
          </a:ln>
        </p:spPr>
      </p:pic>
      <p:sp>
        <p:nvSpPr>
          <p:cNvPr id="918" name="Google Shape;918;p17"/>
          <p:cNvSpPr/>
          <p:nvPr/>
        </p:nvSpPr>
        <p:spPr>
          <a:xfrm>
            <a:off x="2664619" y="1685534"/>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19" name="Google Shape;919;p17"/>
          <p:cNvSpPr/>
          <p:nvPr/>
        </p:nvSpPr>
        <p:spPr>
          <a:xfrm>
            <a:off x="3597771" y="1685534"/>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20" name="Google Shape;920;p17"/>
          <p:cNvSpPr/>
          <p:nvPr/>
        </p:nvSpPr>
        <p:spPr>
          <a:xfrm>
            <a:off x="4262140" y="1685534"/>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21" name="Google Shape;921;p17"/>
          <p:cNvSpPr/>
          <p:nvPr/>
        </p:nvSpPr>
        <p:spPr>
          <a:xfrm>
            <a:off x="414338" y="1924850"/>
            <a:ext cx="962620" cy="350044"/>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Config distribution</a:t>
            </a:r>
            <a:endParaRPr b="0" i="0" sz="734" u="none" cap="none" strike="noStrike">
              <a:solidFill>
                <a:schemeClr val="dk1"/>
              </a:solidFill>
              <a:latin typeface="Calibri"/>
              <a:ea typeface="Calibri"/>
              <a:cs typeface="Calibri"/>
              <a:sym typeface="Calibri"/>
            </a:endParaRPr>
          </a:p>
        </p:txBody>
      </p:sp>
      <p:pic>
        <p:nvPicPr>
          <p:cNvPr descr="preencoded.png" id="922" name="Google Shape;922;p17"/>
          <p:cNvPicPr preferRelativeResize="0"/>
          <p:nvPr/>
        </p:nvPicPr>
        <p:blipFill rotWithShape="1">
          <a:blip r:embed="rId5">
            <a:alphaModFix/>
          </a:blip>
          <a:srcRect b="0" l="0" r="0" t="0"/>
          <a:stretch/>
        </p:blipFill>
        <p:spPr>
          <a:xfrm>
            <a:off x="1747540" y="2039150"/>
            <a:ext cx="114300" cy="114300"/>
          </a:xfrm>
          <a:prstGeom prst="rect">
            <a:avLst/>
          </a:prstGeom>
          <a:noFill/>
          <a:ln>
            <a:noFill/>
          </a:ln>
        </p:spPr>
      </p:pic>
      <p:pic>
        <p:nvPicPr>
          <p:cNvPr descr="preencoded.png" id="923" name="Google Shape;923;p17"/>
          <p:cNvPicPr preferRelativeResize="0"/>
          <p:nvPr/>
        </p:nvPicPr>
        <p:blipFill rotWithShape="1">
          <a:blip r:embed="rId6">
            <a:alphaModFix/>
          </a:blip>
          <a:srcRect b="0" l="0" r="0" t="0"/>
          <a:stretch/>
        </p:blipFill>
        <p:spPr>
          <a:xfrm>
            <a:off x="2661047" y="2039150"/>
            <a:ext cx="114300" cy="114300"/>
          </a:xfrm>
          <a:prstGeom prst="rect">
            <a:avLst/>
          </a:prstGeom>
          <a:noFill/>
          <a:ln>
            <a:noFill/>
          </a:ln>
        </p:spPr>
      </p:pic>
      <p:sp>
        <p:nvSpPr>
          <p:cNvPr id="924" name="Google Shape;924;p17"/>
          <p:cNvSpPr/>
          <p:nvPr/>
        </p:nvSpPr>
        <p:spPr>
          <a:xfrm>
            <a:off x="3597771" y="2035578"/>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25" name="Google Shape;925;p17"/>
          <p:cNvSpPr/>
          <p:nvPr/>
        </p:nvSpPr>
        <p:spPr>
          <a:xfrm>
            <a:off x="4262140" y="2035578"/>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26" name="Google Shape;926;p17"/>
          <p:cNvSpPr/>
          <p:nvPr/>
        </p:nvSpPr>
        <p:spPr>
          <a:xfrm>
            <a:off x="414338" y="2274894"/>
            <a:ext cx="4114800" cy="350044"/>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7"/>
          <p:cNvSpPr/>
          <p:nvPr/>
        </p:nvSpPr>
        <p:spPr>
          <a:xfrm>
            <a:off x="414338" y="2274894"/>
            <a:ext cx="962620" cy="350044"/>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Package deployment</a:t>
            </a:r>
            <a:endParaRPr b="0" i="0" sz="734" u="none" cap="none" strike="noStrike">
              <a:solidFill>
                <a:schemeClr val="dk1"/>
              </a:solidFill>
              <a:latin typeface="Calibri"/>
              <a:ea typeface="Calibri"/>
              <a:cs typeface="Calibri"/>
              <a:sym typeface="Calibri"/>
            </a:endParaRPr>
          </a:p>
        </p:txBody>
      </p:sp>
      <p:pic>
        <p:nvPicPr>
          <p:cNvPr descr="preencoded.png" id="928" name="Google Shape;928;p17"/>
          <p:cNvPicPr preferRelativeResize="0"/>
          <p:nvPr/>
        </p:nvPicPr>
        <p:blipFill rotWithShape="1">
          <a:blip r:embed="rId5">
            <a:alphaModFix/>
          </a:blip>
          <a:srcRect b="0" l="0" r="0" t="0"/>
          <a:stretch/>
        </p:blipFill>
        <p:spPr>
          <a:xfrm>
            <a:off x="1747540" y="2389194"/>
            <a:ext cx="114300" cy="114300"/>
          </a:xfrm>
          <a:prstGeom prst="rect">
            <a:avLst/>
          </a:prstGeom>
          <a:noFill/>
          <a:ln>
            <a:noFill/>
          </a:ln>
        </p:spPr>
      </p:pic>
      <p:pic>
        <p:nvPicPr>
          <p:cNvPr descr="preencoded.png" id="929" name="Google Shape;929;p17"/>
          <p:cNvPicPr preferRelativeResize="0"/>
          <p:nvPr/>
        </p:nvPicPr>
        <p:blipFill rotWithShape="1">
          <a:blip r:embed="rId6">
            <a:alphaModFix/>
          </a:blip>
          <a:srcRect b="0" l="0" r="0" t="0"/>
          <a:stretch/>
        </p:blipFill>
        <p:spPr>
          <a:xfrm>
            <a:off x="2661047" y="2389194"/>
            <a:ext cx="114300" cy="114300"/>
          </a:xfrm>
          <a:prstGeom prst="rect">
            <a:avLst/>
          </a:prstGeom>
          <a:noFill/>
          <a:ln>
            <a:noFill/>
          </a:ln>
        </p:spPr>
      </p:pic>
      <p:sp>
        <p:nvSpPr>
          <p:cNvPr id="930" name="Google Shape;930;p17"/>
          <p:cNvSpPr/>
          <p:nvPr/>
        </p:nvSpPr>
        <p:spPr>
          <a:xfrm>
            <a:off x="3597771" y="2385622"/>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31" name="Google Shape;931;p17"/>
          <p:cNvSpPr/>
          <p:nvPr/>
        </p:nvSpPr>
        <p:spPr>
          <a:xfrm>
            <a:off x="4262140" y="2385622"/>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32" name="Google Shape;932;p17"/>
          <p:cNvSpPr/>
          <p:nvPr/>
        </p:nvSpPr>
        <p:spPr>
          <a:xfrm>
            <a:off x="414338" y="2624937"/>
            <a:ext cx="962620" cy="350044"/>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Health aggregation</a:t>
            </a:r>
            <a:endParaRPr b="0" i="0" sz="734" u="none" cap="none" strike="noStrike">
              <a:solidFill>
                <a:schemeClr val="dk1"/>
              </a:solidFill>
              <a:latin typeface="Calibri"/>
              <a:ea typeface="Calibri"/>
              <a:cs typeface="Calibri"/>
              <a:sym typeface="Calibri"/>
            </a:endParaRPr>
          </a:p>
        </p:txBody>
      </p:sp>
      <p:pic>
        <p:nvPicPr>
          <p:cNvPr descr="preencoded.png" id="933" name="Google Shape;933;p17"/>
          <p:cNvPicPr preferRelativeResize="0"/>
          <p:nvPr/>
        </p:nvPicPr>
        <p:blipFill rotWithShape="1">
          <a:blip r:embed="rId5">
            <a:alphaModFix/>
          </a:blip>
          <a:srcRect b="0" l="0" r="0" t="0"/>
          <a:stretch/>
        </p:blipFill>
        <p:spPr>
          <a:xfrm>
            <a:off x="1747540" y="2739237"/>
            <a:ext cx="114300" cy="114300"/>
          </a:xfrm>
          <a:prstGeom prst="rect">
            <a:avLst/>
          </a:prstGeom>
          <a:noFill/>
          <a:ln>
            <a:noFill/>
          </a:ln>
        </p:spPr>
      </p:pic>
      <p:pic>
        <p:nvPicPr>
          <p:cNvPr descr="preencoded.png" id="934" name="Google Shape;934;p17"/>
          <p:cNvPicPr preferRelativeResize="0"/>
          <p:nvPr/>
        </p:nvPicPr>
        <p:blipFill rotWithShape="1">
          <a:blip r:embed="rId6">
            <a:alphaModFix/>
          </a:blip>
          <a:srcRect b="0" l="0" r="0" t="0"/>
          <a:stretch/>
        </p:blipFill>
        <p:spPr>
          <a:xfrm>
            <a:off x="2661047" y="2739237"/>
            <a:ext cx="114300" cy="114300"/>
          </a:xfrm>
          <a:prstGeom prst="rect">
            <a:avLst/>
          </a:prstGeom>
          <a:noFill/>
          <a:ln>
            <a:noFill/>
          </a:ln>
        </p:spPr>
      </p:pic>
      <p:sp>
        <p:nvSpPr>
          <p:cNvPr id="935" name="Google Shape;935;p17"/>
          <p:cNvSpPr/>
          <p:nvPr/>
        </p:nvSpPr>
        <p:spPr>
          <a:xfrm>
            <a:off x="3597771" y="2735666"/>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36" name="Google Shape;936;p17"/>
          <p:cNvSpPr/>
          <p:nvPr/>
        </p:nvSpPr>
        <p:spPr>
          <a:xfrm>
            <a:off x="4262140" y="2735666"/>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37" name="Google Shape;937;p17"/>
          <p:cNvSpPr/>
          <p:nvPr/>
        </p:nvSpPr>
        <p:spPr>
          <a:xfrm>
            <a:off x="414338" y="2974981"/>
            <a:ext cx="4114800" cy="350044"/>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7"/>
          <p:cNvSpPr/>
          <p:nvPr/>
        </p:nvSpPr>
        <p:spPr>
          <a:xfrm>
            <a:off x="414338" y="2974981"/>
            <a:ext cx="962620" cy="350044"/>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Agent lifecycle</a:t>
            </a:r>
            <a:endParaRPr b="0" i="0" sz="734" u="none" cap="none" strike="noStrike">
              <a:solidFill>
                <a:schemeClr val="dk1"/>
              </a:solidFill>
              <a:latin typeface="Calibri"/>
              <a:ea typeface="Calibri"/>
              <a:cs typeface="Calibri"/>
              <a:sym typeface="Calibri"/>
            </a:endParaRPr>
          </a:p>
        </p:txBody>
      </p:sp>
      <p:sp>
        <p:nvSpPr>
          <p:cNvPr id="939" name="Google Shape;939;p17"/>
          <p:cNvSpPr/>
          <p:nvPr/>
        </p:nvSpPr>
        <p:spPr>
          <a:xfrm>
            <a:off x="1751112" y="3085709"/>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940" name="Google Shape;940;p17"/>
          <p:cNvPicPr preferRelativeResize="0"/>
          <p:nvPr/>
        </p:nvPicPr>
        <p:blipFill rotWithShape="1">
          <a:blip r:embed="rId6">
            <a:alphaModFix/>
          </a:blip>
          <a:srcRect b="0" l="0" r="0" t="0"/>
          <a:stretch/>
        </p:blipFill>
        <p:spPr>
          <a:xfrm>
            <a:off x="2661047" y="3089281"/>
            <a:ext cx="114300" cy="114300"/>
          </a:xfrm>
          <a:prstGeom prst="rect">
            <a:avLst/>
          </a:prstGeom>
          <a:noFill/>
          <a:ln>
            <a:noFill/>
          </a:ln>
        </p:spPr>
      </p:pic>
      <p:sp>
        <p:nvSpPr>
          <p:cNvPr id="941" name="Google Shape;941;p17"/>
          <p:cNvSpPr/>
          <p:nvPr/>
        </p:nvSpPr>
        <p:spPr>
          <a:xfrm>
            <a:off x="3597771" y="3085709"/>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42" name="Google Shape;942;p17"/>
          <p:cNvSpPr/>
          <p:nvPr/>
        </p:nvSpPr>
        <p:spPr>
          <a:xfrm>
            <a:off x="4262140" y="3085709"/>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43" name="Google Shape;943;p17"/>
          <p:cNvSpPr/>
          <p:nvPr/>
        </p:nvSpPr>
        <p:spPr>
          <a:xfrm>
            <a:off x="414338" y="3325025"/>
            <a:ext cx="4114800" cy="23038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7"/>
          <p:cNvSpPr/>
          <p:nvPr/>
        </p:nvSpPr>
        <p:spPr>
          <a:xfrm>
            <a:off x="414338" y="3548267"/>
            <a:ext cx="41148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45" name="Google Shape;945;p17"/>
          <p:cNvPicPr preferRelativeResize="0"/>
          <p:nvPr/>
        </p:nvPicPr>
        <p:blipFill rotWithShape="1">
          <a:blip r:embed="rId7">
            <a:alphaModFix/>
          </a:blip>
          <a:srcRect b="0" l="0" r="0" t="0"/>
          <a:stretch/>
        </p:blipFill>
        <p:spPr>
          <a:xfrm>
            <a:off x="557213" y="3382175"/>
            <a:ext cx="114300" cy="114300"/>
          </a:xfrm>
          <a:prstGeom prst="rect">
            <a:avLst/>
          </a:prstGeom>
          <a:noFill/>
          <a:ln>
            <a:noFill/>
          </a:ln>
        </p:spPr>
      </p:pic>
      <p:sp>
        <p:nvSpPr>
          <p:cNvPr id="946" name="Google Shape;946;p17"/>
          <p:cNvSpPr/>
          <p:nvPr/>
        </p:nvSpPr>
        <p:spPr>
          <a:xfrm>
            <a:off x="714375" y="3371459"/>
            <a:ext cx="1207294" cy="13751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Secrets Management</a:t>
            </a:r>
            <a:endParaRPr b="0" i="0" sz="784" u="none" cap="none" strike="noStrike">
              <a:solidFill>
                <a:schemeClr val="dk1"/>
              </a:solidFill>
              <a:latin typeface="Calibri"/>
              <a:ea typeface="Calibri"/>
              <a:cs typeface="Calibri"/>
              <a:sym typeface="Calibri"/>
            </a:endParaRPr>
          </a:p>
        </p:txBody>
      </p:sp>
      <p:sp>
        <p:nvSpPr>
          <p:cNvPr id="947" name="Google Shape;947;p17"/>
          <p:cNvSpPr/>
          <p:nvPr/>
        </p:nvSpPr>
        <p:spPr>
          <a:xfrm>
            <a:off x="414338" y="3551839"/>
            <a:ext cx="4114800" cy="346472"/>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7"/>
          <p:cNvSpPr/>
          <p:nvPr/>
        </p:nvSpPr>
        <p:spPr>
          <a:xfrm>
            <a:off x="414338" y="3551839"/>
            <a:ext cx="962620" cy="346472"/>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Secret retrieval</a:t>
            </a:r>
            <a:endParaRPr b="0" i="0" sz="734" u="none" cap="none" strike="noStrike">
              <a:solidFill>
                <a:schemeClr val="dk1"/>
              </a:solidFill>
              <a:latin typeface="Calibri"/>
              <a:ea typeface="Calibri"/>
              <a:cs typeface="Calibri"/>
              <a:sym typeface="Calibri"/>
            </a:endParaRPr>
          </a:p>
        </p:txBody>
      </p:sp>
      <p:sp>
        <p:nvSpPr>
          <p:cNvPr id="949" name="Google Shape;949;p17"/>
          <p:cNvSpPr/>
          <p:nvPr/>
        </p:nvSpPr>
        <p:spPr>
          <a:xfrm>
            <a:off x="1751112" y="3658995"/>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50" name="Google Shape;950;p17"/>
          <p:cNvSpPr/>
          <p:nvPr/>
        </p:nvSpPr>
        <p:spPr>
          <a:xfrm>
            <a:off x="2664619" y="3658995"/>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951" name="Google Shape;951;p17"/>
          <p:cNvPicPr preferRelativeResize="0"/>
          <p:nvPr/>
        </p:nvPicPr>
        <p:blipFill rotWithShape="1">
          <a:blip r:embed="rId8">
            <a:alphaModFix/>
          </a:blip>
          <a:srcRect b="0" l="0" r="0" t="0"/>
          <a:stretch/>
        </p:blipFill>
        <p:spPr>
          <a:xfrm>
            <a:off x="3594199" y="3662567"/>
            <a:ext cx="114300" cy="114300"/>
          </a:xfrm>
          <a:prstGeom prst="rect">
            <a:avLst/>
          </a:prstGeom>
          <a:noFill/>
          <a:ln>
            <a:noFill/>
          </a:ln>
        </p:spPr>
      </p:pic>
      <p:pic>
        <p:nvPicPr>
          <p:cNvPr descr="preencoded.png" id="952" name="Google Shape;952;p17"/>
          <p:cNvPicPr preferRelativeResize="0"/>
          <p:nvPr/>
        </p:nvPicPr>
        <p:blipFill rotWithShape="1">
          <a:blip r:embed="rId8">
            <a:alphaModFix/>
          </a:blip>
          <a:srcRect b="0" l="0" r="0" t="0"/>
          <a:stretch/>
        </p:blipFill>
        <p:spPr>
          <a:xfrm>
            <a:off x="4258568" y="3662567"/>
            <a:ext cx="114300" cy="114300"/>
          </a:xfrm>
          <a:prstGeom prst="rect">
            <a:avLst/>
          </a:prstGeom>
          <a:noFill/>
          <a:ln>
            <a:noFill/>
          </a:ln>
        </p:spPr>
      </p:pic>
      <p:sp>
        <p:nvSpPr>
          <p:cNvPr id="953" name="Google Shape;953;p17"/>
          <p:cNvSpPr/>
          <p:nvPr/>
        </p:nvSpPr>
        <p:spPr>
          <a:xfrm>
            <a:off x="414338" y="3898311"/>
            <a:ext cx="962620" cy="350044"/>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Secret rotation</a:t>
            </a:r>
            <a:endParaRPr b="0" i="0" sz="734" u="none" cap="none" strike="noStrike">
              <a:solidFill>
                <a:schemeClr val="dk1"/>
              </a:solidFill>
              <a:latin typeface="Calibri"/>
              <a:ea typeface="Calibri"/>
              <a:cs typeface="Calibri"/>
              <a:sym typeface="Calibri"/>
            </a:endParaRPr>
          </a:p>
        </p:txBody>
      </p:sp>
      <p:pic>
        <p:nvPicPr>
          <p:cNvPr descr="preencoded.png" id="954" name="Google Shape;954;p17"/>
          <p:cNvPicPr preferRelativeResize="0"/>
          <p:nvPr/>
        </p:nvPicPr>
        <p:blipFill rotWithShape="1">
          <a:blip r:embed="rId9">
            <a:alphaModFix/>
          </a:blip>
          <a:srcRect b="0" l="0" r="0" t="0"/>
          <a:stretch/>
        </p:blipFill>
        <p:spPr>
          <a:xfrm>
            <a:off x="1747540" y="4012611"/>
            <a:ext cx="114300" cy="114300"/>
          </a:xfrm>
          <a:prstGeom prst="rect">
            <a:avLst/>
          </a:prstGeom>
          <a:noFill/>
          <a:ln>
            <a:noFill/>
          </a:ln>
        </p:spPr>
      </p:pic>
      <p:pic>
        <p:nvPicPr>
          <p:cNvPr descr="preencoded.png" id="955" name="Google Shape;955;p17"/>
          <p:cNvPicPr preferRelativeResize="0"/>
          <p:nvPr/>
        </p:nvPicPr>
        <p:blipFill rotWithShape="1">
          <a:blip r:embed="rId10">
            <a:alphaModFix/>
          </a:blip>
          <a:srcRect b="0" l="0" r="0" t="0"/>
          <a:stretch/>
        </p:blipFill>
        <p:spPr>
          <a:xfrm>
            <a:off x="2661047" y="4012611"/>
            <a:ext cx="114300" cy="114300"/>
          </a:xfrm>
          <a:prstGeom prst="rect">
            <a:avLst/>
          </a:prstGeom>
          <a:noFill/>
          <a:ln>
            <a:noFill/>
          </a:ln>
        </p:spPr>
      </p:pic>
      <p:sp>
        <p:nvSpPr>
          <p:cNvPr id="956" name="Google Shape;956;p17"/>
          <p:cNvSpPr/>
          <p:nvPr/>
        </p:nvSpPr>
        <p:spPr>
          <a:xfrm>
            <a:off x="3597771" y="4009039"/>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957" name="Google Shape;957;p17"/>
          <p:cNvPicPr preferRelativeResize="0"/>
          <p:nvPr/>
        </p:nvPicPr>
        <p:blipFill rotWithShape="1">
          <a:blip r:embed="rId8">
            <a:alphaModFix/>
          </a:blip>
          <a:srcRect b="0" l="0" r="0" t="0"/>
          <a:stretch/>
        </p:blipFill>
        <p:spPr>
          <a:xfrm>
            <a:off x="4258568" y="4012611"/>
            <a:ext cx="114300" cy="114300"/>
          </a:xfrm>
          <a:prstGeom prst="rect">
            <a:avLst/>
          </a:prstGeom>
          <a:noFill/>
          <a:ln>
            <a:noFill/>
          </a:ln>
        </p:spPr>
      </p:pic>
      <p:sp>
        <p:nvSpPr>
          <p:cNvPr id="958" name="Google Shape;958;p17"/>
          <p:cNvSpPr/>
          <p:nvPr/>
        </p:nvSpPr>
        <p:spPr>
          <a:xfrm>
            <a:off x="414338" y="4248355"/>
            <a:ext cx="4114800" cy="350044"/>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7"/>
          <p:cNvSpPr/>
          <p:nvPr/>
        </p:nvSpPr>
        <p:spPr>
          <a:xfrm>
            <a:off x="414338" y="4248355"/>
            <a:ext cx="962620" cy="350044"/>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Watch notifications</a:t>
            </a:r>
            <a:endParaRPr b="0" i="0" sz="734" u="none" cap="none" strike="noStrike">
              <a:solidFill>
                <a:schemeClr val="dk1"/>
              </a:solidFill>
              <a:latin typeface="Calibri"/>
              <a:ea typeface="Calibri"/>
              <a:cs typeface="Calibri"/>
              <a:sym typeface="Calibri"/>
            </a:endParaRPr>
          </a:p>
        </p:txBody>
      </p:sp>
      <p:sp>
        <p:nvSpPr>
          <p:cNvPr id="960" name="Google Shape;960;p17"/>
          <p:cNvSpPr/>
          <p:nvPr/>
        </p:nvSpPr>
        <p:spPr>
          <a:xfrm>
            <a:off x="1751112" y="4359083"/>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61" name="Google Shape;961;p17"/>
          <p:cNvSpPr/>
          <p:nvPr/>
        </p:nvSpPr>
        <p:spPr>
          <a:xfrm>
            <a:off x="2664619" y="4359083"/>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962" name="Google Shape;962;p17"/>
          <p:cNvPicPr preferRelativeResize="0"/>
          <p:nvPr/>
        </p:nvPicPr>
        <p:blipFill rotWithShape="1">
          <a:blip r:embed="rId8">
            <a:alphaModFix/>
          </a:blip>
          <a:srcRect b="0" l="0" r="0" t="0"/>
          <a:stretch/>
        </p:blipFill>
        <p:spPr>
          <a:xfrm>
            <a:off x="3594199" y="4362655"/>
            <a:ext cx="114300" cy="114300"/>
          </a:xfrm>
          <a:prstGeom prst="rect">
            <a:avLst/>
          </a:prstGeom>
          <a:noFill/>
          <a:ln>
            <a:noFill/>
          </a:ln>
        </p:spPr>
      </p:pic>
      <p:pic>
        <p:nvPicPr>
          <p:cNvPr descr="preencoded.png" id="963" name="Google Shape;963;p17"/>
          <p:cNvPicPr preferRelativeResize="0"/>
          <p:nvPr/>
        </p:nvPicPr>
        <p:blipFill rotWithShape="1">
          <a:blip r:embed="rId8">
            <a:alphaModFix/>
          </a:blip>
          <a:srcRect b="0" l="0" r="0" t="0"/>
          <a:stretch/>
        </p:blipFill>
        <p:spPr>
          <a:xfrm>
            <a:off x="4258568" y="4362655"/>
            <a:ext cx="114300" cy="114300"/>
          </a:xfrm>
          <a:prstGeom prst="rect">
            <a:avLst/>
          </a:prstGeom>
          <a:noFill/>
          <a:ln>
            <a:noFill/>
          </a:ln>
        </p:spPr>
      </p:pic>
      <p:sp>
        <p:nvSpPr>
          <p:cNvPr id="964" name="Google Shape;964;p17"/>
          <p:cNvSpPr/>
          <p:nvPr/>
        </p:nvSpPr>
        <p:spPr>
          <a:xfrm>
            <a:off x="414338" y="4598398"/>
            <a:ext cx="962620" cy="350044"/>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Database credentials</a:t>
            </a:r>
            <a:endParaRPr b="0" i="0" sz="734" u="none" cap="none" strike="noStrike">
              <a:solidFill>
                <a:schemeClr val="dk1"/>
              </a:solidFill>
              <a:latin typeface="Calibri"/>
              <a:ea typeface="Calibri"/>
              <a:cs typeface="Calibri"/>
              <a:sym typeface="Calibri"/>
            </a:endParaRPr>
          </a:p>
        </p:txBody>
      </p:sp>
      <p:sp>
        <p:nvSpPr>
          <p:cNvPr id="965" name="Google Shape;965;p17"/>
          <p:cNvSpPr/>
          <p:nvPr/>
        </p:nvSpPr>
        <p:spPr>
          <a:xfrm>
            <a:off x="1751112" y="4709127"/>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966" name="Google Shape;966;p17"/>
          <p:cNvSpPr/>
          <p:nvPr/>
        </p:nvSpPr>
        <p:spPr>
          <a:xfrm>
            <a:off x="2664619" y="4709127"/>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967" name="Google Shape;967;p17"/>
          <p:cNvPicPr preferRelativeResize="0"/>
          <p:nvPr/>
        </p:nvPicPr>
        <p:blipFill rotWithShape="1">
          <a:blip r:embed="rId8">
            <a:alphaModFix/>
          </a:blip>
          <a:srcRect b="0" l="0" r="0" t="0"/>
          <a:stretch/>
        </p:blipFill>
        <p:spPr>
          <a:xfrm>
            <a:off x="3594199" y="4712698"/>
            <a:ext cx="114300" cy="114300"/>
          </a:xfrm>
          <a:prstGeom prst="rect">
            <a:avLst/>
          </a:prstGeom>
          <a:noFill/>
          <a:ln>
            <a:noFill/>
          </a:ln>
        </p:spPr>
      </p:pic>
      <p:pic>
        <p:nvPicPr>
          <p:cNvPr descr="preencoded.png" id="968" name="Google Shape;968;p17"/>
          <p:cNvPicPr preferRelativeResize="0"/>
          <p:nvPr/>
        </p:nvPicPr>
        <p:blipFill rotWithShape="1">
          <a:blip r:embed="rId8">
            <a:alphaModFix/>
          </a:blip>
          <a:srcRect b="0" l="0" r="0" t="0"/>
          <a:stretch/>
        </p:blipFill>
        <p:spPr>
          <a:xfrm>
            <a:off x="4258568" y="4712698"/>
            <a:ext cx="114300" cy="114300"/>
          </a:xfrm>
          <a:prstGeom prst="rect">
            <a:avLst/>
          </a:prstGeom>
          <a:noFill/>
          <a:ln>
            <a:noFill/>
          </a:ln>
        </p:spPr>
      </p:pic>
      <p:sp>
        <p:nvSpPr>
          <p:cNvPr id="969" name="Google Shape;969;p17"/>
          <p:cNvSpPr/>
          <p:nvPr/>
        </p:nvSpPr>
        <p:spPr>
          <a:xfrm>
            <a:off x="4614863" y="980089"/>
            <a:ext cx="937617" cy="410766"/>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7"/>
          <p:cNvSpPr/>
          <p:nvPr/>
        </p:nvSpPr>
        <p:spPr>
          <a:xfrm>
            <a:off x="5545336" y="980089"/>
            <a:ext cx="7144" cy="41076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7"/>
          <p:cNvSpPr/>
          <p:nvPr/>
        </p:nvSpPr>
        <p:spPr>
          <a:xfrm>
            <a:off x="4614863" y="1376567"/>
            <a:ext cx="937617"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7"/>
          <p:cNvSpPr/>
          <p:nvPr/>
        </p:nvSpPr>
        <p:spPr>
          <a:xfrm>
            <a:off x="4614863" y="980089"/>
            <a:ext cx="937617" cy="410766"/>
          </a:xfrm>
          <a:prstGeom prst="rect">
            <a:avLst/>
          </a:prstGeom>
          <a:noFill/>
          <a:ln>
            <a:noFill/>
          </a:ln>
        </p:spPr>
        <p:txBody>
          <a:bodyPr anchorCtr="0" anchor="ctr" bIns="68050" lIns="102100" spcFirstLastPara="1" rIns="102100" wrap="square" tIns="6805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FEATURE</a:t>
            </a:r>
            <a:endParaRPr b="0" i="0" sz="784" u="none" cap="none" strike="noStrike">
              <a:solidFill>
                <a:schemeClr val="dk1"/>
              </a:solidFill>
              <a:latin typeface="Calibri"/>
              <a:ea typeface="Calibri"/>
              <a:cs typeface="Calibri"/>
              <a:sym typeface="Calibri"/>
            </a:endParaRPr>
          </a:p>
        </p:txBody>
      </p:sp>
      <p:sp>
        <p:nvSpPr>
          <p:cNvPr id="973" name="Google Shape;973;p17"/>
          <p:cNvSpPr/>
          <p:nvPr/>
        </p:nvSpPr>
        <p:spPr>
          <a:xfrm>
            <a:off x="5556052" y="980089"/>
            <a:ext cx="859036" cy="410766"/>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7"/>
          <p:cNvSpPr/>
          <p:nvPr/>
        </p:nvSpPr>
        <p:spPr>
          <a:xfrm>
            <a:off x="5556052" y="980089"/>
            <a:ext cx="859036"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7"/>
          <p:cNvSpPr/>
          <p:nvPr/>
        </p:nvSpPr>
        <p:spPr>
          <a:xfrm>
            <a:off x="6407944" y="980089"/>
            <a:ext cx="7144" cy="41076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7"/>
          <p:cNvSpPr/>
          <p:nvPr/>
        </p:nvSpPr>
        <p:spPr>
          <a:xfrm>
            <a:off x="5556052" y="1376567"/>
            <a:ext cx="859036"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7"/>
          <p:cNvSpPr/>
          <p:nvPr/>
        </p:nvSpPr>
        <p:spPr>
          <a:xfrm>
            <a:off x="5556052" y="980089"/>
            <a:ext cx="859036" cy="410766"/>
          </a:xfrm>
          <a:prstGeom prst="rect">
            <a:avLst/>
          </a:prstGeom>
          <a:noFill/>
          <a:ln>
            <a:noFill/>
          </a:ln>
        </p:spPr>
        <p:txBody>
          <a:bodyPr anchorCtr="0" anchor="ctr" bIns="68050" lIns="102100" spcFirstLastPara="1" rIns="102100" wrap="square" tIns="68050">
            <a:noAutofit/>
          </a:bodyPr>
          <a:lstStyle/>
          <a:p>
            <a:pPr indent="0" lvl="0" marL="0" marR="0" rtl="0" algn="ctr">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OPAMP PROTOCOL</a:t>
            </a:r>
            <a:endParaRPr b="0" i="0" sz="784" u="none" cap="none" strike="noStrike">
              <a:solidFill>
                <a:schemeClr val="dk1"/>
              </a:solidFill>
              <a:latin typeface="Calibri"/>
              <a:ea typeface="Calibri"/>
              <a:cs typeface="Calibri"/>
              <a:sym typeface="Calibri"/>
            </a:endParaRPr>
          </a:p>
        </p:txBody>
      </p:sp>
      <p:sp>
        <p:nvSpPr>
          <p:cNvPr id="978" name="Google Shape;978;p17"/>
          <p:cNvSpPr/>
          <p:nvPr/>
        </p:nvSpPr>
        <p:spPr>
          <a:xfrm>
            <a:off x="6418659" y="980089"/>
            <a:ext cx="975122" cy="410766"/>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7"/>
          <p:cNvSpPr/>
          <p:nvPr/>
        </p:nvSpPr>
        <p:spPr>
          <a:xfrm>
            <a:off x="6418659" y="980089"/>
            <a:ext cx="975122"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7"/>
          <p:cNvSpPr/>
          <p:nvPr/>
        </p:nvSpPr>
        <p:spPr>
          <a:xfrm>
            <a:off x="7386638" y="980089"/>
            <a:ext cx="7144" cy="41076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7"/>
          <p:cNvSpPr/>
          <p:nvPr/>
        </p:nvSpPr>
        <p:spPr>
          <a:xfrm>
            <a:off x="6418659" y="1376567"/>
            <a:ext cx="975122"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7"/>
          <p:cNvSpPr/>
          <p:nvPr/>
        </p:nvSpPr>
        <p:spPr>
          <a:xfrm>
            <a:off x="6418659" y="980089"/>
            <a:ext cx="975122" cy="410766"/>
          </a:xfrm>
          <a:prstGeom prst="rect">
            <a:avLst/>
          </a:prstGeom>
          <a:noFill/>
          <a:ln>
            <a:noFill/>
          </a:ln>
        </p:spPr>
        <p:txBody>
          <a:bodyPr anchorCtr="0" anchor="ctr" bIns="68050" lIns="102100" spcFirstLastPara="1" rIns="102100" wrap="square" tIns="68050">
            <a:noAutofit/>
          </a:bodyPr>
          <a:lstStyle/>
          <a:p>
            <a:pPr indent="0" lvl="0" marL="0" marR="0" rtl="0" algn="ctr">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SUPERVISOR</a:t>
            </a:r>
            <a:endParaRPr b="0" i="0" sz="784" u="none" cap="none" strike="noStrike">
              <a:solidFill>
                <a:schemeClr val="dk1"/>
              </a:solidFill>
              <a:latin typeface="Calibri"/>
              <a:ea typeface="Calibri"/>
              <a:cs typeface="Calibri"/>
              <a:sym typeface="Calibri"/>
            </a:endParaRPr>
          </a:p>
        </p:txBody>
      </p:sp>
      <p:sp>
        <p:nvSpPr>
          <p:cNvPr id="983" name="Google Shape;983;p17"/>
          <p:cNvSpPr/>
          <p:nvPr/>
        </p:nvSpPr>
        <p:spPr>
          <a:xfrm>
            <a:off x="7397353" y="980089"/>
            <a:ext cx="898327" cy="410766"/>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7"/>
          <p:cNvSpPr/>
          <p:nvPr/>
        </p:nvSpPr>
        <p:spPr>
          <a:xfrm>
            <a:off x="7397353" y="980089"/>
            <a:ext cx="898327" cy="28575"/>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7"/>
          <p:cNvSpPr/>
          <p:nvPr/>
        </p:nvSpPr>
        <p:spPr>
          <a:xfrm>
            <a:off x="8288536" y="980089"/>
            <a:ext cx="7144" cy="41076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7"/>
          <p:cNvSpPr/>
          <p:nvPr/>
        </p:nvSpPr>
        <p:spPr>
          <a:xfrm>
            <a:off x="7397353" y="1376567"/>
            <a:ext cx="898327"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7"/>
          <p:cNvSpPr/>
          <p:nvPr/>
        </p:nvSpPr>
        <p:spPr>
          <a:xfrm>
            <a:off x="7397353" y="980089"/>
            <a:ext cx="898327" cy="410766"/>
          </a:xfrm>
          <a:prstGeom prst="rect">
            <a:avLst/>
          </a:prstGeom>
          <a:noFill/>
          <a:ln>
            <a:noFill/>
          </a:ln>
        </p:spPr>
        <p:txBody>
          <a:bodyPr anchorCtr="0" anchor="ctr" bIns="68050" lIns="102100" spcFirstLastPara="1" rIns="102100" wrap="square" tIns="68050">
            <a:noAutofit/>
          </a:bodyPr>
          <a:lstStyle/>
          <a:p>
            <a:pPr indent="0" lvl="0" marL="0" marR="0" rtl="0" algn="ctr">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WORKLOAD API</a:t>
            </a:r>
            <a:endParaRPr b="0" i="0" sz="784" u="none" cap="none" strike="noStrike">
              <a:solidFill>
                <a:schemeClr val="dk1"/>
              </a:solidFill>
              <a:latin typeface="Calibri"/>
              <a:ea typeface="Calibri"/>
              <a:cs typeface="Calibri"/>
              <a:sym typeface="Calibri"/>
            </a:endParaRPr>
          </a:p>
        </p:txBody>
      </p:sp>
      <p:sp>
        <p:nvSpPr>
          <p:cNvPr id="988" name="Google Shape;988;p17"/>
          <p:cNvSpPr/>
          <p:nvPr/>
        </p:nvSpPr>
        <p:spPr>
          <a:xfrm>
            <a:off x="8299252" y="980089"/>
            <a:ext cx="430411" cy="389334"/>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7"/>
          <p:cNvSpPr/>
          <p:nvPr/>
        </p:nvSpPr>
        <p:spPr>
          <a:xfrm>
            <a:off x="8299252" y="980089"/>
            <a:ext cx="430411"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7"/>
          <p:cNvSpPr/>
          <p:nvPr/>
        </p:nvSpPr>
        <p:spPr>
          <a:xfrm>
            <a:off x="8299252" y="1355136"/>
            <a:ext cx="430411"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7"/>
          <p:cNvSpPr/>
          <p:nvPr/>
        </p:nvSpPr>
        <p:spPr>
          <a:xfrm>
            <a:off x="8299252" y="980089"/>
            <a:ext cx="430411" cy="389334"/>
          </a:xfrm>
          <a:prstGeom prst="rect">
            <a:avLst/>
          </a:prstGeom>
          <a:noFill/>
          <a:ln>
            <a:noFill/>
          </a:ln>
        </p:spPr>
        <p:txBody>
          <a:bodyPr anchorCtr="0" anchor="ctr" bIns="68050" lIns="102100" spcFirstLastPara="1" rIns="102100" wrap="square" tIns="68050">
            <a:noAutofit/>
          </a:bodyPr>
          <a:lstStyle/>
          <a:p>
            <a:pPr indent="0" lvl="0" marL="0" marR="0" rtl="0" algn="ctr">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SDK</a:t>
            </a:r>
            <a:endParaRPr b="0" i="0" sz="784" u="none" cap="none" strike="noStrike">
              <a:solidFill>
                <a:schemeClr val="dk1"/>
              </a:solidFill>
              <a:latin typeface="Calibri"/>
              <a:ea typeface="Calibri"/>
              <a:cs typeface="Calibri"/>
              <a:sym typeface="Calibri"/>
            </a:endParaRPr>
          </a:p>
        </p:txBody>
      </p:sp>
      <p:sp>
        <p:nvSpPr>
          <p:cNvPr id="992" name="Google Shape;992;p17"/>
          <p:cNvSpPr/>
          <p:nvPr/>
        </p:nvSpPr>
        <p:spPr>
          <a:xfrm>
            <a:off x="4614863" y="1355136"/>
            <a:ext cx="4114800" cy="226814"/>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7"/>
          <p:cNvSpPr/>
          <p:nvPr/>
        </p:nvSpPr>
        <p:spPr>
          <a:xfrm>
            <a:off x="4614863" y="1574806"/>
            <a:ext cx="41148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94" name="Google Shape;994;p17"/>
          <p:cNvPicPr preferRelativeResize="0"/>
          <p:nvPr/>
        </p:nvPicPr>
        <p:blipFill rotWithShape="1">
          <a:blip r:embed="rId11">
            <a:alphaModFix/>
          </a:blip>
          <a:srcRect b="0" l="0" r="0" t="0"/>
          <a:stretch/>
        </p:blipFill>
        <p:spPr>
          <a:xfrm>
            <a:off x="4757738" y="1408714"/>
            <a:ext cx="114300" cy="114300"/>
          </a:xfrm>
          <a:prstGeom prst="rect">
            <a:avLst/>
          </a:prstGeom>
          <a:noFill/>
          <a:ln>
            <a:noFill/>
          </a:ln>
        </p:spPr>
      </p:pic>
      <p:sp>
        <p:nvSpPr>
          <p:cNvPr id="995" name="Google Shape;995;p17"/>
          <p:cNvSpPr/>
          <p:nvPr/>
        </p:nvSpPr>
        <p:spPr>
          <a:xfrm>
            <a:off x="4914900" y="1397998"/>
            <a:ext cx="1371600" cy="13751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Certificate Management</a:t>
            </a:r>
            <a:endParaRPr b="0" i="0" sz="784" u="none" cap="none" strike="noStrike">
              <a:solidFill>
                <a:schemeClr val="dk1"/>
              </a:solidFill>
              <a:latin typeface="Calibri"/>
              <a:ea typeface="Calibri"/>
              <a:cs typeface="Calibri"/>
              <a:sym typeface="Calibri"/>
            </a:endParaRPr>
          </a:p>
        </p:txBody>
      </p:sp>
      <p:sp>
        <p:nvSpPr>
          <p:cNvPr id="996" name="Google Shape;996;p17"/>
          <p:cNvSpPr/>
          <p:nvPr/>
        </p:nvSpPr>
        <p:spPr>
          <a:xfrm>
            <a:off x="4614863" y="1578378"/>
            <a:ext cx="4114800" cy="346472"/>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7"/>
          <p:cNvSpPr/>
          <p:nvPr/>
        </p:nvSpPr>
        <p:spPr>
          <a:xfrm>
            <a:off x="4614863" y="1578378"/>
            <a:ext cx="962620" cy="346472"/>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Node certificates</a:t>
            </a:r>
            <a:endParaRPr b="0" i="0" sz="734" u="none" cap="none" strike="noStrike">
              <a:solidFill>
                <a:schemeClr val="dk1"/>
              </a:solidFill>
              <a:latin typeface="Calibri"/>
              <a:ea typeface="Calibri"/>
              <a:cs typeface="Calibri"/>
              <a:sym typeface="Calibri"/>
            </a:endParaRPr>
          </a:p>
        </p:txBody>
      </p:sp>
      <p:sp>
        <p:nvSpPr>
          <p:cNvPr id="998" name="Google Shape;998;p17"/>
          <p:cNvSpPr/>
          <p:nvPr/>
        </p:nvSpPr>
        <p:spPr>
          <a:xfrm>
            <a:off x="5951637" y="1685534"/>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999" name="Google Shape;999;p17"/>
          <p:cNvPicPr preferRelativeResize="0"/>
          <p:nvPr/>
        </p:nvPicPr>
        <p:blipFill rotWithShape="1">
          <a:blip r:embed="rId6">
            <a:alphaModFix/>
          </a:blip>
          <a:srcRect b="0" l="0" r="0" t="0"/>
          <a:stretch/>
        </p:blipFill>
        <p:spPr>
          <a:xfrm>
            <a:off x="6861572" y="1689106"/>
            <a:ext cx="114300" cy="114300"/>
          </a:xfrm>
          <a:prstGeom prst="rect">
            <a:avLst/>
          </a:prstGeom>
          <a:noFill/>
          <a:ln>
            <a:noFill/>
          </a:ln>
        </p:spPr>
      </p:pic>
      <p:sp>
        <p:nvSpPr>
          <p:cNvPr id="1000" name="Google Shape;1000;p17"/>
          <p:cNvSpPr/>
          <p:nvPr/>
        </p:nvSpPr>
        <p:spPr>
          <a:xfrm>
            <a:off x="7798296" y="1685534"/>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01" name="Google Shape;1001;p17"/>
          <p:cNvSpPr/>
          <p:nvPr/>
        </p:nvSpPr>
        <p:spPr>
          <a:xfrm>
            <a:off x="8462665" y="1685534"/>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02" name="Google Shape;1002;p17"/>
          <p:cNvSpPr/>
          <p:nvPr/>
        </p:nvSpPr>
        <p:spPr>
          <a:xfrm>
            <a:off x="4614863" y="1924850"/>
            <a:ext cx="962620" cy="221456"/>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Agent SVIDs</a:t>
            </a:r>
            <a:endParaRPr b="0" i="0" sz="734" u="none" cap="none" strike="noStrike">
              <a:solidFill>
                <a:schemeClr val="dk1"/>
              </a:solidFill>
              <a:latin typeface="Calibri"/>
              <a:ea typeface="Calibri"/>
              <a:cs typeface="Calibri"/>
              <a:sym typeface="Calibri"/>
            </a:endParaRPr>
          </a:p>
        </p:txBody>
      </p:sp>
      <p:sp>
        <p:nvSpPr>
          <p:cNvPr id="1003" name="Google Shape;1003;p17"/>
          <p:cNvSpPr/>
          <p:nvPr/>
        </p:nvSpPr>
        <p:spPr>
          <a:xfrm>
            <a:off x="5951637" y="1971284"/>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1004" name="Google Shape;1004;p17"/>
          <p:cNvPicPr preferRelativeResize="0"/>
          <p:nvPr/>
        </p:nvPicPr>
        <p:blipFill rotWithShape="1">
          <a:blip r:embed="rId6">
            <a:alphaModFix/>
          </a:blip>
          <a:srcRect b="0" l="0" r="0" t="0"/>
          <a:stretch/>
        </p:blipFill>
        <p:spPr>
          <a:xfrm>
            <a:off x="6861572" y="1974856"/>
            <a:ext cx="114300" cy="114300"/>
          </a:xfrm>
          <a:prstGeom prst="rect">
            <a:avLst/>
          </a:prstGeom>
          <a:noFill/>
          <a:ln>
            <a:noFill/>
          </a:ln>
        </p:spPr>
      </p:pic>
      <p:pic>
        <p:nvPicPr>
          <p:cNvPr descr="preencoded.png" id="1005" name="Google Shape;1005;p17"/>
          <p:cNvPicPr preferRelativeResize="0"/>
          <p:nvPr/>
        </p:nvPicPr>
        <p:blipFill rotWithShape="1">
          <a:blip r:embed="rId12">
            <a:alphaModFix/>
          </a:blip>
          <a:srcRect b="0" l="0" r="0" t="0"/>
          <a:stretch/>
        </p:blipFill>
        <p:spPr>
          <a:xfrm>
            <a:off x="7794724" y="1974856"/>
            <a:ext cx="114300" cy="114300"/>
          </a:xfrm>
          <a:prstGeom prst="rect">
            <a:avLst/>
          </a:prstGeom>
          <a:noFill/>
          <a:ln>
            <a:noFill/>
          </a:ln>
        </p:spPr>
      </p:pic>
      <p:sp>
        <p:nvSpPr>
          <p:cNvPr id="1006" name="Google Shape;1006;p17"/>
          <p:cNvSpPr/>
          <p:nvPr/>
        </p:nvSpPr>
        <p:spPr>
          <a:xfrm>
            <a:off x="8462665" y="1971284"/>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07" name="Google Shape;1007;p17"/>
          <p:cNvSpPr/>
          <p:nvPr/>
        </p:nvSpPr>
        <p:spPr>
          <a:xfrm>
            <a:off x="4614863" y="2146306"/>
            <a:ext cx="4114800" cy="221456"/>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7"/>
          <p:cNvSpPr/>
          <p:nvPr/>
        </p:nvSpPr>
        <p:spPr>
          <a:xfrm>
            <a:off x="4614863" y="2146306"/>
            <a:ext cx="962620" cy="221456"/>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Auto-rotation</a:t>
            </a:r>
            <a:endParaRPr b="0" i="0" sz="734" u="none" cap="none" strike="noStrike">
              <a:solidFill>
                <a:schemeClr val="dk1"/>
              </a:solidFill>
              <a:latin typeface="Calibri"/>
              <a:ea typeface="Calibri"/>
              <a:cs typeface="Calibri"/>
              <a:sym typeface="Calibri"/>
            </a:endParaRPr>
          </a:p>
        </p:txBody>
      </p:sp>
      <p:sp>
        <p:nvSpPr>
          <p:cNvPr id="1009" name="Google Shape;1009;p17"/>
          <p:cNvSpPr/>
          <p:nvPr/>
        </p:nvSpPr>
        <p:spPr>
          <a:xfrm>
            <a:off x="5951637" y="2192741"/>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1010" name="Google Shape;1010;p17"/>
          <p:cNvPicPr preferRelativeResize="0"/>
          <p:nvPr/>
        </p:nvPicPr>
        <p:blipFill rotWithShape="1">
          <a:blip r:embed="rId6">
            <a:alphaModFix/>
          </a:blip>
          <a:srcRect b="0" l="0" r="0" t="0"/>
          <a:stretch/>
        </p:blipFill>
        <p:spPr>
          <a:xfrm>
            <a:off x="6861572" y="2196312"/>
            <a:ext cx="114300" cy="114300"/>
          </a:xfrm>
          <a:prstGeom prst="rect">
            <a:avLst/>
          </a:prstGeom>
          <a:noFill/>
          <a:ln>
            <a:noFill/>
          </a:ln>
        </p:spPr>
      </p:pic>
      <p:sp>
        <p:nvSpPr>
          <p:cNvPr id="1011" name="Google Shape;1011;p17"/>
          <p:cNvSpPr/>
          <p:nvPr/>
        </p:nvSpPr>
        <p:spPr>
          <a:xfrm>
            <a:off x="7798296" y="2192741"/>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12" name="Google Shape;1012;p17"/>
          <p:cNvSpPr/>
          <p:nvPr/>
        </p:nvSpPr>
        <p:spPr>
          <a:xfrm>
            <a:off x="8462665" y="2192741"/>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13" name="Google Shape;1013;p17"/>
          <p:cNvSpPr/>
          <p:nvPr/>
        </p:nvSpPr>
        <p:spPr>
          <a:xfrm>
            <a:off x="4614863" y="2367762"/>
            <a:ext cx="962620" cy="350044"/>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OCSP validation</a:t>
            </a:r>
            <a:endParaRPr b="0" i="0" sz="734" u="none" cap="none" strike="noStrike">
              <a:solidFill>
                <a:schemeClr val="dk1"/>
              </a:solidFill>
              <a:latin typeface="Calibri"/>
              <a:ea typeface="Calibri"/>
              <a:cs typeface="Calibri"/>
              <a:sym typeface="Calibri"/>
            </a:endParaRPr>
          </a:p>
        </p:txBody>
      </p:sp>
      <p:sp>
        <p:nvSpPr>
          <p:cNvPr id="1014" name="Google Shape;1014;p17"/>
          <p:cNvSpPr/>
          <p:nvPr/>
        </p:nvSpPr>
        <p:spPr>
          <a:xfrm>
            <a:off x="5951637" y="2478491"/>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1015" name="Google Shape;1015;p17"/>
          <p:cNvPicPr preferRelativeResize="0"/>
          <p:nvPr/>
        </p:nvPicPr>
        <p:blipFill rotWithShape="1">
          <a:blip r:embed="rId6">
            <a:alphaModFix/>
          </a:blip>
          <a:srcRect b="0" l="0" r="0" t="0"/>
          <a:stretch/>
        </p:blipFill>
        <p:spPr>
          <a:xfrm>
            <a:off x="6861572" y="2482062"/>
            <a:ext cx="114300" cy="114300"/>
          </a:xfrm>
          <a:prstGeom prst="rect">
            <a:avLst/>
          </a:prstGeom>
          <a:noFill/>
          <a:ln>
            <a:noFill/>
          </a:ln>
        </p:spPr>
      </p:pic>
      <p:sp>
        <p:nvSpPr>
          <p:cNvPr id="1016" name="Google Shape;1016;p17"/>
          <p:cNvSpPr/>
          <p:nvPr/>
        </p:nvSpPr>
        <p:spPr>
          <a:xfrm>
            <a:off x="7798296" y="2478491"/>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17" name="Google Shape;1017;p17"/>
          <p:cNvSpPr/>
          <p:nvPr/>
        </p:nvSpPr>
        <p:spPr>
          <a:xfrm>
            <a:off x="8462665" y="2478491"/>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18" name="Google Shape;1018;p17"/>
          <p:cNvSpPr/>
          <p:nvPr/>
        </p:nvSpPr>
        <p:spPr>
          <a:xfrm>
            <a:off x="4614863" y="2717806"/>
            <a:ext cx="4114800" cy="230386"/>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7"/>
          <p:cNvSpPr/>
          <p:nvPr/>
        </p:nvSpPr>
        <p:spPr>
          <a:xfrm>
            <a:off x="4614863" y="2941048"/>
            <a:ext cx="4114800" cy="714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20" name="Google Shape;1020;p17"/>
          <p:cNvPicPr preferRelativeResize="0"/>
          <p:nvPr/>
        </p:nvPicPr>
        <p:blipFill rotWithShape="1">
          <a:blip r:embed="rId13">
            <a:alphaModFix/>
          </a:blip>
          <a:srcRect b="0" l="0" r="0" t="0"/>
          <a:stretch/>
        </p:blipFill>
        <p:spPr>
          <a:xfrm>
            <a:off x="4757738" y="2774956"/>
            <a:ext cx="114300" cy="114300"/>
          </a:xfrm>
          <a:prstGeom prst="rect">
            <a:avLst/>
          </a:prstGeom>
          <a:noFill/>
          <a:ln>
            <a:noFill/>
          </a:ln>
        </p:spPr>
      </p:pic>
      <p:sp>
        <p:nvSpPr>
          <p:cNvPr id="1021" name="Google Shape;1021;p17"/>
          <p:cNvSpPr/>
          <p:nvPr/>
        </p:nvSpPr>
        <p:spPr>
          <a:xfrm>
            <a:off x="4914900" y="2764241"/>
            <a:ext cx="598289" cy="137517"/>
          </a:xfrm>
          <a:prstGeom prst="rect">
            <a:avLst/>
          </a:prstGeom>
          <a:noFill/>
          <a:ln>
            <a:noFill/>
          </a:ln>
        </p:spPr>
        <p:txBody>
          <a:bodyPr anchorCtr="0" anchor="t" bIns="0" lIns="0" spcFirstLastPara="1" rIns="0" wrap="square" tIns="0">
            <a:noAutofit/>
          </a:bodyPr>
          <a:lstStyle/>
          <a:p>
            <a:pPr indent="0" lvl="0" marL="0" marR="0" rtl="0" algn="l">
              <a:lnSpc>
                <a:spcPct val="140306"/>
              </a:lnSpc>
              <a:spcBef>
                <a:spcPts val="0"/>
              </a:spcBef>
              <a:spcAft>
                <a:spcPts val="0"/>
              </a:spcAft>
              <a:buClr>
                <a:srgbClr val="FFFFFF"/>
              </a:buClr>
              <a:buSzPts val="784"/>
              <a:buFont typeface="Inter"/>
              <a:buNone/>
            </a:pPr>
            <a:r>
              <a:rPr b="1" i="0" lang="en-US" sz="784" u="none" cap="none" strike="noStrike">
                <a:solidFill>
                  <a:srgbClr val="FFFFFF"/>
                </a:solidFill>
                <a:latin typeface="Inter"/>
                <a:ea typeface="Inter"/>
                <a:cs typeface="Inter"/>
                <a:sym typeface="Inter"/>
              </a:rPr>
              <a:t>Zero Trust</a:t>
            </a:r>
            <a:endParaRPr b="0" i="0" sz="784" u="none" cap="none" strike="noStrike">
              <a:solidFill>
                <a:schemeClr val="dk1"/>
              </a:solidFill>
              <a:latin typeface="Calibri"/>
              <a:ea typeface="Calibri"/>
              <a:cs typeface="Calibri"/>
              <a:sym typeface="Calibri"/>
            </a:endParaRPr>
          </a:p>
        </p:txBody>
      </p:sp>
      <p:sp>
        <p:nvSpPr>
          <p:cNvPr id="1022" name="Google Shape;1022;p17"/>
          <p:cNvSpPr/>
          <p:nvPr/>
        </p:nvSpPr>
        <p:spPr>
          <a:xfrm>
            <a:off x="4614863" y="2944620"/>
            <a:ext cx="962620" cy="346472"/>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Instance attestation</a:t>
            </a:r>
            <a:endParaRPr b="0" i="0" sz="734" u="none" cap="none" strike="noStrike">
              <a:solidFill>
                <a:schemeClr val="dk1"/>
              </a:solidFill>
              <a:latin typeface="Calibri"/>
              <a:ea typeface="Calibri"/>
              <a:cs typeface="Calibri"/>
              <a:sym typeface="Calibri"/>
            </a:endParaRPr>
          </a:p>
        </p:txBody>
      </p:sp>
      <p:sp>
        <p:nvSpPr>
          <p:cNvPr id="1023" name="Google Shape;1023;p17"/>
          <p:cNvSpPr/>
          <p:nvPr/>
        </p:nvSpPr>
        <p:spPr>
          <a:xfrm>
            <a:off x="5951637" y="3051777"/>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1024" name="Google Shape;1024;p17"/>
          <p:cNvPicPr preferRelativeResize="0"/>
          <p:nvPr/>
        </p:nvPicPr>
        <p:blipFill rotWithShape="1">
          <a:blip r:embed="rId10">
            <a:alphaModFix/>
          </a:blip>
          <a:srcRect b="0" l="0" r="0" t="0"/>
          <a:stretch/>
        </p:blipFill>
        <p:spPr>
          <a:xfrm>
            <a:off x="6861572" y="3055348"/>
            <a:ext cx="114300" cy="114300"/>
          </a:xfrm>
          <a:prstGeom prst="rect">
            <a:avLst/>
          </a:prstGeom>
          <a:noFill/>
          <a:ln>
            <a:noFill/>
          </a:ln>
        </p:spPr>
      </p:pic>
      <p:sp>
        <p:nvSpPr>
          <p:cNvPr id="1025" name="Google Shape;1025;p17"/>
          <p:cNvSpPr/>
          <p:nvPr/>
        </p:nvSpPr>
        <p:spPr>
          <a:xfrm>
            <a:off x="7798296" y="3051777"/>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26" name="Google Shape;1026;p17"/>
          <p:cNvSpPr/>
          <p:nvPr/>
        </p:nvSpPr>
        <p:spPr>
          <a:xfrm>
            <a:off x="8462665" y="3051777"/>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27" name="Google Shape;1027;p17"/>
          <p:cNvSpPr/>
          <p:nvPr/>
        </p:nvSpPr>
        <p:spPr>
          <a:xfrm>
            <a:off x="4614863" y="3291092"/>
            <a:ext cx="4114800" cy="350044"/>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7"/>
          <p:cNvSpPr/>
          <p:nvPr/>
        </p:nvSpPr>
        <p:spPr>
          <a:xfrm>
            <a:off x="4614863" y="3291092"/>
            <a:ext cx="962620" cy="350044"/>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Process attestation</a:t>
            </a:r>
            <a:endParaRPr b="0" i="0" sz="734" u="none" cap="none" strike="noStrike">
              <a:solidFill>
                <a:schemeClr val="dk1"/>
              </a:solidFill>
              <a:latin typeface="Calibri"/>
              <a:ea typeface="Calibri"/>
              <a:cs typeface="Calibri"/>
              <a:sym typeface="Calibri"/>
            </a:endParaRPr>
          </a:p>
        </p:txBody>
      </p:sp>
      <p:sp>
        <p:nvSpPr>
          <p:cNvPr id="1029" name="Google Shape;1029;p17"/>
          <p:cNvSpPr/>
          <p:nvPr/>
        </p:nvSpPr>
        <p:spPr>
          <a:xfrm>
            <a:off x="5951637" y="3401820"/>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30" name="Google Shape;1030;p17"/>
          <p:cNvSpPr/>
          <p:nvPr/>
        </p:nvSpPr>
        <p:spPr>
          <a:xfrm>
            <a:off x="6865144" y="3401820"/>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1031" name="Google Shape;1031;p17"/>
          <p:cNvPicPr preferRelativeResize="0"/>
          <p:nvPr/>
        </p:nvPicPr>
        <p:blipFill rotWithShape="1">
          <a:blip r:embed="rId8">
            <a:alphaModFix/>
          </a:blip>
          <a:srcRect b="0" l="0" r="0" t="0"/>
          <a:stretch/>
        </p:blipFill>
        <p:spPr>
          <a:xfrm>
            <a:off x="7794724" y="3405392"/>
            <a:ext cx="114300" cy="114300"/>
          </a:xfrm>
          <a:prstGeom prst="rect">
            <a:avLst/>
          </a:prstGeom>
          <a:noFill/>
          <a:ln>
            <a:noFill/>
          </a:ln>
        </p:spPr>
      </p:pic>
      <p:sp>
        <p:nvSpPr>
          <p:cNvPr id="1032" name="Google Shape;1032;p17"/>
          <p:cNvSpPr/>
          <p:nvPr/>
        </p:nvSpPr>
        <p:spPr>
          <a:xfrm>
            <a:off x="8462665" y="3401820"/>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33" name="Google Shape;1033;p17"/>
          <p:cNvSpPr/>
          <p:nvPr/>
        </p:nvSpPr>
        <p:spPr>
          <a:xfrm>
            <a:off x="4614863" y="3641136"/>
            <a:ext cx="962620" cy="221456"/>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Role tokens</a:t>
            </a:r>
            <a:endParaRPr b="0" i="0" sz="734" u="none" cap="none" strike="noStrike">
              <a:solidFill>
                <a:schemeClr val="dk1"/>
              </a:solidFill>
              <a:latin typeface="Calibri"/>
              <a:ea typeface="Calibri"/>
              <a:cs typeface="Calibri"/>
              <a:sym typeface="Calibri"/>
            </a:endParaRPr>
          </a:p>
        </p:txBody>
      </p:sp>
      <p:sp>
        <p:nvSpPr>
          <p:cNvPr id="1034" name="Google Shape;1034;p17"/>
          <p:cNvSpPr/>
          <p:nvPr/>
        </p:nvSpPr>
        <p:spPr>
          <a:xfrm>
            <a:off x="5951637" y="3687570"/>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35" name="Google Shape;1035;p17"/>
          <p:cNvSpPr/>
          <p:nvPr/>
        </p:nvSpPr>
        <p:spPr>
          <a:xfrm>
            <a:off x="6865144" y="3687570"/>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1036" name="Google Shape;1036;p17"/>
          <p:cNvPicPr preferRelativeResize="0"/>
          <p:nvPr/>
        </p:nvPicPr>
        <p:blipFill rotWithShape="1">
          <a:blip r:embed="rId8">
            <a:alphaModFix/>
          </a:blip>
          <a:srcRect b="0" l="0" r="0" t="0"/>
          <a:stretch/>
        </p:blipFill>
        <p:spPr>
          <a:xfrm>
            <a:off x="7794724" y="3691142"/>
            <a:ext cx="114300" cy="114300"/>
          </a:xfrm>
          <a:prstGeom prst="rect">
            <a:avLst/>
          </a:prstGeom>
          <a:noFill/>
          <a:ln>
            <a:noFill/>
          </a:ln>
        </p:spPr>
      </p:pic>
      <p:pic>
        <p:nvPicPr>
          <p:cNvPr descr="preencoded.png" id="1037" name="Google Shape;1037;p17"/>
          <p:cNvPicPr preferRelativeResize="0"/>
          <p:nvPr/>
        </p:nvPicPr>
        <p:blipFill rotWithShape="1">
          <a:blip r:embed="rId8">
            <a:alphaModFix/>
          </a:blip>
          <a:srcRect b="0" l="0" r="0" t="0"/>
          <a:stretch/>
        </p:blipFill>
        <p:spPr>
          <a:xfrm>
            <a:off x="8459093" y="3691142"/>
            <a:ext cx="114300" cy="114300"/>
          </a:xfrm>
          <a:prstGeom prst="rect">
            <a:avLst/>
          </a:prstGeom>
          <a:noFill/>
          <a:ln>
            <a:noFill/>
          </a:ln>
        </p:spPr>
      </p:pic>
      <p:sp>
        <p:nvSpPr>
          <p:cNvPr id="1038" name="Google Shape;1038;p17"/>
          <p:cNvSpPr/>
          <p:nvPr/>
        </p:nvSpPr>
        <p:spPr>
          <a:xfrm>
            <a:off x="4614863" y="3862592"/>
            <a:ext cx="4114800" cy="350044"/>
          </a:xfrm>
          <a:prstGeom prst="rect">
            <a:avLst/>
          </a:prstGeom>
          <a:solidFill>
            <a:srgbClr val="FFFFFF">
              <a:alpha val="19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7"/>
          <p:cNvSpPr/>
          <p:nvPr/>
        </p:nvSpPr>
        <p:spPr>
          <a:xfrm>
            <a:off x="4614863" y="3862592"/>
            <a:ext cx="962620" cy="350044"/>
          </a:xfrm>
          <a:prstGeom prst="rect">
            <a:avLst/>
          </a:prstGeom>
          <a:noFill/>
          <a:ln>
            <a:noFill/>
          </a:ln>
        </p:spPr>
        <p:txBody>
          <a:bodyPr anchorCtr="0" anchor="ctr" bIns="51050" lIns="170050" spcFirstLastPara="1" rIns="102100" wrap="square" tIns="51050">
            <a:noAutofit/>
          </a:bodyPr>
          <a:lstStyle/>
          <a:p>
            <a:pPr indent="0" lvl="0" marL="0" marR="0" rtl="0" algn="l">
              <a:lnSpc>
                <a:spcPct val="136239"/>
              </a:lnSpc>
              <a:spcBef>
                <a:spcPts val="0"/>
              </a:spcBef>
              <a:spcAft>
                <a:spcPts val="0"/>
              </a:spcAft>
              <a:buClr>
                <a:srgbClr val="FFFFFF"/>
              </a:buClr>
              <a:buSzPts val="734"/>
              <a:buFont typeface="Inter"/>
              <a:buNone/>
            </a:pPr>
            <a:r>
              <a:rPr b="1" i="0" lang="en-US" sz="734" u="none" cap="none" strike="noStrike">
                <a:solidFill>
                  <a:srgbClr val="FFFFFF"/>
                </a:solidFill>
                <a:latin typeface="Inter"/>
                <a:ea typeface="Inter"/>
                <a:cs typeface="Inter"/>
                <a:sym typeface="Inter"/>
              </a:rPr>
              <a:t>Access checks</a:t>
            </a:r>
            <a:endParaRPr b="0" i="0" sz="734" u="none" cap="none" strike="noStrike">
              <a:solidFill>
                <a:schemeClr val="dk1"/>
              </a:solidFill>
              <a:latin typeface="Calibri"/>
              <a:ea typeface="Calibri"/>
              <a:cs typeface="Calibri"/>
              <a:sym typeface="Calibri"/>
            </a:endParaRPr>
          </a:p>
        </p:txBody>
      </p:sp>
      <p:sp>
        <p:nvSpPr>
          <p:cNvPr id="1040" name="Google Shape;1040;p17"/>
          <p:cNvSpPr/>
          <p:nvPr/>
        </p:nvSpPr>
        <p:spPr>
          <a:xfrm>
            <a:off x="5951637" y="3973320"/>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sp>
        <p:nvSpPr>
          <p:cNvPr id="1041" name="Google Shape;1041;p17"/>
          <p:cNvSpPr/>
          <p:nvPr/>
        </p:nvSpPr>
        <p:spPr>
          <a:xfrm>
            <a:off x="6865144" y="3973320"/>
            <a:ext cx="107156" cy="128588"/>
          </a:xfrm>
          <a:prstGeom prst="rect">
            <a:avLst/>
          </a:prstGeom>
          <a:noFill/>
          <a:ln>
            <a:noFill/>
          </a:ln>
        </p:spPr>
        <p:txBody>
          <a:bodyPr anchorCtr="0" anchor="t" bIns="0" lIns="0" spcFirstLastPara="1" rIns="0" wrap="square" tIns="0">
            <a:noAutofit/>
          </a:bodyPr>
          <a:lstStyle/>
          <a:p>
            <a:pPr indent="0" lvl="0" marL="0" marR="0" rtl="0" algn="ctr">
              <a:lnSpc>
                <a:spcPct val="136239"/>
              </a:lnSpc>
              <a:spcBef>
                <a:spcPts val="0"/>
              </a:spcBef>
              <a:spcAft>
                <a:spcPts val="0"/>
              </a:spcAft>
              <a:buClr>
                <a:srgbClr val="6B7280"/>
              </a:buClr>
              <a:buSzPts val="734"/>
              <a:buFont typeface="Inter"/>
              <a:buNone/>
            </a:pPr>
            <a:r>
              <a:rPr b="1" i="0" lang="en-US" sz="734" u="none" cap="none" strike="noStrike">
                <a:solidFill>
                  <a:srgbClr val="6B7280"/>
                </a:solidFill>
                <a:latin typeface="Inter"/>
                <a:ea typeface="Inter"/>
                <a:cs typeface="Inter"/>
                <a:sym typeface="Inter"/>
              </a:rPr>
              <a:t>—</a:t>
            </a:r>
            <a:endParaRPr b="0" i="0" sz="734" u="none" cap="none" strike="noStrike">
              <a:solidFill>
                <a:schemeClr val="dk1"/>
              </a:solidFill>
              <a:latin typeface="Calibri"/>
              <a:ea typeface="Calibri"/>
              <a:cs typeface="Calibri"/>
              <a:sym typeface="Calibri"/>
            </a:endParaRPr>
          </a:p>
        </p:txBody>
      </p:sp>
      <p:pic>
        <p:nvPicPr>
          <p:cNvPr descr="preencoded.png" id="1042" name="Google Shape;1042;p17"/>
          <p:cNvPicPr preferRelativeResize="0"/>
          <p:nvPr/>
        </p:nvPicPr>
        <p:blipFill rotWithShape="1">
          <a:blip r:embed="rId8">
            <a:alphaModFix/>
          </a:blip>
          <a:srcRect b="0" l="0" r="0" t="0"/>
          <a:stretch/>
        </p:blipFill>
        <p:spPr>
          <a:xfrm>
            <a:off x="7794724" y="3976892"/>
            <a:ext cx="114300" cy="114300"/>
          </a:xfrm>
          <a:prstGeom prst="rect">
            <a:avLst/>
          </a:prstGeom>
          <a:noFill/>
          <a:ln>
            <a:noFill/>
          </a:ln>
        </p:spPr>
      </p:pic>
      <p:pic>
        <p:nvPicPr>
          <p:cNvPr descr="preencoded.png" id="1043" name="Google Shape;1043;p17"/>
          <p:cNvPicPr preferRelativeResize="0"/>
          <p:nvPr/>
        </p:nvPicPr>
        <p:blipFill rotWithShape="1">
          <a:blip r:embed="rId8">
            <a:alphaModFix/>
          </a:blip>
          <a:srcRect b="0" l="0" r="0" t="0"/>
          <a:stretch/>
        </p:blipFill>
        <p:spPr>
          <a:xfrm>
            <a:off x="8459093" y="3976892"/>
            <a:ext cx="114300" cy="114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pic>
        <p:nvPicPr>
          <p:cNvPr descr="preencoded.png" id="1049" name="Google Shape;1049;p1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50" name="Google Shape;1050;p18"/>
          <p:cNvSpPr/>
          <p:nvPr/>
        </p:nvSpPr>
        <p:spPr>
          <a:xfrm>
            <a:off x="0" y="0"/>
            <a:ext cx="9144000" cy="85725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8"/>
          <p:cNvSpPr/>
          <p:nvPr/>
        </p:nvSpPr>
        <p:spPr>
          <a:xfrm>
            <a:off x="0" y="842963"/>
            <a:ext cx="9144000" cy="1428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8"/>
          <p:cNvSpPr/>
          <p:nvPr/>
        </p:nvSpPr>
        <p:spPr>
          <a:xfrm>
            <a:off x="428625" y="285750"/>
            <a:ext cx="8286750" cy="297163"/>
          </a:xfrm>
          <a:prstGeom prst="rect">
            <a:avLst/>
          </a:prstGeom>
          <a:noFill/>
          <a:ln>
            <a:noFill/>
          </a:ln>
        </p:spPr>
        <p:txBody>
          <a:bodyPr anchorCtr="0" anchor="t" bIns="0" lIns="0" spcFirstLastPara="1" rIns="0" wrap="square" tIns="0">
            <a:noAutofit/>
          </a:bodyPr>
          <a:lstStyle/>
          <a:p>
            <a:pPr indent="0" lvl="0" marL="0" marR="0" rtl="0" algn="l">
              <a:lnSpc>
                <a:spcPct val="143570"/>
              </a:lnSpc>
              <a:spcBef>
                <a:spcPts val="0"/>
              </a:spcBef>
              <a:spcAft>
                <a:spcPts val="0"/>
              </a:spcAft>
              <a:buClr>
                <a:srgbClr val="FFFFFF"/>
              </a:buClr>
              <a:buSzPts val="1602"/>
              <a:buFont typeface="Merriweather"/>
              <a:buNone/>
            </a:pPr>
            <a:r>
              <a:rPr b="1" i="0" lang="en-US" sz="1602" u="none" cap="none" strike="noStrike">
                <a:solidFill>
                  <a:srgbClr val="FFFFFF"/>
                </a:solidFill>
                <a:latin typeface="Merriweather"/>
                <a:ea typeface="Merriweather"/>
                <a:cs typeface="Merriweather"/>
                <a:sym typeface="Merriweather"/>
              </a:rPr>
              <a:t>Appendix: Four Live Demo Scenarios Showing the Platform in Action</a:t>
            </a:r>
            <a:endParaRPr b="0" i="0" sz="1602" u="none" cap="none" strike="noStrike">
              <a:solidFill>
                <a:schemeClr val="dk1"/>
              </a:solidFill>
              <a:latin typeface="Calibri"/>
              <a:ea typeface="Calibri"/>
              <a:cs typeface="Calibri"/>
              <a:sym typeface="Calibri"/>
            </a:endParaRPr>
          </a:p>
        </p:txBody>
      </p:sp>
      <p:sp>
        <p:nvSpPr>
          <p:cNvPr id="1053" name="Google Shape;1053;p18"/>
          <p:cNvSpPr/>
          <p:nvPr/>
        </p:nvSpPr>
        <p:spPr>
          <a:xfrm>
            <a:off x="428625" y="985838"/>
            <a:ext cx="4106875" cy="1935956"/>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8"/>
          <p:cNvSpPr/>
          <p:nvPr/>
        </p:nvSpPr>
        <p:spPr>
          <a:xfrm>
            <a:off x="428625" y="985838"/>
            <a:ext cx="4106875" cy="28575"/>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55" name="Google Shape;1055;p18"/>
          <p:cNvPicPr preferRelativeResize="0"/>
          <p:nvPr/>
        </p:nvPicPr>
        <p:blipFill rotWithShape="1">
          <a:blip r:embed="rId4">
            <a:alphaModFix/>
          </a:blip>
          <a:srcRect b="0" l="0" r="0" t="0"/>
          <a:stretch/>
        </p:blipFill>
        <p:spPr>
          <a:xfrm>
            <a:off x="542925" y="1076027"/>
            <a:ext cx="142875" cy="142875"/>
          </a:xfrm>
          <a:prstGeom prst="rect">
            <a:avLst/>
          </a:prstGeom>
          <a:noFill/>
          <a:ln>
            <a:noFill/>
          </a:ln>
        </p:spPr>
      </p:pic>
      <p:sp>
        <p:nvSpPr>
          <p:cNvPr id="1056" name="Google Shape;1056;p18"/>
          <p:cNvSpPr/>
          <p:nvPr/>
        </p:nvSpPr>
        <p:spPr>
          <a:xfrm>
            <a:off x="771525" y="1057275"/>
            <a:ext cx="1919883"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Merriweather"/>
              <a:buNone/>
            </a:pPr>
            <a:r>
              <a:rPr b="1" i="0" lang="en-US" sz="987" u="none" cap="none" strike="noStrike">
                <a:solidFill>
                  <a:srgbClr val="FFFFFF"/>
                </a:solidFill>
                <a:latin typeface="Merriweather"/>
                <a:ea typeface="Merriweather"/>
                <a:cs typeface="Merriweather"/>
                <a:sym typeface="Merriweather"/>
              </a:rPr>
              <a:t>Demo 1: Supervisor Startup</a:t>
            </a:r>
            <a:endParaRPr b="0" i="0" sz="987" u="none" cap="none" strike="noStrike">
              <a:solidFill>
                <a:schemeClr val="dk1"/>
              </a:solidFill>
              <a:latin typeface="Calibri"/>
              <a:ea typeface="Calibri"/>
              <a:cs typeface="Calibri"/>
              <a:sym typeface="Calibri"/>
            </a:endParaRPr>
          </a:p>
        </p:txBody>
      </p:sp>
      <p:sp>
        <p:nvSpPr>
          <p:cNvPr id="1057" name="Google Shape;1057;p18"/>
          <p:cNvSpPr/>
          <p:nvPr/>
        </p:nvSpPr>
        <p:spPr>
          <a:xfrm>
            <a:off x="542925" y="1387673"/>
            <a:ext cx="3878275" cy="1126927"/>
          </a:xfrm>
          <a:prstGeom prst="rect">
            <a:avLst/>
          </a:prstGeom>
          <a:solidFill>
            <a:srgbClr val="0D1B2A"/>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8"/>
          <p:cNvSpPr/>
          <p:nvPr/>
        </p:nvSpPr>
        <p:spPr>
          <a:xfrm>
            <a:off x="542925" y="1387673"/>
            <a:ext cx="3878275" cy="1126927"/>
          </a:xfrm>
          <a:prstGeom prst="rect">
            <a:avLst/>
          </a:prstGeom>
          <a:noFill/>
          <a:ln>
            <a:noFill/>
          </a:ln>
        </p:spPr>
        <p:txBody>
          <a:bodyPr anchorCtr="0" anchor="t" bIns="0" lIns="85075" spcFirstLastPara="1" rIns="85075" wrap="square" tIns="85075">
            <a:noAutofit/>
          </a:bodyPr>
          <a:lstStyle/>
          <a:p>
            <a:pPr indent="0" lvl="0" marL="0" marR="0" rtl="0" algn="l">
              <a:lnSpc>
                <a:spcPct val="165061"/>
              </a:lnSpc>
              <a:spcBef>
                <a:spcPts val="0"/>
              </a:spcBef>
              <a:spcAft>
                <a:spcPts val="0"/>
              </a:spcAft>
              <a:buClr>
                <a:srgbClr val="F59E0B"/>
              </a:buClr>
              <a:buSzPts val="683"/>
              <a:buFont typeface="Courier New"/>
              <a:buNone/>
            </a:pPr>
            <a:r>
              <a:rPr b="1" i="0" lang="en-US" sz="683" u="none" cap="none" strike="noStrike">
                <a:solidFill>
                  <a:srgbClr val="F59E0B"/>
                </a:solidFill>
                <a:latin typeface="Courier New"/>
                <a:ea typeface="Courier New"/>
                <a:cs typeface="Courier New"/>
                <a:sym typeface="Courier New"/>
              </a:rPr>
              <a:t>$</a:t>
            </a:r>
            <a:r>
              <a:rPr b="0" i="0" lang="en-US" sz="727" u="none" cap="none" strike="noStrike">
                <a:solidFill>
                  <a:srgbClr val="E0E0E0"/>
                </a:solidFill>
                <a:latin typeface="Courier New"/>
                <a:ea typeface="Courier New"/>
                <a:cs typeface="Courier New"/>
                <a:sym typeface="Courier New"/>
              </a:rPr>
              <a:t> </a:t>
            </a:r>
            <a:r>
              <a:rPr b="0" i="0" lang="en-US" sz="727" u="none" cap="none" strike="noStrike">
                <a:solidFill>
                  <a:srgbClr val="00E5FF"/>
                </a:solidFill>
                <a:latin typeface="Courier New"/>
                <a:ea typeface="Courier New"/>
                <a:cs typeface="Courier New"/>
                <a:sym typeface="Courier New"/>
              </a:rPr>
              <a:t>./supervisor</a:t>
            </a:r>
            <a:r>
              <a:rPr b="0" i="0" lang="en-US" sz="727" u="none" cap="none" strike="noStrike">
                <a:solidFill>
                  <a:srgbClr val="E0E0E0"/>
                </a:solidFill>
                <a:latin typeface="Courier New"/>
                <a:ea typeface="Courier New"/>
                <a:cs typeface="Courier New"/>
                <a:sym typeface="Courier New"/>
              </a:rPr>
              <a:t> --mode=full --config=/etc/opamp/supervisor.yaml</a:t>
            </a:r>
            <a:br>
              <a:rPr b="0" i="0" lang="en-US" sz="727" u="none" cap="none" strike="noStrike">
                <a:solidFill>
                  <a:srgbClr val="E0E0E0"/>
                </a:solidFill>
                <a:latin typeface="Courier New"/>
                <a:ea typeface="Courier New"/>
                <a:cs typeface="Courier New"/>
                <a:sym typeface="Courier New"/>
              </a:rPr>
            </a:br>
            <a:r>
              <a:rPr b="0" i="0" lang="en-US" sz="727" u="none" cap="none" strike="noStrike">
                <a:solidFill>
                  <a:srgbClr val="00E676"/>
                </a:solidFill>
                <a:latin typeface="Courier New"/>
                <a:ea typeface="Courier New"/>
                <a:cs typeface="Courier New"/>
                <a:sym typeface="Courier New"/>
              </a:rPr>
              <a:t>INFO</a:t>
            </a:r>
            <a:r>
              <a:rPr b="0" i="0" lang="en-US" sz="727" u="none" cap="none" strike="noStrike">
                <a:solidFill>
                  <a:srgbClr val="E0E0E0"/>
                </a:solidFill>
                <a:latin typeface="Courier New"/>
                <a:ea typeface="Courier New"/>
                <a:cs typeface="Courier New"/>
                <a:sym typeface="Courier New"/>
              </a:rPr>
              <a:t>  Connected: node-001 registered</a:t>
            </a:r>
            <a:br>
              <a:rPr b="0" i="0" lang="en-US" sz="727" u="none" cap="none" strike="noStrike">
                <a:solidFill>
                  <a:srgbClr val="E0E0E0"/>
                </a:solidFill>
                <a:latin typeface="Courier New"/>
                <a:ea typeface="Courier New"/>
                <a:cs typeface="Courier New"/>
                <a:sym typeface="Courier New"/>
              </a:rPr>
            </a:br>
            <a:r>
              <a:rPr b="0" i="0" lang="en-US" sz="727" u="none" cap="none" strike="noStrike">
                <a:solidFill>
                  <a:srgbClr val="00E676"/>
                </a:solidFill>
                <a:latin typeface="Courier New"/>
                <a:ea typeface="Courier New"/>
                <a:cs typeface="Courier New"/>
                <a:sym typeface="Courier New"/>
              </a:rPr>
              <a:t>INFO</a:t>
            </a:r>
            <a:r>
              <a:rPr b="0" i="0" lang="en-US" sz="727" u="none" cap="none" strike="noStrike">
                <a:solidFill>
                  <a:srgbClr val="E0E0E0"/>
                </a:solidFill>
                <a:latin typeface="Courier New"/>
                <a:ea typeface="Courier New"/>
                <a:cs typeface="Courier New"/>
                <a:sym typeface="Courier New"/>
              </a:rPr>
              <a:t>  Received config update, applying...</a:t>
            </a:r>
            <a:br>
              <a:rPr b="0" i="0" lang="en-US" sz="727" u="none" cap="none" strike="noStrike">
                <a:solidFill>
                  <a:srgbClr val="E0E0E0"/>
                </a:solidFill>
                <a:latin typeface="Courier New"/>
                <a:ea typeface="Courier New"/>
                <a:cs typeface="Courier New"/>
                <a:sym typeface="Courier New"/>
              </a:rPr>
            </a:br>
            <a:r>
              <a:rPr b="0" i="0" lang="en-US" sz="727" u="none" cap="none" strike="noStrike">
                <a:solidFill>
                  <a:srgbClr val="00E676"/>
                </a:solidFill>
                <a:latin typeface="Courier New"/>
                <a:ea typeface="Courier New"/>
                <a:cs typeface="Courier New"/>
                <a:sym typeface="Courier New"/>
              </a:rPr>
              <a:t>INFO</a:t>
            </a:r>
            <a:r>
              <a:rPr b="0" i="0" lang="en-US" sz="727" u="none" cap="none" strike="noStrike">
                <a:solidFill>
                  <a:srgbClr val="E0E0E0"/>
                </a:solidFill>
                <a:latin typeface="Courier New"/>
                <a:ea typeface="Courier New"/>
                <a:cs typeface="Courier New"/>
                <a:sym typeface="Courier New"/>
              </a:rPr>
              <a:t>  All agents healthy</a:t>
            </a:r>
            <a:endParaRPr b="0" i="0" sz="683" u="none" cap="none" strike="noStrike">
              <a:solidFill>
                <a:schemeClr val="dk1"/>
              </a:solidFill>
              <a:latin typeface="Calibri"/>
              <a:ea typeface="Calibri"/>
              <a:cs typeface="Calibri"/>
              <a:sym typeface="Calibri"/>
            </a:endParaRPr>
          </a:p>
        </p:txBody>
      </p:sp>
      <p:sp>
        <p:nvSpPr>
          <p:cNvPr id="1059" name="Google Shape;1059;p18"/>
          <p:cNvSpPr/>
          <p:nvPr/>
        </p:nvSpPr>
        <p:spPr>
          <a:xfrm>
            <a:off x="542925" y="2600325"/>
            <a:ext cx="3863987" cy="235744"/>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8"/>
          <p:cNvSpPr/>
          <p:nvPr/>
        </p:nvSpPr>
        <p:spPr>
          <a:xfrm>
            <a:off x="542925" y="2600325"/>
            <a:ext cx="21431" cy="235744"/>
          </a:xfrm>
          <a:prstGeom prst="rect">
            <a:avLst/>
          </a:prstGeom>
          <a:solidFill>
            <a:srgbClr val="00E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8"/>
          <p:cNvSpPr/>
          <p:nvPr/>
        </p:nvSpPr>
        <p:spPr>
          <a:xfrm>
            <a:off x="628650" y="2665512"/>
            <a:ext cx="526852" cy="105370"/>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00E5FF"/>
              </a:buClr>
              <a:buSzPts val="584"/>
              <a:buFont typeface="Inter"/>
              <a:buNone/>
            </a:pPr>
            <a:r>
              <a:rPr b="1" i="0" lang="en-US" sz="584" u="none" cap="none" strike="noStrike">
                <a:solidFill>
                  <a:srgbClr val="00E5FF"/>
                </a:solidFill>
                <a:latin typeface="Inter"/>
                <a:ea typeface="Inter"/>
                <a:cs typeface="Inter"/>
                <a:sym typeface="Inter"/>
              </a:rPr>
              <a:t>OUTCOME:</a:t>
            </a:r>
            <a:endParaRPr b="0" i="0" sz="584" u="none" cap="none" strike="noStrike">
              <a:solidFill>
                <a:schemeClr val="dk1"/>
              </a:solidFill>
              <a:latin typeface="Calibri"/>
              <a:ea typeface="Calibri"/>
              <a:cs typeface="Calibri"/>
              <a:sym typeface="Calibri"/>
            </a:endParaRPr>
          </a:p>
        </p:txBody>
      </p:sp>
      <p:sp>
        <p:nvSpPr>
          <p:cNvPr id="1062" name="Google Shape;1062;p18"/>
          <p:cNvSpPr/>
          <p:nvPr/>
        </p:nvSpPr>
        <p:spPr>
          <a:xfrm>
            <a:off x="1226939" y="2657475"/>
            <a:ext cx="2539603" cy="121444"/>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Node registers, receives config, starts agents in &lt;30s</a:t>
            </a:r>
            <a:endParaRPr b="0" i="0" sz="727" u="none" cap="none" strike="noStrike">
              <a:solidFill>
                <a:schemeClr val="dk1"/>
              </a:solidFill>
              <a:latin typeface="Calibri"/>
              <a:ea typeface="Calibri"/>
              <a:cs typeface="Calibri"/>
              <a:sym typeface="Calibri"/>
            </a:endParaRPr>
          </a:p>
        </p:txBody>
      </p:sp>
      <p:sp>
        <p:nvSpPr>
          <p:cNvPr id="1063" name="Google Shape;1063;p18"/>
          <p:cNvSpPr/>
          <p:nvPr/>
        </p:nvSpPr>
        <p:spPr>
          <a:xfrm>
            <a:off x="4664087" y="985838"/>
            <a:ext cx="4051288" cy="1935956"/>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8"/>
          <p:cNvSpPr/>
          <p:nvPr/>
        </p:nvSpPr>
        <p:spPr>
          <a:xfrm>
            <a:off x="4664087" y="985838"/>
            <a:ext cx="4051288" cy="28575"/>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65" name="Google Shape;1065;p18"/>
          <p:cNvPicPr preferRelativeResize="0"/>
          <p:nvPr/>
        </p:nvPicPr>
        <p:blipFill rotWithShape="1">
          <a:blip r:embed="rId5">
            <a:alphaModFix/>
          </a:blip>
          <a:srcRect b="0" l="0" r="0" t="0"/>
          <a:stretch/>
        </p:blipFill>
        <p:spPr>
          <a:xfrm>
            <a:off x="4778387" y="1076027"/>
            <a:ext cx="178594" cy="142875"/>
          </a:xfrm>
          <a:prstGeom prst="rect">
            <a:avLst/>
          </a:prstGeom>
          <a:noFill/>
          <a:ln>
            <a:noFill/>
          </a:ln>
        </p:spPr>
      </p:pic>
      <p:sp>
        <p:nvSpPr>
          <p:cNvPr id="1066" name="Google Shape;1066;p18"/>
          <p:cNvSpPr/>
          <p:nvPr/>
        </p:nvSpPr>
        <p:spPr>
          <a:xfrm>
            <a:off x="5042706" y="1057275"/>
            <a:ext cx="1878806"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Merriweather"/>
              <a:buNone/>
            </a:pPr>
            <a:r>
              <a:rPr b="1" i="0" lang="en-US" sz="987" u="none" cap="none" strike="noStrike">
                <a:solidFill>
                  <a:srgbClr val="FFFFFF"/>
                </a:solidFill>
                <a:latin typeface="Merriweather"/>
                <a:ea typeface="Merriweather"/>
                <a:cs typeface="Merriweather"/>
                <a:sym typeface="Merriweather"/>
              </a:rPr>
              <a:t>Demo 2: SDK Secret Access</a:t>
            </a:r>
            <a:endParaRPr b="0" i="0" sz="987" u="none" cap="none" strike="noStrike">
              <a:solidFill>
                <a:schemeClr val="dk1"/>
              </a:solidFill>
              <a:latin typeface="Calibri"/>
              <a:ea typeface="Calibri"/>
              <a:cs typeface="Calibri"/>
              <a:sym typeface="Calibri"/>
            </a:endParaRPr>
          </a:p>
        </p:txBody>
      </p:sp>
      <p:sp>
        <p:nvSpPr>
          <p:cNvPr id="1067" name="Google Shape;1067;p18"/>
          <p:cNvSpPr/>
          <p:nvPr/>
        </p:nvSpPr>
        <p:spPr>
          <a:xfrm>
            <a:off x="4778387" y="1387673"/>
            <a:ext cx="3822688" cy="1126927"/>
          </a:xfrm>
          <a:prstGeom prst="rect">
            <a:avLst/>
          </a:prstGeom>
          <a:solidFill>
            <a:srgbClr val="0D1B2A"/>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8"/>
          <p:cNvSpPr/>
          <p:nvPr/>
        </p:nvSpPr>
        <p:spPr>
          <a:xfrm>
            <a:off x="4778387" y="1387673"/>
            <a:ext cx="3822688" cy="1126927"/>
          </a:xfrm>
          <a:prstGeom prst="rect">
            <a:avLst/>
          </a:prstGeom>
          <a:noFill/>
          <a:ln>
            <a:noFill/>
          </a:ln>
        </p:spPr>
        <p:txBody>
          <a:bodyPr anchorCtr="0" anchor="t" bIns="0" lIns="85075" spcFirstLastPara="1" rIns="85075" wrap="square" tIns="85075">
            <a:noAutofit/>
          </a:bodyPr>
          <a:lstStyle/>
          <a:p>
            <a:pPr indent="0" lvl="0" marL="0" marR="0" rtl="0" algn="l">
              <a:lnSpc>
                <a:spcPct val="165061"/>
              </a:lnSpc>
              <a:spcBef>
                <a:spcPts val="0"/>
              </a:spcBef>
              <a:spcAft>
                <a:spcPts val="0"/>
              </a:spcAft>
              <a:buClr>
                <a:srgbClr val="E0E0E0"/>
              </a:buClr>
              <a:buSzPts val="727"/>
              <a:buFont typeface="Courier New"/>
              <a:buNone/>
            </a:pPr>
            <a:r>
              <a:rPr b="0" i="0" lang="en-US" sz="727" u="none" cap="none" strike="noStrike">
                <a:solidFill>
                  <a:srgbClr val="E0E0E0"/>
                </a:solidFill>
                <a:latin typeface="Courier New"/>
                <a:ea typeface="Courier New"/>
                <a:cs typeface="Courier New"/>
                <a:sym typeface="Courier New"/>
              </a:rPr>
              <a:t>client = </a:t>
            </a:r>
            <a:r>
              <a:rPr b="0" i="0" lang="en-US" sz="727" u="none" cap="none" strike="noStrike">
                <a:solidFill>
                  <a:srgbClr val="3B82F6"/>
                </a:solidFill>
                <a:latin typeface="Courier New"/>
                <a:ea typeface="Courier New"/>
                <a:cs typeface="Courier New"/>
                <a:sym typeface="Courier New"/>
              </a:rPr>
              <a:t>SecretsClient</a:t>
            </a:r>
            <a:r>
              <a:rPr b="0" i="0" lang="en-US" sz="727" u="none" cap="none" strike="noStrike">
                <a:solidFill>
                  <a:srgbClr val="E0E0E0"/>
                </a:solidFill>
                <a:latin typeface="Courier New"/>
                <a:ea typeface="Courier New"/>
                <a:cs typeface="Courier New"/>
                <a:sym typeface="Courier New"/>
              </a:rPr>
              <a:t>()</a:t>
            </a:r>
            <a:br>
              <a:rPr b="0" i="0" lang="en-US" sz="727" u="none" cap="none" strike="noStrike">
                <a:solidFill>
                  <a:srgbClr val="E0E0E0"/>
                </a:solidFill>
                <a:latin typeface="Courier New"/>
                <a:ea typeface="Courier New"/>
                <a:cs typeface="Courier New"/>
                <a:sym typeface="Courier New"/>
              </a:rPr>
            </a:br>
            <a:r>
              <a:rPr b="0" i="0" lang="en-US" sz="727" u="none" cap="none" strike="noStrike">
                <a:solidFill>
                  <a:srgbClr val="E0E0E0"/>
                </a:solidFill>
                <a:latin typeface="Courier New"/>
                <a:ea typeface="Courier New"/>
                <a:cs typeface="Courier New"/>
                <a:sym typeface="Courier New"/>
              </a:rPr>
              <a:t>secret = </a:t>
            </a:r>
            <a:r>
              <a:rPr b="1" i="0" lang="en-US" sz="683" u="none" cap="none" strike="noStrike">
                <a:solidFill>
                  <a:srgbClr val="F59E0B"/>
                </a:solidFill>
                <a:latin typeface="Courier New"/>
                <a:ea typeface="Courier New"/>
                <a:cs typeface="Courier New"/>
                <a:sym typeface="Courier New"/>
              </a:rPr>
              <a:t>await</a:t>
            </a:r>
            <a:r>
              <a:rPr b="0" i="0" lang="en-US" sz="727" u="none" cap="none" strike="noStrike">
                <a:solidFill>
                  <a:srgbClr val="E0E0E0"/>
                </a:solidFill>
                <a:latin typeface="Courier New"/>
                <a:ea typeface="Courier New"/>
                <a:cs typeface="Courier New"/>
                <a:sym typeface="Courier New"/>
              </a:rPr>
              <a:t> client.</a:t>
            </a:r>
            <a:r>
              <a:rPr b="0" i="0" lang="en-US" sz="727" u="none" cap="none" strike="noStrike">
                <a:solidFill>
                  <a:srgbClr val="3B82F6"/>
                </a:solidFill>
                <a:latin typeface="Courier New"/>
                <a:ea typeface="Courier New"/>
                <a:cs typeface="Courier New"/>
                <a:sym typeface="Courier New"/>
              </a:rPr>
              <a:t>get</a:t>
            </a:r>
            <a:r>
              <a:rPr b="0" i="0" lang="en-US" sz="727" u="none" cap="none" strike="noStrike">
                <a:solidFill>
                  <a:srgbClr val="E0E0E0"/>
                </a:solidFill>
                <a:latin typeface="Courier New"/>
                <a:ea typeface="Courier New"/>
                <a:cs typeface="Courier New"/>
                <a:sym typeface="Courier New"/>
              </a:rPr>
              <a:t>(</a:t>
            </a:r>
            <a:r>
              <a:rPr b="0" i="0" lang="en-US" sz="727" u="none" cap="none" strike="noStrike">
                <a:solidFill>
                  <a:srgbClr val="00E676"/>
                </a:solidFill>
                <a:latin typeface="Courier New"/>
                <a:ea typeface="Courier New"/>
                <a:cs typeface="Courier New"/>
                <a:sym typeface="Courier New"/>
              </a:rPr>
              <a:t>"database-password"</a:t>
            </a:r>
            <a:r>
              <a:rPr b="0" i="0" lang="en-US" sz="727" u="none" cap="none" strike="noStrike">
                <a:solidFill>
                  <a:srgbClr val="E0E0E0"/>
                </a:solidFill>
                <a:latin typeface="Courier New"/>
                <a:ea typeface="Courier New"/>
                <a:cs typeface="Courier New"/>
                <a:sym typeface="Courier New"/>
              </a:rPr>
              <a:t>)</a:t>
            </a:r>
            <a:br>
              <a:rPr b="0" i="0" lang="en-US" sz="727" u="none" cap="none" strike="noStrike">
                <a:solidFill>
                  <a:srgbClr val="E0E0E0"/>
                </a:solidFill>
                <a:latin typeface="Courier New"/>
                <a:ea typeface="Courier New"/>
                <a:cs typeface="Courier New"/>
                <a:sym typeface="Courier New"/>
              </a:rPr>
            </a:br>
            <a:r>
              <a:rPr b="0" i="1" lang="en-US" sz="727" u="none" cap="none" strike="noStrike">
                <a:solidFill>
                  <a:srgbClr val="6B7280"/>
                </a:solidFill>
                <a:latin typeface="Courier New"/>
                <a:ea typeface="Courier New"/>
                <a:cs typeface="Courier New"/>
                <a:sym typeface="Courier New"/>
              </a:rPr>
              <a:t># Watch for rotation</a:t>
            </a:r>
            <a:br>
              <a:rPr b="0" i="0" lang="en-US" sz="727" u="none" cap="none" strike="noStrike">
                <a:solidFill>
                  <a:srgbClr val="E0E0E0"/>
                </a:solidFill>
                <a:latin typeface="Courier New"/>
                <a:ea typeface="Courier New"/>
                <a:cs typeface="Courier New"/>
                <a:sym typeface="Courier New"/>
              </a:rPr>
            </a:br>
            <a:r>
              <a:rPr b="1" i="0" lang="en-US" sz="683" u="none" cap="none" strike="noStrike">
                <a:solidFill>
                  <a:srgbClr val="F59E0B"/>
                </a:solidFill>
                <a:latin typeface="Courier New"/>
                <a:ea typeface="Courier New"/>
                <a:cs typeface="Courier New"/>
                <a:sym typeface="Courier New"/>
              </a:rPr>
              <a:t>async for</a:t>
            </a:r>
            <a:r>
              <a:rPr b="0" i="0" lang="en-US" sz="727" u="none" cap="none" strike="noStrike">
                <a:solidFill>
                  <a:srgbClr val="E0E0E0"/>
                </a:solidFill>
                <a:latin typeface="Courier New"/>
                <a:ea typeface="Courier New"/>
                <a:cs typeface="Courier New"/>
                <a:sym typeface="Courier New"/>
              </a:rPr>
              <a:t> update </a:t>
            </a:r>
            <a:r>
              <a:rPr b="1" i="0" lang="en-US" sz="683" u="none" cap="none" strike="noStrike">
                <a:solidFill>
                  <a:srgbClr val="F59E0B"/>
                </a:solidFill>
                <a:latin typeface="Courier New"/>
                <a:ea typeface="Courier New"/>
                <a:cs typeface="Courier New"/>
                <a:sym typeface="Courier New"/>
              </a:rPr>
              <a:t>in</a:t>
            </a:r>
            <a:r>
              <a:rPr b="0" i="0" lang="en-US" sz="727" u="none" cap="none" strike="noStrike">
                <a:solidFill>
                  <a:srgbClr val="E0E0E0"/>
                </a:solidFill>
                <a:latin typeface="Courier New"/>
                <a:ea typeface="Courier New"/>
                <a:cs typeface="Courier New"/>
                <a:sym typeface="Courier New"/>
              </a:rPr>
              <a:t> client.</a:t>
            </a:r>
            <a:r>
              <a:rPr b="0" i="0" lang="en-US" sz="727" u="none" cap="none" strike="noStrike">
                <a:solidFill>
                  <a:srgbClr val="3B82F6"/>
                </a:solidFill>
                <a:latin typeface="Courier New"/>
                <a:ea typeface="Courier New"/>
                <a:cs typeface="Courier New"/>
                <a:sym typeface="Courier New"/>
              </a:rPr>
              <a:t>watch</a:t>
            </a:r>
            <a:r>
              <a:rPr b="0" i="0" lang="en-US" sz="727" u="none" cap="none" strike="noStrike">
                <a:solidFill>
                  <a:srgbClr val="E0E0E0"/>
                </a:solidFill>
                <a:latin typeface="Courier New"/>
                <a:ea typeface="Courier New"/>
                <a:cs typeface="Courier New"/>
                <a:sym typeface="Courier New"/>
              </a:rPr>
              <a:t>(</a:t>
            </a:r>
            <a:r>
              <a:rPr b="0" i="0" lang="en-US" sz="727" u="none" cap="none" strike="noStrike">
                <a:solidFill>
                  <a:srgbClr val="00E676"/>
                </a:solidFill>
                <a:latin typeface="Courier New"/>
                <a:ea typeface="Courier New"/>
                <a:cs typeface="Courier New"/>
                <a:sym typeface="Courier New"/>
              </a:rPr>
              <a:t>"database-password"</a:t>
            </a:r>
            <a:r>
              <a:rPr b="0" i="0" lang="en-US" sz="727" u="none" cap="none" strike="noStrike">
                <a:solidFill>
                  <a:srgbClr val="E0E0E0"/>
                </a:solidFill>
                <a:latin typeface="Courier New"/>
                <a:ea typeface="Courier New"/>
                <a:cs typeface="Courier New"/>
                <a:sym typeface="Courier New"/>
              </a:rPr>
              <a:t>):</a:t>
            </a:r>
            <a:br>
              <a:rPr b="0" i="0" lang="en-US" sz="727" u="none" cap="none" strike="noStrike">
                <a:solidFill>
                  <a:srgbClr val="E0E0E0"/>
                </a:solidFill>
                <a:latin typeface="Courier New"/>
                <a:ea typeface="Courier New"/>
                <a:cs typeface="Courier New"/>
                <a:sym typeface="Courier New"/>
              </a:rPr>
            </a:br>
            <a:r>
              <a:rPr b="0" i="0" lang="en-US" sz="727" u="none" cap="none" strike="noStrike">
                <a:solidFill>
                  <a:srgbClr val="E0E0E0"/>
                </a:solidFill>
                <a:latin typeface="Courier New"/>
                <a:ea typeface="Courier New"/>
                <a:cs typeface="Courier New"/>
                <a:sym typeface="Courier New"/>
              </a:rPr>
              <a:t>    </a:t>
            </a:r>
            <a:r>
              <a:rPr b="0" i="0" lang="en-US" sz="727" u="none" cap="none" strike="noStrike">
                <a:solidFill>
                  <a:srgbClr val="3B82F6"/>
                </a:solidFill>
                <a:latin typeface="Courier New"/>
                <a:ea typeface="Courier New"/>
                <a:cs typeface="Courier New"/>
                <a:sym typeface="Courier New"/>
              </a:rPr>
              <a:t>print</a:t>
            </a:r>
            <a:r>
              <a:rPr b="0" i="0" lang="en-US" sz="727" u="none" cap="none" strike="noStrike">
                <a:solidFill>
                  <a:srgbClr val="E0E0E0"/>
                </a:solidFill>
                <a:latin typeface="Courier New"/>
                <a:ea typeface="Courier New"/>
                <a:cs typeface="Courier New"/>
                <a:sym typeface="Courier New"/>
              </a:rPr>
              <a:t>(f</a:t>
            </a:r>
            <a:r>
              <a:rPr b="0" i="0" lang="en-US" sz="727" u="none" cap="none" strike="noStrike">
                <a:solidFill>
                  <a:srgbClr val="00E676"/>
                </a:solidFill>
                <a:latin typeface="Courier New"/>
                <a:ea typeface="Courier New"/>
                <a:cs typeface="Courier New"/>
                <a:sym typeface="Courier New"/>
              </a:rPr>
              <a:t>"Rotated! Version: {update.version}"</a:t>
            </a:r>
            <a:r>
              <a:rPr b="0" i="0" lang="en-US" sz="727" u="none" cap="none" strike="noStrike">
                <a:solidFill>
                  <a:srgbClr val="E0E0E0"/>
                </a:solidFill>
                <a:latin typeface="Courier New"/>
                <a:ea typeface="Courier New"/>
                <a:cs typeface="Courier New"/>
                <a:sym typeface="Courier New"/>
              </a:rPr>
              <a:t>)</a:t>
            </a:r>
            <a:endParaRPr b="0" i="0" sz="727" u="none" cap="none" strike="noStrike">
              <a:solidFill>
                <a:schemeClr val="dk1"/>
              </a:solidFill>
              <a:latin typeface="Calibri"/>
              <a:ea typeface="Calibri"/>
              <a:cs typeface="Calibri"/>
              <a:sym typeface="Calibri"/>
            </a:endParaRPr>
          </a:p>
        </p:txBody>
      </p:sp>
      <p:sp>
        <p:nvSpPr>
          <p:cNvPr id="1069" name="Google Shape;1069;p18"/>
          <p:cNvSpPr/>
          <p:nvPr/>
        </p:nvSpPr>
        <p:spPr>
          <a:xfrm>
            <a:off x="4778387" y="2600325"/>
            <a:ext cx="3822688" cy="235744"/>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8"/>
          <p:cNvSpPr/>
          <p:nvPr/>
        </p:nvSpPr>
        <p:spPr>
          <a:xfrm>
            <a:off x="4778387" y="2600325"/>
            <a:ext cx="21431" cy="235744"/>
          </a:xfrm>
          <a:prstGeom prst="rect">
            <a:avLst/>
          </a:prstGeom>
          <a:solidFill>
            <a:srgbClr val="00E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8"/>
          <p:cNvSpPr/>
          <p:nvPr/>
        </p:nvSpPr>
        <p:spPr>
          <a:xfrm>
            <a:off x="4864112" y="2665512"/>
            <a:ext cx="526852" cy="105370"/>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00E676"/>
              </a:buClr>
              <a:buSzPts val="584"/>
              <a:buFont typeface="Inter"/>
              <a:buNone/>
            </a:pPr>
            <a:r>
              <a:rPr b="1" i="0" lang="en-US" sz="584" u="none" cap="none" strike="noStrike">
                <a:solidFill>
                  <a:srgbClr val="00E676"/>
                </a:solidFill>
                <a:latin typeface="Inter"/>
                <a:ea typeface="Inter"/>
                <a:cs typeface="Inter"/>
                <a:sym typeface="Inter"/>
              </a:rPr>
              <a:t>OUTCOME:</a:t>
            </a:r>
            <a:endParaRPr b="0" i="0" sz="584" u="none" cap="none" strike="noStrike">
              <a:solidFill>
                <a:schemeClr val="dk1"/>
              </a:solidFill>
              <a:latin typeface="Calibri"/>
              <a:ea typeface="Calibri"/>
              <a:cs typeface="Calibri"/>
              <a:sym typeface="Calibri"/>
            </a:endParaRPr>
          </a:p>
        </p:txBody>
      </p:sp>
      <p:sp>
        <p:nvSpPr>
          <p:cNvPr id="1072" name="Google Shape;1072;p18"/>
          <p:cNvSpPr/>
          <p:nvPr/>
        </p:nvSpPr>
        <p:spPr>
          <a:xfrm>
            <a:off x="5462401" y="2657475"/>
            <a:ext cx="2573536" cy="121444"/>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Secret access in &lt;50ms, real-time rotation notification</a:t>
            </a:r>
            <a:endParaRPr b="0" i="0" sz="727" u="none" cap="none" strike="noStrike">
              <a:solidFill>
                <a:schemeClr val="dk1"/>
              </a:solidFill>
              <a:latin typeface="Calibri"/>
              <a:ea typeface="Calibri"/>
              <a:cs typeface="Calibri"/>
              <a:sym typeface="Calibri"/>
            </a:endParaRPr>
          </a:p>
        </p:txBody>
      </p:sp>
      <p:sp>
        <p:nvSpPr>
          <p:cNvPr id="1073" name="Google Shape;1073;p18"/>
          <p:cNvSpPr/>
          <p:nvPr/>
        </p:nvSpPr>
        <p:spPr>
          <a:xfrm>
            <a:off x="428625" y="3064669"/>
            <a:ext cx="4092587" cy="1935956"/>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8"/>
          <p:cNvSpPr/>
          <p:nvPr/>
        </p:nvSpPr>
        <p:spPr>
          <a:xfrm>
            <a:off x="428625" y="3064669"/>
            <a:ext cx="4092587" cy="28575"/>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5" name="Google Shape;1075;p18"/>
          <p:cNvPicPr preferRelativeResize="0"/>
          <p:nvPr/>
        </p:nvPicPr>
        <p:blipFill rotWithShape="1">
          <a:blip r:embed="rId6">
            <a:alphaModFix/>
          </a:blip>
          <a:srcRect b="0" l="0" r="0" t="0"/>
          <a:stretch/>
        </p:blipFill>
        <p:spPr>
          <a:xfrm>
            <a:off x="542925" y="3154859"/>
            <a:ext cx="107156" cy="142875"/>
          </a:xfrm>
          <a:prstGeom prst="rect">
            <a:avLst/>
          </a:prstGeom>
          <a:noFill/>
          <a:ln>
            <a:noFill/>
          </a:ln>
        </p:spPr>
      </p:pic>
      <p:sp>
        <p:nvSpPr>
          <p:cNvPr id="1076" name="Google Shape;1076;p18"/>
          <p:cNvSpPr/>
          <p:nvPr/>
        </p:nvSpPr>
        <p:spPr>
          <a:xfrm>
            <a:off x="735806" y="3136106"/>
            <a:ext cx="1603772"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Merriweather"/>
              <a:buNone/>
            </a:pPr>
            <a:r>
              <a:rPr b="1" i="0" lang="en-US" sz="987" u="none" cap="none" strike="noStrike">
                <a:solidFill>
                  <a:srgbClr val="FFFFFF"/>
                </a:solidFill>
                <a:latin typeface="Merriweather"/>
                <a:ea typeface="Merriweather"/>
                <a:cs typeface="Merriweather"/>
                <a:sym typeface="Merriweather"/>
              </a:rPr>
              <a:t>Demo 3: SVID Issuance</a:t>
            </a:r>
            <a:endParaRPr b="0" i="0" sz="987" u="none" cap="none" strike="noStrike">
              <a:solidFill>
                <a:schemeClr val="dk1"/>
              </a:solidFill>
              <a:latin typeface="Calibri"/>
              <a:ea typeface="Calibri"/>
              <a:cs typeface="Calibri"/>
              <a:sym typeface="Calibri"/>
            </a:endParaRPr>
          </a:p>
        </p:txBody>
      </p:sp>
      <p:sp>
        <p:nvSpPr>
          <p:cNvPr id="1077" name="Google Shape;1077;p18"/>
          <p:cNvSpPr/>
          <p:nvPr/>
        </p:nvSpPr>
        <p:spPr>
          <a:xfrm>
            <a:off x="542925" y="3466505"/>
            <a:ext cx="3863987" cy="1126927"/>
          </a:xfrm>
          <a:prstGeom prst="rect">
            <a:avLst/>
          </a:prstGeom>
          <a:solidFill>
            <a:srgbClr val="0D1B2A"/>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8"/>
          <p:cNvSpPr/>
          <p:nvPr/>
        </p:nvSpPr>
        <p:spPr>
          <a:xfrm>
            <a:off x="542925" y="3466505"/>
            <a:ext cx="3863987" cy="1126927"/>
          </a:xfrm>
          <a:prstGeom prst="rect">
            <a:avLst/>
          </a:prstGeom>
          <a:noFill/>
          <a:ln>
            <a:noFill/>
          </a:ln>
        </p:spPr>
        <p:txBody>
          <a:bodyPr anchorCtr="0" anchor="t" bIns="0" lIns="85075" spcFirstLastPara="1" rIns="85075" wrap="square" tIns="85075">
            <a:noAutofit/>
          </a:bodyPr>
          <a:lstStyle/>
          <a:p>
            <a:pPr indent="0" lvl="0" marL="0" marR="0" rtl="0" algn="l">
              <a:lnSpc>
                <a:spcPct val="165061"/>
              </a:lnSpc>
              <a:spcBef>
                <a:spcPts val="0"/>
              </a:spcBef>
              <a:spcAft>
                <a:spcPts val="0"/>
              </a:spcAft>
              <a:buClr>
                <a:srgbClr val="F59E0B"/>
              </a:buClr>
              <a:buSzPts val="683"/>
              <a:buFont typeface="Courier New"/>
              <a:buNone/>
            </a:pPr>
            <a:r>
              <a:rPr b="1" i="0" lang="en-US" sz="683" u="none" cap="none" strike="noStrike">
                <a:solidFill>
                  <a:srgbClr val="F59E0B"/>
                </a:solidFill>
                <a:latin typeface="Courier New"/>
                <a:ea typeface="Courier New"/>
                <a:cs typeface="Courier New"/>
                <a:sym typeface="Courier New"/>
              </a:rPr>
              <a:t>$</a:t>
            </a:r>
            <a:r>
              <a:rPr b="0" i="0" lang="en-US" sz="727" u="none" cap="none" strike="noStrike">
                <a:solidFill>
                  <a:srgbClr val="E0E0E0"/>
                </a:solidFill>
                <a:latin typeface="Courier New"/>
                <a:ea typeface="Courier New"/>
                <a:cs typeface="Courier New"/>
                <a:sym typeface="Courier New"/>
              </a:rPr>
              <a:t> </a:t>
            </a:r>
            <a:r>
              <a:rPr b="0" i="0" lang="en-US" sz="727" u="none" cap="none" strike="noStrike">
                <a:solidFill>
                  <a:srgbClr val="00E5FF"/>
                </a:solidFill>
                <a:latin typeface="Courier New"/>
                <a:ea typeface="Courier New"/>
                <a:cs typeface="Courier New"/>
                <a:sym typeface="Courier New"/>
              </a:rPr>
              <a:t>curl</a:t>
            </a:r>
            <a:r>
              <a:rPr b="0" i="0" lang="en-US" sz="727" u="none" cap="none" strike="noStrike">
                <a:solidFill>
                  <a:srgbClr val="E0E0E0"/>
                </a:solidFill>
                <a:latin typeface="Courier New"/>
                <a:ea typeface="Courier New"/>
                <a:cs typeface="Courier New"/>
                <a:sym typeface="Courier New"/>
              </a:rPr>
              <a:t> localhost:8888/v1/identity -d '{"agent_type":"myapp"}'</a:t>
            </a:r>
            <a:br>
              <a:rPr b="0" i="0" lang="en-US" sz="727" u="none" cap="none" strike="noStrike">
                <a:solidFill>
                  <a:srgbClr val="E0E0E0"/>
                </a:solidFill>
                <a:latin typeface="Courier New"/>
                <a:ea typeface="Courier New"/>
                <a:cs typeface="Courier New"/>
                <a:sym typeface="Courier New"/>
              </a:rPr>
            </a:br>
            <a:r>
              <a:rPr b="0" i="0" lang="en-US" sz="727" u="none" cap="none" strike="noStrike">
                <a:solidFill>
                  <a:srgbClr val="E0E0E0"/>
                </a:solidFill>
                <a:latin typeface="Courier New"/>
                <a:ea typeface="Courier New"/>
                <a:cs typeface="Courier New"/>
                <a:sym typeface="Courier New"/>
              </a:rPr>
              <a:t>→ </a:t>
            </a:r>
            <a:r>
              <a:rPr b="0" i="0" lang="en-US" sz="727" u="none" cap="none" strike="noStrike">
                <a:solidFill>
                  <a:srgbClr val="00E676"/>
                </a:solidFill>
                <a:latin typeface="Courier New"/>
                <a:ea typeface="Courier New"/>
                <a:cs typeface="Courier New"/>
                <a:sym typeface="Courier New"/>
              </a:rPr>
              <a:t>"spiffe://opamp.local/agent/myapp/node-001/inst-001"</a:t>
            </a:r>
            <a:endParaRPr b="0" i="0" sz="683" u="none" cap="none" strike="noStrike">
              <a:solidFill>
                <a:schemeClr val="dk1"/>
              </a:solidFill>
              <a:latin typeface="Calibri"/>
              <a:ea typeface="Calibri"/>
              <a:cs typeface="Calibri"/>
              <a:sym typeface="Calibri"/>
            </a:endParaRPr>
          </a:p>
        </p:txBody>
      </p:sp>
      <p:sp>
        <p:nvSpPr>
          <p:cNvPr id="1079" name="Google Shape;1079;p18"/>
          <p:cNvSpPr/>
          <p:nvPr/>
        </p:nvSpPr>
        <p:spPr>
          <a:xfrm>
            <a:off x="542925" y="4679156"/>
            <a:ext cx="3863987" cy="235744"/>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8"/>
          <p:cNvSpPr/>
          <p:nvPr/>
        </p:nvSpPr>
        <p:spPr>
          <a:xfrm>
            <a:off x="542925" y="4679156"/>
            <a:ext cx="21431" cy="235744"/>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8"/>
          <p:cNvSpPr/>
          <p:nvPr/>
        </p:nvSpPr>
        <p:spPr>
          <a:xfrm>
            <a:off x="628650" y="4744343"/>
            <a:ext cx="526852" cy="105370"/>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3B82F6"/>
              </a:buClr>
              <a:buSzPts val="584"/>
              <a:buFont typeface="Inter"/>
              <a:buNone/>
            </a:pPr>
            <a:r>
              <a:rPr b="1" i="0" lang="en-US" sz="584" u="none" cap="none" strike="noStrike">
                <a:solidFill>
                  <a:srgbClr val="3B82F6"/>
                </a:solidFill>
                <a:latin typeface="Inter"/>
                <a:ea typeface="Inter"/>
                <a:cs typeface="Inter"/>
                <a:sym typeface="Inter"/>
              </a:rPr>
              <a:t>OUTCOME:</a:t>
            </a:r>
            <a:endParaRPr b="0" i="0" sz="584" u="none" cap="none" strike="noStrike">
              <a:solidFill>
                <a:schemeClr val="dk1"/>
              </a:solidFill>
              <a:latin typeface="Calibri"/>
              <a:ea typeface="Calibri"/>
              <a:cs typeface="Calibri"/>
              <a:sym typeface="Calibri"/>
            </a:endParaRPr>
          </a:p>
        </p:txBody>
      </p:sp>
      <p:sp>
        <p:nvSpPr>
          <p:cNvPr id="1082" name="Google Shape;1082;p18"/>
          <p:cNvSpPr/>
          <p:nvPr/>
        </p:nvSpPr>
        <p:spPr>
          <a:xfrm>
            <a:off x="1226939" y="4736306"/>
            <a:ext cx="1907381" cy="121444"/>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Cryptographic identity issued in &lt;100ms</a:t>
            </a:r>
            <a:endParaRPr b="0" i="0" sz="727" u="none" cap="none" strike="noStrike">
              <a:solidFill>
                <a:schemeClr val="dk1"/>
              </a:solidFill>
              <a:latin typeface="Calibri"/>
              <a:ea typeface="Calibri"/>
              <a:cs typeface="Calibri"/>
              <a:sym typeface="Calibri"/>
            </a:endParaRPr>
          </a:p>
        </p:txBody>
      </p:sp>
      <p:sp>
        <p:nvSpPr>
          <p:cNvPr id="1083" name="Google Shape;1083;p18"/>
          <p:cNvSpPr/>
          <p:nvPr/>
        </p:nvSpPr>
        <p:spPr>
          <a:xfrm>
            <a:off x="4664087" y="3064669"/>
            <a:ext cx="4051288" cy="1935956"/>
          </a:xfrm>
          <a:prstGeom prst="rect">
            <a:avLst/>
          </a:prstGeom>
          <a:solidFill>
            <a:srgbClr val="0D1B2A">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8"/>
          <p:cNvSpPr/>
          <p:nvPr/>
        </p:nvSpPr>
        <p:spPr>
          <a:xfrm>
            <a:off x="4664087" y="3064669"/>
            <a:ext cx="4051288" cy="28575"/>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5" name="Google Shape;1085;p18"/>
          <p:cNvPicPr preferRelativeResize="0"/>
          <p:nvPr/>
        </p:nvPicPr>
        <p:blipFill rotWithShape="1">
          <a:blip r:embed="rId7">
            <a:alphaModFix/>
          </a:blip>
          <a:srcRect b="0" l="0" r="0" t="0"/>
          <a:stretch/>
        </p:blipFill>
        <p:spPr>
          <a:xfrm>
            <a:off x="4778387" y="3154859"/>
            <a:ext cx="107156" cy="142875"/>
          </a:xfrm>
          <a:prstGeom prst="rect">
            <a:avLst/>
          </a:prstGeom>
          <a:noFill/>
          <a:ln>
            <a:noFill/>
          </a:ln>
        </p:spPr>
      </p:pic>
      <p:sp>
        <p:nvSpPr>
          <p:cNvPr id="1086" name="Google Shape;1086;p18"/>
          <p:cNvSpPr/>
          <p:nvPr/>
        </p:nvSpPr>
        <p:spPr>
          <a:xfrm>
            <a:off x="4971269" y="3136106"/>
            <a:ext cx="2196703" cy="180380"/>
          </a:xfrm>
          <a:prstGeom prst="rect">
            <a:avLst/>
          </a:prstGeom>
          <a:noFill/>
          <a:ln>
            <a:noFill/>
          </a:ln>
        </p:spPr>
        <p:txBody>
          <a:bodyPr anchorCtr="0" anchor="t" bIns="0" lIns="0" spcFirstLastPara="1" rIns="0" wrap="square" tIns="0">
            <a:noAutofit/>
          </a:bodyPr>
          <a:lstStyle/>
          <a:p>
            <a:pPr indent="0" lvl="0" marL="0" marR="0" rtl="0" algn="l">
              <a:lnSpc>
                <a:spcPct val="141843"/>
              </a:lnSpc>
              <a:spcBef>
                <a:spcPts val="0"/>
              </a:spcBef>
              <a:spcAft>
                <a:spcPts val="0"/>
              </a:spcAft>
              <a:buClr>
                <a:srgbClr val="FFFFFF"/>
              </a:buClr>
              <a:buSzPts val="987"/>
              <a:buFont typeface="Merriweather"/>
              <a:buNone/>
            </a:pPr>
            <a:r>
              <a:rPr b="1" i="0" lang="en-US" sz="987" u="none" cap="none" strike="noStrike">
                <a:solidFill>
                  <a:srgbClr val="FFFFFF"/>
                </a:solidFill>
                <a:latin typeface="Merriweather"/>
                <a:ea typeface="Merriweather"/>
                <a:cs typeface="Merriweather"/>
                <a:sym typeface="Merriweather"/>
              </a:rPr>
              <a:t>Demo 4: Real-time Config Push</a:t>
            </a:r>
            <a:endParaRPr b="0" i="0" sz="987" u="none" cap="none" strike="noStrike">
              <a:solidFill>
                <a:schemeClr val="dk1"/>
              </a:solidFill>
              <a:latin typeface="Calibri"/>
              <a:ea typeface="Calibri"/>
              <a:cs typeface="Calibri"/>
              <a:sym typeface="Calibri"/>
            </a:endParaRPr>
          </a:p>
        </p:txBody>
      </p:sp>
      <p:sp>
        <p:nvSpPr>
          <p:cNvPr id="1087" name="Google Shape;1087;p18"/>
          <p:cNvSpPr/>
          <p:nvPr/>
        </p:nvSpPr>
        <p:spPr>
          <a:xfrm>
            <a:off x="4778387" y="3466505"/>
            <a:ext cx="3822688" cy="1126927"/>
          </a:xfrm>
          <a:prstGeom prst="rect">
            <a:avLst/>
          </a:prstGeom>
          <a:solidFill>
            <a:srgbClr val="0D1B2A"/>
          </a:solidFill>
          <a:ln cap="flat" cmpd="sng" w="9525">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8"/>
          <p:cNvSpPr/>
          <p:nvPr/>
        </p:nvSpPr>
        <p:spPr>
          <a:xfrm>
            <a:off x="4778387" y="3466505"/>
            <a:ext cx="3822688" cy="1126927"/>
          </a:xfrm>
          <a:prstGeom prst="rect">
            <a:avLst/>
          </a:prstGeom>
          <a:noFill/>
          <a:ln>
            <a:noFill/>
          </a:ln>
        </p:spPr>
        <p:txBody>
          <a:bodyPr anchorCtr="0" anchor="t" bIns="0" lIns="85075" spcFirstLastPara="1" rIns="85075" wrap="square" tIns="85075">
            <a:noAutofit/>
          </a:bodyPr>
          <a:lstStyle/>
          <a:p>
            <a:pPr indent="0" lvl="0" marL="0" marR="0" rtl="0" algn="l">
              <a:lnSpc>
                <a:spcPct val="165061"/>
              </a:lnSpc>
              <a:spcBef>
                <a:spcPts val="0"/>
              </a:spcBef>
              <a:spcAft>
                <a:spcPts val="0"/>
              </a:spcAft>
              <a:buClr>
                <a:srgbClr val="F59E0B"/>
              </a:buClr>
              <a:buSzPts val="683"/>
              <a:buFont typeface="Courier New"/>
              <a:buNone/>
            </a:pPr>
            <a:r>
              <a:rPr b="1" i="0" lang="en-US" sz="683" u="none" cap="none" strike="noStrike">
                <a:solidFill>
                  <a:srgbClr val="F59E0B"/>
                </a:solidFill>
                <a:latin typeface="Courier New"/>
                <a:ea typeface="Courier New"/>
                <a:cs typeface="Courier New"/>
                <a:sym typeface="Courier New"/>
              </a:rPr>
              <a:t>$</a:t>
            </a:r>
            <a:r>
              <a:rPr b="0" i="0" lang="en-US" sz="727" u="none" cap="none" strike="noStrike">
                <a:solidFill>
                  <a:srgbClr val="E0E0E0"/>
                </a:solidFill>
                <a:latin typeface="Courier New"/>
                <a:ea typeface="Courier New"/>
                <a:cs typeface="Courier New"/>
                <a:sym typeface="Courier New"/>
              </a:rPr>
              <a:t> </a:t>
            </a:r>
            <a:r>
              <a:rPr b="0" i="0" lang="en-US" sz="727" u="none" cap="none" strike="noStrike">
                <a:solidFill>
                  <a:srgbClr val="00E5FF"/>
                </a:solidFill>
                <a:latin typeface="Courier New"/>
                <a:ea typeface="Courier New"/>
                <a:cs typeface="Courier New"/>
                <a:sym typeface="Courier New"/>
              </a:rPr>
              <a:t>curl</a:t>
            </a:r>
            <a:r>
              <a:rPr b="0" i="0" lang="en-US" sz="727" u="none" cap="none" strike="noStrike">
                <a:solidFill>
                  <a:srgbClr val="E0E0E0"/>
                </a:solidFill>
                <a:latin typeface="Courier New"/>
                <a:ea typeface="Courier New"/>
                <a:cs typeface="Courier New"/>
                <a:sym typeface="Courier New"/>
              </a:rPr>
              <a:t> -X PUT control-plane/api/v1/config/node-001 \</a:t>
            </a:r>
            <a:br>
              <a:rPr b="0" i="0" lang="en-US" sz="727" u="none" cap="none" strike="noStrike">
                <a:solidFill>
                  <a:srgbClr val="E0E0E0"/>
                </a:solidFill>
                <a:latin typeface="Courier New"/>
                <a:ea typeface="Courier New"/>
                <a:cs typeface="Courier New"/>
                <a:sym typeface="Courier New"/>
              </a:rPr>
            </a:br>
            <a:r>
              <a:rPr b="0" i="0" lang="en-US" sz="727" u="none" cap="none" strike="noStrike">
                <a:solidFill>
                  <a:srgbClr val="E0E0E0"/>
                </a:solidFill>
                <a:latin typeface="Courier New"/>
                <a:ea typeface="Courier New"/>
                <a:cs typeface="Courier New"/>
                <a:sym typeface="Courier New"/>
              </a:rPr>
              <a:t>    -d '{"logging":{"level":"debug"}}'</a:t>
            </a:r>
            <a:br>
              <a:rPr b="0" i="0" lang="en-US" sz="727" u="none" cap="none" strike="noStrike">
                <a:solidFill>
                  <a:srgbClr val="E0E0E0"/>
                </a:solidFill>
                <a:latin typeface="Courier New"/>
                <a:ea typeface="Courier New"/>
                <a:cs typeface="Courier New"/>
                <a:sym typeface="Courier New"/>
              </a:rPr>
            </a:br>
            <a:r>
              <a:rPr b="0" i="1" lang="en-US" sz="727" u="none" cap="none" strike="noStrike">
                <a:solidFill>
                  <a:srgbClr val="6B7280"/>
                </a:solidFill>
                <a:latin typeface="Courier New"/>
                <a:ea typeface="Courier New"/>
                <a:cs typeface="Courier New"/>
                <a:sym typeface="Courier New"/>
              </a:rPr>
              <a:t># Supervisor applies within seconds</a:t>
            </a:r>
            <a:endParaRPr b="0" i="0" sz="683" u="none" cap="none" strike="noStrike">
              <a:solidFill>
                <a:schemeClr val="dk1"/>
              </a:solidFill>
              <a:latin typeface="Calibri"/>
              <a:ea typeface="Calibri"/>
              <a:cs typeface="Calibri"/>
              <a:sym typeface="Calibri"/>
            </a:endParaRPr>
          </a:p>
        </p:txBody>
      </p:sp>
      <p:sp>
        <p:nvSpPr>
          <p:cNvPr id="1089" name="Google Shape;1089;p18"/>
          <p:cNvSpPr/>
          <p:nvPr/>
        </p:nvSpPr>
        <p:spPr>
          <a:xfrm>
            <a:off x="4778387" y="4679156"/>
            <a:ext cx="3822688" cy="235744"/>
          </a:xfrm>
          <a:prstGeom prst="rect">
            <a:avLst/>
          </a:prstGeom>
          <a:solidFill>
            <a:srgbClr val="FFFFFF">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8"/>
          <p:cNvSpPr/>
          <p:nvPr/>
        </p:nvSpPr>
        <p:spPr>
          <a:xfrm>
            <a:off x="4778387" y="4679156"/>
            <a:ext cx="21431" cy="235744"/>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8"/>
          <p:cNvSpPr/>
          <p:nvPr/>
        </p:nvSpPr>
        <p:spPr>
          <a:xfrm>
            <a:off x="4864112" y="4744343"/>
            <a:ext cx="526852" cy="105370"/>
          </a:xfrm>
          <a:prstGeom prst="rect">
            <a:avLst/>
          </a:prstGeom>
          <a:noFill/>
          <a:ln>
            <a:noFill/>
          </a:ln>
        </p:spPr>
        <p:txBody>
          <a:bodyPr anchorCtr="0" anchor="t" bIns="0" lIns="0" spcFirstLastPara="1" rIns="0" wrap="square" tIns="0">
            <a:noAutofit/>
          </a:bodyPr>
          <a:lstStyle/>
          <a:p>
            <a:pPr indent="0" lvl="0" marL="0" marR="0" rtl="0" algn="l">
              <a:lnSpc>
                <a:spcPct val="136986"/>
              </a:lnSpc>
              <a:spcBef>
                <a:spcPts val="0"/>
              </a:spcBef>
              <a:spcAft>
                <a:spcPts val="0"/>
              </a:spcAft>
              <a:buClr>
                <a:srgbClr val="F59E0B"/>
              </a:buClr>
              <a:buSzPts val="584"/>
              <a:buFont typeface="Inter"/>
              <a:buNone/>
            </a:pPr>
            <a:r>
              <a:rPr b="1" i="0" lang="en-US" sz="584" u="none" cap="none" strike="noStrike">
                <a:solidFill>
                  <a:srgbClr val="F59E0B"/>
                </a:solidFill>
                <a:latin typeface="Inter"/>
                <a:ea typeface="Inter"/>
                <a:cs typeface="Inter"/>
                <a:sym typeface="Inter"/>
              </a:rPr>
              <a:t>OUTCOME:</a:t>
            </a:r>
            <a:endParaRPr b="0" i="0" sz="584" u="none" cap="none" strike="noStrike">
              <a:solidFill>
                <a:schemeClr val="dk1"/>
              </a:solidFill>
              <a:latin typeface="Calibri"/>
              <a:ea typeface="Calibri"/>
              <a:cs typeface="Calibri"/>
              <a:sym typeface="Calibri"/>
            </a:endParaRPr>
          </a:p>
        </p:txBody>
      </p:sp>
      <p:sp>
        <p:nvSpPr>
          <p:cNvPr id="1092" name="Google Shape;1092;p18"/>
          <p:cNvSpPr/>
          <p:nvPr/>
        </p:nvSpPr>
        <p:spPr>
          <a:xfrm>
            <a:off x="5462401" y="4736306"/>
            <a:ext cx="2473523" cy="121444"/>
          </a:xfrm>
          <a:prstGeom prst="rect">
            <a:avLst/>
          </a:prstGeom>
          <a:noFill/>
          <a:ln>
            <a:noFill/>
          </a:ln>
        </p:spPr>
        <p:txBody>
          <a:bodyPr anchorCtr="0" anchor="t" bIns="0" lIns="0" spcFirstLastPara="1" rIns="0" wrap="square" tIns="0">
            <a:noAutofit/>
          </a:bodyPr>
          <a:lstStyle/>
          <a:p>
            <a:pPr indent="0" lvl="0" marL="0" marR="0" rtl="0" algn="l">
              <a:lnSpc>
                <a:spcPct val="123796"/>
              </a:lnSpc>
              <a:spcBef>
                <a:spcPts val="0"/>
              </a:spcBef>
              <a:spcAft>
                <a:spcPts val="0"/>
              </a:spcAft>
              <a:buClr>
                <a:srgbClr val="E0E0E0"/>
              </a:buClr>
              <a:buSzPts val="727"/>
              <a:buFont typeface="Inter"/>
              <a:buNone/>
            </a:pPr>
            <a:r>
              <a:rPr b="0" i="0" lang="en-US" sz="727" u="none" cap="none" strike="noStrike">
                <a:solidFill>
                  <a:srgbClr val="E0E0E0"/>
                </a:solidFill>
                <a:latin typeface="Inter"/>
                <a:ea typeface="Inter"/>
                <a:cs typeface="Inter"/>
                <a:sym typeface="Inter"/>
              </a:rPr>
              <a:t>Config propagated and applied without agent restart</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