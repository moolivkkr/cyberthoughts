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" name="Google Shape;57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4" name="Google Shape;61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8" name="Google Shape;62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6" name="Google Shape;68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1" name="Google Shape;72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2" name="Google Shape;75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6" name="Google Shape;76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9" name="Google Shape;79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2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image" Target="../media/image7.png"/><Relationship Id="rId7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1.png"/><Relationship Id="rId4" Type="http://schemas.openxmlformats.org/officeDocument/2006/relationships/image" Target="../media/image1.png"/><Relationship Id="rId9" Type="http://schemas.openxmlformats.org/officeDocument/2006/relationships/image" Target="../media/image2.png"/><Relationship Id="rId5" Type="http://schemas.openxmlformats.org/officeDocument/2006/relationships/image" Target="../media/image14.png"/><Relationship Id="rId6" Type="http://schemas.openxmlformats.org/officeDocument/2006/relationships/image" Target="../media/image4.png"/><Relationship Id="rId7" Type="http://schemas.openxmlformats.org/officeDocument/2006/relationships/image" Target="../media/image8.png"/><Relationship Id="rId8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7.png"/><Relationship Id="rId10" Type="http://schemas.openxmlformats.org/officeDocument/2006/relationships/image" Target="../media/image9.png"/><Relationship Id="rId13" Type="http://schemas.openxmlformats.org/officeDocument/2006/relationships/image" Target="../media/image17.png"/><Relationship Id="rId1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3.png"/><Relationship Id="rId4" Type="http://schemas.openxmlformats.org/officeDocument/2006/relationships/image" Target="../media/image10.png"/><Relationship Id="rId9" Type="http://schemas.openxmlformats.org/officeDocument/2006/relationships/image" Target="../media/image18.png"/><Relationship Id="rId15" Type="http://schemas.openxmlformats.org/officeDocument/2006/relationships/image" Target="../media/image21.png"/><Relationship Id="rId14" Type="http://schemas.openxmlformats.org/officeDocument/2006/relationships/image" Target="../media/image19.png"/><Relationship Id="rId17" Type="http://schemas.openxmlformats.org/officeDocument/2006/relationships/image" Target="../media/image20.png"/><Relationship Id="rId16" Type="http://schemas.openxmlformats.org/officeDocument/2006/relationships/image" Target="../media/image22.png"/><Relationship Id="rId5" Type="http://schemas.openxmlformats.org/officeDocument/2006/relationships/image" Target="../media/image15.png"/><Relationship Id="rId6" Type="http://schemas.openxmlformats.org/officeDocument/2006/relationships/image" Target="../media/image5.png"/><Relationship Id="rId18" Type="http://schemas.openxmlformats.org/officeDocument/2006/relationships/image" Target="../media/image23.png"/><Relationship Id="rId7" Type="http://schemas.openxmlformats.org/officeDocument/2006/relationships/image" Target="../media/image6.png"/><Relationship Id="rId8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7.png"/><Relationship Id="rId4" Type="http://schemas.openxmlformats.org/officeDocument/2006/relationships/image" Target="../media/image24.png"/><Relationship Id="rId5" Type="http://schemas.openxmlformats.org/officeDocument/2006/relationships/image" Target="../media/image26.png"/><Relationship Id="rId6" Type="http://schemas.openxmlformats.org/officeDocument/2006/relationships/image" Target="../media/image32.png"/><Relationship Id="rId7" Type="http://schemas.openxmlformats.org/officeDocument/2006/relationships/image" Target="../media/image25.png"/><Relationship Id="rId8" Type="http://schemas.openxmlformats.org/officeDocument/2006/relationships/image" Target="../media/image2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6.png"/><Relationship Id="rId4" Type="http://schemas.openxmlformats.org/officeDocument/2006/relationships/image" Target="../media/image32.png"/><Relationship Id="rId5" Type="http://schemas.openxmlformats.org/officeDocument/2006/relationships/image" Target="../media/image29.png"/><Relationship Id="rId6" Type="http://schemas.openxmlformats.org/officeDocument/2006/relationships/image" Target="../media/image42.png"/><Relationship Id="rId7" Type="http://schemas.openxmlformats.org/officeDocument/2006/relationships/image" Target="../media/image33.png"/><Relationship Id="rId8" Type="http://schemas.openxmlformats.org/officeDocument/2006/relationships/image" Target="../media/image31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41.png"/><Relationship Id="rId10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3.png"/><Relationship Id="rId4" Type="http://schemas.openxmlformats.org/officeDocument/2006/relationships/image" Target="../media/image35.png"/><Relationship Id="rId9" Type="http://schemas.openxmlformats.org/officeDocument/2006/relationships/image" Target="../media/image47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40.png"/><Relationship Id="rId8" Type="http://schemas.openxmlformats.org/officeDocument/2006/relationships/image" Target="../media/image4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0.png"/><Relationship Id="rId4" Type="http://schemas.openxmlformats.org/officeDocument/2006/relationships/image" Target="../media/image48.png"/><Relationship Id="rId5" Type="http://schemas.openxmlformats.org/officeDocument/2006/relationships/image" Target="../media/image5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3.png"/><Relationship Id="rId4" Type="http://schemas.openxmlformats.org/officeDocument/2006/relationships/image" Target="../media/image49.png"/><Relationship Id="rId5" Type="http://schemas.openxmlformats.org/officeDocument/2006/relationships/image" Target="../media/image55.png"/><Relationship Id="rId6" Type="http://schemas.openxmlformats.org/officeDocument/2006/relationships/image" Target="../media/image5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5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1.png"/><Relationship Id="rId7" Type="http://schemas.openxmlformats.org/officeDocument/2006/relationships/image" Target="../media/image56.png"/><Relationship Id="rId8" Type="http://schemas.openxmlformats.org/officeDocument/2006/relationships/image" Target="../media/image10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8.png"/><Relationship Id="rId4" Type="http://schemas.openxmlformats.org/officeDocument/2006/relationships/image" Target="../media/image59.png"/><Relationship Id="rId5" Type="http://schemas.openxmlformats.org/officeDocument/2006/relationships/image" Target="../media/image58.png"/><Relationship Id="rId6" Type="http://schemas.openxmlformats.org/officeDocument/2006/relationships/image" Target="../media/image5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5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Relationship Id="rId7" Type="http://schemas.openxmlformats.org/officeDocument/2006/relationships/image" Target="../media/image6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3.png"/><Relationship Id="rId4" Type="http://schemas.openxmlformats.org/officeDocument/2006/relationships/image" Target="../media/image64.png"/><Relationship Id="rId9" Type="http://schemas.openxmlformats.org/officeDocument/2006/relationships/image" Target="../media/image67.png"/><Relationship Id="rId5" Type="http://schemas.openxmlformats.org/officeDocument/2006/relationships/image" Target="../media/image71.png"/><Relationship Id="rId6" Type="http://schemas.openxmlformats.org/officeDocument/2006/relationships/image" Target="../media/image66.png"/><Relationship Id="rId7" Type="http://schemas.openxmlformats.org/officeDocument/2006/relationships/image" Target="../media/image65.png"/><Relationship Id="rId8" Type="http://schemas.openxmlformats.org/officeDocument/2006/relationships/image" Target="../media/image6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7.png"/><Relationship Id="rId4" Type="http://schemas.openxmlformats.org/officeDocument/2006/relationships/image" Target="../media/image6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4.png"/><Relationship Id="rId4" Type="http://schemas.openxmlformats.org/officeDocument/2006/relationships/image" Target="../media/image70.png"/><Relationship Id="rId5" Type="http://schemas.openxmlformats.org/officeDocument/2006/relationships/image" Target="../media/image72.png"/><Relationship Id="rId6" Type="http://schemas.openxmlformats.org/officeDocument/2006/relationships/image" Target="../media/image7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6.png"/><Relationship Id="rId4" Type="http://schemas.openxmlformats.org/officeDocument/2006/relationships/image" Target="../media/image73.png"/><Relationship Id="rId5" Type="http://schemas.openxmlformats.org/officeDocument/2006/relationships/image" Target="../media/image76.png"/><Relationship Id="rId6" Type="http://schemas.openxmlformats.org/officeDocument/2006/relationships/image" Target="../media/image7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7.png"/><Relationship Id="rId4" Type="http://schemas.openxmlformats.org/officeDocument/2006/relationships/image" Target="../media/image7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7.png"/><Relationship Id="rId4" Type="http://schemas.openxmlformats.org/officeDocument/2006/relationships/image" Target="../media/image78.png"/><Relationship Id="rId5" Type="http://schemas.openxmlformats.org/officeDocument/2006/relationships/image" Target="../media/image82.png"/><Relationship Id="rId6" Type="http://schemas.openxmlformats.org/officeDocument/2006/relationships/image" Target="../media/image80.png"/><Relationship Id="rId7" Type="http://schemas.openxmlformats.org/officeDocument/2006/relationships/image" Target="../media/image84.png"/><Relationship Id="rId8" Type="http://schemas.openxmlformats.org/officeDocument/2006/relationships/image" Target="../media/image8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8.png"/><Relationship Id="rId4" Type="http://schemas.openxmlformats.org/officeDocument/2006/relationships/image" Target="../media/image91.png"/><Relationship Id="rId5" Type="http://schemas.openxmlformats.org/officeDocument/2006/relationships/image" Target="../media/image93.png"/><Relationship Id="rId6" Type="http://schemas.openxmlformats.org/officeDocument/2006/relationships/image" Target="../media/image89.png"/><Relationship Id="rId7" Type="http://schemas.openxmlformats.org/officeDocument/2006/relationships/image" Target="../media/image94.png"/><Relationship Id="rId8" Type="http://schemas.openxmlformats.org/officeDocument/2006/relationships/image" Target="../media/image9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9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image" Target="../media/image10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7.png"/><Relationship Id="rId4" Type="http://schemas.openxmlformats.org/officeDocument/2006/relationships/image" Target="../media/image10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1.png"/><Relationship Id="rId4" Type="http://schemas.openxmlformats.org/officeDocument/2006/relationships/image" Target="../media/image104.png"/><Relationship Id="rId5" Type="http://schemas.openxmlformats.org/officeDocument/2006/relationships/image" Target="../media/image106.png"/><Relationship Id="rId6" Type="http://schemas.openxmlformats.org/officeDocument/2006/relationships/image" Target="../media/image1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0.png"/><Relationship Id="rId4" Type="http://schemas.openxmlformats.org/officeDocument/2006/relationships/image" Target="../media/image108.png"/><Relationship Id="rId5" Type="http://schemas.openxmlformats.org/officeDocument/2006/relationships/image" Target="../media/image111.png"/><Relationship Id="rId6" Type="http://schemas.openxmlformats.org/officeDocument/2006/relationships/image" Target="../media/image10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1519833" y="934408"/>
            <a:ext cx="6104334" cy="3274684"/>
          </a:xfrm>
          <a:prstGeom prst="rect">
            <a:avLst/>
          </a:prstGeom>
          <a:solidFill>
            <a:srgbClr val="0A192F">
              <a:alpha val="69803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 rot="2700000">
            <a:off x="4143375" y="1227302"/>
            <a:ext cx="857250" cy="857250"/>
          </a:xfrm>
          <a:prstGeom prst="rect">
            <a:avLst/>
          </a:prstGeom>
          <a:solidFill>
            <a:srgbClr val="00BFFF">
              <a:alpha val="9803"/>
            </a:srgbClr>
          </a:solidFill>
          <a:ln cap="flat" cmpd="sng" w="18275">
            <a:solidFill>
              <a:srgbClr val="00B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" name="Google Shape;1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33064" y="1497862"/>
            <a:ext cx="277853" cy="357187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1812727" y="2298864"/>
            <a:ext cx="5518547" cy="5029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146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93"/>
              <a:buFont typeface="Calibri"/>
              <a:buNone/>
            </a:pPr>
            <a:r>
              <a:rPr b="1" i="0" lang="en-US" sz="32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Certificate Management</a:t>
            </a:r>
            <a:endParaRPr b="0" i="0" sz="32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812727" y="3201823"/>
            <a:ext cx="5518547" cy="27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860"/>
              </a:lnSpc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486"/>
              <a:buFont typeface="Calibri"/>
              <a:buNone/>
            </a:pPr>
            <a:r>
              <a:rPr b="0" i="0" lang="en-US" sz="1486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Operational Excellence for Zero-Touch PKI</a:t>
            </a:r>
            <a:endParaRPr b="0" i="0" sz="148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" name="Google Shape;2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06898" y="3781360"/>
            <a:ext cx="8890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/>
          <p:nvPr/>
        </p:nvSpPr>
        <p:spPr>
          <a:xfrm>
            <a:off x="2667242" y="3760822"/>
            <a:ext cx="1070781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OpAMP Automation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" name="Google Shape;24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23773" y="3781360"/>
            <a:ext cx="8890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/>
          <p:nvPr/>
        </p:nvSpPr>
        <p:spPr>
          <a:xfrm>
            <a:off x="4184117" y="3760822"/>
            <a:ext cx="903433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Supervisor Proxy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" name="Google Shape;26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73300" y="3781360"/>
            <a:ext cx="8890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"/>
          <p:cNvSpPr/>
          <p:nvPr/>
        </p:nvSpPr>
        <p:spPr>
          <a:xfrm>
            <a:off x="5533644" y="3760822"/>
            <a:ext cx="1103458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Continuous Lifecycle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0" y="4722019"/>
            <a:ext cx="914400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CONFIDENTIAL &amp; PROPRIETARY | © 2025 COMPANY NAME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4" name="Google Shape;3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571500" y="428625"/>
            <a:ext cx="5412423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Certificate Operations Crisis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" name="Google Shape;3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92151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/>
          <p:nvPr/>
        </p:nvSpPr>
        <p:spPr>
          <a:xfrm>
            <a:off x="850106" y="1460897"/>
            <a:ext cx="2271043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Manual Management Fails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71500" y="1944886"/>
            <a:ext cx="3564731" cy="853678"/>
          </a:xfrm>
          <a:prstGeom prst="rect">
            <a:avLst/>
          </a:prstGeom>
          <a:solidFill>
            <a:srgbClr val="FF4500">
              <a:alpha val="9803"/>
            </a:srgbClr>
          </a:solidFill>
          <a:ln cap="flat" cmpd="sng" w="9525">
            <a:solidFill>
              <a:srgbClr val="FF4500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2963" y="2260104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/>
          <p:nvPr/>
        </p:nvSpPr>
        <p:spPr>
          <a:xfrm>
            <a:off x="1250156" y="2130623"/>
            <a:ext cx="2707481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Spreadsheet Tracking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250156" y="2341364"/>
            <a:ext cx="2707481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Manual tracking leads to human error and missed expiries.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71500" y="2970014"/>
            <a:ext cx="3564731" cy="853678"/>
          </a:xfrm>
          <a:prstGeom prst="rect">
            <a:avLst/>
          </a:prstGeom>
          <a:solidFill>
            <a:srgbClr val="FF4500">
              <a:alpha val="9803"/>
            </a:srgbClr>
          </a:solidFill>
          <a:ln cap="flat" cmpd="sng" w="9525">
            <a:solidFill>
              <a:srgbClr val="FF4500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4388" y="328523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"/>
          <p:cNvSpPr/>
          <p:nvPr/>
        </p:nvSpPr>
        <p:spPr>
          <a:xfrm>
            <a:off x="1250156" y="3155752"/>
            <a:ext cx="2707481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Unexpected Outages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250156" y="3366492"/>
            <a:ext cx="2707481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Expired certificates cause P1 incidents and service downtime.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71500" y="3995142"/>
            <a:ext cx="3564731" cy="853678"/>
          </a:xfrm>
          <a:prstGeom prst="rect">
            <a:avLst/>
          </a:prstGeom>
          <a:solidFill>
            <a:srgbClr val="FF4500">
              <a:alpha val="9803"/>
            </a:srgbClr>
          </a:solidFill>
          <a:ln cap="flat" cmpd="sng" w="9525">
            <a:solidFill>
              <a:srgbClr val="FF4500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8675" y="431036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4"/>
          <p:cNvSpPr/>
          <p:nvPr/>
        </p:nvSpPr>
        <p:spPr>
          <a:xfrm>
            <a:off x="1250156" y="4180880"/>
            <a:ext cx="2707481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 Operational Toil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250156" y="4391620"/>
            <a:ext cx="2707481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15+ minutes per certificate for manual issuance and installation.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" name="Google Shape;52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07769" y="1493937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4"/>
          <p:cNvSpPr/>
          <p:nvPr/>
        </p:nvSpPr>
        <p:spPr>
          <a:xfrm>
            <a:off x="5286375" y="1462683"/>
            <a:ext cx="1695999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The Scale Challenge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007769" y="1982391"/>
            <a:ext cx="1710928" cy="951905"/>
          </a:xfrm>
          <a:prstGeom prst="rect">
            <a:avLst/>
          </a:prstGeom>
          <a:solidFill>
            <a:srgbClr val="00BFFF">
              <a:alpha val="9803"/>
            </a:srgbClr>
          </a:solidFill>
          <a:ln cap="flat" cmpd="sng" w="9525">
            <a:solidFill>
              <a:srgbClr val="00BFFF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5186363" y="2160984"/>
            <a:ext cx="1353741" cy="408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200K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5186363" y="2605683"/>
            <a:ext cx="135374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Endpoints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6861572" y="1982391"/>
            <a:ext cx="1710928" cy="951905"/>
          </a:xfrm>
          <a:prstGeom prst="rect">
            <a:avLst/>
          </a:prstGeom>
          <a:solidFill>
            <a:srgbClr val="00BFFF">
              <a:alpha val="9803"/>
            </a:srgbClr>
          </a:solidFill>
          <a:ln cap="flat" cmpd="sng" w="9525">
            <a:solidFill>
              <a:srgbClr val="00BFFF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7040166" y="2168128"/>
            <a:ext cx="1353741" cy="408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1.2M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7040166" y="2612827"/>
            <a:ext cx="135374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Agents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5007769" y="3070027"/>
            <a:ext cx="1710928" cy="951905"/>
          </a:xfrm>
          <a:prstGeom prst="rect">
            <a:avLst/>
          </a:prstGeom>
          <a:solidFill>
            <a:srgbClr val="00BFFF">
              <a:alpha val="9803"/>
            </a:srgbClr>
          </a:solidFill>
          <a:ln cap="flat" cmpd="sng" w="9525">
            <a:solidFill>
              <a:srgbClr val="00BFFF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5186363" y="3248620"/>
            <a:ext cx="1353741" cy="408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2,777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186363" y="3693319"/>
            <a:ext cx="135374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Renewals / Day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6861572" y="3070027"/>
            <a:ext cx="1710928" cy="951905"/>
          </a:xfrm>
          <a:prstGeom prst="rect">
            <a:avLst/>
          </a:prstGeom>
          <a:solidFill>
            <a:srgbClr val="00BFFF">
              <a:alpha val="9803"/>
            </a:srgbClr>
          </a:solidFill>
          <a:ln cap="flat" cmpd="sng" w="9525">
            <a:solidFill>
              <a:srgbClr val="00BFFF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7040166" y="3255764"/>
            <a:ext cx="1353741" cy="408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0%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7040166" y="3700463"/>
            <a:ext cx="135374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Downtime Tolerance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5007769" y="4371975"/>
            <a:ext cx="3564731" cy="475059"/>
          </a:xfrm>
          <a:prstGeom prst="rect">
            <a:avLst/>
          </a:prstGeom>
          <a:solidFill>
            <a:srgbClr val="FF0000">
              <a:alpha val="9803"/>
            </a:srgbClr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" name="Google Shape;67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497813" y="4545211"/>
            <a:ext cx="112514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4"/>
          <p:cNvSpPr/>
          <p:nvPr/>
        </p:nvSpPr>
        <p:spPr>
          <a:xfrm>
            <a:off x="5610327" y="4521994"/>
            <a:ext cx="2472100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99% Success = 27 Broken Servers Daily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4" name="Google Shape;7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366742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5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571500" y="428625"/>
            <a:ext cx="5645265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Zero-Touch Certificate Operations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71500" y="1323380"/>
            <a:ext cx="2524116" cy="3105745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571500" y="1323380"/>
            <a:ext cx="2524116" cy="42863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1476356" y="1537692"/>
            <a:ext cx="714375" cy="714375"/>
          </a:xfrm>
          <a:prstGeom prst="ellipse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" name="Google Shape;8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90669" y="1752005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5"/>
          <p:cNvSpPr/>
          <p:nvPr/>
        </p:nvSpPr>
        <p:spPr>
          <a:xfrm>
            <a:off x="955281" y="2466380"/>
            <a:ext cx="1756525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Automated Lifecycle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3" name="Google Shape;8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5813" y="2956620"/>
            <a:ext cx="100013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5"/>
          <p:cNvSpPr/>
          <p:nvPr/>
        </p:nvSpPr>
        <p:spPr>
          <a:xfrm>
            <a:off x="957263" y="2928938"/>
            <a:ext cx="1099691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Zero-Touch Issuance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5" name="Google Shape;8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5813" y="3290590"/>
            <a:ext cx="100013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5"/>
          <p:cNvSpPr/>
          <p:nvPr/>
        </p:nvSpPr>
        <p:spPr>
          <a:xfrm>
            <a:off x="957263" y="3262908"/>
            <a:ext cx="120735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Auto-Renewal (Day 60)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7" name="Google Shape;87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5813" y="3624560"/>
            <a:ext cx="100013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"/>
          <p:cNvSpPr/>
          <p:nvPr/>
        </p:nvSpPr>
        <p:spPr>
          <a:xfrm>
            <a:off x="957263" y="3596878"/>
            <a:ext cx="1220856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Automated Revocation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9" name="Google Shape;89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5813" y="3958530"/>
            <a:ext cx="100013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/>
          <p:nvPr/>
        </p:nvSpPr>
        <p:spPr>
          <a:xfrm>
            <a:off x="957263" y="3930848"/>
            <a:ext cx="1017287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Key Rotation Policy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3309928" y="1323380"/>
            <a:ext cx="2524116" cy="3105745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3309928" y="1323380"/>
            <a:ext cx="2524116" cy="42863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4214785" y="1537692"/>
            <a:ext cx="714375" cy="714375"/>
          </a:xfrm>
          <a:prstGeom prst="ellipse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" name="Google Shape;94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11238" y="1752005"/>
            <a:ext cx="321469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5"/>
          <p:cNvSpPr/>
          <p:nvPr/>
        </p:nvSpPr>
        <p:spPr>
          <a:xfrm>
            <a:off x="3659525" y="2466380"/>
            <a:ext cx="1824921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Unified Control Plane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6" name="Google Shape;96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524241" y="2956620"/>
            <a:ext cx="100013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5"/>
          <p:cNvSpPr/>
          <p:nvPr/>
        </p:nvSpPr>
        <p:spPr>
          <a:xfrm>
            <a:off x="3695691" y="2928938"/>
            <a:ext cx="107946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Single Pane of Glass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8" name="Google Shape;98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524241" y="3290590"/>
            <a:ext cx="100013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5"/>
          <p:cNvSpPr/>
          <p:nvPr/>
        </p:nvSpPr>
        <p:spPr>
          <a:xfrm>
            <a:off x="3695691" y="3262908"/>
            <a:ext cx="141996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Agent + Cert Management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0" name="Google Shape;100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524241" y="3624560"/>
            <a:ext cx="100013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5"/>
          <p:cNvSpPr/>
          <p:nvPr/>
        </p:nvSpPr>
        <p:spPr>
          <a:xfrm>
            <a:off x="3695691" y="3596878"/>
            <a:ext cx="816118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Global Visibility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2" name="Google Shape;102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524241" y="3958530"/>
            <a:ext cx="100013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5"/>
          <p:cNvSpPr/>
          <p:nvPr/>
        </p:nvSpPr>
        <p:spPr>
          <a:xfrm>
            <a:off x="3695691" y="3930848"/>
            <a:ext cx="908819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Consistent Policy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6048356" y="1323380"/>
            <a:ext cx="2524116" cy="3105745"/>
          </a:xfrm>
          <a:prstGeom prst="rect">
            <a:avLst/>
          </a:prstGeom>
          <a:solidFill>
            <a:srgbClr val="FFFFFF">
              <a:alpha val="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6048356" y="1323380"/>
            <a:ext cx="2524116" cy="42863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6953213" y="1537692"/>
            <a:ext cx="714375" cy="714375"/>
          </a:xfrm>
          <a:prstGeom prst="ellipse">
            <a:avLst/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7" name="Google Shape;107;p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149666" y="1752005"/>
            <a:ext cx="321469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5"/>
          <p:cNvSpPr/>
          <p:nvPr/>
        </p:nvSpPr>
        <p:spPr>
          <a:xfrm>
            <a:off x="6794683" y="2466380"/>
            <a:ext cx="1031463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Self-Healing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9" name="Google Shape;109;p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262669" y="2956620"/>
            <a:ext cx="100013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5"/>
          <p:cNvSpPr/>
          <p:nvPr/>
        </p:nvSpPr>
        <p:spPr>
          <a:xfrm>
            <a:off x="6434119" y="2928938"/>
            <a:ext cx="1176151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Automatic Retry Logic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1" name="Google Shape;111;p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262669" y="3290590"/>
            <a:ext cx="100013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/>
          <p:cNvSpPr/>
          <p:nvPr/>
        </p:nvSpPr>
        <p:spPr>
          <a:xfrm>
            <a:off x="6434119" y="3262908"/>
            <a:ext cx="959439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Fallback Channels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3" name="Google Shape;113;p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262669" y="3624560"/>
            <a:ext cx="100013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5"/>
          <p:cNvSpPr/>
          <p:nvPr/>
        </p:nvSpPr>
        <p:spPr>
          <a:xfrm>
            <a:off x="6434119" y="3596878"/>
            <a:ext cx="128760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Proactive Health Checks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5" name="Google Shape;115;p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262669" y="3958530"/>
            <a:ext cx="100013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/>
          <p:nvPr/>
        </p:nvSpPr>
        <p:spPr>
          <a:xfrm>
            <a:off x="6434119" y="3930848"/>
            <a:ext cx="776213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Auto-Recovery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571500" y="4672013"/>
            <a:ext cx="8001000" cy="494705"/>
          </a:xfrm>
          <a:prstGeom prst="rect">
            <a:avLst/>
          </a:prstGeom>
          <a:solidFill>
            <a:srgbClr val="FFD700">
              <a:alpha val="9803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714375" y="4814888"/>
            <a:ext cx="7715250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 Agent. Two Domains. </a:t>
            </a:r>
            <a:r>
              <a:rPr b="1" i="0" lang="en-US" sz="987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100% Automation.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4" name="Google Shape;12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6"/>
          <p:cNvSpPr/>
          <p:nvPr/>
        </p:nvSpPr>
        <p:spPr>
          <a:xfrm>
            <a:off x="571500" y="428625"/>
            <a:ext cx="8001000" cy="108942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571500" y="1503759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571500" y="428625"/>
            <a:ext cx="7318046" cy="932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Supervisor Proxy: The Local Certificate Broker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2157413" y="3268266"/>
            <a:ext cx="1225934" cy="135731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2157413" y="3268266"/>
            <a:ext cx="122593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075" spcFirstLastPara="1" rIns="85075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ENDPOINT (Localhost)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3857625" y="2146697"/>
            <a:ext cx="1428750" cy="1005483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18275">
            <a:solidFill>
              <a:srgbClr val="00B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1" name="Google Shape;13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3094" y="2343150"/>
            <a:ext cx="17781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6"/>
          <p:cNvSpPr/>
          <p:nvPr/>
        </p:nvSpPr>
        <p:spPr>
          <a:xfrm>
            <a:off x="4096969" y="2673548"/>
            <a:ext cx="950063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OpAMP Gateway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4144017" y="2864644"/>
            <a:ext cx="855966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Central Control Plane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6429375" y="2146697"/>
            <a:ext cx="1428750" cy="1005483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18275">
            <a:solidFill>
              <a:srgbClr val="8A2B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5" name="Google Shape;13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54844" y="2343150"/>
            <a:ext cx="17781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6"/>
          <p:cNvSpPr/>
          <p:nvPr/>
        </p:nvSpPr>
        <p:spPr>
          <a:xfrm>
            <a:off x="6864223" y="2673548"/>
            <a:ext cx="559054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EJBCA PKI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6768592" y="2864644"/>
            <a:ext cx="750289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Internal CA Engine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3679031" y="3575447"/>
            <a:ext cx="1785938" cy="1071563"/>
          </a:xfrm>
          <a:prstGeom prst="rect">
            <a:avLst/>
          </a:prstGeom>
          <a:solidFill>
            <a:srgbClr val="FFD700">
              <a:alpha val="4705"/>
            </a:srgbClr>
          </a:solidFill>
          <a:ln cap="flat" cmpd="sng" w="18275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9" name="Google Shape;139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83094" y="3761184"/>
            <a:ext cx="17781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6"/>
          <p:cNvSpPr/>
          <p:nvPr/>
        </p:nvSpPr>
        <p:spPr>
          <a:xfrm>
            <a:off x="4092029" y="4091583"/>
            <a:ext cx="959914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Supervisor Proxy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4104642" y="4282678"/>
            <a:ext cx="934687" cy="232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Local Certificate Broker</a:t>
            </a:r>
            <a:b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Cert Manager Module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2714625" y="3637955"/>
            <a:ext cx="1428750" cy="1005483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18275">
            <a:solidFill>
              <a:srgbClr val="32C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3" name="Google Shape;14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40094" y="3862983"/>
            <a:ext cx="17781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6"/>
          <p:cNvSpPr/>
          <p:nvPr/>
        </p:nvSpPr>
        <p:spPr>
          <a:xfrm>
            <a:off x="3176736" y="4193381"/>
            <a:ext cx="504527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OSQuery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2974395" y="4384477"/>
            <a:ext cx="909210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Consumes Cert via File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5000625" y="3637955"/>
            <a:ext cx="1428750" cy="1005483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18275">
            <a:solidFill>
              <a:srgbClr val="FF4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7" name="Google Shape;147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26094" y="3862983"/>
            <a:ext cx="17781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6"/>
          <p:cNvSpPr/>
          <p:nvPr/>
        </p:nvSpPr>
        <p:spPr>
          <a:xfrm>
            <a:off x="5274766" y="4193381"/>
            <a:ext cx="880467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OpenTelemetry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5256823" y="4384477"/>
            <a:ext cx="916325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Consumes Cert via Env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4652004" y="3146822"/>
            <a:ext cx="754754" cy="201811"/>
          </a:xfrm>
          <a:prstGeom prst="rect">
            <a:avLst/>
          </a:prstGeom>
          <a:solidFill>
            <a:srgbClr val="0A192F"/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4652004" y="3146822"/>
            <a:ext cx="754754" cy="201811"/>
          </a:xfrm>
          <a:prstGeom prst="rect">
            <a:avLst/>
          </a:prstGeom>
          <a:noFill/>
          <a:ln>
            <a:noFill/>
          </a:ln>
        </p:spPr>
        <p:txBody>
          <a:bodyPr anchorCtr="0" anchor="t" bIns="42525" lIns="85075" spcFirstLastPara="1" rIns="85075" wrap="square" tIns="425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OpAMP (mTLS)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4132171" y="5004197"/>
            <a:ext cx="879658" cy="201811"/>
          </a:xfrm>
          <a:prstGeom prst="rect">
            <a:avLst/>
          </a:prstGeom>
          <a:solidFill>
            <a:srgbClr val="0A192F"/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4132171" y="5004197"/>
            <a:ext cx="879658" cy="201811"/>
          </a:xfrm>
          <a:prstGeom prst="rect">
            <a:avLst/>
          </a:prstGeom>
          <a:noFill/>
          <a:ln>
            <a:noFill/>
          </a:ln>
        </p:spPr>
        <p:txBody>
          <a:bodyPr anchorCtr="0" anchor="t" bIns="42525" lIns="85075" spcFirstLastPara="1" rIns="85075" wrap="square" tIns="425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IPC / File Injection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5152151" y="2361009"/>
            <a:ext cx="705724" cy="201811"/>
          </a:xfrm>
          <a:prstGeom prst="rect">
            <a:avLst/>
          </a:prstGeom>
          <a:solidFill>
            <a:srgbClr val="0A192F"/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5152151" y="2361009"/>
            <a:ext cx="705724" cy="201811"/>
          </a:xfrm>
          <a:prstGeom prst="rect">
            <a:avLst/>
          </a:prstGeom>
          <a:noFill/>
          <a:ln>
            <a:noFill/>
          </a:ln>
        </p:spPr>
        <p:txBody>
          <a:bodyPr anchorCtr="0" anchor="t" bIns="42525" lIns="85075" spcFirstLastPara="1" rIns="85075" wrap="square" tIns="425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CMPv2 / REST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1" name="Google Shape;16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7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571500" y="428625"/>
            <a:ext cx="5537188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Zero-Touch Bootstrap Enrollment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1357313" y="1609130"/>
            <a:ext cx="428625" cy="428625"/>
          </a:xfrm>
          <a:prstGeom prst="ellipse">
            <a:avLst/>
          </a:prstGeom>
          <a:solidFill>
            <a:srgbClr val="FFFFFF">
              <a:alpha val="4705"/>
            </a:srgbClr>
          </a:solidFill>
          <a:ln cap="flat" cmpd="sng" w="18275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6" name="Google Shape;16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8750" y="1709142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7"/>
          <p:cNvSpPr/>
          <p:nvPr/>
        </p:nvSpPr>
        <p:spPr>
          <a:xfrm>
            <a:off x="1267011" y="2109192"/>
            <a:ext cx="609228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Supervisor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3357563" y="1609130"/>
            <a:ext cx="428625" cy="428625"/>
          </a:xfrm>
          <a:prstGeom prst="ellipse">
            <a:avLst/>
          </a:prstGeom>
          <a:solidFill>
            <a:srgbClr val="FFFFFF">
              <a:alpha val="4705"/>
            </a:srgbClr>
          </a:solidFill>
          <a:ln cap="flat" cmpd="sng" w="18275">
            <a:solidFill>
              <a:srgbClr val="00B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9" name="Google Shape;16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86150" y="1709142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7"/>
          <p:cNvSpPr/>
          <p:nvPr/>
        </p:nvSpPr>
        <p:spPr>
          <a:xfrm>
            <a:off x="3164793" y="2109192"/>
            <a:ext cx="814164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Cloud Identity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5357813" y="1609130"/>
            <a:ext cx="428625" cy="428625"/>
          </a:xfrm>
          <a:prstGeom prst="ellipse">
            <a:avLst/>
          </a:prstGeom>
          <a:solidFill>
            <a:srgbClr val="FFFFFF">
              <a:alpha val="4705"/>
            </a:srgbClr>
          </a:solidFill>
          <a:ln cap="flat" cmpd="sng" w="18275">
            <a:solidFill>
              <a:srgbClr val="FF4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2" name="Google Shape;17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9250" y="1709142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/>
          <p:nvPr/>
        </p:nvSpPr>
        <p:spPr>
          <a:xfrm>
            <a:off x="5249735" y="2109192"/>
            <a:ext cx="644779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OpAMP GW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7358063" y="1609130"/>
            <a:ext cx="428625" cy="428625"/>
          </a:xfrm>
          <a:prstGeom prst="ellipse">
            <a:avLst/>
          </a:prstGeom>
          <a:solidFill>
            <a:srgbClr val="FFFFFF">
              <a:alpha val="4705"/>
            </a:srgbClr>
          </a:solidFill>
          <a:ln cap="flat" cmpd="sng" w="18275">
            <a:solidFill>
              <a:srgbClr val="32C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5" name="Google Shape;175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58075" y="170914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7"/>
          <p:cNvSpPr/>
          <p:nvPr/>
        </p:nvSpPr>
        <p:spPr>
          <a:xfrm>
            <a:off x="7403771" y="2109192"/>
            <a:ext cx="337207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EJBCA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1571625" y="2316361"/>
            <a:ext cx="2000250" cy="14288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1571625" y="2173486"/>
            <a:ext cx="2000250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1. Get Instance Identity Doc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3571875" y="2744986"/>
            <a:ext cx="2000250" cy="14288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3571875" y="2602111"/>
            <a:ext cx="2000250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2. Send CSR + Identity Token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5572125" y="3173611"/>
            <a:ext cx="2000250" cy="14288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5572125" y="3030736"/>
            <a:ext cx="2000250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3. Validate Token &amp; CSR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 rot="10800000">
            <a:off x="5572125" y="3602236"/>
            <a:ext cx="2000250" cy="14288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5572125" y="3464719"/>
            <a:ext cx="2000250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4. Issue Certificate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 rot="10800000">
            <a:off x="3571875" y="4030861"/>
            <a:ext cx="2000250" cy="14288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3571875" y="3893344"/>
            <a:ext cx="2000250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5. Return Signed Cert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 rot="10800000">
            <a:off x="1571625" y="4459486"/>
            <a:ext cx="2000250" cy="14288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1571625" y="4321969"/>
            <a:ext cx="2000250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6. Install &amp; Configure mTLS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2687138" y="4473773"/>
            <a:ext cx="3769723" cy="383977"/>
          </a:xfrm>
          <a:prstGeom prst="rect">
            <a:avLst/>
          </a:prstGeom>
          <a:solidFill>
            <a:srgbClr val="32CD32">
              <a:alpha val="9803"/>
            </a:srgbClr>
          </a:solidFill>
          <a:ln cap="flat" cmpd="sng" w="9525">
            <a:solidFill>
              <a:srgbClr val="32C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0" name="Google Shape;190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08595" y="4615755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7"/>
          <p:cNvSpPr/>
          <p:nvPr/>
        </p:nvSpPr>
        <p:spPr>
          <a:xfrm>
            <a:off x="3094332" y="4595217"/>
            <a:ext cx="3141073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No Pre-Shared Keys. No Manual Steps. 100% Automated.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7" name="Google Shape;19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8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571500" y="428625"/>
            <a:ext cx="4357994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Secure Certificate Storage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571500" y="1323380"/>
            <a:ext cx="3893344" cy="1731466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785813" y="1537692"/>
            <a:ext cx="571500" cy="571500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3" name="Google Shape;20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6547" y="1680567"/>
            <a:ext cx="250031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8"/>
          <p:cNvSpPr/>
          <p:nvPr/>
        </p:nvSpPr>
        <p:spPr>
          <a:xfrm>
            <a:off x="1535906" y="1537692"/>
            <a:ext cx="2714625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Linux Systems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5" name="Google Shape;20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35906" y="1906488"/>
            <a:ext cx="87511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8"/>
          <p:cNvSpPr/>
          <p:nvPr/>
        </p:nvSpPr>
        <p:spPr>
          <a:xfrm>
            <a:off x="1694855" y="1878806"/>
            <a:ext cx="121033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Filesystem ACLs (0600)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7" name="Google Shape;207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35906" y="2133302"/>
            <a:ext cx="125016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8"/>
          <p:cNvSpPr/>
          <p:nvPr/>
        </p:nvSpPr>
        <p:spPr>
          <a:xfrm>
            <a:off x="1732359" y="2105620"/>
            <a:ext cx="1231599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Root/Service User Only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1535906" y="2332434"/>
            <a:ext cx="2714625" cy="360759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1535906" y="2332434"/>
            <a:ext cx="2714625" cy="360759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/var/lib/opamp/certs/agent.crt (0644)</a:t>
            </a:r>
            <a:br>
              <a:rPr b="0" i="0" lang="en-US" sz="621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21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/var/lib/opamp/certs/agent.key (0600)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4679156" y="1323380"/>
            <a:ext cx="3893344" cy="1731466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4893469" y="1537692"/>
            <a:ext cx="571500" cy="571500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00B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3" name="Google Shape;213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54203" y="1680567"/>
            <a:ext cx="250031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8"/>
          <p:cNvSpPr/>
          <p:nvPr/>
        </p:nvSpPr>
        <p:spPr>
          <a:xfrm>
            <a:off x="5643563" y="1537692"/>
            <a:ext cx="2714625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Windows Server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5" name="Google Shape;21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43563" y="1906488"/>
            <a:ext cx="87511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8"/>
          <p:cNvSpPr/>
          <p:nvPr/>
        </p:nvSpPr>
        <p:spPr>
          <a:xfrm>
            <a:off x="5802511" y="1878806"/>
            <a:ext cx="1378353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Windows Certificate Store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7" name="Google Shape;217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43563" y="2133302"/>
            <a:ext cx="125016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8"/>
          <p:cNvSpPr/>
          <p:nvPr/>
        </p:nvSpPr>
        <p:spPr>
          <a:xfrm>
            <a:off x="5840016" y="2105620"/>
            <a:ext cx="1522958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Non-Exportable Private Keys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5643563" y="2332434"/>
            <a:ext cx="2714625" cy="360759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5643563" y="2332434"/>
            <a:ext cx="2714625" cy="360759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Cert:\LocalMachine\My\[Thumbprint]</a:t>
            </a:r>
            <a:br>
              <a:rPr b="0" i="0" lang="en-US" sz="621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21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ACL: SYSTEM, Administrators Only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571500" y="3269159"/>
            <a:ext cx="3893344" cy="1731466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785813" y="3483471"/>
            <a:ext cx="571500" cy="571500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3" name="Google Shape;223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4406" y="3626346"/>
            <a:ext cx="214313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8"/>
          <p:cNvSpPr/>
          <p:nvPr/>
        </p:nvSpPr>
        <p:spPr>
          <a:xfrm>
            <a:off x="1535906" y="3483471"/>
            <a:ext cx="2714625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macOS Workstations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5" name="Google Shape;225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35906" y="3852267"/>
            <a:ext cx="87511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8"/>
          <p:cNvSpPr/>
          <p:nvPr/>
        </p:nvSpPr>
        <p:spPr>
          <a:xfrm>
            <a:off x="1694855" y="3824585"/>
            <a:ext cx="899108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System Keychain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7" name="Google Shape;227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535906" y="4079081"/>
            <a:ext cx="125016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8"/>
          <p:cNvSpPr/>
          <p:nvPr/>
        </p:nvSpPr>
        <p:spPr>
          <a:xfrm>
            <a:off x="1732359" y="4051399"/>
            <a:ext cx="1447391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Secure Enclave (T2/M1/M2)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1535906" y="4278213"/>
            <a:ext cx="2714625" cy="360759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1535906" y="4278213"/>
            <a:ext cx="2714625" cy="360759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security add-trusted-cert -d -r trustRoot</a:t>
            </a:r>
            <a:br>
              <a:rPr b="0" i="0" lang="en-US" sz="621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21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Access Control: TouchID / Password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4679156" y="3269159"/>
            <a:ext cx="3893344" cy="1731466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4893469" y="3483471"/>
            <a:ext cx="571500" cy="571500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4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3" name="Google Shape;233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036344" y="3626346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8"/>
          <p:cNvSpPr/>
          <p:nvPr/>
        </p:nvSpPr>
        <p:spPr>
          <a:xfrm>
            <a:off x="5643563" y="3483471"/>
            <a:ext cx="2714625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Hardware Security (TPM)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5" name="Google Shape;235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643563" y="3852267"/>
            <a:ext cx="87511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8"/>
          <p:cNvSpPr/>
          <p:nvPr/>
        </p:nvSpPr>
        <p:spPr>
          <a:xfrm>
            <a:off x="5802511" y="3824585"/>
            <a:ext cx="1228976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Hardware-Backed Keys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7" name="Google Shape;237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643563" y="4079081"/>
            <a:ext cx="125016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8"/>
          <p:cNvSpPr/>
          <p:nvPr/>
        </p:nvSpPr>
        <p:spPr>
          <a:xfrm>
            <a:off x="5840016" y="4051399"/>
            <a:ext cx="1492318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Key Never Leaves Hardware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5643563" y="4278213"/>
            <a:ext cx="2714625" cy="360759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5643563" y="4278213"/>
            <a:ext cx="2714625" cy="360759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102100" spcFirstLastPara="1" rIns="102100" wrap="square" tIns="6805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TPM 2.0 Attestation</a:t>
            </a:r>
            <a:br>
              <a:rPr b="0" i="0" lang="en-US" sz="621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21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Private Key: Non-Extractable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6" name="Google Shape;2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9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571500" y="428625"/>
            <a:ext cx="5437677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Automating mTLS Configuration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4357688" y="2357438"/>
            <a:ext cx="428625" cy="428625"/>
          </a:xfrm>
          <a:prstGeom prst="ellipse">
            <a:avLst/>
          </a:prstGeom>
          <a:solidFill>
            <a:srgbClr val="0A192F"/>
          </a:solidFill>
          <a:ln cap="flat" cmpd="sng" w="182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4357688" y="2357438"/>
            <a:ext cx="4286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571500" y="1323380"/>
            <a:ext cx="3857625" cy="3677245"/>
          </a:xfrm>
          <a:prstGeom prst="rect">
            <a:avLst/>
          </a:prstGeom>
          <a:solidFill>
            <a:srgbClr val="FF4500">
              <a:alpha val="4705"/>
            </a:srgbClr>
          </a:solidFill>
          <a:ln cap="flat" cmpd="sng" w="9525">
            <a:solidFill>
              <a:srgbClr val="FF450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3" name="Google Shape;25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5813" y="1540371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9"/>
          <p:cNvSpPr/>
          <p:nvPr/>
        </p:nvSpPr>
        <p:spPr>
          <a:xfrm>
            <a:off x="1178719" y="1537692"/>
            <a:ext cx="1882183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Manual Configuration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785813" y="2150269"/>
            <a:ext cx="171450" cy="171450"/>
          </a:xfrm>
          <a:prstGeom prst="ellipse">
            <a:avLst/>
          </a:prstGeom>
          <a:solidFill>
            <a:srgbClr val="FF450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785813" y="2150269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1064419" y="2135981"/>
            <a:ext cx="1942207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Generate CSR manually on endpoint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785813" y="2478881"/>
            <a:ext cx="171450" cy="171450"/>
          </a:xfrm>
          <a:prstGeom prst="ellipse">
            <a:avLst/>
          </a:prstGeom>
          <a:solidFill>
            <a:srgbClr val="FF450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785813" y="2478881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1064419" y="2464594"/>
            <a:ext cx="1932719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Copy CSR to CA, sign, download cert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785813" y="2807494"/>
            <a:ext cx="171450" cy="171450"/>
          </a:xfrm>
          <a:prstGeom prst="ellipse">
            <a:avLst/>
          </a:prstGeom>
          <a:solidFill>
            <a:srgbClr val="FF450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785813" y="2807494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1064419" y="2793206"/>
            <a:ext cx="1488300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SCP cert/key to correct path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785813" y="3136106"/>
            <a:ext cx="171450" cy="171450"/>
          </a:xfrm>
          <a:prstGeom prst="ellipse">
            <a:avLst/>
          </a:prstGeom>
          <a:solidFill>
            <a:srgbClr val="FF450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785813" y="3136106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1064419" y="3121819"/>
            <a:ext cx="1682158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Edit config file to point to paths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785813" y="3464719"/>
            <a:ext cx="171450" cy="171450"/>
          </a:xfrm>
          <a:prstGeom prst="ellipse">
            <a:avLst/>
          </a:prstGeom>
          <a:solidFill>
            <a:srgbClr val="FF450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785813" y="3464719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1064419" y="3450431"/>
            <a:ext cx="1310571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Restart service manually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785813" y="4209455"/>
            <a:ext cx="3421856" cy="576858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785813" y="4209455"/>
            <a:ext cx="3421856" cy="576858"/>
          </a:xfrm>
          <a:prstGeom prst="rect">
            <a:avLst/>
          </a:prstGeom>
          <a:noFill/>
          <a:ln>
            <a:noFill/>
          </a:ln>
        </p:spPr>
        <p:txBody>
          <a:bodyPr anchorCtr="0" anchor="t" bIns="127500" lIns="127500" spcFirstLastPara="1" rIns="127500" wrap="square" tIns="12750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# Error Prone &amp; Slow</a:t>
            </a:r>
            <a:b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 tls_cert_file: /etc/pki/tls/certs/server.crt</a:t>
            </a:r>
            <a:b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 tls_key_file: /etc/pki/tls/private/server.key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4707731" y="1323380"/>
            <a:ext cx="3864769" cy="3677245"/>
          </a:xfrm>
          <a:prstGeom prst="rect">
            <a:avLst/>
          </a:prstGeom>
          <a:solidFill>
            <a:srgbClr val="32CD32">
              <a:alpha val="4705"/>
            </a:srgbClr>
          </a:solidFill>
          <a:ln cap="flat" cmpd="sng" w="9525">
            <a:solidFill>
              <a:srgbClr val="32CD32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3" name="Google Shape;27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29188" y="1540371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9"/>
          <p:cNvSpPr/>
          <p:nvPr/>
        </p:nvSpPr>
        <p:spPr>
          <a:xfrm>
            <a:off x="5322094" y="1537692"/>
            <a:ext cx="1724964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Supervisor Injection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4929188" y="2150269"/>
            <a:ext cx="171450" cy="171450"/>
          </a:xfrm>
          <a:prstGeom prst="ellipse">
            <a:avLst/>
          </a:prstGeom>
          <a:solidFill>
            <a:srgbClr val="32CD3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9"/>
          <p:cNvSpPr/>
          <p:nvPr/>
        </p:nvSpPr>
        <p:spPr>
          <a:xfrm>
            <a:off x="4929188" y="2150269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5207794" y="2135981"/>
            <a:ext cx="1809155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Supervisor auto-enrolls certificate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4929188" y="2478881"/>
            <a:ext cx="171450" cy="171450"/>
          </a:xfrm>
          <a:prstGeom prst="ellipse">
            <a:avLst/>
          </a:prstGeom>
          <a:solidFill>
            <a:srgbClr val="32CD3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"/>
          <p:cNvSpPr/>
          <p:nvPr/>
        </p:nvSpPr>
        <p:spPr>
          <a:xfrm>
            <a:off x="4929188" y="2478881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5207794" y="2464594"/>
            <a:ext cx="1800699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Injects paths into config template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4929188" y="2807494"/>
            <a:ext cx="171450" cy="171450"/>
          </a:xfrm>
          <a:prstGeom prst="ellipse">
            <a:avLst/>
          </a:prstGeom>
          <a:solidFill>
            <a:srgbClr val="32CD3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9"/>
          <p:cNvSpPr/>
          <p:nvPr/>
        </p:nvSpPr>
        <p:spPr>
          <a:xfrm>
            <a:off x="4929188" y="2807494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5207794" y="2793206"/>
            <a:ext cx="1283726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Writes config file to disk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4929188" y="3136106"/>
            <a:ext cx="171450" cy="171450"/>
          </a:xfrm>
          <a:prstGeom prst="ellipse">
            <a:avLst/>
          </a:prstGeom>
          <a:solidFill>
            <a:srgbClr val="32CD3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9"/>
          <p:cNvSpPr/>
          <p:nvPr/>
        </p:nvSpPr>
        <p:spPr>
          <a:xfrm>
            <a:off x="4929188" y="3136106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5207794" y="3121819"/>
            <a:ext cx="1682744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Starts agent with correct config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4929188" y="3464719"/>
            <a:ext cx="171450" cy="171450"/>
          </a:xfrm>
          <a:prstGeom prst="ellipse">
            <a:avLst/>
          </a:prstGeom>
          <a:solidFill>
            <a:srgbClr val="32CD3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9"/>
          <p:cNvSpPr/>
          <p:nvPr/>
        </p:nvSpPr>
        <p:spPr>
          <a:xfrm>
            <a:off x="4929188" y="3464719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5207794" y="3450431"/>
            <a:ext cx="1317324" cy="16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Auto-reloads on rotation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4929188" y="4209455"/>
            <a:ext cx="3429000" cy="576858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9"/>
          <p:cNvSpPr/>
          <p:nvPr/>
        </p:nvSpPr>
        <p:spPr>
          <a:xfrm>
            <a:off x="4929188" y="4209455"/>
            <a:ext cx="3429000" cy="576858"/>
          </a:xfrm>
          <a:prstGeom prst="rect">
            <a:avLst/>
          </a:prstGeom>
          <a:noFill/>
          <a:ln>
            <a:noFill/>
          </a:ln>
        </p:spPr>
        <p:txBody>
          <a:bodyPr anchorCtr="0" anchor="t" bIns="127500" lIns="127500" spcFirstLastPara="1" rIns="127500" wrap="square" tIns="12750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# Dynamic Template Injection</a:t>
            </a:r>
            <a:b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 tls_cert_file: </a:t>
            </a:r>
            <a:r>
              <a:rPr b="0" i="0" lang="en-US" sz="621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{{ .CertPath }}</a:t>
            </a:r>
            <a:b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 tls_key_file: </a:t>
            </a:r>
            <a:r>
              <a:rPr b="0" i="0" lang="en-US" sz="621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{{ .KeyPath }}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7" name="Google Shape;29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0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0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0"/>
          <p:cNvSpPr/>
          <p:nvPr/>
        </p:nvSpPr>
        <p:spPr>
          <a:xfrm>
            <a:off x="571500" y="428625"/>
            <a:ext cx="4418326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Certificate Usage Patterns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571500" y="1323380"/>
            <a:ext cx="2524116" cy="3677245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0"/>
          <p:cNvSpPr/>
          <p:nvPr/>
        </p:nvSpPr>
        <p:spPr>
          <a:xfrm>
            <a:off x="785813" y="1537692"/>
            <a:ext cx="428625" cy="428625"/>
          </a:xfrm>
          <a:prstGeom prst="rect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3" name="Google Shape;30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7611" y="1651992"/>
            <a:ext cx="225028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0"/>
          <p:cNvSpPr/>
          <p:nvPr/>
        </p:nvSpPr>
        <p:spPr>
          <a:xfrm>
            <a:off x="1321594" y="1644848"/>
            <a:ext cx="1131754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 Identity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785813" y="2223492"/>
            <a:ext cx="2085975" cy="1328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Used by agents to authenticate themselves to the OpAMP Gateway and other services via mTLS.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785813" y="3695105"/>
            <a:ext cx="782659" cy="187523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"/>
          <p:cNvSpPr/>
          <p:nvPr/>
        </p:nvSpPr>
        <p:spPr>
          <a:xfrm>
            <a:off x="785813" y="3695105"/>
            <a:ext cx="782659" cy="187523"/>
          </a:xfrm>
          <a:prstGeom prst="rect">
            <a:avLst/>
          </a:prstGeom>
          <a:noFill/>
          <a:ln>
            <a:noFill/>
          </a:ln>
        </p:spPr>
        <p:txBody>
          <a:bodyPr anchorCtr="0" anchor="t" bIns="42525" lIns="85075" spcFirstLastPara="1" rIns="85075" wrap="square" tIns="425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digitalSignature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1639909" y="3695105"/>
            <a:ext cx="844804" cy="187523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0"/>
          <p:cNvSpPr/>
          <p:nvPr/>
        </p:nvSpPr>
        <p:spPr>
          <a:xfrm>
            <a:off x="1639909" y="3695105"/>
            <a:ext cx="844804" cy="187523"/>
          </a:xfrm>
          <a:prstGeom prst="rect">
            <a:avLst/>
          </a:prstGeom>
          <a:noFill/>
          <a:ln>
            <a:noFill/>
          </a:ln>
        </p:spPr>
        <p:txBody>
          <a:bodyPr anchorCtr="0" anchor="t" bIns="42525" lIns="85075" spcFirstLastPara="1" rIns="85075" wrap="square" tIns="425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keyEncipherment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785813" y="3954066"/>
            <a:ext cx="552217" cy="187523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0"/>
          <p:cNvSpPr/>
          <p:nvPr/>
        </p:nvSpPr>
        <p:spPr>
          <a:xfrm>
            <a:off x="785813" y="3954066"/>
            <a:ext cx="552217" cy="187523"/>
          </a:xfrm>
          <a:prstGeom prst="rect">
            <a:avLst/>
          </a:prstGeom>
          <a:noFill/>
          <a:ln>
            <a:noFill/>
          </a:ln>
        </p:spPr>
        <p:txBody>
          <a:bodyPr anchorCtr="0" anchor="t" bIns="42525" lIns="85075" spcFirstLastPara="1" rIns="85075" wrap="square" tIns="425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clientAuth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785813" y="4284464"/>
            <a:ext cx="2085975" cy="5018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0"/>
          <p:cNvSpPr/>
          <p:nvPr/>
        </p:nvSpPr>
        <p:spPr>
          <a:xfrm>
            <a:off x="785813" y="4284464"/>
            <a:ext cx="28575" cy="501848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0"/>
          <p:cNvSpPr/>
          <p:nvPr/>
        </p:nvSpPr>
        <p:spPr>
          <a:xfrm>
            <a:off x="892969" y="4391620"/>
            <a:ext cx="1871663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892969" y="4543425"/>
            <a:ext cx="187166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 connecting to Gateway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3300413" y="1323380"/>
            <a:ext cx="2528888" cy="3677245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0"/>
          <p:cNvSpPr/>
          <p:nvPr/>
        </p:nvSpPr>
        <p:spPr>
          <a:xfrm>
            <a:off x="3519497" y="1537692"/>
            <a:ext cx="428625" cy="428625"/>
          </a:xfrm>
          <a:prstGeom prst="rect">
            <a:avLst/>
          </a:prstGeom>
          <a:solidFill>
            <a:srgbClr val="FFD7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8" name="Google Shape;31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33797" y="1651992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0"/>
          <p:cNvSpPr/>
          <p:nvPr/>
        </p:nvSpPr>
        <p:spPr>
          <a:xfrm>
            <a:off x="4055278" y="1644848"/>
            <a:ext cx="11759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Server Identity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3519497" y="2223492"/>
            <a:ext cx="2090747" cy="1328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Used by local services (e.g., Supervisor API) to prove their identity to local clients.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3519497" y="3695105"/>
            <a:ext cx="782659" cy="187523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0"/>
          <p:cNvSpPr/>
          <p:nvPr/>
        </p:nvSpPr>
        <p:spPr>
          <a:xfrm>
            <a:off x="3519497" y="3695105"/>
            <a:ext cx="782659" cy="187523"/>
          </a:xfrm>
          <a:prstGeom prst="rect">
            <a:avLst/>
          </a:prstGeom>
          <a:noFill/>
          <a:ln>
            <a:noFill/>
          </a:ln>
        </p:spPr>
        <p:txBody>
          <a:bodyPr anchorCtr="0" anchor="t" bIns="42525" lIns="85075" spcFirstLastPara="1" rIns="85075" wrap="square" tIns="425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digitalSignature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4373594" y="3695105"/>
            <a:ext cx="844804" cy="187523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0"/>
          <p:cNvSpPr/>
          <p:nvPr/>
        </p:nvSpPr>
        <p:spPr>
          <a:xfrm>
            <a:off x="4373594" y="3695105"/>
            <a:ext cx="844804" cy="187523"/>
          </a:xfrm>
          <a:prstGeom prst="rect">
            <a:avLst/>
          </a:prstGeom>
          <a:noFill/>
          <a:ln>
            <a:noFill/>
          </a:ln>
        </p:spPr>
        <p:txBody>
          <a:bodyPr anchorCtr="0" anchor="t" bIns="42525" lIns="85075" spcFirstLastPara="1" rIns="85075" wrap="square" tIns="425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keyEncipherment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3519497" y="3954066"/>
            <a:ext cx="586680" cy="187523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0"/>
          <p:cNvSpPr/>
          <p:nvPr/>
        </p:nvSpPr>
        <p:spPr>
          <a:xfrm>
            <a:off x="3519497" y="3954066"/>
            <a:ext cx="586680" cy="187523"/>
          </a:xfrm>
          <a:prstGeom prst="rect">
            <a:avLst/>
          </a:prstGeom>
          <a:noFill/>
          <a:ln>
            <a:noFill/>
          </a:ln>
        </p:spPr>
        <p:txBody>
          <a:bodyPr anchorCtr="0" anchor="t" bIns="42525" lIns="85075" spcFirstLastPara="1" rIns="85075" wrap="square" tIns="425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serverAuth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3519497" y="4284464"/>
            <a:ext cx="2090747" cy="5018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0"/>
          <p:cNvSpPr/>
          <p:nvPr/>
        </p:nvSpPr>
        <p:spPr>
          <a:xfrm>
            <a:off x="3519497" y="4284464"/>
            <a:ext cx="28575" cy="50184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0"/>
          <p:cNvSpPr/>
          <p:nvPr/>
        </p:nvSpPr>
        <p:spPr>
          <a:xfrm>
            <a:off x="3626653" y="4391620"/>
            <a:ext cx="1876434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3626653" y="4543425"/>
            <a:ext cx="187643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Supervisor Local API (localhost)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6038869" y="1323380"/>
            <a:ext cx="2533659" cy="3677245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0"/>
          <p:cNvSpPr/>
          <p:nvPr/>
        </p:nvSpPr>
        <p:spPr>
          <a:xfrm>
            <a:off x="6262669" y="1537692"/>
            <a:ext cx="428625" cy="428625"/>
          </a:xfrm>
          <a:prstGeom prst="rect">
            <a:avLst/>
          </a:prstGeom>
          <a:solidFill>
            <a:srgbClr val="32CD32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3" name="Google Shape;333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64467" y="1651992"/>
            <a:ext cx="225028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0"/>
          <p:cNvSpPr/>
          <p:nvPr/>
        </p:nvSpPr>
        <p:spPr>
          <a:xfrm>
            <a:off x="6798450" y="1644848"/>
            <a:ext cx="1018598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 Signing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6262669" y="2223492"/>
            <a:ext cx="2095491" cy="1587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Used to verify the integrity and origin of agent packages and configuration updates.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6262669" y="3954066"/>
            <a:ext cx="782659" cy="187523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0"/>
          <p:cNvSpPr/>
          <p:nvPr/>
        </p:nvSpPr>
        <p:spPr>
          <a:xfrm>
            <a:off x="6262669" y="3954066"/>
            <a:ext cx="782659" cy="187523"/>
          </a:xfrm>
          <a:prstGeom prst="rect">
            <a:avLst/>
          </a:prstGeom>
          <a:noFill/>
          <a:ln>
            <a:noFill/>
          </a:ln>
        </p:spPr>
        <p:txBody>
          <a:bodyPr anchorCtr="0" anchor="t" bIns="42525" lIns="85075" spcFirstLastPara="1" rIns="85075" wrap="square" tIns="425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digitalSignature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7116766" y="3954066"/>
            <a:ext cx="639673" cy="187523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0"/>
          <p:cNvSpPr/>
          <p:nvPr/>
        </p:nvSpPr>
        <p:spPr>
          <a:xfrm>
            <a:off x="7116766" y="3954066"/>
            <a:ext cx="639673" cy="187523"/>
          </a:xfrm>
          <a:prstGeom prst="rect">
            <a:avLst/>
          </a:prstGeom>
          <a:noFill/>
          <a:ln>
            <a:noFill/>
          </a:ln>
        </p:spPr>
        <p:txBody>
          <a:bodyPr anchorCtr="0" anchor="t" bIns="42525" lIns="85075" spcFirstLastPara="1" rIns="85075" wrap="square" tIns="425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codeSigning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6262669" y="4284464"/>
            <a:ext cx="2095491" cy="5018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0"/>
          <p:cNvSpPr/>
          <p:nvPr/>
        </p:nvSpPr>
        <p:spPr>
          <a:xfrm>
            <a:off x="6262669" y="4284464"/>
            <a:ext cx="28575" cy="501848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0"/>
          <p:cNvSpPr/>
          <p:nvPr/>
        </p:nvSpPr>
        <p:spPr>
          <a:xfrm>
            <a:off x="6369825" y="4391620"/>
            <a:ext cx="1881178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6369825" y="4543425"/>
            <a:ext cx="1881178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Verifying Agent Binary Update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49" name="Google Shape;34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1"/>
          <p:cNvSpPr/>
          <p:nvPr/>
        </p:nvSpPr>
        <p:spPr>
          <a:xfrm>
            <a:off x="571500" y="285750"/>
            <a:ext cx="8001000" cy="53042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1"/>
          <p:cNvSpPr/>
          <p:nvPr/>
        </p:nvSpPr>
        <p:spPr>
          <a:xfrm>
            <a:off x="571500" y="801886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1"/>
          <p:cNvSpPr/>
          <p:nvPr/>
        </p:nvSpPr>
        <p:spPr>
          <a:xfrm>
            <a:off x="571500" y="285750"/>
            <a:ext cx="4324369" cy="408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Certificate Health Monitoring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571500" y="944761"/>
            <a:ext cx="1919883" cy="642938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1"/>
          <p:cNvSpPr/>
          <p:nvPr/>
        </p:nvSpPr>
        <p:spPr>
          <a:xfrm>
            <a:off x="678656" y="1105495"/>
            <a:ext cx="321469" cy="321469"/>
          </a:xfrm>
          <a:prstGeom prst="rect">
            <a:avLst/>
          </a:prstGeom>
          <a:solidFill>
            <a:srgbClr val="32CD32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5" name="Google Shape;35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7953" y="1194792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1"/>
          <p:cNvSpPr/>
          <p:nvPr/>
        </p:nvSpPr>
        <p:spPr>
          <a:xfrm>
            <a:off x="1107281" y="1095673"/>
            <a:ext cx="1266230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99.96%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1107281" y="1329630"/>
            <a:ext cx="1266230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Healthy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1"/>
          <p:cNvSpPr/>
          <p:nvPr/>
        </p:nvSpPr>
        <p:spPr>
          <a:xfrm>
            <a:off x="2587823" y="944761"/>
            <a:ext cx="1923455" cy="642938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1"/>
          <p:cNvSpPr/>
          <p:nvPr/>
        </p:nvSpPr>
        <p:spPr>
          <a:xfrm>
            <a:off x="2698552" y="1105495"/>
            <a:ext cx="321469" cy="321469"/>
          </a:xfrm>
          <a:prstGeom prst="rect">
            <a:avLst/>
          </a:prstGeom>
          <a:solidFill>
            <a:srgbClr val="FFD7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0" name="Google Shape;36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87848" y="1194792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1"/>
          <p:cNvSpPr/>
          <p:nvPr/>
        </p:nvSpPr>
        <p:spPr>
          <a:xfrm>
            <a:off x="3127177" y="1095673"/>
            <a:ext cx="1269802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1,240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3127177" y="1329630"/>
            <a:ext cx="1269802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Expiring &lt; 30d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4611291" y="944761"/>
            <a:ext cx="1927027" cy="642938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1"/>
          <p:cNvSpPr/>
          <p:nvPr/>
        </p:nvSpPr>
        <p:spPr>
          <a:xfrm>
            <a:off x="4725591" y="1105495"/>
            <a:ext cx="321469" cy="321469"/>
          </a:xfrm>
          <a:prstGeom prst="rect">
            <a:avLst/>
          </a:prstGeom>
          <a:solidFill>
            <a:srgbClr val="FF45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5" name="Google Shape;365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14888" y="1194792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11"/>
          <p:cNvSpPr/>
          <p:nvPr/>
        </p:nvSpPr>
        <p:spPr>
          <a:xfrm>
            <a:off x="5154216" y="1095673"/>
            <a:ext cx="1273373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1"/>
          <p:cNvSpPr/>
          <p:nvPr/>
        </p:nvSpPr>
        <p:spPr>
          <a:xfrm>
            <a:off x="5154216" y="1329630"/>
            <a:ext cx="1273373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Critical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1"/>
          <p:cNvSpPr/>
          <p:nvPr/>
        </p:nvSpPr>
        <p:spPr>
          <a:xfrm>
            <a:off x="6641902" y="944761"/>
            <a:ext cx="1930598" cy="642938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1"/>
          <p:cNvSpPr/>
          <p:nvPr/>
        </p:nvSpPr>
        <p:spPr>
          <a:xfrm>
            <a:off x="6759773" y="1105495"/>
            <a:ext cx="321469" cy="321469"/>
          </a:xfrm>
          <a:prstGeom prst="rect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0" name="Google Shape;370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49070" y="1194792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11"/>
          <p:cNvSpPr/>
          <p:nvPr/>
        </p:nvSpPr>
        <p:spPr>
          <a:xfrm>
            <a:off x="7188398" y="1095673"/>
            <a:ext cx="1276945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2,777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1"/>
          <p:cNvSpPr/>
          <p:nvPr/>
        </p:nvSpPr>
        <p:spPr>
          <a:xfrm>
            <a:off x="7188398" y="1329630"/>
            <a:ext cx="1276945" cy="107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39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568"/>
              <a:buFont typeface="Calibri"/>
              <a:buNone/>
            </a:pPr>
            <a:r>
              <a:rPr b="0" i="0" lang="en-US" sz="568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Renewed Today</a:t>
            </a:r>
            <a:endParaRPr b="0" i="0" sz="5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1"/>
          <p:cNvSpPr/>
          <p:nvPr/>
        </p:nvSpPr>
        <p:spPr>
          <a:xfrm>
            <a:off x="571500" y="1694855"/>
            <a:ext cx="5920383" cy="3378994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1"/>
          <p:cNvSpPr/>
          <p:nvPr/>
        </p:nvSpPr>
        <p:spPr>
          <a:xfrm>
            <a:off x="678656" y="1802011"/>
            <a:ext cx="168352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Expiry Timeline (Next 90 Days)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5607788" y="1802011"/>
            <a:ext cx="776939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Updated: Just Now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6" name="Google Shape;376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8656" y="2028825"/>
            <a:ext cx="5691783" cy="292358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1"/>
          <p:cNvSpPr/>
          <p:nvPr/>
        </p:nvSpPr>
        <p:spPr>
          <a:xfrm>
            <a:off x="6599039" y="1694855"/>
            <a:ext cx="1973461" cy="3364706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1"/>
          <p:cNvSpPr/>
          <p:nvPr/>
        </p:nvSpPr>
        <p:spPr>
          <a:xfrm>
            <a:off x="6706195" y="1802011"/>
            <a:ext cx="1759148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Health Breakdown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1"/>
          <p:cNvSpPr/>
          <p:nvPr/>
        </p:nvSpPr>
        <p:spPr>
          <a:xfrm>
            <a:off x="6834783" y="2580233"/>
            <a:ext cx="1321091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Valid (&gt;60 days)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/>
          <p:nvPr/>
        </p:nvSpPr>
        <p:spPr>
          <a:xfrm>
            <a:off x="8227312" y="2575768"/>
            <a:ext cx="238032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145K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1"/>
          <p:cNvSpPr/>
          <p:nvPr/>
        </p:nvSpPr>
        <p:spPr>
          <a:xfrm>
            <a:off x="6834783" y="3327202"/>
            <a:ext cx="1378297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Renewing (30-60 days)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/>
          <p:nvPr/>
        </p:nvSpPr>
        <p:spPr>
          <a:xfrm>
            <a:off x="8284518" y="3322737"/>
            <a:ext cx="18082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53K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1"/>
          <p:cNvSpPr/>
          <p:nvPr/>
        </p:nvSpPr>
        <p:spPr>
          <a:xfrm>
            <a:off x="6834783" y="4074170"/>
            <a:ext cx="1444684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Critical (&lt;7 days)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1"/>
          <p:cNvSpPr/>
          <p:nvPr/>
        </p:nvSpPr>
        <p:spPr>
          <a:xfrm>
            <a:off x="8350904" y="4069705"/>
            <a:ext cx="11444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1"/>
          <p:cNvSpPr/>
          <p:nvPr/>
        </p:nvSpPr>
        <p:spPr>
          <a:xfrm>
            <a:off x="6834783" y="4821138"/>
            <a:ext cx="1349778" cy="126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531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74"/>
              <a:buFont typeface="Calibri"/>
              <a:buNone/>
            </a:pPr>
            <a:r>
              <a:rPr b="0" i="0" lang="en-US" sz="67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Revoked</a:t>
            </a:r>
            <a:endParaRPr b="0" i="0" sz="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8255998" y="4816673"/>
            <a:ext cx="209345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1.2K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2" name="Google Shape;39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2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2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2"/>
          <p:cNvSpPr/>
          <p:nvPr/>
        </p:nvSpPr>
        <p:spPr>
          <a:xfrm>
            <a:off x="571500" y="428625"/>
            <a:ext cx="5229113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90-Day Certificate Lifecycle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395013" y="966192"/>
            <a:ext cx="352974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 0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5591491" y="966192"/>
            <a:ext cx="521326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Day 60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6999047" y="966192"/>
            <a:ext cx="426532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Day 75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8449494" y="966192"/>
            <a:ext cx="246013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Day 90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2"/>
          <p:cNvSpPr/>
          <p:nvPr/>
        </p:nvSpPr>
        <p:spPr>
          <a:xfrm>
            <a:off x="857250" y="2836962"/>
            <a:ext cx="7429500" cy="85725"/>
          </a:xfrm>
          <a:prstGeom prst="roundRect">
            <a:avLst>
              <a:gd fmla="val 16667" name="adj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2"/>
          <p:cNvSpPr/>
          <p:nvPr/>
        </p:nvSpPr>
        <p:spPr>
          <a:xfrm>
            <a:off x="-214312" y="1609130"/>
            <a:ext cx="1571625" cy="640035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32C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2"/>
          <p:cNvSpPr/>
          <p:nvPr/>
        </p:nvSpPr>
        <p:spPr>
          <a:xfrm>
            <a:off x="-107156" y="1716286"/>
            <a:ext cx="135731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Issuance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-107156" y="1887736"/>
            <a:ext cx="1357313" cy="239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4927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Certificate issued and installed. Validity period begins.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4923467" y="1609130"/>
            <a:ext cx="1857375" cy="760028"/>
          </a:xfrm>
          <a:prstGeom prst="rect">
            <a:avLst/>
          </a:prstGeom>
          <a:solidFill>
            <a:srgbClr val="FFD700">
              <a:alpha val="9803"/>
            </a:srgbClr>
          </a:solidFill>
          <a:ln cap="flat" cmpd="sng" w="9525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2"/>
          <p:cNvSpPr/>
          <p:nvPr/>
        </p:nvSpPr>
        <p:spPr>
          <a:xfrm>
            <a:off x="5030623" y="1716286"/>
            <a:ext cx="164306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Auto-Renewal Trigger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2"/>
          <p:cNvSpPr/>
          <p:nvPr/>
        </p:nvSpPr>
        <p:spPr>
          <a:xfrm>
            <a:off x="5030623" y="1887736"/>
            <a:ext cx="1643063" cy="359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4927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Supervisor initiates renewal. 30-day buffer ensures zero downtime even if retries needed.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6426501" y="1609130"/>
            <a:ext cx="1571625" cy="640035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4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2"/>
          <p:cNvSpPr/>
          <p:nvPr/>
        </p:nvSpPr>
        <p:spPr>
          <a:xfrm>
            <a:off x="6533657" y="1716286"/>
            <a:ext cx="135731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Critical Warning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2"/>
          <p:cNvSpPr/>
          <p:nvPr/>
        </p:nvSpPr>
        <p:spPr>
          <a:xfrm>
            <a:off x="6533657" y="1887736"/>
            <a:ext cx="1357313" cy="239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4927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If renewal failed, alerts escalate to P1. 15 days remaining.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/>
          <p:nvPr/>
        </p:nvSpPr>
        <p:spPr>
          <a:xfrm>
            <a:off x="7786688" y="1609130"/>
            <a:ext cx="1571625" cy="760028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2"/>
          <p:cNvSpPr/>
          <p:nvPr/>
        </p:nvSpPr>
        <p:spPr>
          <a:xfrm>
            <a:off x="7893844" y="1716286"/>
            <a:ext cx="135731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Expiry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2"/>
          <p:cNvSpPr/>
          <p:nvPr/>
        </p:nvSpPr>
        <p:spPr>
          <a:xfrm>
            <a:off x="7893844" y="1887736"/>
            <a:ext cx="1357313" cy="359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4927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Hard stop. Certificate invalid. Service interruption if not renewed.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3" name="Google Shape;41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33151" y="3783509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12"/>
          <p:cNvSpPr/>
          <p:nvPr/>
        </p:nvSpPr>
        <p:spPr>
          <a:xfrm>
            <a:off x="3133176" y="3779937"/>
            <a:ext cx="69339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Healthy Period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5" name="Google Shape;415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12316" y="3783509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12"/>
          <p:cNvSpPr/>
          <p:nvPr/>
        </p:nvSpPr>
        <p:spPr>
          <a:xfrm>
            <a:off x="4312341" y="3779937"/>
            <a:ext cx="800602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Renewal Window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7" name="Google Shape;417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98694" y="3783509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2"/>
          <p:cNvSpPr/>
          <p:nvPr/>
        </p:nvSpPr>
        <p:spPr>
          <a:xfrm>
            <a:off x="5598719" y="3779937"/>
            <a:ext cx="612102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Danger Zone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24" name="Google Shape;42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13"/>
          <p:cNvSpPr/>
          <p:nvPr/>
        </p:nvSpPr>
        <p:spPr>
          <a:xfrm>
            <a:off x="571500" y="285750"/>
            <a:ext cx="8001000" cy="53042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3"/>
          <p:cNvSpPr/>
          <p:nvPr/>
        </p:nvSpPr>
        <p:spPr>
          <a:xfrm>
            <a:off x="571500" y="801886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3"/>
          <p:cNvSpPr/>
          <p:nvPr/>
        </p:nvSpPr>
        <p:spPr>
          <a:xfrm>
            <a:off x="571500" y="285750"/>
            <a:ext cx="4466211" cy="408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21"/>
              <a:buFont typeface="Calibri"/>
              <a:buNone/>
            </a:pPr>
            <a:r>
              <a:rPr b="1" i="0" lang="en-US" sz="21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Automated Renewal Workflow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3"/>
          <p:cNvSpPr/>
          <p:nvPr/>
        </p:nvSpPr>
        <p:spPr>
          <a:xfrm>
            <a:off x="3643313" y="1087636"/>
            <a:ext cx="1857375" cy="346472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18275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9" name="Google Shape;42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79137" y="1182291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3"/>
          <p:cNvSpPr/>
          <p:nvPr/>
        </p:nvSpPr>
        <p:spPr>
          <a:xfrm>
            <a:off x="4279162" y="1173361"/>
            <a:ext cx="785673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Trigger: Day 60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3"/>
          <p:cNvSpPr/>
          <p:nvPr/>
        </p:nvSpPr>
        <p:spPr>
          <a:xfrm>
            <a:off x="4572000" y="1359098"/>
            <a:ext cx="14288" cy="178594"/>
          </a:xfrm>
          <a:prstGeom prst="rect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3"/>
          <p:cNvSpPr/>
          <p:nvPr/>
        </p:nvSpPr>
        <p:spPr>
          <a:xfrm>
            <a:off x="3643313" y="1584127"/>
            <a:ext cx="1857375" cy="346472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18275">
            <a:solidFill>
              <a:srgbClr val="00B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3" name="Google Shape;43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73196" y="1678781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13"/>
          <p:cNvSpPr/>
          <p:nvPr/>
        </p:nvSpPr>
        <p:spPr>
          <a:xfrm>
            <a:off x="4073221" y="1669852"/>
            <a:ext cx="1197583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Generate New Key Pair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3"/>
          <p:cNvSpPr/>
          <p:nvPr/>
        </p:nvSpPr>
        <p:spPr>
          <a:xfrm>
            <a:off x="4572000" y="1894880"/>
            <a:ext cx="14288" cy="178594"/>
          </a:xfrm>
          <a:prstGeom prst="rect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3"/>
          <p:cNvSpPr/>
          <p:nvPr/>
        </p:nvSpPr>
        <p:spPr>
          <a:xfrm rot="2700000">
            <a:off x="4107656" y="2080617"/>
            <a:ext cx="928688" cy="928688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18275">
            <a:solidFill>
              <a:srgbClr val="FF4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3"/>
          <p:cNvSpPr/>
          <p:nvPr/>
        </p:nvSpPr>
        <p:spPr>
          <a:xfrm>
            <a:off x="4361152" y="2409220"/>
            <a:ext cx="421677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Renewal</a:t>
            </a:r>
            <a:b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8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Success?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3"/>
          <p:cNvSpPr/>
          <p:nvPr/>
        </p:nvSpPr>
        <p:spPr>
          <a:xfrm>
            <a:off x="5212063" y="3473648"/>
            <a:ext cx="17354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3"/>
          <p:cNvSpPr/>
          <p:nvPr/>
        </p:nvSpPr>
        <p:spPr>
          <a:xfrm>
            <a:off x="6332209" y="3616523"/>
            <a:ext cx="14288" cy="464344"/>
          </a:xfrm>
          <a:prstGeom prst="rect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3"/>
          <p:cNvSpPr/>
          <p:nvPr/>
        </p:nvSpPr>
        <p:spPr>
          <a:xfrm>
            <a:off x="3771007" y="3473648"/>
            <a:ext cx="16093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3"/>
          <p:cNvSpPr/>
          <p:nvPr/>
        </p:nvSpPr>
        <p:spPr>
          <a:xfrm>
            <a:off x="2811763" y="3616523"/>
            <a:ext cx="14288" cy="464344"/>
          </a:xfrm>
          <a:prstGeom prst="rect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3"/>
          <p:cNvSpPr/>
          <p:nvPr/>
        </p:nvSpPr>
        <p:spPr>
          <a:xfrm>
            <a:off x="2250281" y="3295055"/>
            <a:ext cx="1428750" cy="492919"/>
          </a:xfrm>
          <a:prstGeom prst="rect">
            <a:avLst/>
          </a:prstGeom>
          <a:solidFill>
            <a:srgbClr val="FF0000">
              <a:alpha val="9803"/>
            </a:srgbClr>
          </a:solidFill>
          <a:ln cap="flat" cmpd="sng" w="182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3" name="Google Shape;443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28875" y="3462933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13"/>
          <p:cNvSpPr/>
          <p:nvPr/>
        </p:nvSpPr>
        <p:spPr>
          <a:xfrm>
            <a:off x="2628900" y="3380780"/>
            <a:ext cx="871538" cy="2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Retry (Exp. Backoff)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3"/>
          <p:cNvSpPr/>
          <p:nvPr/>
        </p:nvSpPr>
        <p:spPr>
          <a:xfrm>
            <a:off x="5464969" y="3295055"/>
            <a:ext cx="1428750" cy="464344"/>
          </a:xfrm>
          <a:prstGeom prst="rect">
            <a:avLst/>
          </a:prstGeom>
          <a:solidFill>
            <a:srgbClr val="32CD32">
              <a:alpha val="9803"/>
            </a:srgbClr>
          </a:solidFill>
          <a:ln cap="flat" cmpd="sng" w="18275">
            <a:solidFill>
              <a:srgbClr val="32C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6" name="Google Shape;446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68119" y="3462933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13"/>
          <p:cNvSpPr/>
          <p:nvPr/>
        </p:nvSpPr>
        <p:spPr>
          <a:xfrm>
            <a:off x="5868144" y="3454003"/>
            <a:ext cx="822424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23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Install &amp; Reload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53" name="Google Shape;45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14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4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4"/>
          <p:cNvSpPr/>
          <p:nvPr/>
        </p:nvSpPr>
        <p:spPr>
          <a:xfrm>
            <a:off x="571500" y="428625"/>
            <a:ext cx="3821516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Emergency Revocation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4"/>
          <p:cNvSpPr/>
          <p:nvPr/>
        </p:nvSpPr>
        <p:spPr>
          <a:xfrm>
            <a:off x="571500" y="1612702"/>
            <a:ext cx="3857625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Immediate Action Protocol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8" name="Google Shape;45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18109"/>
            <a:ext cx="11114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14"/>
          <p:cNvSpPr/>
          <p:nvPr/>
        </p:nvSpPr>
        <p:spPr>
          <a:xfrm>
            <a:off x="789803" y="1989534"/>
            <a:ext cx="3639322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Real-Time Propagation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4"/>
          <p:cNvSpPr/>
          <p:nvPr/>
        </p:nvSpPr>
        <p:spPr>
          <a:xfrm>
            <a:off x="789803" y="2219920"/>
            <a:ext cx="363932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Revocation commands propagate to all OpAMP Gateways within 30 seconds via control plane broadcast.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1" name="Google Shape;46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734270"/>
            <a:ext cx="11114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14"/>
          <p:cNvSpPr/>
          <p:nvPr/>
        </p:nvSpPr>
        <p:spPr>
          <a:xfrm>
            <a:off x="789803" y="2705695"/>
            <a:ext cx="3639322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Instant Termination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4"/>
          <p:cNvSpPr/>
          <p:nvPr/>
        </p:nvSpPr>
        <p:spPr>
          <a:xfrm>
            <a:off x="789803" y="2936081"/>
            <a:ext cx="363932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Gateways immediately terminate existing mTLS connections for revoked serial numbers.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4" name="Google Shape;46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50431"/>
            <a:ext cx="11114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14"/>
          <p:cNvSpPr/>
          <p:nvPr/>
        </p:nvSpPr>
        <p:spPr>
          <a:xfrm>
            <a:off x="789803" y="3421856"/>
            <a:ext cx="3639322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CRL &amp; OCSP Updates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4"/>
          <p:cNvSpPr/>
          <p:nvPr/>
        </p:nvSpPr>
        <p:spPr>
          <a:xfrm>
            <a:off x="789803" y="3652242"/>
            <a:ext cx="363932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EJBCA updates CRLs and OCSP responders instantly. Gateways cache OCSP responses for performance.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7" name="Google Shape;46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166592"/>
            <a:ext cx="11114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14"/>
          <p:cNvSpPr/>
          <p:nvPr/>
        </p:nvSpPr>
        <p:spPr>
          <a:xfrm>
            <a:off x="789803" y="4138017"/>
            <a:ext cx="3639322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Blast Radius Containment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4"/>
          <p:cNvSpPr/>
          <p:nvPr/>
        </p:nvSpPr>
        <p:spPr>
          <a:xfrm>
            <a:off x="789803" y="4368403"/>
            <a:ext cx="363932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Revocation can target specific certificates, entire agents, or whole intermediate CAs if compromised.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4"/>
          <p:cNvSpPr/>
          <p:nvPr/>
        </p:nvSpPr>
        <p:spPr>
          <a:xfrm>
            <a:off x="4714875" y="1323380"/>
            <a:ext cx="3857625" cy="3677245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4"/>
          <p:cNvSpPr/>
          <p:nvPr/>
        </p:nvSpPr>
        <p:spPr>
          <a:xfrm>
            <a:off x="6072188" y="1727002"/>
            <a:ext cx="1143000" cy="1143000"/>
          </a:xfrm>
          <a:prstGeom prst="ellipse">
            <a:avLst/>
          </a:prstGeom>
          <a:solidFill>
            <a:srgbClr val="FF45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2" name="Google Shape;47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21422" y="2012752"/>
            <a:ext cx="444531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14"/>
          <p:cNvSpPr/>
          <p:nvPr/>
        </p:nvSpPr>
        <p:spPr>
          <a:xfrm>
            <a:off x="5783200" y="3084314"/>
            <a:ext cx="1720974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 30s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4"/>
          <p:cNvSpPr/>
          <p:nvPr/>
        </p:nvSpPr>
        <p:spPr>
          <a:xfrm>
            <a:off x="5783200" y="3550444"/>
            <a:ext cx="1720974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Global Propagation Time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4"/>
          <p:cNvSpPr/>
          <p:nvPr/>
        </p:nvSpPr>
        <p:spPr>
          <a:xfrm>
            <a:off x="4929188" y="3920133"/>
            <a:ext cx="3429000" cy="676870"/>
          </a:xfrm>
          <a:prstGeom prst="rect">
            <a:avLst/>
          </a:prstGeom>
          <a:solidFill>
            <a:srgbClr val="FF45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4"/>
          <p:cNvSpPr/>
          <p:nvPr/>
        </p:nvSpPr>
        <p:spPr>
          <a:xfrm>
            <a:off x="4929188" y="3920133"/>
            <a:ext cx="28575" cy="676870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7" name="Google Shape;477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36344" y="4047827"/>
            <a:ext cx="8890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14"/>
          <p:cNvSpPr/>
          <p:nvPr/>
        </p:nvSpPr>
        <p:spPr>
          <a:xfrm>
            <a:off x="5196687" y="4027289"/>
            <a:ext cx="1283726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Break-Glass Procedure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4"/>
          <p:cNvSpPr/>
          <p:nvPr/>
        </p:nvSpPr>
        <p:spPr>
          <a:xfrm>
            <a:off x="5036344" y="4218384"/>
            <a:ext cx="3214688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Requires 2-person authorization (CertificateAdmin + SecurityOfficer) via MFA to trigger root CA revocation.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85" name="Google Shape;48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15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5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5"/>
          <p:cNvSpPr/>
          <p:nvPr/>
        </p:nvSpPr>
        <p:spPr>
          <a:xfrm>
            <a:off x="571500" y="428625"/>
            <a:ext cx="1569560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Section D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5"/>
          <p:cNvSpPr/>
          <p:nvPr/>
        </p:nvSpPr>
        <p:spPr>
          <a:xfrm>
            <a:off x="3857625" y="1664494"/>
            <a:ext cx="1428750" cy="1428750"/>
          </a:xfrm>
          <a:prstGeom prst="ellipse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0" name="Google Shape;49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14813" y="2021681"/>
            <a:ext cx="714375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15"/>
          <p:cNvSpPr/>
          <p:nvPr/>
        </p:nvSpPr>
        <p:spPr>
          <a:xfrm>
            <a:off x="1963471" y="3378994"/>
            <a:ext cx="5217058" cy="623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58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93"/>
              <a:buFont typeface="Calibri"/>
              <a:buNone/>
            </a:pPr>
            <a:r>
              <a:rPr b="1" i="0" lang="en-US" sz="32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Operational Workflows</a:t>
            </a:r>
            <a:endParaRPr b="0" i="0" sz="32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5"/>
          <p:cNvSpPr/>
          <p:nvPr/>
        </p:nvSpPr>
        <p:spPr>
          <a:xfrm>
            <a:off x="1714500" y="4145161"/>
            <a:ext cx="5715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760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269"/>
              <a:buFont typeface="Calibri"/>
              <a:buNone/>
            </a:pPr>
            <a:r>
              <a:rPr b="0" i="0" lang="en-US" sz="1269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Standard operating procedures for certificate lifecycle management, troubleshooting, and emergency response.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5"/>
          <p:cNvSpPr/>
          <p:nvPr/>
        </p:nvSpPr>
        <p:spPr>
          <a:xfrm>
            <a:off x="7724375" y="3689747"/>
            <a:ext cx="991000" cy="1168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2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18"/>
              <a:buFont typeface="Calibri"/>
              <a:buNone/>
            </a:pPr>
            <a:r>
              <a:rPr b="1" i="0" lang="en-US" sz="621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62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99" name="Google Shape;49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16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6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6"/>
          <p:cNvSpPr/>
          <p:nvPr/>
        </p:nvSpPr>
        <p:spPr>
          <a:xfrm>
            <a:off x="571500" y="428625"/>
            <a:ext cx="5298821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Standard Operating Procedures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6"/>
          <p:cNvSpPr/>
          <p:nvPr/>
        </p:nvSpPr>
        <p:spPr>
          <a:xfrm>
            <a:off x="571500" y="1323380"/>
            <a:ext cx="2524116" cy="3677245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6"/>
          <p:cNvSpPr/>
          <p:nvPr/>
        </p:nvSpPr>
        <p:spPr>
          <a:xfrm>
            <a:off x="571500" y="1323380"/>
            <a:ext cx="2509800" cy="28575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6"/>
          <p:cNvSpPr/>
          <p:nvPr/>
        </p:nvSpPr>
        <p:spPr>
          <a:xfrm>
            <a:off x="785813" y="1537692"/>
            <a:ext cx="428625" cy="428625"/>
          </a:xfrm>
          <a:prstGeom prst="rect">
            <a:avLst/>
          </a:prstGeom>
          <a:solidFill>
            <a:srgbClr val="32CD32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6" name="Google Shape;50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0113" y="1651992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16"/>
          <p:cNvSpPr/>
          <p:nvPr/>
        </p:nvSpPr>
        <p:spPr>
          <a:xfrm>
            <a:off x="785813" y="2109192"/>
            <a:ext cx="2095491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Routine Renewal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6"/>
          <p:cNvSpPr/>
          <p:nvPr/>
        </p:nvSpPr>
        <p:spPr>
          <a:xfrm>
            <a:off x="785813" y="2450306"/>
            <a:ext cx="183812" cy="148568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6"/>
          <p:cNvSpPr/>
          <p:nvPr/>
        </p:nvSpPr>
        <p:spPr>
          <a:xfrm>
            <a:off x="785813" y="2450306"/>
            <a:ext cx="183812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51050" spcFirstLastPara="1" rIns="51050" wrap="square" tIns="17000">
            <a:no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6"/>
          <p:cNvSpPr/>
          <p:nvPr/>
        </p:nvSpPr>
        <p:spPr>
          <a:xfrm>
            <a:off x="1041062" y="2450306"/>
            <a:ext cx="1567216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Supervisor detects Day 60 trigger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6"/>
          <p:cNvSpPr/>
          <p:nvPr/>
        </p:nvSpPr>
        <p:spPr>
          <a:xfrm>
            <a:off x="785813" y="2684599"/>
            <a:ext cx="183812" cy="148568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6"/>
          <p:cNvSpPr/>
          <p:nvPr/>
        </p:nvSpPr>
        <p:spPr>
          <a:xfrm>
            <a:off x="785813" y="2684599"/>
            <a:ext cx="183812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51050" spcFirstLastPara="1" rIns="51050" wrap="square" tIns="17000">
            <a:no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6"/>
          <p:cNvSpPr/>
          <p:nvPr/>
        </p:nvSpPr>
        <p:spPr>
          <a:xfrm>
            <a:off x="1041062" y="2684599"/>
            <a:ext cx="1418704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Generates new key pair locally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6"/>
          <p:cNvSpPr/>
          <p:nvPr/>
        </p:nvSpPr>
        <p:spPr>
          <a:xfrm>
            <a:off x="785813" y="2918892"/>
            <a:ext cx="183812" cy="148568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6"/>
          <p:cNvSpPr/>
          <p:nvPr/>
        </p:nvSpPr>
        <p:spPr>
          <a:xfrm>
            <a:off x="785813" y="2918892"/>
            <a:ext cx="183812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51050" spcFirstLastPara="1" rIns="51050" wrap="square" tIns="17000">
            <a:no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6"/>
          <p:cNvSpPr/>
          <p:nvPr/>
        </p:nvSpPr>
        <p:spPr>
          <a:xfrm>
            <a:off x="1041062" y="2918892"/>
            <a:ext cx="1508392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Sends CSR to EJBCA via Gateway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6"/>
          <p:cNvSpPr/>
          <p:nvPr/>
        </p:nvSpPr>
        <p:spPr>
          <a:xfrm>
            <a:off x="785813" y="3153184"/>
            <a:ext cx="183812" cy="148568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6"/>
          <p:cNvSpPr/>
          <p:nvPr/>
        </p:nvSpPr>
        <p:spPr>
          <a:xfrm>
            <a:off x="785813" y="3153184"/>
            <a:ext cx="183812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51050" spcFirstLastPara="1" rIns="51050" wrap="square" tIns="17000">
            <a:no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6"/>
          <p:cNvSpPr/>
          <p:nvPr/>
        </p:nvSpPr>
        <p:spPr>
          <a:xfrm>
            <a:off x="1041062" y="3153184"/>
            <a:ext cx="1581503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Receives new cert, validates chain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6"/>
          <p:cNvSpPr/>
          <p:nvPr/>
        </p:nvSpPr>
        <p:spPr>
          <a:xfrm>
            <a:off x="785813" y="3387477"/>
            <a:ext cx="183812" cy="148568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6"/>
          <p:cNvSpPr/>
          <p:nvPr/>
        </p:nvSpPr>
        <p:spPr>
          <a:xfrm>
            <a:off x="785813" y="3387477"/>
            <a:ext cx="183812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51050" spcFirstLastPara="1" rIns="51050" wrap="square" tIns="17000">
            <a:no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6"/>
          <p:cNvSpPr/>
          <p:nvPr/>
        </p:nvSpPr>
        <p:spPr>
          <a:xfrm>
            <a:off x="1041062" y="3387477"/>
            <a:ext cx="1228781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Atomically swaps cert files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6"/>
          <p:cNvSpPr/>
          <p:nvPr/>
        </p:nvSpPr>
        <p:spPr>
          <a:xfrm>
            <a:off x="785813" y="4650581"/>
            <a:ext cx="765972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Target Duration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6"/>
          <p:cNvSpPr/>
          <p:nvPr/>
        </p:nvSpPr>
        <p:spPr>
          <a:xfrm>
            <a:off x="2232980" y="4630936"/>
            <a:ext cx="648323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 5 seconds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6"/>
          <p:cNvSpPr/>
          <p:nvPr/>
        </p:nvSpPr>
        <p:spPr>
          <a:xfrm>
            <a:off x="3309928" y="1323380"/>
            <a:ext cx="2524116" cy="3677245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6"/>
          <p:cNvSpPr/>
          <p:nvPr/>
        </p:nvSpPr>
        <p:spPr>
          <a:xfrm>
            <a:off x="3309928" y="1323380"/>
            <a:ext cx="2509800" cy="28575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6"/>
          <p:cNvSpPr/>
          <p:nvPr/>
        </p:nvSpPr>
        <p:spPr>
          <a:xfrm>
            <a:off x="3524241" y="1537692"/>
            <a:ext cx="428625" cy="428625"/>
          </a:xfrm>
          <a:prstGeom prst="rect">
            <a:avLst/>
          </a:prstGeom>
          <a:solidFill>
            <a:srgbClr val="FFD7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8" name="Google Shape;52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38541" y="1651992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16"/>
          <p:cNvSpPr/>
          <p:nvPr/>
        </p:nvSpPr>
        <p:spPr>
          <a:xfrm>
            <a:off x="3524241" y="2109192"/>
            <a:ext cx="2095491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Failed Renewal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6"/>
          <p:cNvSpPr/>
          <p:nvPr/>
        </p:nvSpPr>
        <p:spPr>
          <a:xfrm>
            <a:off x="3524241" y="2450306"/>
            <a:ext cx="183812" cy="148568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6"/>
          <p:cNvSpPr/>
          <p:nvPr/>
        </p:nvSpPr>
        <p:spPr>
          <a:xfrm>
            <a:off x="3524241" y="2450306"/>
            <a:ext cx="183812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51050" spcFirstLastPara="1" rIns="51050" wrap="square" tIns="17000">
            <a:no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6"/>
          <p:cNvSpPr/>
          <p:nvPr/>
        </p:nvSpPr>
        <p:spPr>
          <a:xfrm>
            <a:off x="3779490" y="2450306"/>
            <a:ext cx="1603409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Renewal fails (network/auth error)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6"/>
          <p:cNvSpPr/>
          <p:nvPr/>
        </p:nvSpPr>
        <p:spPr>
          <a:xfrm>
            <a:off x="3524241" y="2684599"/>
            <a:ext cx="183812" cy="148568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6"/>
          <p:cNvSpPr/>
          <p:nvPr/>
        </p:nvSpPr>
        <p:spPr>
          <a:xfrm>
            <a:off x="3524241" y="2684599"/>
            <a:ext cx="183812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51050" spcFirstLastPara="1" rIns="51050" wrap="square" tIns="17000">
            <a:no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6"/>
          <p:cNvSpPr/>
          <p:nvPr/>
        </p:nvSpPr>
        <p:spPr>
          <a:xfrm>
            <a:off x="3779490" y="2684599"/>
            <a:ext cx="1840241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Supervisor enters retry loop (exp. backoff)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6"/>
          <p:cNvSpPr/>
          <p:nvPr/>
        </p:nvSpPr>
        <p:spPr>
          <a:xfrm>
            <a:off x="3524241" y="3050325"/>
            <a:ext cx="183812" cy="148568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6"/>
          <p:cNvSpPr/>
          <p:nvPr/>
        </p:nvSpPr>
        <p:spPr>
          <a:xfrm>
            <a:off x="3524241" y="3050325"/>
            <a:ext cx="183812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51050" spcFirstLastPara="1" rIns="51050" wrap="square" tIns="17000">
            <a:no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6"/>
          <p:cNvSpPr/>
          <p:nvPr/>
        </p:nvSpPr>
        <p:spPr>
          <a:xfrm>
            <a:off x="3779490" y="3050325"/>
            <a:ext cx="1840241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Day 75: Sends P2 alert to Ops Dashboard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6"/>
          <p:cNvSpPr/>
          <p:nvPr/>
        </p:nvSpPr>
        <p:spPr>
          <a:xfrm>
            <a:off x="3524241" y="3416052"/>
            <a:ext cx="183812" cy="148568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6"/>
          <p:cNvSpPr/>
          <p:nvPr/>
        </p:nvSpPr>
        <p:spPr>
          <a:xfrm>
            <a:off x="3524241" y="3416052"/>
            <a:ext cx="183812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51050" spcFirstLastPara="1" rIns="51050" wrap="square" tIns="17000">
            <a:no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6"/>
          <p:cNvSpPr/>
          <p:nvPr/>
        </p:nvSpPr>
        <p:spPr>
          <a:xfrm>
            <a:off x="3779490" y="3416052"/>
            <a:ext cx="1840241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Ops triggers manual "Force Renew" job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6"/>
          <p:cNvSpPr/>
          <p:nvPr/>
        </p:nvSpPr>
        <p:spPr>
          <a:xfrm>
            <a:off x="3524241" y="3781778"/>
            <a:ext cx="183812" cy="148568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6"/>
          <p:cNvSpPr/>
          <p:nvPr/>
        </p:nvSpPr>
        <p:spPr>
          <a:xfrm>
            <a:off x="3524241" y="3781778"/>
            <a:ext cx="183812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51050" spcFirstLastPara="1" rIns="51050" wrap="square" tIns="17000">
            <a:no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6"/>
          <p:cNvSpPr/>
          <p:nvPr/>
        </p:nvSpPr>
        <p:spPr>
          <a:xfrm>
            <a:off x="3779490" y="3781778"/>
            <a:ext cx="1722034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Supervisor executes job immediately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6"/>
          <p:cNvSpPr/>
          <p:nvPr/>
        </p:nvSpPr>
        <p:spPr>
          <a:xfrm>
            <a:off x="3524241" y="4650581"/>
            <a:ext cx="699613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Resolution SLA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6"/>
          <p:cNvSpPr/>
          <p:nvPr/>
        </p:nvSpPr>
        <p:spPr>
          <a:xfrm>
            <a:off x="5034502" y="4630936"/>
            <a:ext cx="585229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 24 hours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6"/>
          <p:cNvSpPr/>
          <p:nvPr/>
        </p:nvSpPr>
        <p:spPr>
          <a:xfrm>
            <a:off x="6048356" y="1323380"/>
            <a:ext cx="2524144" cy="3677245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6"/>
          <p:cNvSpPr/>
          <p:nvPr/>
        </p:nvSpPr>
        <p:spPr>
          <a:xfrm>
            <a:off x="6048356" y="1323380"/>
            <a:ext cx="2509856" cy="28575"/>
          </a:xfrm>
          <a:prstGeom prst="rect">
            <a:avLst/>
          </a:prstGeom>
          <a:solidFill>
            <a:srgbClr val="FF4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6"/>
          <p:cNvSpPr/>
          <p:nvPr/>
        </p:nvSpPr>
        <p:spPr>
          <a:xfrm>
            <a:off x="6262669" y="1537692"/>
            <a:ext cx="428625" cy="428625"/>
          </a:xfrm>
          <a:prstGeom prst="rect">
            <a:avLst/>
          </a:prstGeom>
          <a:solidFill>
            <a:srgbClr val="FF45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0" name="Google Shape;55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76969" y="1651992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16"/>
          <p:cNvSpPr/>
          <p:nvPr/>
        </p:nvSpPr>
        <p:spPr>
          <a:xfrm>
            <a:off x="6262669" y="2109192"/>
            <a:ext cx="2095519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Compromise Response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6"/>
          <p:cNvSpPr/>
          <p:nvPr/>
        </p:nvSpPr>
        <p:spPr>
          <a:xfrm>
            <a:off x="6262669" y="2450306"/>
            <a:ext cx="183812" cy="148568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6"/>
          <p:cNvSpPr/>
          <p:nvPr/>
        </p:nvSpPr>
        <p:spPr>
          <a:xfrm>
            <a:off x="6262669" y="2450306"/>
            <a:ext cx="183812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51050" spcFirstLastPara="1" rIns="51050" wrap="square" tIns="17000">
            <a:no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6"/>
          <p:cNvSpPr/>
          <p:nvPr/>
        </p:nvSpPr>
        <p:spPr>
          <a:xfrm>
            <a:off x="6517918" y="2450306"/>
            <a:ext cx="1798830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Security detects anomaly/compromise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6"/>
          <p:cNvSpPr/>
          <p:nvPr/>
        </p:nvSpPr>
        <p:spPr>
          <a:xfrm>
            <a:off x="6262669" y="2684599"/>
            <a:ext cx="183812" cy="148568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6"/>
          <p:cNvSpPr/>
          <p:nvPr/>
        </p:nvSpPr>
        <p:spPr>
          <a:xfrm>
            <a:off x="6262669" y="2684599"/>
            <a:ext cx="183812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51050" spcFirstLastPara="1" rIns="51050" wrap="square" tIns="17000">
            <a:no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6"/>
          <p:cNvSpPr/>
          <p:nvPr/>
        </p:nvSpPr>
        <p:spPr>
          <a:xfrm>
            <a:off x="6517918" y="2684599"/>
            <a:ext cx="1840269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Admin triggers "Revoke &amp; Block" workflow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6"/>
          <p:cNvSpPr/>
          <p:nvPr/>
        </p:nvSpPr>
        <p:spPr>
          <a:xfrm>
            <a:off x="6262669" y="3050325"/>
            <a:ext cx="183812" cy="148568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6"/>
          <p:cNvSpPr/>
          <p:nvPr/>
        </p:nvSpPr>
        <p:spPr>
          <a:xfrm>
            <a:off x="6262669" y="3050325"/>
            <a:ext cx="183812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51050" spcFirstLastPara="1" rIns="51050" wrap="square" tIns="17000">
            <a:no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6"/>
          <p:cNvSpPr/>
          <p:nvPr/>
        </p:nvSpPr>
        <p:spPr>
          <a:xfrm>
            <a:off x="6517918" y="3050325"/>
            <a:ext cx="1840269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Cert revoked in EJBCA, pushed to Gateways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6"/>
          <p:cNvSpPr/>
          <p:nvPr/>
        </p:nvSpPr>
        <p:spPr>
          <a:xfrm>
            <a:off x="6262669" y="3416052"/>
            <a:ext cx="183812" cy="148568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6"/>
          <p:cNvSpPr/>
          <p:nvPr/>
        </p:nvSpPr>
        <p:spPr>
          <a:xfrm>
            <a:off x="6262669" y="3416052"/>
            <a:ext cx="183812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51050" spcFirstLastPara="1" rIns="51050" wrap="square" tIns="17000">
            <a:no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6"/>
          <p:cNvSpPr/>
          <p:nvPr/>
        </p:nvSpPr>
        <p:spPr>
          <a:xfrm>
            <a:off x="6517918" y="3416052"/>
            <a:ext cx="1806029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Agent connection terminated instantly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6"/>
          <p:cNvSpPr/>
          <p:nvPr/>
        </p:nvSpPr>
        <p:spPr>
          <a:xfrm>
            <a:off x="6262669" y="3650345"/>
            <a:ext cx="183812" cy="148568"/>
          </a:xfrm>
          <a:prstGeom prst="rect">
            <a:avLst/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6"/>
          <p:cNvSpPr/>
          <p:nvPr/>
        </p:nvSpPr>
        <p:spPr>
          <a:xfrm>
            <a:off x="6262669" y="3650345"/>
            <a:ext cx="183812" cy="148568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51050" spcFirstLastPara="1" rIns="51050" wrap="square" tIns="17000">
            <a:no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6"/>
          <p:cNvSpPr/>
          <p:nvPr/>
        </p:nvSpPr>
        <p:spPr>
          <a:xfrm>
            <a:off x="6517918" y="3650345"/>
            <a:ext cx="1840269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Agent quarantined for forensic analysis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6"/>
          <p:cNvSpPr/>
          <p:nvPr/>
        </p:nvSpPr>
        <p:spPr>
          <a:xfrm>
            <a:off x="6262669" y="4650581"/>
            <a:ext cx="782520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Containment SLA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6"/>
          <p:cNvSpPr/>
          <p:nvPr/>
        </p:nvSpPr>
        <p:spPr>
          <a:xfrm>
            <a:off x="7631339" y="4630936"/>
            <a:ext cx="726849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 15 minutes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74" name="Google Shape;57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17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7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7"/>
          <p:cNvSpPr/>
          <p:nvPr/>
        </p:nvSpPr>
        <p:spPr>
          <a:xfrm>
            <a:off x="571500" y="428625"/>
            <a:ext cx="3820009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Troubleshooting Guide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7"/>
          <p:cNvSpPr/>
          <p:nvPr/>
        </p:nvSpPr>
        <p:spPr>
          <a:xfrm>
            <a:off x="571500" y="1323380"/>
            <a:ext cx="3857625" cy="790780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7"/>
          <p:cNvSpPr/>
          <p:nvPr/>
        </p:nvSpPr>
        <p:spPr>
          <a:xfrm>
            <a:off x="714375" y="1466255"/>
            <a:ext cx="357188" cy="357188"/>
          </a:xfrm>
          <a:prstGeom prst="rect">
            <a:avLst/>
          </a:prstGeom>
          <a:solidFill>
            <a:srgbClr val="FF45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0" name="Google Shape;58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5813" y="1559123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17"/>
          <p:cNvSpPr/>
          <p:nvPr/>
        </p:nvSpPr>
        <p:spPr>
          <a:xfrm>
            <a:off x="1214438" y="1466255"/>
            <a:ext cx="3071813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Network Connectivity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7"/>
          <p:cNvSpPr/>
          <p:nvPr/>
        </p:nvSpPr>
        <p:spPr>
          <a:xfrm>
            <a:off x="1214438" y="1676995"/>
            <a:ext cx="3071813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Firewall blocking port 443/8080 or DNS resolution failure for OpAMP Gateway.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7"/>
          <p:cNvSpPr/>
          <p:nvPr/>
        </p:nvSpPr>
        <p:spPr>
          <a:xfrm>
            <a:off x="571500" y="2242747"/>
            <a:ext cx="3857625" cy="790780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7"/>
          <p:cNvSpPr/>
          <p:nvPr/>
        </p:nvSpPr>
        <p:spPr>
          <a:xfrm>
            <a:off x="714375" y="2385622"/>
            <a:ext cx="357188" cy="357188"/>
          </a:xfrm>
          <a:prstGeom prst="rect">
            <a:avLst/>
          </a:prstGeom>
          <a:solidFill>
            <a:srgbClr val="FF45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5" name="Google Shape;58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7244" y="2478491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17"/>
          <p:cNvSpPr/>
          <p:nvPr/>
        </p:nvSpPr>
        <p:spPr>
          <a:xfrm>
            <a:off x="1214438" y="2385622"/>
            <a:ext cx="3071813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Clock Skew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7"/>
          <p:cNvSpPr/>
          <p:nvPr/>
        </p:nvSpPr>
        <p:spPr>
          <a:xfrm>
            <a:off x="1214438" y="2596362"/>
            <a:ext cx="3071813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System time drift &gt; 5 minutes causes certificate validation failures (NotBefore/NotAfter).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7"/>
          <p:cNvSpPr/>
          <p:nvPr/>
        </p:nvSpPr>
        <p:spPr>
          <a:xfrm>
            <a:off x="571500" y="3162114"/>
            <a:ext cx="3857625" cy="790780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7"/>
          <p:cNvSpPr/>
          <p:nvPr/>
        </p:nvSpPr>
        <p:spPr>
          <a:xfrm>
            <a:off x="714375" y="3304989"/>
            <a:ext cx="357188" cy="357188"/>
          </a:xfrm>
          <a:prstGeom prst="rect">
            <a:avLst/>
          </a:prstGeom>
          <a:solidFill>
            <a:srgbClr val="FF45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0" name="Google Shape;59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7244" y="3397858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17"/>
          <p:cNvSpPr/>
          <p:nvPr/>
        </p:nvSpPr>
        <p:spPr>
          <a:xfrm>
            <a:off x="1214438" y="3304989"/>
            <a:ext cx="3071813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Permission Denied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7"/>
          <p:cNvSpPr/>
          <p:nvPr/>
        </p:nvSpPr>
        <p:spPr>
          <a:xfrm>
            <a:off x="1214438" y="3515730"/>
            <a:ext cx="3071813" cy="280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Supervisor process lacks filesystem permissions to write key/cert files to storage path.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7"/>
          <p:cNvSpPr/>
          <p:nvPr/>
        </p:nvSpPr>
        <p:spPr>
          <a:xfrm>
            <a:off x="4714875" y="1323380"/>
            <a:ext cx="3857625" cy="3677245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7"/>
          <p:cNvSpPr/>
          <p:nvPr/>
        </p:nvSpPr>
        <p:spPr>
          <a:xfrm>
            <a:off x="4857750" y="1466255"/>
            <a:ext cx="78232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ubuntu@host:~$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7"/>
          <p:cNvSpPr/>
          <p:nvPr/>
        </p:nvSpPr>
        <p:spPr>
          <a:xfrm>
            <a:off x="5711512" y="1466255"/>
            <a:ext cx="138798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sudo supervisor-cli diag --cert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7"/>
          <p:cNvSpPr/>
          <p:nvPr/>
        </p:nvSpPr>
        <p:spPr>
          <a:xfrm>
            <a:off x="4857750" y="1823442"/>
            <a:ext cx="462669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[10:42:01]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7"/>
          <p:cNvSpPr/>
          <p:nvPr/>
        </p:nvSpPr>
        <p:spPr>
          <a:xfrm>
            <a:off x="5427576" y="1823442"/>
            <a:ext cx="25474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INFO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7"/>
          <p:cNvSpPr/>
          <p:nvPr/>
        </p:nvSpPr>
        <p:spPr>
          <a:xfrm>
            <a:off x="5789479" y="1823442"/>
            <a:ext cx="1314785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Checking certificate status...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7"/>
          <p:cNvSpPr/>
          <p:nvPr/>
        </p:nvSpPr>
        <p:spPr>
          <a:xfrm>
            <a:off x="4857750" y="2030611"/>
            <a:ext cx="462669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[10:42:01]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7"/>
          <p:cNvSpPr/>
          <p:nvPr/>
        </p:nvSpPr>
        <p:spPr>
          <a:xfrm>
            <a:off x="5427576" y="2030611"/>
            <a:ext cx="25474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INFO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7"/>
          <p:cNvSpPr/>
          <p:nvPr/>
        </p:nvSpPr>
        <p:spPr>
          <a:xfrm>
            <a:off x="5789479" y="2030611"/>
            <a:ext cx="170582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Path: /etc/supervisor/certs/agent.crt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7"/>
          <p:cNvSpPr/>
          <p:nvPr/>
        </p:nvSpPr>
        <p:spPr>
          <a:xfrm>
            <a:off x="4857750" y="2237780"/>
            <a:ext cx="462669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[10:42:01]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7"/>
          <p:cNvSpPr/>
          <p:nvPr/>
        </p:nvSpPr>
        <p:spPr>
          <a:xfrm>
            <a:off x="5427576" y="2237780"/>
            <a:ext cx="25474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INFO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7"/>
          <p:cNvSpPr/>
          <p:nvPr/>
        </p:nvSpPr>
        <p:spPr>
          <a:xfrm>
            <a:off x="5789479" y="2237780"/>
            <a:ext cx="189895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Validity: 2023-10-01 to 2024-01-01 (Valid)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7"/>
          <p:cNvSpPr/>
          <p:nvPr/>
        </p:nvSpPr>
        <p:spPr>
          <a:xfrm>
            <a:off x="4857750" y="2444948"/>
            <a:ext cx="462669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[10:42:02]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7"/>
          <p:cNvSpPr/>
          <p:nvPr/>
        </p:nvSpPr>
        <p:spPr>
          <a:xfrm>
            <a:off x="5427576" y="2444948"/>
            <a:ext cx="333663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4500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4500"/>
                </a:solidFill>
                <a:latin typeface="Calibri"/>
                <a:ea typeface="Calibri"/>
                <a:cs typeface="Calibri"/>
                <a:sym typeface="Calibri"/>
              </a:rPr>
              <a:t>ERROR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7"/>
          <p:cNvSpPr/>
          <p:nvPr/>
        </p:nvSpPr>
        <p:spPr>
          <a:xfrm>
            <a:off x="5868395" y="2444948"/>
            <a:ext cx="2024193" cy="164306"/>
          </a:xfrm>
          <a:prstGeom prst="rect">
            <a:avLst/>
          </a:prstGeom>
          <a:solidFill>
            <a:srgbClr val="FF450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7"/>
          <p:cNvSpPr/>
          <p:nvPr/>
        </p:nvSpPr>
        <p:spPr>
          <a:xfrm>
            <a:off x="5868395" y="2444948"/>
            <a:ext cx="2024193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17000" lIns="42525" spcFirstLastPara="1" rIns="42525" wrap="square" tIns="1700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Connection refused: gateway.internal:443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7"/>
          <p:cNvSpPr/>
          <p:nvPr/>
        </p:nvSpPr>
        <p:spPr>
          <a:xfrm>
            <a:off x="4857750" y="2680692"/>
            <a:ext cx="462669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[10:42:02]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7"/>
          <p:cNvSpPr/>
          <p:nvPr/>
        </p:nvSpPr>
        <p:spPr>
          <a:xfrm>
            <a:off x="5427576" y="2680692"/>
            <a:ext cx="25463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HINT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7"/>
          <p:cNvSpPr/>
          <p:nvPr/>
        </p:nvSpPr>
        <p:spPr>
          <a:xfrm>
            <a:off x="5789368" y="2680692"/>
            <a:ext cx="175172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Check firewall rules or proxy settings.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17" name="Google Shape;61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18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8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8"/>
          <p:cNvSpPr/>
          <p:nvPr/>
        </p:nvSpPr>
        <p:spPr>
          <a:xfrm>
            <a:off x="571500" y="428625"/>
            <a:ext cx="1507834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Section E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8"/>
          <p:cNvSpPr/>
          <p:nvPr/>
        </p:nvSpPr>
        <p:spPr>
          <a:xfrm>
            <a:off x="3857625" y="1664494"/>
            <a:ext cx="1428750" cy="1428750"/>
          </a:xfrm>
          <a:prstGeom prst="ellipse">
            <a:avLst/>
          </a:prstGeom>
          <a:solidFill>
            <a:srgbClr val="32CD32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2" name="Google Shape;62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04109" y="2021681"/>
            <a:ext cx="535781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18"/>
          <p:cNvSpPr/>
          <p:nvPr/>
        </p:nvSpPr>
        <p:spPr>
          <a:xfrm>
            <a:off x="2352331" y="3378994"/>
            <a:ext cx="4439310" cy="623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58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93"/>
              <a:buFont typeface="Calibri"/>
              <a:buNone/>
            </a:pPr>
            <a:r>
              <a:rPr b="1" i="0" lang="en-US" sz="32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Compliance &amp; Audit</a:t>
            </a:r>
            <a:endParaRPr b="0" i="0" sz="32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8"/>
          <p:cNvSpPr/>
          <p:nvPr/>
        </p:nvSpPr>
        <p:spPr>
          <a:xfrm>
            <a:off x="1714500" y="4145161"/>
            <a:ext cx="5715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760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269"/>
              <a:buFont typeface="Calibri"/>
              <a:buNone/>
            </a:pPr>
            <a:r>
              <a:rPr b="0" i="0" lang="en-US" sz="1269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Automated evidence collection, regulatory alignment, and SIEM integration for 100% audit readiness.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8"/>
          <p:cNvSpPr/>
          <p:nvPr/>
        </p:nvSpPr>
        <p:spPr>
          <a:xfrm>
            <a:off x="7724375" y="3689747"/>
            <a:ext cx="991000" cy="1168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2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18"/>
              <a:buFont typeface="Calibri"/>
              <a:buNone/>
            </a:pPr>
            <a:r>
              <a:rPr b="1" i="0" lang="en-US" sz="621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62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31" name="Google Shape;63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19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19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19"/>
          <p:cNvSpPr/>
          <p:nvPr/>
        </p:nvSpPr>
        <p:spPr>
          <a:xfrm>
            <a:off x="571500" y="428625"/>
            <a:ext cx="5088415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Compliance &amp; Audit Readiness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9"/>
          <p:cNvSpPr/>
          <p:nvPr/>
        </p:nvSpPr>
        <p:spPr>
          <a:xfrm>
            <a:off x="571500" y="1547515"/>
            <a:ext cx="1821656" cy="937617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9"/>
          <p:cNvSpPr/>
          <p:nvPr/>
        </p:nvSpPr>
        <p:spPr>
          <a:xfrm>
            <a:off x="714375" y="1690390"/>
            <a:ext cx="1528763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80%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9"/>
          <p:cNvSpPr/>
          <p:nvPr/>
        </p:nvSpPr>
        <p:spPr>
          <a:xfrm>
            <a:off x="714375" y="2192238"/>
            <a:ext cx="152876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Audit Prep Reduction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9"/>
          <p:cNvSpPr/>
          <p:nvPr/>
        </p:nvSpPr>
        <p:spPr>
          <a:xfrm>
            <a:off x="2600325" y="1547515"/>
            <a:ext cx="1828800" cy="937617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19"/>
          <p:cNvSpPr/>
          <p:nvPr/>
        </p:nvSpPr>
        <p:spPr>
          <a:xfrm>
            <a:off x="2750344" y="1697534"/>
            <a:ext cx="1535906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9"/>
          <p:cNvSpPr/>
          <p:nvPr/>
        </p:nvSpPr>
        <p:spPr>
          <a:xfrm>
            <a:off x="2750344" y="2199382"/>
            <a:ext cx="1535906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Control Coverage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1" name="Google Shape;64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92313"/>
            <a:ext cx="17859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19"/>
          <p:cNvSpPr/>
          <p:nvPr/>
        </p:nvSpPr>
        <p:spPr>
          <a:xfrm>
            <a:off x="857250" y="2763738"/>
            <a:ext cx="3571875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Automated Evidence Collection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9"/>
          <p:cNvSpPr/>
          <p:nvPr/>
        </p:nvSpPr>
        <p:spPr>
          <a:xfrm>
            <a:off x="857250" y="2994124"/>
            <a:ext cx="35718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System automatically logs every issuance, renewal, and revocation. No manual screenshots or spreadsheets needed.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4" name="Google Shape;64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08474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19"/>
          <p:cNvSpPr/>
          <p:nvPr/>
        </p:nvSpPr>
        <p:spPr>
          <a:xfrm>
            <a:off x="821531" y="3479899"/>
            <a:ext cx="3607594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Auditor Self-Service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9"/>
          <p:cNvSpPr/>
          <p:nvPr/>
        </p:nvSpPr>
        <p:spPr>
          <a:xfrm>
            <a:off x="821531" y="3710285"/>
            <a:ext cx="360759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Read-only portal allows auditors to verify controls independently, reducing operational interruptions.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7" name="Google Shape;64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24635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19"/>
          <p:cNvSpPr/>
          <p:nvPr/>
        </p:nvSpPr>
        <p:spPr>
          <a:xfrm>
            <a:off x="821531" y="4196060"/>
            <a:ext cx="3607594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Immutable Audit Trail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9"/>
          <p:cNvSpPr/>
          <p:nvPr/>
        </p:nvSpPr>
        <p:spPr>
          <a:xfrm>
            <a:off x="821531" y="4426446"/>
            <a:ext cx="360759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All actions are cryptographically signed and stored in tamper-evident logs for 7 years.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9"/>
          <p:cNvSpPr/>
          <p:nvPr/>
        </p:nvSpPr>
        <p:spPr>
          <a:xfrm>
            <a:off x="4714875" y="1323380"/>
            <a:ext cx="3857625" cy="3677245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19"/>
          <p:cNvSpPr/>
          <p:nvPr/>
        </p:nvSpPr>
        <p:spPr>
          <a:xfrm>
            <a:off x="4929188" y="1537692"/>
            <a:ext cx="3429000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Regulatory Framework Mapping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9"/>
          <p:cNvSpPr/>
          <p:nvPr/>
        </p:nvSpPr>
        <p:spPr>
          <a:xfrm>
            <a:off x="4929188" y="1956495"/>
            <a:ext cx="85725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NIST 800-53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9"/>
          <p:cNvSpPr/>
          <p:nvPr/>
        </p:nvSpPr>
        <p:spPr>
          <a:xfrm>
            <a:off x="5929313" y="1947565"/>
            <a:ext cx="292196" cy="173236"/>
          </a:xfrm>
          <a:prstGeom prst="rect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19"/>
          <p:cNvSpPr/>
          <p:nvPr/>
        </p:nvSpPr>
        <p:spPr>
          <a:xfrm>
            <a:off x="5929313" y="1947565"/>
            <a:ext cx="292196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SC-8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9"/>
          <p:cNvSpPr/>
          <p:nvPr/>
        </p:nvSpPr>
        <p:spPr>
          <a:xfrm>
            <a:off x="6292946" y="1947565"/>
            <a:ext cx="274783" cy="173236"/>
          </a:xfrm>
          <a:prstGeom prst="rect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19"/>
          <p:cNvSpPr/>
          <p:nvPr/>
        </p:nvSpPr>
        <p:spPr>
          <a:xfrm>
            <a:off x="6292946" y="1947565"/>
            <a:ext cx="274783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IA-2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9"/>
          <p:cNvSpPr/>
          <p:nvPr/>
        </p:nvSpPr>
        <p:spPr>
          <a:xfrm>
            <a:off x="6639167" y="1947565"/>
            <a:ext cx="298196" cy="173236"/>
          </a:xfrm>
          <a:prstGeom prst="rect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19"/>
          <p:cNvSpPr/>
          <p:nvPr/>
        </p:nvSpPr>
        <p:spPr>
          <a:xfrm>
            <a:off x="6639167" y="1947565"/>
            <a:ext cx="298196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AC-2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9"/>
          <p:cNvSpPr/>
          <p:nvPr/>
        </p:nvSpPr>
        <p:spPr>
          <a:xfrm>
            <a:off x="7008800" y="1947565"/>
            <a:ext cx="308409" cy="173236"/>
          </a:xfrm>
          <a:prstGeom prst="rect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19"/>
          <p:cNvSpPr/>
          <p:nvPr/>
        </p:nvSpPr>
        <p:spPr>
          <a:xfrm>
            <a:off x="7008800" y="1947565"/>
            <a:ext cx="308409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AU-2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61" name="Google Shape;66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29600" y="1969889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19"/>
          <p:cNvSpPr/>
          <p:nvPr/>
        </p:nvSpPr>
        <p:spPr>
          <a:xfrm>
            <a:off x="4929188" y="2388691"/>
            <a:ext cx="85725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SOC 2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9"/>
          <p:cNvSpPr/>
          <p:nvPr/>
        </p:nvSpPr>
        <p:spPr>
          <a:xfrm>
            <a:off x="5929313" y="2379762"/>
            <a:ext cx="342007" cy="173236"/>
          </a:xfrm>
          <a:prstGeom prst="rect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19"/>
          <p:cNvSpPr/>
          <p:nvPr/>
        </p:nvSpPr>
        <p:spPr>
          <a:xfrm>
            <a:off x="5929313" y="2379762"/>
            <a:ext cx="342007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CC6.1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9"/>
          <p:cNvSpPr/>
          <p:nvPr/>
        </p:nvSpPr>
        <p:spPr>
          <a:xfrm>
            <a:off x="6342757" y="2379762"/>
            <a:ext cx="342007" cy="173236"/>
          </a:xfrm>
          <a:prstGeom prst="rect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19"/>
          <p:cNvSpPr/>
          <p:nvPr/>
        </p:nvSpPr>
        <p:spPr>
          <a:xfrm>
            <a:off x="6342757" y="2379762"/>
            <a:ext cx="342007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CC6.7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9"/>
          <p:cNvSpPr/>
          <p:nvPr/>
        </p:nvSpPr>
        <p:spPr>
          <a:xfrm>
            <a:off x="6756202" y="2379762"/>
            <a:ext cx="342007" cy="173236"/>
          </a:xfrm>
          <a:prstGeom prst="rect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19"/>
          <p:cNvSpPr/>
          <p:nvPr/>
        </p:nvSpPr>
        <p:spPr>
          <a:xfrm>
            <a:off x="6756202" y="2379762"/>
            <a:ext cx="342007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CC7.1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69" name="Google Shape;669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29600" y="2402086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19"/>
          <p:cNvSpPr/>
          <p:nvPr/>
        </p:nvSpPr>
        <p:spPr>
          <a:xfrm>
            <a:off x="4929188" y="2820888"/>
            <a:ext cx="85725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PCI-DSS 4.0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9"/>
          <p:cNvSpPr/>
          <p:nvPr/>
        </p:nvSpPr>
        <p:spPr>
          <a:xfrm>
            <a:off x="5929313" y="2811959"/>
            <a:ext cx="307377" cy="173236"/>
          </a:xfrm>
          <a:prstGeom prst="rect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19"/>
          <p:cNvSpPr/>
          <p:nvPr/>
        </p:nvSpPr>
        <p:spPr>
          <a:xfrm>
            <a:off x="5929313" y="2811959"/>
            <a:ext cx="307377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4.2.1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9"/>
          <p:cNvSpPr/>
          <p:nvPr/>
        </p:nvSpPr>
        <p:spPr>
          <a:xfrm>
            <a:off x="6308127" y="2811959"/>
            <a:ext cx="307377" cy="173236"/>
          </a:xfrm>
          <a:prstGeom prst="rect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19"/>
          <p:cNvSpPr/>
          <p:nvPr/>
        </p:nvSpPr>
        <p:spPr>
          <a:xfrm>
            <a:off x="6308127" y="2811959"/>
            <a:ext cx="307377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8.2.2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9"/>
          <p:cNvSpPr/>
          <p:nvPr/>
        </p:nvSpPr>
        <p:spPr>
          <a:xfrm>
            <a:off x="6686941" y="2811959"/>
            <a:ext cx="284383" cy="173236"/>
          </a:xfrm>
          <a:prstGeom prst="rect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19"/>
          <p:cNvSpPr/>
          <p:nvPr/>
        </p:nvSpPr>
        <p:spPr>
          <a:xfrm>
            <a:off x="6686941" y="2811959"/>
            <a:ext cx="284383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10.2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77" name="Google Shape;67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29600" y="2834283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19"/>
          <p:cNvSpPr/>
          <p:nvPr/>
        </p:nvSpPr>
        <p:spPr>
          <a:xfrm>
            <a:off x="4929188" y="3253085"/>
            <a:ext cx="857250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HIPAA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19"/>
          <p:cNvSpPr/>
          <p:nvPr/>
        </p:nvSpPr>
        <p:spPr>
          <a:xfrm>
            <a:off x="5929313" y="3244155"/>
            <a:ext cx="531037" cy="173236"/>
          </a:xfrm>
          <a:prstGeom prst="rect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19"/>
          <p:cNvSpPr/>
          <p:nvPr/>
        </p:nvSpPr>
        <p:spPr>
          <a:xfrm>
            <a:off x="5929313" y="3244155"/>
            <a:ext cx="531037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164.312(a)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19"/>
          <p:cNvSpPr/>
          <p:nvPr/>
        </p:nvSpPr>
        <p:spPr>
          <a:xfrm>
            <a:off x="6531787" y="3244155"/>
            <a:ext cx="524089" cy="173236"/>
          </a:xfrm>
          <a:prstGeom prst="rect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19"/>
          <p:cNvSpPr/>
          <p:nvPr/>
        </p:nvSpPr>
        <p:spPr>
          <a:xfrm>
            <a:off x="6531787" y="3244155"/>
            <a:ext cx="524089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34025" lIns="68050" spcFirstLastPara="1" rIns="68050" wrap="square" tIns="34025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164.312(c)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83" name="Google Shape;683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29600" y="3266480"/>
            <a:ext cx="128588" cy="12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89" name="Google Shape;68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20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20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20"/>
          <p:cNvSpPr/>
          <p:nvPr/>
        </p:nvSpPr>
        <p:spPr>
          <a:xfrm>
            <a:off x="571500" y="428625"/>
            <a:ext cx="3938160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SIEM &amp; SOC Integration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0"/>
          <p:cNvSpPr/>
          <p:nvPr/>
        </p:nvSpPr>
        <p:spPr>
          <a:xfrm>
            <a:off x="3857625" y="2447627"/>
            <a:ext cx="1428750" cy="1428750"/>
          </a:xfrm>
          <a:prstGeom prst="ellipse">
            <a:avLst/>
          </a:prstGeom>
          <a:solidFill>
            <a:srgbClr val="00BFFF">
              <a:alpha val="9803"/>
            </a:srgbClr>
          </a:solidFill>
          <a:ln cap="flat" cmpd="sng" w="18275">
            <a:solidFill>
              <a:srgbClr val="00B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4" name="Google Shape;69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0898" y="2736949"/>
            <a:ext cx="482203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20"/>
          <p:cNvSpPr/>
          <p:nvPr/>
        </p:nvSpPr>
        <p:spPr>
          <a:xfrm>
            <a:off x="4207250" y="3237012"/>
            <a:ext cx="729500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OpAMP</a:t>
            </a:r>
            <a:b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 Stream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0"/>
          <p:cNvSpPr/>
          <p:nvPr/>
        </p:nvSpPr>
        <p:spPr>
          <a:xfrm>
            <a:off x="4000500" y="1466255"/>
            <a:ext cx="1143000" cy="857250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7" name="Google Shape;69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00563" y="1591270"/>
            <a:ext cx="1428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20"/>
          <p:cNvSpPr/>
          <p:nvPr/>
        </p:nvSpPr>
        <p:spPr>
          <a:xfrm>
            <a:off x="4381379" y="1891308"/>
            <a:ext cx="381214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Splunk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0"/>
          <p:cNvSpPr/>
          <p:nvPr/>
        </p:nvSpPr>
        <p:spPr>
          <a:xfrm>
            <a:off x="4192488" y="2082403"/>
            <a:ext cx="759023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Enterprise Security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20"/>
          <p:cNvSpPr/>
          <p:nvPr/>
        </p:nvSpPr>
        <p:spPr>
          <a:xfrm>
            <a:off x="6715125" y="2733377"/>
            <a:ext cx="1143000" cy="857250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1" name="Google Shape;70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86613" y="2858393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20"/>
          <p:cNvSpPr/>
          <p:nvPr/>
        </p:nvSpPr>
        <p:spPr>
          <a:xfrm>
            <a:off x="7059392" y="3158430"/>
            <a:ext cx="45446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Sentinel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0"/>
          <p:cNvSpPr/>
          <p:nvPr/>
        </p:nvSpPr>
        <p:spPr>
          <a:xfrm>
            <a:off x="7043486" y="3349526"/>
            <a:ext cx="486249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Azure Cloud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0"/>
          <p:cNvSpPr/>
          <p:nvPr/>
        </p:nvSpPr>
        <p:spPr>
          <a:xfrm>
            <a:off x="4000500" y="4000500"/>
            <a:ext cx="1143000" cy="857250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5" name="Google Shape;705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63058" y="4125516"/>
            <a:ext cx="217884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20"/>
          <p:cNvSpPr/>
          <p:nvPr/>
        </p:nvSpPr>
        <p:spPr>
          <a:xfrm>
            <a:off x="4308630" y="4425553"/>
            <a:ext cx="526712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Chronicle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0"/>
          <p:cNvSpPr/>
          <p:nvPr/>
        </p:nvSpPr>
        <p:spPr>
          <a:xfrm>
            <a:off x="4267526" y="4616648"/>
            <a:ext cx="608921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Google SecOps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0"/>
          <p:cNvSpPr/>
          <p:nvPr/>
        </p:nvSpPr>
        <p:spPr>
          <a:xfrm>
            <a:off x="1285875" y="2733377"/>
            <a:ext cx="1143000" cy="857250"/>
          </a:xfrm>
          <a:prstGeom prst="rect">
            <a:avLst/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9" name="Google Shape;709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743075" y="2858393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20"/>
          <p:cNvSpPr/>
          <p:nvPr/>
        </p:nvSpPr>
        <p:spPr>
          <a:xfrm>
            <a:off x="1679228" y="3158430"/>
            <a:ext cx="356295" cy="1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Elastic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0"/>
          <p:cNvSpPr/>
          <p:nvPr/>
        </p:nvSpPr>
        <p:spPr>
          <a:xfrm>
            <a:off x="1519386" y="3349526"/>
            <a:ext cx="675949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Security Solution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20"/>
          <p:cNvSpPr/>
          <p:nvPr/>
        </p:nvSpPr>
        <p:spPr>
          <a:xfrm>
            <a:off x="7244516" y="3682603"/>
            <a:ext cx="1185109" cy="1175147"/>
          </a:xfrm>
          <a:prstGeom prst="rect">
            <a:avLst/>
          </a:prstGeom>
          <a:solidFill>
            <a:srgbClr val="000000">
              <a:alpha val="49803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20"/>
          <p:cNvSpPr/>
          <p:nvPr/>
        </p:nvSpPr>
        <p:spPr>
          <a:xfrm>
            <a:off x="7365960" y="3804047"/>
            <a:ext cx="956509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Forwarded Events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0"/>
          <p:cNvSpPr/>
          <p:nvPr/>
        </p:nvSpPr>
        <p:spPr>
          <a:xfrm>
            <a:off x="7465972" y="3991570"/>
            <a:ext cx="537009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CERT_ISSUED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20"/>
          <p:cNvSpPr/>
          <p:nvPr/>
        </p:nvSpPr>
        <p:spPr>
          <a:xfrm>
            <a:off x="7465972" y="4143375"/>
            <a:ext cx="644668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CERT_RENEWED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20"/>
          <p:cNvSpPr/>
          <p:nvPr/>
        </p:nvSpPr>
        <p:spPr>
          <a:xfrm>
            <a:off x="7465972" y="4295180"/>
            <a:ext cx="622734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CERT_REVOKED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0"/>
          <p:cNvSpPr/>
          <p:nvPr/>
        </p:nvSpPr>
        <p:spPr>
          <a:xfrm>
            <a:off x="7465972" y="4446984"/>
            <a:ext cx="856497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MTLS_AUTH_FAILURE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0"/>
          <p:cNvSpPr/>
          <p:nvPr/>
        </p:nvSpPr>
        <p:spPr>
          <a:xfrm>
            <a:off x="7465972" y="4598789"/>
            <a:ext cx="604289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KEY_ROTATION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24" name="Google Shape;72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21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21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21"/>
          <p:cNvSpPr/>
          <p:nvPr/>
        </p:nvSpPr>
        <p:spPr>
          <a:xfrm>
            <a:off x="571500" y="428625"/>
            <a:ext cx="5077588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Automated Incident Response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1"/>
          <p:cNvSpPr/>
          <p:nvPr/>
        </p:nvSpPr>
        <p:spPr>
          <a:xfrm>
            <a:off x="571500" y="1935063"/>
            <a:ext cx="3857625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SOAR Integration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29" name="Google Shape;72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40471"/>
            <a:ext cx="107156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21"/>
          <p:cNvSpPr/>
          <p:nvPr/>
        </p:nvSpPr>
        <p:spPr>
          <a:xfrm>
            <a:off x="785813" y="2311896"/>
            <a:ext cx="3643313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Instant Detection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1"/>
          <p:cNvSpPr/>
          <p:nvPr/>
        </p:nvSpPr>
        <p:spPr>
          <a:xfrm>
            <a:off x="785813" y="2542282"/>
            <a:ext cx="364331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SIEM correlates failed mTLS attempts, unusual revocation patterns, and certificate expiry warnings in real-time.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32" name="Google Shape;73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092351"/>
            <a:ext cx="17859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733" name="Google Shape;733;p21"/>
          <p:cNvSpPr/>
          <p:nvPr/>
        </p:nvSpPr>
        <p:spPr>
          <a:xfrm>
            <a:off x="857250" y="3063776"/>
            <a:ext cx="3571875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Automated Playbooks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1"/>
          <p:cNvSpPr/>
          <p:nvPr/>
        </p:nvSpPr>
        <p:spPr>
          <a:xfrm>
            <a:off x="857250" y="3294162"/>
            <a:ext cx="35718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SOAR triggers pre-defined playbooks for common scenarios: Revoke &amp; Block, Force Renew, Isolate Host.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35" name="Google Shape;73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44230"/>
            <a:ext cx="17859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21"/>
          <p:cNvSpPr/>
          <p:nvPr/>
        </p:nvSpPr>
        <p:spPr>
          <a:xfrm>
            <a:off x="857250" y="3815655"/>
            <a:ext cx="3571875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Analyst Efficiency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21"/>
          <p:cNvSpPr/>
          <p:nvPr/>
        </p:nvSpPr>
        <p:spPr>
          <a:xfrm>
            <a:off x="857250" y="4046041"/>
            <a:ext cx="35718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L1 analysts focus on complex threats while automation handles routine certificate incidents.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1"/>
          <p:cNvSpPr/>
          <p:nvPr/>
        </p:nvSpPr>
        <p:spPr>
          <a:xfrm>
            <a:off x="4714875" y="1323380"/>
            <a:ext cx="3857625" cy="3677245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21"/>
          <p:cNvSpPr/>
          <p:nvPr/>
        </p:nvSpPr>
        <p:spPr>
          <a:xfrm>
            <a:off x="4929188" y="1798830"/>
            <a:ext cx="3429000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Compromise Containment Workflow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1"/>
          <p:cNvSpPr/>
          <p:nvPr/>
        </p:nvSpPr>
        <p:spPr>
          <a:xfrm>
            <a:off x="5157788" y="2116727"/>
            <a:ext cx="3200400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T+00:00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1"/>
          <p:cNvSpPr/>
          <p:nvPr/>
        </p:nvSpPr>
        <p:spPr>
          <a:xfrm>
            <a:off x="5157788" y="2268531"/>
            <a:ext cx="3200400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SIEM detects </a:t>
            </a:r>
            <a:r>
              <a:rPr b="1" i="0" lang="en-US" sz="683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Anomalous Cert Usage</a:t>
            </a:r>
            <a:r>
              <a:rPr b="0" i="0" lang="en-US" sz="7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from unknown IP.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1"/>
          <p:cNvSpPr/>
          <p:nvPr/>
        </p:nvSpPr>
        <p:spPr>
          <a:xfrm>
            <a:off x="5157788" y="2622845"/>
            <a:ext cx="3200400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T+00:01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1"/>
          <p:cNvSpPr/>
          <p:nvPr/>
        </p:nvSpPr>
        <p:spPr>
          <a:xfrm>
            <a:off x="5157788" y="2774649"/>
            <a:ext cx="3200400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SOAR triggers </a:t>
            </a:r>
            <a:r>
              <a:rPr b="1" i="0" lang="en-US" sz="683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"Contain Compromise"</a:t>
            </a:r>
            <a:r>
              <a:rPr b="0" i="0" lang="en-US" sz="7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playbook.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21"/>
          <p:cNvSpPr/>
          <p:nvPr/>
        </p:nvSpPr>
        <p:spPr>
          <a:xfrm>
            <a:off x="5157788" y="3128963"/>
            <a:ext cx="3200400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T+00:02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1"/>
          <p:cNvSpPr/>
          <p:nvPr/>
        </p:nvSpPr>
        <p:spPr>
          <a:xfrm>
            <a:off x="5157788" y="3280767"/>
            <a:ext cx="3200400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OpAMP revokes cert serial #12345 globally.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1"/>
          <p:cNvSpPr/>
          <p:nvPr/>
        </p:nvSpPr>
        <p:spPr>
          <a:xfrm>
            <a:off x="5157788" y="3635080"/>
            <a:ext cx="3200400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00BFFF"/>
                </a:solidFill>
                <a:latin typeface="Calibri"/>
                <a:ea typeface="Calibri"/>
                <a:cs typeface="Calibri"/>
                <a:sym typeface="Calibri"/>
              </a:rPr>
              <a:t>T+00:05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1"/>
          <p:cNvSpPr/>
          <p:nvPr/>
        </p:nvSpPr>
        <p:spPr>
          <a:xfrm>
            <a:off x="5157788" y="3786885"/>
            <a:ext cx="3200400" cy="140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Gateways terminate connections. Threat contained.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21"/>
          <p:cNvSpPr/>
          <p:nvPr/>
        </p:nvSpPr>
        <p:spPr>
          <a:xfrm>
            <a:off x="4929188" y="4141198"/>
            <a:ext cx="3429000" cy="383977"/>
          </a:xfrm>
          <a:prstGeom prst="rect">
            <a:avLst/>
          </a:prstGeom>
          <a:solidFill>
            <a:srgbClr val="32CD32">
              <a:alpha val="9803"/>
            </a:srgbClr>
          </a:solidFill>
          <a:ln cap="flat" cmpd="sng" w="9525">
            <a:solidFill>
              <a:srgbClr val="32C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21"/>
          <p:cNvSpPr/>
          <p:nvPr/>
        </p:nvSpPr>
        <p:spPr>
          <a:xfrm>
            <a:off x="4929188" y="4141198"/>
            <a:ext cx="3429000" cy="383977"/>
          </a:xfrm>
          <a:prstGeom prst="rect">
            <a:avLst/>
          </a:prstGeom>
          <a:noFill/>
          <a:ln>
            <a:noFill/>
          </a:ln>
        </p:spPr>
        <p:txBody>
          <a:bodyPr anchorCtr="0" anchor="t" bIns="127500" lIns="127500" spcFirstLastPara="1" rIns="127500" wrap="square" tIns="127500">
            <a:noAutofit/>
          </a:bodyPr>
          <a:lstStyle/>
          <a:p>
            <a:pPr indent="0" lvl="0" marL="0" marR="0" rtl="0" algn="ctr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32CD32"/>
              </a:buClr>
              <a:buSzPts val="784"/>
              <a:buFont typeface="Calibri"/>
              <a:buNone/>
            </a:pPr>
            <a:r>
              <a:rPr b="1" i="0" lang="en-US" sz="784" u="none" cap="none" strike="noStrike">
                <a:solidFill>
                  <a:srgbClr val="32CD32"/>
                </a:solidFill>
                <a:latin typeface="Calibri"/>
                <a:ea typeface="Calibri"/>
                <a:cs typeface="Calibri"/>
                <a:sym typeface="Calibri"/>
              </a:rPr>
              <a:t>Total Time to Contain: &lt; 5 Minutes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55" name="Google Shape;7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22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22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22"/>
          <p:cNvSpPr/>
          <p:nvPr/>
        </p:nvSpPr>
        <p:spPr>
          <a:xfrm>
            <a:off x="571500" y="428625"/>
            <a:ext cx="1504066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Section F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2"/>
          <p:cNvSpPr/>
          <p:nvPr/>
        </p:nvSpPr>
        <p:spPr>
          <a:xfrm>
            <a:off x="3857625" y="1793081"/>
            <a:ext cx="1428750" cy="1428750"/>
          </a:xfrm>
          <a:prstGeom prst="ellipse">
            <a:avLst/>
          </a:prstGeom>
          <a:solidFill>
            <a:srgbClr val="FFD7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0" name="Google Shape;76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70164" y="2150269"/>
            <a:ext cx="803672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22"/>
          <p:cNvSpPr/>
          <p:nvPr/>
        </p:nvSpPr>
        <p:spPr>
          <a:xfrm>
            <a:off x="3340122" y="3507581"/>
            <a:ext cx="2463757" cy="623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58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93"/>
              <a:buFont typeface="Calibri"/>
              <a:buNone/>
            </a:pPr>
            <a:r>
              <a:rPr b="1" i="0" lang="en-US" sz="32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32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2"/>
          <p:cNvSpPr/>
          <p:nvPr/>
        </p:nvSpPr>
        <p:spPr>
          <a:xfrm>
            <a:off x="1827851" y="4273748"/>
            <a:ext cx="548829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760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269"/>
              <a:buFont typeface="Calibri"/>
              <a:buNone/>
            </a:pPr>
            <a:r>
              <a:rPr b="0" i="0" lang="en-US" sz="1269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Key takeaways, business impact, and next steps for implementation.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22"/>
          <p:cNvSpPr/>
          <p:nvPr/>
        </p:nvSpPr>
        <p:spPr>
          <a:xfrm>
            <a:off x="7724375" y="3689747"/>
            <a:ext cx="991000" cy="1168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2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18"/>
              <a:buFont typeface="Calibri"/>
              <a:buNone/>
            </a:pPr>
            <a:r>
              <a:rPr b="1" i="0" lang="en-US" sz="621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62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69" name="Google Shape;76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23"/>
          <p:cNvSpPr/>
          <p:nvPr/>
        </p:nvSpPr>
        <p:spPr>
          <a:xfrm>
            <a:off x="571500" y="428625"/>
            <a:ext cx="8001000" cy="62329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23"/>
          <p:cNvSpPr/>
          <p:nvPr/>
        </p:nvSpPr>
        <p:spPr>
          <a:xfrm>
            <a:off x="571500" y="1037630"/>
            <a:ext cx="8001000" cy="14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23"/>
          <p:cNvSpPr/>
          <p:nvPr/>
        </p:nvSpPr>
        <p:spPr>
          <a:xfrm>
            <a:off x="571500" y="428625"/>
            <a:ext cx="2528078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3"/>
          <p:cNvSpPr/>
          <p:nvPr/>
        </p:nvSpPr>
        <p:spPr>
          <a:xfrm>
            <a:off x="571500" y="1323380"/>
            <a:ext cx="2524116" cy="3677245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23"/>
          <p:cNvSpPr/>
          <p:nvPr/>
        </p:nvSpPr>
        <p:spPr>
          <a:xfrm>
            <a:off x="571500" y="1323380"/>
            <a:ext cx="2509800" cy="28575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23"/>
          <p:cNvSpPr/>
          <p:nvPr/>
        </p:nvSpPr>
        <p:spPr>
          <a:xfrm>
            <a:off x="1547794" y="1537692"/>
            <a:ext cx="571500" cy="571500"/>
          </a:xfrm>
          <a:prstGeom prst="ellipse">
            <a:avLst/>
          </a:prstGeom>
          <a:solidFill>
            <a:srgbClr val="32CD32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6" name="Google Shape;77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2810" y="1694855"/>
            <a:ext cx="321469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23"/>
          <p:cNvSpPr/>
          <p:nvPr/>
        </p:nvSpPr>
        <p:spPr>
          <a:xfrm>
            <a:off x="853873" y="2252067"/>
            <a:ext cx="1959341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Operational Excellence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3"/>
          <p:cNvSpPr/>
          <p:nvPr/>
        </p:nvSpPr>
        <p:spPr>
          <a:xfrm>
            <a:off x="785813" y="2593181"/>
            <a:ext cx="2095491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Zero-touch automation eliminates manual toil, reduces human error, and ensures 99.96% renewal success across 250K endpoints.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23"/>
          <p:cNvSpPr/>
          <p:nvPr/>
        </p:nvSpPr>
        <p:spPr>
          <a:xfrm>
            <a:off x="1529851" y="4321969"/>
            <a:ext cx="607414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23"/>
          <p:cNvSpPr/>
          <p:nvPr/>
        </p:nvSpPr>
        <p:spPr>
          <a:xfrm>
            <a:off x="1550696" y="4670227"/>
            <a:ext cx="565724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Automation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23"/>
          <p:cNvSpPr/>
          <p:nvPr/>
        </p:nvSpPr>
        <p:spPr>
          <a:xfrm>
            <a:off x="3309928" y="1323380"/>
            <a:ext cx="2524116" cy="3677245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23"/>
          <p:cNvSpPr/>
          <p:nvPr/>
        </p:nvSpPr>
        <p:spPr>
          <a:xfrm>
            <a:off x="3309928" y="1323380"/>
            <a:ext cx="2509800" cy="28575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23"/>
          <p:cNvSpPr/>
          <p:nvPr/>
        </p:nvSpPr>
        <p:spPr>
          <a:xfrm>
            <a:off x="4286222" y="1537692"/>
            <a:ext cx="571500" cy="571500"/>
          </a:xfrm>
          <a:prstGeom prst="ellipse">
            <a:avLst/>
          </a:prstGeom>
          <a:solidFill>
            <a:srgbClr val="00BFFF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4" name="Google Shape;78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43385" y="1694855"/>
            <a:ext cx="2571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23"/>
          <p:cNvSpPr/>
          <p:nvPr/>
        </p:nvSpPr>
        <p:spPr>
          <a:xfrm>
            <a:off x="3612533" y="2252067"/>
            <a:ext cx="1918878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Security &amp; Compliance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23"/>
          <p:cNvSpPr/>
          <p:nvPr/>
        </p:nvSpPr>
        <p:spPr>
          <a:xfrm>
            <a:off x="3524241" y="2593181"/>
            <a:ext cx="2095491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Short-lived certificates (90 days), mTLS everywhere, and automated evidence collection ensure continuous compliance.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3"/>
          <p:cNvSpPr/>
          <p:nvPr/>
        </p:nvSpPr>
        <p:spPr>
          <a:xfrm>
            <a:off x="4313095" y="4321969"/>
            <a:ext cx="517782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Zero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3"/>
          <p:cNvSpPr/>
          <p:nvPr/>
        </p:nvSpPr>
        <p:spPr>
          <a:xfrm>
            <a:off x="4123813" y="4670227"/>
            <a:ext cx="896345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Trust Architecture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3"/>
          <p:cNvSpPr/>
          <p:nvPr/>
        </p:nvSpPr>
        <p:spPr>
          <a:xfrm>
            <a:off x="6048356" y="1323380"/>
            <a:ext cx="2524144" cy="3677245"/>
          </a:xfrm>
          <a:prstGeom prst="rect">
            <a:avLst/>
          </a:prstGeom>
          <a:solidFill>
            <a:srgbClr val="FFFFFF">
              <a:alpha val="274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23"/>
          <p:cNvSpPr/>
          <p:nvPr/>
        </p:nvSpPr>
        <p:spPr>
          <a:xfrm>
            <a:off x="6048356" y="1323380"/>
            <a:ext cx="2509856" cy="28575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23"/>
          <p:cNvSpPr/>
          <p:nvPr/>
        </p:nvSpPr>
        <p:spPr>
          <a:xfrm>
            <a:off x="7024678" y="1537692"/>
            <a:ext cx="571500" cy="571500"/>
          </a:xfrm>
          <a:prstGeom prst="ellipse">
            <a:avLst/>
          </a:prstGeom>
          <a:solidFill>
            <a:srgbClr val="FFD700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2" name="Google Shape;79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81841" y="1694855"/>
            <a:ext cx="2571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23"/>
          <p:cNvSpPr/>
          <p:nvPr/>
        </p:nvSpPr>
        <p:spPr>
          <a:xfrm>
            <a:off x="6674327" y="2252067"/>
            <a:ext cx="1272174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Value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23"/>
          <p:cNvSpPr/>
          <p:nvPr/>
        </p:nvSpPr>
        <p:spPr>
          <a:xfrm>
            <a:off x="6262669" y="2593181"/>
            <a:ext cx="209551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Significant cost savings from reduced outages, faster audit cycles, and elimination of manual certificate management overhead.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23"/>
          <p:cNvSpPr/>
          <p:nvPr/>
        </p:nvSpPr>
        <p:spPr>
          <a:xfrm>
            <a:off x="6969454" y="4321969"/>
            <a:ext cx="681921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$500K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23"/>
          <p:cNvSpPr/>
          <p:nvPr/>
        </p:nvSpPr>
        <p:spPr>
          <a:xfrm>
            <a:off x="6949222" y="4670227"/>
            <a:ext cx="722412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824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Annual Savings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02" name="Google Shape;80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03" name="Google Shape;80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14813" y="1236762"/>
            <a:ext cx="71437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24"/>
          <p:cNvSpPr/>
          <p:nvPr/>
        </p:nvSpPr>
        <p:spPr>
          <a:xfrm>
            <a:off x="1357313" y="2190452"/>
            <a:ext cx="6429375" cy="623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58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93"/>
              <a:buFont typeface="Calibri"/>
              <a:buNone/>
            </a:pPr>
            <a:r>
              <a:rPr b="1" i="0" lang="en-US" sz="329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b="0" i="0" sz="32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24"/>
          <p:cNvSpPr/>
          <p:nvPr/>
        </p:nvSpPr>
        <p:spPr>
          <a:xfrm>
            <a:off x="1357313" y="2956620"/>
            <a:ext cx="6429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7604"/>
              </a:lnSpc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1269"/>
              <a:buFont typeface="Calibri"/>
              <a:buNone/>
            </a:pPr>
            <a:r>
              <a:rPr b="0" i="0" lang="en-US" sz="1269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Thank you for your time. We are now open for questions regarding the Certificate Management architecture and operational workflows.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24"/>
          <p:cNvSpPr/>
          <p:nvPr/>
        </p:nvSpPr>
        <p:spPr>
          <a:xfrm>
            <a:off x="2126689" y="3899595"/>
            <a:ext cx="2501289" cy="403622"/>
          </a:xfrm>
          <a:prstGeom prst="roundRect">
            <a:avLst>
              <a:gd fmla="val 16667" name="adj"/>
            </a:avLst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7" name="Google Shape;80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48145" y="4029968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24"/>
          <p:cNvSpPr/>
          <p:nvPr/>
        </p:nvSpPr>
        <p:spPr>
          <a:xfrm>
            <a:off x="2598176" y="4013895"/>
            <a:ext cx="1808345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security-arch@company.com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24"/>
          <p:cNvSpPr/>
          <p:nvPr/>
        </p:nvSpPr>
        <p:spPr>
          <a:xfrm>
            <a:off x="4906584" y="3899595"/>
            <a:ext cx="2103555" cy="403622"/>
          </a:xfrm>
          <a:prstGeom prst="roundRect">
            <a:avLst>
              <a:gd fmla="val 16667" name="adj"/>
            </a:avLst>
          </a:prstGeom>
          <a:solidFill>
            <a:srgbClr val="FFFFFF">
              <a:alpha val="4705"/>
            </a:srgbClr>
          </a:solidFill>
          <a:ln cap="flat" cmpd="sng" w="9525">
            <a:solidFill>
              <a:srgbClr val="FFFF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0" name="Google Shape;81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28040" y="4029968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24"/>
          <p:cNvSpPr/>
          <p:nvPr/>
        </p:nvSpPr>
        <p:spPr>
          <a:xfrm>
            <a:off x="5378072" y="4013895"/>
            <a:ext cx="1410612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wiki.company.com/pki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