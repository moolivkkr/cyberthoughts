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Lst>
  <p:sldSz cy="5143500" cx="9144000"/>
  <p:notesSz cx="5143500" cy="9144000"/>
  <p:embeddedFontLst>
    <p:embeddedFont>
      <p:font typeface="Inter"/>
      <p:regular r:id="rId22"/>
      <p:bold r:id="rId23"/>
      <p:italic r:id="rId24"/>
      <p:boldItalic r:id="rId25"/>
    </p:embeddedFont>
    <p:embeddedFont>
      <p:font typeface="Roboto Mono"/>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font" Target="fonts/Inter-regular.fntdata"/><Relationship Id="rId21" Type="http://schemas.openxmlformats.org/officeDocument/2006/relationships/slide" Target="slides/slide17.xml"/><Relationship Id="rId24" Type="http://schemas.openxmlformats.org/officeDocument/2006/relationships/font" Target="fonts/Inter-italic.fntdata"/><Relationship Id="rId23" Type="http://schemas.openxmlformats.org/officeDocument/2006/relationships/font" Target="fonts/Inter-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RobotoMono-regular.fntdata"/><Relationship Id="rId25" Type="http://schemas.openxmlformats.org/officeDocument/2006/relationships/font" Target="fonts/Inter-boldItalic.fntdata"/><Relationship Id="rId28" Type="http://schemas.openxmlformats.org/officeDocument/2006/relationships/font" Target="fonts/RobotoMono-italic.fntdata"/><Relationship Id="rId27" Type="http://schemas.openxmlformats.org/officeDocument/2006/relationships/font" Target="fonts/RobotoMono-bold.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RobotoMono-boldItalic.fntdata"/><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Moving from the use cases, let's discuss the critical aspect of compliance and how our platform aligns with industry standards. Our OpAMP Secrets Management platform is built with regulatory frameworks in mind, providing comprehensive coverage for key standards. NIST SP 800-57 is the National Institute of Standards and Technology Special Publication 800-57, titled 'Recommendation for Key Management.' It is the U.S. federal government's authoritative guidance on how cryptographic keys should be generated, distributed, stored, rotated, and destroyed. This matters because any organization handling federal data, or seeking FedRAMP authorization, must demonstrate compliance with 800-57. It is also widely adopted as a best practice by financial institutions and healthcare organizations. Our platform achieves 100% coverage for KEK lifecycle, 90-day rotation, and separation of duties. NIST SP 800-53 is the National Institute of Standards and Technology Special Publication 800-53, titled 'Security and Privacy Controls for Information Systems and Organizations.' It provides a catalog of security and privacy controls for all U.S. federal information systems. This matters because it's a foundational standard for federal agencies and contractors, ensuring a robust security posture. Our platform provides 95% coverage across SC and AU control families. PCI-DSS 4.0 is the Payment Card Industry Data Security Standard, version 4.0. It is a global information security standard for organizations that handle branded credit cards from the major card schemes. This matters because any entity storing, processing, or transmitting cardholder data must comply to avoid penalties and data breaches. Our platform achieves 100% coverage for Requirement 3 (encryption), Requirement 8 (mTLS authentication), and Requirement 10 (audit logging). SOC 2 Type II is a Service Organization Control 2 Type II report. It is an audit report on the controls at a service organization relevant to security, availability, processing integrity, confidentiality, or privacy. This matters because it provides assurance to customers and partners about the security of their data. Our platform provides 100% coverage for access management, encryption, and monitoring controls. HIPAA is the Health Insurance Portability and Accountability Act. It is a U.S. federal law that sets national standards to protect sensitive patient health information from being disclosed without the patient's consent or knowledge. This matters because healthcare providers and their business associates must comply to protect patient data. Our platform provides 100% coverage for access management, encryption, and monitoring controls. Our automated compliance engine runs continuous background scans, flagging issues like weak rotation policies or unused secrets. This proactive approach ensures we maintain a high compliance score, currently at 99.68% in our Proof of Concept. This continuous monitoring and automated alerting mean we're always audit-ready, moving us smoothly into how we manage our cryptographic keys.</a:t>
            </a:r>
            <a:endParaRPr/>
          </a:p>
        </p:txBody>
      </p:sp>
      <p:sp>
        <p:nvSpPr>
          <p:cNvPr id="14" name="Google Shape;14;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 name="Shape 45"/>
        <p:cNvGrpSpPr/>
        <p:nvPr/>
      </p:nvGrpSpPr>
      <p:grpSpPr>
        <a:xfrm>
          <a:off x="0" y="0"/>
          <a:ext cx="0" cy="0"/>
          <a:chOff x="0" y="0"/>
          <a:chExt cx="0" cy="0"/>
        </a:xfrm>
      </p:grpSpPr>
      <p:sp>
        <p:nvSpPr>
          <p:cNvPr id="46" name="Google Shape;4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 name="Google Shape;47;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Building on our strong compliance posture, let's delve into the core of our security: key management and encryption strength. We employ a robust three-tier envelope encryption system to protect your data. At the root, we have the HSM Master Key, residing within a FIPS 140-2 Level 3 hardware boundary, ensuring it never leaves the HSM. This matters because FIPS 140-2 is a U.S. government computer security standard used to approve cryptographic modules. Level 3 requires physical tamper-evidence and identity-based authentication, providing a high level of assurance. Our implementation means your most sensitive keys are protected by certified hardware. The middle tier uses a Key Encryption Key, or KEK, employing AES-256-GCM, which is automatically rotated every 90 days by our Secrets-Ops-Scheduler. This matters because AES-256-GCM is a strong, widely accepted symmetric encryption algorithm, and regular rotation limits the exposure window of any single key. Our automated scheduler ensures this critical security practice is consistently applied. Finally, the leaf tier uses a Data Encryption Key, or DEK, also AES-256-GCM, which is ephemeral, unique per secret, and immediately zeroized from memory after use. This matters because it provides forward secrecy, meaning the compromise of one DEK doesn't expose other secrets. Our automated lifecycle operations, including zero-downtime re-wrapping at 500 operations per second, ensure that human interaction with cryptographic material is minimized, enhancing overall security. This robust key management strategy is essential for our readiness for future cryptographic challenges, which we'll discuss next.</a:t>
            </a:r>
            <a:endParaRPr/>
          </a:p>
        </p:txBody>
      </p:sp>
      <p:sp>
        <p:nvSpPr>
          <p:cNvPr id="48" name="Google Shape;48;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 name="Google Shape;74;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Following our discussion on robust key management, let's address a critical future challenge: Post-Quantum Cryptography, or PQC, readiness. Our platform is built with a cipher-agile architecture, designed to transition algorithms without code changes or downtime. This matters because quantum computers pose a significant threat to current asymmetric cryptography, like RSA and ECDSA, used in mTLS certificates. NIST, the National Institute of Standards and Technology, has already published initial PQC standards, and organizations need a migration plan now. Our system stores algorithm identifiers with every encrypted envelope, allowing for simultaneous support of old and new ciphers during migration. This means new secrets can be encrypted with updated algorithms while existing ones remain readable under their original cipher. Automated KEK and DEK rotation mechanisms provide the operational pathway to re-wrap existing secrets to new ciphers, ensuring a seamless transition. For quantum threat mitigation, our symmetric encryption, AES-256-GCM, remains quantum-resistant against Grover's algorithm. For asymmetric keys, our certificate management subsystem is prepared for the new FIPS 204 ML-DSA and FIPS 205 SLH-DSA standards. Our 30-day mTLS certificate validity strictly limits the exposure window for asymmetric keys, providing an additional layer of protection during this transition. This forward-looking approach ensures our platform is future-proof, leading us to how we ensure digital signing and non-repudiation.</a:t>
            </a:r>
            <a:endParaRPr/>
          </a:p>
        </p:txBody>
      </p:sp>
      <p:sp>
        <p:nvSpPr>
          <p:cNvPr id="75" name="Google Shape;75;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 name="Google Shape;10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Having established our PQC readiness, let's now focus on how we ensure digital signing and non-repudiation within the OpAMP Secrets Management platform. Our HSM-delegated signing capability is a cornerstone of this. The EES SDK provides robust signing operations while ensuring private keys never leave the HSM. This matters because it eliminates the risk of private key exposure, a common vulnerability in many systems. The SDK delegates signing to the platform, meaning your sensitive private keys are always protected within a secure hardware boundary. For verification, the SDK caches public keys, enabling high-throughput local signature verification. We also support standard formats like JWS and CMS, ensuring interoperability. For audit and provenance, every operation is cryptographically bound to the caller's mTLS certificate. This matters because it provides an unforgeable link between an action and the identity that performed it, crucial for accountability. All cryptographic operations generate tamper-evident, structured audit events, giving you a complete and trustworthy record. Finally, our partner key registry manages external public keys with automated CRL and OCSP revocation checking, ensuring that trust is continuously validated. This comprehensive approach to digital signing and non-repudiation provides a strong foundation for trust and accountability.</a:t>
            </a:r>
            <a:endParaRPr/>
          </a:p>
        </p:txBody>
      </p:sp>
      <p:sp>
        <p:nvSpPr>
          <p:cNvPr id="105" name="Google Shape;105;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c591e6f12b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 name="Google Shape;131;g3c591e6f12b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We're here to talk about the Enterprise Encryption Service, specifically how it handles various use cases through well-defined sequence diagrams. This service isn't just about storing secrets; it's about enabling secure data operations across your enterprise. We'll explore five distinct encryption patterns, each designed to address common but critical security challenges. These patterns range from one-time file encryption for batch jobs to continuous streaming encryption and granular database field-level encryption. We'll also look at how we secure inter-service communication with cross-ASV messaging. This approach ensures that we cover a broad spectrum of encryption needs, all powered by OpAMP Secrets Management. Let's dive into the specifics of these patterns.</a:t>
            </a:r>
            <a:endParaRPr/>
          </a:p>
        </p:txBody>
      </p:sp>
      <p:sp>
        <p:nvSpPr>
          <p:cNvPr id="132" name="Google Shape;132;g3c591e6f12b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0" name="Google Shape;180;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We've discussed the underlying cryptographic principles, now let's see how developers interact with this system. The core idea here is to provide a seamless developer experience, abstracting away cryptographic complexities. Developers simply declare a data classification, and our SDK handles the rest, making all the crypto decisions for them. This means they don't need to be crypto experts to build secure applications. For instance, encrypting data is as simple as calling client.encrypt with the plaintext and a DataClassification. The SDK then determines the correct algorithms and key management policies behind the scenes. Similarly, digital signing is streamlined; the private key never leaves the HSM, and the SDK returns standard JWS tokens. This approach ensures cryptographic best practices are consistently applied across all applications, reducing human error and improving overall security posture. Next, we'll dive into specific use cases to illustrate this in action.</a:t>
            </a:r>
            <a:endParaRPr/>
          </a:p>
        </p:txBody>
      </p:sp>
      <p:sp>
        <p:nvSpPr>
          <p:cNvPr id="181" name="Google Shape;181;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0" name="Google Shape;200;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Our first use case demonstrates infrequent file-based encryption, perfect for batch jobs or nightly reports. Here, the goal is to encrypt a file once and then immediately discard the encryption key. The process starts when the batch job calls encryptFile, specifying the data classification. The EES SDK then generates a unique, ephemeral 256-bit Data Encryption Key, or DEK, using a cryptographically secure random number generator. This DEK is then sent to the OpAMP API to be encrypted by a Key Encryption Key, or KEK, which is managed by Vault Transit and backed by a FIPS 140-2 Level 3 CloudHSM. Once the DEK is encrypted, it's returned to the SDK, which uses it to encrypt the file in 64KB chunks. Crucially, the DEK is zeroized from memory immediately after use, ensuring no lingering keys. This approach provides strong security guarantees, as each file gets a unique, short-lived DEK, and the KEK never leaves the HSM. This is a critical component of NIST SP 800-57, which is the National Institute of Standards and Technology Special Publication 800-57, titled 'Recommendation for Key Management.' It is the U.S. federal government's authoritative guidance on how cryptographic keys should be generated, distributed, stored, rotated, and destroyed. This matters because any organization handling federal data, or seeking FedRAMP authorization, must demonstrate compliance with 800-57. It is also widely adopted as a best practice by financial institutions and healthcare organizations. Our implementation directly addresses 800-57 by ensuring proper key hierarchy, ephemeral DEKs, and HSM-backed KEKs. Now, let's look at how we handle API-based encryption for attachments.</a:t>
            </a:r>
            <a:endParaRPr/>
          </a:p>
        </p:txBody>
      </p:sp>
      <p:sp>
        <p:nvSpPr>
          <p:cNvPr id="201" name="Google Shape;201;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2" name="Google Shape;272;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3" name="Google Shape;273;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0" name="Google Shape;310;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Moving to our second use case, we examine API-based encrypted attachment flows, common when users upload documents. When an API service calls encrypt for an attachment, the EES SDK first checks its local DEK cache. If it's a miss, meaning this is the first request or the DEK has expired, the SDK requests a new encrypted DEK from the OpAMP API. This DEK is then encrypted by Vault Transit, backed by our FIPS 140-2 Level 3 CloudHSM, and returned to the SDK. The SDK then caches this DEK for a short TTL, typically 5 minutes, and uses it to encrypt the attachment with AES-256-GCM. The encrypted blob and the encrypted DEK are then stored in S3. The key performance optimization here is that subsequent requests within that 5-minute TTL window will reuse the cached DEK, bypassing the network calls to the OpAMP API and Vault. This significantly reduces latency for frequently accessed data. Even with DEK reuse, each attachment still gets a unique nonce, maintaining cryptographic safety. This caching mechanism balances security with performance, ensuring efficient encryption without compromising the integrity of the data. Next, we'll explore how we handle continuous data streams.</a:t>
            </a:r>
            <a:endParaRPr/>
          </a:p>
        </p:txBody>
      </p:sp>
      <p:sp>
        <p:nvSpPr>
          <p:cNvPr id="311" name="Google Shape;311;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7" name="Google Shape;387;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8" name="Google Shape;388;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7" name="Google Shape;427;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Our third use case focuses on streaming encryption, vital for continuous data flows like Kafka or event pipelines. Here, we need a long-lived DEK that can be reused across multiple stream chunks, but with the ability to rotate it when necessary. The process begins with initStream, which triggers the EES SDK to acquire an encrypted DEK from the OpAMP API, similar to the previous use cases. This DEK is then cached for a longer TTL, typically 60 minutes, and an encryption stream is opened. As data chunks arrive, the SDK encrypts each one using AES-256-GCM with a unique nonce, ensuring cryptographic independence for each chunk. The critical part here is the real-time rotation. If a KEK_ROTATED event is received via WebSocket, the SDK immediately invalidates its cached DEK. The next time a chunk needs encryption, it will automatically acquire a new DEK, ensuring crypto-agility without interrupting the stream. This approach provides continuous, secure encryption for high-throughput data, with seamless key rotation capabilities. Now, let's look at how we handle database field-level encryption.</a:t>
            </a:r>
            <a:endParaRPr/>
          </a:p>
        </p:txBody>
      </p:sp>
      <p:sp>
        <p:nvSpPr>
          <p:cNvPr id="428" name="Google Shape;428;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0" name="Google Shape;510;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1" name="Google Shape;511;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2" name="Google Shape;552;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Moving from streaming encryption, we now look at how we handle granular data protection within databases. This use case, Database Field-Level Encryption, shows how our platform allows applications to encrypt specific PII or PHI fields before they even hit the database, ensuring data is protected at its most sensitive point. The diagram illustrates an application calling our SDK to encrypt fields like SSN and email, each with a different classification. Our system then resolves the appropriate Key Encryption Key, or KEK, for each classification, potentially fetching new DEKs from Vault Transit if not already cached. This granular approach means a customer support agent, for example, could decrypt an email address but not a social security number, enforcing strict access control right down to the field level. This directly addresses requirements from standards like HIPAA, the Health Insurance Portability and Accountability Act, which mandates the protection of sensitive patient health information. Our implementation ensures that PHI is encrypted at rest and access is strictly controlled based on data classification, aligning with HIPAA's security rule requirements. It also supports NIST SP 800-53, the National Institute of Standards and Technology Special Publication 800-53, which provides security and privacy controls for federal information systems. Specifically, control AC-3, Access Enforcement, is met by our granular, policy-driven decryption. Next, we'll explore how we extend this secure data handling to cross-ASV messaging.</a:t>
            </a:r>
            <a:endParaRPr/>
          </a:p>
        </p:txBody>
      </p:sp>
      <p:sp>
        <p:nvSpPr>
          <p:cNvPr id="553" name="Google Shape;553;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9" name="Google Shape;629;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0" name="Google Shape;630;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6" name="Google Shape;676;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Building on our field-level encryption, this slide demonstrates Cross-ASV Secure Messaging, enabling secure data exchange between different Application Security Verticals. Here, a service in ASV-A wants to send encrypted data to ASV-B. The sender uses our SDK to encrypt the data for the recipient, which triggers a request to our OpAMP API to create a time-limited grant. This grant, validated against ASV-A's policy, allows ASV-B to decrypt the message. The data is then encrypted with a shared KEK, and a secure envelope containing the encrypted data, encrypted DEK, and grant token is transmitted. When ASV-B receives it, our system validates the grant token before decrypting the DEK and then the data. This mechanism is crucial for compliance with standards like PCI-DSS 4.0, the Payment Card Industry Data Security Standard, which requires strong cryptographic controls for protecting cardholder data during transmission. Our use of shared KEKs and time-limited grants ensures that data shared between ASVs, especially those handling payment data, remains secure and auditable. It also aligns with NIST SP 800-175B, the National Institute of Standards and Technology Special Publication 800-175B, which provides guidance on cryptographic key management for federal systems. Our approach to key sharing and access control directly supports the principles of secure data exchange outlined in this standard. Now, let's bring it all together with a summary of our use cases.</a:t>
            </a:r>
            <a:endParaRPr/>
          </a:p>
        </p:txBody>
      </p:sp>
      <p:sp>
        <p:nvSpPr>
          <p:cNvPr id="677" name="Google Shape;677;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0" name="Google Shape;760;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1" name="Google Shape;761;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6" name="Shape 796"/>
        <p:cNvGrpSpPr/>
        <p:nvPr/>
      </p:nvGrpSpPr>
      <p:grpSpPr>
        <a:xfrm>
          <a:off x="0" y="0"/>
          <a:ext cx="0" cy="0"/>
          <a:chOff x="0" y="0"/>
          <a:chExt cx="0" cy="0"/>
        </a:xfrm>
      </p:grpSpPr>
      <p:sp>
        <p:nvSpPr>
          <p:cNvPr id="797" name="Google Shape;797;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8" name="Google Shape;798;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We've covered five distinct use cases, and this matrix provides a high-level comparison across key architectural dimensions. You can see how the DEK lifecycle, cache strategy, throughput profile, and network round-trips vary depending on the use case, from ephemeral DEKs for file-based encryption to shared DEKs for cross-ASV messaging. The critical takeaway here is that the application developer doesn't need to be a crypto expert. They simply provide the data and its classification, and our EES SDK and OpAMP platform handle all the underlying cryptographic complexities. This includes DEK generation, intelligent caching, algorithm selection, and seamless integration with HSMs. This abstraction simplifies development, reduces errors, and ensures consistent security across all applications. This approach also helps us meet the requirements of SOC 2 Type II, which focuses on the security, availability, processing integrity, confidentiality, and privacy of customer data. By automating cryptographic decisions and providing a unified platform, we demonstrate robust controls over data protection. It also reinforces our adherence to FIPS 140-2 and FIPS 140-3, the Federal Information Processing Standards for cryptographic modules, by ensuring that all cryptographic operations are performed within validated modules. This consistency and automation are fundamental to our platform's value proposition.</a:t>
            </a:r>
            <a:endParaRPr/>
          </a:p>
        </p:txBody>
      </p:sp>
      <p:sp>
        <p:nvSpPr>
          <p:cNvPr id="799" name="Google Shape;799;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7.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1.jpg"/><Relationship Id="rId4" Type="http://schemas.openxmlformats.org/officeDocument/2006/relationships/image" Target="../media/image1.png"/><Relationship Id="rId9" Type="http://schemas.openxmlformats.org/officeDocument/2006/relationships/image" Target="../media/image7.png"/><Relationship Id="rId5" Type="http://schemas.openxmlformats.org/officeDocument/2006/relationships/image" Target="../media/image9.png"/><Relationship Id="rId6" Type="http://schemas.openxmlformats.org/officeDocument/2006/relationships/image" Target="../media/image3.png"/><Relationship Id="rId7" Type="http://schemas.openxmlformats.org/officeDocument/2006/relationships/image" Target="../media/image4.png"/><Relationship Id="rId8"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52.png"/><Relationship Id="rId4" Type="http://schemas.openxmlformats.org/officeDocument/2006/relationships/image" Target="../media/image5.png"/><Relationship Id="rId9" Type="http://schemas.openxmlformats.org/officeDocument/2006/relationships/image" Target="../media/image34.png"/><Relationship Id="rId5" Type="http://schemas.openxmlformats.org/officeDocument/2006/relationships/image" Target="../media/image13.png"/><Relationship Id="rId6" Type="http://schemas.openxmlformats.org/officeDocument/2006/relationships/image" Target="../media/image11.png"/><Relationship Id="rId7" Type="http://schemas.openxmlformats.org/officeDocument/2006/relationships/image" Target="../media/image6.png"/><Relationship Id="rId8"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54.png"/><Relationship Id="rId4" Type="http://schemas.openxmlformats.org/officeDocument/2006/relationships/image" Target="../media/image20.png"/><Relationship Id="rId9" Type="http://schemas.openxmlformats.org/officeDocument/2006/relationships/image" Target="../media/image30.png"/><Relationship Id="rId5" Type="http://schemas.openxmlformats.org/officeDocument/2006/relationships/image" Target="../media/image13.png"/><Relationship Id="rId6" Type="http://schemas.openxmlformats.org/officeDocument/2006/relationships/image" Target="../media/image11.png"/><Relationship Id="rId7" Type="http://schemas.openxmlformats.org/officeDocument/2006/relationships/image" Target="../media/image6.png"/><Relationship Id="rId8"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53.png"/><Relationship Id="rId4" Type="http://schemas.openxmlformats.org/officeDocument/2006/relationships/image" Target="../media/image22.png"/><Relationship Id="rId5" Type="http://schemas.openxmlformats.org/officeDocument/2006/relationships/image" Target="../media/image13.png"/><Relationship Id="rId6" Type="http://schemas.openxmlformats.org/officeDocument/2006/relationships/image" Target="../media/image11.png"/><Relationship Id="rId7" Type="http://schemas.openxmlformats.org/officeDocument/2006/relationships/image" Target="../media/image6.png"/><Relationship Id="rId8"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55.png"/><Relationship Id="rId4" Type="http://schemas.openxmlformats.org/officeDocument/2006/relationships/image" Target="../media/image24.png"/><Relationship Id="rId9" Type="http://schemas.openxmlformats.org/officeDocument/2006/relationships/image" Target="../media/image26.png"/><Relationship Id="rId5" Type="http://schemas.openxmlformats.org/officeDocument/2006/relationships/image" Target="../media/image13.png"/><Relationship Id="rId6" Type="http://schemas.openxmlformats.org/officeDocument/2006/relationships/image" Target="../media/image11.png"/><Relationship Id="rId7" Type="http://schemas.openxmlformats.org/officeDocument/2006/relationships/image" Target="../media/image6.png"/><Relationship Id="rId8"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56.png"/><Relationship Id="rId4" Type="http://schemas.openxmlformats.org/officeDocument/2006/relationships/image" Target="../media/image33.png"/><Relationship Id="rId5" Type="http://schemas.openxmlformats.org/officeDocument/2006/relationships/image" Target="../media/image13.png"/><Relationship Id="rId6" Type="http://schemas.openxmlformats.org/officeDocument/2006/relationships/image" Target="../media/image11.png"/><Relationship Id="rId7" Type="http://schemas.openxmlformats.org/officeDocument/2006/relationships/image" Target="../media/image6.png"/><Relationship Id="rId8" Type="http://schemas.openxmlformats.org/officeDocument/2006/relationships/image" Target="../media/image3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5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45.jpg"/><Relationship Id="rId4" Type="http://schemas.openxmlformats.org/officeDocument/2006/relationships/image" Target="../media/image38.png"/><Relationship Id="rId9" Type="http://schemas.openxmlformats.org/officeDocument/2006/relationships/image" Target="../media/image46.png"/><Relationship Id="rId5" Type="http://schemas.openxmlformats.org/officeDocument/2006/relationships/image" Target="../media/image40.png"/><Relationship Id="rId6" Type="http://schemas.openxmlformats.org/officeDocument/2006/relationships/image" Target="../media/image43.png"/><Relationship Id="rId7" Type="http://schemas.openxmlformats.org/officeDocument/2006/relationships/image" Target="../media/image41.png"/><Relationship Id="rId8" Type="http://schemas.openxmlformats.org/officeDocument/2006/relationships/image" Target="../media/image4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 name="Shape 15"/>
        <p:cNvGrpSpPr/>
        <p:nvPr/>
      </p:nvGrpSpPr>
      <p:grpSpPr>
        <a:xfrm>
          <a:off x="0" y="0"/>
          <a:ext cx="0" cy="0"/>
          <a:chOff x="0" y="0"/>
          <a:chExt cx="0" cy="0"/>
        </a:xfrm>
      </p:grpSpPr>
      <p:pic>
        <p:nvPicPr>
          <p:cNvPr descr="preencoded.png" id="16" name="Google Shape;16;p3"/>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7" name="Google Shape;17;p3"/>
          <p:cNvSpPr/>
          <p:nvPr/>
        </p:nvSpPr>
        <p:spPr>
          <a:xfrm>
            <a:off x="357188" y="214313"/>
            <a:ext cx="8429625" cy="258961"/>
          </a:xfrm>
          <a:prstGeom prst="rect">
            <a:avLst/>
          </a:prstGeom>
          <a:noFill/>
          <a:ln>
            <a:noFill/>
          </a:ln>
        </p:spPr>
        <p:txBody>
          <a:bodyPr anchorCtr="0" anchor="t" bIns="0" lIns="0" spcFirstLastPara="1" rIns="0" wrap="square" tIns="0">
            <a:noAutofit/>
          </a:bodyPr>
          <a:lstStyle/>
          <a:p>
            <a:pPr indent="0" lvl="0" marL="0" marR="0" rtl="0" algn="l">
              <a:lnSpc>
                <a:spcPct val="133422"/>
              </a:lnSpc>
              <a:spcBef>
                <a:spcPts val="0"/>
              </a:spcBef>
              <a:spcAft>
                <a:spcPts val="0"/>
              </a:spcAft>
              <a:buClr>
                <a:srgbClr val="FFFFFF"/>
              </a:buClr>
              <a:buSzPts val="1499"/>
              <a:buFont typeface="Inter"/>
              <a:buNone/>
            </a:pPr>
            <a:r>
              <a:rPr b="1" i="0" lang="en-US" sz="1499" u="none" cap="none" strike="noStrike">
                <a:solidFill>
                  <a:srgbClr val="FFFFFF"/>
                </a:solidFill>
                <a:latin typeface="Inter"/>
                <a:ea typeface="Inter"/>
                <a:cs typeface="Inter"/>
                <a:sym typeface="Inter"/>
              </a:rPr>
              <a:t>Industry Standards &amp; Compliance Posture</a:t>
            </a:r>
            <a:endParaRPr b="0" i="0" sz="1499" u="none" cap="none" strike="noStrike">
              <a:solidFill>
                <a:schemeClr val="dk1"/>
              </a:solidFill>
              <a:latin typeface="Calibri"/>
              <a:ea typeface="Calibri"/>
              <a:cs typeface="Calibri"/>
              <a:sym typeface="Calibri"/>
            </a:endParaRPr>
          </a:p>
        </p:txBody>
      </p:sp>
      <p:sp>
        <p:nvSpPr>
          <p:cNvPr id="18" name="Google Shape;18;p3"/>
          <p:cNvSpPr/>
          <p:nvPr/>
        </p:nvSpPr>
        <p:spPr>
          <a:xfrm>
            <a:off x="357188" y="501848"/>
            <a:ext cx="8429625" cy="121444"/>
          </a:xfrm>
          <a:prstGeom prst="rect">
            <a:avLst/>
          </a:prstGeom>
          <a:noFill/>
          <a:ln>
            <a:noFill/>
          </a:ln>
        </p:spPr>
        <p:txBody>
          <a:bodyPr anchorCtr="0" anchor="t" bIns="0" lIns="0" spcFirstLastPara="1" rIns="0" wrap="square" tIns="0">
            <a:noAutofit/>
          </a:bodyPr>
          <a:lstStyle/>
          <a:p>
            <a:pPr indent="0" lvl="0" marL="0" marR="0" rtl="0" algn="l">
              <a:lnSpc>
                <a:spcPct val="133531"/>
              </a:lnSpc>
              <a:spcBef>
                <a:spcPts val="0"/>
              </a:spcBef>
              <a:spcAft>
                <a:spcPts val="0"/>
              </a:spcAft>
              <a:buClr>
                <a:srgbClr val="546E7A"/>
              </a:buClr>
              <a:buSzPts val="674"/>
              <a:buFont typeface="Roboto Mono"/>
              <a:buNone/>
            </a:pPr>
            <a:r>
              <a:rPr b="0" i="0" lang="en-US" sz="674" u="none" cap="none" strike="noStrike">
                <a:solidFill>
                  <a:srgbClr val="546E7A"/>
                </a:solidFill>
                <a:latin typeface="Roboto Mono"/>
                <a:ea typeface="Roboto Mono"/>
                <a:cs typeface="Roboto Mono"/>
                <a:sym typeface="Roboto Mono"/>
              </a:rPr>
              <a:t>OpAMP Secrets Management Platform</a:t>
            </a:r>
            <a:endParaRPr b="0" i="0" sz="674" u="none" cap="none" strike="noStrike">
              <a:solidFill>
                <a:schemeClr val="dk1"/>
              </a:solidFill>
              <a:latin typeface="Calibri"/>
              <a:ea typeface="Calibri"/>
              <a:cs typeface="Calibri"/>
              <a:sym typeface="Calibri"/>
            </a:endParaRPr>
          </a:p>
        </p:txBody>
      </p:sp>
      <p:sp>
        <p:nvSpPr>
          <p:cNvPr id="19" name="Google Shape;19;p3"/>
          <p:cNvSpPr/>
          <p:nvPr/>
        </p:nvSpPr>
        <p:spPr>
          <a:xfrm>
            <a:off x="357188" y="880467"/>
            <a:ext cx="4107656" cy="3107531"/>
          </a:xfrm>
          <a:prstGeom prst="rect">
            <a:avLst/>
          </a:prstGeom>
          <a:solidFill>
            <a:srgbClr val="FFFFFF">
              <a:alpha val="3137"/>
            </a:srgbClr>
          </a:solidFill>
          <a:ln cap="flat" cmpd="sng" w="9525">
            <a:solidFill>
              <a:srgbClr val="FFFFFF">
                <a:alpha val="1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a:off x="535781" y="1059061"/>
            <a:ext cx="3750469" cy="285750"/>
          </a:xfrm>
          <a:prstGeom prst="rect">
            <a:avLst/>
          </a:prstGeom>
          <a:noFill/>
          <a:ln>
            <a:noFill/>
          </a:ln>
        </p:spPr>
        <p:txBody>
          <a:bodyPr anchorCtr="0" anchor="t" bIns="85075" lIns="0" spcFirstLastPara="1" rIns="0" wrap="square" tIns="0">
            <a:noAutofit/>
          </a:bodyPr>
          <a:lstStyle/>
          <a:p>
            <a:pPr indent="0" lvl="0" marL="0" marR="0" rtl="0" algn="l">
              <a:lnSpc>
                <a:spcPct val="134115"/>
              </a:lnSpc>
              <a:spcBef>
                <a:spcPts val="0"/>
              </a:spcBef>
              <a:spcAft>
                <a:spcPts val="0"/>
              </a:spcAft>
              <a:buClr>
                <a:srgbClr val="00E5FF"/>
              </a:buClr>
              <a:buSzPts val="1193"/>
              <a:buFont typeface="Inter"/>
              <a:buNone/>
            </a:pPr>
            <a:r>
              <a:rPr b="1" i="0" lang="en-US" sz="1193" u="none" cap="none" strike="noStrike">
                <a:solidFill>
                  <a:srgbClr val="00E5FF"/>
                </a:solidFill>
                <a:latin typeface="Inter"/>
                <a:ea typeface="Inter"/>
                <a:cs typeface="Inter"/>
                <a:sym typeface="Inter"/>
              </a:rPr>
              <a:t>Validated Regulatory Frameworks</a:t>
            </a:r>
            <a:endParaRPr b="0" i="0" sz="1193" u="none" cap="none" strike="noStrike">
              <a:solidFill>
                <a:schemeClr val="dk1"/>
              </a:solidFill>
              <a:latin typeface="Calibri"/>
              <a:ea typeface="Calibri"/>
              <a:cs typeface="Calibri"/>
              <a:sym typeface="Calibri"/>
            </a:endParaRPr>
          </a:p>
        </p:txBody>
      </p:sp>
      <p:sp>
        <p:nvSpPr>
          <p:cNvPr id="21" name="Google Shape;21;p3"/>
          <p:cNvSpPr/>
          <p:nvPr/>
        </p:nvSpPr>
        <p:spPr>
          <a:xfrm>
            <a:off x="535781" y="1487686"/>
            <a:ext cx="3750469" cy="385763"/>
          </a:xfrm>
          <a:prstGeom prst="rect">
            <a:avLst/>
          </a:prstGeom>
          <a:noFill/>
          <a:ln>
            <a:noFill/>
          </a:ln>
        </p:spPr>
        <p:txBody>
          <a:bodyPr anchorCtr="0" anchor="t" bIns="0" lIns="212575" spcFirstLastPara="1" rIns="0" wrap="square" tIns="0">
            <a:noAutofit/>
          </a:bodyPr>
          <a:lstStyle/>
          <a:p>
            <a:pPr indent="0" lvl="0" marL="0" marR="0" rtl="0" algn="l">
              <a:lnSpc>
                <a:spcPct val="159235"/>
              </a:lnSpc>
              <a:spcBef>
                <a:spcPts val="0"/>
              </a:spcBef>
              <a:spcAft>
                <a:spcPts val="0"/>
              </a:spcAft>
              <a:buClr>
                <a:srgbClr val="FFFFFF"/>
              </a:buClr>
              <a:buSzPts val="885"/>
              <a:buFont typeface="Inter"/>
              <a:buNone/>
            </a:pPr>
            <a:r>
              <a:rPr b="1" i="0" lang="en-US" sz="885" u="none" cap="none" strike="noStrike">
                <a:solidFill>
                  <a:srgbClr val="FFFFFF"/>
                </a:solidFill>
                <a:latin typeface="Inter"/>
                <a:ea typeface="Inter"/>
                <a:cs typeface="Inter"/>
                <a:sym typeface="Inter"/>
              </a:rPr>
              <a:t>NIST SP 800-57 (Key Management):</a:t>
            </a:r>
            <a:r>
              <a:rPr b="0" i="0" lang="en-US" sz="942" u="none" cap="none" strike="noStrike">
                <a:solidFill>
                  <a:srgbClr val="E0E0E0"/>
                </a:solidFill>
                <a:latin typeface="Inter"/>
                <a:ea typeface="Inter"/>
                <a:cs typeface="Inter"/>
                <a:sym typeface="Inter"/>
              </a:rPr>
              <a:t> 100% coverage for KEK lifecycle, 90-day rotation, and separation of duties.</a:t>
            </a:r>
            <a:endParaRPr b="0" i="0" sz="885" u="none" cap="none" strike="noStrike">
              <a:solidFill>
                <a:schemeClr val="dk1"/>
              </a:solidFill>
              <a:latin typeface="Calibri"/>
              <a:ea typeface="Calibri"/>
              <a:cs typeface="Calibri"/>
              <a:sym typeface="Calibri"/>
            </a:endParaRPr>
          </a:p>
        </p:txBody>
      </p:sp>
      <p:sp>
        <p:nvSpPr>
          <p:cNvPr id="22" name="Google Shape;22;p3"/>
          <p:cNvSpPr/>
          <p:nvPr/>
        </p:nvSpPr>
        <p:spPr>
          <a:xfrm>
            <a:off x="535781" y="1980605"/>
            <a:ext cx="3750469" cy="385763"/>
          </a:xfrm>
          <a:prstGeom prst="rect">
            <a:avLst/>
          </a:prstGeom>
          <a:noFill/>
          <a:ln>
            <a:noFill/>
          </a:ln>
        </p:spPr>
        <p:txBody>
          <a:bodyPr anchorCtr="0" anchor="t" bIns="0" lIns="212575" spcFirstLastPara="1" rIns="0" wrap="square" tIns="0">
            <a:noAutofit/>
          </a:bodyPr>
          <a:lstStyle/>
          <a:p>
            <a:pPr indent="0" lvl="0" marL="0" marR="0" rtl="0" algn="l">
              <a:lnSpc>
                <a:spcPct val="159235"/>
              </a:lnSpc>
              <a:spcBef>
                <a:spcPts val="0"/>
              </a:spcBef>
              <a:spcAft>
                <a:spcPts val="0"/>
              </a:spcAft>
              <a:buClr>
                <a:srgbClr val="FFFFFF"/>
              </a:buClr>
              <a:buSzPts val="885"/>
              <a:buFont typeface="Inter"/>
              <a:buNone/>
            </a:pPr>
            <a:r>
              <a:rPr b="1" i="0" lang="en-US" sz="885" u="none" cap="none" strike="noStrike">
                <a:solidFill>
                  <a:srgbClr val="FFFFFF"/>
                </a:solidFill>
                <a:latin typeface="Inter"/>
                <a:ea typeface="Inter"/>
                <a:cs typeface="Inter"/>
                <a:sym typeface="Inter"/>
              </a:rPr>
              <a:t>NIST SP 800-53 Rev. 5:</a:t>
            </a:r>
            <a:r>
              <a:rPr b="0" i="0" lang="en-US" sz="942" u="none" cap="none" strike="noStrike">
                <a:solidFill>
                  <a:srgbClr val="E0E0E0"/>
                </a:solidFill>
                <a:latin typeface="Inter"/>
                <a:ea typeface="Inter"/>
                <a:cs typeface="Inter"/>
                <a:sym typeface="Inter"/>
              </a:rPr>
              <a:t> 95% coverage across SC and AU control families.</a:t>
            </a:r>
            <a:endParaRPr b="0" i="0" sz="885" u="none" cap="none" strike="noStrike">
              <a:solidFill>
                <a:schemeClr val="dk1"/>
              </a:solidFill>
              <a:latin typeface="Calibri"/>
              <a:ea typeface="Calibri"/>
              <a:cs typeface="Calibri"/>
              <a:sym typeface="Calibri"/>
            </a:endParaRPr>
          </a:p>
        </p:txBody>
      </p:sp>
      <p:sp>
        <p:nvSpPr>
          <p:cNvPr id="23" name="Google Shape;23;p3"/>
          <p:cNvSpPr/>
          <p:nvPr/>
        </p:nvSpPr>
        <p:spPr>
          <a:xfrm>
            <a:off x="535781" y="2473523"/>
            <a:ext cx="3750469" cy="385763"/>
          </a:xfrm>
          <a:prstGeom prst="rect">
            <a:avLst/>
          </a:prstGeom>
          <a:noFill/>
          <a:ln>
            <a:noFill/>
          </a:ln>
        </p:spPr>
        <p:txBody>
          <a:bodyPr anchorCtr="0" anchor="t" bIns="0" lIns="212575" spcFirstLastPara="1" rIns="0" wrap="square" tIns="0">
            <a:noAutofit/>
          </a:bodyPr>
          <a:lstStyle/>
          <a:p>
            <a:pPr indent="0" lvl="0" marL="0" marR="0" rtl="0" algn="l">
              <a:lnSpc>
                <a:spcPct val="159235"/>
              </a:lnSpc>
              <a:spcBef>
                <a:spcPts val="0"/>
              </a:spcBef>
              <a:spcAft>
                <a:spcPts val="0"/>
              </a:spcAft>
              <a:buClr>
                <a:srgbClr val="FFFFFF"/>
              </a:buClr>
              <a:buSzPts val="885"/>
              <a:buFont typeface="Inter"/>
              <a:buNone/>
            </a:pPr>
            <a:r>
              <a:rPr b="1" i="0" lang="en-US" sz="885" u="none" cap="none" strike="noStrike">
                <a:solidFill>
                  <a:srgbClr val="FFFFFF"/>
                </a:solidFill>
                <a:latin typeface="Inter"/>
                <a:ea typeface="Inter"/>
                <a:cs typeface="Inter"/>
                <a:sym typeface="Inter"/>
              </a:rPr>
              <a:t>PCI-DSS 4.0:</a:t>
            </a:r>
            <a:r>
              <a:rPr b="0" i="0" lang="en-US" sz="942" u="none" cap="none" strike="noStrike">
                <a:solidFill>
                  <a:srgbClr val="E0E0E0"/>
                </a:solidFill>
                <a:latin typeface="Inter"/>
                <a:ea typeface="Inter"/>
                <a:cs typeface="Inter"/>
                <a:sym typeface="Inter"/>
              </a:rPr>
              <a:t> 100% coverage for Req 3 (encryption), Req 8 (mTLS auth), and Req 10 (audit logging).</a:t>
            </a:r>
            <a:endParaRPr b="0" i="0" sz="885" u="none" cap="none" strike="noStrike">
              <a:solidFill>
                <a:schemeClr val="dk1"/>
              </a:solidFill>
              <a:latin typeface="Calibri"/>
              <a:ea typeface="Calibri"/>
              <a:cs typeface="Calibri"/>
              <a:sym typeface="Calibri"/>
            </a:endParaRPr>
          </a:p>
        </p:txBody>
      </p:sp>
      <p:sp>
        <p:nvSpPr>
          <p:cNvPr id="24" name="Google Shape;24;p3"/>
          <p:cNvSpPr/>
          <p:nvPr/>
        </p:nvSpPr>
        <p:spPr>
          <a:xfrm>
            <a:off x="535781" y="2966442"/>
            <a:ext cx="3750469" cy="385763"/>
          </a:xfrm>
          <a:prstGeom prst="rect">
            <a:avLst/>
          </a:prstGeom>
          <a:noFill/>
          <a:ln>
            <a:noFill/>
          </a:ln>
        </p:spPr>
        <p:txBody>
          <a:bodyPr anchorCtr="0" anchor="t" bIns="0" lIns="212575" spcFirstLastPara="1" rIns="0" wrap="square" tIns="0">
            <a:noAutofit/>
          </a:bodyPr>
          <a:lstStyle/>
          <a:p>
            <a:pPr indent="0" lvl="0" marL="0" marR="0" rtl="0" algn="l">
              <a:lnSpc>
                <a:spcPct val="159235"/>
              </a:lnSpc>
              <a:spcBef>
                <a:spcPts val="0"/>
              </a:spcBef>
              <a:spcAft>
                <a:spcPts val="0"/>
              </a:spcAft>
              <a:buClr>
                <a:srgbClr val="FFFFFF"/>
              </a:buClr>
              <a:buSzPts val="885"/>
              <a:buFont typeface="Inter"/>
              <a:buNone/>
            </a:pPr>
            <a:r>
              <a:rPr b="1" i="0" lang="en-US" sz="885" u="none" cap="none" strike="noStrike">
                <a:solidFill>
                  <a:srgbClr val="FFFFFF"/>
                </a:solidFill>
                <a:latin typeface="Inter"/>
                <a:ea typeface="Inter"/>
                <a:cs typeface="Inter"/>
                <a:sym typeface="Inter"/>
              </a:rPr>
              <a:t>SOC 2 Type II &amp; HIPAA:</a:t>
            </a:r>
            <a:r>
              <a:rPr b="0" i="0" lang="en-US" sz="942" u="none" cap="none" strike="noStrike">
                <a:solidFill>
                  <a:srgbClr val="E0E0E0"/>
                </a:solidFill>
                <a:latin typeface="Inter"/>
                <a:ea typeface="Inter"/>
                <a:cs typeface="Inter"/>
                <a:sym typeface="Inter"/>
              </a:rPr>
              <a:t> 100% coverage for access management, encryption, and monitoring controls.</a:t>
            </a:r>
            <a:endParaRPr b="0" i="0" sz="885" u="none" cap="none" strike="noStrike">
              <a:solidFill>
                <a:schemeClr val="dk1"/>
              </a:solidFill>
              <a:latin typeface="Calibri"/>
              <a:ea typeface="Calibri"/>
              <a:cs typeface="Calibri"/>
              <a:sym typeface="Calibri"/>
            </a:endParaRPr>
          </a:p>
        </p:txBody>
      </p:sp>
      <p:sp>
        <p:nvSpPr>
          <p:cNvPr id="25" name="Google Shape;25;p3"/>
          <p:cNvSpPr/>
          <p:nvPr/>
        </p:nvSpPr>
        <p:spPr>
          <a:xfrm>
            <a:off x="4679156" y="880467"/>
            <a:ext cx="4107656" cy="3107531"/>
          </a:xfrm>
          <a:prstGeom prst="rect">
            <a:avLst/>
          </a:prstGeom>
          <a:solidFill>
            <a:srgbClr val="FFFFFF">
              <a:alpha val="3137"/>
            </a:srgbClr>
          </a:solidFill>
          <a:ln cap="flat" cmpd="sng" w="9525">
            <a:solidFill>
              <a:srgbClr val="FFFFFF">
                <a:alpha val="1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a:off x="535781" y="1487686"/>
            <a:ext cx="64294" cy="192881"/>
          </a:xfrm>
          <a:prstGeom prst="rect">
            <a:avLst/>
          </a:prstGeom>
          <a:noFill/>
          <a:ln>
            <a:noFill/>
          </a:ln>
        </p:spPr>
        <p:txBody>
          <a:bodyPr anchorCtr="0" anchor="t" bIns="0" lIns="0" spcFirstLastPara="1" rIns="0" wrap="square" tIns="0">
            <a:noAutofit/>
          </a:bodyPr>
          <a:lstStyle/>
          <a:p>
            <a:pPr indent="0" lvl="0" marL="0" marR="0" rtl="0" algn="l">
              <a:lnSpc>
                <a:spcPct val="169491"/>
              </a:lnSpc>
              <a:spcBef>
                <a:spcPts val="0"/>
              </a:spcBef>
              <a:spcAft>
                <a:spcPts val="0"/>
              </a:spcAft>
              <a:buClr>
                <a:srgbClr val="00E5FF"/>
              </a:buClr>
              <a:buSzPts val="885"/>
              <a:buFont typeface="Inter"/>
              <a:buNone/>
            </a:pPr>
            <a:r>
              <a:rPr b="1" i="0" lang="en-US" sz="885" u="none" cap="none" strike="noStrike">
                <a:solidFill>
                  <a:srgbClr val="00E5FF"/>
                </a:solidFill>
                <a:latin typeface="Inter"/>
                <a:ea typeface="Inter"/>
                <a:cs typeface="Inter"/>
                <a:sym typeface="Inter"/>
              </a:rPr>
              <a:t>▹</a:t>
            </a:r>
            <a:endParaRPr b="0" i="0" sz="885" u="none" cap="none" strike="noStrike">
              <a:solidFill>
                <a:schemeClr val="dk1"/>
              </a:solidFill>
              <a:latin typeface="Calibri"/>
              <a:ea typeface="Calibri"/>
              <a:cs typeface="Calibri"/>
              <a:sym typeface="Calibri"/>
            </a:endParaRPr>
          </a:p>
        </p:txBody>
      </p:sp>
      <p:sp>
        <p:nvSpPr>
          <p:cNvPr id="27" name="Google Shape;27;p3"/>
          <p:cNvSpPr/>
          <p:nvPr/>
        </p:nvSpPr>
        <p:spPr>
          <a:xfrm>
            <a:off x="535781" y="1980605"/>
            <a:ext cx="64294" cy="192881"/>
          </a:xfrm>
          <a:prstGeom prst="rect">
            <a:avLst/>
          </a:prstGeom>
          <a:noFill/>
          <a:ln>
            <a:noFill/>
          </a:ln>
        </p:spPr>
        <p:txBody>
          <a:bodyPr anchorCtr="0" anchor="t" bIns="0" lIns="0" spcFirstLastPara="1" rIns="0" wrap="square" tIns="0">
            <a:noAutofit/>
          </a:bodyPr>
          <a:lstStyle/>
          <a:p>
            <a:pPr indent="0" lvl="0" marL="0" marR="0" rtl="0" algn="l">
              <a:lnSpc>
                <a:spcPct val="169491"/>
              </a:lnSpc>
              <a:spcBef>
                <a:spcPts val="0"/>
              </a:spcBef>
              <a:spcAft>
                <a:spcPts val="0"/>
              </a:spcAft>
              <a:buClr>
                <a:srgbClr val="00E5FF"/>
              </a:buClr>
              <a:buSzPts val="885"/>
              <a:buFont typeface="Inter"/>
              <a:buNone/>
            </a:pPr>
            <a:r>
              <a:rPr b="1" i="0" lang="en-US" sz="885" u="none" cap="none" strike="noStrike">
                <a:solidFill>
                  <a:srgbClr val="00E5FF"/>
                </a:solidFill>
                <a:latin typeface="Inter"/>
                <a:ea typeface="Inter"/>
                <a:cs typeface="Inter"/>
                <a:sym typeface="Inter"/>
              </a:rPr>
              <a:t>▹</a:t>
            </a:r>
            <a:endParaRPr b="0" i="0" sz="885" u="none" cap="none" strike="noStrike">
              <a:solidFill>
                <a:schemeClr val="dk1"/>
              </a:solidFill>
              <a:latin typeface="Calibri"/>
              <a:ea typeface="Calibri"/>
              <a:cs typeface="Calibri"/>
              <a:sym typeface="Calibri"/>
            </a:endParaRPr>
          </a:p>
        </p:txBody>
      </p:sp>
      <p:sp>
        <p:nvSpPr>
          <p:cNvPr id="28" name="Google Shape;28;p3"/>
          <p:cNvSpPr/>
          <p:nvPr/>
        </p:nvSpPr>
        <p:spPr>
          <a:xfrm>
            <a:off x="535781" y="2473523"/>
            <a:ext cx="64294" cy="192881"/>
          </a:xfrm>
          <a:prstGeom prst="rect">
            <a:avLst/>
          </a:prstGeom>
          <a:noFill/>
          <a:ln>
            <a:noFill/>
          </a:ln>
        </p:spPr>
        <p:txBody>
          <a:bodyPr anchorCtr="0" anchor="t" bIns="0" lIns="0" spcFirstLastPara="1" rIns="0" wrap="square" tIns="0">
            <a:noAutofit/>
          </a:bodyPr>
          <a:lstStyle/>
          <a:p>
            <a:pPr indent="0" lvl="0" marL="0" marR="0" rtl="0" algn="l">
              <a:lnSpc>
                <a:spcPct val="169491"/>
              </a:lnSpc>
              <a:spcBef>
                <a:spcPts val="0"/>
              </a:spcBef>
              <a:spcAft>
                <a:spcPts val="0"/>
              </a:spcAft>
              <a:buClr>
                <a:srgbClr val="00E5FF"/>
              </a:buClr>
              <a:buSzPts val="885"/>
              <a:buFont typeface="Inter"/>
              <a:buNone/>
            </a:pPr>
            <a:r>
              <a:rPr b="1" i="0" lang="en-US" sz="885" u="none" cap="none" strike="noStrike">
                <a:solidFill>
                  <a:srgbClr val="00E5FF"/>
                </a:solidFill>
                <a:latin typeface="Inter"/>
                <a:ea typeface="Inter"/>
                <a:cs typeface="Inter"/>
                <a:sym typeface="Inter"/>
              </a:rPr>
              <a:t>▹</a:t>
            </a:r>
            <a:endParaRPr b="0" i="0" sz="885" u="none" cap="none" strike="noStrike">
              <a:solidFill>
                <a:schemeClr val="dk1"/>
              </a:solidFill>
              <a:latin typeface="Calibri"/>
              <a:ea typeface="Calibri"/>
              <a:cs typeface="Calibri"/>
              <a:sym typeface="Calibri"/>
            </a:endParaRPr>
          </a:p>
        </p:txBody>
      </p:sp>
      <p:sp>
        <p:nvSpPr>
          <p:cNvPr id="29" name="Google Shape;29;p3"/>
          <p:cNvSpPr/>
          <p:nvPr/>
        </p:nvSpPr>
        <p:spPr>
          <a:xfrm>
            <a:off x="535781" y="2966442"/>
            <a:ext cx="64294" cy="192881"/>
          </a:xfrm>
          <a:prstGeom prst="rect">
            <a:avLst/>
          </a:prstGeom>
          <a:noFill/>
          <a:ln>
            <a:noFill/>
          </a:ln>
        </p:spPr>
        <p:txBody>
          <a:bodyPr anchorCtr="0" anchor="t" bIns="0" lIns="0" spcFirstLastPara="1" rIns="0" wrap="square" tIns="0">
            <a:noAutofit/>
          </a:bodyPr>
          <a:lstStyle/>
          <a:p>
            <a:pPr indent="0" lvl="0" marL="0" marR="0" rtl="0" algn="l">
              <a:lnSpc>
                <a:spcPct val="169491"/>
              </a:lnSpc>
              <a:spcBef>
                <a:spcPts val="0"/>
              </a:spcBef>
              <a:spcAft>
                <a:spcPts val="0"/>
              </a:spcAft>
              <a:buClr>
                <a:srgbClr val="00E5FF"/>
              </a:buClr>
              <a:buSzPts val="885"/>
              <a:buFont typeface="Inter"/>
              <a:buNone/>
            </a:pPr>
            <a:r>
              <a:rPr b="1" i="0" lang="en-US" sz="885" u="none" cap="none" strike="noStrike">
                <a:solidFill>
                  <a:srgbClr val="00E5FF"/>
                </a:solidFill>
                <a:latin typeface="Inter"/>
                <a:ea typeface="Inter"/>
                <a:cs typeface="Inter"/>
                <a:sym typeface="Inter"/>
              </a:rPr>
              <a:t>▹</a:t>
            </a:r>
            <a:endParaRPr b="0" i="0" sz="885" u="none" cap="none" strike="noStrike">
              <a:solidFill>
                <a:schemeClr val="dk1"/>
              </a:solidFill>
              <a:latin typeface="Calibri"/>
              <a:ea typeface="Calibri"/>
              <a:cs typeface="Calibri"/>
              <a:sym typeface="Calibri"/>
            </a:endParaRPr>
          </a:p>
        </p:txBody>
      </p:sp>
      <p:sp>
        <p:nvSpPr>
          <p:cNvPr id="30" name="Google Shape;30;p3"/>
          <p:cNvSpPr/>
          <p:nvPr/>
        </p:nvSpPr>
        <p:spPr>
          <a:xfrm>
            <a:off x="4857750" y="1059061"/>
            <a:ext cx="3750469" cy="285750"/>
          </a:xfrm>
          <a:prstGeom prst="rect">
            <a:avLst/>
          </a:prstGeom>
          <a:noFill/>
          <a:ln>
            <a:noFill/>
          </a:ln>
        </p:spPr>
        <p:txBody>
          <a:bodyPr anchorCtr="0" anchor="t" bIns="85075" lIns="0" spcFirstLastPara="1" rIns="0" wrap="square" tIns="0">
            <a:noAutofit/>
          </a:bodyPr>
          <a:lstStyle/>
          <a:p>
            <a:pPr indent="0" lvl="0" marL="0" marR="0" rtl="0" algn="l">
              <a:lnSpc>
                <a:spcPct val="134115"/>
              </a:lnSpc>
              <a:spcBef>
                <a:spcPts val="0"/>
              </a:spcBef>
              <a:spcAft>
                <a:spcPts val="0"/>
              </a:spcAft>
              <a:buClr>
                <a:srgbClr val="00E5FF"/>
              </a:buClr>
              <a:buSzPts val="1193"/>
              <a:buFont typeface="Inter"/>
              <a:buNone/>
            </a:pPr>
            <a:r>
              <a:rPr b="1" i="0" lang="en-US" sz="1193" u="none" cap="none" strike="noStrike">
                <a:solidFill>
                  <a:srgbClr val="00E5FF"/>
                </a:solidFill>
                <a:latin typeface="Inter"/>
                <a:ea typeface="Inter"/>
                <a:cs typeface="Inter"/>
                <a:sym typeface="Inter"/>
              </a:rPr>
              <a:t>Automated Compliance Engine</a:t>
            </a:r>
            <a:endParaRPr b="0" i="0" sz="1193" u="none" cap="none" strike="noStrike">
              <a:solidFill>
                <a:schemeClr val="dk1"/>
              </a:solidFill>
              <a:latin typeface="Calibri"/>
              <a:ea typeface="Calibri"/>
              <a:cs typeface="Calibri"/>
              <a:sym typeface="Calibri"/>
            </a:endParaRPr>
          </a:p>
        </p:txBody>
      </p:sp>
      <p:sp>
        <p:nvSpPr>
          <p:cNvPr id="31" name="Google Shape;31;p3"/>
          <p:cNvSpPr/>
          <p:nvPr/>
        </p:nvSpPr>
        <p:spPr>
          <a:xfrm>
            <a:off x="4857750" y="1487686"/>
            <a:ext cx="3750469" cy="385763"/>
          </a:xfrm>
          <a:prstGeom prst="rect">
            <a:avLst/>
          </a:prstGeom>
          <a:noFill/>
          <a:ln>
            <a:noFill/>
          </a:ln>
        </p:spPr>
        <p:txBody>
          <a:bodyPr anchorCtr="0" anchor="t" bIns="0" lIns="0" spcFirstLastPara="1" rIns="0" wrap="square" tIns="0">
            <a:noAutofit/>
          </a:bodyPr>
          <a:lstStyle/>
          <a:p>
            <a:pPr indent="0" lvl="0" marL="0" marR="0" rtl="0" algn="l">
              <a:lnSpc>
                <a:spcPct val="159235"/>
              </a:lnSpc>
              <a:spcBef>
                <a:spcPts val="0"/>
              </a:spcBef>
              <a:spcAft>
                <a:spcPts val="0"/>
              </a:spcAft>
              <a:buClr>
                <a:srgbClr val="B0BEC5"/>
              </a:buClr>
              <a:buSzPts val="942"/>
              <a:buFont typeface="Inter"/>
              <a:buNone/>
            </a:pPr>
            <a:r>
              <a:rPr b="0" i="0" lang="en-US" sz="942" u="none" cap="none" strike="noStrike">
                <a:solidFill>
                  <a:srgbClr val="B0BEC5"/>
                </a:solidFill>
                <a:latin typeface="Inter"/>
                <a:ea typeface="Inter"/>
                <a:cs typeface="Inter"/>
                <a:sym typeface="Inter"/>
              </a:rPr>
              <a:t>The platform runs continuous background scans to enforce policy without manual audits:</a:t>
            </a:r>
            <a:endParaRPr b="0" i="0" sz="942" u="none" cap="none" strike="noStrike">
              <a:solidFill>
                <a:schemeClr val="dk1"/>
              </a:solidFill>
              <a:latin typeface="Calibri"/>
              <a:ea typeface="Calibri"/>
              <a:cs typeface="Calibri"/>
              <a:sym typeface="Calibri"/>
            </a:endParaRPr>
          </a:p>
        </p:txBody>
      </p:sp>
      <p:sp>
        <p:nvSpPr>
          <p:cNvPr id="32" name="Google Shape;32;p3"/>
          <p:cNvSpPr/>
          <p:nvPr/>
        </p:nvSpPr>
        <p:spPr>
          <a:xfrm>
            <a:off x="4857750" y="2016323"/>
            <a:ext cx="3750469" cy="385763"/>
          </a:xfrm>
          <a:prstGeom prst="rect">
            <a:avLst/>
          </a:prstGeom>
          <a:noFill/>
          <a:ln>
            <a:noFill/>
          </a:ln>
        </p:spPr>
        <p:txBody>
          <a:bodyPr anchorCtr="0" anchor="t" bIns="0" lIns="212575" spcFirstLastPara="1" rIns="0" wrap="square" tIns="0">
            <a:noAutofit/>
          </a:bodyPr>
          <a:lstStyle/>
          <a:p>
            <a:pPr indent="0" lvl="0" marL="0" marR="0" rtl="0" algn="l">
              <a:lnSpc>
                <a:spcPct val="159235"/>
              </a:lnSpc>
              <a:spcBef>
                <a:spcPts val="0"/>
              </a:spcBef>
              <a:spcAft>
                <a:spcPts val="0"/>
              </a:spcAft>
              <a:buClr>
                <a:srgbClr val="FFFFFF"/>
              </a:buClr>
              <a:buSzPts val="885"/>
              <a:buFont typeface="Inter"/>
              <a:buNone/>
            </a:pPr>
            <a:r>
              <a:rPr b="1" i="0" lang="en-US" sz="885" u="none" cap="none" strike="noStrike">
                <a:solidFill>
                  <a:srgbClr val="FFFFFF"/>
                </a:solidFill>
                <a:latin typeface="Inter"/>
                <a:ea typeface="Inter"/>
                <a:cs typeface="Inter"/>
                <a:sym typeface="Inter"/>
              </a:rPr>
              <a:t>Continuous Scanning:</a:t>
            </a:r>
            <a:r>
              <a:rPr b="0" i="0" lang="en-US" sz="942" u="none" cap="none" strike="noStrike">
                <a:solidFill>
                  <a:srgbClr val="E0E0E0"/>
                </a:solidFill>
                <a:latin typeface="Inter"/>
                <a:ea typeface="Inter"/>
                <a:cs typeface="Inter"/>
                <a:sym typeface="Inter"/>
              </a:rPr>
              <a:t> 4 automated checks run every 24 hours.</a:t>
            </a:r>
            <a:endParaRPr b="0" i="0" sz="885" u="none" cap="none" strike="noStrike">
              <a:solidFill>
                <a:schemeClr val="dk1"/>
              </a:solidFill>
              <a:latin typeface="Calibri"/>
              <a:ea typeface="Calibri"/>
              <a:cs typeface="Calibri"/>
              <a:sym typeface="Calibri"/>
            </a:endParaRPr>
          </a:p>
        </p:txBody>
      </p:sp>
      <p:sp>
        <p:nvSpPr>
          <p:cNvPr id="33" name="Google Shape;33;p3"/>
          <p:cNvSpPr/>
          <p:nvPr/>
        </p:nvSpPr>
        <p:spPr>
          <a:xfrm>
            <a:off x="4857750" y="2509242"/>
            <a:ext cx="3750469" cy="385763"/>
          </a:xfrm>
          <a:prstGeom prst="rect">
            <a:avLst/>
          </a:prstGeom>
          <a:noFill/>
          <a:ln>
            <a:noFill/>
          </a:ln>
        </p:spPr>
        <p:txBody>
          <a:bodyPr anchorCtr="0" anchor="t" bIns="0" lIns="212575" spcFirstLastPara="1" rIns="0" wrap="square" tIns="0">
            <a:noAutofit/>
          </a:bodyPr>
          <a:lstStyle/>
          <a:p>
            <a:pPr indent="0" lvl="0" marL="0" marR="0" rtl="0" algn="l">
              <a:lnSpc>
                <a:spcPct val="159235"/>
              </a:lnSpc>
              <a:spcBef>
                <a:spcPts val="0"/>
              </a:spcBef>
              <a:spcAft>
                <a:spcPts val="0"/>
              </a:spcAft>
              <a:buClr>
                <a:srgbClr val="FFFFFF"/>
              </a:buClr>
              <a:buSzPts val="885"/>
              <a:buFont typeface="Inter"/>
              <a:buNone/>
            </a:pPr>
            <a:r>
              <a:rPr b="1" i="0" lang="en-US" sz="885" u="none" cap="none" strike="noStrike">
                <a:solidFill>
                  <a:srgbClr val="FFFFFF"/>
                </a:solidFill>
                <a:latin typeface="Inter"/>
                <a:ea typeface="Inter"/>
                <a:cs typeface="Inter"/>
                <a:sym typeface="Inter"/>
              </a:rPr>
              <a:t>Violation Detection:</a:t>
            </a:r>
            <a:r>
              <a:rPr b="0" i="0" lang="en-US" sz="942" u="none" cap="none" strike="noStrike">
                <a:solidFill>
                  <a:srgbClr val="E0E0E0"/>
                </a:solidFill>
                <a:latin typeface="Inter"/>
                <a:ea typeface="Inter"/>
                <a:cs typeface="Inter"/>
                <a:sym typeface="Inter"/>
              </a:rPr>
              <a:t> Flags weak rotation policies, unused secrets, and missing encryption.</a:t>
            </a:r>
            <a:endParaRPr b="0" i="0" sz="885" u="none" cap="none" strike="noStrike">
              <a:solidFill>
                <a:schemeClr val="dk1"/>
              </a:solidFill>
              <a:latin typeface="Calibri"/>
              <a:ea typeface="Calibri"/>
              <a:cs typeface="Calibri"/>
              <a:sym typeface="Calibri"/>
            </a:endParaRPr>
          </a:p>
        </p:txBody>
      </p:sp>
      <p:sp>
        <p:nvSpPr>
          <p:cNvPr id="34" name="Google Shape;34;p3"/>
          <p:cNvSpPr/>
          <p:nvPr/>
        </p:nvSpPr>
        <p:spPr>
          <a:xfrm>
            <a:off x="4857750" y="3002161"/>
            <a:ext cx="3750469" cy="385763"/>
          </a:xfrm>
          <a:prstGeom prst="rect">
            <a:avLst/>
          </a:prstGeom>
          <a:noFill/>
          <a:ln>
            <a:noFill/>
          </a:ln>
        </p:spPr>
        <p:txBody>
          <a:bodyPr anchorCtr="0" anchor="t" bIns="0" lIns="212575" spcFirstLastPara="1" rIns="0" wrap="square" tIns="0">
            <a:noAutofit/>
          </a:bodyPr>
          <a:lstStyle/>
          <a:p>
            <a:pPr indent="0" lvl="0" marL="0" marR="0" rtl="0" algn="l">
              <a:lnSpc>
                <a:spcPct val="159235"/>
              </a:lnSpc>
              <a:spcBef>
                <a:spcPts val="0"/>
              </a:spcBef>
              <a:spcAft>
                <a:spcPts val="0"/>
              </a:spcAft>
              <a:buClr>
                <a:srgbClr val="FFFFFF"/>
              </a:buClr>
              <a:buSzPts val="885"/>
              <a:buFont typeface="Inter"/>
              <a:buNone/>
            </a:pPr>
            <a:r>
              <a:rPr b="1" i="0" lang="en-US" sz="885" u="none" cap="none" strike="noStrike">
                <a:solidFill>
                  <a:srgbClr val="FFFFFF"/>
                </a:solidFill>
                <a:latin typeface="Inter"/>
                <a:ea typeface="Inter"/>
                <a:cs typeface="Inter"/>
                <a:sym typeface="Inter"/>
              </a:rPr>
              <a:t>Alerting:</a:t>
            </a:r>
            <a:r>
              <a:rPr b="0" i="0" lang="en-US" sz="942" u="none" cap="none" strike="noStrike">
                <a:solidFill>
                  <a:srgbClr val="E0E0E0"/>
                </a:solidFill>
                <a:latin typeface="Inter"/>
                <a:ea typeface="Inter"/>
                <a:cs typeface="Inter"/>
                <a:sym typeface="Inter"/>
              </a:rPr>
              <a:t> Native AlertManager integration for immediate remediation.</a:t>
            </a:r>
            <a:endParaRPr b="0" i="0" sz="885" u="none" cap="none" strike="noStrike">
              <a:solidFill>
                <a:schemeClr val="dk1"/>
              </a:solidFill>
              <a:latin typeface="Calibri"/>
              <a:ea typeface="Calibri"/>
              <a:cs typeface="Calibri"/>
              <a:sym typeface="Calibri"/>
            </a:endParaRPr>
          </a:p>
        </p:txBody>
      </p:sp>
      <p:sp>
        <p:nvSpPr>
          <p:cNvPr id="35" name="Google Shape;35;p3"/>
          <p:cNvSpPr/>
          <p:nvPr/>
        </p:nvSpPr>
        <p:spPr>
          <a:xfrm>
            <a:off x="4857750" y="3495080"/>
            <a:ext cx="3750469" cy="192881"/>
          </a:xfrm>
          <a:prstGeom prst="rect">
            <a:avLst/>
          </a:prstGeom>
          <a:noFill/>
          <a:ln>
            <a:noFill/>
          </a:ln>
        </p:spPr>
        <p:txBody>
          <a:bodyPr anchorCtr="0" anchor="t" bIns="0" lIns="212575" spcFirstLastPara="1" rIns="0" wrap="square" tIns="0">
            <a:noAutofit/>
          </a:bodyPr>
          <a:lstStyle/>
          <a:p>
            <a:pPr indent="0" lvl="0" marL="0" marR="0" rtl="0" algn="l">
              <a:lnSpc>
                <a:spcPct val="159235"/>
              </a:lnSpc>
              <a:spcBef>
                <a:spcPts val="0"/>
              </a:spcBef>
              <a:spcAft>
                <a:spcPts val="0"/>
              </a:spcAft>
              <a:buClr>
                <a:srgbClr val="FFFFFF"/>
              </a:buClr>
              <a:buSzPts val="885"/>
              <a:buFont typeface="Inter"/>
              <a:buNone/>
            </a:pPr>
            <a:r>
              <a:rPr b="1" i="0" lang="en-US" sz="885" u="none" cap="none" strike="noStrike">
                <a:solidFill>
                  <a:srgbClr val="FFFFFF"/>
                </a:solidFill>
                <a:latin typeface="Inter"/>
                <a:ea typeface="Inter"/>
                <a:cs typeface="Inter"/>
                <a:sym typeface="Inter"/>
              </a:rPr>
              <a:t>Current Score:</a:t>
            </a:r>
            <a:r>
              <a:rPr b="0" i="0" lang="en-US" sz="942" u="none" cap="none" strike="noStrike">
                <a:solidFill>
                  <a:srgbClr val="E0E0E0"/>
                </a:solidFill>
                <a:latin typeface="Inter"/>
                <a:ea typeface="Inter"/>
                <a:cs typeface="Inter"/>
                <a:sym typeface="Inter"/>
              </a:rPr>
              <a:t> 99.68% compliance score in PoC.</a:t>
            </a:r>
            <a:endParaRPr b="0" i="0" sz="885" u="none" cap="none" strike="noStrike">
              <a:solidFill>
                <a:schemeClr val="dk1"/>
              </a:solidFill>
              <a:latin typeface="Calibri"/>
              <a:ea typeface="Calibri"/>
              <a:cs typeface="Calibri"/>
              <a:sym typeface="Calibri"/>
            </a:endParaRPr>
          </a:p>
        </p:txBody>
      </p:sp>
      <p:sp>
        <p:nvSpPr>
          <p:cNvPr id="36" name="Google Shape;36;p3"/>
          <p:cNvSpPr/>
          <p:nvPr/>
        </p:nvSpPr>
        <p:spPr>
          <a:xfrm>
            <a:off x="4857750" y="2016323"/>
            <a:ext cx="64294" cy="192881"/>
          </a:xfrm>
          <a:prstGeom prst="rect">
            <a:avLst/>
          </a:prstGeom>
          <a:noFill/>
          <a:ln>
            <a:noFill/>
          </a:ln>
        </p:spPr>
        <p:txBody>
          <a:bodyPr anchorCtr="0" anchor="t" bIns="0" lIns="0" spcFirstLastPara="1" rIns="0" wrap="square" tIns="0">
            <a:noAutofit/>
          </a:bodyPr>
          <a:lstStyle/>
          <a:p>
            <a:pPr indent="0" lvl="0" marL="0" marR="0" rtl="0" algn="l">
              <a:lnSpc>
                <a:spcPct val="169491"/>
              </a:lnSpc>
              <a:spcBef>
                <a:spcPts val="0"/>
              </a:spcBef>
              <a:spcAft>
                <a:spcPts val="0"/>
              </a:spcAft>
              <a:buClr>
                <a:srgbClr val="00E5FF"/>
              </a:buClr>
              <a:buSzPts val="885"/>
              <a:buFont typeface="Inter"/>
              <a:buNone/>
            </a:pPr>
            <a:r>
              <a:rPr b="1" i="0" lang="en-US" sz="885" u="none" cap="none" strike="noStrike">
                <a:solidFill>
                  <a:srgbClr val="00E5FF"/>
                </a:solidFill>
                <a:latin typeface="Inter"/>
                <a:ea typeface="Inter"/>
                <a:cs typeface="Inter"/>
                <a:sym typeface="Inter"/>
              </a:rPr>
              <a:t>▹</a:t>
            </a:r>
            <a:endParaRPr b="0" i="0" sz="885" u="none" cap="none" strike="noStrike">
              <a:solidFill>
                <a:schemeClr val="dk1"/>
              </a:solidFill>
              <a:latin typeface="Calibri"/>
              <a:ea typeface="Calibri"/>
              <a:cs typeface="Calibri"/>
              <a:sym typeface="Calibri"/>
            </a:endParaRPr>
          </a:p>
        </p:txBody>
      </p:sp>
      <p:sp>
        <p:nvSpPr>
          <p:cNvPr id="37" name="Google Shape;37;p3"/>
          <p:cNvSpPr/>
          <p:nvPr/>
        </p:nvSpPr>
        <p:spPr>
          <a:xfrm>
            <a:off x="4857750" y="2509242"/>
            <a:ext cx="64294" cy="192881"/>
          </a:xfrm>
          <a:prstGeom prst="rect">
            <a:avLst/>
          </a:prstGeom>
          <a:noFill/>
          <a:ln>
            <a:noFill/>
          </a:ln>
        </p:spPr>
        <p:txBody>
          <a:bodyPr anchorCtr="0" anchor="t" bIns="0" lIns="0" spcFirstLastPara="1" rIns="0" wrap="square" tIns="0">
            <a:noAutofit/>
          </a:bodyPr>
          <a:lstStyle/>
          <a:p>
            <a:pPr indent="0" lvl="0" marL="0" marR="0" rtl="0" algn="l">
              <a:lnSpc>
                <a:spcPct val="169491"/>
              </a:lnSpc>
              <a:spcBef>
                <a:spcPts val="0"/>
              </a:spcBef>
              <a:spcAft>
                <a:spcPts val="0"/>
              </a:spcAft>
              <a:buClr>
                <a:srgbClr val="00E5FF"/>
              </a:buClr>
              <a:buSzPts val="885"/>
              <a:buFont typeface="Inter"/>
              <a:buNone/>
            </a:pPr>
            <a:r>
              <a:rPr b="1" i="0" lang="en-US" sz="885" u="none" cap="none" strike="noStrike">
                <a:solidFill>
                  <a:srgbClr val="00E5FF"/>
                </a:solidFill>
                <a:latin typeface="Inter"/>
                <a:ea typeface="Inter"/>
                <a:cs typeface="Inter"/>
                <a:sym typeface="Inter"/>
              </a:rPr>
              <a:t>▹</a:t>
            </a:r>
            <a:endParaRPr b="0" i="0" sz="885" u="none" cap="none" strike="noStrike">
              <a:solidFill>
                <a:schemeClr val="dk1"/>
              </a:solidFill>
              <a:latin typeface="Calibri"/>
              <a:ea typeface="Calibri"/>
              <a:cs typeface="Calibri"/>
              <a:sym typeface="Calibri"/>
            </a:endParaRPr>
          </a:p>
        </p:txBody>
      </p:sp>
      <p:sp>
        <p:nvSpPr>
          <p:cNvPr id="38" name="Google Shape;38;p3"/>
          <p:cNvSpPr/>
          <p:nvPr/>
        </p:nvSpPr>
        <p:spPr>
          <a:xfrm>
            <a:off x="4857750" y="3002161"/>
            <a:ext cx="64294" cy="192881"/>
          </a:xfrm>
          <a:prstGeom prst="rect">
            <a:avLst/>
          </a:prstGeom>
          <a:noFill/>
          <a:ln>
            <a:noFill/>
          </a:ln>
        </p:spPr>
        <p:txBody>
          <a:bodyPr anchorCtr="0" anchor="t" bIns="0" lIns="0" spcFirstLastPara="1" rIns="0" wrap="square" tIns="0">
            <a:noAutofit/>
          </a:bodyPr>
          <a:lstStyle/>
          <a:p>
            <a:pPr indent="0" lvl="0" marL="0" marR="0" rtl="0" algn="l">
              <a:lnSpc>
                <a:spcPct val="169491"/>
              </a:lnSpc>
              <a:spcBef>
                <a:spcPts val="0"/>
              </a:spcBef>
              <a:spcAft>
                <a:spcPts val="0"/>
              </a:spcAft>
              <a:buClr>
                <a:srgbClr val="00E5FF"/>
              </a:buClr>
              <a:buSzPts val="885"/>
              <a:buFont typeface="Inter"/>
              <a:buNone/>
            </a:pPr>
            <a:r>
              <a:rPr b="1" i="0" lang="en-US" sz="885" u="none" cap="none" strike="noStrike">
                <a:solidFill>
                  <a:srgbClr val="00E5FF"/>
                </a:solidFill>
                <a:latin typeface="Inter"/>
                <a:ea typeface="Inter"/>
                <a:cs typeface="Inter"/>
                <a:sym typeface="Inter"/>
              </a:rPr>
              <a:t>▹</a:t>
            </a:r>
            <a:endParaRPr b="0" i="0" sz="885" u="none" cap="none" strike="noStrike">
              <a:solidFill>
                <a:schemeClr val="dk1"/>
              </a:solidFill>
              <a:latin typeface="Calibri"/>
              <a:ea typeface="Calibri"/>
              <a:cs typeface="Calibri"/>
              <a:sym typeface="Calibri"/>
            </a:endParaRPr>
          </a:p>
        </p:txBody>
      </p:sp>
      <p:sp>
        <p:nvSpPr>
          <p:cNvPr id="39" name="Google Shape;39;p3"/>
          <p:cNvSpPr/>
          <p:nvPr/>
        </p:nvSpPr>
        <p:spPr>
          <a:xfrm>
            <a:off x="4857750" y="3495080"/>
            <a:ext cx="64294" cy="192881"/>
          </a:xfrm>
          <a:prstGeom prst="rect">
            <a:avLst/>
          </a:prstGeom>
          <a:noFill/>
          <a:ln>
            <a:noFill/>
          </a:ln>
        </p:spPr>
        <p:txBody>
          <a:bodyPr anchorCtr="0" anchor="t" bIns="0" lIns="0" spcFirstLastPara="1" rIns="0" wrap="square" tIns="0">
            <a:noAutofit/>
          </a:bodyPr>
          <a:lstStyle/>
          <a:p>
            <a:pPr indent="0" lvl="0" marL="0" marR="0" rtl="0" algn="l">
              <a:lnSpc>
                <a:spcPct val="169491"/>
              </a:lnSpc>
              <a:spcBef>
                <a:spcPts val="0"/>
              </a:spcBef>
              <a:spcAft>
                <a:spcPts val="0"/>
              </a:spcAft>
              <a:buClr>
                <a:srgbClr val="00E5FF"/>
              </a:buClr>
              <a:buSzPts val="885"/>
              <a:buFont typeface="Inter"/>
              <a:buNone/>
            </a:pPr>
            <a:r>
              <a:rPr b="1" i="0" lang="en-US" sz="885" u="none" cap="none" strike="noStrike">
                <a:solidFill>
                  <a:srgbClr val="00E5FF"/>
                </a:solidFill>
                <a:latin typeface="Inter"/>
                <a:ea typeface="Inter"/>
                <a:cs typeface="Inter"/>
                <a:sym typeface="Inter"/>
              </a:rPr>
              <a:t>▹</a:t>
            </a:r>
            <a:endParaRPr b="0" i="0" sz="885" u="none" cap="none" strike="noStrike">
              <a:solidFill>
                <a:schemeClr val="dk1"/>
              </a:solidFill>
              <a:latin typeface="Calibri"/>
              <a:ea typeface="Calibri"/>
              <a:cs typeface="Calibri"/>
              <a:sym typeface="Calibri"/>
            </a:endParaRPr>
          </a:p>
        </p:txBody>
      </p:sp>
      <p:sp>
        <p:nvSpPr>
          <p:cNvPr id="40" name="Google Shape;40;p3"/>
          <p:cNvSpPr/>
          <p:nvPr/>
        </p:nvSpPr>
        <p:spPr>
          <a:xfrm>
            <a:off x="357188" y="4888111"/>
            <a:ext cx="1346597" cy="112514"/>
          </a:xfrm>
          <a:prstGeom prst="rect">
            <a:avLst/>
          </a:prstGeom>
          <a:noFill/>
          <a:ln>
            <a:noFill/>
          </a:ln>
        </p:spPr>
        <p:txBody>
          <a:bodyPr anchorCtr="0" anchor="t" bIns="0" lIns="0" spcFirstLastPara="1" rIns="0" wrap="square" tIns="0">
            <a:noAutofit/>
          </a:bodyPr>
          <a:lstStyle/>
          <a:p>
            <a:pPr indent="0" lvl="0" marL="0" marR="0" rtl="0" algn="l">
              <a:lnSpc>
                <a:spcPct val="128824"/>
              </a:lnSpc>
              <a:spcBef>
                <a:spcPts val="0"/>
              </a:spcBef>
              <a:spcAft>
                <a:spcPts val="0"/>
              </a:spcAft>
              <a:buClr>
                <a:srgbClr val="546E7A"/>
              </a:buClr>
              <a:buSzPts val="621"/>
              <a:buFont typeface="Roboto Mono"/>
              <a:buNone/>
            </a:pPr>
            <a:r>
              <a:rPr b="0" i="0" lang="en-US" sz="621" u="none" cap="none" strike="noStrike">
                <a:solidFill>
                  <a:srgbClr val="546E7A"/>
                </a:solidFill>
                <a:latin typeface="Roboto Mono"/>
                <a:ea typeface="Roboto Mono"/>
                <a:cs typeface="Roboto Mono"/>
                <a:sym typeface="Roboto Mono"/>
              </a:rPr>
              <a:t>CONFIDENTIAL &amp; PROPRIETARY</a:t>
            </a:r>
            <a:endParaRPr b="0" i="0" sz="621" u="none" cap="none" strike="noStrike">
              <a:solidFill>
                <a:schemeClr val="dk1"/>
              </a:solidFill>
              <a:latin typeface="Calibri"/>
              <a:ea typeface="Calibri"/>
              <a:cs typeface="Calibri"/>
              <a:sym typeface="Calibri"/>
            </a:endParaRPr>
          </a:p>
        </p:txBody>
      </p:sp>
      <p:sp>
        <p:nvSpPr>
          <p:cNvPr id="41" name="Google Shape;41;p3"/>
          <p:cNvSpPr/>
          <p:nvPr/>
        </p:nvSpPr>
        <p:spPr>
          <a:xfrm>
            <a:off x="7699177" y="4888111"/>
            <a:ext cx="1087636" cy="112514"/>
          </a:xfrm>
          <a:prstGeom prst="rect">
            <a:avLst/>
          </a:prstGeom>
          <a:noFill/>
          <a:ln>
            <a:noFill/>
          </a:ln>
        </p:spPr>
        <p:txBody>
          <a:bodyPr anchorCtr="0" anchor="t" bIns="0" lIns="0" spcFirstLastPara="1" rIns="0" wrap="square" tIns="0">
            <a:noAutofit/>
          </a:bodyPr>
          <a:lstStyle/>
          <a:p>
            <a:pPr indent="0" lvl="0" marL="0" marR="0" rtl="0" algn="l">
              <a:lnSpc>
                <a:spcPct val="128824"/>
              </a:lnSpc>
              <a:spcBef>
                <a:spcPts val="0"/>
              </a:spcBef>
              <a:spcAft>
                <a:spcPts val="0"/>
              </a:spcAft>
              <a:buClr>
                <a:srgbClr val="546E7A"/>
              </a:buClr>
              <a:buSzPts val="621"/>
              <a:buFont typeface="Roboto Mono"/>
              <a:buNone/>
            </a:pPr>
            <a:r>
              <a:rPr b="0" i="0" lang="en-US" sz="621" u="none" cap="none" strike="noStrike">
                <a:solidFill>
                  <a:srgbClr val="546E7A"/>
                </a:solidFill>
                <a:latin typeface="Roboto Mono"/>
                <a:ea typeface="Roboto Mono"/>
                <a:cs typeface="Roboto Mono"/>
                <a:sym typeface="Roboto Mono"/>
              </a:rPr>
              <a:t>AUTHOR: KISHORE MOOLI</a:t>
            </a:r>
            <a:endParaRPr b="0" i="0" sz="621" u="none" cap="none" strike="noStrike">
              <a:solidFill>
                <a:schemeClr val="dk1"/>
              </a:solidFill>
              <a:latin typeface="Calibri"/>
              <a:ea typeface="Calibri"/>
              <a:cs typeface="Calibri"/>
              <a:sym typeface="Calibri"/>
            </a:endParaRPr>
          </a:p>
        </p:txBody>
      </p:sp>
      <p:pic>
        <p:nvPicPr>
          <p:cNvPr descr="preencoded.png" id="42" name="Google Shape;42;p3"/>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43" name="Google Shape;43;p3"/>
          <p:cNvSpPr/>
          <p:nvPr/>
        </p:nvSpPr>
        <p:spPr>
          <a:xfrm>
            <a:off x="828888" y="2263525"/>
            <a:ext cx="8001000" cy="438600"/>
          </a:xfrm>
          <a:prstGeom prst="rect">
            <a:avLst/>
          </a:prstGeom>
          <a:noFill/>
          <a:ln>
            <a:noFill/>
          </a:ln>
        </p:spPr>
        <p:txBody>
          <a:bodyPr anchorCtr="0" anchor="t" bIns="0" lIns="0" spcFirstLastPara="1" rIns="0" wrap="square" tIns="0">
            <a:noAutofit/>
          </a:bodyPr>
          <a:lstStyle/>
          <a:p>
            <a:pPr indent="0" lvl="0" marL="0" marR="0" rtl="0" algn="l">
              <a:lnSpc>
                <a:spcPct val="131362"/>
              </a:lnSpc>
              <a:spcBef>
                <a:spcPts val="0"/>
              </a:spcBef>
              <a:spcAft>
                <a:spcPts val="0"/>
              </a:spcAft>
              <a:buClr>
                <a:srgbClr val="FFFFFF"/>
              </a:buClr>
              <a:buSzPts val="2436"/>
              <a:buFont typeface="Inter"/>
              <a:buNone/>
            </a:pPr>
            <a:r>
              <a:rPr b="1" i="0" lang="en-US" sz="2436" u="none" cap="none" strike="noStrike">
                <a:solidFill>
                  <a:srgbClr val="FFFFFF"/>
                </a:solidFill>
                <a:latin typeface="Inter"/>
                <a:ea typeface="Inter"/>
                <a:cs typeface="Inter"/>
                <a:sym typeface="Inter"/>
              </a:rPr>
              <a:t>Enterprise </a:t>
            </a:r>
            <a:r>
              <a:rPr b="1" lang="en-US" sz="2436">
                <a:solidFill>
                  <a:srgbClr val="FFFFFF"/>
                </a:solidFill>
                <a:latin typeface="Inter"/>
                <a:ea typeface="Inter"/>
                <a:cs typeface="Inter"/>
                <a:sym typeface="Inter"/>
              </a:rPr>
              <a:t>Encryption Service </a:t>
            </a:r>
            <a:endParaRPr b="0" i="0" sz="2436" u="none" cap="none" strike="noStrike">
              <a:solidFill>
                <a:schemeClr val="dk1"/>
              </a:solidFill>
              <a:latin typeface="Calibri"/>
              <a:ea typeface="Calibri"/>
              <a:cs typeface="Calibri"/>
              <a:sym typeface="Calibri"/>
            </a:endParaRPr>
          </a:p>
        </p:txBody>
      </p:sp>
      <p:sp>
        <p:nvSpPr>
          <p:cNvPr id="44" name="Google Shape;44;p3"/>
          <p:cNvSpPr txBox="1"/>
          <p:nvPr/>
        </p:nvSpPr>
        <p:spPr>
          <a:xfrm>
            <a:off x="828900" y="2616350"/>
            <a:ext cx="5104500" cy="38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lt1"/>
                </a:solidFill>
              </a:rPr>
              <a:t>Kishore Mooli, Cyber architecture  </a:t>
            </a:r>
            <a:endParaRPr sz="1200">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 name="Shape 49"/>
        <p:cNvGrpSpPr/>
        <p:nvPr/>
      </p:nvGrpSpPr>
      <p:grpSpPr>
        <a:xfrm>
          <a:off x="0" y="0"/>
          <a:ext cx="0" cy="0"/>
          <a:chOff x="0" y="0"/>
          <a:chExt cx="0" cy="0"/>
        </a:xfrm>
      </p:grpSpPr>
      <p:pic>
        <p:nvPicPr>
          <p:cNvPr descr="preencoded.png" id="50" name="Google Shape;50;p4"/>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51" name="Google Shape;51;p4"/>
          <p:cNvSpPr/>
          <p:nvPr/>
        </p:nvSpPr>
        <p:spPr>
          <a:xfrm>
            <a:off x="357188" y="214313"/>
            <a:ext cx="8429625" cy="258961"/>
          </a:xfrm>
          <a:prstGeom prst="rect">
            <a:avLst/>
          </a:prstGeom>
          <a:noFill/>
          <a:ln>
            <a:noFill/>
          </a:ln>
        </p:spPr>
        <p:txBody>
          <a:bodyPr anchorCtr="0" anchor="t" bIns="0" lIns="0" spcFirstLastPara="1" rIns="0" wrap="square" tIns="0">
            <a:noAutofit/>
          </a:bodyPr>
          <a:lstStyle/>
          <a:p>
            <a:pPr indent="0" lvl="0" marL="0" marR="0" rtl="0" algn="l">
              <a:lnSpc>
                <a:spcPct val="133422"/>
              </a:lnSpc>
              <a:spcBef>
                <a:spcPts val="0"/>
              </a:spcBef>
              <a:spcAft>
                <a:spcPts val="0"/>
              </a:spcAft>
              <a:buClr>
                <a:srgbClr val="FFFFFF"/>
              </a:buClr>
              <a:buSzPts val="1499"/>
              <a:buFont typeface="Inter"/>
              <a:buNone/>
            </a:pPr>
            <a:r>
              <a:rPr b="1" i="0" lang="en-US" sz="1499" u="none" cap="none" strike="noStrike">
                <a:solidFill>
                  <a:srgbClr val="FFFFFF"/>
                </a:solidFill>
                <a:latin typeface="Inter"/>
                <a:ea typeface="Inter"/>
                <a:cs typeface="Inter"/>
                <a:sym typeface="Inter"/>
              </a:rPr>
              <a:t>Key Management &amp; Encryption Strength</a:t>
            </a:r>
            <a:endParaRPr b="0" i="0" sz="1499" u="none" cap="none" strike="noStrike">
              <a:solidFill>
                <a:schemeClr val="dk1"/>
              </a:solidFill>
              <a:latin typeface="Calibri"/>
              <a:ea typeface="Calibri"/>
              <a:cs typeface="Calibri"/>
              <a:sym typeface="Calibri"/>
            </a:endParaRPr>
          </a:p>
        </p:txBody>
      </p:sp>
      <p:sp>
        <p:nvSpPr>
          <p:cNvPr id="52" name="Google Shape;52;p4"/>
          <p:cNvSpPr/>
          <p:nvPr/>
        </p:nvSpPr>
        <p:spPr>
          <a:xfrm>
            <a:off x="357188" y="501848"/>
            <a:ext cx="8429625" cy="121444"/>
          </a:xfrm>
          <a:prstGeom prst="rect">
            <a:avLst/>
          </a:prstGeom>
          <a:noFill/>
          <a:ln>
            <a:noFill/>
          </a:ln>
        </p:spPr>
        <p:txBody>
          <a:bodyPr anchorCtr="0" anchor="t" bIns="0" lIns="0" spcFirstLastPara="1" rIns="0" wrap="square" tIns="0">
            <a:noAutofit/>
          </a:bodyPr>
          <a:lstStyle/>
          <a:p>
            <a:pPr indent="0" lvl="0" marL="0" marR="0" rtl="0" algn="l">
              <a:lnSpc>
                <a:spcPct val="133531"/>
              </a:lnSpc>
              <a:spcBef>
                <a:spcPts val="0"/>
              </a:spcBef>
              <a:spcAft>
                <a:spcPts val="0"/>
              </a:spcAft>
              <a:buClr>
                <a:srgbClr val="546E7A"/>
              </a:buClr>
              <a:buSzPts val="674"/>
              <a:buFont typeface="Roboto Mono"/>
              <a:buNone/>
            </a:pPr>
            <a:r>
              <a:rPr b="0" i="0" lang="en-US" sz="674" u="none" cap="none" strike="noStrike">
                <a:solidFill>
                  <a:srgbClr val="546E7A"/>
                </a:solidFill>
                <a:latin typeface="Roboto Mono"/>
                <a:ea typeface="Roboto Mono"/>
                <a:cs typeface="Roboto Mono"/>
                <a:sym typeface="Roboto Mono"/>
              </a:rPr>
              <a:t>OpAMP Secrets Management Platform</a:t>
            </a:r>
            <a:endParaRPr b="0" i="0" sz="674" u="none" cap="none" strike="noStrike">
              <a:solidFill>
                <a:schemeClr val="dk1"/>
              </a:solidFill>
              <a:latin typeface="Calibri"/>
              <a:ea typeface="Calibri"/>
              <a:cs typeface="Calibri"/>
              <a:sym typeface="Calibri"/>
            </a:endParaRPr>
          </a:p>
        </p:txBody>
      </p:sp>
      <p:sp>
        <p:nvSpPr>
          <p:cNvPr id="53" name="Google Shape;53;p4"/>
          <p:cNvSpPr/>
          <p:nvPr/>
        </p:nvSpPr>
        <p:spPr>
          <a:xfrm>
            <a:off x="357188" y="880467"/>
            <a:ext cx="4107656" cy="2807494"/>
          </a:xfrm>
          <a:prstGeom prst="rect">
            <a:avLst/>
          </a:prstGeom>
          <a:solidFill>
            <a:srgbClr val="FFFFFF">
              <a:alpha val="3137"/>
            </a:srgbClr>
          </a:solidFill>
          <a:ln cap="flat" cmpd="sng" w="9525">
            <a:solidFill>
              <a:srgbClr val="FFFFFF">
                <a:alpha val="1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4"/>
          <p:cNvSpPr/>
          <p:nvPr/>
        </p:nvSpPr>
        <p:spPr>
          <a:xfrm>
            <a:off x="535781" y="1059061"/>
            <a:ext cx="3750469" cy="285750"/>
          </a:xfrm>
          <a:prstGeom prst="rect">
            <a:avLst/>
          </a:prstGeom>
          <a:noFill/>
          <a:ln>
            <a:noFill/>
          </a:ln>
        </p:spPr>
        <p:txBody>
          <a:bodyPr anchorCtr="0" anchor="t" bIns="85075" lIns="0" spcFirstLastPara="1" rIns="0" wrap="square" tIns="0">
            <a:noAutofit/>
          </a:bodyPr>
          <a:lstStyle/>
          <a:p>
            <a:pPr indent="0" lvl="0" marL="0" marR="0" rtl="0" algn="l">
              <a:lnSpc>
                <a:spcPct val="134115"/>
              </a:lnSpc>
              <a:spcBef>
                <a:spcPts val="0"/>
              </a:spcBef>
              <a:spcAft>
                <a:spcPts val="0"/>
              </a:spcAft>
              <a:buClr>
                <a:srgbClr val="00E5FF"/>
              </a:buClr>
              <a:buSzPts val="1193"/>
              <a:buFont typeface="Inter"/>
              <a:buNone/>
            </a:pPr>
            <a:r>
              <a:rPr b="1" i="0" lang="en-US" sz="1193" u="none" cap="none" strike="noStrike">
                <a:solidFill>
                  <a:srgbClr val="00E5FF"/>
                </a:solidFill>
                <a:latin typeface="Inter"/>
                <a:ea typeface="Inter"/>
                <a:cs typeface="Inter"/>
                <a:sym typeface="Inter"/>
              </a:rPr>
              <a:t>Three-Tier Envelope Encryption</a:t>
            </a:r>
            <a:endParaRPr b="0" i="0" sz="1193" u="none" cap="none" strike="noStrike">
              <a:solidFill>
                <a:schemeClr val="dk1"/>
              </a:solidFill>
              <a:latin typeface="Calibri"/>
              <a:ea typeface="Calibri"/>
              <a:cs typeface="Calibri"/>
              <a:sym typeface="Calibri"/>
            </a:endParaRPr>
          </a:p>
        </p:txBody>
      </p:sp>
      <p:sp>
        <p:nvSpPr>
          <p:cNvPr id="55" name="Google Shape;55;p4"/>
          <p:cNvSpPr/>
          <p:nvPr/>
        </p:nvSpPr>
        <p:spPr>
          <a:xfrm>
            <a:off x="535781" y="1487686"/>
            <a:ext cx="3750469" cy="385763"/>
          </a:xfrm>
          <a:prstGeom prst="rect">
            <a:avLst/>
          </a:prstGeom>
          <a:noFill/>
          <a:ln>
            <a:noFill/>
          </a:ln>
        </p:spPr>
        <p:txBody>
          <a:bodyPr anchorCtr="0" anchor="t" bIns="0" lIns="212575" spcFirstLastPara="1" rIns="0" wrap="square" tIns="0">
            <a:noAutofit/>
          </a:bodyPr>
          <a:lstStyle/>
          <a:p>
            <a:pPr indent="0" lvl="0" marL="0" marR="0" rtl="0" algn="l">
              <a:lnSpc>
                <a:spcPct val="159235"/>
              </a:lnSpc>
              <a:spcBef>
                <a:spcPts val="0"/>
              </a:spcBef>
              <a:spcAft>
                <a:spcPts val="0"/>
              </a:spcAft>
              <a:buClr>
                <a:srgbClr val="FFFFFF"/>
              </a:buClr>
              <a:buSzPts val="885"/>
              <a:buFont typeface="Inter"/>
              <a:buNone/>
            </a:pPr>
            <a:r>
              <a:rPr b="1" i="0" lang="en-US" sz="885" u="none" cap="none" strike="noStrike">
                <a:solidFill>
                  <a:srgbClr val="FFFFFF"/>
                </a:solidFill>
                <a:latin typeface="Inter"/>
                <a:ea typeface="Inter"/>
                <a:cs typeface="Inter"/>
                <a:sym typeface="Inter"/>
              </a:rPr>
              <a:t>Root (HSM Master Key):</a:t>
            </a:r>
            <a:r>
              <a:rPr b="0" i="0" lang="en-US" sz="942" u="none" cap="none" strike="noStrike">
                <a:solidFill>
                  <a:srgbClr val="E0E0E0"/>
                </a:solidFill>
                <a:latin typeface="Inter"/>
                <a:ea typeface="Inter"/>
                <a:cs typeface="Inter"/>
                <a:sym typeface="Inter"/>
              </a:rPr>
              <a:t> FIPS 140-2 Level 3 hardware boundary. Never leaves the HSM.</a:t>
            </a:r>
            <a:endParaRPr b="0" i="0" sz="885" u="none" cap="none" strike="noStrike">
              <a:solidFill>
                <a:schemeClr val="dk1"/>
              </a:solidFill>
              <a:latin typeface="Calibri"/>
              <a:ea typeface="Calibri"/>
              <a:cs typeface="Calibri"/>
              <a:sym typeface="Calibri"/>
            </a:endParaRPr>
          </a:p>
        </p:txBody>
      </p:sp>
      <p:sp>
        <p:nvSpPr>
          <p:cNvPr id="56" name="Google Shape;56;p4"/>
          <p:cNvSpPr/>
          <p:nvPr/>
        </p:nvSpPr>
        <p:spPr>
          <a:xfrm>
            <a:off x="535781" y="1980605"/>
            <a:ext cx="3750469" cy="385763"/>
          </a:xfrm>
          <a:prstGeom prst="rect">
            <a:avLst/>
          </a:prstGeom>
          <a:noFill/>
          <a:ln>
            <a:noFill/>
          </a:ln>
        </p:spPr>
        <p:txBody>
          <a:bodyPr anchorCtr="0" anchor="t" bIns="0" lIns="212575" spcFirstLastPara="1" rIns="0" wrap="square" tIns="0">
            <a:noAutofit/>
          </a:bodyPr>
          <a:lstStyle/>
          <a:p>
            <a:pPr indent="0" lvl="0" marL="0" marR="0" rtl="0" algn="l">
              <a:lnSpc>
                <a:spcPct val="159235"/>
              </a:lnSpc>
              <a:spcBef>
                <a:spcPts val="0"/>
              </a:spcBef>
              <a:spcAft>
                <a:spcPts val="0"/>
              </a:spcAft>
              <a:buClr>
                <a:srgbClr val="FFFFFF"/>
              </a:buClr>
              <a:buSzPts val="885"/>
              <a:buFont typeface="Inter"/>
              <a:buNone/>
            </a:pPr>
            <a:r>
              <a:rPr b="1" i="0" lang="en-US" sz="885" u="none" cap="none" strike="noStrike">
                <a:solidFill>
                  <a:srgbClr val="FFFFFF"/>
                </a:solidFill>
                <a:latin typeface="Inter"/>
                <a:ea typeface="Inter"/>
                <a:cs typeface="Inter"/>
                <a:sym typeface="Inter"/>
              </a:rPr>
              <a:t>Middle (KEK):</a:t>
            </a:r>
            <a:r>
              <a:rPr b="0" i="0" lang="en-US" sz="942" u="none" cap="none" strike="noStrike">
                <a:solidFill>
                  <a:srgbClr val="E0E0E0"/>
                </a:solidFill>
                <a:latin typeface="Inter"/>
                <a:ea typeface="Inter"/>
                <a:cs typeface="Inter"/>
                <a:sym typeface="Inter"/>
              </a:rPr>
              <a:t> AES-256-GCM. Rotated automatically every 90 days via Secrets-Ops-Scheduler.</a:t>
            </a:r>
            <a:endParaRPr b="0" i="0" sz="885" u="none" cap="none" strike="noStrike">
              <a:solidFill>
                <a:schemeClr val="dk1"/>
              </a:solidFill>
              <a:latin typeface="Calibri"/>
              <a:ea typeface="Calibri"/>
              <a:cs typeface="Calibri"/>
              <a:sym typeface="Calibri"/>
            </a:endParaRPr>
          </a:p>
        </p:txBody>
      </p:sp>
      <p:sp>
        <p:nvSpPr>
          <p:cNvPr id="57" name="Google Shape;57;p4"/>
          <p:cNvSpPr/>
          <p:nvPr/>
        </p:nvSpPr>
        <p:spPr>
          <a:xfrm>
            <a:off x="535781" y="2473523"/>
            <a:ext cx="3750469" cy="385763"/>
          </a:xfrm>
          <a:prstGeom prst="rect">
            <a:avLst/>
          </a:prstGeom>
          <a:noFill/>
          <a:ln>
            <a:noFill/>
          </a:ln>
        </p:spPr>
        <p:txBody>
          <a:bodyPr anchorCtr="0" anchor="t" bIns="0" lIns="212575" spcFirstLastPara="1" rIns="0" wrap="square" tIns="0">
            <a:noAutofit/>
          </a:bodyPr>
          <a:lstStyle/>
          <a:p>
            <a:pPr indent="0" lvl="0" marL="0" marR="0" rtl="0" algn="l">
              <a:lnSpc>
                <a:spcPct val="159235"/>
              </a:lnSpc>
              <a:spcBef>
                <a:spcPts val="0"/>
              </a:spcBef>
              <a:spcAft>
                <a:spcPts val="0"/>
              </a:spcAft>
              <a:buClr>
                <a:srgbClr val="FFFFFF"/>
              </a:buClr>
              <a:buSzPts val="885"/>
              <a:buFont typeface="Inter"/>
              <a:buNone/>
            </a:pPr>
            <a:r>
              <a:rPr b="1" i="0" lang="en-US" sz="885" u="none" cap="none" strike="noStrike">
                <a:solidFill>
                  <a:srgbClr val="FFFFFF"/>
                </a:solidFill>
                <a:latin typeface="Inter"/>
                <a:ea typeface="Inter"/>
                <a:cs typeface="Inter"/>
                <a:sym typeface="Inter"/>
              </a:rPr>
              <a:t>Leaf (DEK):</a:t>
            </a:r>
            <a:r>
              <a:rPr b="0" i="0" lang="en-US" sz="942" u="none" cap="none" strike="noStrike">
                <a:solidFill>
                  <a:srgbClr val="E0E0E0"/>
                </a:solidFill>
                <a:latin typeface="Inter"/>
                <a:ea typeface="Inter"/>
                <a:cs typeface="Inter"/>
                <a:sym typeface="Inter"/>
              </a:rPr>
              <a:t> AES-256-GCM. Ephemeral, unique per-secret, zeroized from memory immediately after use.</a:t>
            </a:r>
            <a:endParaRPr b="0" i="0" sz="885" u="none" cap="none" strike="noStrike">
              <a:solidFill>
                <a:schemeClr val="dk1"/>
              </a:solidFill>
              <a:latin typeface="Calibri"/>
              <a:ea typeface="Calibri"/>
              <a:cs typeface="Calibri"/>
              <a:sym typeface="Calibri"/>
            </a:endParaRPr>
          </a:p>
        </p:txBody>
      </p:sp>
      <p:sp>
        <p:nvSpPr>
          <p:cNvPr id="58" name="Google Shape;58;p4"/>
          <p:cNvSpPr/>
          <p:nvPr/>
        </p:nvSpPr>
        <p:spPr>
          <a:xfrm>
            <a:off x="4679156" y="880467"/>
            <a:ext cx="4107656" cy="2807494"/>
          </a:xfrm>
          <a:prstGeom prst="rect">
            <a:avLst/>
          </a:prstGeom>
          <a:solidFill>
            <a:srgbClr val="FFFFFF">
              <a:alpha val="3137"/>
            </a:srgbClr>
          </a:solidFill>
          <a:ln cap="flat" cmpd="sng" w="9525">
            <a:solidFill>
              <a:srgbClr val="FFFFFF">
                <a:alpha val="1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4"/>
          <p:cNvSpPr/>
          <p:nvPr/>
        </p:nvSpPr>
        <p:spPr>
          <a:xfrm>
            <a:off x="535781" y="1487686"/>
            <a:ext cx="64294" cy="192881"/>
          </a:xfrm>
          <a:prstGeom prst="rect">
            <a:avLst/>
          </a:prstGeom>
          <a:noFill/>
          <a:ln>
            <a:noFill/>
          </a:ln>
        </p:spPr>
        <p:txBody>
          <a:bodyPr anchorCtr="0" anchor="t" bIns="0" lIns="0" spcFirstLastPara="1" rIns="0" wrap="square" tIns="0">
            <a:noAutofit/>
          </a:bodyPr>
          <a:lstStyle/>
          <a:p>
            <a:pPr indent="0" lvl="0" marL="0" marR="0" rtl="0" algn="l">
              <a:lnSpc>
                <a:spcPct val="169491"/>
              </a:lnSpc>
              <a:spcBef>
                <a:spcPts val="0"/>
              </a:spcBef>
              <a:spcAft>
                <a:spcPts val="0"/>
              </a:spcAft>
              <a:buClr>
                <a:srgbClr val="00E5FF"/>
              </a:buClr>
              <a:buSzPts val="885"/>
              <a:buFont typeface="Inter"/>
              <a:buNone/>
            </a:pPr>
            <a:r>
              <a:rPr b="1" i="0" lang="en-US" sz="885" u="none" cap="none" strike="noStrike">
                <a:solidFill>
                  <a:srgbClr val="00E5FF"/>
                </a:solidFill>
                <a:latin typeface="Inter"/>
                <a:ea typeface="Inter"/>
                <a:cs typeface="Inter"/>
                <a:sym typeface="Inter"/>
              </a:rPr>
              <a:t>▹</a:t>
            </a:r>
            <a:endParaRPr b="0" i="0" sz="885" u="none" cap="none" strike="noStrike">
              <a:solidFill>
                <a:schemeClr val="dk1"/>
              </a:solidFill>
              <a:latin typeface="Calibri"/>
              <a:ea typeface="Calibri"/>
              <a:cs typeface="Calibri"/>
              <a:sym typeface="Calibri"/>
            </a:endParaRPr>
          </a:p>
        </p:txBody>
      </p:sp>
      <p:sp>
        <p:nvSpPr>
          <p:cNvPr id="60" name="Google Shape;60;p4"/>
          <p:cNvSpPr/>
          <p:nvPr/>
        </p:nvSpPr>
        <p:spPr>
          <a:xfrm>
            <a:off x="535781" y="1980605"/>
            <a:ext cx="64294" cy="192881"/>
          </a:xfrm>
          <a:prstGeom prst="rect">
            <a:avLst/>
          </a:prstGeom>
          <a:noFill/>
          <a:ln>
            <a:noFill/>
          </a:ln>
        </p:spPr>
        <p:txBody>
          <a:bodyPr anchorCtr="0" anchor="t" bIns="0" lIns="0" spcFirstLastPara="1" rIns="0" wrap="square" tIns="0">
            <a:noAutofit/>
          </a:bodyPr>
          <a:lstStyle/>
          <a:p>
            <a:pPr indent="0" lvl="0" marL="0" marR="0" rtl="0" algn="l">
              <a:lnSpc>
                <a:spcPct val="169491"/>
              </a:lnSpc>
              <a:spcBef>
                <a:spcPts val="0"/>
              </a:spcBef>
              <a:spcAft>
                <a:spcPts val="0"/>
              </a:spcAft>
              <a:buClr>
                <a:srgbClr val="00E5FF"/>
              </a:buClr>
              <a:buSzPts val="885"/>
              <a:buFont typeface="Inter"/>
              <a:buNone/>
            </a:pPr>
            <a:r>
              <a:rPr b="1" i="0" lang="en-US" sz="885" u="none" cap="none" strike="noStrike">
                <a:solidFill>
                  <a:srgbClr val="00E5FF"/>
                </a:solidFill>
                <a:latin typeface="Inter"/>
                <a:ea typeface="Inter"/>
                <a:cs typeface="Inter"/>
                <a:sym typeface="Inter"/>
              </a:rPr>
              <a:t>▹</a:t>
            </a:r>
            <a:endParaRPr b="0" i="0" sz="885" u="none" cap="none" strike="noStrike">
              <a:solidFill>
                <a:schemeClr val="dk1"/>
              </a:solidFill>
              <a:latin typeface="Calibri"/>
              <a:ea typeface="Calibri"/>
              <a:cs typeface="Calibri"/>
              <a:sym typeface="Calibri"/>
            </a:endParaRPr>
          </a:p>
        </p:txBody>
      </p:sp>
      <p:sp>
        <p:nvSpPr>
          <p:cNvPr id="61" name="Google Shape;61;p4"/>
          <p:cNvSpPr/>
          <p:nvPr/>
        </p:nvSpPr>
        <p:spPr>
          <a:xfrm>
            <a:off x="535781" y="2473523"/>
            <a:ext cx="64294" cy="192881"/>
          </a:xfrm>
          <a:prstGeom prst="rect">
            <a:avLst/>
          </a:prstGeom>
          <a:noFill/>
          <a:ln>
            <a:noFill/>
          </a:ln>
        </p:spPr>
        <p:txBody>
          <a:bodyPr anchorCtr="0" anchor="t" bIns="0" lIns="0" spcFirstLastPara="1" rIns="0" wrap="square" tIns="0">
            <a:noAutofit/>
          </a:bodyPr>
          <a:lstStyle/>
          <a:p>
            <a:pPr indent="0" lvl="0" marL="0" marR="0" rtl="0" algn="l">
              <a:lnSpc>
                <a:spcPct val="169491"/>
              </a:lnSpc>
              <a:spcBef>
                <a:spcPts val="0"/>
              </a:spcBef>
              <a:spcAft>
                <a:spcPts val="0"/>
              </a:spcAft>
              <a:buClr>
                <a:srgbClr val="00E5FF"/>
              </a:buClr>
              <a:buSzPts val="885"/>
              <a:buFont typeface="Inter"/>
              <a:buNone/>
            </a:pPr>
            <a:r>
              <a:rPr b="1" i="0" lang="en-US" sz="885" u="none" cap="none" strike="noStrike">
                <a:solidFill>
                  <a:srgbClr val="00E5FF"/>
                </a:solidFill>
                <a:latin typeface="Inter"/>
                <a:ea typeface="Inter"/>
                <a:cs typeface="Inter"/>
                <a:sym typeface="Inter"/>
              </a:rPr>
              <a:t>▹</a:t>
            </a:r>
            <a:endParaRPr b="0" i="0" sz="885" u="none" cap="none" strike="noStrike">
              <a:solidFill>
                <a:schemeClr val="dk1"/>
              </a:solidFill>
              <a:latin typeface="Calibri"/>
              <a:ea typeface="Calibri"/>
              <a:cs typeface="Calibri"/>
              <a:sym typeface="Calibri"/>
            </a:endParaRPr>
          </a:p>
        </p:txBody>
      </p:sp>
      <p:sp>
        <p:nvSpPr>
          <p:cNvPr id="62" name="Google Shape;62;p4"/>
          <p:cNvSpPr/>
          <p:nvPr/>
        </p:nvSpPr>
        <p:spPr>
          <a:xfrm>
            <a:off x="4857750" y="1059061"/>
            <a:ext cx="3750469" cy="285750"/>
          </a:xfrm>
          <a:prstGeom prst="rect">
            <a:avLst/>
          </a:prstGeom>
          <a:noFill/>
          <a:ln>
            <a:noFill/>
          </a:ln>
        </p:spPr>
        <p:txBody>
          <a:bodyPr anchorCtr="0" anchor="t" bIns="85075" lIns="0" spcFirstLastPara="1" rIns="0" wrap="square" tIns="0">
            <a:noAutofit/>
          </a:bodyPr>
          <a:lstStyle/>
          <a:p>
            <a:pPr indent="0" lvl="0" marL="0" marR="0" rtl="0" algn="l">
              <a:lnSpc>
                <a:spcPct val="134115"/>
              </a:lnSpc>
              <a:spcBef>
                <a:spcPts val="0"/>
              </a:spcBef>
              <a:spcAft>
                <a:spcPts val="0"/>
              </a:spcAft>
              <a:buClr>
                <a:srgbClr val="00E5FF"/>
              </a:buClr>
              <a:buSzPts val="1193"/>
              <a:buFont typeface="Inter"/>
              <a:buNone/>
            </a:pPr>
            <a:r>
              <a:rPr b="1" i="0" lang="en-US" sz="1193" u="none" cap="none" strike="noStrike">
                <a:solidFill>
                  <a:srgbClr val="00E5FF"/>
                </a:solidFill>
                <a:latin typeface="Inter"/>
                <a:ea typeface="Inter"/>
                <a:cs typeface="Inter"/>
                <a:sym typeface="Inter"/>
              </a:rPr>
              <a:t>Automated Lifecycle Operations</a:t>
            </a:r>
            <a:endParaRPr b="0" i="0" sz="1193" u="none" cap="none" strike="noStrike">
              <a:solidFill>
                <a:schemeClr val="dk1"/>
              </a:solidFill>
              <a:latin typeface="Calibri"/>
              <a:ea typeface="Calibri"/>
              <a:cs typeface="Calibri"/>
              <a:sym typeface="Calibri"/>
            </a:endParaRPr>
          </a:p>
        </p:txBody>
      </p:sp>
      <p:sp>
        <p:nvSpPr>
          <p:cNvPr id="63" name="Google Shape;63;p4"/>
          <p:cNvSpPr/>
          <p:nvPr/>
        </p:nvSpPr>
        <p:spPr>
          <a:xfrm>
            <a:off x="4857750" y="1487686"/>
            <a:ext cx="3750469" cy="385763"/>
          </a:xfrm>
          <a:prstGeom prst="rect">
            <a:avLst/>
          </a:prstGeom>
          <a:noFill/>
          <a:ln>
            <a:noFill/>
          </a:ln>
        </p:spPr>
        <p:txBody>
          <a:bodyPr anchorCtr="0" anchor="t" bIns="0" lIns="0" spcFirstLastPara="1" rIns="0" wrap="square" tIns="0">
            <a:noAutofit/>
          </a:bodyPr>
          <a:lstStyle/>
          <a:p>
            <a:pPr indent="0" lvl="0" marL="0" marR="0" rtl="0" algn="l">
              <a:lnSpc>
                <a:spcPct val="159235"/>
              </a:lnSpc>
              <a:spcBef>
                <a:spcPts val="0"/>
              </a:spcBef>
              <a:spcAft>
                <a:spcPts val="0"/>
              </a:spcAft>
              <a:buClr>
                <a:srgbClr val="B0BEC5"/>
              </a:buClr>
              <a:buSzPts val="942"/>
              <a:buFont typeface="Inter"/>
              <a:buNone/>
            </a:pPr>
            <a:r>
              <a:rPr b="0" i="0" lang="en-US" sz="942" u="none" cap="none" strike="noStrike">
                <a:solidFill>
                  <a:srgbClr val="B0BEC5"/>
                </a:solidFill>
                <a:latin typeface="Inter"/>
                <a:ea typeface="Inter"/>
                <a:cs typeface="Inter"/>
                <a:sym typeface="Inter"/>
              </a:rPr>
              <a:t>The Secrets-Ops-Scheduler eliminates human interaction with cryptographic material:</a:t>
            </a:r>
            <a:endParaRPr b="0" i="0" sz="942" u="none" cap="none" strike="noStrike">
              <a:solidFill>
                <a:schemeClr val="dk1"/>
              </a:solidFill>
              <a:latin typeface="Calibri"/>
              <a:ea typeface="Calibri"/>
              <a:cs typeface="Calibri"/>
              <a:sym typeface="Calibri"/>
            </a:endParaRPr>
          </a:p>
        </p:txBody>
      </p:sp>
      <p:sp>
        <p:nvSpPr>
          <p:cNvPr id="64" name="Google Shape;64;p4"/>
          <p:cNvSpPr/>
          <p:nvPr/>
        </p:nvSpPr>
        <p:spPr>
          <a:xfrm>
            <a:off x="4857750" y="2016323"/>
            <a:ext cx="3750469" cy="385763"/>
          </a:xfrm>
          <a:prstGeom prst="rect">
            <a:avLst/>
          </a:prstGeom>
          <a:noFill/>
          <a:ln>
            <a:noFill/>
          </a:ln>
        </p:spPr>
        <p:txBody>
          <a:bodyPr anchorCtr="0" anchor="t" bIns="0" lIns="212575" spcFirstLastPara="1" rIns="0" wrap="square" tIns="0">
            <a:noAutofit/>
          </a:bodyPr>
          <a:lstStyle/>
          <a:p>
            <a:pPr indent="0" lvl="0" marL="0" marR="0" rtl="0" algn="l">
              <a:lnSpc>
                <a:spcPct val="159235"/>
              </a:lnSpc>
              <a:spcBef>
                <a:spcPts val="0"/>
              </a:spcBef>
              <a:spcAft>
                <a:spcPts val="0"/>
              </a:spcAft>
              <a:buClr>
                <a:srgbClr val="FFFFFF"/>
              </a:buClr>
              <a:buSzPts val="885"/>
              <a:buFont typeface="Inter"/>
              <a:buNone/>
            </a:pPr>
            <a:r>
              <a:rPr b="1" i="0" lang="en-US" sz="885" u="none" cap="none" strike="noStrike">
                <a:solidFill>
                  <a:srgbClr val="FFFFFF"/>
                </a:solidFill>
                <a:latin typeface="Inter"/>
                <a:ea typeface="Inter"/>
                <a:cs typeface="Inter"/>
                <a:sym typeface="Inter"/>
              </a:rPr>
              <a:t>Zero-Downtime Re-wrapping:</a:t>
            </a:r>
            <a:r>
              <a:rPr b="0" i="0" lang="en-US" sz="942" u="none" cap="none" strike="noStrike">
                <a:solidFill>
                  <a:srgbClr val="E0E0E0"/>
                </a:solidFill>
                <a:latin typeface="Inter"/>
                <a:ea typeface="Inter"/>
                <a:cs typeface="Inter"/>
                <a:sym typeface="Inter"/>
              </a:rPr>
              <a:t> KEK rotation triggers batch DEK re-wrapping at 500 ops/sec.</a:t>
            </a:r>
            <a:endParaRPr b="0" i="0" sz="885" u="none" cap="none" strike="noStrike">
              <a:solidFill>
                <a:schemeClr val="dk1"/>
              </a:solidFill>
              <a:latin typeface="Calibri"/>
              <a:ea typeface="Calibri"/>
              <a:cs typeface="Calibri"/>
              <a:sym typeface="Calibri"/>
            </a:endParaRPr>
          </a:p>
        </p:txBody>
      </p:sp>
      <p:sp>
        <p:nvSpPr>
          <p:cNvPr id="65" name="Google Shape;65;p4"/>
          <p:cNvSpPr/>
          <p:nvPr/>
        </p:nvSpPr>
        <p:spPr>
          <a:xfrm>
            <a:off x="4857750" y="2509242"/>
            <a:ext cx="3750469" cy="385763"/>
          </a:xfrm>
          <a:prstGeom prst="rect">
            <a:avLst/>
          </a:prstGeom>
          <a:noFill/>
          <a:ln>
            <a:noFill/>
          </a:ln>
        </p:spPr>
        <p:txBody>
          <a:bodyPr anchorCtr="0" anchor="t" bIns="0" lIns="212575" spcFirstLastPara="1" rIns="0" wrap="square" tIns="0">
            <a:noAutofit/>
          </a:bodyPr>
          <a:lstStyle/>
          <a:p>
            <a:pPr indent="0" lvl="0" marL="0" marR="0" rtl="0" algn="l">
              <a:lnSpc>
                <a:spcPct val="159235"/>
              </a:lnSpc>
              <a:spcBef>
                <a:spcPts val="0"/>
              </a:spcBef>
              <a:spcAft>
                <a:spcPts val="0"/>
              </a:spcAft>
              <a:buClr>
                <a:srgbClr val="FFFFFF"/>
              </a:buClr>
              <a:buSzPts val="885"/>
              <a:buFont typeface="Inter"/>
              <a:buNone/>
            </a:pPr>
            <a:r>
              <a:rPr b="1" i="0" lang="en-US" sz="885" u="none" cap="none" strike="noStrike">
                <a:solidFill>
                  <a:srgbClr val="FFFFFF"/>
                </a:solidFill>
                <a:latin typeface="Inter"/>
                <a:ea typeface="Inter"/>
                <a:cs typeface="Inter"/>
                <a:sym typeface="Inter"/>
              </a:rPr>
              <a:t>Forward Secrecy:</a:t>
            </a:r>
            <a:r>
              <a:rPr b="0" i="0" lang="en-US" sz="942" u="none" cap="none" strike="noStrike">
                <a:solidFill>
                  <a:srgbClr val="E0E0E0"/>
                </a:solidFill>
                <a:latin typeface="Inter"/>
                <a:ea typeface="Inter"/>
                <a:cs typeface="Inter"/>
                <a:sym typeface="Inter"/>
              </a:rPr>
              <a:t> Unique DEK per secret ensures compromise of one DEK does not expose others.</a:t>
            </a:r>
            <a:endParaRPr b="0" i="0" sz="885" u="none" cap="none" strike="noStrike">
              <a:solidFill>
                <a:schemeClr val="dk1"/>
              </a:solidFill>
              <a:latin typeface="Calibri"/>
              <a:ea typeface="Calibri"/>
              <a:cs typeface="Calibri"/>
              <a:sym typeface="Calibri"/>
            </a:endParaRPr>
          </a:p>
        </p:txBody>
      </p:sp>
      <p:sp>
        <p:nvSpPr>
          <p:cNvPr id="66" name="Google Shape;66;p4"/>
          <p:cNvSpPr/>
          <p:nvPr/>
        </p:nvSpPr>
        <p:spPr>
          <a:xfrm>
            <a:off x="4857750" y="3002161"/>
            <a:ext cx="3750469" cy="385763"/>
          </a:xfrm>
          <a:prstGeom prst="rect">
            <a:avLst/>
          </a:prstGeom>
          <a:noFill/>
          <a:ln>
            <a:noFill/>
          </a:ln>
        </p:spPr>
        <p:txBody>
          <a:bodyPr anchorCtr="0" anchor="t" bIns="0" lIns="212575" spcFirstLastPara="1" rIns="0" wrap="square" tIns="0">
            <a:noAutofit/>
          </a:bodyPr>
          <a:lstStyle/>
          <a:p>
            <a:pPr indent="0" lvl="0" marL="0" marR="0" rtl="0" algn="l">
              <a:lnSpc>
                <a:spcPct val="159235"/>
              </a:lnSpc>
              <a:spcBef>
                <a:spcPts val="0"/>
              </a:spcBef>
              <a:spcAft>
                <a:spcPts val="0"/>
              </a:spcAft>
              <a:buClr>
                <a:srgbClr val="FFFFFF"/>
              </a:buClr>
              <a:buSzPts val="885"/>
              <a:buFont typeface="Inter"/>
              <a:buNone/>
            </a:pPr>
            <a:r>
              <a:rPr b="1" i="0" lang="en-US" sz="885" u="none" cap="none" strike="noStrike">
                <a:solidFill>
                  <a:srgbClr val="FFFFFF"/>
                </a:solidFill>
                <a:latin typeface="Inter"/>
                <a:ea typeface="Inter"/>
                <a:cs typeface="Inter"/>
                <a:sym typeface="Inter"/>
              </a:rPr>
              <a:t>Distributed Locking:</a:t>
            </a:r>
            <a:r>
              <a:rPr b="0" i="0" lang="en-US" sz="942" u="none" cap="none" strike="noStrike">
                <a:solidFill>
                  <a:srgbClr val="E0E0E0"/>
                </a:solidFill>
                <a:latin typeface="Inter"/>
                <a:ea typeface="Inter"/>
                <a:cs typeface="Inter"/>
                <a:sym typeface="Inter"/>
              </a:rPr>
              <a:t> PostgreSQL-based locking ensures exactly-once execution across active-active regions.</a:t>
            </a:r>
            <a:endParaRPr b="0" i="0" sz="885" u="none" cap="none" strike="noStrike">
              <a:solidFill>
                <a:schemeClr val="dk1"/>
              </a:solidFill>
              <a:latin typeface="Calibri"/>
              <a:ea typeface="Calibri"/>
              <a:cs typeface="Calibri"/>
              <a:sym typeface="Calibri"/>
            </a:endParaRPr>
          </a:p>
        </p:txBody>
      </p:sp>
      <p:sp>
        <p:nvSpPr>
          <p:cNvPr id="67" name="Google Shape;67;p4"/>
          <p:cNvSpPr/>
          <p:nvPr/>
        </p:nvSpPr>
        <p:spPr>
          <a:xfrm>
            <a:off x="4857750" y="2016323"/>
            <a:ext cx="64294" cy="192881"/>
          </a:xfrm>
          <a:prstGeom prst="rect">
            <a:avLst/>
          </a:prstGeom>
          <a:noFill/>
          <a:ln>
            <a:noFill/>
          </a:ln>
        </p:spPr>
        <p:txBody>
          <a:bodyPr anchorCtr="0" anchor="t" bIns="0" lIns="0" spcFirstLastPara="1" rIns="0" wrap="square" tIns="0">
            <a:noAutofit/>
          </a:bodyPr>
          <a:lstStyle/>
          <a:p>
            <a:pPr indent="0" lvl="0" marL="0" marR="0" rtl="0" algn="l">
              <a:lnSpc>
                <a:spcPct val="169491"/>
              </a:lnSpc>
              <a:spcBef>
                <a:spcPts val="0"/>
              </a:spcBef>
              <a:spcAft>
                <a:spcPts val="0"/>
              </a:spcAft>
              <a:buClr>
                <a:srgbClr val="00E5FF"/>
              </a:buClr>
              <a:buSzPts val="885"/>
              <a:buFont typeface="Inter"/>
              <a:buNone/>
            </a:pPr>
            <a:r>
              <a:rPr b="1" i="0" lang="en-US" sz="885" u="none" cap="none" strike="noStrike">
                <a:solidFill>
                  <a:srgbClr val="00E5FF"/>
                </a:solidFill>
                <a:latin typeface="Inter"/>
                <a:ea typeface="Inter"/>
                <a:cs typeface="Inter"/>
                <a:sym typeface="Inter"/>
              </a:rPr>
              <a:t>▹</a:t>
            </a:r>
            <a:endParaRPr b="0" i="0" sz="885" u="none" cap="none" strike="noStrike">
              <a:solidFill>
                <a:schemeClr val="dk1"/>
              </a:solidFill>
              <a:latin typeface="Calibri"/>
              <a:ea typeface="Calibri"/>
              <a:cs typeface="Calibri"/>
              <a:sym typeface="Calibri"/>
            </a:endParaRPr>
          </a:p>
        </p:txBody>
      </p:sp>
      <p:sp>
        <p:nvSpPr>
          <p:cNvPr id="68" name="Google Shape;68;p4"/>
          <p:cNvSpPr/>
          <p:nvPr/>
        </p:nvSpPr>
        <p:spPr>
          <a:xfrm>
            <a:off x="4857750" y="2509242"/>
            <a:ext cx="64294" cy="192881"/>
          </a:xfrm>
          <a:prstGeom prst="rect">
            <a:avLst/>
          </a:prstGeom>
          <a:noFill/>
          <a:ln>
            <a:noFill/>
          </a:ln>
        </p:spPr>
        <p:txBody>
          <a:bodyPr anchorCtr="0" anchor="t" bIns="0" lIns="0" spcFirstLastPara="1" rIns="0" wrap="square" tIns="0">
            <a:noAutofit/>
          </a:bodyPr>
          <a:lstStyle/>
          <a:p>
            <a:pPr indent="0" lvl="0" marL="0" marR="0" rtl="0" algn="l">
              <a:lnSpc>
                <a:spcPct val="169491"/>
              </a:lnSpc>
              <a:spcBef>
                <a:spcPts val="0"/>
              </a:spcBef>
              <a:spcAft>
                <a:spcPts val="0"/>
              </a:spcAft>
              <a:buClr>
                <a:srgbClr val="00E5FF"/>
              </a:buClr>
              <a:buSzPts val="885"/>
              <a:buFont typeface="Inter"/>
              <a:buNone/>
            </a:pPr>
            <a:r>
              <a:rPr b="1" i="0" lang="en-US" sz="885" u="none" cap="none" strike="noStrike">
                <a:solidFill>
                  <a:srgbClr val="00E5FF"/>
                </a:solidFill>
                <a:latin typeface="Inter"/>
                <a:ea typeface="Inter"/>
                <a:cs typeface="Inter"/>
                <a:sym typeface="Inter"/>
              </a:rPr>
              <a:t>▹</a:t>
            </a:r>
            <a:endParaRPr b="0" i="0" sz="885" u="none" cap="none" strike="noStrike">
              <a:solidFill>
                <a:schemeClr val="dk1"/>
              </a:solidFill>
              <a:latin typeface="Calibri"/>
              <a:ea typeface="Calibri"/>
              <a:cs typeface="Calibri"/>
              <a:sym typeface="Calibri"/>
            </a:endParaRPr>
          </a:p>
        </p:txBody>
      </p:sp>
      <p:sp>
        <p:nvSpPr>
          <p:cNvPr id="69" name="Google Shape;69;p4"/>
          <p:cNvSpPr/>
          <p:nvPr/>
        </p:nvSpPr>
        <p:spPr>
          <a:xfrm>
            <a:off x="4857750" y="3002161"/>
            <a:ext cx="64294" cy="192881"/>
          </a:xfrm>
          <a:prstGeom prst="rect">
            <a:avLst/>
          </a:prstGeom>
          <a:noFill/>
          <a:ln>
            <a:noFill/>
          </a:ln>
        </p:spPr>
        <p:txBody>
          <a:bodyPr anchorCtr="0" anchor="t" bIns="0" lIns="0" spcFirstLastPara="1" rIns="0" wrap="square" tIns="0">
            <a:noAutofit/>
          </a:bodyPr>
          <a:lstStyle/>
          <a:p>
            <a:pPr indent="0" lvl="0" marL="0" marR="0" rtl="0" algn="l">
              <a:lnSpc>
                <a:spcPct val="169491"/>
              </a:lnSpc>
              <a:spcBef>
                <a:spcPts val="0"/>
              </a:spcBef>
              <a:spcAft>
                <a:spcPts val="0"/>
              </a:spcAft>
              <a:buClr>
                <a:srgbClr val="00E5FF"/>
              </a:buClr>
              <a:buSzPts val="885"/>
              <a:buFont typeface="Inter"/>
              <a:buNone/>
            </a:pPr>
            <a:r>
              <a:rPr b="1" i="0" lang="en-US" sz="885" u="none" cap="none" strike="noStrike">
                <a:solidFill>
                  <a:srgbClr val="00E5FF"/>
                </a:solidFill>
                <a:latin typeface="Inter"/>
                <a:ea typeface="Inter"/>
                <a:cs typeface="Inter"/>
                <a:sym typeface="Inter"/>
              </a:rPr>
              <a:t>▹</a:t>
            </a:r>
            <a:endParaRPr b="0" i="0" sz="885" u="none" cap="none" strike="noStrike">
              <a:solidFill>
                <a:schemeClr val="dk1"/>
              </a:solidFill>
              <a:latin typeface="Calibri"/>
              <a:ea typeface="Calibri"/>
              <a:cs typeface="Calibri"/>
              <a:sym typeface="Calibri"/>
            </a:endParaRPr>
          </a:p>
        </p:txBody>
      </p:sp>
      <p:sp>
        <p:nvSpPr>
          <p:cNvPr id="70" name="Google Shape;70;p4"/>
          <p:cNvSpPr/>
          <p:nvPr/>
        </p:nvSpPr>
        <p:spPr>
          <a:xfrm>
            <a:off x="357188" y="4888111"/>
            <a:ext cx="1346597" cy="112514"/>
          </a:xfrm>
          <a:prstGeom prst="rect">
            <a:avLst/>
          </a:prstGeom>
          <a:noFill/>
          <a:ln>
            <a:noFill/>
          </a:ln>
        </p:spPr>
        <p:txBody>
          <a:bodyPr anchorCtr="0" anchor="t" bIns="0" lIns="0" spcFirstLastPara="1" rIns="0" wrap="square" tIns="0">
            <a:noAutofit/>
          </a:bodyPr>
          <a:lstStyle/>
          <a:p>
            <a:pPr indent="0" lvl="0" marL="0" marR="0" rtl="0" algn="l">
              <a:lnSpc>
                <a:spcPct val="128824"/>
              </a:lnSpc>
              <a:spcBef>
                <a:spcPts val="0"/>
              </a:spcBef>
              <a:spcAft>
                <a:spcPts val="0"/>
              </a:spcAft>
              <a:buClr>
                <a:srgbClr val="546E7A"/>
              </a:buClr>
              <a:buSzPts val="621"/>
              <a:buFont typeface="Roboto Mono"/>
              <a:buNone/>
            </a:pPr>
            <a:r>
              <a:rPr b="0" i="0" lang="en-US" sz="621" u="none" cap="none" strike="noStrike">
                <a:solidFill>
                  <a:srgbClr val="546E7A"/>
                </a:solidFill>
                <a:latin typeface="Roboto Mono"/>
                <a:ea typeface="Roboto Mono"/>
                <a:cs typeface="Roboto Mono"/>
                <a:sym typeface="Roboto Mono"/>
              </a:rPr>
              <a:t>CONFIDENTIAL &amp; PROPRIETARY</a:t>
            </a:r>
            <a:endParaRPr b="0" i="0" sz="621" u="none" cap="none" strike="noStrike">
              <a:solidFill>
                <a:schemeClr val="dk1"/>
              </a:solidFill>
              <a:latin typeface="Calibri"/>
              <a:ea typeface="Calibri"/>
              <a:cs typeface="Calibri"/>
              <a:sym typeface="Calibri"/>
            </a:endParaRPr>
          </a:p>
        </p:txBody>
      </p:sp>
      <p:sp>
        <p:nvSpPr>
          <p:cNvPr id="71" name="Google Shape;71;p4"/>
          <p:cNvSpPr/>
          <p:nvPr/>
        </p:nvSpPr>
        <p:spPr>
          <a:xfrm>
            <a:off x="7699177" y="4888111"/>
            <a:ext cx="1087636" cy="112514"/>
          </a:xfrm>
          <a:prstGeom prst="rect">
            <a:avLst/>
          </a:prstGeom>
          <a:noFill/>
          <a:ln>
            <a:noFill/>
          </a:ln>
        </p:spPr>
        <p:txBody>
          <a:bodyPr anchorCtr="0" anchor="t" bIns="0" lIns="0" spcFirstLastPara="1" rIns="0" wrap="square" tIns="0">
            <a:noAutofit/>
          </a:bodyPr>
          <a:lstStyle/>
          <a:p>
            <a:pPr indent="0" lvl="0" marL="0" marR="0" rtl="0" algn="l">
              <a:lnSpc>
                <a:spcPct val="128824"/>
              </a:lnSpc>
              <a:spcBef>
                <a:spcPts val="0"/>
              </a:spcBef>
              <a:spcAft>
                <a:spcPts val="0"/>
              </a:spcAft>
              <a:buClr>
                <a:srgbClr val="546E7A"/>
              </a:buClr>
              <a:buSzPts val="621"/>
              <a:buFont typeface="Roboto Mono"/>
              <a:buNone/>
            </a:pPr>
            <a:r>
              <a:rPr b="0" i="0" lang="en-US" sz="621" u="none" cap="none" strike="noStrike">
                <a:solidFill>
                  <a:srgbClr val="546E7A"/>
                </a:solidFill>
                <a:latin typeface="Roboto Mono"/>
                <a:ea typeface="Roboto Mono"/>
                <a:cs typeface="Roboto Mono"/>
                <a:sym typeface="Roboto Mono"/>
              </a:rPr>
              <a:t>AUTHOR: KISHORE MOOLI</a:t>
            </a:r>
            <a:endParaRPr b="0" i="0" sz="621"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pic>
        <p:nvPicPr>
          <p:cNvPr descr="preencoded.png" id="77" name="Google Shape;77;p5"/>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78" name="Google Shape;78;p5"/>
          <p:cNvSpPr/>
          <p:nvPr/>
        </p:nvSpPr>
        <p:spPr>
          <a:xfrm>
            <a:off x="357188" y="214313"/>
            <a:ext cx="8429625" cy="258961"/>
          </a:xfrm>
          <a:prstGeom prst="rect">
            <a:avLst/>
          </a:prstGeom>
          <a:noFill/>
          <a:ln>
            <a:noFill/>
          </a:ln>
        </p:spPr>
        <p:txBody>
          <a:bodyPr anchorCtr="0" anchor="t" bIns="0" lIns="0" spcFirstLastPara="1" rIns="0" wrap="square" tIns="0">
            <a:noAutofit/>
          </a:bodyPr>
          <a:lstStyle/>
          <a:p>
            <a:pPr indent="0" lvl="0" marL="0" marR="0" rtl="0" algn="l">
              <a:lnSpc>
                <a:spcPct val="133422"/>
              </a:lnSpc>
              <a:spcBef>
                <a:spcPts val="0"/>
              </a:spcBef>
              <a:spcAft>
                <a:spcPts val="0"/>
              </a:spcAft>
              <a:buClr>
                <a:srgbClr val="FFFFFF"/>
              </a:buClr>
              <a:buSzPts val="1499"/>
              <a:buFont typeface="Inter"/>
              <a:buNone/>
            </a:pPr>
            <a:r>
              <a:rPr b="1" i="0" lang="en-US" sz="1499" u="none" cap="none" strike="noStrike">
                <a:solidFill>
                  <a:srgbClr val="FFFFFF"/>
                </a:solidFill>
                <a:latin typeface="Inter"/>
                <a:ea typeface="Inter"/>
                <a:cs typeface="Inter"/>
                <a:sym typeface="Inter"/>
              </a:rPr>
              <a:t>Post-Quantum Cryptography (PQC) Readiness</a:t>
            </a:r>
            <a:endParaRPr b="0" i="0" sz="1499" u="none" cap="none" strike="noStrike">
              <a:solidFill>
                <a:schemeClr val="dk1"/>
              </a:solidFill>
              <a:latin typeface="Calibri"/>
              <a:ea typeface="Calibri"/>
              <a:cs typeface="Calibri"/>
              <a:sym typeface="Calibri"/>
            </a:endParaRPr>
          </a:p>
        </p:txBody>
      </p:sp>
      <p:sp>
        <p:nvSpPr>
          <p:cNvPr id="79" name="Google Shape;79;p5"/>
          <p:cNvSpPr/>
          <p:nvPr/>
        </p:nvSpPr>
        <p:spPr>
          <a:xfrm>
            <a:off x="357188" y="501848"/>
            <a:ext cx="8429625" cy="121444"/>
          </a:xfrm>
          <a:prstGeom prst="rect">
            <a:avLst/>
          </a:prstGeom>
          <a:noFill/>
          <a:ln>
            <a:noFill/>
          </a:ln>
        </p:spPr>
        <p:txBody>
          <a:bodyPr anchorCtr="0" anchor="t" bIns="0" lIns="0" spcFirstLastPara="1" rIns="0" wrap="square" tIns="0">
            <a:noAutofit/>
          </a:bodyPr>
          <a:lstStyle/>
          <a:p>
            <a:pPr indent="0" lvl="0" marL="0" marR="0" rtl="0" algn="l">
              <a:lnSpc>
                <a:spcPct val="133531"/>
              </a:lnSpc>
              <a:spcBef>
                <a:spcPts val="0"/>
              </a:spcBef>
              <a:spcAft>
                <a:spcPts val="0"/>
              </a:spcAft>
              <a:buClr>
                <a:srgbClr val="546E7A"/>
              </a:buClr>
              <a:buSzPts val="674"/>
              <a:buFont typeface="Roboto Mono"/>
              <a:buNone/>
            </a:pPr>
            <a:r>
              <a:rPr b="0" i="0" lang="en-US" sz="674" u="none" cap="none" strike="noStrike">
                <a:solidFill>
                  <a:srgbClr val="546E7A"/>
                </a:solidFill>
                <a:latin typeface="Roboto Mono"/>
                <a:ea typeface="Roboto Mono"/>
                <a:cs typeface="Roboto Mono"/>
                <a:sym typeface="Roboto Mono"/>
              </a:rPr>
              <a:t>OpAMP Secrets Management Platform</a:t>
            </a:r>
            <a:endParaRPr b="0" i="0" sz="674" u="none" cap="none" strike="noStrike">
              <a:solidFill>
                <a:schemeClr val="dk1"/>
              </a:solidFill>
              <a:latin typeface="Calibri"/>
              <a:ea typeface="Calibri"/>
              <a:cs typeface="Calibri"/>
              <a:sym typeface="Calibri"/>
            </a:endParaRPr>
          </a:p>
        </p:txBody>
      </p:sp>
      <p:sp>
        <p:nvSpPr>
          <p:cNvPr id="80" name="Google Shape;80;p5"/>
          <p:cNvSpPr/>
          <p:nvPr/>
        </p:nvSpPr>
        <p:spPr>
          <a:xfrm>
            <a:off x="357188" y="880467"/>
            <a:ext cx="4107656" cy="3002161"/>
          </a:xfrm>
          <a:prstGeom prst="rect">
            <a:avLst/>
          </a:prstGeom>
          <a:solidFill>
            <a:srgbClr val="FFFFFF">
              <a:alpha val="3137"/>
            </a:srgbClr>
          </a:solidFill>
          <a:ln cap="flat" cmpd="sng" w="9525">
            <a:solidFill>
              <a:srgbClr val="FFFFFF">
                <a:alpha val="1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5"/>
          <p:cNvSpPr/>
          <p:nvPr/>
        </p:nvSpPr>
        <p:spPr>
          <a:xfrm>
            <a:off x="535781" y="1059061"/>
            <a:ext cx="3750469" cy="285750"/>
          </a:xfrm>
          <a:prstGeom prst="rect">
            <a:avLst/>
          </a:prstGeom>
          <a:noFill/>
          <a:ln>
            <a:noFill/>
          </a:ln>
        </p:spPr>
        <p:txBody>
          <a:bodyPr anchorCtr="0" anchor="t" bIns="85075" lIns="0" spcFirstLastPara="1" rIns="0" wrap="square" tIns="0">
            <a:noAutofit/>
          </a:bodyPr>
          <a:lstStyle/>
          <a:p>
            <a:pPr indent="0" lvl="0" marL="0" marR="0" rtl="0" algn="l">
              <a:lnSpc>
                <a:spcPct val="134115"/>
              </a:lnSpc>
              <a:spcBef>
                <a:spcPts val="0"/>
              </a:spcBef>
              <a:spcAft>
                <a:spcPts val="0"/>
              </a:spcAft>
              <a:buClr>
                <a:srgbClr val="00E5FF"/>
              </a:buClr>
              <a:buSzPts val="1193"/>
              <a:buFont typeface="Inter"/>
              <a:buNone/>
            </a:pPr>
            <a:r>
              <a:rPr b="1" i="0" lang="en-US" sz="1193" u="none" cap="none" strike="noStrike">
                <a:solidFill>
                  <a:srgbClr val="00E5FF"/>
                </a:solidFill>
                <a:latin typeface="Inter"/>
                <a:ea typeface="Inter"/>
                <a:cs typeface="Inter"/>
                <a:sym typeface="Inter"/>
              </a:rPr>
              <a:t>Cipher-Agile Architecture</a:t>
            </a:r>
            <a:endParaRPr b="0" i="0" sz="1193" u="none" cap="none" strike="noStrike">
              <a:solidFill>
                <a:schemeClr val="dk1"/>
              </a:solidFill>
              <a:latin typeface="Calibri"/>
              <a:ea typeface="Calibri"/>
              <a:cs typeface="Calibri"/>
              <a:sym typeface="Calibri"/>
            </a:endParaRPr>
          </a:p>
        </p:txBody>
      </p:sp>
      <p:sp>
        <p:nvSpPr>
          <p:cNvPr id="82" name="Google Shape;82;p5"/>
          <p:cNvSpPr/>
          <p:nvPr/>
        </p:nvSpPr>
        <p:spPr>
          <a:xfrm>
            <a:off x="535781" y="1487686"/>
            <a:ext cx="3750469" cy="385763"/>
          </a:xfrm>
          <a:prstGeom prst="rect">
            <a:avLst/>
          </a:prstGeom>
          <a:noFill/>
          <a:ln>
            <a:noFill/>
          </a:ln>
        </p:spPr>
        <p:txBody>
          <a:bodyPr anchorCtr="0" anchor="t" bIns="0" lIns="0" spcFirstLastPara="1" rIns="0" wrap="square" tIns="0">
            <a:noAutofit/>
          </a:bodyPr>
          <a:lstStyle/>
          <a:p>
            <a:pPr indent="0" lvl="0" marL="0" marR="0" rtl="0" algn="l">
              <a:lnSpc>
                <a:spcPct val="159235"/>
              </a:lnSpc>
              <a:spcBef>
                <a:spcPts val="0"/>
              </a:spcBef>
              <a:spcAft>
                <a:spcPts val="0"/>
              </a:spcAft>
              <a:buClr>
                <a:srgbClr val="B0BEC5"/>
              </a:buClr>
              <a:buSzPts val="942"/>
              <a:buFont typeface="Inter"/>
              <a:buNone/>
            </a:pPr>
            <a:r>
              <a:rPr b="0" i="0" lang="en-US" sz="942" u="none" cap="none" strike="noStrike">
                <a:solidFill>
                  <a:srgbClr val="B0BEC5"/>
                </a:solidFill>
                <a:latin typeface="Inter"/>
                <a:ea typeface="Inter"/>
                <a:cs typeface="Inter"/>
                <a:sym typeface="Inter"/>
              </a:rPr>
              <a:t>The platform is designed to transition algorithms without code changes or downtime:</a:t>
            </a:r>
            <a:endParaRPr b="0" i="0" sz="942" u="none" cap="none" strike="noStrike">
              <a:solidFill>
                <a:schemeClr val="dk1"/>
              </a:solidFill>
              <a:latin typeface="Calibri"/>
              <a:ea typeface="Calibri"/>
              <a:cs typeface="Calibri"/>
              <a:sym typeface="Calibri"/>
            </a:endParaRPr>
          </a:p>
        </p:txBody>
      </p:sp>
      <p:sp>
        <p:nvSpPr>
          <p:cNvPr id="83" name="Google Shape;83;p5"/>
          <p:cNvSpPr/>
          <p:nvPr/>
        </p:nvSpPr>
        <p:spPr>
          <a:xfrm>
            <a:off x="535781" y="2016323"/>
            <a:ext cx="64294" cy="192881"/>
          </a:xfrm>
          <a:prstGeom prst="rect">
            <a:avLst/>
          </a:prstGeom>
          <a:noFill/>
          <a:ln>
            <a:noFill/>
          </a:ln>
        </p:spPr>
        <p:txBody>
          <a:bodyPr anchorCtr="0" anchor="t" bIns="0" lIns="0" spcFirstLastPara="1" rIns="0" wrap="square" tIns="0">
            <a:noAutofit/>
          </a:bodyPr>
          <a:lstStyle/>
          <a:p>
            <a:pPr indent="0" lvl="0" marL="0" marR="0" rtl="0" algn="l">
              <a:lnSpc>
                <a:spcPct val="169491"/>
              </a:lnSpc>
              <a:spcBef>
                <a:spcPts val="0"/>
              </a:spcBef>
              <a:spcAft>
                <a:spcPts val="0"/>
              </a:spcAft>
              <a:buClr>
                <a:srgbClr val="00E5FF"/>
              </a:buClr>
              <a:buSzPts val="885"/>
              <a:buFont typeface="Inter"/>
              <a:buNone/>
            </a:pPr>
            <a:r>
              <a:rPr b="1" i="0" lang="en-US" sz="885" u="none" cap="none" strike="noStrike">
                <a:solidFill>
                  <a:srgbClr val="00E5FF"/>
                </a:solidFill>
                <a:latin typeface="Inter"/>
                <a:ea typeface="Inter"/>
                <a:cs typeface="Inter"/>
                <a:sym typeface="Inter"/>
              </a:rPr>
              <a:t>▹</a:t>
            </a:r>
            <a:endParaRPr b="0" i="0" sz="885" u="none" cap="none" strike="noStrike">
              <a:solidFill>
                <a:schemeClr val="dk1"/>
              </a:solidFill>
              <a:latin typeface="Calibri"/>
              <a:ea typeface="Calibri"/>
              <a:cs typeface="Calibri"/>
              <a:sym typeface="Calibri"/>
            </a:endParaRPr>
          </a:p>
        </p:txBody>
      </p:sp>
      <p:sp>
        <p:nvSpPr>
          <p:cNvPr id="84" name="Google Shape;84;p5"/>
          <p:cNvSpPr/>
          <p:nvPr/>
        </p:nvSpPr>
        <p:spPr>
          <a:xfrm>
            <a:off x="714375" y="2034183"/>
            <a:ext cx="1369814" cy="155377"/>
          </a:xfrm>
          <a:prstGeom prst="rect">
            <a:avLst/>
          </a:prstGeom>
          <a:noFill/>
          <a:ln>
            <a:noFill/>
          </a:ln>
        </p:spPr>
        <p:txBody>
          <a:bodyPr anchorCtr="0" anchor="t" bIns="0" lIns="0" spcFirstLastPara="1" rIns="0" wrap="square" tIns="0">
            <a:noAutofit/>
          </a:bodyPr>
          <a:lstStyle/>
          <a:p>
            <a:pPr indent="0" lvl="0" marL="0" marR="0" rtl="0" algn="l">
              <a:lnSpc>
                <a:spcPct val="169491"/>
              </a:lnSpc>
              <a:spcBef>
                <a:spcPts val="0"/>
              </a:spcBef>
              <a:spcAft>
                <a:spcPts val="0"/>
              </a:spcAft>
              <a:buClr>
                <a:srgbClr val="FFFFFF"/>
              </a:buClr>
              <a:buSzPts val="885"/>
              <a:buFont typeface="Inter"/>
              <a:buNone/>
            </a:pPr>
            <a:r>
              <a:rPr b="1" i="0" lang="en-US" sz="885" u="none" cap="none" strike="noStrike">
                <a:solidFill>
                  <a:srgbClr val="FFFFFF"/>
                </a:solidFill>
                <a:latin typeface="Inter"/>
                <a:ea typeface="Inter"/>
                <a:cs typeface="Inter"/>
                <a:sym typeface="Inter"/>
              </a:rPr>
              <a:t>Algorithm Identifiers:</a:t>
            </a:r>
            <a:endParaRPr b="0" i="0" sz="885" u="none" cap="none" strike="noStrike">
              <a:solidFill>
                <a:schemeClr val="dk1"/>
              </a:solidFill>
              <a:latin typeface="Calibri"/>
              <a:ea typeface="Calibri"/>
              <a:cs typeface="Calibri"/>
              <a:sym typeface="Calibri"/>
            </a:endParaRPr>
          </a:p>
        </p:txBody>
      </p:sp>
      <p:sp>
        <p:nvSpPr>
          <p:cNvPr id="85" name="Google Shape;85;p5"/>
          <p:cNvSpPr/>
          <p:nvPr/>
        </p:nvSpPr>
        <p:spPr>
          <a:xfrm>
            <a:off x="714375" y="2034183"/>
            <a:ext cx="3457575" cy="350044"/>
          </a:xfrm>
          <a:prstGeom prst="rect">
            <a:avLst/>
          </a:prstGeom>
          <a:noFill/>
          <a:ln>
            <a:noFill/>
          </a:ln>
        </p:spPr>
        <p:txBody>
          <a:bodyPr anchorCtr="0" anchor="t" bIns="0" lIns="0" spcFirstLastPara="1" rIns="0" wrap="square" tIns="0">
            <a:noAutofit/>
          </a:bodyPr>
          <a:lstStyle/>
          <a:p>
            <a:pPr indent="0" lvl="0" marL="0" marR="0" rtl="0" algn="l">
              <a:lnSpc>
                <a:spcPct val="159235"/>
              </a:lnSpc>
              <a:spcBef>
                <a:spcPts val="0"/>
              </a:spcBef>
              <a:spcAft>
                <a:spcPts val="0"/>
              </a:spcAft>
              <a:buClr>
                <a:srgbClr val="E0E0E0"/>
              </a:buClr>
              <a:buSzPts val="942"/>
              <a:buFont typeface="Inter"/>
              <a:buNone/>
            </a:pPr>
            <a:r>
              <a:rPr b="0" i="0" lang="en-US" sz="942" u="none" cap="none" strike="noStrike">
                <a:solidFill>
                  <a:srgbClr val="E0E0E0"/>
                </a:solidFill>
                <a:latin typeface="Inter"/>
                <a:ea typeface="Inter"/>
                <a:cs typeface="Inter"/>
                <a:sym typeface="Inter"/>
              </a:rPr>
              <a:t>Stored alongside every encrypted envelope (e.g.,</a:t>
            </a:r>
            <a:endParaRPr b="0" i="0" sz="942" u="none" cap="none" strike="noStrike">
              <a:solidFill>
                <a:schemeClr val="dk1"/>
              </a:solidFill>
              <a:latin typeface="Calibri"/>
              <a:ea typeface="Calibri"/>
              <a:cs typeface="Calibri"/>
              <a:sym typeface="Calibri"/>
            </a:endParaRPr>
          </a:p>
        </p:txBody>
      </p:sp>
      <p:sp>
        <p:nvSpPr>
          <p:cNvPr id="86" name="Google Shape;86;p5"/>
          <p:cNvSpPr/>
          <p:nvPr/>
        </p:nvSpPr>
        <p:spPr>
          <a:xfrm>
            <a:off x="1651992" y="2218134"/>
            <a:ext cx="2005971" cy="175022"/>
          </a:xfrm>
          <a:prstGeom prst="rect">
            <a:avLst/>
          </a:prstGeom>
          <a:noFill/>
          <a:ln>
            <a:noFill/>
          </a:ln>
        </p:spPr>
        <p:txBody>
          <a:bodyPr anchorCtr="0" anchor="t" bIns="0" lIns="0" spcFirstLastPara="1" rIns="0" wrap="square" tIns="0">
            <a:noAutofit/>
          </a:bodyPr>
          <a:lstStyle/>
          <a:p>
            <a:pPr indent="0" lvl="0" marL="0" marR="0" rtl="0" algn="l">
              <a:lnSpc>
                <a:spcPct val="159235"/>
              </a:lnSpc>
              <a:spcBef>
                <a:spcPts val="0"/>
              </a:spcBef>
              <a:spcAft>
                <a:spcPts val="0"/>
              </a:spcAft>
              <a:buClr>
                <a:srgbClr val="E0E0E0"/>
              </a:buClr>
              <a:buSzPts val="942"/>
              <a:buFont typeface="Arial"/>
              <a:buNone/>
            </a:pPr>
            <a:r>
              <a:rPr b="0" i="0" lang="en-US" sz="942" u="none" cap="none" strike="noStrike">
                <a:solidFill>
                  <a:srgbClr val="E0E0E0"/>
                </a:solidFill>
                <a:latin typeface="Arial"/>
                <a:ea typeface="Arial"/>
                <a:cs typeface="Arial"/>
                <a:sym typeface="Arial"/>
              </a:rPr>
              <a:t>"algorithm": "AES-256-GCM"</a:t>
            </a:r>
            <a:endParaRPr b="0" i="0" sz="942" u="none" cap="none" strike="noStrike">
              <a:solidFill>
                <a:schemeClr val="dk1"/>
              </a:solidFill>
              <a:latin typeface="Calibri"/>
              <a:ea typeface="Calibri"/>
              <a:cs typeface="Calibri"/>
              <a:sym typeface="Calibri"/>
            </a:endParaRPr>
          </a:p>
        </p:txBody>
      </p:sp>
      <p:sp>
        <p:nvSpPr>
          <p:cNvPr id="87" name="Google Shape;87;p5"/>
          <p:cNvSpPr/>
          <p:nvPr/>
        </p:nvSpPr>
        <p:spPr>
          <a:xfrm>
            <a:off x="3657963" y="2228850"/>
            <a:ext cx="83939" cy="155377"/>
          </a:xfrm>
          <a:prstGeom prst="rect">
            <a:avLst/>
          </a:prstGeom>
          <a:noFill/>
          <a:ln>
            <a:noFill/>
          </a:ln>
        </p:spPr>
        <p:txBody>
          <a:bodyPr anchorCtr="0" anchor="t" bIns="0" lIns="0" spcFirstLastPara="1" rIns="0" wrap="square" tIns="0">
            <a:noAutofit/>
          </a:bodyPr>
          <a:lstStyle/>
          <a:p>
            <a:pPr indent="0" lvl="0" marL="0" marR="0" rtl="0" algn="l">
              <a:lnSpc>
                <a:spcPct val="159235"/>
              </a:lnSpc>
              <a:spcBef>
                <a:spcPts val="0"/>
              </a:spcBef>
              <a:spcAft>
                <a:spcPts val="0"/>
              </a:spcAft>
              <a:buClr>
                <a:srgbClr val="E0E0E0"/>
              </a:buClr>
              <a:buSzPts val="942"/>
              <a:buFont typeface="Inter"/>
              <a:buNone/>
            </a:pPr>
            <a:r>
              <a:rPr b="0" i="0" lang="en-US" sz="942" u="none" cap="none" strike="noStrike">
                <a:solidFill>
                  <a:srgbClr val="E0E0E0"/>
                </a:solidFill>
                <a:latin typeface="Inter"/>
                <a:ea typeface="Inter"/>
                <a:cs typeface="Inter"/>
                <a:sym typeface="Inter"/>
              </a:rPr>
              <a:t>).</a:t>
            </a:r>
            <a:endParaRPr b="0" i="0" sz="942" u="none" cap="none" strike="noStrike">
              <a:solidFill>
                <a:schemeClr val="dk1"/>
              </a:solidFill>
              <a:latin typeface="Calibri"/>
              <a:ea typeface="Calibri"/>
              <a:cs typeface="Calibri"/>
              <a:sym typeface="Calibri"/>
            </a:endParaRPr>
          </a:p>
        </p:txBody>
      </p:sp>
      <p:sp>
        <p:nvSpPr>
          <p:cNvPr id="88" name="Google Shape;88;p5"/>
          <p:cNvSpPr/>
          <p:nvPr/>
        </p:nvSpPr>
        <p:spPr>
          <a:xfrm>
            <a:off x="535781" y="2511028"/>
            <a:ext cx="3750469" cy="385763"/>
          </a:xfrm>
          <a:prstGeom prst="rect">
            <a:avLst/>
          </a:prstGeom>
          <a:noFill/>
          <a:ln>
            <a:noFill/>
          </a:ln>
        </p:spPr>
        <p:txBody>
          <a:bodyPr anchorCtr="0" anchor="t" bIns="0" lIns="212575" spcFirstLastPara="1" rIns="0" wrap="square" tIns="0">
            <a:noAutofit/>
          </a:bodyPr>
          <a:lstStyle/>
          <a:p>
            <a:pPr indent="0" lvl="0" marL="0" marR="0" rtl="0" algn="l">
              <a:lnSpc>
                <a:spcPct val="159235"/>
              </a:lnSpc>
              <a:spcBef>
                <a:spcPts val="0"/>
              </a:spcBef>
              <a:spcAft>
                <a:spcPts val="0"/>
              </a:spcAft>
              <a:buClr>
                <a:srgbClr val="FFFFFF"/>
              </a:buClr>
              <a:buSzPts val="885"/>
              <a:buFont typeface="Inter"/>
              <a:buNone/>
            </a:pPr>
            <a:r>
              <a:rPr b="1" i="0" lang="en-US" sz="885" u="none" cap="none" strike="noStrike">
                <a:solidFill>
                  <a:srgbClr val="FFFFFF"/>
                </a:solidFill>
                <a:latin typeface="Inter"/>
                <a:ea typeface="Inter"/>
                <a:cs typeface="Inter"/>
                <a:sym typeface="Inter"/>
              </a:rPr>
              <a:t>Simultaneous Support:</a:t>
            </a:r>
            <a:r>
              <a:rPr b="0" i="0" lang="en-US" sz="942" u="none" cap="none" strike="noStrike">
                <a:solidFill>
                  <a:srgbClr val="E0E0E0"/>
                </a:solidFill>
                <a:latin typeface="Inter"/>
                <a:ea typeface="Inter"/>
                <a:cs typeface="Inter"/>
                <a:sym typeface="Inter"/>
              </a:rPr>
              <a:t> Old and new ciphers coexist during migration windows.</a:t>
            </a:r>
            <a:endParaRPr b="0" i="0" sz="885" u="none" cap="none" strike="noStrike">
              <a:solidFill>
                <a:schemeClr val="dk1"/>
              </a:solidFill>
              <a:latin typeface="Calibri"/>
              <a:ea typeface="Calibri"/>
              <a:cs typeface="Calibri"/>
              <a:sym typeface="Calibri"/>
            </a:endParaRPr>
          </a:p>
        </p:txBody>
      </p:sp>
      <p:sp>
        <p:nvSpPr>
          <p:cNvPr id="89" name="Google Shape;89;p5"/>
          <p:cNvSpPr/>
          <p:nvPr/>
        </p:nvSpPr>
        <p:spPr>
          <a:xfrm>
            <a:off x="535781" y="3003947"/>
            <a:ext cx="3750469" cy="578644"/>
          </a:xfrm>
          <a:prstGeom prst="rect">
            <a:avLst/>
          </a:prstGeom>
          <a:noFill/>
          <a:ln>
            <a:noFill/>
          </a:ln>
        </p:spPr>
        <p:txBody>
          <a:bodyPr anchorCtr="0" anchor="t" bIns="0" lIns="212575" spcFirstLastPara="1" rIns="0" wrap="square" tIns="0">
            <a:noAutofit/>
          </a:bodyPr>
          <a:lstStyle/>
          <a:p>
            <a:pPr indent="0" lvl="0" marL="0" marR="0" rtl="0" algn="l">
              <a:lnSpc>
                <a:spcPct val="159235"/>
              </a:lnSpc>
              <a:spcBef>
                <a:spcPts val="0"/>
              </a:spcBef>
              <a:spcAft>
                <a:spcPts val="0"/>
              </a:spcAft>
              <a:buClr>
                <a:srgbClr val="FFFFFF"/>
              </a:buClr>
              <a:buSzPts val="885"/>
              <a:buFont typeface="Inter"/>
              <a:buNone/>
            </a:pPr>
            <a:r>
              <a:rPr b="1" i="0" lang="en-US" sz="885" u="none" cap="none" strike="noStrike">
                <a:solidFill>
                  <a:srgbClr val="FFFFFF"/>
                </a:solidFill>
                <a:latin typeface="Inter"/>
                <a:ea typeface="Inter"/>
                <a:cs typeface="Inter"/>
                <a:sym typeface="Inter"/>
              </a:rPr>
              <a:t>Automated Migration:</a:t>
            </a:r>
            <a:r>
              <a:rPr b="0" i="0" lang="en-US" sz="942" u="none" cap="none" strike="noStrike">
                <a:solidFill>
                  <a:srgbClr val="E0E0E0"/>
                </a:solidFill>
                <a:latin typeface="Inter"/>
                <a:ea typeface="Inter"/>
                <a:cs typeface="Inter"/>
                <a:sym typeface="Inter"/>
              </a:rPr>
              <a:t> KEK/DEK rotation mechanisms provide the operational pathway for re-wrapping existing secrets to new ciphers.</a:t>
            </a:r>
            <a:endParaRPr b="0" i="0" sz="885" u="none" cap="none" strike="noStrike">
              <a:solidFill>
                <a:schemeClr val="dk1"/>
              </a:solidFill>
              <a:latin typeface="Calibri"/>
              <a:ea typeface="Calibri"/>
              <a:cs typeface="Calibri"/>
              <a:sym typeface="Calibri"/>
            </a:endParaRPr>
          </a:p>
        </p:txBody>
      </p:sp>
      <p:sp>
        <p:nvSpPr>
          <p:cNvPr id="90" name="Google Shape;90;p5"/>
          <p:cNvSpPr/>
          <p:nvPr/>
        </p:nvSpPr>
        <p:spPr>
          <a:xfrm>
            <a:off x="4679156" y="880467"/>
            <a:ext cx="4107656" cy="2987873"/>
          </a:xfrm>
          <a:prstGeom prst="rect">
            <a:avLst/>
          </a:prstGeom>
          <a:solidFill>
            <a:srgbClr val="FFFFFF">
              <a:alpha val="3137"/>
            </a:srgbClr>
          </a:solidFill>
          <a:ln cap="flat" cmpd="sng" w="9525">
            <a:solidFill>
              <a:srgbClr val="FFFFFF">
                <a:alpha val="1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5"/>
          <p:cNvSpPr/>
          <p:nvPr/>
        </p:nvSpPr>
        <p:spPr>
          <a:xfrm>
            <a:off x="535781" y="2511028"/>
            <a:ext cx="64294" cy="192881"/>
          </a:xfrm>
          <a:prstGeom prst="rect">
            <a:avLst/>
          </a:prstGeom>
          <a:noFill/>
          <a:ln>
            <a:noFill/>
          </a:ln>
        </p:spPr>
        <p:txBody>
          <a:bodyPr anchorCtr="0" anchor="t" bIns="0" lIns="0" spcFirstLastPara="1" rIns="0" wrap="square" tIns="0">
            <a:noAutofit/>
          </a:bodyPr>
          <a:lstStyle/>
          <a:p>
            <a:pPr indent="0" lvl="0" marL="0" marR="0" rtl="0" algn="l">
              <a:lnSpc>
                <a:spcPct val="169491"/>
              </a:lnSpc>
              <a:spcBef>
                <a:spcPts val="0"/>
              </a:spcBef>
              <a:spcAft>
                <a:spcPts val="0"/>
              </a:spcAft>
              <a:buClr>
                <a:srgbClr val="00E5FF"/>
              </a:buClr>
              <a:buSzPts val="885"/>
              <a:buFont typeface="Inter"/>
              <a:buNone/>
            </a:pPr>
            <a:r>
              <a:rPr b="1" i="0" lang="en-US" sz="885" u="none" cap="none" strike="noStrike">
                <a:solidFill>
                  <a:srgbClr val="00E5FF"/>
                </a:solidFill>
                <a:latin typeface="Inter"/>
                <a:ea typeface="Inter"/>
                <a:cs typeface="Inter"/>
                <a:sym typeface="Inter"/>
              </a:rPr>
              <a:t>▹</a:t>
            </a:r>
            <a:endParaRPr b="0" i="0" sz="885" u="none" cap="none" strike="noStrike">
              <a:solidFill>
                <a:schemeClr val="dk1"/>
              </a:solidFill>
              <a:latin typeface="Calibri"/>
              <a:ea typeface="Calibri"/>
              <a:cs typeface="Calibri"/>
              <a:sym typeface="Calibri"/>
            </a:endParaRPr>
          </a:p>
        </p:txBody>
      </p:sp>
      <p:sp>
        <p:nvSpPr>
          <p:cNvPr id="92" name="Google Shape;92;p5"/>
          <p:cNvSpPr/>
          <p:nvPr/>
        </p:nvSpPr>
        <p:spPr>
          <a:xfrm>
            <a:off x="535781" y="3003947"/>
            <a:ext cx="64294" cy="192881"/>
          </a:xfrm>
          <a:prstGeom prst="rect">
            <a:avLst/>
          </a:prstGeom>
          <a:noFill/>
          <a:ln>
            <a:noFill/>
          </a:ln>
        </p:spPr>
        <p:txBody>
          <a:bodyPr anchorCtr="0" anchor="t" bIns="0" lIns="0" spcFirstLastPara="1" rIns="0" wrap="square" tIns="0">
            <a:noAutofit/>
          </a:bodyPr>
          <a:lstStyle/>
          <a:p>
            <a:pPr indent="0" lvl="0" marL="0" marR="0" rtl="0" algn="l">
              <a:lnSpc>
                <a:spcPct val="169491"/>
              </a:lnSpc>
              <a:spcBef>
                <a:spcPts val="0"/>
              </a:spcBef>
              <a:spcAft>
                <a:spcPts val="0"/>
              </a:spcAft>
              <a:buClr>
                <a:srgbClr val="00E5FF"/>
              </a:buClr>
              <a:buSzPts val="885"/>
              <a:buFont typeface="Inter"/>
              <a:buNone/>
            </a:pPr>
            <a:r>
              <a:rPr b="1" i="0" lang="en-US" sz="885" u="none" cap="none" strike="noStrike">
                <a:solidFill>
                  <a:srgbClr val="00E5FF"/>
                </a:solidFill>
                <a:latin typeface="Inter"/>
                <a:ea typeface="Inter"/>
                <a:cs typeface="Inter"/>
                <a:sym typeface="Inter"/>
              </a:rPr>
              <a:t>▹</a:t>
            </a:r>
            <a:endParaRPr b="0" i="0" sz="885" u="none" cap="none" strike="noStrike">
              <a:solidFill>
                <a:schemeClr val="dk1"/>
              </a:solidFill>
              <a:latin typeface="Calibri"/>
              <a:ea typeface="Calibri"/>
              <a:cs typeface="Calibri"/>
              <a:sym typeface="Calibri"/>
            </a:endParaRPr>
          </a:p>
        </p:txBody>
      </p:sp>
      <p:sp>
        <p:nvSpPr>
          <p:cNvPr id="93" name="Google Shape;93;p5"/>
          <p:cNvSpPr/>
          <p:nvPr/>
        </p:nvSpPr>
        <p:spPr>
          <a:xfrm>
            <a:off x="4857750" y="1059061"/>
            <a:ext cx="3750469" cy="285750"/>
          </a:xfrm>
          <a:prstGeom prst="rect">
            <a:avLst/>
          </a:prstGeom>
          <a:noFill/>
          <a:ln>
            <a:noFill/>
          </a:ln>
        </p:spPr>
        <p:txBody>
          <a:bodyPr anchorCtr="0" anchor="t" bIns="85075" lIns="0" spcFirstLastPara="1" rIns="0" wrap="square" tIns="0">
            <a:noAutofit/>
          </a:bodyPr>
          <a:lstStyle/>
          <a:p>
            <a:pPr indent="0" lvl="0" marL="0" marR="0" rtl="0" algn="l">
              <a:lnSpc>
                <a:spcPct val="134115"/>
              </a:lnSpc>
              <a:spcBef>
                <a:spcPts val="0"/>
              </a:spcBef>
              <a:spcAft>
                <a:spcPts val="0"/>
              </a:spcAft>
              <a:buClr>
                <a:srgbClr val="00E5FF"/>
              </a:buClr>
              <a:buSzPts val="1193"/>
              <a:buFont typeface="Inter"/>
              <a:buNone/>
            </a:pPr>
            <a:r>
              <a:rPr b="1" i="0" lang="en-US" sz="1193" u="none" cap="none" strike="noStrike">
                <a:solidFill>
                  <a:srgbClr val="00E5FF"/>
                </a:solidFill>
                <a:latin typeface="Inter"/>
                <a:ea typeface="Inter"/>
                <a:cs typeface="Inter"/>
                <a:sym typeface="Inter"/>
              </a:rPr>
              <a:t>Quantum Threat Mitigation</a:t>
            </a:r>
            <a:endParaRPr b="0" i="0" sz="1193" u="none" cap="none" strike="noStrike">
              <a:solidFill>
                <a:schemeClr val="dk1"/>
              </a:solidFill>
              <a:latin typeface="Calibri"/>
              <a:ea typeface="Calibri"/>
              <a:cs typeface="Calibri"/>
              <a:sym typeface="Calibri"/>
            </a:endParaRPr>
          </a:p>
        </p:txBody>
      </p:sp>
      <p:sp>
        <p:nvSpPr>
          <p:cNvPr id="94" name="Google Shape;94;p5"/>
          <p:cNvSpPr/>
          <p:nvPr/>
        </p:nvSpPr>
        <p:spPr>
          <a:xfrm>
            <a:off x="4857750" y="1487686"/>
            <a:ext cx="3750469" cy="578644"/>
          </a:xfrm>
          <a:prstGeom prst="rect">
            <a:avLst/>
          </a:prstGeom>
          <a:noFill/>
          <a:ln>
            <a:noFill/>
          </a:ln>
        </p:spPr>
        <p:txBody>
          <a:bodyPr anchorCtr="0" anchor="t" bIns="0" lIns="212575" spcFirstLastPara="1" rIns="0" wrap="square" tIns="0">
            <a:noAutofit/>
          </a:bodyPr>
          <a:lstStyle/>
          <a:p>
            <a:pPr indent="0" lvl="0" marL="0" marR="0" rtl="0" algn="l">
              <a:lnSpc>
                <a:spcPct val="159235"/>
              </a:lnSpc>
              <a:spcBef>
                <a:spcPts val="0"/>
              </a:spcBef>
              <a:spcAft>
                <a:spcPts val="0"/>
              </a:spcAft>
              <a:buClr>
                <a:srgbClr val="FFFFFF"/>
              </a:buClr>
              <a:buSzPts val="885"/>
              <a:buFont typeface="Inter"/>
              <a:buNone/>
            </a:pPr>
            <a:r>
              <a:rPr b="1" i="0" lang="en-US" sz="885" u="none" cap="none" strike="noStrike">
                <a:solidFill>
                  <a:srgbClr val="FFFFFF"/>
                </a:solidFill>
                <a:latin typeface="Inter"/>
                <a:ea typeface="Inter"/>
                <a:cs typeface="Inter"/>
                <a:sym typeface="Inter"/>
              </a:rPr>
              <a:t>Symmetric Encryption:</a:t>
            </a:r>
            <a:r>
              <a:rPr b="0" i="0" lang="en-US" sz="942" u="none" cap="none" strike="noStrike">
                <a:solidFill>
                  <a:srgbClr val="E0E0E0"/>
                </a:solidFill>
                <a:latin typeface="Inter"/>
                <a:ea typeface="Inter"/>
                <a:cs typeface="Inter"/>
                <a:sym typeface="Inter"/>
              </a:rPr>
              <a:t> AES-256-GCM remains quantum-resistant against Grover's algorithm (128-bit effective strength).</a:t>
            </a:r>
            <a:endParaRPr b="0" i="0" sz="885" u="none" cap="none" strike="noStrike">
              <a:solidFill>
                <a:schemeClr val="dk1"/>
              </a:solidFill>
              <a:latin typeface="Calibri"/>
              <a:ea typeface="Calibri"/>
              <a:cs typeface="Calibri"/>
              <a:sym typeface="Calibri"/>
            </a:endParaRPr>
          </a:p>
        </p:txBody>
      </p:sp>
      <p:sp>
        <p:nvSpPr>
          <p:cNvPr id="95" name="Google Shape;95;p5"/>
          <p:cNvSpPr/>
          <p:nvPr/>
        </p:nvSpPr>
        <p:spPr>
          <a:xfrm>
            <a:off x="4857750" y="2173486"/>
            <a:ext cx="3750469" cy="578644"/>
          </a:xfrm>
          <a:prstGeom prst="rect">
            <a:avLst/>
          </a:prstGeom>
          <a:noFill/>
          <a:ln>
            <a:noFill/>
          </a:ln>
        </p:spPr>
        <p:txBody>
          <a:bodyPr anchorCtr="0" anchor="t" bIns="0" lIns="212575" spcFirstLastPara="1" rIns="0" wrap="square" tIns="0">
            <a:noAutofit/>
          </a:bodyPr>
          <a:lstStyle/>
          <a:p>
            <a:pPr indent="0" lvl="0" marL="0" marR="0" rtl="0" algn="l">
              <a:lnSpc>
                <a:spcPct val="159235"/>
              </a:lnSpc>
              <a:spcBef>
                <a:spcPts val="0"/>
              </a:spcBef>
              <a:spcAft>
                <a:spcPts val="0"/>
              </a:spcAft>
              <a:buClr>
                <a:srgbClr val="FFFFFF"/>
              </a:buClr>
              <a:buSzPts val="885"/>
              <a:buFont typeface="Inter"/>
              <a:buNone/>
            </a:pPr>
            <a:r>
              <a:rPr b="1" i="0" lang="en-US" sz="885" u="none" cap="none" strike="noStrike">
                <a:solidFill>
                  <a:srgbClr val="FFFFFF"/>
                </a:solidFill>
                <a:latin typeface="Inter"/>
                <a:ea typeface="Inter"/>
                <a:cs typeface="Inter"/>
                <a:sym typeface="Inter"/>
              </a:rPr>
              <a:t>Asymmetric Migration:</a:t>
            </a:r>
            <a:r>
              <a:rPr b="0" i="0" lang="en-US" sz="942" u="none" cap="none" strike="noStrike">
                <a:solidFill>
                  <a:srgbClr val="E0E0E0"/>
                </a:solidFill>
                <a:latin typeface="Inter"/>
                <a:ea typeface="Inter"/>
                <a:cs typeface="Inter"/>
                <a:sym typeface="Inter"/>
              </a:rPr>
              <a:t> Certificate management subsystem is prepared for FIPS 204 (ML-DSA) and FIPS 205 (SLH-DSA).</a:t>
            </a:r>
            <a:endParaRPr b="0" i="0" sz="885" u="none" cap="none" strike="noStrike">
              <a:solidFill>
                <a:schemeClr val="dk1"/>
              </a:solidFill>
              <a:latin typeface="Calibri"/>
              <a:ea typeface="Calibri"/>
              <a:cs typeface="Calibri"/>
              <a:sym typeface="Calibri"/>
            </a:endParaRPr>
          </a:p>
        </p:txBody>
      </p:sp>
      <p:sp>
        <p:nvSpPr>
          <p:cNvPr id="96" name="Google Shape;96;p5"/>
          <p:cNvSpPr/>
          <p:nvPr/>
        </p:nvSpPr>
        <p:spPr>
          <a:xfrm>
            <a:off x="4857750" y="2859286"/>
            <a:ext cx="3750469" cy="385763"/>
          </a:xfrm>
          <a:prstGeom prst="rect">
            <a:avLst/>
          </a:prstGeom>
          <a:noFill/>
          <a:ln>
            <a:noFill/>
          </a:ln>
        </p:spPr>
        <p:txBody>
          <a:bodyPr anchorCtr="0" anchor="t" bIns="0" lIns="212575" spcFirstLastPara="1" rIns="0" wrap="square" tIns="0">
            <a:noAutofit/>
          </a:bodyPr>
          <a:lstStyle/>
          <a:p>
            <a:pPr indent="0" lvl="0" marL="0" marR="0" rtl="0" algn="l">
              <a:lnSpc>
                <a:spcPct val="159235"/>
              </a:lnSpc>
              <a:spcBef>
                <a:spcPts val="0"/>
              </a:spcBef>
              <a:spcAft>
                <a:spcPts val="0"/>
              </a:spcAft>
              <a:buClr>
                <a:srgbClr val="FFFFFF"/>
              </a:buClr>
              <a:buSzPts val="885"/>
              <a:buFont typeface="Inter"/>
              <a:buNone/>
            </a:pPr>
            <a:r>
              <a:rPr b="1" i="0" lang="en-US" sz="885" u="none" cap="none" strike="noStrike">
                <a:solidFill>
                  <a:srgbClr val="FFFFFF"/>
                </a:solidFill>
                <a:latin typeface="Inter"/>
                <a:ea typeface="Inter"/>
                <a:cs typeface="Inter"/>
                <a:sym typeface="Inter"/>
              </a:rPr>
              <a:t>Exposure Limitation:</a:t>
            </a:r>
            <a:r>
              <a:rPr b="0" i="0" lang="en-US" sz="942" u="none" cap="none" strike="noStrike">
                <a:solidFill>
                  <a:srgbClr val="E0E0E0"/>
                </a:solidFill>
                <a:latin typeface="Inter"/>
                <a:ea typeface="Inter"/>
                <a:cs typeface="Inter"/>
                <a:sym typeface="Inter"/>
              </a:rPr>
              <a:t> 30-day mTLS certificate validity strictly limits the exposure window for asymmetric keys.</a:t>
            </a:r>
            <a:endParaRPr b="0" i="0" sz="885" u="none" cap="none" strike="noStrike">
              <a:solidFill>
                <a:schemeClr val="dk1"/>
              </a:solidFill>
              <a:latin typeface="Calibri"/>
              <a:ea typeface="Calibri"/>
              <a:cs typeface="Calibri"/>
              <a:sym typeface="Calibri"/>
            </a:endParaRPr>
          </a:p>
        </p:txBody>
      </p:sp>
      <p:sp>
        <p:nvSpPr>
          <p:cNvPr id="97" name="Google Shape;97;p5"/>
          <p:cNvSpPr/>
          <p:nvPr/>
        </p:nvSpPr>
        <p:spPr>
          <a:xfrm>
            <a:off x="4857750" y="1487686"/>
            <a:ext cx="64294" cy="192881"/>
          </a:xfrm>
          <a:prstGeom prst="rect">
            <a:avLst/>
          </a:prstGeom>
          <a:noFill/>
          <a:ln>
            <a:noFill/>
          </a:ln>
        </p:spPr>
        <p:txBody>
          <a:bodyPr anchorCtr="0" anchor="t" bIns="0" lIns="0" spcFirstLastPara="1" rIns="0" wrap="square" tIns="0">
            <a:noAutofit/>
          </a:bodyPr>
          <a:lstStyle/>
          <a:p>
            <a:pPr indent="0" lvl="0" marL="0" marR="0" rtl="0" algn="l">
              <a:lnSpc>
                <a:spcPct val="169491"/>
              </a:lnSpc>
              <a:spcBef>
                <a:spcPts val="0"/>
              </a:spcBef>
              <a:spcAft>
                <a:spcPts val="0"/>
              </a:spcAft>
              <a:buClr>
                <a:srgbClr val="00E5FF"/>
              </a:buClr>
              <a:buSzPts val="885"/>
              <a:buFont typeface="Inter"/>
              <a:buNone/>
            </a:pPr>
            <a:r>
              <a:rPr b="1" i="0" lang="en-US" sz="885" u="none" cap="none" strike="noStrike">
                <a:solidFill>
                  <a:srgbClr val="00E5FF"/>
                </a:solidFill>
                <a:latin typeface="Inter"/>
                <a:ea typeface="Inter"/>
                <a:cs typeface="Inter"/>
                <a:sym typeface="Inter"/>
              </a:rPr>
              <a:t>▹</a:t>
            </a:r>
            <a:endParaRPr b="0" i="0" sz="885" u="none" cap="none" strike="noStrike">
              <a:solidFill>
                <a:schemeClr val="dk1"/>
              </a:solidFill>
              <a:latin typeface="Calibri"/>
              <a:ea typeface="Calibri"/>
              <a:cs typeface="Calibri"/>
              <a:sym typeface="Calibri"/>
            </a:endParaRPr>
          </a:p>
        </p:txBody>
      </p:sp>
      <p:sp>
        <p:nvSpPr>
          <p:cNvPr id="98" name="Google Shape;98;p5"/>
          <p:cNvSpPr/>
          <p:nvPr/>
        </p:nvSpPr>
        <p:spPr>
          <a:xfrm>
            <a:off x="4857750" y="2173486"/>
            <a:ext cx="64294" cy="192881"/>
          </a:xfrm>
          <a:prstGeom prst="rect">
            <a:avLst/>
          </a:prstGeom>
          <a:noFill/>
          <a:ln>
            <a:noFill/>
          </a:ln>
        </p:spPr>
        <p:txBody>
          <a:bodyPr anchorCtr="0" anchor="t" bIns="0" lIns="0" spcFirstLastPara="1" rIns="0" wrap="square" tIns="0">
            <a:noAutofit/>
          </a:bodyPr>
          <a:lstStyle/>
          <a:p>
            <a:pPr indent="0" lvl="0" marL="0" marR="0" rtl="0" algn="l">
              <a:lnSpc>
                <a:spcPct val="169491"/>
              </a:lnSpc>
              <a:spcBef>
                <a:spcPts val="0"/>
              </a:spcBef>
              <a:spcAft>
                <a:spcPts val="0"/>
              </a:spcAft>
              <a:buClr>
                <a:srgbClr val="00E5FF"/>
              </a:buClr>
              <a:buSzPts val="885"/>
              <a:buFont typeface="Inter"/>
              <a:buNone/>
            </a:pPr>
            <a:r>
              <a:rPr b="1" i="0" lang="en-US" sz="885" u="none" cap="none" strike="noStrike">
                <a:solidFill>
                  <a:srgbClr val="00E5FF"/>
                </a:solidFill>
                <a:latin typeface="Inter"/>
                <a:ea typeface="Inter"/>
                <a:cs typeface="Inter"/>
                <a:sym typeface="Inter"/>
              </a:rPr>
              <a:t>▹</a:t>
            </a:r>
            <a:endParaRPr b="0" i="0" sz="885" u="none" cap="none" strike="noStrike">
              <a:solidFill>
                <a:schemeClr val="dk1"/>
              </a:solidFill>
              <a:latin typeface="Calibri"/>
              <a:ea typeface="Calibri"/>
              <a:cs typeface="Calibri"/>
              <a:sym typeface="Calibri"/>
            </a:endParaRPr>
          </a:p>
        </p:txBody>
      </p:sp>
      <p:sp>
        <p:nvSpPr>
          <p:cNvPr id="99" name="Google Shape;99;p5"/>
          <p:cNvSpPr/>
          <p:nvPr/>
        </p:nvSpPr>
        <p:spPr>
          <a:xfrm>
            <a:off x="4857750" y="2859286"/>
            <a:ext cx="64294" cy="192881"/>
          </a:xfrm>
          <a:prstGeom prst="rect">
            <a:avLst/>
          </a:prstGeom>
          <a:noFill/>
          <a:ln>
            <a:noFill/>
          </a:ln>
        </p:spPr>
        <p:txBody>
          <a:bodyPr anchorCtr="0" anchor="t" bIns="0" lIns="0" spcFirstLastPara="1" rIns="0" wrap="square" tIns="0">
            <a:noAutofit/>
          </a:bodyPr>
          <a:lstStyle/>
          <a:p>
            <a:pPr indent="0" lvl="0" marL="0" marR="0" rtl="0" algn="l">
              <a:lnSpc>
                <a:spcPct val="169491"/>
              </a:lnSpc>
              <a:spcBef>
                <a:spcPts val="0"/>
              </a:spcBef>
              <a:spcAft>
                <a:spcPts val="0"/>
              </a:spcAft>
              <a:buClr>
                <a:srgbClr val="00E5FF"/>
              </a:buClr>
              <a:buSzPts val="885"/>
              <a:buFont typeface="Inter"/>
              <a:buNone/>
            </a:pPr>
            <a:r>
              <a:rPr b="1" i="0" lang="en-US" sz="885" u="none" cap="none" strike="noStrike">
                <a:solidFill>
                  <a:srgbClr val="00E5FF"/>
                </a:solidFill>
                <a:latin typeface="Inter"/>
                <a:ea typeface="Inter"/>
                <a:cs typeface="Inter"/>
                <a:sym typeface="Inter"/>
              </a:rPr>
              <a:t>▹</a:t>
            </a:r>
            <a:endParaRPr b="0" i="0" sz="885" u="none" cap="none" strike="noStrike">
              <a:solidFill>
                <a:schemeClr val="dk1"/>
              </a:solidFill>
              <a:latin typeface="Calibri"/>
              <a:ea typeface="Calibri"/>
              <a:cs typeface="Calibri"/>
              <a:sym typeface="Calibri"/>
            </a:endParaRPr>
          </a:p>
        </p:txBody>
      </p:sp>
      <p:sp>
        <p:nvSpPr>
          <p:cNvPr id="100" name="Google Shape;100;p5"/>
          <p:cNvSpPr/>
          <p:nvPr/>
        </p:nvSpPr>
        <p:spPr>
          <a:xfrm>
            <a:off x="357188" y="4888111"/>
            <a:ext cx="1346597" cy="112514"/>
          </a:xfrm>
          <a:prstGeom prst="rect">
            <a:avLst/>
          </a:prstGeom>
          <a:noFill/>
          <a:ln>
            <a:noFill/>
          </a:ln>
        </p:spPr>
        <p:txBody>
          <a:bodyPr anchorCtr="0" anchor="t" bIns="0" lIns="0" spcFirstLastPara="1" rIns="0" wrap="square" tIns="0">
            <a:noAutofit/>
          </a:bodyPr>
          <a:lstStyle/>
          <a:p>
            <a:pPr indent="0" lvl="0" marL="0" marR="0" rtl="0" algn="l">
              <a:lnSpc>
                <a:spcPct val="128824"/>
              </a:lnSpc>
              <a:spcBef>
                <a:spcPts val="0"/>
              </a:spcBef>
              <a:spcAft>
                <a:spcPts val="0"/>
              </a:spcAft>
              <a:buClr>
                <a:srgbClr val="546E7A"/>
              </a:buClr>
              <a:buSzPts val="621"/>
              <a:buFont typeface="Roboto Mono"/>
              <a:buNone/>
            </a:pPr>
            <a:r>
              <a:rPr b="0" i="0" lang="en-US" sz="621" u="none" cap="none" strike="noStrike">
                <a:solidFill>
                  <a:srgbClr val="546E7A"/>
                </a:solidFill>
                <a:latin typeface="Roboto Mono"/>
                <a:ea typeface="Roboto Mono"/>
                <a:cs typeface="Roboto Mono"/>
                <a:sym typeface="Roboto Mono"/>
              </a:rPr>
              <a:t>CONFIDENTIAL &amp; PROPRIETARY</a:t>
            </a:r>
            <a:endParaRPr b="0" i="0" sz="621" u="none" cap="none" strike="noStrike">
              <a:solidFill>
                <a:schemeClr val="dk1"/>
              </a:solidFill>
              <a:latin typeface="Calibri"/>
              <a:ea typeface="Calibri"/>
              <a:cs typeface="Calibri"/>
              <a:sym typeface="Calibri"/>
            </a:endParaRPr>
          </a:p>
        </p:txBody>
      </p:sp>
      <p:sp>
        <p:nvSpPr>
          <p:cNvPr id="101" name="Google Shape;101;p5"/>
          <p:cNvSpPr/>
          <p:nvPr/>
        </p:nvSpPr>
        <p:spPr>
          <a:xfrm>
            <a:off x="7699177" y="4888111"/>
            <a:ext cx="1087636" cy="112514"/>
          </a:xfrm>
          <a:prstGeom prst="rect">
            <a:avLst/>
          </a:prstGeom>
          <a:noFill/>
          <a:ln>
            <a:noFill/>
          </a:ln>
        </p:spPr>
        <p:txBody>
          <a:bodyPr anchorCtr="0" anchor="t" bIns="0" lIns="0" spcFirstLastPara="1" rIns="0" wrap="square" tIns="0">
            <a:noAutofit/>
          </a:bodyPr>
          <a:lstStyle/>
          <a:p>
            <a:pPr indent="0" lvl="0" marL="0" marR="0" rtl="0" algn="l">
              <a:lnSpc>
                <a:spcPct val="128824"/>
              </a:lnSpc>
              <a:spcBef>
                <a:spcPts val="0"/>
              </a:spcBef>
              <a:spcAft>
                <a:spcPts val="0"/>
              </a:spcAft>
              <a:buClr>
                <a:srgbClr val="546E7A"/>
              </a:buClr>
              <a:buSzPts val="621"/>
              <a:buFont typeface="Roboto Mono"/>
              <a:buNone/>
            </a:pPr>
            <a:r>
              <a:rPr b="0" i="0" lang="en-US" sz="621" u="none" cap="none" strike="noStrike">
                <a:solidFill>
                  <a:srgbClr val="546E7A"/>
                </a:solidFill>
                <a:latin typeface="Roboto Mono"/>
                <a:ea typeface="Roboto Mono"/>
                <a:cs typeface="Roboto Mono"/>
                <a:sym typeface="Roboto Mono"/>
              </a:rPr>
              <a:t>AUTHOR: KISHORE MOOLI</a:t>
            </a:r>
            <a:endParaRPr b="0" i="0" sz="621"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pic>
        <p:nvPicPr>
          <p:cNvPr descr="preencoded.png" id="107" name="Google Shape;107;p6"/>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08" name="Google Shape;108;p6"/>
          <p:cNvSpPr/>
          <p:nvPr/>
        </p:nvSpPr>
        <p:spPr>
          <a:xfrm>
            <a:off x="357188" y="214313"/>
            <a:ext cx="8429625" cy="258961"/>
          </a:xfrm>
          <a:prstGeom prst="rect">
            <a:avLst/>
          </a:prstGeom>
          <a:noFill/>
          <a:ln>
            <a:noFill/>
          </a:ln>
        </p:spPr>
        <p:txBody>
          <a:bodyPr anchorCtr="0" anchor="t" bIns="0" lIns="0" spcFirstLastPara="1" rIns="0" wrap="square" tIns="0">
            <a:noAutofit/>
          </a:bodyPr>
          <a:lstStyle/>
          <a:p>
            <a:pPr indent="0" lvl="0" marL="0" marR="0" rtl="0" algn="l">
              <a:lnSpc>
                <a:spcPct val="133422"/>
              </a:lnSpc>
              <a:spcBef>
                <a:spcPts val="0"/>
              </a:spcBef>
              <a:spcAft>
                <a:spcPts val="0"/>
              </a:spcAft>
              <a:buClr>
                <a:srgbClr val="FFFFFF"/>
              </a:buClr>
              <a:buSzPts val="1499"/>
              <a:buFont typeface="Inter"/>
              <a:buNone/>
            </a:pPr>
            <a:r>
              <a:rPr b="1" i="0" lang="en-US" sz="1499" u="none" cap="none" strike="noStrike">
                <a:solidFill>
                  <a:srgbClr val="FFFFFF"/>
                </a:solidFill>
                <a:latin typeface="Inter"/>
                <a:ea typeface="Inter"/>
                <a:cs typeface="Inter"/>
                <a:sym typeface="Inter"/>
              </a:rPr>
              <a:t>Digital Signing &amp; Non-Repudiation</a:t>
            </a:r>
            <a:endParaRPr b="0" i="0" sz="1499" u="none" cap="none" strike="noStrike">
              <a:solidFill>
                <a:schemeClr val="dk1"/>
              </a:solidFill>
              <a:latin typeface="Calibri"/>
              <a:ea typeface="Calibri"/>
              <a:cs typeface="Calibri"/>
              <a:sym typeface="Calibri"/>
            </a:endParaRPr>
          </a:p>
        </p:txBody>
      </p:sp>
      <p:sp>
        <p:nvSpPr>
          <p:cNvPr id="109" name="Google Shape;109;p6"/>
          <p:cNvSpPr/>
          <p:nvPr/>
        </p:nvSpPr>
        <p:spPr>
          <a:xfrm>
            <a:off x="357188" y="501848"/>
            <a:ext cx="8429625" cy="121444"/>
          </a:xfrm>
          <a:prstGeom prst="rect">
            <a:avLst/>
          </a:prstGeom>
          <a:noFill/>
          <a:ln>
            <a:noFill/>
          </a:ln>
        </p:spPr>
        <p:txBody>
          <a:bodyPr anchorCtr="0" anchor="t" bIns="0" lIns="0" spcFirstLastPara="1" rIns="0" wrap="square" tIns="0">
            <a:noAutofit/>
          </a:bodyPr>
          <a:lstStyle/>
          <a:p>
            <a:pPr indent="0" lvl="0" marL="0" marR="0" rtl="0" algn="l">
              <a:lnSpc>
                <a:spcPct val="133531"/>
              </a:lnSpc>
              <a:spcBef>
                <a:spcPts val="0"/>
              </a:spcBef>
              <a:spcAft>
                <a:spcPts val="0"/>
              </a:spcAft>
              <a:buClr>
                <a:srgbClr val="546E7A"/>
              </a:buClr>
              <a:buSzPts val="674"/>
              <a:buFont typeface="Roboto Mono"/>
              <a:buNone/>
            </a:pPr>
            <a:r>
              <a:rPr b="0" i="0" lang="en-US" sz="674" u="none" cap="none" strike="noStrike">
                <a:solidFill>
                  <a:srgbClr val="546E7A"/>
                </a:solidFill>
                <a:latin typeface="Roboto Mono"/>
                <a:ea typeface="Roboto Mono"/>
                <a:cs typeface="Roboto Mono"/>
                <a:sym typeface="Roboto Mono"/>
              </a:rPr>
              <a:t>OpAMP Secrets Management Platform</a:t>
            </a:r>
            <a:endParaRPr b="0" i="0" sz="674" u="none" cap="none" strike="noStrike">
              <a:solidFill>
                <a:schemeClr val="dk1"/>
              </a:solidFill>
              <a:latin typeface="Calibri"/>
              <a:ea typeface="Calibri"/>
              <a:cs typeface="Calibri"/>
              <a:sym typeface="Calibri"/>
            </a:endParaRPr>
          </a:p>
        </p:txBody>
      </p:sp>
      <p:sp>
        <p:nvSpPr>
          <p:cNvPr id="110" name="Google Shape;110;p6"/>
          <p:cNvSpPr/>
          <p:nvPr/>
        </p:nvSpPr>
        <p:spPr>
          <a:xfrm>
            <a:off x="357188" y="880467"/>
            <a:ext cx="4107656" cy="3000375"/>
          </a:xfrm>
          <a:prstGeom prst="rect">
            <a:avLst/>
          </a:prstGeom>
          <a:solidFill>
            <a:srgbClr val="FFFFFF">
              <a:alpha val="3137"/>
            </a:srgbClr>
          </a:solidFill>
          <a:ln cap="flat" cmpd="sng" w="9525">
            <a:solidFill>
              <a:srgbClr val="FFFFFF">
                <a:alpha val="1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6"/>
          <p:cNvSpPr/>
          <p:nvPr/>
        </p:nvSpPr>
        <p:spPr>
          <a:xfrm>
            <a:off x="535781" y="1059061"/>
            <a:ext cx="3750469" cy="285750"/>
          </a:xfrm>
          <a:prstGeom prst="rect">
            <a:avLst/>
          </a:prstGeom>
          <a:noFill/>
          <a:ln>
            <a:noFill/>
          </a:ln>
        </p:spPr>
        <p:txBody>
          <a:bodyPr anchorCtr="0" anchor="t" bIns="85075" lIns="0" spcFirstLastPara="1" rIns="0" wrap="square" tIns="0">
            <a:noAutofit/>
          </a:bodyPr>
          <a:lstStyle/>
          <a:p>
            <a:pPr indent="0" lvl="0" marL="0" marR="0" rtl="0" algn="l">
              <a:lnSpc>
                <a:spcPct val="134115"/>
              </a:lnSpc>
              <a:spcBef>
                <a:spcPts val="0"/>
              </a:spcBef>
              <a:spcAft>
                <a:spcPts val="0"/>
              </a:spcAft>
              <a:buClr>
                <a:srgbClr val="00E5FF"/>
              </a:buClr>
              <a:buSzPts val="1193"/>
              <a:buFont typeface="Inter"/>
              <a:buNone/>
            </a:pPr>
            <a:r>
              <a:rPr b="1" i="0" lang="en-US" sz="1193" u="none" cap="none" strike="noStrike">
                <a:solidFill>
                  <a:srgbClr val="00E5FF"/>
                </a:solidFill>
                <a:latin typeface="Inter"/>
                <a:ea typeface="Inter"/>
                <a:cs typeface="Inter"/>
                <a:sym typeface="Inter"/>
              </a:rPr>
              <a:t>HSM-Delegated Signing</a:t>
            </a:r>
            <a:endParaRPr b="0" i="0" sz="1193" u="none" cap="none" strike="noStrike">
              <a:solidFill>
                <a:schemeClr val="dk1"/>
              </a:solidFill>
              <a:latin typeface="Calibri"/>
              <a:ea typeface="Calibri"/>
              <a:cs typeface="Calibri"/>
              <a:sym typeface="Calibri"/>
            </a:endParaRPr>
          </a:p>
        </p:txBody>
      </p:sp>
      <p:sp>
        <p:nvSpPr>
          <p:cNvPr id="112" name="Google Shape;112;p6"/>
          <p:cNvSpPr/>
          <p:nvPr/>
        </p:nvSpPr>
        <p:spPr>
          <a:xfrm>
            <a:off x="535781" y="1487686"/>
            <a:ext cx="3750469" cy="385763"/>
          </a:xfrm>
          <a:prstGeom prst="rect">
            <a:avLst/>
          </a:prstGeom>
          <a:noFill/>
          <a:ln>
            <a:noFill/>
          </a:ln>
        </p:spPr>
        <p:txBody>
          <a:bodyPr anchorCtr="0" anchor="t" bIns="0" lIns="0" spcFirstLastPara="1" rIns="0" wrap="square" tIns="0">
            <a:noAutofit/>
          </a:bodyPr>
          <a:lstStyle/>
          <a:p>
            <a:pPr indent="0" lvl="0" marL="0" marR="0" rtl="0" algn="l">
              <a:lnSpc>
                <a:spcPct val="159235"/>
              </a:lnSpc>
              <a:spcBef>
                <a:spcPts val="0"/>
              </a:spcBef>
              <a:spcAft>
                <a:spcPts val="0"/>
              </a:spcAft>
              <a:buClr>
                <a:srgbClr val="B0BEC5"/>
              </a:buClr>
              <a:buSzPts val="942"/>
              <a:buFont typeface="Inter"/>
              <a:buNone/>
            </a:pPr>
            <a:r>
              <a:rPr b="0" i="0" lang="en-US" sz="942" u="none" cap="none" strike="noStrike">
                <a:solidFill>
                  <a:srgbClr val="B0BEC5"/>
                </a:solidFill>
                <a:latin typeface="Inter"/>
                <a:ea typeface="Inter"/>
                <a:cs typeface="Inter"/>
                <a:sym typeface="Inter"/>
              </a:rPr>
              <a:t>The EES SDK provides robust signing capabilities while keeping private keys secure:</a:t>
            </a:r>
            <a:endParaRPr b="0" i="0" sz="942" u="none" cap="none" strike="noStrike">
              <a:solidFill>
                <a:schemeClr val="dk1"/>
              </a:solidFill>
              <a:latin typeface="Calibri"/>
              <a:ea typeface="Calibri"/>
              <a:cs typeface="Calibri"/>
              <a:sym typeface="Calibri"/>
            </a:endParaRPr>
          </a:p>
        </p:txBody>
      </p:sp>
      <p:sp>
        <p:nvSpPr>
          <p:cNvPr id="113" name="Google Shape;113;p6"/>
          <p:cNvSpPr/>
          <p:nvPr/>
        </p:nvSpPr>
        <p:spPr>
          <a:xfrm>
            <a:off x="535781" y="2016323"/>
            <a:ext cx="3750469" cy="578644"/>
          </a:xfrm>
          <a:prstGeom prst="rect">
            <a:avLst/>
          </a:prstGeom>
          <a:noFill/>
          <a:ln>
            <a:noFill/>
          </a:ln>
        </p:spPr>
        <p:txBody>
          <a:bodyPr anchorCtr="0" anchor="t" bIns="0" lIns="212575" spcFirstLastPara="1" rIns="0" wrap="square" tIns="0">
            <a:noAutofit/>
          </a:bodyPr>
          <a:lstStyle/>
          <a:p>
            <a:pPr indent="0" lvl="0" marL="0" marR="0" rtl="0" algn="l">
              <a:lnSpc>
                <a:spcPct val="159235"/>
              </a:lnSpc>
              <a:spcBef>
                <a:spcPts val="0"/>
              </a:spcBef>
              <a:spcAft>
                <a:spcPts val="0"/>
              </a:spcAft>
              <a:buClr>
                <a:srgbClr val="FFFFFF"/>
              </a:buClr>
              <a:buSzPts val="885"/>
              <a:buFont typeface="Inter"/>
              <a:buNone/>
            </a:pPr>
            <a:r>
              <a:rPr b="1" i="0" lang="en-US" sz="885" u="none" cap="none" strike="noStrike">
                <a:solidFill>
                  <a:srgbClr val="FFFFFF"/>
                </a:solidFill>
                <a:latin typeface="Inter"/>
                <a:ea typeface="Inter"/>
                <a:cs typeface="Inter"/>
                <a:sym typeface="Inter"/>
              </a:rPr>
              <a:t>Zero Private Key Exposure:</a:t>
            </a:r>
            <a:r>
              <a:rPr b="0" i="0" lang="en-US" sz="942" u="none" cap="none" strike="noStrike">
                <a:solidFill>
                  <a:srgbClr val="E0E0E0"/>
                </a:solidFill>
                <a:latin typeface="Inter"/>
                <a:ea typeface="Inter"/>
                <a:cs typeface="Inter"/>
                <a:sym typeface="Inter"/>
              </a:rPr>
              <a:t> The SDK delegates signing operations to the platform; private keys never leave the HSM.</a:t>
            </a:r>
            <a:endParaRPr b="0" i="0" sz="885" u="none" cap="none" strike="noStrike">
              <a:solidFill>
                <a:schemeClr val="dk1"/>
              </a:solidFill>
              <a:latin typeface="Calibri"/>
              <a:ea typeface="Calibri"/>
              <a:cs typeface="Calibri"/>
              <a:sym typeface="Calibri"/>
            </a:endParaRPr>
          </a:p>
        </p:txBody>
      </p:sp>
      <p:sp>
        <p:nvSpPr>
          <p:cNvPr id="114" name="Google Shape;114;p6"/>
          <p:cNvSpPr/>
          <p:nvPr/>
        </p:nvSpPr>
        <p:spPr>
          <a:xfrm>
            <a:off x="535781" y="2702123"/>
            <a:ext cx="3750469" cy="385763"/>
          </a:xfrm>
          <a:prstGeom prst="rect">
            <a:avLst/>
          </a:prstGeom>
          <a:noFill/>
          <a:ln>
            <a:noFill/>
          </a:ln>
        </p:spPr>
        <p:txBody>
          <a:bodyPr anchorCtr="0" anchor="t" bIns="0" lIns="212575" spcFirstLastPara="1" rIns="0" wrap="square" tIns="0">
            <a:noAutofit/>
          </a:bodyPr>
          <a:lstStyle/>
          <a:p>
            <a:pPr indent="0" lvl="0" marL="0" marR="0" rtl="0" algn="l">
              <a:lnSpc>
                <a:spcPct val="159235"/>
              </a:lnSpc>
              <a:spcBef>
                <a:spcPts val="0"/>
              </a:spcBef>
              <a:spcAft>
                <a:spcPts val="0"/>
              </a:spcAft>
              <a:buClr>
                <a:srgbClr val="FFFFFF"/>
              </a:buClr>
              <a:buSzPts val="885"/>
              <a:buFont typeface="Inter"/>
              <a:buNone/>
            </a:pPr>
            <a:r>
              <a:rPr b="1" i="0" lang="en-US" sz="885" u="none" cap="none" strike="noStrike">
                <a:solidFill>
                  <a:srgbClr val="FFFFFF"/>
                </a:solidFill>
                <a:latin typeface="Inter"/>
                <a:ea typeface="Inter"/>
                <a:cs typeface="Inter"/>
                <a:sym typeface="Inter"/>
              </a:rPr>
              <a:t>Local Verification:</a:t>
            </a:r>
            <a:r>
              <a:rPr b="0" i="0" lang="en-US" sz="942" u="none" cap="none" strike="noStrike">
                <a:solidFill>
                  <a:srgbClr val="E0E0E0"/>
                </a:solidFill>
                <a:latin typeface="Inter"/>
                <a:ea typeface="Inter"/>
                <a:cs typeface="Inter"/>
                <a:sym typeface="Inter"/>
              </a:rPr>
              <a:t> The SDK caches public keys to perform high-throughput local signature verification.</a:t>
            </a:r>
            <a:endParaRPr b="0" i="0" sz="885" u="none" cap="none" strike="noStrike">
              <a:solidFill>
                <a:schemeClr val="dk1"/>
              </a:solidFill>
              <a:latin typeface="Calibri"/>
              <a:ea typeface="Calibri"/>
              <a:cs typeface="Calibri"/>
              <a:sym typeface="Calibri"/>
            </a:endParaRPr>
          </a:p>
        </p:txBody>
      </p:sp>
      <p:sp>
        <p:nvSpPr>
          <p:cNvPr id="115" name="Google Shape;115;p6"/>
          <p:cNvSpPr/>
          <p:nvPr/>
        </p:nvSpPr>
        <p:spPr>
          <a:xfrm>
            <a:off x="535781" y="3195042"/>
            <a:ext cx="3750469" cy="385763"/>
          </a:xfrm>
          <a:prstGeom prst="rect">
            <a:avLst/>
          </a:prstGeom>
          <a:noFill/>
          <a:ln>
            <a:noFill/>
          </a:ln>
        </p:spPr>
        <p:txBody>
          <a:bodyPr anchorCtr="0" anchor="t" bIns="0" lIns="212575" spcFirstLastPara="1" rIns="0" wrap="square" tIns="0">
            <a:noAutofit/>
          </a:bodyPr>
          <a:lstStyle/>
          <a:p>
            <a:pPr indent="0" lvl="0" marL="0" marR="0" rtl="0" algn="l">
              <a:lnSpc>
                <a:spcPct val="159235"/>
              </a:lnSpc>
              <a:spcBef>
                <a:spcPts val="0"/>
              </a:spcBef>
              <a:spcAft>
                <a:spcPts val="0"/>
              </a:spcAft>
              <a:buClr>
                <a:srgbClr val="FFFFFF"/>
              </a:buClr>
              <a:buSzPts val="885"/>
              <a:buFont typeface="Inter"/>
              <a:buNone/>
            </a:pPr>
            <a:r>
              <a:rPr b="1" i="0" lang="en-US" sz="885" u="none" cap="none" strike="noStrike">
                <a:solidFill>
                  <a:srgbClr val="FFFFFF"/>
                </a:solidFill>
                <a:latin typeface="Inter"/>
                <a:ea typeface="Inter"/>
                <a:cs typeface="Inter"/>
                <a:sym typeface="Inter"/>
              </a:rPr>
              <a:t>Standard Formats:</a:t>
            </a:r>
            <a:r>
              <a:rPr b="0" i="0" lang="en-US" sz="942" u="none" cap="none" strike="noStrike">
                <a:solidFill>
                  <a:srgbClr val="E0E0E0"/>
                </a:solidFill>
                <a:latin typeface="Inter"/>
                <a:ea typeface="Inter"/>
                <a:cs typeface="Inter"/>
                <a:sym typeface="Inter"/>
              </a:rPr>
              <a:t> Native support for JWS (JSON Web Signature) and CMS formats.</a:t>
            </a:r>
            <a:endParaRPr b="0" i="0" sz="885" u="none" cap="none" strike="noStrike">
              <a:solidFill>
                <a:schemeClr val="dk1"/>
              </a:solidFill>
              <a:latin typeface="Calibri"/>
              <a:ea typeface="Calibri"/>
              <a:cs typeface="Calibri"/>
              <a:sym typeface="Calibri"/>
            </a:endParaRPr>
          </a:p>
        </p:txBody>
      </p:sp>
      <p:sp>
        <p:nvSpPr>
          <p:cNvPr id="116" name="Google Shape;116;p6"/>
          <p:cNvSpPr/>
          <p:nvPr/>
        </p:nvSpPr>
        <p:spPr>
          <a:xfrm>
            <a:off x="4679156" y="880467"/>
            <a:ext cx="4107656" cy="2986088"/>
          </a:xfrm>
          <a:prstGeom prst="rect">
            <a:avLst/>
          </a:prstGeom>
          <a:solidFill>
            <a:srgbClr val="FFFFFF">
              <a:alpha val="3137"/>
            </a:srgbClr>
          </a:solidFill>
          <a:ln cap="flat" cmpd="sng" w="9525">
            <a:solidFill>
              <a:srgbClr val="FFFFFF">
                <a:alpha val="1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6"/>
          <p:cNvSpPr/>
          <p:nvPr/>
        </p:nvSpPr>
        <p:spPr>
          <a:xfrm>
            <a:off x="535781" y="2016323"/>
            <a:ext cx="64294" cy="192881"/>
          </a:xfrm>
          <a:prstGeom prst="rect">
            <a:avLst/>
          </a:prstGeom>
          <a:noFill/>
          <a:ln>
            <a:noFill/>
          </a:ln>
        </p:spPr>
        <p:txBody>
          <a:bodyPr anchorCtr="0" anchor="t" bIns="0" lIns="0" spcFirstLastPara="1" rIns="0" wrap="square" tIns="0">
            <a:noAutofit/>
          </a:bodyPr>
          <a:lstStyle/>
          <a:p>
            <a:pPr indent="0" lvl="0" marL="0" marR="0" rtl="0" algn="l">
              <a:lnSpc>
                <a:spcPct val="169491"/>
              </a:lnSpc>
              <a:spcBef>
                <a:spcPts val="0"/>
              </a:spcBef>
              <a:spcAft>
                <a:spcPts val="0"/>
              </a:spcAft>
              <a:buClr>
                <a:srgbClr val="00E5FF"/>
              </a:buClr>
              <a:buSzPts val="885"/>
              <a:buFont typeface="Inter"/>
              <a:buNone/>
            </a:pPr>
            <a:r>
              <a:rPr b="1" i="0" lang="en-US" sz="885" u="none" cap="none" strike="noStrike">
                <a:solidFill>
                  <a:srgbClr val="00E5FF"/>
                </a:solidFill>
                <a:latin typeface="Inter"/>
                <a:ea typeface="Inter"/>
                <a:cs typeface="Inter"/>
                <a:sym typeface="Inter"/>
              </a:rPr>
              <a:t>▹</a:t>
            </a:r>
            <a:endParaRPr b="0" i="0" sz="885" u="none" cap="none" strike="noStrike">
              <a:solidFill>
                <a:schemeClr val="dk1"/>
              </a:solidFill>
              <a:latin typeface="Calibri"/>
              <a:ea typeface="Calibri"/>
              <a:cs typeface="Calibri"/>
              <a:sym typeface="Calibri"/>
            </a:endParaRPr>
          </a:p>
        </p:txBody>
      </p:sp>
      <p:sp>
        <p:nvSpPr>
          <p:cNvPr id="118" name="Google Shape;118;p6"/>
          <p:cNvSpPr/>
          <p:nvPr/>
        </p:nvSpPr>
        <p:spPr>
          <a:xfrm>
            <a:off x="535781" y="2702123"/>
            <a:ext cx="64294" cy="192881"/>
          </a:xfrm>
          <a:prstGeom prst="rect">
            <a:avLst/>
          </a:prstGeom>
          <a:noFill/>
          <a:ln>
            <a:noFill/>
          </a:ln>
        </p:spPr>
        <p:txBody>
          <a:bodyPr anchorCtr="0" anchor="t" bIns="0" lIns="0" spcFirstLastPara="1" rIns="0" wrap="square" tIns="0">
            <a:noAutofit/>
          </a:bodyPr>
          <a:lstStyle/>
          <a:p>
            <a:pPr indent="0" lvl="0" marL="0" marR="0" rtl="0" algn="l">
              <a:lnSpc>
                <a:spcPct val="169491"/>
              </a:lnSpc>
              <a:spcBef>
                <a:spcPts val="0"/>
              </a:spcBef>
              <a:spcAft>
                <a:spcPts val="0"/>
              </a:spcAft>
              <a:buClr>
                <a:srgbClr val="00E5FF"/>
              </a:buClr>
              <a:buSzPts val="885"/>
              <a:buFont typeface="Inter"/>
              <a:buNone/>
            </a:pPr>
            <a:r>
              <a:rPr b="1" i="0" lang="en-US" sz="885" u="none" cap="none" strike="noStrike">
                <a:solidFill>
                  <a:srgbClr val="00E5FF"/>
                </a:solidFill>
                <a:latin typeface="Inter"/>
                <a:ea typeface="Inter"/>
                <a:cs typeface="Inter"/>
                <a:sym typeface="Inter"/>
              </a:rPr>
              <a:t>▹</a:t>
            </a:r>
            <a:endParaRPr b="0" i="0" sz="885" u="none" cap="none" strike="noStrike">
              <a:solidFill>
                <a:schemeClr val="dk1"/>
              </a:solidFill>
              <a:latin typeface="Calibri"/>
              <a:ea typeface="Calibri"/>
              <a:cs typeface="Calibri"/>
              <a:sym typeface="Calibri"/>
            </a:endParaRPr>
          </a:p>
        </p:txBody>
      </p:sp>
      <p:sp>
        <p:nvSpPr>
          <p:cNvPr id="119" name="Google Shape;119;p6"/>
          <p:cNvSpPr/>
          <p:nvPr/>
        </p:nvSpPr>
        <p:spPr>
          <a:xfrm>
            <a:off x="535781" y="3195042"/>
            <a:ext cx="64294" cy="192881"/>
          </a:xfrm>
          <a:prstGeom prst="rect">
            <a:avLst/>
          </a:prstGeom>
          <a:noFill/>
          <a:ln>
            <a:noFill/>
          </a:ln>
        </p:spPr>
        <p:txBody>
          <a:bodyPr anchorCtr="0" anchor="t" bIns="0" lIns="0" spcFirstLastPara="1" rIns="0" wrap="square" tIns="0">
            <a:noAutofit/>
          </a:bodyPr>
          <a:lstStyle/>
          <a:p>
            <a:pPr indent="0" lvl="0" marL="0" marR="0" rtl="0" algn="l">
              <a:lnSpc>
                <a:spcPct val="169491"/>
              </a:lnSpc>
              <a:spcBef>
                <a:spcPts val="0"/>
              </a:spcBef>
              <a:spcAft>
                <a:spcPts val="0"/>
              </a:spcAft>
              <a:buClr>
                <a:srgbClr val="00E5FF"/>
              </a:buClr>
              <a:buSzPts val="885"/>
              <a:buFont typeface="Inter"/>
              <a:buNone/>
            </a:pPr>
            <a:r>
              <a:rPr b="1" i="0" lang="en-US" sz="885" u="none" cap="none" strike="noStrike">
                <a:solidFill>
                  <a:srgbClr val="00E5FF"/>
                </a:solidFill>
                <a:latin typeface="Inter"/>
                <a:ea typeface="Inter"/>
                <a:cs typeface="Inter"/>
                <a:sym typeface="Inter"/>
              </a:rPr>
              <a:t>▹</a:t>
            </a:r>
            <a:endParaRPr b="0" i="0" sz="885" u="none" cap="none" strike="noStrike">
              <a:solidFill>
                <a:schemeClr val="dk1"/>
              </a:solidFill>
              <a:latin typeface="Calibri"/>
              <a:ea typeface="Calibri"/>
              <a:cs typeface="Calibri"/>
              <a:sym typeface="Calibri"/>
            </a:endParaRPr>
          </a:p>
        </p:txBody>
      </p:sp>
      <p:sp>
        <p:nvSpPr>
          <p:cNvPr id="120" name="Google Shape;120;p6"/>
          <p:cNvSpPr/>
          <p:nvPr/>
        </p:nvSpPr>
        <p:spPr>
          <a:xfrm>
            <a:off x="4857750" y="1059061"/>
            <a:ext cx="3750469" cy="285750"/>
          </a:xfrm>
          <a:prstGeom prst="rect">
            <a:avLst/>
          </a:prstGeom>
          <a:noFill/>
          <a:ln>
            <a:noFill/>
          </a:ln>
        </p:spPr>
        <p:txBody>
          <a:bodyPr anchorCtr="0" anchor="t" bIns="85075" lIns="0" spcFirstLastPara="1" rIns="0" wrap="square" tIns="0">
            <a:noAutofit/>
          </a:bodyPr>
          <a:lstStyle/>
          <a:p>
            <a:pPr indent="0" lvl="0" marL="0" marR="0" rtl="0" algn="l">
              <a:lnSpc>
                <a:spcPct val="134115"/>
              </a:lnSpc>
              <a:spcBef>
                <a:spcPts val="0"/>
              </a:spcBef>
              <a:spcAft>
                <a:spcPts val="0"/>
              </a:spcAft>
              <a:buClr>
                <a:srgbClr val="00E5FF"/>
              </a:buClr>
              <a:buSzPts val="1193"/>
              <a:buFont typeface="Inter"/>
              <a:buNone/>
            </a:pPr>
            <a:r>
              <a:rPr b="1" i="0" lang="en-US" sz="1193" u="none" cap="none" strike="noStrike">
                <a:solidFill>
                  <a:srgbClr val="00E5FF"/>
                </a:solidFill>
                <a:latin typeface="Inter"/>
                <a:ea typeface="Inter"/>
                <a:cs typeface="Inter"/>
                <a:sym typeface="Inter"/>
              </a:rPr>
              <a:t>Audit &amp; Provenance</a:t>
            </a:r>
            <a:endParaRPr b="0" i="0" sz="1193" u="none" cap="none" strike="noStrike">
              <a:solidFill>
                <a:schemeClr val="dk1"/>
              </a:solidFill>
              <a:latin typeface="Calibri"/>
              <a:ea typeface="Calibri"/>
              <a:cs typeface="Calibri"/>
              <a:sym typeface="Calibri"/>
            </a:endParaRPr>
          </a:p>
        </p:txBody>
      </p:sp>
      <p:sp>
        <p:nvSpPr>
          <p:cNvPr id="121" name="Google Shape;121;p6"/>
          <p:cNvSpPr/>
          <p:nvPr/>
        </p:nvSpPr>
        <p:spPr>
          <a:xfrm>
            <a:off x="4857750" y="1487686"/>
            <a:ext cx="3750469" cy="385763"/>
          </a:xfrm>
          <a:prstGeom prst="rect">
            <a:avLst/>
          </a:prstGeom>
          <a:noFill/>
          <a:ln>
            <a:noFill/>
          </a:ln>
        </p:spPr>
        <p:txBody>
          <a:bodyPr anchorCtr="0" anchor="t" bIns="0" lIns="212575" spcFirstLastPara="1" rIns="0" wrap="square" tIns="0">
            <a:noAutofit/>
          </a:bodyPr>
          <a:lstStyle/>
          <a:p>
            <a:pPr indent="0" lvl="0" marL="0" marR="0" rtl="0" algn="l">
              <a:lnSpc>
                <a:spcPct val="159235"/>
              </a:lnSpc>
              <a:spcBef>
                <a:spcPts val="0"/>
              </a:spcBef>
              <a:spcAft>
                <a:spcPts val="0"/>
              </a:spcAft>
              <a:buClr>
                <a:srgbClr val="FFFFFF"/>
              </a:buClr>
              <a:buSzPts val="885"/>
              <a:buFont typeface="Inter"/>
              <a:buNone/>
            </a:pPr>
            <a:r>
              <a:rPr b="1" i="0" lang="en-US" sz="885" u="none" cap="none" strike="noStrike">
                <a:solidFill>
                  <a:srgbClr val="FFFFFF"/>
                </a:solidFill>
                <a:latin typeface="Inter"/>
                <a:ea typeface="Inter"/>
                <a:cs typeface="Inter"/>
                <a:sym typeface="Inter"/>
              </a:rPr>
              <a:t>Cryptographic Identity Binding:</a:t>
            </a:r>
            <a:r>
              <a:rPr b="0" i="0" lang="en-US" sz="942" u="none" cap="none" strike="noStrike">
                <a:solidFill>
                  <a:srgbClr val="E0E0E0"/>
                </a:solidFill>
                <a:latin typeface="Inter"/>
                <a:ea typeface="Inter"/>
                <a:cs typeface="Inter"/>
                <a:sym typeface="Inter"/>
              </a:rPr>
              <a:t> Every operation is bound to the caller's mTLS certificate.</a:t>
            </a:r>
            <a:endParaRPr b="0" i="0" sz="885" u="none" cap="none" strike="noStrike">
              <a:solidFill>
                <a:schemeClr val="dk1"/>
              </a:solidFill>
              <a:latin typeface="Calibri"/>
              <a:ea typeface="Calibri"/>
              <a:cs typeface="Calibri"/>
              <a:sym typeface="Calibri"/>
            </a:endParaRPr>
          </a:p>
        </p:txBody>
      </p:sp>
      <p:sp>
        <p:nvSpPr>
          <p:cNvPr id="122" name="Google Shape;122;p6"/>
          <p:cNvSpPr/>
          <p:nvPr/>
        </p:nvSpPr>
        <p:spPr>
          <a:xfrm>
            <a:off x="4857750" y="1980605"/>
            <a:ext cx="3750469" cy="385763"/>
          </a:xfrm>
          <a:prstGeom prst="rect">
            <a:avLst/>
          </a:prstGeom>
          <a:noFill/>
          <a:ln>
            <a:noFill/>
          </a:ln>
        </p:spPr>
        <p:txBody>
          <a:bodyPr anchorCtr="0" anchor="t" bIns="0" lIns="212575" spcFirstLastPara="1" rIns="0" wrap="square" tIns="0">
            <a:noAutofit/>
          </a:bodyPr>
          <a:lstStyle/>
          <a:p>
            <a:pPr indent="0" lvl="0" marL="0" marR="0" rtl="0" algn="l">
              <a:lnSpc>
                <a:spcPct val="159235"/>
              </a:lnSpc>
              <a:spcBef>
                <a:spcPts val="0"/>
              </a:spcBef>
              <a:spcAft>
                <a:spcPts val="0"/>
              </a:spcAft>
              <a:buClr>
                <a:srgbClr val="FFFFFF"/>
              </a:buClr>
              <a:buSzPts val="885"/>
              <a:buFont typeface="Inter"/>
              <a:buNone/>
            </a:pPr>
            <a:r>
              <a:rPr b="1" i="0" lang="en-US" sz="885" u="none" cap="none" strike="noStrike">
                <a:solidFill>
                  <a:srgbClr val="FFFFFF"/>
                </a:solidFill>
                <a:latin typeface="Inter"/>
                <a:ea typeface="Inter"/>
                <a:cs typeface="Inter"/>
                <a:sym typeface="Inter"/>
              </a:rPr>
              <a:t>Tamper-Evident Logs:</a:t>
            </a:r>
            <a:r>
              <a:rPr b="0" i="0" lang="en-US" sz="942" u="none" cap="none" strike="noStrike">
                <a:solidFill>
                  <a:srgbClr val="E0E0E0"/>
                </a:solidFill>
                <a:latin typeface="Inter"/>
                <a:ea typeface="Inter"/>
                <a:cs typeface="Inter"/>
                <a:sym typeface="Inter"/>
              </a:rPr>
              <a:t> All cryptographic operations (encrypt, decrypt, sign) generate structured audit events.</a:t>
            </a:r>
            <a:endParaRPr b="0" i="0" sz="885" u="none" cap="none" strike="noStrike">
              <a:solidFill>
                <a:schemeClr val="dk1"/>
              </a:solidFill>
              <a:latin typeface="Calibri"/>
              <a:ea typeface="Calibri"/>
              <a:cs typeface="Calibri"/>
              <a:sym typeface="Calibri"/>
            </a:endParaRPr>
          </a:p>
        </p:txBody>
      </p:sp>
      <p:sp>
        <p:nvSpPr>
          <p:cNvPr id="123" name="Google Shape;123;p6"/>
          <p:cNvSpPr/>
          <p:nvPr/>
        </p:nvSpPr>
        <p:spPr>
          <a:xfrm>
            <a:off x="4857750" y="2473523"/>
            <a:ext cx="3750469" cy="578644"/>
          </a:xfrm>
          <a:prstGeom prst="rect">
            <a:avLst/>
          </a:prstGeom>
          <a:noFill/>
          <a:ln>
            <a:noFill/>
          </a:ln>
        </p:spPr>
        <p:txBody>
          <a:bodyPr anchorCtr="0" anchor="t" bIns="0" lIns="212575" spcFirstLastPara="1" rIns="0" wrap="square" tIns="0">
            <a:noAutofit/>
          </a:bodyPr>
          <a:lstStyle/>
          <a:p>
            <a:pPr indent="0" lvl="0" marL="0" marR="0" rtl="0" algn="l">
              <a:lnSpc>
                <a:spcPct val="159235"/>
              </a:lnSpc>
              <a:spcBef>
                <a:spcPts val="0"/>
              </a:spcBef>
              <a:spcAft>
                <a:spcPts val="0"/>
              </a:spcAft>
              <a:buClr>
                <a:srgbClr val="FFFFFF"/>
              </a:buClr>
              <a:buSzPts val="885"/>
              <a:buFont typeface="Inter"/>
              <a:buNone/>
            </a:pPr>
            <a:r>
              <a:rPr b="1" i="0" lang="en-US" sz="885" u="none" cap="none" strike="noStrike">
                <a:solidFill>
                  <a:srgbClr val="FFFFFF"/>
                </a:solidFill>
                <a:latin typeface="Inter"/>
                <a:ea typeface="Inter"/>
                <a:cs typeface="Inter"/>
                <a:sym typeface="Inter"/>
              </a:rPr>
              <a:t>Partner Key Registry:</a:t>
            </a:r>
            <a:r>
              <a:rPr b="0" i="0" lang="en-US" sz="942" u="none" cap="none" strike="noStrike">
                <a:solidFill>
                  <a:srgbClr val="E0E0E0"/>
                </a:solidFill>
                <a:latin typeface="Inter"/>
                <a:ea typeface="Inter"/>
                <a:cs typeface="Inter"/>
                <a:sym typeface="Inter"/>
              </a:rPr>
              <a:t> SDK manages external partner public keys with automated CRL/OCSP revocation checking.</a:t>
            </a:r>
            <a:endParaRPr b="0" i="0" sz="885" u="none" cap="none" strike="noStrike">
              <a:solidFill>
                <a:schemeClr val="dk1"/>
              </a:solidFill>
              <a:latin typeface="Calibri"/>
              <a:ea typeface="Calibri"/>
              <a:cs typeface="Calibri"/>
              <a:sym typeface="Calibri"/>
            </a:endParaRPr>
          </a:p>
        </p:txBody>
      </p:sp>
      <p:sp>
        <p:nvSpPr>
          <p:cNvPr id="124" name="Google Shape;124;p6"/>
          <p:cNvSpPr/>
          <p:nvPr/>
        </p:nvSpPr>
        <p:spPr>
          <a:xfrm>
            <a:off x="4857750" y="1487686"/>
            <a:ext cx="64294" cy="192881"/>
          </a:xfrm>
          <a:prstGeom prst="rect">
            <a:avLst/>
          </a:prstGeom>
          <a:noFill/>
          <a:ln>
            <a:noFill/>
          </a:ln>
        </p:spPr>
        <p:txBody>
          <a:bodyPr anchorCtr="0" anchor="t" bIns="0" lIns="0" spcFirstLastPara="1" rIns="0" wrap="square" tIns="0">
            <a:noAutofit/>
          </a:bodyPr>
          <a:lstStyle/>
          <a:p>
            <a:pPr indent="0" lvl="0" marL="0" marR="0" rtl="0" algn="l">
              <a:lnSpc>
                <a:spcPct val="169491"/>
              </a:lnSpc>
              <a:spcBef>
                <a:spcPts val="0"/>
              </a:spcBef>
              <a:spcAft>
                <a:spcPts val="0"/>
              </a:spcAft>
              <a:buClr>
                <a:srgbClr val="00E5FF"/>
              </a:buClr>
              <a:buSzPts val="885"/>
              <a:buFont typeface="Inter"/>
              <a:buNone/>
            </a:pPr>
            <a:r>
              <a:rPr b="1" i="0" lang="en-US" sz="885" u="none" cap="none" strike="noStrike">
                <a:solidFill>
                  <a:srgbClr val="00E5FF"/>
                </a:solidFill>
                <a:latin typeface="Inter"/>
                <a:ea typeface="Inter"/>
                <a:cs typeface="Inter"/>
                <a:sym typeface="Inter"/>
              </a:rPr>
              <a:t>▹</a:t>
            </a:r>
            <a:endParaRPr b="0" i="0" sz="885" u="none" cap="none" strike="noStrike">
              <a:solidFill>
                <a:schemeClr val="dk1"/>
              </a:solidFill>
              <a:latin typeface="Calibri"/>
              <a:ea typeface="Calibri"/>
              <a:cs typeface="Calibri"/>
              <a:sym typeface="Calibri"/>
            </a:endParaRPr>
          </a:p>
        </p:txBody>
      </p:sp>
      <p:sp>
        <p:nvSpPr>
          <p:cNvPr id="125" name="Google Shape;125;p6"/>
          <p:cNvSpPr/>
          <p:nvPr/>
        </p:nvSpPr>
        <p:spPr>
          <a:xfrm>
            <a:off x="4857750" y="1980605"/>
            <a:ext cx="64294" cy="192881"/>
          </a:xfrm>
          <a:prstGeom prst="rect">
            <a:avLst/>
          </a:prstGeom>
          <a:noFill/>
          <a:ln>
            <a:noFill/>
          </a:ln>
        </p:spPr>
        <p:txBody>
          <a:bodyPr anchorCtr="0" anchor="t" bIns="0" lIns="0" spcFirstLastPara="1" rIns="0" wrap="square" tIns="0">
            <a:noAutofit/>
          </a:bodyPr>
          <a:lstStyle/>
          <a:p>
            <a:pPr indent="0" lvl="0" marL="0" marR="0" rtl="0" algn="l">
              <a:lnSpc>
                <a:spcPct val="169491"/>
              </a:lnSpc>
              <a:spcBef>
                <a:spcPts val="0"/>
              </a:spcBef>
              <a:spcAft>
                <a:spcPts val="0"/>
              </a:spcAft>
              <a:buClr>
                <a:srgbClr val="00E5FF"/>
              </a:buClr>
              <a:buSzPts val="885"/>
              <a:buFont typeface="Inter"/>
              <a:buNone/>
            </a:pPr>
            <a:r>
              <a:rPr b="1" i="0" lang="en-US" sz="885" u="none" cap="none" strike="noStrike">
                <a:solidFill>
                  <a:srgbClr val="00E5FF"/>
                </a:solidFill>
                <a:latin typeface="Inter"/>
                <a:ea typeface="Inter"/>
                <a:cs typeface="Inter"/>
                <a:sym typeface="Inter"/>
              </a:rPr>
              <a:t>▹</a:t>
            </a:r>
            <a:endParaRPr b="0" i="0" sz="885" u="none" cap="none" strike="noStrike">
              <a:solidFill>
                <a:schemeClr val="dk1"/>
              </a:solidFill>
              <a:latin typeface="Calibri"/>
              <a:ea typeface="Calibri"/>
              <a:cs typeface="Calibri"/>
              <a:sym typeface="Calibri"/>
            </a:endParaRPr>
          </a:p>
        </p:txBody>
      </p:sp>
      <p:sp>
        <p:nvSpPr>
          <p:cNvPr id="126" name="Google Shape;126;p6"/>
          <p:cNvSpPr/>
          <p:nvPr/>
        </p:nvSpPr>
        <p:spPr>
          <a:xfrm>
            <a:off x="4857750" y="2473523"/>
            <a:ext cx="64294" cy="192881"/>
          </a:xfrm>
          <a:prstGeom prst="rect">
            <a:avLst/>
          </a:prstGeom>
          <a:noFill/>
          <a:ln>
            <a:noFill/>
          </a:ln>
        </p:spPr>
        <p:txBody>
          <a:bodyPr anchorCtr="0" anchor="t" bIns="0" lIns="0" spcFirstLastPara="1" rIns="0" wrap="square" tIns="0">
            <a:noAutofit/>
          </a:bodyPr>
          <a:lstStyle/>
          <a:p>
            <a:pPr indent="0" lvl="0" marL="0" marR="0" rtl="0" algn="l">
              <a:lnSpc>
                <a:spcPct val="169491"/>
              </a:lnSpc>
              <a:spcBef>
                <a:spcPts val="0"/>
              </a:spcBef>
              <a:spcAft>
                <a:spcPts val="0"/>
              </a:spcAft>
              <a:buClr>
                <a:srgbClr val="00E5FF"/>
              </a:buClr>
              <a:buSzPts val="885"/>
              <a:buFont typeface="Inter"/>
              <a:buNone/>
            </a:pPr>
            <a:r>
              <a:rPr b="1" i="0" lang="en-US" sz="885" u="none" cap="none" strike="noStrike">
                <a:solidFill>
                  <a:srgbClr val="00E5FF"/>
                </a:solidFill>
                <a:latin typeface="Inter"/>
                <a:ea typeface="Inter"/>
                <a:cs typeface="Inter"/>
                <a:sym typeface="Inter"/>
              </a:rPr>
              <a:t>▹</a:t>
            </a:r>
            <a:endParaRPr b="0" i="0" sz="885" u="none" cap="none" strike="noStrike">
              <a:solidFill>
                <a:schemeClr val="dk1"/>
              </a:solidFill>
              <a:latin typeface="Calibri"/>
              <a:ea typeface="Calibri"/>
              <a:cs typeface="Calibri"/>
              <a:sym typeface="Calibri"/>
            </a:endParaRPr>
          </a:p>
        </p:txBody>
      </p:sp>
      <p:sp>
        <p:nvSpPr>
          <p:cNvPr id="127" name="Google Shape;127;p6"/>
          <p:cNvSpPr/>
          <p:nvPr/>
        </p:nvSpPr>
        <p:spPr>
          <a:xfrm>
            <a:off x="357188" y="4888111"/>
            <a:ext cx="1346597" cy="112514"/>
          </a:xfrm>
          <a:prstGeom prst="rect">
            <a:avLst/>
          </a:prstGeom>
          <a:noFill/>
          <a:ln>
            <a:noFill/>
          </a:ln>
        </p:spPr>
        <p:txBody>
          <a:bodyPr anchorCtr="0" anchor="t" bIns="0" lIns="0" spcFirstLastPara="1" rIns="0" wrap="square" tIns="0">
            <a:noAutofit/>
          </a:bodyPr>
          <a:lstStyle/>
          <a:p>
            <a:pPr indent="0" lvl="0" marL="0" marR="0" rtl="0" algn="l">
              <a:lnSpc>
                <a:spcPct val="128824"/>
              </a:lnSpc>
              <a:spcBef>
                <a:spcPts val="0"/>
              </a:spcBef>
              <a:spcAft>
                <a:spcPts val="0"/>
              </a:spcAft>
              <a:buClr>
                <a:srgbClr val="546E7A"/>
              </a:buClr>
              <a:buSzPts val="621"/>
              <a:buFont typeface="Roboto Mono"/>
              <a:buNone/>
            </a:pPr>
            <a:r>
              <a:rPr b="0" i="0" lang="en-US" sz="621" u="none" cap="none" strike="noStrike">
                <a:solidFill>
                  <a:srgbClr val="546E7A"/>
                </a:solidFill>
                <a:latin typeface="Roboto Mono"/>
                <a:ea typeface="Roboto Mono"/>
                <a:cs typeface="Roboto Mono"/>
                <a:sym typeface="Roboto Mono"/>
              </a:rPr>
              <a:t>CONFIDENTIAL &amp; PROPRIETARY</a:t>
            </a:r>
            <a:endParaRPr b="0" i="0" sz="621" u="none" cap="none" strike="noStrike">
              <a:solidFill>
                <a:schemeClr val="dk1"/>
              </a:solidFill>
              <a:latin typeface="Calibri"/>
              <a:ea typeface="Calibri"/>
              <a:cs typeface="Calibri"/>
              <a:sym typeface="Calibri"/>
            </a:endParaRPr>
          </a:p>
        </p:txBody>
      </p:sp>
      <p:sp>
        <p:nvSpPr>
          <p:cNvPr id="128" name="Google Shape;128;p6"/>
          <p:cNvSpPr/>
          <p:nvPr/>
        </p:nvSpPr>
        <p:spPr>
          <a:xfrm>
            <a:off x="7699177" y="4888111"/>
            <a:ext cx="1087636" cy="112514"/>
          </a:xfrm>
          <a:prstGeom prst="rect">
            <a:avLst/>
          </a:prstGeom>
          <a:noFill/>
          <a:ln>
            <a:noFill/>
          </a:ln>
        </p:spPr>
        <p:txBody>
          <a:bodyPr anchorCtr="0" anchor="t" bIns="0" lIns="0" spcFirstLastPara="1" rIns="0" wrap="square" tIns="0">
            <a:noAutofit/>
          </a:bodyPr>
          <a:lstStyle/>
          <a:p>
            <a:pPr indent="0" lvl="0" marL="0" marR="0" rtl="0" algn="l">
              <a:lnSpc>
                <a:spcPct val="128824"/>
              </a:lnSpc>
              <a:spcBef>
                <a:spcPts val="0"/>
              </a:spcBef>
              <a:spcAft>
                <a:spcPts val="0"/>
              </a:spcAft>
              <a:buClr>
                <a:srgbClr val="546E7A"/>
              </a:buClr>
              <a:buSzPts val="621"/>
              <a:buFont typeface="Roboto Mono"/>
              <a:buNone/>
            </a:pPr>
            <a:r>
              <a:rPr b="0" i="0" lang="en-US" sz="621" u="none" cap="none" strike="noStrike">
                <a:solidFill>
                  <a:srgbClr val="546E7A"/>
                </a:solidFill>
                <a:latin typeface="Roboto Mono"/>
                <a:ea typeface="Roboto Mono"/>
                <a:cs typeface="Roboto Mono"/>
                <a:sym typeface="Roboto Mono"/>
              </a:rPr>
              <a:t>AUTHOR: KISHORE MOOLI</a:t>
            </a:r>
            <a:endParaRPr b="0" i="0" sz="621"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pic>
        <p:nvPicPr>
          <p:cNvPr descr="preencoded.png" id="134" name="Google Shape;134;p7"/>
          <p:cNvPicPr preferRelativeResize="0"/>
          <p:nvPr/>
        </p:nvPicPr>
        <p:blipFill rotWithShape="1">
          <a:blip r:embed="rId3">
            <a:alphaModFix/>
          </a:blip>
          <a:srcRect b="0" l="0" r="0" t="0"/>
          <a:stretch/>
        </p:blipFill>
        <p:spPr>
          <a:xfrm>
            <a:off x="0" y="0"/>
            <a:ext cx="9144000" cy="5143500"/>
          </a:xfrm>
          <a:prstGeom prst="rect">
            <a:avLst/>
          </a:prstGeom>
          <a:noFill/>
          <a:ln>
            <a:noFill/>
          </a:ln>
        </p:spPr>
      </p:pic>
      <p:pic>
        <p:nvPicPr>
          <p:cNvPr descr="preencoded.png" id="135" name="Google Shape;135;p7"/>
          <p:cNvPicPr preferRelativeResize="0"/>
          <p:nvPr/>
        </p:nvPicPr>
        <p:blipFill rotWithShape="1">
          <a:blip r:embed="rId4">
            <a:alphaModFix/>
          </a:blip>
          <a:srcRect b="0" l="0" r="0" t="0"/>
          <a:stretch/>
        </p:blipFill>
        <p:spPr>
          <a:xfrm>
            <a:off x="7000875" y="1143000"/>
            <a:ext cx="2857500" cy="2857500"/>
          </a:xfrm>
          <a:prstGeom prst="rect">
            <a:avLst/>
          </a:prstGeom>
          <a:noFill/>
          <a:ln>
            <a:noFill/>
          </a:ln>
        </p:spPr>
      </p:pic>
      <p:sp>
        <p:nvSpPr>
          <p:cNvPr id="136" name="Google Shape;136;p7"/>
          <p:cNvSpPr/>
          <p:nvPr/>
        </p:nvSpPr>
        <p:spPr>
          <a:xfrm>
            <a:off x="496525" y="185875"/>
            <a:ext cx="8001000" cy="438600"/>
          </a:xfrm>
          <a:prstGeom prst="rect">
            <a:avLst/>
          </a:prstGeom>
          <a:noFill/>
          <a:ln>
            <a:noFill/>
          </a:ln>
        </p:spPr>
        <p:txBody>
          <a:bodyPr anchorCtr="0" anchor="t" bIns="0" lIns="0" spcFirstLastPara="1" rIns="0" wrap="square" tIns="0">
            <a:noAutofit/>
          </a:bodyPr>
          <a:lstStyle/>
          <a:p>
            <a:pPr indent="0" lvl="0" marL="0" marR="0" rtl="0" algn="l">
              <a:lnSpc>
                <a:spcPct val="131362"/>
              </a:lnSpc>
              <a:spcBef>
                <a:spcPts val="0"/>
              </a:spcBef>
              <a:spcAft>
                <a:spcPts val="0"/>
              </a:spcAft>
              <a:buClr>
                <a:srgbClr val="FFFFFF"/>
              </a:buClr>
              <a:buSzPts val="2436"/>
              <a:buFont typeface="Inter"/>
              <a:buNone/>
            </a:pPr>
            <a:r>
              <a:rPr b="1" i="0" lang="en-US" sz="2436" u="none" cap="none" strike="noStrike">
                <a:solidFill>
                  <a:srgbClr val="FFFFFF"/>
                </a:solidFill>
                <a:latin typeface="Inter"/>
                <a:ea typeface="Inter"/>
                <a:cs typeface="Inter"/>
                <a:sym typeface="Inter"/>
              </a:rPr>
              <a:t>E</a:t>
            </a:r>
            <a:r>
              <a:rPr b="1" lang="en-US" sz="2436">
                <a:solidFill>
                  <a:srgbClr val="FFFFFF"/>
                </a:solidFill>
                <a:latin typeface="Inter"/>
                <a:ea typeface="Inter"/>
                <a:cs typeface="Inter"/>
                <a:sym typeface="Inter"/>
              </a:rPr>
              <a:t>ES - </a:t>
            </a:r>
            <a:r>
              <a:rPr b="1" i="0" lang="en-US" sz="2436" u="none" cap="none" strike="noStrike">
                <a:solidFill>
                  <a:srgbClr val="FFFFFF"/>
                </a:solidFill>
                <a:latin typeface="Inter"/>
                <a:ea typeface="Inter"/>
                <a:cs typeface="Inter"/>
                <a:sym typeface="Inter"/>
              </a:rPr>
              <a:t>Use Case Sequence Diagrams</a:t>
            </a:r>
            <a:endParaRPr b="0" i="0" sz="2436" u="none" cap="none" strike="noStrike">
              <a:solidFill>
                <a:schemeClr val="dk1"/>
              </a:solidFill>
              <a:latin typeface="Calibri"/>
              <a:ea typeface="Calibri"/>
              <a:cs typeface="Calibri"/>
              <a:sym typeface="Calibri"/>
            </a:endParaRPr>
          </a:p>
        </p:txBody>
      </p:sp>
      <p:sp>
        <p:nvSpPr>
          <p:cNvPr id="137" name="Google Shape;137;p7"/>
          <p:cNvSpPr/>
          <p:nvPr/>
        </p:nvSpPr>
        <p:spPr>
          <a:xfrm>
            <a:off x="571500" y="937227"/>
            <a:ext cx="8001000" cy="1893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00E5FF"/>
              </a:buClr>
              <a:buSzPts val="1050"/>
              <a:buFont typeface="Roboto Mono"/>
              <a:buNone/>
            </a:pPr>
            <a:r>
              <a:rPr b="0" i="0" lang="en-US" sz="1050" u="none" cap="none" strike="noStrike">
                <a:solidFill>
                  <a:srgbClr val="00E5FF"/>
                </a:solidFill>
                <a:latin typeface="Roboto Mono"/>
                <a:ea typeface="Roboto Mono"/>
                <a:cs typeface="Roboto Mono"/>
                <a:sym typeface="Roboto Mono"/>
              </a:rPr>
              <a:t>Five encryption patterns powered by OpAMP Secrets Management</a:t>
            </a:r>
            <a:endParaRPr b="0" i="0" sz="1050" u="none" cap="none" strike="noStrike">
              <a:solidFill>
                <a:schemeClr val="dk1"/>
              </a:solidFill>
              <a:latin typeface="Calibri"/>
              <a:ea typeface="Calibri"/>
              <a:cs typeface="Calibri"/>
              <a:sym typeface="Calibri"/>
            </a:endParaRPr>
          </a:p>
        </p:txBody>
      </p:sp>
      <p:sp>
        <p:nvSpPr>
          <p:cNvPr id="138" name="Google Shape;138;p7"/>
          <p:cNvSpPr/>
          <p:nvPr/>
        </p:nvSpPr>
        <p:spPr>
          <a:xfrm>
            <a:off x="571500" y="1555161"/>
            <a:ext cx="3929100" cy="740400"/>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7"/>
          <p:cNvSpPr/>
          <p:nvPr/>
        </p:nvSpPr>
        <p:spPr>
          <a:xfrm>
            <a:off x="571500" y="1555161"/>
            <a:ext cx="3929100" cy="72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7"/>
          <p:cNvSpPr/>
          <p:nvPr/>
        </p:nvSpPr>
        <p:spPr>
          <a:xfrm>
            <a:off x="4493419" y="1555161"/>
            <a:ext cx="7200" cy="7404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7"/>
          <p:cNvSpPr/>
          <p:nvPr/>
        </p:nvSpPr>
        <p:spPr>
          <a:xfrm>
            <a:off x="571500" y="2288456"/>
            <a:ext cx="3929100" cy="72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7"/>
          <p:cNvSpPr/>
          <p:nvPr/>
        </p:nvSpPr>
        <p:spPr>
          <a:xfrm>
            <a:off x="571500" y="1555161"/>
            <a:ext cx="28500" cy="740400"/>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43" name="Google Shape;143;p7"/>
          <p:cNvPicPr preferRelativeResize="0"/>
          <p:nvPr/>
        </p:nvPicPr>
        <p:blipFill rotWithShape="1">
          <a:blip r:embed="rId5">
            <a:alphaModFix/>
          </a:blip>
          <a:srcRect b="0" l="0" r="0" t="0"/>
          <a:stretch/>
        </p:blipFill>
        <p:spPr>
          <a:xfrm>
            <a:off x="714375" y="1712323"/>
            <a:ext cx="192881" cy="171450"/>
          </a:xfrm>
          <a:prstGeom prst="rect">
            <a:avLst/>
          </a:prstGeom>
          <a:noFill/>
          <a:ln>
            <a:noFill/>
          </a:ln>
        </p:spPr>
      </p:pic>
      <p:sp>
        <p:nvSpPr>
          <p:cNvPr id="144" name="Google Shape;144;p7"/>
          <p:cNvSpPr/>
          <p:nvPr/>
        </p:nvSpPr>
        <p:spPr>
          <a:xfrm>
            <a:off x="1014413" y="1698036"/>
            <a:ext cx="3343200" cy="137400"/>
          </a:xfrm>
          <a:prstGeom prst="rect">
            <a:avLst/>
          </a:prstGeom>
          <a:noFill/>
          <a:ln>
            <a:noFill/>
          </a:ln>
        </p:spPr>
        <p:txBody>
          <a:bodyPr anchorCtr="0" anchor="t" bIns="0" lIns="0" spcFirstLastPara="1" rIns="0" wrap="square" tIns="0">
            <a:noAutofit/>
          </a:bodyPr>
          <a:lstStyle/>
          <a:p>
            <a:pPr indent="0" lvl="0" marL="0" marR="0" rtl="0" algn="l">
              <a:lnSpc>
                <a:spcPct val="140306"/>
              </a:lnSpc>
              <a:spcBef>
                <a:spcPts val="0"/>
              </a:spcBef>
              <a:spcAft>
                <a:spcPts val="0"/>
              </a:spcAft>
              <a:buClr>
                <a:srgbClr val="FFFFFF"/>
              </a:buClr>
              <a:buSzPts val="784"/>
              <a:buFont typeface="Inter"/>
              <a:buNone/>
            </a:pPr>
            <a:r>
              <a:rPr b="1" i="0" lang="en-US" sz="784" u="none" cap="none" strike="noStrike">
                <a:solidFill>
                  <a:srgbClr val="FFFFFF"/>
                </a:solidFill>
                <a:latin typeface="Inter"/>
                <a:ea typeface="Inter"/>
                <a:cs typeface="Inter"/>
                <a:sym typeface="Inter"/>
              </a:rPr>
              <a:t>A) Infrequent File-Based Encryption</a:t>
            </a:r>
            <a:endParaRPr b="0" i="0" sz="784" u="none" cap="none" strike="noStrike">
              <a:solidFill>
                <a:schemeClr val="dk1"/>
              </a:solidFill>
              <a:latin typeface="Calibri"/>
              <a:ea typeface="Calibri"/>
              <a:cs typeface="Calibri"/>
              <a:sym typeface="Calibri"/>
            </a:endParaRPr>
          </a:p>
        </p:txBody>
      </p:sp>
      <p:sp>
        <p:nvSpPr>
          <p:cNvPr id="145" name="Google Shape;145;p7"/>
          <p:cNvSpPr/>
          <p:nvPr/>
        </p:nvSpPr>
        <p:spPr>
          <a:xfrm>
            <a:off x="1014413" y="1878416"/>
            <a:ext cx="3343200" cy="260100"/>
          </a:xfrm>
          <a:prstGeom prst="rect">
            <a:avLst/>
          </a:prstGeom>
          <a:noFill/>
          <a:ln>
            <a:noFill/>
          </a:ln>
        </p:spPr>
        <p:txBody>
          <a:bodyPr anchorCtr="0" anchor="t" bIns="0" lIns="0" spcFirstLastPara="1" rIns="0" wrap="square" tIns="0">
            <a:noAutofit/>
          </a:bodyPr>
          <a:lstStyle/>
          <a:p>
            <a:pPr indent="0" lvl="0" marL="0" marR="0" rtl="0" algn="l">
              <a:lnSpc>
                <a:spcPct val="148368"/>
              </a:lnSpc>
              <a:spcBef>
                <a:spcPts val="0"/>
              </a:spcBef>
              <a:spcAft>
                <a:spcPts val="0"/>
              </a:spcAft>
              <a:buClr>
                <a:srgbClr val="B0BEC5"/>
              </a:buClr>
              <a:buSzPts val="674"/>
              <a:buFont typeface="Inter"/>
              <a:buNone/>
            </a:pPr>
            <a:r>
              <a:rPr b="0" i="0" lang="en-US" sz="674" u="none" cap="none" strike="noStrike">
                <a:solidFill>
                  <a:srgbClr val="B0BEC5"/>
                </a:solidFill>
                <a:latin typeface="Inter"/>
                <a:ea typeface="Inter"/>
                <a:cs typeface="Inter"/>
                <a:sym typeface="Inter"/>
              </a:rPr>
              <a:t>One-time DEK generation and immediate discard for batch jobs and file exports.</a:t>
            </a:r>
            <a:endParaRPr b="0" i="0" sz="674" u="none" cap="none" strike="noStrike">
              <a:solidFill>
                <a:schemeClr val="dk1"/>
              </a:solidFill>
              <a:latin typeface="Calibri"/>
              <a:ea typeface="Calibri"/>
              <a:cs typeface="Calibri"/>
              <a:sym typeface="Calibri"/>
            </a:endParaRPr>
          </a:p>
        </p:txBody>
      </p:sp>
      <p:sp>
        <p:nvSpPr>
          <p:cNvPr id="146" name="Google Shape;146;p7"/>
          <p:cNvSpPr/>
          <p:nvPr/>
        </p:nvSpPr>
        <p:spPr>
          <a:xfrm>
            <a:off x="4643438" y="1555161"/>
            <a:ext cx="3929100" cy="726300"/>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7"/>
          <p:cNvSpPr/>
          <p:nvPr/>
        </p:nvSpPr>
        <p:spPr>
          <a:xfrm>
            <a:off x="4643438" y="1555161"/>
            <a:ext cx="3929100" cy="72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7"/>
          <p:cNvSpPr/>
          <p:nvPr/>
        </p:nvSpPr>
        <p:spPr>
          <a:xfrm>
            <a:off x="8565356" y="1555161"/>
            <a:ext cx="7200" cy="7263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7"/>
          <p:cNvSpPr/>
          <p:nvPr/>
        </p:nvSpPr>
        <p:spPr>
          <a:xfrm>
            <a:off x="4643438" y="2274168"/>
            <a:ext cx="3929100" cy="72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7"/>
          <p:cNvSpPr/>
          <p:nvPr/>
        </p:nvSpPr>
        <p:spPr>
          <a:xfrm>
            <a:off x="4643438" y="1555161"/>
            <a:ext cx="28500" cy="726300"/>
          </a:xfrm>
          <a:prstGeom prst="rect">
            <a:avLst/>
          </a:prstGeom>
          <a:solidFill>
            <a:srgbClr val="00E6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51" name="Google Shape;151;p7"/>
          <p:cNvPicPr preferRelativeResize="0"/>
          <p:nvPr/>
        </p:nvPicPr>
        <p:blipFill rotWithShape="1">
          <a:blip r:embed="rId6">
            <a:alphaModFix/>
          </a:blip>
          <a:srcRect b="0" l="0" r="0" t="0"/>
          <a:stretch/>
        </p:blipFill>
        <p:spPr>
          <a:xfrm>
            <a:off x="4786313" y="1712323"/>
            <a:ext cx="214313" cy="171450"/>
          </a:xfrm>
          <a:prstGeom prst="rect">
            <a:avLst/>
          </a:prstGeom>
          <a:noFill/>
          <a:ln>
            <a:noFill/>
          </a:ln>
        </p:spPr>
      </p:pic>
      <p:sp>
        <p:nvSpPr>
          <p:cNvPr id="152" name="Google Shape;152;p7"/>
          <p:cNvSpPr/>
          <p:nvPr/>
        </p:nvSpPr>
        <p:spPr>
          <a:xfrm>
            <a:off x="5107781" y="1698036"/>
            <a:ext cx="2850300" cy="137400"/>
          </a:xfrm>
          <a:prstGeom prst="rect">
            <a:avLst/>
          </a:prstGeom>
          <a:noFill/>
          <a:ln>
            <a:noFill/>
          </a:ln>
        </p:spPr>
        <p:txBody>
          <a:bodyPr anchorCtr="0" anchor="t" bIns="0" lIns="0" spcFirstLastPara="1" rIns="0" wrap="square" tIns="0">
            <a:noAutofit/>
          </a:bodyPr>
          <a:lstStyle/>
          <a:p>
            <a:pPr indent="0" lvl="0" marL="0" marR="0" rtl="0" algn="l">
              <a:lnSpc>
                <a:spcPct val="140306"/>
              </a:lnSpc>
              <a:spcBef>
                <a:spcPts val="0"/>
              </a:spcBef>
              <a:spcAft>
                <a:spcPts val="0"/>
              </a:spcAft>
              <a:buClr>
                <a:srgbClr val="FFFFFF"/>
              </a:buClr>
              <a:buSzPts val="784"/>
              <a:buFont typeface="Inter"/>
              <a:buNone/>
            </a:pPr>
            <a:r>
              <a:rPr b="1" i="0" lang="en-US" sz="784" u="none" cap="none" strike="noStrike">
                <a:solidFill>
                  <a:srgbClr val="FFFFFF"/>
                </a:solidFill>
                <a:latin typeface="Inter"/>
                <a:ea typeface="Inter"/>
                <a:cs typeface="Inter"/>
                <a:sym typeface="Inter"/>
              </a:rPr>
              <a:t>B) API-Based Encrypted Attachment Flow</a:t>
            </a:r>
            <a:endParaRPr b="0" i="0" sz="784" u="none" cap="none" strike="noStrike">
              <a:solidFill>
                <a:schemeClr val="dk1"/>
              </a:solidFill>
              <a:latin typeface="Calibri"/>
              <a:ea typeface="Calibri"/>
              <a:cs typeface="Calibri"/>
              <a:sym typeface="Calibri"/>
            </a:endParaRPr>
          </a:p>
        </p:txBody>
      </p:sp>
      <p:sp>
        <p:nvSpPr>
          <p:cNvPr id="153" name="Google Shape;153;p7"/>
          <p:cNvSpPr/>
          <p:nvPr/>
        </p:nvSpPr>
        <p:spPr>
          <a:xfrm>
            <a:off x="5107781" y="1878416"/>
            <a:ext cx="2850300" cy="129900"/>
          </a:xfrm>
          <a:prstGeom prst="rect">
            <a:avLst/>
          </a:prstGeom>
          <a:noFill/>
          <a:ln>
            <a:noFill/>
          </a:ln>
        </p:spPr>
        <p:txBody>
          <a:bodyPr anchorCtr="0" anchor="t" bIns="0" lIns="0" spcFirstLastPara="1" rIns="0" wrap="square" tIns="0">
            <a:noAutofit/>
          </a:bodyPr>
          <a:lstStyle/>
          <a:p>
            <a:pPr indent="0" lvl="0" marL="0" marR="0" rtl="0" algn="l">
              <a:lnSpc>
                <a:spcPct val="148368"/>
              </a:lnSpc>
              <a:spcBef>
                <a:spcPts val="0"/>
              </a:spcBef>
              <a:spcAft>
                <a:spcPts val="0"/>
              </a:spcAft>
              <a:buClr>
                <a:srgbClr val="B0BEC5"/>
              </a:buClr>
              <a:buSzPts val="674"/>
              <a:buFont typeface="Inter"/>
              <a:buNone/>
            </a:pPr>
            <a:r>
              <a:rPr b="0" i="0" lang="en-US" sz="674" u="none" cap="none" strike="noStrike">
                <a:solidFill>
                  <a:srgbClr val="B0BEC5"/>
                </a:solidFill>
                <a:latin typeface="Inter"/>
                <a:ea typeface="Inter"/>
                <a:cs typeface="Inter"/>
                <a:sym typeface="Inter"/>
              </a:rPr>
              <a:t>Cached DEK pattern for high-frequency API attachment uploads.</a:t>
            </a:r>
            <a:endParaRPr b="0" i="0" sz="674" u="none" cap="none" strike="noStrike">
              <a:solidFill>
                <a:schemeClr val="dk1"/>
              </a:solidFill>
              <a:latin typeface="Calibri"/>
              <a:ea typeface="Calibri"/>
              <a:cs typeface="Calibri"/>
              <a:sym typeface="Calibri"/>
            </a:endParaRPr>
          </a:p>
        </p:txBody>
      </p:sp>
      <p:sp>
        <p:nvSpPr>
          <p:cNvPr id="154" name="Google Shape;154;p7"/>
          <p:cNvSpPr/>
          <p:nvPr/>
        </p:nvSpPr>
        <p:spPr>
          <a:xfrm>
            <a:off x="571500" y="2424187"/>
            <a:ext cx="3929100" cy="740400"/>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7"/>
          <p:cNvSpPr/>
          <p:nvPr/>
        </p:nvSpPr>
        <p:spPr>
          <a:xfrm>
            <a:off x="571500" y="2424187"/>
            <a:ext cx="3929100" cy="72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7"/>
          <p:cNvSpPr/>
          <p:nvPr/>
        </p:nvSpPr>
        <p:spPr>
          <a:xfrm>
            <a:off x="4493419" y="2424187"/>
            <a:ext cx="7200" cy="7404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7"/>
          <p:cNvSpPr/>
          <p:nvPr/>
        </p:nvSpPr>
        <p:spPr>
          <a:xfrm>
            <a:off x="571500" y="3157482"/>
            <a:ext cx="3929100" cy="72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7"/>
          <p:cNvSpPr/>
          <p:nvPr/>
        </p:nvSpPr>
        <p:spPr>
          <a:xfrm>
            <a:off x="571500" y="2424187"/>
            <a:ext cx="28500" cy="740400"/>
          </a:xfrm>
          <a:prstGeom prst="rect">
            <a:avLst/>
          </a:prstGeom>
          <a:solidFill>
            <a:srgbClr val="E040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59" name="Google Shape;159;p7"/>
          <p:cNvPicPr preferRelativeResize="0"/>
          <p:nvPr/>
        </p:nvPicPr>
        <p:blipFill rotWithShape="1">
          <a:blip r:embed="rId7">
            <a:alphaModFix/>
          </a:blip>
          <a:srcRect b="0" l="0" r="0" t="0"/>
          <a:stretch/>
        </p:blipFill>
        <p:spPr>
          <a:xfrm>
            <a:off x="714375" y="2581349"/>
            <a:ext cx="171450" cy="171450"/>
          </a:xfrm>
          <a:prstGeom prst="rect">
            <a:avLst/>
          </a:prstGeom>
          <a:noFill/>
          <a:ln>
            <a:noFill/>
          </a:ln>
        </p:spPr>
      </p:pic>
      <p:sp>
        <p:nvSpPr>
          <p:cNvPr id="160" name="Google Shape;160;p7"/>
          <p:cNvSpPr/>
          <p:nvPr/>
        </p:nvSpPr>
        <p:spPr>
          <a:xfrm>
            <a:off x="992981" y="2567062"/>
            <a:ext cx="3364800" cy="137400"/>
          </a:xfrm>
          <a:prstGeom prst="rect">
            <a:avLst/>
          </a:prstGeom>
          <a:noFill/>
          <a:ln>
            <a:noFill/>
          </a:ln>
        </p:spPr>
        <p:txBody>
          <a:bodyPr anchorCtr="0" anchor="t" bIns="0" lIns="0" spcFirstLastPara="1" rIns="0" wrap="square" tIns="0">
            <a:noAutofit/>
          </a:bodyPr>
          <a:lstStyle/>
          <a:p>
            <a:pPr indent="0" lvl="0" marL="0" marR="0" rtl="0" algn="l">
              <a:lnSpc>
                <a:spcPct val="140306"/>
              </a:lnSpc>
              <a:spcBef>
                <a:spcPts val="0"/>
              </a:spcBef>
              <a:spcAft>
                <a:spcPts val="0"/>
              </a:spcAft>
              <a:buClr>
                <a:srgbClr val="FFFFFF"/>
              </a:buClr>
              <a:buSzPts val="784"/>
              <a:buFont typeface="Inter"/>
              <a:buNone/>
            </a:pPr>
            <a:r>
              <a:rPr b="1" i="0" lang="en-US" sz="784" u="none" cap="none" strike="noStrike">
                <a:solidFill>
                  <a:srgbClr val="FFFFFF"/>
                </a:solidFill>
                <a:latin typeface="Inter"/>
                <a:ea typeface="Inter"/>
                <a:cs typeface="Inter"/>
                <a:sym typeface="Inter"/>
              </a:rPr>
              <a:t>C) Streaming Encryption</a:t>
            </a:r>
            <a:endParaRPr b="0" i="0" sz="784" u="none" cap="none" strike="noStrike">
              <a:solidFill>
                <a:schemeClr val="dk1"/>
              </a:solidFill>
              <a:latin typeface="Calibri"/>
              <a:ea typeface="Calibri"/>
              <a:cs typeface="Calibri"/>
              <a:sym typeface="Calibri"/>
            </a:endParaRPr>
          </a:p>
        </p:txBody>
      </p:sp>
      <p:sp>
        <p:nvSpPr>
          <p:cNvPr id="161" name="Google Shape;161;p7"/>
          <p:cNvSpPr/>
          <p:nvPr/>
        </p:nvSpPr>
        <p:spPr>
          <a:xfrm>
            <a:off x="992981" y="2747442"/>
            <a:ext cx="3364800" cy="260100"/>
          </a:xfrm>
          <a:prstGeom prst="rect">
            <a:avLst/>
          </a:prstGeom>
          <a:noFill/>
          <a:ln>
            <a:noFill/>
          </a:ln>
        </p:spPr>
        <p:txBody>
          <a:bodyPr anchorCtr="0" anchor="t" bIns="0" lIns="0" spcFirstLastPara="1" rIns="0" wrap="square" tIns="0">
            <a:noAutofit/>
          </a:bodyPr>
          <a:lstStyle/>
          <a:p>
            <a:pPr indent="0" lvl="0" marL="0" marR="0" rtl="0" algn="l">
              <a:lnSpc>
                <a:spcPct val="148368"/>
              </a:lnSpc>
              <a:spcBef>
                <a:spcPts val="0"/>
              </a:spcBef>
              <a:spcAft>
                <a:spcPts val="0"/>
              </a:spcAft>
              <a:buClr>
                <a:srgbClr val="B0BEC5"/>
              </a:buClr>
              <a:buSzPts val="674"/>
              <a:buFont typeface="Inter"/>
              <a:buNone/>
            </a:pPr>
            <a:r>
              <a:rPr b="0" i="0" lang="en-US" sz="674" u="none" cap="none" strike="noStrike">
                <a:solidFill>
                  <a:srgbClr val="B0BEC5"/>
                </a:solidFill>
                <a:latin typeface="Inter"/>
                <a:ea typeface="Inter"/>
                <a:cs typeface="Inter"/>
                <a:sym typeface="Inter"/>
              </a:rPr>
              <a:t>Long-lived DEK pattern for continuous data streams with seamless rotation handling.</a:t>
            </a:r>
            <a:endParaRPr b="0" i="0" sz="674" u="none" cap="none" strike="noStrike">
              <a:solidFill>
                <a:schemeClr val="dk1"/>
              </a:solidFill>
              <a:latin typeface="Calibri"/>
              <a:ea typeface="Calibri"/>
              <a:cs typeface="Calibri"/>
              <a:sym typeface="Calibri"/>
            </a:endParaRPr>
          </a:p>
        </p:txBody>
      </p:sp>
      <p:sp>
        <p:nvSpPr>
          <p:cNvPr id="162" name="Google Shape;162;p7"/>
          <p:cNvSpPr/>
          <p:nvPr/>
        </p:nvSpPr>
        <p:spPr>
          <a:xfrm>
            <a:off x="4643438" y="2424187"/>
            <a:ext cx="3929100" cy="726300"/>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7"/>
          <p:cNvSpPr/>
          <p:nvPr/>
        </p:nvSpPr>
        <p:spPr>
          <a:xfrm>
            <a:off x="4643438" y="2424187"/>
            <a:ext cx="3929100" cy="72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7"/>
          <p:cNvSpPr/>
          <p:nvPr/>
        </p:nvSpPr>
        <p:spPr>
          <a:xfrm>
            <a:off x="8565356" y="2424187"/>
            <a:ext cx="7200" cy="7263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7"/>
          <p:cNvSpPr/>
          <p:nvPr/>
        </p:nvSpPr>
        <p:spPr>
          <a:xfrm>
            <a:off x="4643438" y="3143194"/>
            <a:ext cx="3929100" cy="72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7"/>
          <p:cNvSpPr/>
          <p:nvPr/>
        </p:nvSpPr>
        <p:spPr>
          <a:xfrm>
            <a:off x="4643438" y="2424187"/>
            <a:ext cx="28500" cy="726300"/>
          </a:xfrm>
          <a:prstGeom prst="rect">
            <a:avLst/>
          </a:prstGeom>
          <a:solidFill>
            <a:srgbClr val="FFAB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7" name="Google Shape;167;p7"/>
          <p:cNvPicPr preferRelativeResize="0"/>
          <p:nvPr/>
        </p:nvPicPr>
        <p:blipFill rotWithShape="1">
          <a:blip r:embed="rId8">
            <a:alphaModFix/>
          </a:blip>
          <a:srcRect b="0" l="0" r="0" t="0"/>
          <a:stretch/>
        </p:blipFill>
        <p:spPr>
          <a:xfrm>
            <a:off x="4786313" y="2581349"/>
            <a:ext cx="150019" cy="171450"/>
          </a:xfrm>
          <a:prstGeom prst="rect">
            <a:avLst/>
          </a:prstGeom>
          <a:noFill/>
          <a:ln>
            <a:noFill/>
          </a:ln>
        </p:spPr>
      </p:pic>
      <p:sp>
        <p:nvSpPr>
          <p:cNvPr id="168" name="Google Shape;168;p7"/>
          <p:cNvSpPr/>
          <p:nvPr/>
        </p:nvSpPr>
        <p:spPr>
          <a:xfrm>
            <a:off x="5043488" y="2567062"/>
            <a:ext cx="3307500" cy="137400"/>
          </a:xfrm>
          <a:prstGeom prst="rect">
            <a:avLst/>
          </a:prstGeom>
          <a:noFill/>
          <a:ln>
            <a:noFill/>
          </a:ln>
        </p:spPr>
        <p:txBody>
          <a:bodyPr anchorCtr="0" anchor="t" bIns="0" lIns="0" spcFirstLastPara="1" rIns="0" wrap="square" tIns="0">
            <a:noAutofit/>
          </a:bodyPr>
          <a:lstStyle/>
          <a:p>
            <a:pPr indent="0" lvl="0" marL="0" marR="0" rtl="0" algn="l">
              <a:lnSpc>
                <a:spcPct val="140306"/>
              </a:lnSpc>
              <a:spcBef>
                <a:spcPts val="0"/>
              </a:spcBef>
              <a:spcAft>
                <a:spcPts val="0"/>
              </a:spcAft>
              <a:buClr>
                <a:srgbClr val="FFFFFF"/>
              </a:buClr>
              <a:buSzPts val="784"/>
              <a:buFont typeface="Inter"/>
              <a:buNone/>
            </a:pPr>
            <a:r>
              <a:rPr b="1" i="0" lang="en-US" sz="784" u="none" cap="none" strike="noStrike">
                <a:solidFill>
                  <a:srgbClr val="FFFFFF"/>
                </a:solidFill>
                <a:latin typeface="Inter"/>
                <a:ea typeface="Inter"/>
                <a:cs typeface="Inter"/>
                <a:sym typeface="Inter"/>
              </a:rPr>
              <a:t>D) Database Field-Level Encryption</a:t>
            </a:r>
            <a:endParaRPr b="0" i="0" sz="784" u="none" cap="none" strike="noStrike">
              <a:solidFill>
                <a:schemeClr val="dk1"/>
              </a:solidFill>
              <a:latin typeface="Calibri"/>
              <a:ea typeface="Calibri"/>
              <a:cs typeface="Calibri"/>
              <a:sym typeface="Calibri"/>
            </a:endParaRPr>
          </a:p>
        </p:txBody>
      </p:sp>
      <p:sp>
        <p:nvSpPr>
          <p:cNvPr id="169" name="Google Shape;169;p7"/>
          <p:cNvSpPr/>
          <p:nvPr/>
        </p:nvSpPr>
        <p:spPr>
          <a:xfrm>
            <a:off x="5043488" y="2747442"/>
            <a:ext cx="3307500" cy="129900"/>
          </a:xfrm>
          <a:prstGeom prst="rect">
            <a:avLst/>
          </a:prstGeom>
          <a:noFill/>
          <a:ln>
            <a:noFill/>
          </a:ln>
        </p:spPr>
        <p:txBody>
          <a:bodyPr anchorCtr="0" anchor="t" bIns="0" lIns="0" spcFirstLastPara="1" rIns="0" wrap="square" tIns="0">
            <a:noAutofit/>
          </a:bodyPr>
          <a:lstStyle/>
          <a:p>
            <a:pPr indent="0" lvl="0" marL="0" marR="0" rtl="0" algn="l">
              <a:lnSpc>
                <a:spcPct val="148368"/>
              </a:lnSpc>
              <a:spcBef>
                <a:spcPts val="0"/>
              </a:spcBef>
              <a:spcAft>
                <a:spcPts val="0"/>
              </a:spcAft>
              <a:buClr>
                <a:srgbClr val="B0BEC5"/>
              </a:buClr>
              <a:buSzPts val="674"/>
              <a:buFont typeface="Inter"/>
              <a:buNone/>
            </a:pPr>
            <a:r>
              <a:rPr b="0" i="0" lang="en-US" sz="674" u="none" cap="none" strike="noStrike">
                <a:solidFill>
                  <a:srgbClr val="B0BEC5"/>
                </a:solidFill>
                <a:latin typeface="Inter"/>
                <a:ea typeface="Inter"/>
                <a:cs typeface="Inter"/>
                <a:sym typeface="Inter"/>
              </a:rPr>
              <a:t>Granular policy-based encryption for different data classifications (PII/PHI).</a:t>
            </a:r>
            <a:endParaRPr b="0" i="0" sz="674" u="none" cap="none" strike="noStrike">
              <a:solidFill>
                <a:schemeClr val="dk1"/>
              </a:solidFill>
              <a:latin typeface="Calibri"/>
              <a:ea typeface="Calibri"/>
              <a:cs typeface="Calibri"/>
              <a:sym typeface="Calibri"/>
            </a:endParaRPr>
          </a:p>
        </p:txBody>
      </p:sp>
      <p:sp>
        <p:nvSpPr>
          <p:cNvPr id="170" name="Google Shape;170;p7"/>
          <p:cNvSpPr/>
          <p:nvPr/>
        </p:nvSpPr>
        <p:spPr>
          <a:xfrm>
            <a:off x="571500" y="3293213"/>
            <a:ext cx="3929100" cy="740400"/>
          </a:xfrm>
          <a:prstGeom prst="rect">
            <a:avLst/>
          </a:prstGeom>
          <a:solidFill>
            <a:srgbClr val="FFFFFF">
              <a:alpha val="3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7"/>
          <p:cNvSpPr/>
          <p:nvPr/>
        </p:nvSpPr>
        <p:spPr>
          <a:xfrm>
            <a:off x="571500" y="3293213"/>
            <a:ext cx="3929100" cy="72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7"/>
          <p:cNvSpPr/>
          <p:nvPr/>
        </p:nvSpPr>
        <p:spPr>
          <a:xfrm>
            <a:off x="4493419" y="3293213"/>
            <a:ext cx="7200" cy="7404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7"/>
          <p:cNvSpPr/>
          <p:nvPr/>
        </p:nvSpPr>
        <p:spPr>
          <a:xfrm>
            <a:off x="571500" y="4026508"/>
            <a:ext cx="3929100" cy="72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7"/>
          <p:cNvSpPr/>
          <p:nvPr/>
        </p:nvSpPr>
        <p:spPr>
          <a:xfrm>
            <a:off x="571500" y="3293213"/>
            <a:ext cx="28500" cy="740400"/>
          </a:xfrm>
          <a:prstGeom prst="rect">
            <a:avLst/>
          </a:prstGeom>
          <a:solidFill>
            <a:srgbClr val="297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5" name="Google Shape;175;p7"/>
          <p:cNvPicPr preferRelativeResize="0"/>
          <p:nvPr/>
        </p:nvPicPr>
        <p:blipFill rotWithShape="1">
          <a:blip r:embed="rId9">
            <a:alphaModFix/>
          </a:blip>
          <a:srcRect b="0" l="0" r="0" t="0"/>
          <a:stretch/>
        </p:blipFill>
        <p:spPr>
          <a:xfrm>
            <a:off x="714375" y="3450375"/>
            <a:ext cx="214313" cy="171450"/>
          </a:xfrm>
          <a:prstGeom prst="rect">
            <a:avLst/>
          </a:prstGeom>
          <a:noFill/>
          <a:ln>
            <a:noFill/>
          </a:ln>
        </p:spPr>
      </p:pic>
      <p:sp>
        <p:nvSpPr>
          <p:cNvPr id="176" name="Google Shape;176;p7"/>
          <p:cNvSpPr/>
          <p:nvPr/>
        </p:nvSpPr>
        <p:spPr>
          <a:xfrm>
            <a:off x="1035844" y="3436088"/>
            <a:ext cx="3321900" cy="137400"/>
          </a:xfrm>
          <a:prstGeom prst="rect">
            <a:avLst/>
          </a:prstGeom>
          <a:noFill/>
          <a:ln>
            <a:noFill/>
          </a:ln>
        </p:spPr>
        <p:txBody>
          <a:bodyPr anchorCtr="0" anchor="t" bIns="0" lIns="0" spcFirstLastPara="1" rIns="0" wrap="square" tIns="0">
            <a:noAutofit/>
          </a:bodyPr>
          <a:lstStyle/>
          <a:p>
            <a:pPr indent="0" lvl="0" marL="0" marR="0" rtl="0" algn="l">
              <a:lnSpc>
                <a:spcPct val="140306"/>
              </a:lnSpc>
              <a:spcBef>
                <a:spcPts val="0"/>
              </a:spcBef>
              <a:spcAft>
                <a:spcPts val="0"/>
              </a:spcAft>
              <a:buClr>
                <a:srgbClr val="FFFFFF"/>
              </a:buClr>
              <a:buSzPts val="784"/>
              <a:buFont typeface="Inter"/>
              <a:buNone/>
            </a:pPr>
            <a:r>
              <a:rPr b="1" i="0" lang="en-US" sz="784" u="none" cap="none" strike="noStrike">
                <a:solidFill>
                  <a:srgbClr val="FFFFFF"/>
                </a:solidFill>
                <a:latin typeface="Inter"/>
                <a:ea typeface="Inter"/>
                <a:cs typeface="Inter"/>
                <a:sym typeface="Inter"/>
              </a:rPr>
              <a:t>E) Cross-ASV Secure Messaging</a:t>
            </a:r>
            <a:endParaRPr b="0" i="0" sz="784" u="none" cap="none" strike="noStrike">
              <a:solidFill>
                <a:schemeClr val="dk1"/>
              </a:solidFill>
              <a:latin typeface="Calibri"/>
              <a:ea typeface="Calibri"/>
              <a:cs typeface="Calibri"/>
              <a:sym typeface="Calibri"/>
            </a:endParaRPr>
          </a:p>
        </p:txBody>
      </p:sp>
      <p:sp>
        <p:nvSpPr>
          <p:cNvPr id="177" name="Google Shape;177;p7"/>
          <p:cNvSpPr/>
          <p:nvPr/>
        </p:nvSpPr>
        <p:spPr>
          <a:xfrm>
            <a:off x="1035844" y="3616468"/>
            <a:ext cx="3321900" cy="260100"/>
          </a:xfrm>
          <a:prstGeom prst="rect">
            <a:avLst/>
          </a:prstGeom>
          <a:noFill/>
          <a:ln>
            <a:noFill/>
          </a:ln>
        </p:spPr>
        <p:txBody>
          <a:bodyPr anchorCtr="0" anchor="t" bIns="0" lIns="0" spcFirstLastPara="1" rIns="0" wrap="square" tIns="0">
            <a:noAutofit/>
          </a:bodyPr>
          <a:lstStyle/>
          <a:p>
            <a:pPr indent="0" lvl="0" marL="0" marR="0" rtl="0" algn="l">
              <a:lnSpc>
                <a:spcPct val="148368"/>
              </a:lnSpc>
              <a:spcBef>
                <a:spcPts val="0"/>
              </a:spcBef>
              <a:spcAft>
                <a:spcPts val="0"/>
              </a:spcAft>
              <a:buClr>
                <a:srgbClr val="B0BEC5"/>
              </a:buClr>
              <a:buSzPts val="674"/>
              <a:buFont typeface="Inter"/>
              <a:buNone/>
            </a:pPr>
            <a:r>
              <a:rPr b="0" i="0" lang="en-US" sz="674" u="none" cap="none" strike="noStrike">
                <a:solidFill>
                  <a:srgbClr val="B0BEC5"/>
                </a:solidFill>
                <a:latin typeface="Inter"/>
                <a:ea typeface="Inter"/>
                <a:cs typeface="Inter"/>
                <a:sym typeface="Inter"/>
              </a:rPr>
              <a:t>Secure inter-service communication using time-limited grants and shared KEKs.</a:t>
            </a:r>
            <a:endParaRPr b="0" i="0" sz="674"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pic>
        <p:nvPicPr>
          <p:cNvPr descr="preencoded.png" id="183" name="Google Shape;183;p8"/>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84" name="Google Shape;184;p8"/>
          <p:cNvSpPr/>
          <p:nvPr/>
        </p:nvSpPr>
        <p:spPr>
          <a:xfrm>
            <a:off x="357188" y="214313"/>
            <a:ext cx="8429625" cy="258961"/>
          </a:xfrm>
          <a:prstGeom prst="rect">
            <a:avLst/>
          </a:prstGeom>
          <a:noFill/>
          <a:ln>
            <a:noFill/>
          </a:ln>
        </p:spPr>
        <p:txBody>
          <a:bodyPr anchorCtr="0" anchor="t" bIns="0" lIns="0" spcFirstLastPara="1" rIns="0" wrap="square" tIns="0">
            <a:noAutofit/>
          </a:bodyPr>
          <a:lstStyle/>
          <a:p>
            <a:pPr indent="0" lvl="0" marL="0" marR="0" rtl="0" algn="l">
              <a:lnSpc>
                <a:spcPct val="133422"/>
              </a:lnSpc>
              <a:spcBef>
                <a:spcPts val="0"/>
              </a:spcBef>
              <a:spcAft>
                <a:spcPts val="0"/>
              </a:spcAft>
              <a:buClr>
                <a:srgbClr val="FFFFFF"/>
              </a:buClr>
              <a:buSzPts val="1499"/>
              <a:buFont typeface="Inter"/>
              <a:buNone/>
            </a:pPr>
            <a:r>
              <a:rPr b="1" i="0" lang="en-US" sz="1499" u="none" cap="none" strike="noStrike">
                <a:solidFill>
                  <a:srgbClr val="FFFFFF"/>
                </a:solidFill>
                <a:latin typeface="Inter"/>
                <a:ea typeface="Inter"/>
                <a:cs typeface="Inter"/>
                <a:sym typeface="Inter"/>
              </a:rPr>
              <a:t>Developer Experience: EES SDK Usage</a:t>
            </a:r>
            <a:endParaRPr b="0" i="0" sz="1499" u="none" cap="none" strike="noStrike">
              <a:solidFill>
                <a:schemeClr val="dk1"/>
              </a:solidFill>
              <a:latin typeface="Calibri"/>
              <a:ea typeface="Calibri"/>
              <a:cs typeface="Calibri"/>
              <a:sym typeface="Calibri"/>
            </a:endParaRPr>
          </a:p>
        </p:txBody>
      </p:sp>
      <p:sp>
        <p:nvSpPr>
          <p:cNvPr id="185" name="Google Shape;185;p8"/>
          <p:cNvSpPr/>
          <p:nvPr/>
        </p:nvSpPr>
        <p:spPr>
          <a:xfrm>
            <a:off x="357188" y="501848"/>
            <a:ext cx="8429625" cy="121444"/>
          </a:xfrm>
          <a:prstGeom prst="rect">
            <a:avLst/>
          </a:prstGeom>
          <a:noFill/>
          <a:ln>
            <a:noFill/>
          </a:ln>
        </p:spPr>
        <p:txBody>
          <a:bodyPr anchorCtr="0" anchor="t" bIns="0" lIns="0" spcFirstLastPara="1" rIns="0" wrap="square" tIns="0">
            <a:noAutofit/>
          </a:bodyPr>
          <a:lstStyle/>
          <a:p>
            <a:pPr indent="0" lvl="0" marL="0" marR="0" rtl="0" algn="l">
              <a:lnSpc>
                <a:spcPct val="133531"/>
              </a:lnSpc>
              <a:spcBef>
                <a:spcPts val="0"/>
              </a:spcBef>
              <a:spcAft>
                <a:spcPts val="0"/>
              </a:spcAft>
              <a:buClr>
                <a:srgbClr val="546E7A"/>
              </a:buClr>
              <a:buSzPts val="674"/>
              <a:buFont typeface="Roboto Mono"/>
              <a:buNone/>
            </a:pPr>
            <a:r>
              <a:rPr b="0" i="0" lang="en-US" sz="674" u="none" cap="none" strike="noStrike">
                <a:solidFill>
                  <a:srgbClr val="546E7A"/>
                </a:solidFill>
                <a:latin typeface="Roboto Mono"/>
                <a:ea typeface="Roboto Mono"/>
                <a:cs typeface="Roboto Mono"/>
                <a:sym typeface="Roboto Mono"/>
              </a:rPr>
              <a:t>OpAMP Secrets Management Platform</a:t>
            </a:r>
            <a:endParaRPr b="0" i="0" sz="674" u="none" cap="none" strike="noStrike">
              <a:solidFill>
                <a:schemeClr val="dk1"/>
              </a:solidFill>
              <a:latin typeface="Calibri"/>
              <a:ea typeface="Calibri"/>
              <a:cs typeface="Calibri"/>
              <a:sym typeface="Calibri"/>
            </a:endParaRPr>
          </a:p>
        </p:txBody>
      </p:sp>
      <p:sp>
        <p:nvSpPr>
          <p:cNvPr id="186" name="Google Shape;186;p8"/>
          <p:cNvSpPr/>
          <p:nvPr/>
        </p:nvSpPr>
        <p:spPr>
          <a:xfrm>
            <a:off x="357188" y="880467"/>
            <a:ext cx="4107656" cy="3046809"/>
          </a:xfrm>
          <a:prstGeom prst="rect">
            <a:avLst/>
          </a:prstGeom>
          <a:solidFill>
            <a:srgbClr val="FFFFFF">
              <a:alpha val="3137"/>
            </a:srgbClr>
          </a:solidFill>
          <a:ln cap="flat" cmpd="sng" w="9525">
            <a:solidFill>
              <a:srgbClr val="FFFFFF">
                <a:alpha val="1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8"/>
          <p:cNvSpPr/>
          <p:nvPr/>
        </p:nvSpPr>
        <p:spPr>
          <a:xfrm>
            <a:off x="535781" y="1059061"/>
            <a:ext cx="3750469" cy="285750"/>
          </a:xfrm>
          <a:prstGeom prst="rect">
            <a:avLst/>
          </a:prstGeom>
          <a:noFill/>
          <a:ln>
            <a:noFill/>
          </a:ln>
        </p:spPr>
        <p:txBody>
          <a:bodyPr anchorCtr="0" anchor="t" bIns="85075" lIns="0" spcFirstLastPara="1" rIns="0" wrap="square" tIns="0">
            <a:noAutofit/>
          </a:bodyPr>
          <a:lstStyle/>
          <a:p>
            <a:pPr indent="0" lvl="0" marL="0" marR="0" rtl="0" algn="l">
              <a:lnSpc>
                <a:spcPct val="134115"/>
              </a:lnSpc>
              <a:spcBef>
                <a:spcPts val="0"/>
              </a:spcBef>
              <a:spcAft>
                <a:spcPts val="0"/>
              </a:spcAft>
              <a:buClr>
                <a:srgbClr val="00E5FF"/>
              </a:buClr>
              <a:buSzPts val="1193"/>
              <a:buFont typeface="Inter"/>
              <a:buNone/>
            </a:pPr>
            <a:r>
              <a:rPr b="1" i="0" lang="en-US" sz="1193" u="none" cap="none" strike="noStrike">
                <a:solidFill>
                  <a:srgbClr val="00E5FF"/>
                </a:solidFill>
                <a:latin typeface="Inter"/>
                <a:ea typeface="Inter"/>
                <a:cs typeface="Inter"/>
                <a:sym typeface="Inter"/>
              </a:rPr>
              <a:t>Zero Crypto Decisions</a:t>
            </a:r>
            <a:endParaRPr b="0" i="0" sz="1193" u="none" cap="none" strike="noStrike">
              <a:solidFill>
                <a:schemeClr val="dk1"/>
              </a:solidFill>
              <a:latin typeface="Calibri"/>
              <a:ea typeface="Calibri"/>
              <a:cs typeface="Calibri"/>
              <a:sym typeface="Calibri"/>
            </a:endParaRPr>
          </a:p>
        </p:txBody>
      </p:sp>
      <p:sp>
        <p:nvSpPr>
          <p:cNvPr id="188" name="Google Shape;188;p8"/>
          <p:cNvSpPr/>
          <p:nvPr/>
        </p:nvSpPr>
        <p:spPr>
          <a:xfrm>
            <a:off x="535781" y="1487686"/>
            <a:ext cx="3750469" cy="578644"/>
          </a:xfrm>
          <a:prstGeom prst="rect">
            <a:avLst/>
          </a:prstGeom>
          <a:noFill/>
          <a:ln>
            <a:noFill/>
          </a:ln>
        </p:spPr>
        <p:txBody>
          <a:bodyPr anchorCtr="0" anchor="t" bIns="0" lIns="0" spcFirstLastPara="1" rIns="0" wrap="square" tIns="0">
            <a:noAutofit/>
          </a:bodyPr>
          <a:lstStyle/>
          <a:p>
            <a:pPr indent="0" lvl="0" marL="0" marR="0" rtl="0" algn="l">
              <a:lnSpc>
                <a:spcPct val="159235"/>
              </a:lnSpc>
              <a:spcBef>
                <a:spcPts val="0"/>
              </a:spcBef>
              <a:spcAft>
                <a:spcPts val="0"/>
              </a:spcAft>
              <a:buClr>
                <a:srgbClr val="B0BEC5"/>
              </a:buClr>
              <a:buSzPts val="942"/>
              <a:buFont typeface="Inter"/>
              <a:buNone/>
            </a:pPr>
            <a:r>
              <a:rPr b="0" i="0" lang="en-US" sz="942" u="none" cap="none" strike="noStrike">
                <a:solidFill>
                  <a:srgbClr val="B0BEC5"/>
                </a:solidFill>
                <a:latin typeface="Inter"/>
                <a:ea typeface="Inter"/>
                <a:cs typeface="Inter"/>
                <a:sym typeface="Inter"/>
              </a:rPr>
              <a:t>Developers only specify the </a:t>
            </a:r>
            <a:r>
              <a:rPr b="1" i="0" lang="en-US" sz="885" u="none" cap="none" strike="noStrike">
                <a:solidFill>
                  <a:srgbClr val="B0BEC5"/>
                </a:solidFill>
                <a:latin typeface="Inter"/>
                <a:ea typeface="Inter"/>
                <a:cs typeface="Inter"/>
                <a:sym typeface="Inter"/>
              </a:rPr>
              <a:t>Data Classification</a:t>
            </a:r>
            <a:r>
              <a:rPr b="0" i="0" lang="en-US" sz="942" u="none" cap="none" strike="noStrike">
                <a:solidFill>
                  <a:srgbClr val="B0BEC5"/>
                </a:solidFill>
                <a:latin typeface="Inter"/>
                <a:ea typeface="Inter"/>
                <a:cs typeface="Inter"/>
                <a:sym typeface="Inter"/>
              </a:rPr>
              <a:t>. The SDK queries the platform policy engine to determine the correct algorithm, key length, and rotation schedule.</a:t>
            </a:r>
            <a:endParaRPr b="0" i="0" sz="942" u="none" cap="none" strike="noStrike">
              <a:solidFill>
                <a:schemeClr val="dk1"/>
              </a:solidFill>
              <a:latin typeface="Calibri"/>
              <a:ea typeface="Calibri"/>
              <a:cs typeface="Calibri"/>
              <a:sym typeface="Calibri"/>
            </a:endParaRPr>
          </a:p>
        </p:txBody>
      </p:sp>
      <p:sp>
        <p:nvSpPr>
          <p:cNvPr id="189" name="Google Shape;189;p8"/>
          <p:cNvSpPr/>
          <p:nvPr/>
        </p:nvSpPr>
        <p:spPr>
          <a:xfrm>
            <a:off x="535781" y="2316361"/>
            <a:ext cx="3750469" cy="1418034"/>
          </a:xfrm>
          <a:prstGeom prst="rect">
            <a:avLst/>
          </a:prstGeom>
          <a:solidFill>
            <a:srgbClr val="1E1E1E"/>
          </a:solidFill>
          <a:ln cap="flat" cmpd="sng" w="952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8"/>
          <p:cNvSpPr/>
          <p:nvPr/>
        </p:nvSpPr>
        <p:spPr>
          <a:xfrm>
            <a:off x="535781" y="2316361"/>
            <a:ext cx="3750469" cy="1418034"/>
          </a:xfrm>
          <a:prstGeom prst="rect">
            <a:avLst/>
          </a:prstGeom>
          <a:noFill/>
          <a:ln>
            <a:noFill/>
          </a:ln>
        </p:spPr>
        <p:txBody>
          <a:bodyPr anchorCtr="0" anchor="t" bIns="127500" lIns="127500" spcFirstLastPara="1" rIns="127500" wrap="square" tIns="127500">
            <a:noAutofit/>
          </a:bodyPr>
          <a:lstStyle/>
          <a:p>
            <a:pPr indent="0" lvl="0" marL="0" marR="0" rtl="0" algn="l">
              <a:lnSpc>
                <a:spcPct val="123796"/>
              </a:lnSpc>
              <a:spcBef>
                <a:spcPts val="0"/>
              </a:spcBef>
              <a:spcAft>
                <a:spcPts val="0"/>
              </a:spcAft>
              <a:buClr>
                <a:srgbClr val="569CD6"/>
              </a:buClr>
              <a:buSzPts val="727"/>
              <a:buFont typeface="Roboto Mono"/>
              <a:buNone/>
            </a:pPr>
            <a:r>
              <a:rPr b="0" i="0" lang="en-US" sz="727" u="none" cap="none" strike="noStrike">
                <a:solidFill>
                  <a:srgbClr val="569CD6"/>
                </a:solidFill>
                <a:latin typeface="Roboto Mono"/>
                <a:ea typeface="Roboto Mono"/>
                <a:cs typeface="Roboto Mono"/>
                <a:sym typeface="Roboto Mono"/>
              </a:rPr>
              <a:t>import</a:t>
            </a:r>
            <a:r>
              <a:rPr b="0" i="0" lang="en-US" sz="727" u="none" cap="none" strike="noStrike">
                <a:solidFill>
                  <a:srgbClr val="D4D4D4"/>
                </a:solidFill>
                <a:latin typeface="Roboto Mono"/>
                <a:ea typeface="Roboto Mono"/>
                <a:cs typeface="Roboto Mono"/>
                <a:sym typeface="Roboto Mono"/>
              </a:rPr>
              <a:t> com.opamp.ees.EesClient; </a:t>
            </a:r>
            <a:r>
              <a:rPr b="0" i="0" lang="en-US" sz="727" u="none" cap="none" strike="noStrike">
                <a:solidFill>
                  <a:srgbClr val="569CD6"/>
                </a:solidFill>
                <a:latin typeface="Roboto Mono"/>
                <a:ea typeface="Roboto Mono"/>
                <a:cs typeface="Roboto Mono"/>
                <a:sym typeface="Roboto Mono"/>
              </a:rPr>
              <a:t>import</a:t>
            </a:r>
            <a:r>
              <a:rPr b="0" i="0" lang="en-US" sz="727" u="none" cap="none" strike="noStrike">
                <a:solidFill>
                  <a:srgbClr val="D4D4D4"/>
                </a:solidFill>
                <a:latin typeface="Roboto Mono"/>
                <a:ea typeface="Roboto Mono"/>
                <a:cs typeface="Roboto Mono"/>
                <a:sym typeface="Roboto Mono"/>
              </a:rPr>
              <a:t> com.opamp.ees.DataClassification; </a:t>
            </a:r>
            <a:r>
              <a:rPr b="0" i="0" lang="en-US" sz="727" u="none" cap="none" strike="noStrike">
                <a:solidFill>
                  <a:srgbClr val="6A9955"/>
                </a:solidFill>
                <a:latin typeface="Roboto Mono"/>
                <a:ea typeface="Roboto Mono"/>
                <a:cs typeface="Roboto Mono"/>
                <a:sym typeface="Roboto Mono"/>
              </a:rPr>
              <a:t>// 1. Initialize SDK (auto-loads mTLS certs)</a:t>
            </a:r>
            <a:r>
              <a:rPr b="0" i="0" lang="en-US" sz="727" u="none" cap="none" strike="noStrike">
                <a:solidFill>
                  <a:srgbClr val="D4D4D4"/>
                </a:solidFill>
                <a:latin typeface="Roboto Mono"/>
                <a:ea typeface="Roboto Mono"/>
                <a:cs typeface="Roboto Mono"/>
                <a:sym typeface="Roboto Mono"/>
              </a:rPr>
              <a:t> EesClient client = EesClient.builder().build(); </a:t>
            </a:r>
            <a:r>
              <a:rPr b="0" i="0" lang="en-US" sz="727" u="none" cap="none" strike="noStrike">
                <a:solidFill>
                  <a:srgbClr val="6A9955"/>
                </a:solidFill>
                <a:latin typeface="Roboto Mono"/>
                <a:ea typeface="Roboto Mono"/>
                <a:cs typeface="Roboto Mono"/>
                <a:sym typeface="Roboto Mono"/>
              </a:rPr>
              <a:t>// 2. Encrypt Data (Algorithm chosen by policy)</a:t>
            </a:r>
            <a:r>
              <a:rPr b="0" i="0" lang="en-US" sz="727" u="none" cap="none" strike="noStrike">
                <a:solidFill>
                  <a:srgbClr val="D4D4D4"/>
                </a:solidFill>
                <a:latin typeface="Roboto Mono"/>
                <a:ea typeface="Roboto Mono"/>
                <a:cs typeface="Roboto Mono"/>
                <a:sym typeface="Roboto Mono"/>
              </a:rPr>
              <a:t> </a:t>
            </a:r>
            <a:r>
              <a:rPr b="0" i="0" lang="en-US" sz="727" u="none" cap="none" strike="noStrike">
                <a:solidFill>
                  <a:srgbClr val="4EC9B0"/>
                </a:solidFill>
                <a:latin typeface="Roboto Mono"/>
                <a:ea typeface="Roboto Mono"/>
                <a:cs typeface="Roboto Mono"/>
                <a:sym typeface="Roboto Mono"/>
              </a:rPr>
              <a:t>byte</a:t>
            </a:r>
            <a:r>
              <a:rPr b="0" i="0" lang="en-US" sz="727" u="none" cap="none" strike="noStrike">
                <a:solidFill>
                  <a:srgbClr val="D4D4D4"/>
                </a:solidFill>
                <a:latin typeface="Roboto Mono"/>
                <a:ea typeface="Roboto Mono"/>
                <a:cs typeface="Roboto Mono"/>
                <a:sym typeface="Roboto Mono"/>
              </a:rPr>
              <a:t>[] plaintext = </a:t>
            </a:r>
            <a:r>
              <a:rPr b="0" i="0" lang="en-US" sz="727" u="none" cap="none" strike="noStrike">
                <a:solidFill>
                  <a:srgbClr val="CE9178"/>
                </a:solidFill>
                <a:latin typeface="Roboto Mono"/>
                <a:ea typeface="Roboto Mono"/>
                <a:cs typeface="Roboto Mono"/>
                <a:sym typeface="Roboto Mono"/>
              </a:rPr>
              <a:t>"sensitive payload"</a:t>
            </a:r>
            <a:r>
              <a:rPr b="0" i="0" lang="en-US" sz="727" u="none" cap="none" strike="noStrike">
                <a:solidFill>
                  <a:srgbClr val="D4D4D4"/>
                </a:solidFill>
                <a:latin typeface="Roboto Mono"/>
                <a:ea typeface="Roboto Mono"/>
                <a:cs typeface="Roboto Mono"/>
                <a:sym typeface="Roboto Mono"/>
              </a:rPr>
              <a:t>.getBytes(); EncryptedPayload payload = client.encrypt( plaintext, DataClassification.RESTRICTED ); </a:t>
            </a:r>
            <a:r>
              <a:rPr b="0" i="0" lang="en-US" sz="727" u="none" cap="none" strike="noStrike">
                <a:solidFill>
                  <a:srgbClr val="6A9955"/>
                </a:solidFill>
                <a:latin typeface="Roboto Mono"/>
                <a:ea typeface="Roboto Mono"/>
                <a:cs typeface="Roboto Mono"/>
                <a:sym typeface="Roboto Mono"/>
              </a:rPr>
              <a:t>// 3. Decrypt Data</a:t>
            </a:r>
            <a:r>
              <a:rPr b="0" i="0" lang="en-US" sz="727" u="none" cap="none" strike="noStrike">
                <a:solidFill>
                  <a:srgbClr val="D4D4D4"/>
                </a:solidFill>
                <a:latin typeface="Roboto Mono"/>
                <a:ea typeface="Roboto Mono"/>
                <a:cs typeface="Roboto Mono"/>
                <a:sym typeface="Roboto Mono"/>
              </a:rPr>
              <a:t> </a:t>
            </a:r>
            <a:r>
              <a:rPr b="0" i="0" lang="en-US" sz="727" u="none" cap="none" strike="noStrike">
                <a:solidFill>
                  <a:srgbClr val="4EC9B0"/>
                </a:solidFill>
                <a:latin typeface="Roboto Mono"/>
                <a:ea typeface="Roboto Mono"/>
                <a:cs typeface="Roboto Mono"/>
                <a:sym typeface="Roboto Mono"/>
              </a:rPr>
              <a:t>byte</a:t>
            </a:r>
            <a:r>
              <a:rPr b="0" i="0" lang="en-US" sz="727" u="none" cap="none" strike="noStrike">
                <a:solidFill>
                  <a:srgbClr val="D4D4D4"/>
                </a:solidFill>
                <a:latin typeface="Roboto Mono"/>
                <a:ea typeface="Roboto Mono"/>
                <a:cs typeface="Roboto Mono"/>
                <a:sym typeface="Roboto Mono"/>
              </a:rPr>
              <a:t>[] decrypted = client.decrypt(payload);</a:t>
            </a:r>
            <a:endParaRPr b="0" i="0" sz="727" u="none" cap="none" strike="noStrike">
              <a:solidFill>
                <a:schemeClr val="dk1"/>
              </a:solidFill>
              <a:latin typeface="Calibri"/>
              <a:ea typeface="Calibri"/>
              <a:cs typeface="Calibri"/>
              <a:sym typeface="Calibri"/>
            </a:endParaRPr>
          </a:p>
        </p:txBody>
      </p:sp>
      <p:sp>
        <p:nvSpPr>
          <p:cNvPr id="191" name="Google Shape;191;p8"/>
          <p:cNvSpPr/>
          <p:nvPr/>
        </p:nvSpPr>
        <p:spPr>
          <a:xfrm>
            <a:off x="4679156" y="880467"/>
            <a:ext cx="4107656" cy="3018234"/>
          </a:xfrm>
          <a:prstGeom prst="rect">
            <a:avLst/>
          </a:prstGeom>
          <a:solidFill>
            <a:srgbClr val="FFFFFF">
              <a:alpha val="3137"/>
            </a:srgbClr>
          </a:solidFill>
          <a:ln cap="flat" cmpd="sng" w="9525">
            <a:solidFill>
              <a:srgbClr val="FFFFFF">
                <a:alpha val="1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8"/>
          <p:cNvSpPr/>
          <p:nvPr/>
        </p:nvSpPr>
        <p:spPr>
          <a:xfrm>
            <a:off x="4857750" y="1059061"/>
            <a:ext cx="3750469" cy="285750"/>
          </a:xfrm>
          <a:prstGeom prst="rect">
            <a:avLst/>
          </a:prstGeom>
          <a:noFill/>
          <a:ln>
            <a:noFill/>
          </a:ln>
        </p:spPr>
        <p:txBody>
          <a:bodyPr anchorCtr="0" anchor="t" bIns="85075" lIns="0" spcFirstLastPara="1" rIns="0" wrap="square" tIns="0">
            <a:noAutofit/>
          </a:bodyPr>
          <a:lstStyle/>
          <a:p>
            <a:pPr indent="0" lvl="0" marL="0" marR="0" rtl="0" algn="l">
              <a:lnSpc>
                <a:spcPct val="134115"/>
              </a:lnSpc>
              <a:spcBef>
                <a:spcPts val="0"/>
              </a:spcBef>
              <a:spcAft>
                <a:spcPts val="0"/>
              </a:spcAft>
              <a:buClr>
                <a:srgbClr val="00E5FF"/>
              </a:buClr>
              <a:buSzPts val="1193"/>
              <a:buFont typeface="Inter"/>
              <a:buNone/>
            </a:pPr>
            <a:r>
              <a:rPr b="1" i="0" lang="en-US" sz="1193" u="none" cap="none" strike="noStrike">
                <a:solidFill>
                  <a:srgbClr val="00E5FF"/>
                </a:solidFill>
                <a:latin typeface="Inter"/>
                <a:ea typeface="Inter"/>
                <a:cs typeface="Inter"/>
                <a:sym typeface="Inter"/>
              </a:rPr>
              <a:t>Digital Signing</a:t>
            </a:r>
            <a:endParaRPr b="0" i="0" sz="1193" u="none" cap="none" strike="noStrike">
              <a:solidFill>
                <a:schemeClr val="dk1"/>
              </a:solidFill>
              <a:latin typeface="Calibri"/>
              <a:ea typeface="Calibri"/>
              <a:cs typeface="Calibri"/>
              <a:sym typeface="Calibri"/>
            </a:endParaRPr>
          </a:p>
        </p:txBody>
      </p:sp>
      <p:sp>
        <p:nvSpPr>
          <p:cNvPr id="193" name="Google Shape;193;p8"/>
          <p:cNvSpPr/>
          <p:nvPr/>
        </p:nvSpPr>
        <p:spPr>
          <a:xfrm>
            <a:off x="4857750" y="1487686"/>
            <a:ext cx="3750469" cy="385763"/>
          </a:xfrm>
          <a:prstGeom prst="rect">
            <a:avLst/>
          </a:prstGeom>
          <a:noFill/>
          <a:ln>
            <a:noFill/>
          </a:ln>
        </p:spPr>
        <p:txBody>
          <a:bodyPr anchorCtr="0" anchor="t" bIns="0" lIns="0" spcFirstLastPara="1" rIns="0" wrap="square" tIns="0">
            <a:noAutofit/>
          </a:bodyPr>
          <a:lstStyle/>
          <a:p>
            <a:pPr indent="0" lvl="0" marL="0" marR="0" rtl="0" algn="l">
              <a:lnSpc>
                <a:spcPct val="159235"/>
              </a:lnSpc>
              <a:spcBef>
                <a:spcPts val="0"/>
              </a:spcBef>
              <a:spcAft>
                <a:spcPts val="0"/>
              </a:spcAft>
              <a:buClr>
                <a:srgbClr val="B0BEC5"/>
              </a:buClr>
              <a:buSzPts val="942"/>
              <a:buFont typeface="Inter"/>
              <a:buNone/>
            </a:pPr>
            <a:r>
              <a:rPr b="0" i="0" lang="en-US" sz="942" u="none" cap="none" strike="noStrike">
                <a:solidFill>
                  <a:srgbClr val="B0BEC5"/>
                </a:solidFill>
                <a:latin typeface="Inter"/>
                <a:ea typeface="Inter"/>
                <a:cs typeface="Inter"/>
                <a:sym typeface="Inter"/>
              </a:rPr>
              <a:t>Signing operations delegate to the HSM automatically, returning standard formats like JWS.</a:t>
            </a:r>
            <a:endParaRPr b="0" i="0" sz="942" u="none" cap="none" strike="noStrike">
              <a:solidFill>
                <a:schemeClr val="dk1"/>
              </a:solidFill>
              <a:latin typeface="Calibri"/>
              <a:ea typeface="Calibri"/>
              <a:cs typeface="Calibri"/>
              <a:sym typeface="Calibri"/>
            </a:endParaRPr>
          </a:p>
        </p:txBody>
      </p:sp>
      <p:sp>
        <p:nvSpPr>
          <p:cNvPr id="194" name="Google Shape;194;p8"/>
          <p:cNvSpPr/>
          <p:nvPr/>
        </p:nvSpPr>
        <p:spPr>
          <a:xfrm>
            <a:off x="4857750" y="2123480"/>
            <a:ext cx="3750469" cy="1285875"/>
          </a:xfrm>
          <a:prstGeom prst="rect">
            <a:avLst/>
          </a:prstGeom>
          <a:solidFill>
            <a:srgbClr val="1E1E1E"/>
          </a:solidFill>
          <a:ln cap="flat" cmpd="sng" w="952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8"/>
          <p:cNvSpPr/>
          <p:nvPr/>
        </p:nvSpPr>
        <p:spPr>
          <a:xfrm>
            <a:off x="4857750" y="2123480"/>
            <a:ext cx="3750469" cy="1285875"/>
          </a:xfrm>
          <a:prstGeom prst="rect">
            <a:avLst/>
          </a:prstGeom>
          <a:noFill/>
          <a:ln>
            <a:noFill/>
          </a:ln>
        </p:spPr>
        <p:txBody>
          <a:bodyPr anchorCtr="0" anchor="t" bIns="127500" lIns="127500" spcFirstLastPara="1" rIns="127500" wrap="square" tIns="127500">
            <a:noAutofit/>
          </a:bodyPr>
          <a:lstStyle/>
          <a:p>
            <a:pPr indent="0" lvl="0" marL="0" marR="0" rtl="0" algn="l">
              <a:lnSpc>
                <a:spcPct val="123796"/>
              </a:lnSpc>
              <a:spcBef>
                <a:spcPts val="0"/>
              </a:spcBef>
              <a:spcAft>
                <a:spcPts val="0"/>
              </a:spcAft>
              <a:buClr>
                <a:srgbClr val="6A9955"/>
              </a:buClr>
              <a:buSzPts val="727"/>
              <a:buFont typeface="Roboto Mono"/>
              <a:buNone/>
            </a:pPr>
            <a:r>
              <a:rPr b="0" i="0" lang="en-US" sz="727" u="none" cap="none" strike="noStrike">
                <a:solidFill>
                  <a:srgbClr val="6A9955"/>
                </a:solidFill>
                <a:latin typeface="Roboto Mono"/>
                <a:ea typeface="Roboto Mono"/>
                <a:cs typeface="Roboto Mono"/>
                <a:sym typeface="Roboto Mono"/>
              </a:rPr>
              <a:t>// 1. Sign Data (Private key stays in HSM)</a:t>
            </a:r>
            <a:r>
              <a:rPr b="0" i="0" lang="en-US" sz="727" u="none" cap="none" strike="noStrike">
                <a:solidFill>
                  <a:srgbClr val="D4D4D4"/>
                </a:solidFill>
                <a:latin typeface="Roboto Mono"/>
                <a:ea typeface="Roboto Mono"/>
                <a:cs typeface="Roboto Mono"/>
                <a:sym typeface="Roboto Mono"/>
              </a:rPr>
              <a:t> String jwsToken = client.signJWS( plaintext, SigningPurpose.AUDIT_LOG ); </a:t>
            </a:r>
            <a:r>
              <a:rPr b="0" i="0" lang="en-US" sz="727" u="none" cap="none" strike="noStrike">
                <a:solidFill>
                  <a:srgbClr val="6A9955"/>
                </a:solidFill>
                <a:latin typeface="Roboto Mono"/>
                <a:ea typeface="Roboto Mono"/>
                <a:cs typeface="Roboto Mono"/>
                <a:sym typeface="Roboto Mono"/>
              </a:rPr>
              <a:t>// 2. Verify Signature (Uses cached public key)</a:t>
            </a:r>
            <a:r>
              <a:rPr b="0" i="0" lang="en-US" sz="727" u="none" cap="none" strike="noStrike">
                <a:solidFill>
                  <a:srgbClr val="D4D4D4"/>
                </a:solidFill>
                <a:latin typeface="Roboto Mono"/>
                <a:ea typeface="Roboto Mono"/>
                <a:cs typeface="Roboto Mono"/>
                <a:sym typeface="Roboto Mono"/>
              </a:rPr>
              <a:t> </a:t>
            </a:r>
            <a:r>
              <a:rPr b="0" i="0" lang="en-US" sz="727" u="none" cap="none" strike="noStrike">
                <a:solidFill>
                  <a:srgbClr val="4EC9B0"/>
                </a:solidFill>
                <a:latin typeface="Roboto Mono"/>
                <a:ea typeface="Roboto Mono"/>
                <a:cs typeface="Roboto Mono"/>
                <a:sym typeface="Roboto Mono"/>
              </a:rPr>
              <a:t>boolean</a:t>
            </a:r>
            <a:r>
              <a:rPr b="0" i="0" lang="en-US" sz="727" u="none" cap="none" strike="noStrike">
                <a:solidFill>
                  <a:srgbClr val="D4D4D4"/>
                </a:solidFill>
                <a:latin typeface="Roboto Mono"/>
                <a:ea typeface="Roboto Mono"/>
                <a:cs typeface="Roboto Mono"/>
                <a:sym typeface="Roboto Mono"/>
              </a:rPr>
              <a:t> isValid = client.verifyJWS(jwsToken); </a:t>
            </a:r>
            <a:r>
              <a:rPr b="0" i="0" lang="en-US" sz="727" u="none" cap="none" strike="noStrike">
                <a:solidFill>
                  <a:srgbClr val="6A9955"/>
                </a:solidFill>
                <a:latin typeface="Roboto Mono"/>
                <a:ea typeface="Roboto Mono"/>
                <a:cs typeface="Roboto Mono"/>
                <a:sym typeface="Roboto Mono"/>
              </a:rPr>
              <a:t>// 3. Streaming Encryption (For large files)</a:t>
            </a:r>
            <a:r>
              <a:rPr b="0" i="0" lang="en-US" sz="727" u="none" cap="none" strike="noStrike">
                <a:solidFill>
                  <a:srgbClr val="D4D4D4"/>
                </a:solidFill>
                <a:latin typeface="Roboto Mono"/>
                <a:ea typeface="Roboto Mono"/>
                <a:cs typeface="Roboto Mono"/>
                <a:sym typeface="Roboto Mono"/>
              </a:rPr>
              <a:t> </a:t>
            </a:r>
            <a:r>
              <a:rPr b="0" i="0" lang="en-US" sz="727" u="none" cap="none" strike="noStrike">
                <a:solidFill>
                  <a:srgbClr val="4EC9B0"/>
                </a:solidFill>
                <a:latin typeface="Roboto Mono"/>
                <a:ea typeface="Roboto Mono"/>
                <a:cs typeface="Roboto Mono"/>
                <a:sym typeface="Roboto Mono"/>
              </a:rPr>
              <a:t>try</a:t>
            </a:r>
            <a:r>
              <a:rPr b="0" i="0" lang="en-US" sz="727" u="none" cap="none" strike="noStrike">
                <a:solidFill>
                  <a:srgbClr val="D4D4D4"/>
                </a:solidFill>
                <a:latin typeface="Roboto Mono"/>
                <a:ea typeface="Roboto Mono"/>
                <a:cs typeface="Roboto Mono"/>
                <a:sym typeface="Roboto Mono"/>
              </a:rPr>
              <a:t> (OutputStream out = client.encryptStream( fileOutStream, DataClassification.CONFIDENTIAL)) { out.write(largeDataChunk); }</a:t>
            </a:r>
            <a:endParaRPr b="0" i="0" sz="727" u="none" cap="none" strike="noStrike">
              <a:solidFill>
                <a:schemeClr val="dk1"/>
              </a:solidFill>
              <a:latin typeface="Calibri"/>
              <a:ea typeface="Calibri"/>
              <a:cs typeface="Calibri"/>
              <a:sym typeface="Calibri"/>
            </a:endParaRPr>
          </a:p>
        </p:txBody>
      </p:sp>
      <p:sp>
        <p:nvSpPr>
          <p:cNvPr id="196" name="Google Shape;196;p8"/>
          <p:cNvSpPr/>
          <p:nvPr/>
        </p:nvSpPr>
        <p:spPr>
          <a:xfrm>
            <a:off x="357188" y="4888111"/>
            <a:ext cx="1346597" cy="112514"/>
          </a:xfrm>
          <a:prstGeom prst="rect">
            <a:avLst/>
          </a:prstGeom>
          <a:noFill/>
          <a:ln>
            <a:noFill/>
          </a:ln>
        </p:spPr>
        <p:txBody>
          <a:bodyPr anchorCtr="0" anchor="t" bIns="0" lIns="0" spcFirstLastPara="1" rIns="0" wrap="square" tIns="0">
            <a:noAutofit/>
          </a:bodyPr>
          <a:lstStyle/>
          <a:p>
            <a:pPr indent="0" lvl="0" marL="0" marR="0" rtl="0" algn="l">
              <a:lnSpc>
                <a:spcPct val="128824"/>
              </a:lnSpc>
              <a:spcBef>
                <a:spcPts val="0"/>
              </a:spcBef>
              <a:spcAft>
                <a:spcPts val="0"/>
              </a:spcAft>
              <a:buClr>
                <a:srgbClr val="546E7A"/>
              </a:buClr>
              <a:buSzPts val="621"/>
              <a:buFont typeface="Roboto Mono"/>
              <a:buNone/>
            </a:pPr>
            <a:r>
              <a:rPr b="0" i="0" lang="en-US" sz="621" u="none" cap="none" strike="noStrike">
                <a:solidFill>
                  <a:srgbClr val="546E7A"/>
                </a:solidFill>
                <a:latin typeface="Roboto Mono"/>
                <a:ea typeface="Roboto Mono"/>
                <a:cs typeface="Roboto Mono"/>
                <a:sym typeface="Roboto Mono"/>
              </a:rPr>
              <a:t>CONFIDENTIAL &amp; PROPRIETARY</a:t>
            </a:r>
            <a:endParaRPr b="0" i="0" sz="621" u="none" cap="none" strike="noStrike">
              <a:solidFill>
                <a:schemeClr val="dk1"/>
              </a:solidFill>
              <a:latin typeface="Calibri"/>
              <a:ea typeface="Calibri"/>
              <a:cs typeface="Calibri"/>
              <a:sym typeface="Calibri"/>
            </a:endParaRPr>
          </a:p>
        </p:txBody>
      </p:sp>
      <p:sp>
        <p:nvSpPr>
          <p:cNvPr id="197" name="Google Shape;197;p8"/>
          <p:cNvSpPr/>
          <p:nvPr/>
        </p:nvSpPr>
        <p:spPr>
          <a:xfrm>
            <a:off x="7699177" y="4888111"/>
            <a:ext cx="1087636" cy="112514"/>
          </a:xfrm>
          <a:prstGeom prst="rect">
            <a:avLst/>
          </a:prstGeom>
          <a:noFill/>
          <a:ln>
            <a:noFill/>
          </a:ln>
        </p:spPr>
        <p:txBody>
          <a:bodyPr anchorCtr="0" anchor="t" bIns="0" lIns="0" spcFirstLastPara="1" rIns="0" wrap="square" tIns="0">
            <a:noAutofit/>
          </a:bodyPr>
          <a:lstStyle/>
          <a:p>
            <a:pPr indent="0" lvl="0" marL="0" marR="0" rtl="0" algn="l">
              <a:lnSpc>
                <a:spcPct val="128824"/>
              </a:lnSpc>
              <a:spcBef>
                <a:spcPts val="0"/>
              </a:spcBef>
              <a:spcAft>
                <a:spcPts val="0"/>
              </a:spcAft>
              <a:buClr>
                <a:srgbClr val="546E7A"/>
              </a:buClr>
              <a:buSzPts val="621"/>
              <a:buFont typeface="Roboto Mono"/>
              <a:buNone/>
            </a:pPr>
            <a:r>
              <a:rPr b="0" i="0" lang="en-US" sz="621" u="none" cap="none" strike="noStrike">
                <a:solidFill>
                  <a:srgbClr val="546E7A"/>
                </a:solidFill>
                <a:latin typeface="Roboto Mono"/>
                <a:ea typeface="Roboto Mono"/>
                <a:cs typeface="Roboto Mono"/>
                <a:sym typeface="Roboto Mono"/>
              </a:rPr>
              <a:t>AUTHOR: KISHORE MOOLI</a:t>
            </a:r>
            <a:endParaRPr b="0" i="0" sz="621"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pic>
        <p:nvPicPr>
          <p:cNvPr descr="preencoded.png" id="203" name="Google Shape;203;p9"/>
          <p:cNvPicPr preferRelativeResize="0"/>
          <p:nvPr/>
        </p:nvPicPr>
        <p:blipFill rotWithShape="1">
          <a:blip r:embed="rId3">
            <a:alphaModFix/>
          </a:blip>
          <a:srcRect b="0" l="0" r="0" t="0"/>
          <a:stretch/>
        </p:blipFill>
        <p:spPr>
          <a:xfrm>
            <a:off x="0" y="0"/>
            <a:ext cx="9144000" cy="5188818"/>
          </a:xfrm>
          <a:prstGeom prst="rect">
            <a:avLst/>
          </a:prstGeom>
          <a:noFill/>
          <a:ln>
            <a:noFill/>
          </a:ln>
        </p:spPr>
      </p:pic>
      <p:sp>
        <p:nvSpPr>
          <p:cNvPr id="204" name="Google Shape;204;p9"/>
          <p:cNvSpPr/>
          <p:nvPr/>
        </p:nvSpPr>
        <p:spPr>
          <a:xfrm>
            <a:off x="357188" y="214313"/>
            <a:ext cx="8429625" cy="258961"/>
          </a:xfrm>
          <a:prstGeom prst="rect">
            <a:avLst/>
          </a:prstGeom>
          <a:noFill/>
          <a:ln>
            <a:noFill/>
          </a:ln>
        </p:spPr>
        <p:txBody>
          <a:bodyPr anchorCtr="0" anchor="t" bIns="0" lIns="0" spcFirstLastPara="1" rIns="0" wrap="square" tIns="0">
            <a:noAutofit/>
          </a:bodyPr>
          <a:lstStyle/>
          <a:p>
            <a:pPr indent="0" lvl="0" marL="0" marR="0" rtl="0" algn="l">
              <a:lnSpc>
                <a:spcPct val="133422"/>
              </a:lnSpc>
              <a:spcBef>
                <a:spcPts val="0"/>
              </a:spcBef>
              <a:spcAft>
                <a:spcPts val="0"/>
              </a:spcAft>
              <a:buClr>
                <a:srgbClr val="FFFFFF"/>
              </a:buClr>
              <a:buSzPts val="1499"/>
              <a:buFont typeface="Inter"/>
              <a:buNone/>
            </a:pPr>
            <a:r>
              <a:rPr b="1" i="0" lang="en-US" sz="1499" u="none" cap="none" strike="noStrike">
                <a:solidFill>
                  <a:srgbClr val="FFFFFF"/>
                </a:solidFill>
                <a:latin typeface="Inter"/>
                <a:ea typeface="Inter"/>
                <a:cs typeface="Inter"/>
                <a:sym typeface="Inter"/>
              </a:rPr>
              <a:t>Use Case A: Infrequent File-Based Encryption</a:t>
            </a:r>
            <a:endParaRPr b="0" i="0" sz="1499" u="none" cap="none" strike="noStrike">
              <a:solidFill>
                <a:schemeClr val="dk1"/>
              </a:solidFill>
              <a:latin typeface="Calibri"/>
              <a:ea typeface="Calibri"/>
              <a:cs typeface="Calibri"/>
              <a:sym typeface="Calibri"/>
            </a:endParaRPr>
          </a:p>
        </p:txBody>
      </p:sp>
      <p:sp>
        <p:nvSpPr>
          <p:cNvPr id="205" name="Google Shape;205;p9"/>
          <p:cNvSpPr/>
          <p:nvPr/>
        </p:nvSpPr>
        <p:spPr>
          <a:xfrm>
            <a:off x="357188" y="501848"/>
            <a:ext cx="8429625" cy="121444"/>
          </a:xfrm>
          <a:prstGeom prst="rect">
            <a:avLst/>
          </a:prstGeom>
          <a:noFill/>
          <a:ln>
            <a:noFill/>
          </a:ln>
        </p:spPr>
        <p:txBody>
          <a:bodyPr anchorCtr="0" anchor="t" bIns="0" lIns="0" spcFirstLastPara="1" rIns="0" wrap="square" tIns="0">
            <a:noAutofit/>
          </a:bodyPr>
          <a:lstStyle/>
          <a:p>
            <a:pPr indent="0" lvl="0" marL="0" marR="0" rtl="0" algn="l">
              <a:lnSpc>
                <a:spcPct val="133531"/>
              </a:lnSpc>
              <a:spcBef>
                <a:spcPts val="0"/>
              </a:spcBef>
              <a:spcAft>
                <a:spcPts val="0"/>
              </a:spcAft>
              <a:buClr>
                <a:srgbClr val="546E7A"/>
              </a:buClr>
              <a:buSzPts val="674"/>
              <a:buFont typeface="Roboto Mono"/>
              <a:buNone/>
            </a:pPr>
            <a:r>
              <a:rPr b="0" i="0" lang="en-US" sz="674" u="none" cap="none" strike="noStrike">
                <a:solidFill>
                  <a:srgbClr val="546E7A"/>
                </a:solidFill>
                <a:latin typeface="Roboto Mono"/>
                <a:ea typeface="Roboto Mono"/>
                <a:cs typeface="Roboto Mono"/>
                <a:sym typeface="Roboto Mono"/>
              </a:rPr>
              <a:t>Batch job / nightly report / data export. Generate a one-time DEK, encrypt the file, discard the DEK immediately.</a:t>
            </a:r>
            <a:endParaRPr b="0" i="0" sz="674" u="none" cap="none" strike="noStrike">
              <a:solidFill>
                <a:schemeClr val="dk1"/>
              </a:solidFill>
              <a:latin typeface="Calibri"/>
              <a:ea typeface="Calibri"/>
              <a:cs typeface="Calibri"/>
              <a:sym typeface="Calibri"/>
            </a:endParaRPr>
          </a:p>
        </p:txBody>
      </p:sp>
      <p:sp>
        <p:nvSpPr>
          <p:cNvPr id="206" name="Google Shape;206;p9"/>
          <p:cNvSpPr/>
          <p:nvPr/>
        </p:nvSpPr>
        <p:spPr>
          <a:xfrm>
            <a:off x="285750" y="737592"/>
            <a:ext cx="1714500" cy="489347"/>
          </a:xfrm>
          <a:prstGeom prst="rect">
            <a:avLst/>
          </a:prstGeom>
          <a:solidFill>
            <a:srgbClr val="00E5FF">
              <a:alpha val="14901"/>
            </a:srgbClr>
          </a:solidFill>
          <a:ln cap="flat" cmpd="sng" w="9525">
            <a:solidFill>
              <a:srgbClr val="FFFFFF">
                <a:alpha val="784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07" name="Google Shape;207;p9"/>
          <p:cNvPicPr preferRelativeResize="0"/>
          <p:nvPr/>
        </p:nvPicPr>
        <p:blipFill rotWithShape="1">
          <a:blip r:embed="rId4">
            <a:alphaModFix/>
          </a:blip>
          <a:srcRect b="0" l="0" r="0" t="0"/>
          <a:stretch/>
        </p:blipFill>
        <p:spPr>
          <a:xfrm>
            <a:off x="1076027" y="816173"/>
            <a:ext cx="133945" cy="107156"/>
          </a:xfrm>
          <a:prstGeom prst="rect">
            <a:avLst/>
          </a:prstGeom>
          <a:noFill/>
          <a:ln>
            <a:noFill/>
          </a:ln>
        </p:spPr>
      </p:pic>
      <p:sp>
        <p:nvSpPr>
          <p:cNvPr id="208" name="Google Shape;208;p9"/>
          <p:cNvSpPr/>
          <p:nvPr/>
        </p:nvSpPr>
        <p:spPr>
          <a:xfrm>
            <a:off x="949226" y="944761"/>
            <a:ext cx="387548" cy="96441"/>
          </a:xfrm>
          <a:prstGeom prst="rect">
            <a:avLst/>
          </a:prstGeom>
          <a:noFill/>
          <a:ln>
            <a:noFill/>
          </a:ln>
        </p:spPr>
        <p:txBody>
          <a:bodyPr anchorCtr="0" anchor="t" bIns="0" lIns="0" spcFirstLastPara="1" rIns="0" wrap="square" tIns="0">
            <a:noAutofit/>
          </a:bodyPr>
          <a:lstStyle/>
          <a:p>
            <a:pPr indent="0" lvl="0" marL="0" marR="0" rtl="0" algn="l">
              <a:lnSpc>
                <a:spcPct val="131086"/>
              </a:lnSpc>
              <a:spcBef>
                <a:spcPts val="0"/>
              </a:spcBef>
              <a:spcAft>
                <a:spcPts val="0"/>
              </a:spcAft>
              <a:buClr>
                <a:srgbClr val="00E5FF"/>
              </a:buClr>
              <a:buSzPts val="534"/>
              <a:buFont typeface="Inter"/>
              <a:buNone/>
            </a:pPr>
            <a:r>
              <a:rPr b="1" i="0" lang="en-US" sz="534" u="none" cap="none" strike="noStrike">
                <a:solidFill>
                  <a:srgbClr val="00E5FF"/>
                </a:solidFill>
                <a:latin typeface="Inter"/>
                <a:ea typeface="Inter"/>
                <a:cs typeface="Inter"/>
                <a:sym typeface="Inter"/>
              </a:rPr>
              <a:t>Batch Job</a:t>
            </a:r>
            <a:endParaRPr b="0" i="0" sz="534" u="none" cap="none" strike="noStrike">
              <a:solidFill>
                <a:schemeClr val="dk1"/>
              </a:solidFill>
              <a:latin typeface="Calibri"/>
              <a:ea typeface="Calibri"/>
              <a:cs typeface="Calibri"/>
              <a:sym typeface="Calibri"/>
            </a:endParaRPr>
          </a:p>
        </p:txBody>
      </p:sp>
      <p:sp>
        <p:nvSpPr>
          <p:cNvPr id="209" name="Google Shape;209;p9"/>
          <p:cNvSpPr/>
          <p:nvPr/>
        </p:nvSpPr>
        <p:spPr>
          <a:xfrm>
            <a:off x="1025128" y="1062633"/>
            <a:ext cx="235744" cy="85725"/>
          </a:xfrm>
          <a:prstGeom prst="rect">
            <a:avLst/>
          </a:prstGeom>
          <a:noFill/>
          <a:ln>
            <a:noFill/>
          </a:ln>
        </p:spPr>
        <p:txBody>
          <a:bodyPr anchorCtr="0" anchor="t" bIns="0" lIns="0" spcFirstLastPara="1" rIns="0" wrap="square" tIns="0">
            <a:noAutofit/>
          </a:bodyPr>
          <a:lstStyle/>
          <a:p>
            <a:pPr indent="0" lvl="0" marL="0" marR="0" rtl="0" algn="l">
              <a:lnSpc>
                <a:spcPct val="129589"/>
              </a:lnSpc>
              <a:spcBef>
                <a:spcPts val="0"/>
              </a:spcBef>
              <a:spcAft>
                <a:spcPts val="0"/>
              </a:spcAft>
              <a:buClr>
                <a:srgbClr val="00E5FF"/>
              </a:buClr>
              <a:buSzPts val="463"/>
              <a:buFont typeface="Roboto Mono"/>
              <a:buNone/>
            </a:pPr>
            <a:r>
              <a:rPr b="0" i="0" lang="en-US" sz="463" u="none" cap="none" strike="noStrike">
                <a:solidFill>
                  <a:srgbClr val="00E5FF"/>
                </a:solidFill>
                <a:latin typeface="Roboto Mono"/>
                <a:ea typeface="Roboto Mono"/>
                <a:cs typeface="Roboto Mono"/>
                <a:sym typeface="Roboto Mono"/>
              </a:rPr>
              <a:t>Caller</a:t>
            </a:r>
            <a:endParaRPr b="0" i="0" sz="463" u="none" cap="none" strike="noStrike">
              <a:solidFill>
                <a:schemeClr val="dk1"/>
              </a:solidFill>
              <a:latin typeface="Calibri"/>
              <a:ea typeface="Calibri"/>
              <a:cs typeface="Calibri"/>
              <a:sym typeface="Calibri"/>
            </a:endParaRPr>
          </a:p>
        </p:txBody>
      </p:sp>
      <p:sp>
        <p:nvSpPr>
          <p:cNvPr id="210" name="Google Shape;210;p9"/>
          <p:cNvSpPr/>
          <p:nvPr/>
        </p:nvSpPr>
        <p:spPr>
          <a:xfrm>
            <a:off x="2000250" y="737592"/>
            <a:ext cx="1714500" cy="489347"/>
          </a:xfrm>
          <a:prstGeom prst="rect">
            <a:avLst/>
          </a:prstGeom>
          <a:solidFill>
            <a:srgbClr val="2979FF">
              <a:alpha val="14901"/>
            </a:srgbClr>
          </a:solidFill>
          <a:ln cap="flat" cmpd="sng" w="9525">
            <a:solidFill>
              <a:srgbClr val="FFFFFF">
                <a:alpha val="784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11" name="Google Shape;211;p9"/>
          <p:cNvPicPr preferRelativeResize="0"/>
          <p:nvPr/>
        </p:nvPicPr>
        <p:blipFill rotWithShape="1">
          <a:blip r:embed="rId5">
            <a:alphaModFix/>
          </a:blip>
          <a:srcRect b="0" l="0" r="0" t="0"/>
          <a:stretch/>
        </p:blipFill>
        <p:spPr>
          <a:xfrm>
            <a:off x="2803922" y="816173"/>
            <a:ext cx="107156" cy="107156"/>
          </a:xfrm>
          <a:prstGeom prst="rect">
            <a:avLst/>
          </a:prstGeom>
          <a:noFill/>
          <a:ln>
            <a:noFill/>
          </a:ln>
        </p:spPr>
      </p:pic>
      <p:sp>
        <p:nvSpPr>
          <p:cNvPr id="212" name="Google Shape;212;p9"/>
          <p:cNvSpPr/>
          <p:nvPr/>
        </p:nvSpPr>
        <p:spPr>
          <a:xfrm>
            <a:off x="2691408" y="944761"/>
            <a:ext cx="332184" cy="96441"/>
          </a:xfrm>
          <a:prstGeom prst="rect">
            <a:avLst/>
          </a:prstGeom>
          <a:noFill/>
          <a:ln>
            <a:noFill/>
          </a:ln>
        </p:spPr>
        <p:txBody>
          <a:bodyPr anchorCtr="0" anchor="t" bIns="0" lIns="0" spcFirstLastPara="1" rIns="0" wrap="square" tIns="0">
            <a:noAutofit/>
          </a:bodyPr>
          <a:lstStyle/>
          <a:p>
            <a:pPr indent="0" lvl="0" marL="0" marR="0" rtl="0" algn="l">
              <a:lnSpc>
                <a:spcPct val="131086"/>
              </a:lnSpc>
              <a:spcBef>
                <a:spcPts val="0"/>
              </a:spcBef>
              <a:spcAft>
                <a:spcPts val="0"/>
              </a:spcAft>
              <a:buClr>
                <a:srgbClr val="2979FF"/>
              </a:buClr>
              <a:buSzPts val="534"/>
              <a:buFont typeface="Inter"/>
              <a:buNone/>
            </a:pPr>
            <a:r>
              <a:rPr b="1" i="0" lang="en-US" sz="534" u="none" cap="none" strike="noStrike">
                <a:solidFill>
                  <a:srgbClr val="2979FF"/>
                </a:solidFill>
                <a:latin typeface="Inter"/>
                <a:ea typeface="Inter"/>
                <a:cs typeface="Inter"/>
                <a:sym typeface="Inter"/>
              </a:rPr>
              <a:t>EES SDK</a:t>
            </a:r>
            <a:endParaRPr b="0" i="0" sz="534" u="none" cap="none" strike="noStrike">
              <a:solidFill>
                <a:schemeClr val="dk1"/>
              </a:solidFill>
              <a:latin typeface="Calibri"/>
              <a:ea typeface="Calibri"/>
              <a:cs typeface="Calibri"/>
              <a:sym typeface="Calibri"/>
            </a:endParaRPr>
          </a:p>
        </p:txBody>
      </p:sp>
      <p:sp>
        <p:nvSpPr>
          <p:cNvPr id="213" name="Google Shape;213;p9"/>
          <p:cNvSpPr/>
          <p:nvPr/>
        </p:nvSpPr>
        <p:spPr>
          <a:xfrm>
            <a:off x="2582466" y="1062633"/>
            <a:ext cx="550069" cy="85725"/>
          </a:xfrm>
          <a:prstGeom prst="rect">
            <a:avLst/>
          </a:prstGeom>
          <a:noFill/>
          <a:ln>
            <a:noFill/>
          </a:ln>
        </p:spPr>
        <p:txBody>
          <a:bodyPr anchorCtr="0" anchor="t" bIns="0" lIns="0" spcFirstLastPara="1" rIns="0" wrap="square" tIns="0">
            <a:noAutofit/>
          </a:bodyPr>
          <a:lstStyle/>
          <a:p>
            <a:pPr indent="0" lvl="0" marL="0" marR="0" rtl="0" algn="l">
              <a:lnSpc>
                <a:spcPct val="129589"/>
              </a:lnSpc>
              <a:spcBef>
                <a:spcPts val="0"/>
              </a:spcBef>
              <a:spcAft>
                <a:spcPts val="0"/>
              </a:spcAft>
              <a:buClr>
                <a:srgbClr val="2979FF"/>
              </a:buClr>
              <a:buSzPts val="463"/>
              <a:buFont typeface="Roboto Mono"/>
              <a:buNone/>
            </a:pPr>
            <a:r>
              <a:rPr b="0" i="0" lang="en-US" sz="463" u="none" cap="none" strike="noStrike">
                <a:solidFill>
                  <a:srgbClr val="2979FF"/>
                </a:solidFill>
                <a:latin typeface="Roboto Mono"/>
                <a:ea typeface="Roboto Mono"/>
                <a:cs typeface="Roboto Mono"/>
                <a:sym typeface="Roboto Mono"/>
              </a:rPr>
              <a:t>Client Library</a:t>
            </a:r>
            <a:endParaRPr b="0" i="0" sz="463" u="none" cap="none" strike="noStrike">
              <a:solidFill>
                <a:schemeClr val="dk1"/>
              </a:solidFill>
              <a:latin typeface="Calibri"/>
              <a:ea typeface="Calibri"/>
              <a:cs typeface="Calibri"/>
              <a:sym typeface="Calibri"/>
            </a:endParaRPr>
          </a:p>
        </p:txBody>
      </p:sp>
      <p:sp>
        <p:nvSpPr>
          <p:cNvPr id="214" name="Google Shape;214;p9"/>
          <p:cNvSpPr/>
          <p:nvPr/>
        </p:nvSpPr>
        <p:spPr>
          <a:xfrm>
            <a:off x="3714750" y="737592"/>
            <a:ext cx="1714500" cy="489347"/>
          </a:xfrm>
          <a:prstGeom prst="rect">
            <a:avLst/>
          </a:prstGeom>
          <a:solidFill>
            <a:srgbClr val="00E676">
              <a:alpha val="14901"/>
            </a:srgbClr>
          </a:solidFill>
          <a:ln cap="flat" cmpd="sng" w="9525">
            <a:solidFill>
              <a:srgbClr val="FFFFFF">
                <a:alpha val="784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15" name="Google Shape;215;p9"/>
          <p:cNvPicPr preferRelativeResize="0"/>
          <p:nvPr/>
        </p:nvPicPr>
        <p:blipFill rotWithShape="1">
          <a:blip r:embed="rId6">
            <a:alphaModFix/>
          </a:blip>
          <a:srcRect b="0" l="0" r="0" t="0"/>
          <a:stretch/>
        </p:blipFill>
        <p:spPr>
          <a:xfrm>
            <a:off x="4518422" y="816173"/>
            <a:ext cx="107156" cy="107156"/>
          </a:xfrm>
          <a:prstGeom prst="rect">
            <a:avLst/>
          </a:prstGeom>
          <a:noFill/>
          <a:ln>
            <a:noFill/>
          </a:ln>
        </p:spPr>
      </p:pic>
      <p:sp>
        <p:nvSpPr>
          <p:cNvPr id="216" name="Google Shape;216;p9"/>
          <p:cNvSpPr/>
          <p:nvPr/>
        </p:nvSpPr>
        <p:spPr>
          <a:xfrm>
            <a:off x="4346972" y="944761"/>
            <a:ext cx="450056" cy="96441"/>
          </a:xfrm>
          <a:prstGeom prst="rect">
            <a:avLst/>
          </a:prstGeom>
          <a:noFill/>
          <a:ln>
            <a:noFill/>
          </a:ln>
        </p:spPr>
        <p:txBody>
          <a:bodyPr anchorCtr="0" anchor="t" bIns="0" lIns="0" spcFirstLastPara="1" rIns="0" wrap="square" tIns="0">
            <a:noAutofit/>
          </a:bodyPr>
          <a:lstStyle/>
          <a:p>
            <a:pPr indent="0" lvl="0" marL="0" marR="0" rtl="0" algn="l">
              <a:lnSpc>
                <a:spcPct val="131086"/>
              </a:lnSpc>
              <a:spcBef>
                <a:spcPts val="0"/>
              </a:spcBef>
              <a:spcAft>
                <a:spcPts val="0"/>
              </a:spcAft>
              <a:buClr>
                <a:srgbClr val="00E676"/>
              </a:buClr>
              <a:buSzPts val="534"/>
              <a:buFont typeface="Inter"/>
              <a:buNone/>
            </a:pPr>
            <a:r>
              <a:rPr b="1" i="0" lang="en-US" sz="534" u="none" cap="none" strike="noStrike">
                <a:solidFill>
                  <a:srgbClr val="00E676"/>
                </a:solidFill>
                <a:latin typeface="Inter"/>
                <a:ea typeface="Inter"/>
                <a:cs typeface="Inter"/>
                <a:sym typeface="Inter"/>
              </a:rPr>
              <a:t>OpAMP API</a:t>
            </a:r>
            <a:endParaRPr b="0" i="0" sz="534" u="none" cap="none" strike="noStrike">
              <a:solidFill>
                <a:schemeClr val="dk1"/>
              </a:solidFill>
              <a:latin typeface="Calibri"/>
              <a:ea typeface="Calibri"/>
              <a:cs typeface="Calibri"/>
              <a:sym typeface="Calibri"/>
            </a:endParaRPr>
          </a:p>
        </p:txBody>
      </p:sp>
      <p:sp>
        <p:nvSpPr>
          <p:cNvPr id="217" name="Google Shape;217;p9"/>
          <p:cNvSpPr/>
          <p:nvPr/>
        </p:nvSpPr>
        <p:spPr>
          <a:xfrm>
            <a:off x="4277320" y="1062633"/>
            <a:ext cx="589359" cy="85725"/>
          </a:xfrm>
          <a:prstGeom prst="rect">
            <a:avLst/>
          </a:prstGeom>
          <a:noFill/>
          <a:ln>
            <a:noFill/>
          </a:ln>
        </p:spPr>
        <p:txBody>
          <a:bodyPr anchorCtr="0" anchor="t" bIns="0" lIns="0" spcFirstLastPara="1" rIns="0" wrap="square" tIns="0">
            <a:noAutofit/>
          </a:bodyPr>
          <a:lstStyle/>
          <a:p>
            <a:pPr indent="0" lvl="0" marL="0" marR="0" rtl="0" algn="l">
              <a:lnSpc>
                <a:spcPct val="129589"/>
              </a:lnSpc>
              <a:spcBef>
                <a:spcPts val="0"/>
              </a:spcBef>
              <a:spcAft>
                <a:spcPts val="0"/>
              </a:spcAft>
              <a:buClr>
                <a:srgbClr val="00E676"/>
              </a:buClr>
              <a:buSzPts val="463"/>
              <a:buFont typeface="Roboto Mono"/>
              <a:buNone/>
            </a:pPr>
            <a:r>
              <a:rPr b="0" i="0" lang="en-US" sz="463" u="none" cap="none" strike="noStrike">
                <a:solidFill>
                  <a:srgbClr val="00E676"/>
                </a:solidFill>
                <a:latin typeface="Roboto Mono"/>
                <a:ea typeface="Roboto Mono"/>
                <a:cs typeface="Roboto Mono"/>
                <a:sym typeface="Roboto Mono"/>
              </a:rPr>
              <a:t>Secrets Manager</a:t>
            </a:r>
            <a:endParaRPr b="0" i="0" sz="463" u="none" cap="none" strike="noStrike">
              <a:solidFill>
                <a:schemeClr val="dk1"/>
              </a:solidFill>
              <a:latin typeface="Calibri"/>
              <a:ea typeface="Calibri"/>
              <a:cs typeface="Calibri"/>
              <a:sym typeface="Calibri"/>
            </a:endParaRPr>
          </a:p>
        </p:txBody>
      </p:sp>
      <p:sp>
        <p:nvSpPr>
          <p:cNvPr id="218" name="Google Shape;218;p9"/>
          <p:cNvSpPr/>
          <p:nvPr/>
        </p:nvSpPr>
        <p:spPr>
          <a:xfrm>
            <a:off x="5429250" y="737592"/>
            <a:ext cx="1714500" cy="489347"/>
          </a:xfrm>
          <a:prstGeom prst="rect">
            <a:avLst/>
          </a:prstGeom>
          <a:solidFill>
            <a:srgbClr val="E040FB">
              <a:alpha val="14901"/>
            </a:srgbClr>
          </a:solidFill>
          <a:ln cap="flat" cmpd="sng" w="9525">
            <a:solidFill>
              <a:srgbClr val="FFFFFF">
                <a:alpha val="784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19" name="Google Shape;219;p9"/>
          <p:cNvPicPr preferRelativeResize="0"/>
          <p:nvPr/>
        </p:nvPicPr>
        <p:blipFill rotWithShape="1">
          <a:blip r:embed="rId7">
            <a:alphaModFix/>
          </a:blip>
          <a:srcRect b="0" l="0" r="0" t="0"/>
          <a:stretch/>
        </p:blipFill>
        <p:spPr>
          <a:xfrm>
            <a:off x="6232922" y="816173"/>
            <a:ext cx="107156" cy="107156"/>
          </a:xfrm>
          <a:prstGeom prst="rect">
            <a:avLst/>
          </a:prstGeom>
          <a:noFill/>
          <a:ln>
            <a:noFill/>
          </a:ln>
        </p:spPr>
      </p:pic>
      <p:sp>
        <p:nvSpPr>
          <p:cNvPr id="220" name="Google Shape;220;p9"/>
          <p:cNvSpPr/>
          <p:nvPr/>
        </p:nvSpPr>
        <p:spPr>
          <a:xfrm>
            <a:off x="6038255" y="944761"/>
            <a:ext cx="496491" cy="96441"/>
          </a:xfrm>
          <a:prstGeom prst="rect">
            <a:avLst/>
          </a:prstGeom>
          <a:noFill/>
          <a:ln>
            <a:noFill/>
          </a:ln>
        </p:spPr>
        <p:txBody>
          <a:bodyPr anchorCtr="0" anchor="t" bIns="0" lIns="0" spcFirstLastPara="1" rIns="0" wrap="square" tIns="0">
            <a:noAutofit/>
          </a:bodyPr>
          <a:lstStyle/>
          <a:p>
            <a:pPr indent="0" lvl="0" marL="0" marR="0" rtl="0" algn="l">
              <a:lnSpc>
                <a:spcPct val="131086"/>
              </a:lnSpc>
              <a:spcBef>
                <a:spcPts val="0"/>
              </a:spcBef>
              <a:spcAft>
                <a:spcPts val="0"/>
              </a:spcAft>
              <a:buClr>
                <a:srgbClr val="E040FB"/>
              </a:buClr>
              <a:buSzPts val="534"/>
              <a:buFont typeface="Inter"/>
              <a:buNone/>
            </a:pPr>
            <a:r>
              <a:rPr b="1" i="0" lang="en-US" sz="534" u="none" cap="none" strike="noStrike">
                <a:solidFill>
                  <a:srgbClr val="E040FB"/>
                </a:solidFill>
                <a:latin typeface="Inter"/>
                <a:ea typeface="Inter"/>
                <a:cs typeface="Inter"/>
                <a:sym typeface="Inter"/>
              </a:rPr>
              <a:t>Vault Transit</a:t>
            </a:r>
            <a:endParaRPr b="0" i="0" sz="534" u="none" cap="none" strike="noStrike">
              <a:solidFill>
                <a:schemeClr val="dk1"/>
              </a:solidFill>
              <a:latin typeface="Calibri"/>
              <a:ea typeface="Calibri"/>
              <a:cs typeface="Calibri"/>
              <a:sym typeface="Calibri"/>
            </a:endParaRPr>
          </a:p>
        </p:txBody>
      </p:sp>
      <p:sp>
        <p:nvSpPr>
          <p:cNvPr id="221" name="Google Shape;221;p9"/>
          <p:cNvSpPr/>
          <p:nvPr/>
        </p:nvSpPr>
        <p:spPr>
          <a:xfrm>
            <a:off x="5952530" y="1062633"/>
            <a:ext cx="667941" cy="85725"/>
          </a:xfrm>
          <a:prstGeom prst="rect">
            <a:avLst/>
          </a:prstGeom>
          <a:noFill/>
          <a:ln>
            <a:noFill/>
          </a:ln>
        </p:spPr>
        <p:txBody>
          <a:bodyPr anchorCtr="0" anchor="t" bIns="0" lIns="0" spcFirstLastPara="1" rIns="0" wrap="square" tIns="0">
            <a:noAutofit/>
          </a:bodyPr>
          <a:lstStyle/>
          <a:p>
            <a:pPr indent="0" lvl="0" marL="0" marR="0" rtl="0" algn="l">
              <a:lnSpc>
                <a:spcPct val="129589"/>
              </a:lnSpc>
              <a:spcBef>
                <a:spcPts val="0"/>
              </a:spcBef>
              <a:spcAft>
                <a:spcPts val="0"/>
              </a:spcAft>
              <a:buClr>
                <a:srgbClr val="E040FB"/>
              </a:buClr>
              <a:buSzPts val="463"/>
              <a:buFont typeface="Roboto Mono"/>
              <a:buNone/>
            </a:pPr>
            <a:r>
              <a:rPr b="0" i="0" lang="en-US" sz="463" u="none" cap="none" strike="noStrike">
                <a:solidFill>
                  <a:srgbClr val="E040FB"/>
                </a:solidFill>
                <a:latin typeface="Roboto Mono"/>
                <a:ea typeface="Roboto Mono"/>
                <a:cs typeface="Roboto Mono"/>
                <a:sym typeface="Roboto Mono"/>
              </a:rPr>
              <a:t>Encryption Engine</a:t>
            </a:r>
            <a:endParaRPr b="0" i="0" sz="463" u="none" cap="none" strike="noStrike">
              <a:solidFill>
                <a:schemeClr val="dk1"/>
              </a:solidFill>
              <a:latin typeface="Calibri"/>
              <a:ea typeface="Calibri"/>
              <a:cs typeface="Calibri"/>
              <a:sym typeface="Calibri"/>
            </a:endParaRPr>
          </a:p>
        </p:txBody>
      </p:sp>
      <p:sp>
        <p:nvSpPr>
          <p:cNvPr id="222" name="Google Shape;222;p9"/>
          <p:cNvSpPr/>
          <p:nvPr/>
        </p:nvSpPr>
        <p:spPr>
          <a:xfrm>
            <a:off x="7143750" y="737592"/>
            <a:ext cx="1714500" cy="489347"/>
          </a:xfrm>
          <a:prstGeom prst="rect">
            <a:avLst/>
          </a:prstGeom>
          <a:solidFill>
            <a:srgbClr val="FFAB40">
              <a:alpha val="14901"/>
            </a:srgbClr>
          </a:solidFill>
          <a:ln cap="flat" cmpd="sng" w="9525">
            <a:solidFill>
              <a:srgbClr val="FFFFFF">
                <a:alpha val="784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23" name="Google Shape;223;p9"/>
          <p:cNvPicPr preferRelativeResize="0"/>
          <p:nvPr/>
        </p:nvPicPr>
        <p:blipFill rotWithShape="1">
          <a:blip r:embed="rId8">
            <a:alphaModFix/>
          </a:blip>
          <a:srcRect b="0" l="0" r="0" t="0"/>
          <a:stretch/>
        </p:blipFill>
        <p:spPr>
          <a:xfrm>
            <a:off x="7947422" y="809030"/>
            <a:ext cx="107156" cy="107156"/>
          </a:xfrm>
          <a:prstGeom prst="rect">
            <a:avLst/>
          </a:prstGeom>
          <a:noFill/>
          <a:ln>
            <a:noFill/>
          </a:ln>
        </p:spPr>
      </p:pic>
      <p:sp>
        <p:nvSpPr>
          <p:cNvPr id="224" name="Google Shape;224;p9"/>
          <p:cNvSpPr/>
          <p:nvPr/>
        </p:nvSpPr>
        <p:spPr>
          <a:xfrm>
            <a:off x="7793831" y="937617"/>
            <a:ext cx="414338" cy="96441"/>
          </a:xfrm>
          <a:prstGeom prst="rect">
            <a:avLst/>
          </a:prstGeom>
          <a:noFill/>
          <a:ln>
            <a:noFill/>
          </a:ln>
        </p:spPr>
        <p:txBody>
          <a:bodyPr anchorCtr="0" anchor="t" bIns="0" lIns="0" spcFirstLastPara="1" rIns="0" wrap="square" tIns="0">
            <a:noAutofit/>
          </a:bodyPr>
          <a:lstStyle/>
          <a:p>
            <a:pPr indent="0" lvl="0" marL="0" marR="0" rtl="0" algn="l">
              <a:lnSpc>
                <a:spcPct val="131086"/>
              </a:lnSpc>
              <a:spcBef>
                <a:spcPts val="0"/>
              </a:spcBef>
              <a:spcAft>
                <a:spcPts val="0"/>
              </a:spcAft>
              <a:buClr>
                <a:srgbClr val="FFAB40"/>
              </a:buClr>
              <a:buSzPts val="534"/>
              <a:buFont typeface="Inter"/>
              <a:buNone/>
            </a:pPr>
            <a:r>
              <a:rPr b="1" i="0" lang="en-US" sz="534" u="none" cap="none" strike="noStrike">
                <a:solidFill>
                  <a:srgbClr val="FFAB40"/>
                </a:solidFill>
                <a:latin typeface="Inter"/>
                <a:ea typeface="Inter"/>
                <a:cs typeface="Inter"/>
                <a:sym typeface="Inter"/>
              </a:rPr>
              <a:t>CloudHSM</a:t>
            </a:r>
            <a:endParaRPr b="0" i="0" sz="534" u="none" cap="none" strike="noStrike">
              <a:solidFill>
                <a:schemeClr val="dk1"/>
              </a:solidFill>
              <a:latin typeface="Calibri"/>
              <a:ea typeface="Calibri"/>
              <a:cs typeface="Calibri"/>
              <a:sym typeface="Calibri"/>
            </a:endParaRPr>
          </a:p>
        </p:txBody>
      </p:sp>
      <p:sp>
        <p:nvSpPr>
          <p:cNvPr id="225" name="Google Shape;225;p9"/>
          <p:cNvSpPr/>
          <p:nvPr/>
        </p:nvSpPr>
        <p:spPr>
          <a:xfrm>
            <a:off x="7745611" y="1055489"/>
            <a:ext cx="510778" cy="85725"/>
          </a:xfrm>
          <a:prstGeom prst="rect">
            <a:avLst/>
          </a:prstGeom>
          <a:noFill/>
          <a:ln>
            <a:noFill/>
          </a:ln>
        </p:spPr>
        <p:txBody>
          <a:bodyPr anchorCtr="0" anchor="t" bIns="0" lIns="0" spcFirstLastPara="1" rIns="0" wrap="square" tIns="0">
            <a:noAutofit/>
          </a:bodyPr>
          <a:lstStyle/>
          <a:p>
            <a:pPr indent="0" lvl="0" marL="0" marR="0" rtl="0" algn="l">
              <a:lnSpc>
                <a:spcPct val="129589"/>
              </a:lnSpc>
              <a:spcBef>
                <a:spcPts val="0"/>
              </a:spcBef>
              <a:spcAft>
                <a:spcPts val="0"/>
              </a:spcAft>
              <a:buClr>
                <a:srgbClr val="FFAB40"/>
              </a:buClr>
              <a:buSzPts val="463"/>
              <a:buFont typeface="Roboto Mono"/>
              <a:buNone/>
            </a:pPr>
            <a:r>
              <a:rPr b="0" i="0" lang="en-US" sz="463" u="none" cap="none" strike="noStrike">
                <a:solidFill>
                  <a:srgbClr val="FFAB40"/>
                </a:solidFill>
                <a:latin typeface="Roboto Mono"/>
                <a:ea typeface="Roboto Mono"/>
                <a:cs typeface="Roboto Mono"/>
                <a:sym typeface="Roboto Mono"/>
              </a:rPr>
              <a:t>FIPS 140-2 L3</a:t>
            </a:r>
            <a:endParaRPr b="0" i="0" sz="463" u="none" cap="none" strike="noStrike">
              <a:solidFill>
                <a:schemeClr val="dk1"/>
              </a:solidFill>
              <a:latin typeface="Calibri"/>
              <a:ea typeface="Calibri"/>
              <a:cs typeface="Calibri"/>
              <a:sym typeface="Calibri"/>
            </a:endParaRPr>
          </a:p>
        </p:txBody>
      </p:sp>
      <p:sp>
        <p:nvSpPr>
          <p:cNvPr id="226" name="Google Shape;226;p9"/>
          <p:cNvSpPr/>
          <p:nvPr/>
        </p:nvSpPr>
        <p:spPr>
          <a:xfrm>
            <a:off x="285750" y="1212652"/>
            <a:ext cx="8572500" cy="3429000"/>
          </a:xfrm>
          <a:prstGeom prst="rect">
            <a:avLst/>
          </a:prstGeom>
          <a:solidFill>
            <a:srgbClr val="FFFFFF">
              <a:alpha val="117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9"/>
          <p:cNvSpPr/>
          <p:nvPr/>
        </p:nvSpPr>
        <p:spPr>
          <a:xfrm>
            <a:off x="8851106" y="1212652"/>
            <a:ext cx="7144" cy="3429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9"/>
          <p:cNvSpPr/>
          <p:nvPr/>
        </p:nvSpPr>
        <p:spPr>
          <a:xfrm>
            <a:off x="285750" y="1212652"/>
            <a:ext cx="7144" cy="3429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9"/>
          <p:cNvSpPr/>
          <p:nvPr/>
        </p:nvSpPr>
        <p:spPr>
          <a:xfrm>
            <a:off x="285750" y="1212652"/>
            <a:ext cx="8572500" cy="371475"/>
          </a:xfrm>
          <a:prstGeom prst="rect">
            <a:avLst/>
          </a:prstGeom>
          <a:solidFill>
            <a:srgbClr val="FFFFFF">
              <a:alpha val="19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9"/>
          <p:cNvSpPr/>
          <p:nvPr/>
        </p:nvSpPr>
        <p:spPr>
          <a:xfrm>
            <a:off x="285750" y="1576983"/>
            <a:ext cx="8572500" cy="714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9"/>
          <p:cNvSpPr/>
          <p:nvPr/>
        </p:nvSpPr>
        <p:spPr>
          <a:xfrm>
            <a:off x="1078706" y="1334095"/>
            <a:ext cx="128588" cy="128588"/>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9"/>
          <p:cNvSpPr/>
          <p:nvPr/>
        </p:nvSpPr>
        <p:spPr>
          <a:xfrm>
            <a:off x="1078706" y="1334095"/>
            <a:ext cx="128588" cy="128588"/>
          </a:xfrm>
          <a:prstGeom prst="rect">
            <a:avLst/>
          </a:prstGeom>
          <a:noFill/>
          <a:ln>
            <a:noFill/>
          </a:ln>
        </p:spPr>
        <p:txBody>
          <a:bodyPr anchorCtr="0" anchor="ctr" bIns="0" lIns="0" spcFirstLastPara="1" rIns="0" wrap="square" tIns="0">
            <a:noAutofit/>
          </a:bodyPr>
          <a:lstStyle/>
          <a:p>
            <a:pPr indent="0" lvl="0" marL="0" marR="0" rtl="0" algn="ctr">
              <a:lnSpc>
                <a:spcPct val="137931"/>
              </a:lnSpc>
              <a:spcBef>
                <a:spcPts val="0"/>
              </a:spcBef>
              <a:spcAft>
                <a:spcPts val="0"/>
              </a:spcAft>
              <a:buClr>
                <a:srgbClr val="0D1B2A"/>
              </a:buClr>
              <a:buSzPts val="435"/>
              <a:buFont typeface="Roboto Mono"/>
              <a:buNone/>
            </a:pPr>
            <a:r>
              <a:rPr b="1" i="0" lang="en-US" sz="435" u="none" cap="none" strike="noStrike">
                <a:solidFill>
                  <a:srgbClr val="0D1B2A"/>
                </a:solidFill>
                <a:latin typeface="Roboto Mono"/>
                <a:ea typeface="Roboto Mono"/>
                <a:cs typeface="Roboto Mono"/>
                <a:sym typeface="Roboto Mono"/>
              </a:rPr>
              <a:t>1</a:t>
            </a:r>
            <a:endParaRPr b="0" i="0" sz="435" u="none" cap="none" strike="noStrike">
              <a:solidFill>
                <a:schemeClr val="dk1"/>
              </a:solidFill>
              <a:latin typeface="Calibri"/>
              <a:ea typeface="Calibri"/>
              <a:cs typeface="Calibri"/>
              <a:sym typeface="Calibri"/>
            </a:endParaRPr>
          </a:p>
        </p:txBody>
      </p:sp>
      <p:sp>
        <p:nvSpPr>
          <p:cNvPr id="233" name="Google Shape;233;p9"/>
          <p:cNvSpPr/>
          <p:nvPr/>
        </p:nvSpPr>
        <p:spPr>
          <a:xfrm>
            <a:off x="1143000" y="1330523"/>
            <a:ext cx="1714500" cy="92869"/>
          </a:xfrm>
          <a:prstGeom prst="rect">
            <a:avLst/>
          </a:prstGeom>
          <a:noFill/>
          <a:ln>
            <a:noFill/>
          </a:ln>
        </p:spPr>
        <p:txBody>
          <a:bodyPr anchorCtr="0" anchor="t" bIns="0" lIns="0" spcFirstLastPara="1" rIns="0" wrap="square" tIns="0">
            <a:noAutofit/>
          </a:bodyPr>
          <a:lstStyle/>
          <a:p>
            <a:pPr indent="0" lvl="0" marL="0" marR="0" rtl="0" algn="ctr">
              <a:lnSpc>
                <a:spcPct val="135658"/>
              </a:lnSpc>
              <a:spcBef>
                <a:spcPts val="0"/>
              </a:spcBef>
              <a:spcAft>
                <a:spcPts val="0"/>
              </a:spcAft>
              <a:buClr>
                <a:srgbClr val="00E5FF"/>
              </a:buClr>
              <a:buSzPts val="516"/>
              <a:buFont typeface="Roboto Mono"/>
              <a:buNone/>
            </a:pPr>
            <a:r>
              <a:rPr b="0" i="0" lang="en-US" sz="516" u="none" cap="none" strike="noStrike">
                <a:solidFill>
                  <a:srgbClr val="00E5FF"/>
                </a:solidFill>
                <a:latin typeface="Roboto Mono"/>
                <a:ea typeface="Roboto Mono"/>
                <a:cs typeface="Roboto Mono"/>
                <a:sym typeface="Roboto Mono"/>
              </a:rPr>
              <a:t>encryptFile</a:t>
            </a:r>
            <a:r>
              <a:rPr b="0" i="0" lang="en-US" sz="516" u="none" cap="none" strike="noStrike">
                <a:solidFill>
                  <a:srgbClr val="B0BEC5"/>
                </a:solidFill>
                <a:latin typeface="Roboto Mono"/>
                <a:ea typeface="Roboto Mono"/>
                <a:cs typeface="Roboto Mono"/>
                <a:sym typeface="Roboto Mono"/>
              </a:rPr>
              <a:t>(filePath, CONFIDENTIAL)</a:t>
            </a:r>
            <a:endParaRPr b="0" i="0" sz="516" u="none" cap="none" strike="noStrike">
              <a:solidFill>
                <a:schemeClr val="dk1"/>
              </a:solidFill>
              <a:latin typeface="Calibri"/>
              <a:ea typeface="Calibri"/>
              <a:cs typeface="Calibri"/>
              <a:sym typeface="Calibri"/>
            </a:endParaRPr>
          </a:p>
        </p:txBody>
      </p:sp>
      <p:sp>
        <p:nvSpPr>
          <p:cNvPr id="234" name="Google Shape;234;p9"/>
          <p:cNvSpPr/>
          <p:nvPr/>
        </p:nvSpPr>
        <p:spPr>
          <a:xfrm>
            <a:off x="1143000" y="1451967"/>
            <a:ext cx="1714500" cy="14288"/>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9"/>
          <p:cNvSpPr/>
          <p:nvPr/>
        </p:nvSpPr>
        <p:spPr>
          <a:xfrm>
            <a:off x="2793206" y="1701998"/>
            <a:ext cx="128588" cy="128588"/>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9"/>
          <p:cNvSpPr/>
          <p:nvPr/>
        </p:nvSpPr>
        <p:spPr>
          <a:xfrm>
            <a:off x="2793206" y="1701998"/>
            <a:ext cx="128588" cy="128588"/>
          </a:xfrm>
          <a:prstGeom prst="rect">
            <a:avLst/>
          </a:prstGeom>
          <a:noFill/>
          <a:ln>
            <a:noFill/>
          </a:ln>
        </p:spPr>
        <p:txBody>
          <a:bodyPr anchorCtr="0" anchor="ctr" bIns="0" lIns="0" spcFirstLastPara="1" rIns="0" wrap="square" tIns="0">
            <a:noAutofit/>
          </a:bodyPr>
          <a:lstStyle/>
          <a:p>
            <a:pPr indent="0" lvl="0" marL="0" marR="0" rtl="0" algn="ctr">
              <a:lnSpc>
                <a:spcPct val="137931"/>
              </a:lnSpc>
              <a:spcBef>
                <a:spcPts val="0"/>
              </a:spcBef>
              <a:spcAft>
                <a:spcPts val="0"/>
              </a:spcAft>
              <a:buClr>
                <a:srgbClr val="0D1B2A"/>
              </a:buClr>
              <a:buSzPts val="435"/>
              <a:buFont typeface="Roboto Mono"/>
              <a:buNone/>
            </a:pPr>
            <a:r>
              <a:rPr b="1" i="0" lang="en-US" sz="435" u="none" cap="none" strike="noStrike">
                <a:solidFill>
                  <a:srgbClr val="0D1B2A"/>
                </a:solidFill>
                <a:latin typeface="Roboto Mono"/>
                <a:ea typeface="Roboto Mono"/>
                <a:cs typeface="Roboto Mono"/>
                <a:sym typeface="Roboto Mono"/>
              </a:rPr>
              <a:t>2</a:t>
            </a:r>
            <a:endParaRPr b="0" i="0" sz="435" u="none" cap="none" strike="noStrike">
              <a:solidFill>
                <a:schemeClr val="dk1"/>
              </a:solidFill>
              <a:latin typeface="Calibri"/>
              <a:ea typeface="Calibri"/>
              <a:cs typeface="Calibri"/>
              <a:sym typeface="Calibri"/>
            </a:endParaRPr>
          </a:p>
        </p:txBody>
      </p:sp>
      <p:sp>
        <p:nvSpPr>
          <p:cNvPr id="237" name="Google Shape;237;p9"/>
          <p:cNvSpPr/>
          <p:nvPr/>
        </p:nvSpPr>
        <p:spPr>
          <a:xfrm>
            <a:off x="3114675" y="1719858"/>
            <a:ext cx="1971675" cy="92869"/>
          </a:xfrm>
          <a:prstGeom prst="rect">
            <a:avLst/>
          </a:prstGeom>
          <a:noFill/>
          <a:ln>
            <a:noFill/>
          </a:ln>
        </p:spPr>
        <p:txBody>
          <a:bodyPr anchorCtr="0" anchor="t" bIns="0" lIns="0" spcFirstLastPara="1" rIns="0" wrap="square" tIns="0">
            <a:noAutofit/>
          </a:bodyPr>
          <a:lstStyle/>
          <a:p>
            <a:pPr indent="0" lvl="0" marL="0" marR="0" rtl="0" algn="l">
              <a:lnSpc>
                <a:spcPct val="135658"/>
              </a:lnSpc>
              <a:spcBef>
                <a:spcPts val="0"/>
              </a:spcBef>
              <a:spcAft>
                <a:spcPts val="0"/>
              </a:spcAft>
              <a:buClr>
                <a:srgbClr val="FFAB40"/>
              </a:buClr>
              <a:buSzPts val="516"/>
              <a:buFont typeface="Roboto Mono"/>
              <a:buNone/>
            </a:pPr>
            <a:r>
              <a:rPr b="0" i="0" lang="en-US" sz="516" u="none" cap="none" strike="noStrike">
                <a:solidFill>
                  <a:srgbClr val="FFAB40"/>
                </a:solidFill>
                <a:latin typeface="Roboto Mono"/>
                <a:ea typeface="Roboto Mono"/>
                <a:cs typeface="Roboto Mono"/>
                <a:sym typeface="Roboto Mono"/>
              </a:rPr>
              <a:t>Generate ephemeral 256-bit DEK via crypto/rand</a:t>
            </a:r>
            <a:endParaRPr b="0" i="0" sz="516" u="none" cap="none" strike="noStrike">
              <a:solidFill>
                <a:schemeClr val="dk1"/>
              </a:solidFill>
              <a:latin typeface="Calibri"/>
              <a:ea typeface="Calibri"/>
              <a:cs typeface="Calibri"/>
              <a:sym typeface="Calibri"/>
            </a:endParaRPr>
          </a:p>
        </p:txBody>
      </p:sp>
      <p:sp>
        <p:nvSpPr>
          <p:cNvPr id="238" name="Google Shape;238;p9"/>
          <p:cNvSpPr/>
          <p:nvPr/>
        </p:nvSpPr>
        <p:spPr>
          <a:xfrm>
            <a:off x="285750" y="1955602"/>
            <a:ext cx="8572500" cy="371475"/>
          </a:xfrm>
          <a:prstGeom prst="rect">
            <a:avLst/>
          </a:prstGeom>
          <a:solidFill>
            <a:srgbClr val="FFFFFF">
              <a:alpha val="19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9"/>
          <p:cNvSpPr/>
          <p:nvPr/>
        </p:nvSpPr>
        <p:spPr>
          <a:xfrm>
            <a:off x="285750" y="2319933"/>
            <a:ext cx="8572500" cy="714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9"/>
          <p:cNvSpPr/>
          <p:nvPr/>
        </p:nvSpPr>
        <p:spPr>
          <a:xfrm>
            <a:off x="2793206" y="2077045"/>
            <a:ext cx="128588" cy="128588"/>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9"/>
          <p:cNvSpPr/>
          <p:nvPr/>
        </p:nvSpPr>
        <p:spPr>
          <a:xfrm>
            <a:off x="2793206" y="2077045"/>
            <a:ext cx="128588" cy="128588"/>
          </a:xfrm>
          <a:prstGeom prst="rect">
            <a:avLst/>
          </a:prstGeom>
          <a:noFill/>
          <a:ln>
            <a:noFill/>
          </a:ln>
        </p:spPr>
        <p:txBody>
          <a:bodyPr anchorCtr="0" anchor="ctr" bIns="0" lIns="0" spcFirstLastPara="1" rIns="0" wrap="square" tIns="0">
            <a:noAutofit/>
          </a:bodyPr>
          <a:lstStyle/>
          <a:p>
            <a:pPr indent="0" lvl="0" marL="0" marR="0" rtl="0" algn="ctr">
              <a:lnSpc>
                <a:spcPct val="137931"/>
              </a:lnSpc>
              <a:spcBef>
                <a:spcPts val="0"/>
              </a:spcBef>
              <a:spcAft>
                <a:spcPts val="0"/>
              </a:spcAft>
              <a:buClr>
                <a:srgbClr val="0D1B2A"/>
              </a:buClr>
              <a:buSzPts val="435"/>
              <a:buFont typeface="Roboto Mono"/>
              <a:buNone/>
            </a:pPr>
            <a:r>
              <a:rPr b="1" i="0" lang="en-US" sz="435" u="none" cap="none" strike="noStrike">
                <a:solidFill>
                  <a:srgbClr val="0D1B2A"/>
                </a:solidFill>
                <a:latin typeface="Roboto Mono"/>
                <a:ea typeface="Roboto Mono"/>
                <a:cs typeface="Roboto Mono"/>
                <a:sym typeface="Roboto Mono"/>
              </a:rPr>
              <a:t>3</a:t>
            </a:r>
            <a:endParaRPr b="0" i="0" sz="435" u="none" cap="none" strike="noStrike">
              <a:solidFill>
                <a:schemeClr val="dk1"/>
              </a:solidFill>
              <a:latin typeface="Calibri"/>
              <a:ea typeface="Calibri"/>
              <a:cs typeface="Calibri"/>
              <a:sym typeface="Calibri"/>
            </a:endParaRPr>
          </a:p>
        </p:txBody>
      </p:sp>
      <p:sp>
        <p:nvSpPr>
          <p:cNvPr id="242" name="Google Shape;242;p9"/>
          <p:cNvSpPr/>
          <p:nvPr/>
        </p:nvSpPr>
        <p:spPr>
          <a:xfrm>
            <a:off x="2857500" y="2073473"/>
            <a:ext cx="1714500" cy="92869"/>
          </a:xfrm>
          <a:prstGeom prst="rect">
            <a:avLst/>
          </a:prstGeom>
          <a:noFill/>
          <a:ln>
            <a:noFill/>
          </a:ln>
        </p:spPr>
        <p:txBody>
          <a:bodyPr anchorCtr="0" anchor="t" bIns="0" lIns="0" spcFirstLastPara="1" rIns="0" wrap="square" tIns="0">
            <a:noAutofit/>
          </a:bodyPr>
          <a:lstStyle/>
          <a:p>
            <a:pPr indent="0" lvl="0" marL="0" marR="0" rtl="0" algn="ctr">
              <a:lnSpc>
                <a:spcPct val="135658"/>
              </a:lnSpc>
              <a:spcBef>
                <a:spcPts val="0"/>
              </a:spcBef>
              <a:spcAft>
                <a:spcPts val="0"/>
              </a:spcAft>
              <a:buClr>
                <a:srgbClr val="B0BEC5"/>
              </a:buClr>
              <a:buSzPts val="516"/>
              <a:buFont typeface="Roboto Mono"/>
              <a:buNone/>
            </a:pPr>
            <a:r>
              <a:rPr b="0" i="0" lang="en-US" sz="516" u="none" cap="none" strike="noStrike">
                <a:solidFill>
                  <a:srgbClr val="B0BEC5"/>
                </a:solidFill>
                <a:latin typeface="Roboto Mono"/>
                <a:ea typeface="Roboto Mono"/>
                <a:cs typeface="Roboto Mono"/>
                <a:sym typeface="Roboto Mono"/>
              </a:rPr>
              <a:t>POST </a:t>
            </a:r>
            <a:r>
              <a:rPr b="0" i="0" lang="en-US" sz="516" u="none" cap="none" strike="noStrike">
                <a:solidFill>
                  <a:srgbClr val="00E5FF"/>
                </a:solidFill>
                <a:latin typeface="Roboto Mono"/>
                <a:ea typeface="Roboto Mono"/>
                <a:cs typeface="Roboto Mono"/>
                <a:sym typeface="Roboto Mono"/>
              </a:rPr>
              <a:t>/crypto/encrypt-dek</a:t>
            </a:r>
            <a:r>
              <a:rPr b="0" i="0" lang="en-US" sz="516" u="none" cap="none" strike="noStrike">
                <a:solidFill>
                  <a:srgbClr val="B0BEC5"/>
                </a:solidFill>
                <a:latin typeface="Roboto Mono"/>
                <a:ea typeface="Roboto Mono"/>
                <a:cs typeface="Roboto Mono"/>
                <a:sym typeface="Roboto Mono"/>
              </a:rPr>
              <a:t> [mTLS]</a:t>
            </a:r>
            <a:endParaRPr b="0" i="0" sz="516" u="none" cap="none" strike="noStrike">
              <a:solidFill>
                <a:schemeClr val="dk1"/>
              </a:solidFill>
              <a:latin typeface="Calibri"/>
              <a:ea typeface="Calibri"/>
              <a:cs typeface="Calibri"/>
              <a:sym typeface="Calibri"/>
            </a:endParaRPr>
          </a:p>
        </p:txBody>
      </p:sp>
      <p:sp>
        <p:nvSpPr>
          <p:cNvPr id="243" name="Google Shape;243;p9"/>
          <p:cNvSpPr/>
          <p:nvPr/>
        </p:nvSpPr>
        <p:spPr>
          <a:xfrm>
            <a:off x="2857500" y="2194917"/>
            <a:ext cx="1714500" cy="14288"/>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9"/>
          <p:cNvSpPr/>
          <p:nvPr/>
        </p:nvSpPr>
        <p:spPr>
          <a:xfrm>
            <a:off x="4507706" y="2444948"/>
            <a:ext cx="128588" cy="128588"/>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9"/>
          <p:cNvSpPr/>
          <p:nvPr/>
        </p:nvSpPr>
        <p:spPr>
          <a:xfrm>
            <a:off x="4507706" y="2444948"/>
            <a:ext cx="128588" cy="128588"/>
          </a:xfrm>
          <a:prstGeom prst="rect">
            <a:avLst/>
          </a:prstGeom>
          <a:noFill/>
          <a:ln>
            <a:noFill/>
          </a:ln>
        </p:spPr>
        <p:txBody>
          <a:bodyPr anchorCtr="0" anchor="ctr" bIns="0" lIns="0" spcFirstLastPara="1" rIns="0" wrap="square" tIns="0">
            <a:noAutofit/>
          </a:bodyPr>
          <a:lstStyle/>
          <a:p>
            <a:pPr indent="0" lvl="0" marL="0" marR="0" rtl="0" algn="ctr">
              <a:lnSpc>
                <a:spcPct val="137931"/>
              </a:lnSpc>
              <a:spcBef>
                <a:spcPts val="0"/>
              </a:spcBef>
              <a:spcAft>
                <a:spcPts val="0"/>
              </a:spcAft>
              <a:buClr>
                <a:srgbClr val="0D1B2A"/>
              </a:buClr>
              <a:buSzPts val="435"/>
              <a:buFont typeface="Roboto Mono"/>
              <a:buNone/>
            </a:pPr>
            <a:r>
              <a:rPr b="1" i="0" lang="en-US" sz="435" u="none" cap="none" strike="noStrike">
                <a:solidFill>
                  <a:srgbClr val="0D1B2A"/>
                </a:solidFill>
                <a:latin typeface="Roboto Mono"/>
                <a:ea typeface="Roboto Mono"/>
                <a:cs typeface="Roboto Mono"/>
                <a:sym typeface="Roboto Mono"/>
              </a:rPr>
              <a:t>4</a:t>
            </a:r>
            <a:endParaRPr b="0" i="0" sz="435" u="none" cap="none" strike="noStrike">
              <a:solidFill>
                <a:schemeClr val="dk1"/>
              </a:solidFill>
              <a:latin typeface="Calibri"/>
              <a:ea typeface="Calibri"/>
              <a:cs typeface="Calibri"/>
              <a:sym typeface="Calibri"/>
            </a:endParaRPr>
          </a:p>
        </p:txBody>
      </p:sp>
      <p:sp>
        <p:nvSpPr>
          <p:cNvPr id="246" name="Google Shape;246;p9"/>
          <p:cNvSpPr/>
          <p:nvPr/>
        </p:nvSpPr>
        <p:spPr>
          <a:xfrm>
            <a:off x="4572000" y="2441377"/>
            <a:ext cx="1714500" cy="92869"/>
          </a:xfrm>
          <a:prstGeom prst="rect">
            <a:avLst/>
          </a:prstGeom>
          <a:noFill/>
          <a:ln>
            <a:noFill/>
          </a:ln>
        </p:spPr>
        <p:txBody>
          <a:bodyPr anchorCtr="0" anchor="t" bIns="0" lIns="0" spcFirstLastPara="1" rIns="0" wrap="square" tIns="0">
            <a:noAutofit/>
          </a:bodyPr>
          <a:lstStyle/>
          <a:p>
            <a:pPr indent="0" lvl="0" marL="0" marR="0" rtl="0" algn="ctr">
              <a:lnSpc>
                <a:spcPct val="135658"/>
              </a:lnSpc>
              <a:spcBef>
                <a:spcPts val="0"/>
              </a:spcBef>
              <a:spcAft>
                <a:spcPts val="0"/>
              </a:spcAft>
              <a:buClr>
                <a:srgbClr val="B0BEC5"/>
              </a:buClr>
              <a:buSzPts val="516"/>
              <a:buFont typeface="Roboto Mono"/>
              <a:buNone/>
            </a:pPr>
            <a:r>
              <a:rPr b="0" i="0" lang="en-US" sz="516" u="none" cap="none" strike="noStrike">
                <a:solidFill>
                  <a:srgbClr val="B0BEC5"/>
                </a:solidFill>
                <a:latin typeface="Roboto Mono"/>
                <a:ea typeface="Roboto Mono"/>
                <a:cs typeface="Roboto Mono"/>
                <a:sym typeface="Roboto Mono"/>
              </a:rPr>
              <a:t>transit/encrypt (DEK, KEK_v</a:t>
            </a:r>
            <a:r>
              <a:rPr b="0" i="0" lang="en-US" sz="516" u="none" cap="none" strike="noStrike">
                <a:solidFill>
                  <a:srgbClr val="00E5FF"/>
                </a:solidFill>
                <a:latin typeface="Roboto Mono"/>
                <a:ea typeface="Roboto Mono"/>
                <a:cs typeface="Roboto Mono"/>
                <a:sym typeface="Roboto Mono"/>
              </a:rPr>
              <a:t>N</a:t>
            </a:r>
            <a:r>
              <a:rPr b="0" i="0" lang="en-US" sz="516" u="none" cap="none" strike="noStrike">
                <a:solidFill>
                  <a:srgbClr val="B0BEC5"/>
                </a:solidFill>
                <a:latin typeface="Roboto Mono"/>
                <a:ea typeface="Roboto Mono"/>
                <a:cs typeface="Roboto Mono"/>
                <a:sym typeface="Roboto Mono"/>
              </a:rPr>
              <a:t>)</a:t>
            </a:r>
            <a:endParaRPr b="0" i="0" sz="516" u="none" cap="none" strike="noStrike">
              <a:solidFill>
                <a:schemeClr val="dk1"/>
              </a:solidFill>
              <a:latin typeface="Calibri"/>
              <a:ea typeface="Calibri"/>
              <a:cs typeface="Calibri"/>
              <a:sym typeface="Calibri"/>
            </a:endParaRPr>
          </a:p>
        </p:txBody>
      </p:sp>
      <p:sp>
        <p:nvSpPr>
          <p:cNvPr id="247" name="Google Shape;247;p9"/>
          <p:cNvSpPr/>
          <p:nvPr/>
        </p:nvSpPr>
        <p:spPr>
          <a:xfrm>
            <a:off x="4572000" y="2562820"/>
            <a:ext cx="1714500" cy="14288"/>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9"/>
          <p:cNvSpPr/>
          <p:nvPr/>
        </p:nvSpPr>
        <p:spPr>
          <a:xfrm>
            <a:off x="285750" y="2698552"/>
            <a:ext cx="8572500" cy="371475"/>
          </a:xfrm>
          <a:prstGeom prst="rect">
            <a:avLst/>
          </a:prstGeom>
          <a:solidFill>
            <a:srgbClr val="FFFFFF">
              <a:alpha val="19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9"/>
          <p:cNvSpPr/>
          <p:nvPr/>
        </p:nvSpPr>
        <p:spPr>
          <a:xfrm>
            <a:off x="285750" y="3062883"/>
            <a:ext cx="8572500" cy="714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9"/>
          <p:cNvSpPr/>
          <p:nvPr/>
        </p:nvSpPr>
        <p:spPr>
          <a:xfrm>
            <a:off x="6222206" y="2819995"/>
            <a:ext cx="128588" cy="128588"/>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9"/>
          <p:cNvSpPr/>
          <p:nvPr/>
        </p:nvSpPr>
        <p:spPr>
          <a:xfrm>
            <a:off x="6222206" y="2819995"/>
            <a:ext cx="128588" cy="128588"/>
          </a:xfrm>
          <a:prstGeom prst="rect">
            <a:avLst/>
          </a:prstGeom>
          <a:noFill/>
          <a:ln>
            <a:noFill/>
          </a:ln>
        </p:spPr>
        <p:txBody>
          <a:bodyPr anchorCtr="0" anchor="ctr" bIns="0" lIns="0" spcFirstLastPara="1" rIns="0" wrap="square" tIns="0">
            <a:noAutofit/>
          </a:bodyPr>
          <a:lstStyle/>
          <a:p>
            <a:pPr indent="0" lvl="0" marL="0" marR="0" rtl="0" algn="ctr">
              <a:lnSpc>
                <a:spcPct val="137931"/>
              </a:lnSpc>
              <a:spcBef>
                <a:spcPts val="0"/>
              </a:spcBef>
              <a:spcAft>
                <a:spcPts val="0"/>
              </a:spcAft>
              <a:buClr>
                <a:srgbClr val="0D1B2A"/>
              </a:buClr>
              <a:buSzPts val="435"/>
              <a:buFont typeface="Roboto Mono"/>
              <a:buNone/>
            </a:pPr>
            <a:r>
              <a:rPr b="1" i="0" lang="en-US" sz="435" u="none" cap="none" strike="noStrike">
                <a:solidFill>
                  <a:srgbClr val="0D1B2A"/>
                </a:solidFill>
                <a:latin typeface="Roboto Mono"/>
                <a:ea typeface="Roboto Mono"/>
                <a:cs typeface="Roboto Mono"/>
                <a:sym typeface="Roboto Mono"/>
              </a:rPr>
              <a:t>5</a:t>
            </a:r>
            <a:endParaRPr b="0" i="0" sz="435" u="none" cap="none" strike="noStrike">
              <a:solidFill>
                <a:schemeClr val="dk1"/>
              </a:solidFill>
              <a:latin typeface="Calibri"/>
              <a:ea typeface="Calibri"/>
              <a:cs typeface="Calibri"/>
              <a:sym typeface="Calibri"/>
            </a:endParaRPr>
          </a:p>
        </p:txBody>
      </p:sp>
      <p:sp>
        <p:nvSpPr>
          <p:cNvPr id="252" name="Google Shape;252;p9"/>
          <p:cNvSpPr/>
          <p:nvPr/>
        </p:nvSpPr>
        <p:spPr>
          <a:xfrm>
            <a:off x="6286500" y="2816423"/>
            <a:ext cx="1714500" cy="92869"/>
          </a:xfrm>
          <a:prstGeom prst="rect">
            <a:avLst/>
          </a:prstGeom>
          <a:noFill/>
          <a:ln>
            <a:noFill/>
          </a:ln>
        </p:spPr>
        <p:txBody>
          <a:bodyPr anchorCtr="0" anchor="t" bIns="0" lIns="0" spcFirstLastPara="1" rIns="0" wrap="square" tIns="0">
            <a:noAutofit/>
          </a:bodyPr>
          <a:lstStyle/>
          <a:p>
            <a:pPr indent="0" lvl="0" marL="0" marR="0" rtl="0" algn="ctr">
              <a:lnSpc>
                <a:spcPct val="135658"/>
              </a:lnSpc>
              <a:spcBef>
                <a:spcPts val="0"/>
              </a:spcBef>
              <a:spcAft>
                <a:spcPts val="0"/>
              </a:spcAft>
              <a:buClr>
                <a:srgbClr val="B0BEC5"/>
              </a:buClr>
              <a:buSzPts val="516"/>
              <a:buFont typeface="Roboto Mono"/>
              <a:buNone/>
            </a:pPr>
            <a:r>
              <a:rPr b="0" i="0" lang="en-US" sz="516" u="none" cap="none" strike="noStrike">
                <a:solidFill>
                  <a:srgbClr val="B0BEC5"/>
                </a:solidFill>
                <a:latin typeface="Roboto Mono"/>
                <a:ea typeface="Roboto Mono"/>
                <a:cs typeface="Roboto Mono"/>
                <a:sym typeface="Roboto Mono"/>
              </a:rPr>
              <a:t>PKCS#11 encrypt (KEK)</a:t>
            </a:r>
            <a:endParaRPr b="0" i="0" sz="516" u="none" cap="none" strike="noStrike">
              <a:solidFill>
                <a:schemeClr val="dk1"/>
              </a:solidFill>
              <a:latin typeface="Calibri"/>
              <a:ea typeface="Calibri"/>
              <a:cs typeface="Calibri"/>
              <a:sym typeface="Calibri"/>
            </a:endParaRPr>
          </a:p>
        </p:txBody>
      </p:sp>
      <p:sp>
        <p:nvSpPr>
          <p:cNvPr id="253" name="Google Shape;253;p9"/>
          <p:cNvSpPr/>
          <p:nvPr/>
        </p:nvSpPr>
        <p:spPr>
          <a:xfrm>
            <a:off x="6286500" y="2937867"/>
            <a:ext cx="1714500" cy="14288"/>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9"/>
          <p:cNvSpPr/>
          <p:nvPr/>
        </p:nvSpPr>
        <p:spPr>
          <a:xfrm>
            <a:off x="7936706" y="3187898"/>
            <a:ext cx="128588" cy="128588"/>
          </a:xfrm>
          <a:prstGeom prst="rect">
            <a:avLst/>
          </a:prstGeom>
          <a:solidFill>
            <a:srgbClr val="00E6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9"/>
          <p:cNvSpPr/>
          <p:nvPr/>
        </p:nvSpPr>
        <p:spPr>
          <a:xfrm>
            <a:off x="7936706" y="3187898"/>
            <a:ext cx="128588" cy="128588"/>
          </a:xfrm>
          <a:prstGeom prst="rect">
            <a:avLst/>
          </a:prstGeom>
          <a:noFill/>
          <a:ln>
            <a:noFill/>
          </a:ln>
        </p:spPr>
        <p:txBody>
          <a:bodyPr anchorCtr="0" anchor="ctr" bIns="0" lIns="0" spcFirstLastPara="1" rIns="0" wrap="square" tIns="0">
            <a:noAutofit/>
          </a:bodyPr>
          <a:lstStyle/>
          <a:p>
            <a:pPr indent="0" lvl="0" marL="0" marR="0" rtl="0" algn="ctr">
              <a:lnSpc>
                <a:spcPct val="137931"/>
              </a:lnSpc>
              <a:spcBef>
                <a:spcPts val="0"/>
              </a:spcBef>
              <a:spcAft>
                <a:spcPts val="0"/>
              </a:spcAft>
              <a:buClr>
                <a:srgbClr val="0D1B2A"/>
              </a:buClr>
              <a:buSzPts val="435"/>
              <a:buFont typeface="Roboto Mono"/>
              <a:buNone/>
            </a:pPr>
            <a:r>
              <a:rPr b="1" i="0" lang="en-US" sz="435" u="none" cap="none" strike="noStrike">
                <a:solidFill>
                  <a:srgbClr val="0D1B2A"/>
                </a:solidFill>
                <a:latin typeface="Roboto Mono"/>
                <a:ea typeface="Roboto Mono"/>
                <a:cs typeface="Roboto Mono"/>
                <a:sym typeface="Roboto Mono"/>
              </a:rPr>
              <a:t>6</a:t>
            </a:r>
            <a:endParaRPr b="0" i="0" sz="435" u="none" cap="none" strike="noStrike">
              <a:solidFill>
                <a:schemeClr val="dk1"/>
              </a:solidFill>
              <a:latin typeface="Calibri"/>
              <a:ea typeface="Calibri"/>
              <a:cs typeface="Calibri"/>
              <a:sym typeface="Calibri"/>
            </a:endParaRPr>
          </a:p>
        </p:txBody>
      </p:sp>
      <p:sp>
        <p:nvSpPr>
          <p:cNvPr id="256" name="Google Shape;256;p9"/>
          <p:cNvSpPr/>
          <p:nvPr/>
        </p:nvSpPr>
        <p:spPr>
          <a:xfrm>
            <a:off x="4807744" y="3182541"/>
            <a:ext cx="1243013" cy="94655"/>
          </a:xfrm>
          <a:prstGeom prst="rect">
            <a:avLst/>
          </a:prstGeom>
          <a:noFill/>
          <a:ln>
            <a:noFill/>
          </a:ln>
        </p:spPr>
        <p:txBody>
          <a:bodyPr anchorCtr="0" anchor="t" bIns="0" lIns="0" spcFirstLastPara="1" rIns="0" wrap="square" tIns="0">
            <a:noAutofit/>
          </a:bodyPr>
          <a:lstStyle/>
          <a:p>
            <a:pPr indent="0" lvl="0" marL="0" marR="0" rtl="0" algn="ctr">
              <a:lnSpc>
                <a:spcPct val="135658"/>
              </a:lnSpc>
              <a:spcBef>
                <a:spcPts val="0"/>
              </a:spcBef>
              <a:spcAft>
                <a:spcPts val="0"/>
              </a:spcAft>
              <a:buClr>
                <a:srgbClr val="00E676"/>
              </a:buClr>
              <a:buSzPts val="516"/>
              <a:buFont typeface="Roboto Mono"/>
              <a:buNone/>
            </a:pPr>
            <a:r>
              <a:rPr b="0" i="0" lang="en-US" sz="516" u="none" cap="none" strike="noStrike">
                <a:solidFill>
                  <a:srgbClr val="00E676"/>
                </a:solidFill>
                <a:latin typeface="Roboto Mono"/>
                <a:ea typeface="Roboto Mono"/>
                <a:cs typeface="Roboto Mono"/>
                <a:sym typeface="Roboto Mono"/>
              </a:rPr>
              <a:t>← encrypted_dek + kek_version</a:t>
            </a:r>
            <a:endParaRPr b="0" i="0" sz="516" u="none" cap="none" strike="noStrike">
              <a:solidFill>
                <a:schemeClr val="dk1"/>
              </a:solidFill>
              <a:latin typeface="Calibri"/>
              <a:ea typeface="Calibri"/>
              <a:cs typeface="Calibri"/>
              <a:sym typeface="Calibri"/>
            </a:endParaRPr>
          </a:p>
        </p:txBody>
      </p:sp>
      <p:sp>
        <p:nvSpPr>
          <p:cNvPr id="257" name="Google Shape;257;p9"/>
          <p:cNvSpPr/>
          <p:nvPr/>
        </p:nvSpPr>
        <p:spPr>
          <a:xfrm>
            <a:off x="2857500" y="3305770"/>
            <a:ext cx="5143500" cy="14288"/>
          </a:xfrm>
          <a:prstGeom prst="rect">
            <a:avLst/>
          </a:prstGeom>
          <a:solidFill>
            <a:srgbClr val="00E6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9"/>
          <p:cNvSpPr/>
          <p:nvPr/>
        </p:nvSpPr>
        <p:spPr>
          <a:xfrm>
            <a:off x="285750" y="3441502"/>
            <a:ext cx="8572500" cy="371475"/>
          </a:xfrm>
          <a:prstGeom prst="rect">
            <a:avLst/>
          </a:prstGeom>
          <a:solidFill>
            <a:srgbClr val="FFFFFF">
              <a:alpha val="19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9"/>
          <p:cNvSpPr/>
          <p:nvPr/>
        </p:nvSpPr>
        <p:spPr>
          <a:xfrm>
            <a:off x="285750" y="3805833"/>
            <a:ext cx="8572500" cy="714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9"/>
          <p:cNvSpPr/>
          <p:nvPr/>
        </p:nvSpPr>
        <p:spPr>
          <a:xfrm>
            <a:off x="2793206" y="3562945"/>
            <a:ext cx="128588" cy="128588"/>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9"/>
          <p:cNvSpPr/>
          <p:nvPr/>
        </p:nvSpPr>
        <p:spPr>
          <a:xfrm>
            <a:off x="2793206" y="3562945"/>
            <a:ext cx="128588" cy="128588"/>
          </a:xfrm>
          <a:prstGeom prst="rect">
            <a:avLst/>
          </a:prstGeom>
          <a:noFill/>
          <a:ln>
            <a:noFill/>
          </a:ln>
        </p:spPr>
        <p:txBody>
          <a:bodyPr anchorCtr="0" anchor="ctr" bIns="0" lIns="0" spcFirstLastPara="1" rIns="0" wrap="square" tIns="0">
            <a:noAutofit/>
          </a:bodyPr>
          <a:lstStyle/>
          <a:p>
            <a:pPr indent="0" lvl="0" marL="0" marR="0" rtl="0" algn="ctr">
              <a:lnSpc>
                <a:spcPct val="137931"/>
              </a:lnSpc>
              <a:spcBef>
                <a:spcPts val="0"/>
              </a:spcBef>
              <a:spcAft>
                <a:spcPts val="0"/>
              </a:spcAft>
              <a:buClr>
                <a:srgbClr val="0D1B2A"/>
              </a:buClr>
              <a:buSzPts val="435"/>
              <a:buFont typeface="Roboto Mono"/>
              <a:buNone/>
            </a:pPr>
            <a:r>
              <a:rPr b="1" i="0" lang="en-US" sz="435" u="none" cap="none" strike="noStrike">
                <a:solidFill>
                  <a:srgbClr val="0D1B2A"/>
                </a:solidFill>
                <a:latin typeface="Roboto Mono"/>
                <a:ea typeface="Roboto Mono"/>
                <a:cs typeface="Roboto Mono"/>
                <a:sym typeface="Roboto Mono"/>
              </a:rPr>
              <a:t>7</a:t>
            </a:r>
            <a:endParaRPr b="0" i="0" sz="435" u="none" cap="none" strike="noStrike">
              <a:solidFill>
                <a:schemeClr val="dk1"/>
              </a:solidFill>
              <a:latin typeface="Calibri"/>
              <a:ea typeface="Calibri"/>
              <a:cs typeface="Calibri"/>
              <a:sym typeface="Calibri"/>
            </a:endParaRPr>
          </a:p>
        </p:txBody>
      </p:sp>
      <p:sp>
        <p:nvSpPr>
          <p:cNvPr id="262" name="Google Shape;262;p9"/>
          <p:cNvSpPr/>
          <p:nvPr/>
        </p:nvSpPr>
        <p:spPr>
          <a:xfrm>
            <a:off x="3114675" y="3580805"/>
            <a:ext cx="2228850" cy="92869"/>
          </a:xfrm>
          <a:prstGeom prst="rect">
            <a:avLst/>
          </a:prstGeom>
          <a:noFill/>
          <a:ln>
            <a:noFill/>
          </a:ln>
        </p:spPr>
        <p:txBody>
          <a:bodyPr anchorCtr="0" anchor="t" bIns="0" lIns="0" spcFirstLastPara="1" rIns="0" wrap="square" tIns="0">
            <a:noAutofit/>
          </a:bodyPr>
          <a:lstStyle/>
          <a:p>
            <a:pPr indent="0" lvl="0" marL="0" marR="0" rtl="0" algn="l">
              <a:lnSpc>
                <a:spcPct val="135658"/>
              </a:lnSpc>
              <a:spcBef>
                <a:spcPts val="0"/>
              </a:spcBef>
              <a:spcAft>
                <a:spcPts val="0"/>
              </a:spcAft>
              <a:buClr>
                <a:srgbClr val="FFAB40"/>
              </a:buClr>
              <a:buSzPts val="516"/>
              <a:buFont typeface="Roboto Mono"/>
              <a:buNone/>
            </a:pPr>
            <a:r>
              <a:rPr b="0" i="0" lang="en-US" sz="516" u="none" cap="none" strike="noStrike">
                <a:solidFill>
                  <a:srgbClr val="FFAB40"/>
                </a:solidFill>
                <a:latin typeface="Roboto Mono"/>
                <a:ea typeface="Roboto Mono"/>
                <a:cs typeface="Roboto Mono"/>
                <a:sym typeface="Roboto Mono"/>
              </a:rPr>
              <a:t>AES-256-GCM encrypt file in 64KB chunks; zeroize DEK</a:t>
            </a:r>
            <a:endParaRPr b="0" i="0" sz="516" u="none" cap="none" strike="noStrike">
              <a:solidFill>
                <a:schemeClr val="dk1"/>
              </a:solidFill>
              <a:latin typeface="Calibri"/>
              <a:ea typeface="Calibri"/>
              <a:cs typeface="Calibri"/>
              <a:sym typeface="Calibri"/>
            </a:endParaRPr>
          </a:p>
        </p:txBody>
      </p:sp>
      <p:sp>
        <p:nvSpPr>
          <p:cNvPr id="263" name="Google Shape;263;p9"/>
          <p:cNvSpPr/>
          <p:nvPr/>
        </p:nvSpPr>
        <p:spPr>
          <a:xfrm>
            <a:off x="2793206" y="3930848"/>
            <a:ext cx="128588" cy="128588"/>
          </a:xfrm>
          <a:prstGeom prst="rect">
            <a:avLst/>
          </a:prstGeom>
          <a:solidFill>
            <a:srgbClr val="00E6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9"/>
          <p:cNvSpPr/>
          <p:nvPr/>
        </p:nvSpPr>
        <p:spPr>
          <a:xfrm>
            <a:off x="2793206" y="3930848"/>
            <a:ext cx="128588" cy="128588"/>
          </a:xfrm>
          <a:prstGeom prst="rect">
            <a:avLst/>
          </a:prstGeom>
          <a:noFill/>
          <a:ln>
            <a:noFill/>
          </a:ln>
        </p:spPr>
        <p:txBody>
          <a:bodyPr anchorCtr="0" anchor="ctr" bIns="0" lIns="0" spcFirstLastPara="1" rIns="0" wrap="square" tIns="0">
            <a:noAutofit/>
          </a:bodyPr>
          <a:lstStyle/>
          <a:p>
            <a:pPr indent="0" lvl="0" marL="0" marR="0" rtl="0" algn="ctr">
              <a:lnSpc>
                <a:spcPct val="137931"/>
              </a:lnSpc>
              <a:spcBef>
                <a:spcPts val="0"/>
              </a:spcBef>
              <a:spcAft>
                <a:spcPts val="0"/>
              </a:spcAft>
              <a:buClr>
                <a:srgbClr val="0D1B2A"/>
              </a:buClr>
              <a:buSzPts val="435"/>
              <a:buFont typeface="Roboto Mono"/>
              <a:buNone/>
            </a:pPr>
            <a:r>
              <a:rPr b="1" i="0" lang="en-US" sz="435" u="none" cap="none" strike="noStrike">
                <a:solidFill>
                  <a:srgbClr val="0D1B2A"/>
                </a:solidFill>
                <a:latin typeface="Roboto Mono"/>
                <a:ea typeface="Roboto Mono"/>
                <a:cs typeface="Roboto Mono"/>
                <a:sym typeface="Roboto Mono"/>
              </a:rPr>
              <a:t>8</a:t>
            </a:r>
            <a:endParaRPr b="0" i="0" sz="435" u="none" cap="none" strike="noStrike">
              <a:solidFill>
                <a:schemeClr val="dk1"/>
              </a:solidFill>
              <a:latin typeface="Calibri"/>
              <a:ea typeface="Calibri"/>
              <a:cs typeface="Calibri"/>
              <a:sym typeface="Calibri"/>
            </a:endParaRPr>
          </a:p>
        </p:txBody>
      </p:sp>
      <p:sp>
        <p:nvSpPr>
          <p:cNvPr id="265" name="Google Shape;265;p9"/>
          <p:cNvSpPr/>
          <p:nvPr/>
        </p:nvSpPr>
        <p:spPr>
          <a:xfrm>
            <a:off x="1271588" y="3925491"/>
            <a:ext cx="1457325" cy="94655"/>
          </a:xfrm>
          <a:prstGeom prst="rect">
            <a:avLst/>
          </a:prstGeom>
          <a:noFill/>
          <a:ln>
            <a:noFill/>
          </a:ln>
        </p:spPr>
        <p:txBody>
          <a:bodyPr anchorCtr="0" anchor="t" bIns="0" lIns="0" spcFirstLastPara="1" rIns="0" wrap="square" tIns="0">
            <a:noAutofit/>
          </a:bodyPr>
          <a:lstStyle/>
          <a:p>
            <a:pPr indent="0" lvl="0" marL="0" marR="0" rtl="0" algn="ctr">
              <a:lnSpc>
                <a:spcPct val="135658"/>
              </a:lnSpc>
              <a:spcBef>
                <a:spcPts val="0"/>
              </a:spcBef>
              <a:spcAft>
                <a:spcPts val="0"/>
              </a:spcAft>
              <a:buClr>
                <a:srgbClr val="00E676"/>
              </a:buClr>
              <a:buSzPts val="516"/>
              <a:buFont typeface="Roboto Mono"/>
              <a:buNone/>
            </a:pPr>
            <a:r>
              <a:rPr b="0" i="0" lang="en-US" sz="516" u="none" cap="none" strike="noStrike">
                <a:solidFill>
                  <a:srgbClr val="00E676"/>
                </a:solidFill>
                <a:latin typeface="Roboto Mono"/>
                <a:ea typeface="Roboto Mono"/>
                <a:cs typeface="Roboto Mono"/>
                <a:sym typeface="Roboto Mono"/>
              </a:rPr>
              <a:t>← EncryptedFile + metadata sidecar</a:t>
            </a:r>
            <a:endParaRPr b="0" i="0" sz="516" u="none" cap="none" strike="noStrike">
              <a:solidFill>
                <a:schemeClr val="dk1"/>
              </a:solidFill>
              <a:latin typeface="Calibri"/>
              <a:ea typeface="Calibri"/>
              <a:cs typeface="Calibri"/>
              <a:sym typeface="Calibri"/>
            </a:endParaRPr>
          </a:p>
        </p:txBody>
      </p:sp>
      <p:sp>
        <p:nvSpPr>
          <p:cNvPr id="266" name="Google Shape;266;p9"/>
          <p:cNvSpPr/>
          <p:nvPr/>
        </p:nvSpPr>
        <p:spPr>
          <a:xfrm>
            <a:off x="1143000" y="4048720"/>
            <a:ext cx="1714500" cy="14288"/>
          </a:xfrm>
          <a:prstGeom prst="rect">
            <a:avLst/>
          </a:prstGeom>
          <a:solidFill>
            <a:srgbClr val="00E6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9"/>
          <p:cNvSpPr/>
          <p:nvPr/>
        </p:nvSpPr>
        <p:spPr>
          <a:xfrm>
            <a:off x="285750" y="4748808"/>
            <a:ext cx="8572500" cy="425723"/>
          </a:xfrm>
          <a:prstGeom prst="rect">
            <a:avLst/>
          </a:prstGeom>
          <a:solidFill>
            <a:srgbClr val="00E5FF">
              <a:alpha val="3921"/>
            </a:srgbClr>
          </a:solidFill>
          <a:ln cap="flat" cmpd="sng" w="9525">
            <a:solidFill>
              <a:srgbClr val="00E5FF">
                <a:alpha val="1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68" name="Google Shape;268;p9"/>
          <p:cNvPicPr preferRelativeResize="0"/>
          <p:nvPr/>
        </p:nvPicPr>
        <p:blipFill rotWithShape="1">
          <a:blip r:embed="rId9">
            <a:alphaModFix/>
          </a:blip>
          <a:srcRect b="0" l="0" r="0" t="0"/>
          <a:stretch/>
        </p:blipFill>
        <p:spPr>
          <a:xfrm>
            <a:off x="428625" y="4897375"/>
            <a:ext cx="114300" cy="114300"/>
          </a:xfrm>
          <a:prstGeom prst="rect">
            <a:avLst/>
          </a:prstGeom>
          <a:noFill/>
          <a:ln>
            <a:noFill/>
          </a:ln>
        </p:spPr>
      </p:pic>
      <p:sp>
        <p:nvSpPr>
          <p:cNvPr id="269" name="Google Shape;269;p9"/>
          <p:cNvSpPr/>
          <p:nvPr/>
        </p:nvSpPr>
        <p:spPr>
          <a:xfrm>
            <a:off x="614363" y="4834533"/>
            <a:ext cx="8101013" cy="239985"/>
          </a:xfrm>
          <a:prstGeom prst="rect">
            <a:avLst/>
          </a:prstGeom>
          <a:noFill/>
          <a:ln>
            <a:noFill/>
          </a:ln>
        </p:spPr>
        <p:txBody>
          <a:bodyPr anchorCtr="0" anchor="t" bIns="0" lIns="0" spcFirstLastPara="1" rIns="0" wrap="square" tIns="0">
            <a:noAutofit/>
          </a:bodyPr>
          <a:lstStyle/>
          <a:p>
            <a:pPr indent="0" lvl="0" marL="0" marR="0" rtl="0" algn="l">
              <a:lnSpc>
                <a:spcPct val="144927"/>
              </a:lnSpc>
              <a:spcBef>
                <a:spcPts val="0"/>
              </a:spcBef>
              <a:spcAft>
                <a:spcPts val="0"/>
              </a:spcAft>
              <a:buClr>
                <a:srgbClr val="00E5FF"/>
              </a:buClr>
              <a:buSzPts val="584"/>
              <a:buFont typeface="Inter"/>
              <a:buNone/>
            </a:pPr>
            <a:r>
              <a:rPr b="1" i="0" lang="en-US" sz="584" u="none" cap="none" strike="noStrike">
                <a:solidFill>
                  <a:srgbClr val="00E5FF"/>
                </a:solidFill>
                <a:latin typeface="Inter"/>
                <a:ea typeface="Inter"/>
                <a:cs typeface="Inter"/>
                <a:sym typeface="Inter"/>
              </a:rPr>
              <a:t>Security Note:</a:t>
            </a:r>
            <a:r>
              <a:rPr b="0" i="0" lang="en-US" sz="621" u="none" cap="none" strike="noStrike">
                <a:solidFill>
                  <a:srgbClr val="B0BEC5"/>
                </a:solidFill>
                <a:latin typeface="Inter"/>
                <a:ea typeface="Inter"/>
                <a:cs typeface="Inter"/>
                <a:sym typeface="Inter"/>
              </a:rPr>
              <a:t> DEK exists in memory only during encryption and is zeroized immediately after. No caching is used — each file gets a unique DEK. The metadata sidecar contains the encrypted_dek, kek_version, algorithm, and file hash.</a:t>
            </a:r>
            <a:endParaRPr b="0" i="0" sz="584"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pic>
        <p:nvPicPr>
          <p:cNvPr descr="preencoded.png" id="275" name="Google Shape;275;p10"/>
          <p:cNvPicPr preferRelativeResize="0"/>
          <p:nvPr/>
        </p:nvPicPr>
        <p:blipFill rotWithShape="1">
          <a:blip r:embed="rId3">
            <a:alphaModFix/>
          </a:blip>
          <a:srcRect b="0" l="0" r="0" t="0"/>
          <a:stretch/>
        </p:blipFill>
        <p:spPr>
          <a:xfrm>
            <a:off x="57150" y="57150"/>
            <a:ext cx="9029700" cy="5293519"/>
          </a:xfrm>
          <a:prstGeom prst="rect">
            <a:avLst/>
          </a:prstGeom>
          <a:noFill/>
          <a:ln>
            <a:noFill/>
          </a:ln>
        </p:spPr>
      </p:pic>
      <p:sp>
        <p:nvSpPr>
          <p:cNvPr id="276" name="Google Shape;276;p10"/>
          <p:cNvSpPr/>
          <p:nvPr/>
        </p:nvSpPr>
        <p:spPr>
          <a:xfrm>
            <a:off x="57150" y="57150"/>
            <a:ext cx="9029700" cy="132159"/>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000000"/>
              </a:buClr>
              <a:buSzPts val="834"/>
              <a:buFont typeface="Times New Roman"/>
              <a:buNone/>
            </a:pPr>
            <a:r>
              <a:rPr b="0" i="0" lang="en-US" sz="834" u="none" cap="none" strike="noStrike">
                <a:solidFill>
                  <a:srgbClr val="000000"/>
                </a:solidFill>
                <a:latin typeface="Times New Roman"/>
                <a:ea typeface="Times New Roman"/>
                <a:cs typeface="Times New Roman"/>
                <a:sym typeface="Times New Roman"/>
              </a:rPr>
              <a:t>Code Example: Infrequent File-Based Encryption</a:t>
            </a:r>
            <a:endParaRPr b="0" i="0" sz="834" u="none" cap="none" strike="noStrike">
              <a:solidFill>
                <a:schemeClr val="dk1"/>
              </a:solidFill>
              <a:latin typeface="Calibri"/>
              <a:ea typeface="Calibri"/>
              <a:cs typeface="Calibri"/>
              <a:sym typeface="Calibri"/>
            </a:endParaRPr>
          </a:p>
        </p:txBody>
      </p:sp>
      <p:sp>
        <p:nvSpPr>
          <p:cNvPr id="277" name="Google Shape;277;p10"/>
          <p:cNvSpPr/>
          <p:nvPr/>
        </p:nvSpPr>
        <p:spPr>
          <a:xfrm>
            <a:off x="57150" y="189309"/>
            <a:ext cx="9029700" cy="132159"/>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000000"/>
              </a:buClr>
              <a:buSzPts val="834"/>
              <a:buFont typeface="Times New Roman"/>
              <a:buNone/>
            </a:pPr>
            <a:r>
              <a:rPr b="0" i="0" lang="en-US" sz="834" u="none" cap="none" strike="noStrike">
                <a:solidFill>
                  <a:srgbClr val="000000"/>
                </a:solidFill>
                <a:latin typeface="Times New Roman"/>
                <a:ea typeface="Times New Roman"/>
                <a:cs typeface="Times New Roman"/>
                <a:sym typeface="Times New Roman"/>
              </a:rPr>
              <a:t>Use Case A: Ephemeral DEK generation for batch jobs</a:t>
            </a:r>
            <a:endParaRPr b="0" i="0" sz="834" u="none" cap="none" strike="noStrike">
              <a:solidFill>
                <a:schemeClr val="dk1"/>
              </a:solidFill>
              <a:latin typeface="Calibri"/>
              <a:ea typeface="Calibri"/>
              <a:cs typeface="Calibri"/>
              <a:sym typeface="Calibri"/>
            </a:endParaRPr>
          </a:p>
        </p:txBody>
      </p:sp>
      <p:sp>
        <p:nvSpPr>
          <p:cNvPr id="278" name="Google Shape;278;p10"/>
          <p:cNvSpPr/>
          <p:nvPr/>
        </p:nvSpPr>
        <p:spPr>
          <a:xfrm>
            <a:off x="57150" y="321469"/>
            <a:ext cx="4400550" cy="5029200"/>
          </a:xfrm>
          <a:prstGeom prst="rect">
            <a:avLst/>
          </a:prstGeom>
          <a:solidFill>
            <a:srgbClr val="1E1E1E"/>
          </a:solidFill>
          <a:ln cap="flat" cmpd="sng" w="952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0"/>
          <p:cNvSpPr/>
          <p:nvPr/>
        </p:nvSpPr>
        <p:spPr>
          <a:xfrm>
            <a:off x="228600" y="492919"/>
            <a:ext cx="4057650" cy="141089"/>
          </a:xfrm>
          <a:prstGeom prst="rect">
            <a:avLst/>
          </a:prstGeom>
          <a:noFill/>
          <a:ln>
            <a:noFill/>
          </a:ln>
        </p:spPr>
        <p:txBody>
          <a:bodyPr anchorCtr="0" anchor="t" bIns="0" lIns="0" spcFirstLastPara="1" rIns="0" wrap="square" tIns="0">
            <a:noAutofit/>
          </a:bodyPr>
          <a:lstStyle/>
          <a:p>
            <a:pPr indent="0" lvl="0" marL="0" marR="0" rtl="0" algn="l">
              <a:lnSpc>
                <a:spcPct val="133689"/>
              </a:lnSpc>
              <a:spcBef>
                <a:spcPts val="0"/>
              </a:spcBef>
              <a:spcAft>
                <a:spcPts val="0"/>
              </a:spcAft>
              <a:buClr>
                <a:srgbClr val="569CD6"/>
              </a:buClr>
              <a:buSzPts val="748"/>
              <a:buFont typeface="Arial"/>
              <a:buNone/>
            </a:pPr>
            <a:r>
              <a:rPr b="0" i="0" lang="en-US" sz="748" u="none" cap="none" strike="noStrike">
                <a:solidFill>
                  <a:srgbClr val="569CD6"/>
                </a:solidFill>
                <a:latin typeface="Arial"/>
                <a:ea typeface="Arial"/>
                <a:cs typeface="Arial"/>
                <a:sym typeface="Arial"/>
              </a:rPr>
              <a:t>// 1. Initialize SDK with ASV Identity</a:t>
            </a:r>
            <a:endParaRPr b="0" i="0" sz="748" u="none" cap="none" strike="noStrike">
              <a:solidFill>
                <a:schemeClr val="dk1"/>
              </a:solidFill>
              <a:latin typeface="Calibri"/>
              <a:ea typeface="Calibri"/>
              <a:cs typeface="Calibri"/>
              <a:sym typeface="Calibri"/>
            </a:endParaRPr>
          </a:p>
        </p:txBody>
      </p:sp>
      <p:sp>
        <p:nvSpPr>
          <p:cNvPr id="280" name="Google Shape;280;p10"/>
          <p:cNvSpPr/>
          <p:nvPr/>
        </p:nvSpPr>
        <p:spPr>
          <a:xfrm>
            <a:off x="228600" y="634008"/>
            <a:ext cx="4057650" cy="141089"/>
          </a:xfrm>
          <a:prstGeom prst="rect">
            <a:avLst/>
          </a:prstGeom>
          <a:noFill/>
          <a:ln>
            <a:noFill/>
          </a:ln>
        </p:spPr>
        <p:txBody>
          <a:bodyPr anchorCtr="0" anchor="t" bIns="0" lIns="0" spcFirstLastPara="1" rIns="0" wrap="square" tIns="0">
            <a:noAutofit/>
          </a:bodyPr>
          <a:lstStyle/>
          <a:p>
            <a:pPr indent="0" lvl="0" marL="0" marR="0" rtl="0" algn="l">
              <a:lnSpc>
                <a:spcPct val="133689"/>
              </a:lnSpc>
              <a:spcBef>
                <a:spcPts val="0"/>
              </a:spcBef>
              <a:spcAft>
                <a:spcPts val="0"/>
              </a:spcAft>
              <a:buClr>
                <a:srgbClr val="4EC9B0"/>
              </a:buClr>
              <a:buSzPts val="748"/>
              <a:buFont typeface="Arial"/>
              <a:buNone/>
            </a:pPr>
            <a:r>
              <a:rPr b="0" i="0" lang="en-US" sz="748" u="none" cap="none" strike="noStrike">
                <a:solidFill>
                  <a:srgbClr val="4EC9B0"/>
                </a:solidFill>
                <a:latin typeface="Arial"/>
                <a:ea typeface="Arial"/>
                <a:cs typeface="Arial"/>
                <a:sym typeface="Arial"/>
              </a:rPr>
              <a:t>EESClient</a:t>
            </a:r>
            <a:r>
              <a:rPr b="0" i="0" lang="en-US" sz="748" u="none" cap="none" strike="noStrike">
                <a:solidFill>
                  <a:srgbClr val="D4D4D4"/>
                </a:solidFill>
                <a:latin typeface="Arial"/>
                <a:ea typeface="Arial"/>
                <a:cs typeface="Arial"/>
                <a:sym typeface="Arial"/>
              </a:rPr>
              <a:t> client = </a:t>
            </a:r>
            <a:r>
              <a:rPr b="0" i="0" lang="en-US" sz="748" u="none" cap="none" strike="noStrike">
                <a:solidFill>
                  <a:srgbClr val="4EC9B0"/>
                </a:solidFill>
                <a:latin typeface="Arial"/>
                <a:ea typeface="Arial"/>
                <a:cs typeface="Arial"/>
                <a:sym typeface="Arial"/>
              </a:rPr>
              <a:t>EESClient</a:t>
            </a:r>
            <a:r>
              <a:rPr b="0" i="0" lang="en-US" sz="748" u="none" cap="none" strike="noStrike">
                <a:solidFill>
                  <a:srgbClr val="D4D4D4"/>
                </a:solidFill>
                <a:latin typeface="Arial"/>
                <a:ea typeface="Arial"/>
                <a:cs typeface="Arial"/>
                <a:sym typeface="Arial"/>
              </a:rPr>
              <a:t>.builder()</a:t>
            </a:r>
            <a:endParaRPr b="0" i="0" sz="748" u="none" cap="none" strike="noStrike">
              <a:solidFill>
                <a:schemeClr val="dk1"/>
              </a:solidFill>
              <a:latin typeface="Calibri"/>
              <a:ea typeface="Calibri"/>
              <a:cs typeface="Calibri"/>
              <a:sym typeface="Calibri"/>
            </a:endParaRPr>
          </a:p>
        </p:txBody>
      </p:sp>
      <p:sp>
        <p:nvSpPr>
          <p:cNvPr id="281" name="Google Shape;281;p10"/>
          <p:cNvSpPr/>
          <p:nvPr/>
        </p:nvSpPr>
        <p:spPr>
          <a:xfrm>
            <a:off x="228600" y="775097"/>
            <a:ext cx="4057650" cy="141089"/>
          </a:xfrm>
          <a:prstGeom prst="rect">
            <a:avLst/>
          </a:prstGeom>
          <a:noFill/>
          <a:ln>
            <a:noFill/>
          </a:ln>
        </p:spPr>
        <p:txBody>
          <a:bodyPr anchorCtr="0" anchor="t" bIns="0" lIns="272150" spcFirstLastPara="1" rIns="0" wrap="square" tIns="0">
            <a:noAutofit/>
          </a:bodyPr>
          <a:lstStyle/>
          <a:p>
            <a:pPr indent="0" lvl="0" marL="0" marR="0" rtl="0" algn="l">
              <a:lnSpc>
                <a:spcPct val="133689"/>
              </a:lnSpc>
              <a:spcBef>
                <a:spcPts val="0"/>
              </a:spcBef>
              <a:spcAft>
                <a:spcPts val="0"/>
              </a:spcAft>
              <a:buClr>
                <a:srgbClr val="D4D4D4"/>
              </a:buClr>
              <a:buSzPts val="748"/>
              <a:buFont typeface="Arial"/>
              <a:buNone/>
            </a:pPr>
            <a:r>
              <a:rPr b="0" i="0" lang="en-US" sz="748" u="none" cap="none" strike="noStrike">
                <a:solidFill>
                  <a:srgbClr val="D4D4D4"/>
                </a:solidFill>
                <a:latin typeface="Arial"/>
                <a:ea typeface="Arial"/>
                <a:cs typeface="Arial"/>
                <a:sym typeface="Arial"/>
              </a:rPr>
              <a:t>.withIdentity(</a:t>
            </a:r>
            <a:r>
              <a:rPr b="0" i="0" lang="en-US" sz="748" u="none" cap="none" strike="noStrike">
                <a:solidFill>
                  <a:srgbClr val="CE9178"/>
                </a:solidFill>
                <a:latin typeface="Arial"/>
                <a:ea typeface="Arial"/>
                <a:cs typeface="Arial"/>
                <a:sym typeface="Arial"/>
              </a:rPr>
              <a:t>"batch-processor-asv"</a:t>
            </a:r>
            <a:r>
              <a:rPr b="0" i="0" lang="en-US" sz="748" u="none" cap="none" strike="noStrike">
                <a:solidFill>
                  <a:srgbClr val="D4D4D4"/>
                </a:solidFill>
                <a:latin typeface="Arial"/>
                <a:ea typeface="Arial"/>
                <a:cs typeface="Arial"/>
                <a:sym typeface="Arial"/>
              </a:rPr>
              <a:t>)</a:t>
            </a:r>
            <a:endParaRPr b="0" i="0" sz="748" u="none" cap="none" strike="noStrike">
              <a:solidFill>
                <a:schemeClr val="dk1"/>
              </a:solidFill>
              <a:latin typeface="Calibri"/>
              <a:ea typeface="Calibri"/>
              <a:cs typeface="Calibri"/>
              <a:sym typeface="Calibri"/>
            </a:endParaRPr>
          </a:p>
        </p:txBody>
      </p:sp>
      <p:sp>
        <p:nvSpPr>
          <p:cNvPr id="282" name="Google Shape;282;p10"/>
          <p:cNvSpPr/>
          <p:nvPr/>
        </p:nvSpPr>
        <p:spPr>
          <a:xfrm>
            <a:off x="228600" y="916186"/>
            <a:ext cx="4057650" cy="141089"/>
          </a:xfrm>
          <a:prstGeom prst="rect">
            <a:avLst/>
          </a:prstGeom>
          <a:noFill/>
          <a:ln>
            <a:noFill/>
          </a:ln>
        </p:spPr>
        <p:txBody>
          <a:bodyPr anchorCtr="0" anchor="t" bIns="0" lIns="272150" spcFirstLastPara="1" rIns="0" wrap="square" tIns="0">
            <a:noAutofit/>
          </a:bodyPr>
          <a:lstStyle/>
          <a:p>
            <a:pPr indent="0" lvl="0" marL="0" marR="0" rtl="0" algn="l">
              <a:lnSpc>
                <a:spcPct val="133689"/>
              </a:lnSpc>
              <a:spcBef>
                <a:spcPts val="0"/>
              </a:spcBef>
              <a:spcAft>
                <a:spcPts val="0"/>
              </a:spcAft>
              <a:buClr>
                <a:srgbClr val="D4D4D4"/>
              </a:buClr>
              <a:buSzPts val="748"/>
              <a:buFont typeface="Arial"/>
              <a:buNone/>
            </a:pPr>
            <a:r>
              <a:rPr b="0" i="0" lang="en-US" sz="748" u="none" cap="none" strike="noStrike">
                <a:solidFill>
                  <a:srgbClr val="D4D4D4"/>
                </a:solidFill>
                <a:latin typeface="Arial"/>
                <a:ea typeface="Arial"/>
                <a:cs typeface="Arial"/>
                <a:sym typeface="Arial"/>
              </a:rPr>
              <a:t>.build();</a:t>
            </a:r>
            <a:endParaRPr b="0" i="0" sz="748" u="none" cap="none" strike="noStrike">
              <a:solidFill>
                <a:schemeClr val="dk1"/>
              </a:solidFill>
              <a:latin typeface="Calibri"/>
              <a:ea typeface="Calibri"/>
              <a:cs typeface="Calibri"/>
              <a:sym typeface="Calibri"/>
            </a:endParaRPr>
          </a:p>
        </p:txBody>
      </p:sp>
      <p:sp>
        <p:nvSpPr>
          <p:cNvPr id="283" name="Google Shape;283;p10"/>
          <p:cNvSpPr/>
          <p:nvPr/>
        </p:nvSpPr>
        <p:spPr>
          <a:xfrm>
            <a:off x="228600" y="1198364"/>
            <a:ext cx="4057650" cy="141089"/>
          </a:xfrm>
          <a:prstGeom prst="rect">
            <a:avLst/>
          </a:prstGeom>
          <a:noFill/>
          <a:ln>
            <a:noFill/>
          </a:ln>
        </p:spPr>
        <p:txBody>
          <a:bodyPr anchorCtr="0" anchor="t" bIns="0" lIns="0" spcFirstLastPara="1" rIns="0" wrap="square" tIns="0">
            <a:noAutofit/>
          </a:bodyPr>
          <a:lstStyle/>
          <a:p>
            <a:pPr indent="0" lvl="0" marL="0" marR="0" rtl="0" algn="l">
              <a:lnSpc>
                <a:spcPct val="133689"/>
              </a:lnSpc>
              <a:spcBef>
                <a:spcPts val="0"/>
              </a:spcBef>
              <a:spcAft>
                <a:spcPts val="0"/>
              </a:spcAft>
              <a:buClr>
                <a:srgbClr val="569CD6"/>
              </a:buClr>
              <a:buSzPts val="748"/>
              <a:buFont typeface="Arial"/>
              <a:buNone/>
            </a:pPr>
            <a:r>
              <a:rPr b="0" i="0" lang="en-US" sz="748" u="none" cap="none" strike="noStrike">
                <a:solidFill>
                  <a:srgbClr val="569CD6"/>
                </a:solidFill>
                <a:latin typeface="Arial"/>
                <a:ea typeface="Arial"/>
                <a:cs typeface="Arial"/>
                <a:sym typeface="Arial"/>
              </a:rPr>
              <a:t>// 2. Read source file</a:t>
            </a:r>
            <a:endParaRPr b="0" i="0" sz="748" u="none" cap="none" strike="noStrike">
              <a:solidFill>
                <a:schemeClr val="dk1"/>
              </a:solidFill>
              <a:latin typeface="Calibri"/>
              <a:ea typeface="Calibri"/>
              <a:cs typeface="Calibri"/>
              <a:sym typeface="Calibri"/>
            </a:endParaRPr>
          </a:p>
        </p:txBody>
      </p:sp>
      <p:sp>
        <p:nvSpPr>
          <p:cNvPr id="284" name="Google Shape;284;p10"/>
          <p:cNvSpPr/>
          <p:nvPr/>
        </p:nvSpPr>
        <p:spPr>
          <a:xfrm>
            <a:off x="228600" y="1339453"/>
            <a:ext cx="4057650" cy="141089"/>
          </a:xfrm>
          <a:prstGeom prst="rect">
            <a:avLst/>
          </a:prstGeom>
          <a:noFill/>
          <a:ln>
            <a:noFill/>
          </a:ln>
        </p:spPr>
        <p:txBody>
          <a:bodyPr anchorCtr="0" anchor="t" bIns="0" lIns="0" spcFirstLastPara="1" rIns="0" wrap="square" tIns="0">
            <a:noAutofit/>
          </a:bodyPr>
          <a:lstStyle/>
          <a:p>
            <a:pPr indent="0" lvl="0" marL="0" marR="0" rtl="0" algn="l">
              <a:lnSpc>
                <a:spcPct val="133689"/>
              </a:lnSpc>
              <a:spcBef>
                <a:spcPts val="0"/>
              </a:spcBef>
              <a:spcAft>
                <a:spcPts val="0"/>
              </a:spcAft>
              <a:buClr>
                <a:srgbClr val="4EC9B0"/>
              </a:buClr>
              <a:buSzPts val="748"/>
              <a:buFont typeface="Arial"/>
              <a:buNone/>
            </a:pPr>
            <a:r>
              <a:rPr b="0" i="0" lang="en-US" sz="748" u="none" cap="none" strike="noStrike">
                <a:solidFill>
                  <a:srgbClr val="4EC9B0"/>
                </a:solidFill>
                <a:latin typeface="Arial"/>
                <a:ea typeface="Arial"/>
                <a:cs typeface="Arial"/>
                <a:sym typeface="Arial"/>
              </a:rPr>
              <a:t>byte</a:t>
            </a:r>
            <a:r>
              <a:rPr b="0" i="0" lang="en-US" sz="748" u="none" cap="none" strike="noStrike">
                <a:solidFill>
                  <a:srgbClr val="D4D4D4"/>
                </a:solidFill>
                <a:latin typeface="Arial"/>
                <a:ea typeface="Arial"/>
                <a:cs typeface="Arial"/>
                <a:sym typeface="Arial"/>
              </a:rPr>
              <a:t>[] fileData = </a:t>
            </a:r>
            <a:r>
              <a:rPr b="0" i="0" lang="en-US" sz="748" u="none" cap="none" strike="noStrike">
                <a:solidFill>
                  <a:srgbClr val="4EC9B0"/>
                </a:solidFill>
                <a:latin typeface="Arial"/>
                <a:ea typeface="Arial"/>
                <a:cs typeface="Arial"/>
                <a:sym typeface="Arial"/>
              </a:rPr>
              <a:t>Files</a:t>
            </a:r>
            <a:r>
              <a:rPr b="0" i="0" lang="en-US" sz="748" u="none" cap="none" strike="noStrike">
                <a:solidFill>
                  <a:srgbClr val="D4D4D4"/>
                </a:solidFill>
                <a:latin typeface="Arial"/>
                <a:ea typeface="Arial"/>
                <a:cs typeface="Arial"/>
                <a:sym typeface="Arial"/>
              </a:rPr>
              <a:t>.readAllBytes(sourcePath);</a:t>
            </a:r>
            <a:endParaRPr b="0" i="0" sz="748" u="none" cap="none" strike="noStrike">
              <a:solidFill>
                <a:schemeClr val="dk1"/>
              </a:solidFill>
              <a:latin typeface="Calibri"/>
              <a:ea typeface="Calibri"/>
              <a:cs typeface="Calibri"/>
              <a:sym typeface="Calibri"/>
            </a:endParaRPr>
          </a:p>
        </p:txBody>
      </p:sp>
      <p:sp>
        <p:nvSpPr>
          <p:cNvPr id="285" name="Google Shape;285;p10"/>
          <p:cNvSpPr/>
          <p:nvPr/>
        </p:nvSpPr>
        <p:spPr>
          <a:xfrm>
            <a:off x="228600" y="1621631"/>
            <a:ext cx="4057650" cy="141089"/>
          </a:xfrm>
          <a:prstGeom prst="rect">
            <a:avLst/>
          </a:prstGeom>
          <a:noFill/>
          <a:ln>
            <a:noFill/>
          </a:ln>
        </p:spPr>
        <p:txBody>
          <a:bodyPr anchorCtr="0" anchor="t" bIns="0" lIns="0" spcFirstLastPara="1" rIns="0" wrap="square" tIns="0">
            <a:noAutofit/>
          </a:bodyPr>
          <a:lstStyle/>
          <a:p>
            <a:pPr indent="0" lvl="0" marL="0" marR="0" rtl="0" algn="l">
              <a:lnSpc>
                <a:spcPct val="133689"/>
              </a:lnSpc>
              <a:spcBef>
                <a:spcPts val="0"/>
              </a:spcBef>
              <a:spcAft>
                <a:spcPts val="0"/>
              </a:spcAft>
              <a:buClr>
                <a:srgbClr val="569CD6"/>
              </a:buClr>
              <a:buSzPts val="748"/>
              <a:buFont typeface="Arial"/>
              <a:buNone/>
            </a:pPr>
            <a:r>
              <a:rPr b="0" i="0" lang="en-US" sz="748" u="none" cap="none" strike="noStrike">
                <a:solidFill>
                  <a:srgbClr val="569CD6"/>
                </a:solidFill>
                <a:latin typeface="Arial"/>
                <a:ea typeface="Arial"/>
                <a:cs typeface="Arial"/>
                <a:sym typeface="Arial"/>
              </a:rPr>
              <a:t>// 3. Encrypt with "zero crypto decisions"</a:t>
            </a:r>
            <a:endParaRPr b="0" i="0" sz="748" u="none" cap="none" strike="noStrike">
              <a:solidFill>
                <a:schemeClr val="dk1"/>
              </a:solidFill>
              <a:latin typeface="Calibri"/>
              <a:ea typeface="Calibri"/>
              <a:cs typeface="Calibri"/>
              <a:sym typeface="Calibri"/>
            </a:endParaRPr>
          </a:p>
        </p:txBody>
      </p:sp>
      <p:sp>
        <p:nvSpPr>
          <p:cNvPr id="286" name="Google Shape;286;p10"/>
          <p:cNvSpPr/>
          <p:nvPr/>
        </p:nvSpPr>
        <p:spPr>
          <a:xfrm>
            <a:off x="228600" y="1762720"/>
            <a:ext cx="4057650" cy="141089"/>
          </a:xfrm>
          <a:prstGeom prst="rect">
            <a:avLst/>
          </a:prstGeom>
          <a:noFill/>
          <a:ln>
            <a:noFill/>
          </a:ln>
        </p:spPr>
        <p:txBody>
          <a:bodyPr anchorCtr="0" anchor="t" bIns="0" lIns="0" spcFirstLastPara="1" rIns="0" wrap="square" tIns="0">
            <a:noAutofit/>
          </a:bodyPr>
          <a:lstStyle/>
          <a:p>
            <a:pPr indent="0" lvl="0" marL="0" marR="0" rtl="0" algn="l">
              <a:lnSpc>
                <a:spcPct val="133689"/>
              </a:lnSpc>
              <a:spcBef>
                <a:spcPts val="0"/>
              </a:spcBef>
              <a:spcAft>
                <a:spcPts val="0"/>
              </a:spcAft>
              <a:buClr>
                <a:srgbClr val="569CD6"/>
              </a:buClr>
              <a:buSzPts val="748"/>
              <a:buFont typeface="Arial"/>
              <a:buNone/>
            </a:pPr>
            <a:r>
              <a:rPr b="0" i="0" lang="en-US" sz="748" u="none" cap="none" strike="noStrike">
                <a:solidFill>
                  <a:srgbClr val="569CD6"/>
                </a:solidFill>
                <a:latin typeface="Arial"/>
                <a:ea typeface="Arial"/>
                <a:cs typeface="Arial"/>
                <a:sym typeface="Arial"/>
              </a:rPr>
              <a:t>// The SDK automatically requests a new DEK</a:t>
            </a:r>
            <a:endParaRPr b="0" i="0" sz="748" u="none" cap="none" strike="noStrike">
              <a:solidFill>
                <a:schemeClr val="dk1"/>
              </a:solidFill>
              <a:latin typeface="Calibri"/>
              <a:ea typeface="Calibri"/>
              <a:cs typeface="Calibri"/>
              <a:sym typeface="Calibri"/>
            </a:endParaRPr>
          </a:p>
        </p:txBody>
      </p:sp>
      <p:sp>
        <p:nvSpPr>
          <p:cNvPr id="287" name="Google Shape;287;p10"/>
          <p:cNvSpPr/>
          <p:nvPr/>
        </p:nvSpPr>
        <p:spPr>
          <a:xfrm>
            <a:off x="228600" y="1903809"/>
            <a:ext cx="4057650" cy="141089"/>
          </a:xfrm>
          <a:prstGeom prst="rect">
            <a:avLst/>
          </a:prstGeom>
          <a:noFill/>
          <a:ln>
            <a:noFill/>
          </a:ln>
        </p:spPr>
        <p:txBody>
          <a:bodyPr anchorCtr="0" anchor="t" bIns="0" lIns="0" spcFirstLastPara="1" rIns="0" wrap="square" tIns="0">
            <a:noAutofit/>
          </a:bodyPr>
          <a:lstStyle/>
          <a:p>
            <a:pPr indent="0" lvl="0" marL="0" marR="0" rtl="0" algn="l">
              <a:lnSpc>
                <a:spcPct val="133689"/>
              </a:lnSpc>
              <a:spcBef>
                <a:spcPts val="0"/>
              </a:spcBef>
              <a:spcAft>
                <a:spcPts val="0"/>
              </a:spcAft>
              <a:buClr>
                <a:srgbClr val="569CD6"/>
              </a:buClr>
              <a:buSzPts val="748"/>
              <a:buFont typeface="Arial"/>
              <a:buNone/>
            </a:pPr>
            <a:r>
              <a:rPr b="0" i="0" lang="en-US" sz="748" u="none" cap="none" strike="noStrike">
                <a:solidFill>
                  <a:srgbClr val="569CD6"/>
                </a:solidFill>
                <a:latin typeface="Arial"/>
                <a:ea typeface="Arial"/>
                <a:cs typeface="Arial"/>
                <a:sym typeface="Arial"/>
              </a:rPr>
              <a:t>// from the platform and encrypts locally</a:t>
            </a:r>
            <a:endParaRPr b="0" i="0" sz="748" u="none" cap="none" strike="noStrike">
              <a:solidFill>
                <a:schemeClr val="dk1"/>
              </a:solidFill>
              <a:latin typeface="Calibri"/>
              <a:ea typeface="Calibri"/>
              <a:cs typeface="Calibri"/>
              <a:sym typeface="Calibri"/>
            </a:endParaRPr>
          </a:p>
        </p:txBody>
      </p:sp>
      <p:sp>
        <p:nvSpPr>
          <p:cNvPr id="288" name="Google Shape;288;p10"/>
          <p:cNvSpPr/>
          <p:nvPr/>
        </p:nvSpPr>
        <p:spPr>
          <a:xfrm>
            <a:off x="228600" y="2044898"/>
            <a:ext cx="4057650" cy="141089"/>
          </a:xfrm>
          <a:prstGeom prst="rect">
            <a:avLst/>
          </a:prstGeom>
          <a:noFill/>
          <a:ln>
            <a:noFill/>
          </a:ln>
        </p:spPr>
        <p:txBody>
          <a:bodyPr anchorCtr="0" anchor="t" bIns="0" lIns="0" spcFirstLastPara="1" rIns="0" wrap="square" tIns="0">
            <a:noAutofit/>
          </a:bodyPr>
          <a:lstStyle/>
          <a:p>
            <a:pPr indent="0" lvl="0" marL="0" marR="0" rtl="0" algn="l">
              <a:lnSpc>
                <a:spcPct val="133689"/>
              </a:lnSpc>
              <a:spcBef>
                <a:spcPts val="0"/>
              </a:spcBef>
              <a:spcAft>
                <a:spcPts val="0"/>
              </a:spcAft>
              <a:buClr>
                <a:srgbClr val="4EC9B0"/>
              </a:buClr>
              <a:buSzPts val="748"/>
              <a:buFont typeface="Arial"/>
              <a:buNone/>
            </a:pPr>
            <a:r>
              <a:rPr b="0" i="0" lang="en-US" sz="748" u="none" cap="none" strike="noStrike">
                <a:solidFill>
                  <a:srgbClr val="4EC9B0"/>
                </a:solidFill>
                <a:latin typeface="Arial"/>
                <a:ea typeface="Arial"/>
                <a:cs typeface="Arial"/>
                <a:sym typeface="Arial"/>
              </a:rPr>
              <a:t>EncryptedPayload</a:t>
            </a:r>
            <a:r>
              <a:rPr b="0" i="0" lang="en-US" sz="748" u="none" cap="none" strike="noStrike">
                <a:solidFill>
                  <a:srgbClr val="D4D4D4"/>
                </a:solidFill>
                <a:latin typeface="Arial"/>
                <a:ea typeface="Arial"/>
                <a:cs typeface="Arial"/>
                <a:sym typeface="Arial"/>
              </a:rPr>
              <a:t> payload = client.encrypt(</a:t>
            </a:r>
            <a:endParaRPr b="0" i="0" sz="748" u="none" cap="none" strike="noStrike">
              <a:solidFill>
                <a:schemeClr val="dk1"/>
              </a:solidFill>
              <a:latin typeface="Calibri"/>
              <a:ea typeface="Calibri"/>
              <a:cs typeface="Calibri"/>
              <a:sym typeface="Calibri"/>
            </a:endParaRPr>
          </a:p>
        </p:txBody>
      </p:sp>
      <p:sp>
        <p:nvSpPr>
          <p:cNvPr id="289" name="Google Shape;289;p10"/>
          <p:cNvSpPr/>
          <p:nvPr/>
        </p:nvSpPr>
        <p:spPr>
          <a:xfrm>
            <a:off x="228600" y="2185988"/>
            <a:ext cx="4057650" cy="141089"/>
          </a:xfrm>
          <a:prstGeom prst="rect">
            <a:avLst/>
          </a:prstGeom>
          <a:noFill/>
          <a:ln>
            <a:noFill/>
          </a:ln>
        </p:spPr>
        <p:txBody>
          <a:bodyPr anchorCtr="0" anchor="t" bIns="0" lIns="272150" spcFirstLastPara="1" rIns="0" wrap="square" tIns="0">
            <a:noAutofit/>
          </a:bodyPr>
          <a:lstStyle/>
          <a:p>
            <a:pPr indent="0" lvl="0" marL="0" marR="0" rtl="0" algn="l">
              <a:lnSpc>
                <a:spcPct val="133689"/>
              </a:lnSpc>
              <a:spcBef>
                <a:spcPts val="0"/>
              </a:spcBef>
              <a:spcAft>
                <a:spcPts val="0"/>
              </a:spcAft>
              <a:buClr>
                <a:srgbClr val="D4D4D4"/>
              </a:buClr>
              <a:buSzPts val="748"/>
              <a:buFont typeface="Arial"/>
              <a:buNone/>
            </a:pPr>
            <a:r>
              <a:rPr b="0" i="0" lang="en-US" sz="748" u="none" cap="none" strike="noStrike">
                <a:solidFill>
                  <a:srgbClr val="D4D4D4"/>
                </a:solidFill>
                <a:latin typeface="Arial"/>
                <a:ea typeface="Arial"/>
                <a:cs typeface="Arial"/>
                <a:sym typeface="Arial"/>
              </a:rPr>
              <a:t>fileData,</a:t>
            </a:r>
            <a:endParaRPr b="0" i="0" sz="748" u="none" cap="none" strike="noStrike">
              <a:solidFill>
                <a:schemeClr val="dk1"/>
              </a:solidFill>
              <a:latin typeface="Calibri"/>
              <a:ea typeface="Calibri"/>
              <a:cs typeface="Calibri"/>
              <a:sym typeface="Calibri"/>
            </a:endParaRPr>
          </a:p>
        </p:txBody>
      </p:sp>
      <p:sp>
        <p:nvSpPr>
          <p:cNvPr id="290" name="Google Shape;290;p10"/>
          <p:cNvSpPr/>
          <p:nvPr/>
        </p:nvSpPr>
        <p:spPr>
          <a:xfrm>
            <a:off x="228600" y="2327077"/>
            <a:ext cx="4057650" cy="141089"/>
          </a:xfrm>
          <a:prstGeom prst="rect">
            <a:avLst/>
          </a:prstGeom>
          <a:noFill/>
          <a:ln>
            <a:noFill/>
          </a:ln>
        </p:spPr>
        <p:txBody>
          <a:bodyPr anchorCtr="0" anchor="t" bIns="0" lIns="272150" spcFirstLastPara="1" rIns="0" wrap="square" tIns="0">
            <a:noAutofit/>
          </a:bodyPr>
          <a:lstStyle/>
          <a:p>
            <a:pPr indent="0" lvl="0" marL="0" marR="0" rtl="0" algn="l">
              <a:lnSpc>
                <a:spcPct val="133689"/>
              </a:lnSpc>
              <a:spcBef>
                <a:spcPts val="0"/>
              </a:spcBef>
              <a:spcAft>
                <a:spcPts val="0"/>
              </a:spcAft>
              <a:buClr>
                <a:srgbClr val="4EC9B0"/>
              </a:buClr>
              <a:buSzPts val="748"/>
              <a:buFont typeface="Arial"/>
              <a:buNone/>
            </a:pPr>
            <a:r>
              <a:rPr b="0" i="0" lang="en-US" sz="748" u="none" cap="none" strike="noStrike">
                <a:solidFill>
                  <a:srgbClr val="4EC9B0"/>
                </a:solidFill>
                <a:latin typeface="Arial"/>
                <a:ea typeface="Arial"/>
                <a:cs typeface="Arial"/>
                <a:sym typeface="Arial"/>
              </a:rPr>
              <a:t>DataClassification</a:t>
            </a:r>
            <a:r>
              <a:rPr b="0" i="0" lang="en-US" sz="748" u="none" cap="none" strike="noStrike">
                <a:solidFill>
                  <a:srgbClr val="D4D4D4"/>
                </a:solidFill>
                <a:latin typeface="Arial"/>
                <a:ea typeface="Arial"/>
                <a:cs typeface="Arial"/>
                <a:sym typeface="Arial"/>
              </a:rPr>
              <a:t>.</a:t>
            </a:r>
            <a:r>
              <a:rPr b="0" i="0" lang="en-US" sz="748" u="none" cap="none" strike="noStrike">
                <a:solidFill>
                  <a:srgbClr val="4FC1FF"/>
                </a:solidFill>
                <a:latin typeface="Arial"/>
                <a:ea typeface="Arial"/>
                <a:cs typeface="Arial"/>
                <a:sym typeface="Arial"/>
              </a:rPr>
              <a:t>RESTRICTED</a:t>
            </a:r>
            <a:endParaRPr b="0" i="0" sz="748" u="none" cap="none" strike="noStrike">
              <a:solidFill>
                <a:schemeClr val="dk1"/>
              </a:solidFill>
              <a:latin typeface="Calibri"/>
              <a:ea typeface="Calibri"/>
              <a:cs typeface="Calibri"/>
              <a:sym typeface="Calibri"/>
            </a:endParaRPr>
          </a:p>
        </p:txBody>
      </p:sp>
      <p:sp>
        <p:nvSpPr>
          <p:cNvPr id="291" name="Google Shape;291;p10"/>
          <p:cNvSpPr/>
          <p:nvPr/>
        </p:nvSpPr>
        <p:spPr>
          <a:xfrm>
            <a:off x="228600" y="2468166"/>
            <a:ext cx="4057650" cy="141089"/>
          </a:xfrm>
          <a:prstGeom prst="rect">
            <a:avLst/>
          </a:prstGeom>
          <a:noFill/>
          <a:ln>
            <a:noFill/>
          </a:ln>
        </p:spPr>
        <p:txBody>
          <a:bodyPr anchorCtr="0" anchor="t" bIns="0" lIns="0" spcFirstLastPara="1" rIns="0" wrap="square" tIns="0">
            <a:noAutofit/>
          </a:bodyPr>
          <a:lstStyle/>
          <a:p>
            <a:pPr indent="0" lvl="0" marL="0" marR="0" rtl="0" algn="l">
              <a:lnSpc>
                <a:spcPct val="133689"/>
              </a:lnSpc>
              <a:spcBef>
                <a:spcPts val="0"/>
              </a:spcBef>
              <a:spcAft>
                <a:spcPts val="0"/>
              </a:spcAft>
              <a:buClr>
                <a:srgbClr val="D4D4D4"/>
              </a:buClr>
              <a:buSzPts val="748"/>
              <a:buFont typeface="Arial"/>
              <a:buNone/>
            </a:pPr>
            <a:r>
              <a:rPr b="0" i="0" lang="en-US" sz="748" u="none" cap="none" strike="noStrike">
                <a:solidFill>
                  <a:srgbClr val="D4D4D4"/>
                </a:solidFill>
                <a:latin typeface="Arial"/>
                <a:ea typeface="Arial"/>
                <a:cs typeface="Arial"/>
                <a:sym typeface="Arial"/>
              </a:rPr>
              <a:t>);</a:t>
            </a:r>
            <a:endParaRPr b="0" i="0" sz="748" u="none" cap="none" strike="noStrike">
              <a:solidFill>
                <a:schemeClr val="dk1"/>
              </a:solidFill>
              <a:latin typeface="Calibri"/>
              <a:ea typeface="Calibri"/>
              <a:cs typeface="Calibri"/>
              <a:sym typeface="Calibri"/>
            </a:endParaRPr>
          </a:p>
        </p:txBody>
      </p:sp>
      <p:sp>
        <p:nvSpPr>
          <p:cNvPr id="292" name="Google Shape;292;p10"/>
          <p:cNvSpPr/>
          <p:nvPr/>
        </p:nvSpPr>
        <p:spPr>
          <a:xfrm>
            <a:off x="228600" y="2750344"/>
            <a:ext cx="4057650" cy="141089"/>
          </a:xfrm>
          <a:prstGeom prst="rect">
            <a:avLst/>
          </a:prstGeom>
          <a:noFill/>
          <a:ln>
            <a:noFill/>
          </a:ln>
        </p:spPr>
        <p:txBody>
          <a:bodyPr anchorCtr="0" anchor="t" bIns="0" lIns="0" spcFirstLastPara="1" rIns="0" wrap="square" tIns="0">
            <a:noAutofit/>
          </a:bodyPr>
          <a:lstStyle/>
          <a:p>
            <a:pPr indent="0" lvl="0" marL="0" marR="0" rtl="0" algn="l">
              <a:lnSpc>
                <a:spcPct val="133689"/>
              </a:lnSpc>
              <a:spcBef>
                <a:spcPts val="0"/>
              </a:spcBef>
              <a:spcAft>
                <a:spcPts val="0"/>
              </a:spcAft>
              <a:buClr>
                <a:srgbClr val="569CD6"/>
              </a:buClr>
              <a:buSzPts val="748"/>
              <a:buFont typeface="Arial"/>
              <a:buNone/>
            </a:pPr>
            <a:r>
              <a:rPr b="0" i="0" lang="en-US" sz="748" u="none" cap="none" strike="noStrike">
                <a:solidFill>
                  <a:srgbClr val="569CD6"/>
                </a:solidFill>
                <a:latin typeface="Arial"/>
                <a:ea typeface="Arial"/>
                <a:cs typeface="Arial"/>
                <a:sym typeface="Arial"/>
              </a:rPr>
              <a:t>// 4. Save encrypted data and encrypted DEK</a:t>
            </a:r>
            <a:endParaRPr b="0" i="0" sz="748" u="none" cap="none" strike="noStrike">
              <a:solidFill>
                <a:schemeClr val="dk1"/>
              </a:solidFill>
              <a:latin typeface="Calibri"/>
              <a:ea typeface="Calibri"/>
              <a:cs typeface="Calibri"/>
              <a:sym typeface="Calibri"/>
            </a:endParaRPr>
          </a:p>
        </p:txBody>
      </p:sp>
      <p:sp>
        <p:nvSpPr>
          <p:cNvPr id="293" name="Google Shape;293;p10"/>
          <p:cNvSpPr/>
          <p:nvPr/>
        </p:nvSpPr>
        <p:spPr>
          <a:xfrm>
            <a:off x="228600" y="2891433"/>
            <a:ext cx="4057650" cy="141089"/>
          </a:xfrm>
          <a:prstGeom prst="rect">
            <a:avLst/>
          </a:prstGeom>
          <a:noFill/>
          <a:ln>
            <a:noFill/>
          </a:ln>
        </p:spPr>
        <p:txBody>
          <a:bodyPr anchorCtr="0" anchor="t" bIns="0" lIns="0" spcFirstLastPara="1" rIns="0" wrap="square" tIns="0">
            <a:noAutofit/>
          </a:bodyPr>
          <a:lstStyle/>
          <a:p>
            <a:pPr indent="0" lvl="0" marL="0" marR="0" rtl="0" algn="l">
              <a:lnSpc>
                <a:spcPct val="133689"/>
              </a:lnSpc>
              <a:spcBef>
                <a:spcPts val="0"/>
              </a:spcBef>
              <a:spcAft>
                <a:spcPts val="0"/>
              </a:spcAft>
              <a:buClr>
                <a:srgbClr val="569CD6"/>
              </a:buClr>
              <a:buSzPts val="748"/>
              <a:buFont typeface="Arial"/>
              <a:buNone/>
            </a:pPr>
            <a:r>
              <a:rPr b="0" i="0" lang="en-US" sz="748" u="none" cap="none" strike="noStrike">
                <a:solidFill>
                  <a:srgbClr val="569CD6"/>
                </a:solidFill>
                <a:latin typeface="Arial"/>
                <a:ea typeface="Arial"/>
                <a:cs typeface="Arial"/>
                <a:sym typeface="Arial"/>
              </a:rPr>
              <a:t>// The payload contains both the ciphertext</a:t>
            </a:r>
            <a:endParaRPr b="0" i="0" sz="748" u="none" cap="none" strike="noStrike">
              <a:solidFill>
                <a:schemeClr val="dk1"/>
              </a:solidFill>
              <a:latin typeface="Calibri"/>
              <a:ea typeface="Calibri"/>
              <a:cs typeface="Calibri"/>
              <a:sym typeface="Calibri"/>
            </a:endParaRPr>
          </a:p>
        </p:txBody>
      </p:sp>
      <p:sp>
        <p:nvSpPr>
          <p:cNvPr id="294" name="Google Shape;294;p10"/>
          <p:cNvSpPr/>
          <p:nvPr/>
        </p:nvSpPr>
        <p:spPr>
          <a:xfrm>
            <a:off x="228600" y="3032522"/>
            <a:ext cx="4057650" cy="141089"/>
          </a:xfrm>
          <a:prstGeom prst="rect">
            <a:avLst/>
          </a:prstGeom>
          <a:noFill/>
          <a:ln>
            <a:noFill/>
          </a:ln>
        </p:spPr>
        <p:txBody>
          <a:bodyPr anchorCtr="0" anchor="t" bIns="0" lIns="0" spcFirstLastPara="1" rIns="0" wrap="square" tIns="0">
            <a:noAutofit/>
          </a:bodyPr>
          <a:lstStyle/>
          <a:p>
            <a:pPr indent="0" lvl="0" marL="0" marR="0" rtl="0" algn="l">
              <a:lnSpc>
                <a:spcPct val="133689"/>
              </a:lnSpc>
              <a:spcBef>
                <a:spcPts val="0"/>
              </a:spcBef>
              <a:spcAft>
                <a:spcPts val="0"/>
              </a:spcAft>
              <a:buClr>
                <a:srgbClr val="569CD6"/>
              </a:buClr>
              <a:buSzPts val="748"/>
              <a:buFont typeface="Arial"/>
              <a:buNone/>
            </a:pPr>
            <a:r>
              <a:rPr b="0" i="0" lang="en-US" sz="748" u="none" cap="none" strike="noStrike">
                <a:solidFill>
                  <a:srgbClr val="569CD6"/>
                </a:solidFill>
                <a:latin typeface="Arial"/>
                <a:ea typeface="Arial"/>
                <a:cs typeface="Arial"/>
                <a:sym typeface="Arial"/>
              </a:rPr>
              <a:t>// and the KEK-wrapped DEK</a:t>
            </a:r>
            <a:endParaRPr b="0" i="0" sz="748" u="none" cap="none" strike="noStrike">
              <a:solidFill>
                <a:schemeClr val="dk1"/>
              </a:solidFill>
              <a:latin typeface="Calibri"/>
              <a:ea typeface="Calibri"/>
              <a:cs typeface="Calibri"/>
              <a:sym typeface="Calibri"/>
            </a:endParaRPr>
          </a:p>
        </p:txBody>
      </p:sp>
      <p:sp>
        <p:nvSpPr>
          <p:cNvPr id="295" name="Google Shape;295;p10"/>
          <p:cNvSpPr/>
          <p:nvPr/>
        </p:nvSpPr>
        <p:spPr>
          <a:xfrm>
            <a:off x="228600" y="3173611"/>
            <a:ext cx="4057650" cy="141089"/>
          </a:xfrm>
          <a:prstGeom prst="rect">
            <a:avLst/>
          </a:prstGeom>
          <a:noFill/>
          <a:ln>
            <a:noFill/>
          </a:ln>
        </p:spPr>
        <p:txBody>
          <a:bodyPr anchorCtr="0" anchor="t" bIns="0" lIns="0" spcFirstLastPara="1" rIns="0" wrap="square" tIns="0">
            <a:noAutofit/>
          </a:bodyPr>
          <a:lstStyle/>
          <a:p>
            <a:pPr indent="0" lvl="0" marL="0" marR="0" rtl="0" algn="l">
              <a:lnSpc>
                <a:spcPct val="133689"/>
              </a:lnSpc>
              <a:spcBef>
                <a:spcPts val="0"/>
              </a:spcBef>
              <a:spcAft>
                <a:spcPts val="0"/>
              </a:spcAft>
              <a:buClr>
                <a:srgbClr val="4EC9B0"/>
              </a:buClr>
              <a:buSzPts val="748"/>
              <a:buFont typeface="Arial"/>
              <a:buNone/>
            </a:pPr>
            <a:r>
              <a:rPr b="0" i="0" lang="en-US" sz="748" u="none" cap="none" strike="noStrike">
                <a:solidFill>
                  <a:srgbClr val="4EC9B0"/>
                </a:solidFill>
                <a:latin typeface="Arial"/>
                <a:ea typeface="Arial"/>
                <a:cs typeface="Arial"/>
                <a:sym typeface="Arial"/>
              </a:rPr>
              <a:t>Files</a:t>
            </a:r>
            <a:r>
              <a:rPr b="0" i="0" lang="en-US" sz="748" u="none" cap="none" strike="noStrike">
                <a:solidFill>
                  <a:srgbClr val="D4D4D4"/>
                </a:solidFill>
                <a:latin typeface="Arial"/>
                <a:ea typeface="Arial"/>
                <a:cs typeface="Arial"/>
                <a:sym typeface="Arial"/>
              </a:rPr>
              <a:t>.write(destPath, payload.toByteArray());</a:t>
            </a:r>
            <a:endParaRPr b="0" i="0" sz="748" u="none" cap="none" strike="noStrike">
              <a:solidFill>
                <a:schemeClr val="dk1"/>
              </a:solidFill>
              <a:latin typeface="Calibri"/>
              <a:ea typeface="Calibri"/>
              <a:cs typeface="Calibri"/>
              <a:sym typeface="Calibri"/>
            </a:endParaRPr>
          </a:p>
        </p:txBody>
      </p:sp>
      <p:sp>
        <p:nvSpPr>
          <p:cNvPr id="296" name="Google Shape;296;p10"/>
          <p:cNvSpPr/>
          <p:nvPr/>
        </p:nvSpPr>
        <p:spPr>
          <a:xfrm>
            <a:off x="228600" y="3455789"/>
            <a:ext cx="4057650" cy="141089"/>
          </a:xfrm>
          <a:prstGeom prst="rect">
            <a:avLst/>
          </a:prstGeom>
          <a:noFill/>
          <a:ln>
            <a:noFill/>
          </a:ln>
        </p:spPr>
        <p:txBody>
          <a:bodyPr anchorCtr="0" anchor="t" bIns="0" lIns="0" spcFirstLastPara="1" rIns="0" wrap="square" tIns="0">
            <a:noAutofit/>
          </a:bodyPr>
          <a:lstStyle/>
          <a:p>
            <a:pPr indent="0" lvl="0" marL="0" marR="0" rtl="0" algn="l">
              <a:lnSpc>
                <a:spcPct val="133689"/>
              </a:lnSpc>
              <a:spcBef>
                <a:spcPts val="0"/>
              </a:spcBef>
              <a:spcAft>
                <a:spcPts val="0"/>
              </a:spcAft>
              <a:buClr>
                <a:srgbClr val="569CD6"/>
              </a:buClr>
              <a:buSzPts val="748"/>
              <a:buFont typeface="Arial"/>
              <a:buNone/>
            </a:pPr>
            <a:r>
              <a:rPr b="0" i="0" lang="en-US" sz="748" u="none" cap="none" strike="noStrike">
                <a:solidFill>
                  <a:srgbClr val="569CD6"/>
                </a:solidFill>
                <a:latin typeface="Arial"/>
                <a:ea typeface="Arial"/>
                <a:cs typeface="Arial"/>
                <a:sym typeface="Arial"/>
              </a:rPr>
              <a:t>// 5. DEK is automatically zeroized from memory</a:t>
            </a:r>
            <a:endParaRPr b="0" i="0" sz="748" u="none" cap="none" strike="noStrike">
              <a:solidFill>
                <a:schemeClr val="dk1"/>
              </a:solidFill>
              <a:latin typeface="Calibri"/>
              <a:ea typeface="Calibri"/>
              <a:cs typeface="Calibri"/>
              <a:sym typeface="Calibri"/>
            </a:endParaRPr>
          </a:p>
        </p:txBody>
      </p:sp>
      <p:sp>
        <p:nvSpPr>
          <p:cNvPr id="297" name="Google Shape;297;p10"/>
          <p:cNvSpPr/>
          <p:nvPr/>
        </p:nvSpPr>
        <p:spPr>
          <a:xfrm>
            <a:off x="228600" y="3596878"/>
            <a:ext cx="4057650" cy="141089"/>
          </a:xfrm>
          <a:prstGeom prst="rect">
            <a:avLst/>
          </a:prstGeom>
          <a:noFill/>
          <a:ln>
            <a:noFill/>
          </a:ln>
        </p:spPr>
        <p:txBody>
          <a:bodyPr anchorCtr="0" anchor="t" bIns="0" lIns="0" spcFirstLastPara="1" rIns="0" wrap="square" tIns="0">
            <a:noAutofit/>
          </a:bodyPr>
          <a:lstStyle/>
          <a:p>
            <a:pPr indent="0" lvl="0" marL="0" marR="0" rtl="0" algn="l">
              <a:lnSpc>
                <a:spcPct val="133689"/>
              </a:lnSpc>
              <a:spcBef>
                <a:spcPts val="0"/>
              </a:spcBef>
              <a:spcAft>
                <a:spcPts val="0"/>
              </a:spcAft>
              <a:buClr>
                <a:srgbClr val="569CD6"/>
              </a:buClr>
              <a:buSzPts val="748"/>
              <a:buFont typeface="Arial"/>
              <a:buNone/>
            </a:pPr>
            <a:r>
              <a:rPr b="0" i="0" lang="en-US" sz="748" u="none" cap="none" strike="noStrike">
                <a:solidFill>
                  <a:srgbClr val="569CD6"/>
                </a:solidFill>
                <a:latin typeface="Arial"/>
                <a:ea typeface="Arial"/>
                <a:cs typeface="Arial"/>
                <a:sym typeface="Arial"/>
              </a:rPr>
              <a:t>// when the payload object is garbage collected</a:t>
            </a:r>
            <a:endParaRPr b="0" i="0" sz="748" u="none" cap="none" strike="noStrike">
              <a:solidFill>
                <a:schemeClr val="dk1"/>
              </a:solidFill>
              <a:latin typeface="Calibri"/>
              <a:ea typeface="Calibri"/>
              <a:cs typeface="Calibri"/>
              <a:sym typeface="Calibri"/>
            </a:endParaRPr>
          </a:p>
        </p:txBody>
      </p:sp>
      <p:sp>
        <p:nvSpPr>
          <p:cNvPr id="298" name="Google Shape;298;p10"/>
          <p:cNvSpPr/>
          <p:nvPr/>
        </p:nvSpPr>
        <p:spPr>
          <a:xfrm>
            <a:off x="4686300" y="321469"/>
            <a:ext cx="4400550" cy="2020119"/>
          </a:xfrm>
          <a:prstGeom prst="rect">
            <a:avLst/>
          </a:prstGeom>
          <a:solidFill>
            <a:srgbClr val="0078D4">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10"/>
          <p:cNvSpPr/>
          <p:nvPr/>
        </p:nvSpPr>
        <p:spPr>
          <a:xfrm>
            <a:off x="4686300" y="321469"/>
            <a:ext cx="28575" cy="2020119"/>
          </a:xfrm>
          <a:prstGeom prst="rect">
            <a:avLst/>
          </a:prstGeom>
          <a:solidFill>
            <a:srgbClr val="0078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10"/>
          <p:cNvSpPr/>
          <p:nvPr/>
        </p:nvSpPr>
        <p:spPr>
          <a:xfrm>
            <a:off x="4857750" y="492919"/>
            <a:ext cx="4057650" cy="157163"/>
          </a:xfrm>
          <a:prstGeom prst="rect">
            <a:avLst/>
          </a:prstGeom>
          <a:noFill/>
          <a:ln>
            <a:noFill/>
          </a:ln>
        </p:spPr>
        <p:txBody>
          <a:bodyPr anchorCtr="0" anchor="t" bIns="0" lIns="0" spcFirstLastPara="1" rIns="0" wrap="square" tIns="0">
            <a:noAutofit/>
          </a:bodyPr>
          <a:lstStyle/>
          <a:p>
            <a:pPr indent="0" lvl="0" marL="0" marR="0" rtl="0" algn="l">
              <a:lnSpc>
                <a:spcPct val="137420"/>
              </a:lnSpc>
              <a:spcBef>
                <a:spcPts val="0"/>
              </a:spcBef>
              <a:spcAft>
                <a:spcPts val="0"/>
              </a:spcAft>
              <a:buClr>
                <a:srgbClr val="0078D4"/>
              </a:buClr>
              <a:buSzPts val="946"/>
              <a:buFont typeface="Times New Roman"/>
              <a:buNone/>
            </a:pPr>
            <a:r>
              <a:rPr b="1" i="0" lang="en-US" sz="946" u="none" cap="none" strike="noStrike">
                <a:solidFill>
                  <a:srgbClr val="0078D4"/>
                </a:solidFill>
                <a:latin typeface="Times New Roman"/>
                <a:ea typeface="Times New Roman"/>
                <a:cs typeface="Times New Roman"/>
                <a:sym typeface="Times New Roman"/>
              </a:rPr>
              <a:t>Behind the Scenes</a:t>
            </a:r>
            <a:endParaRPr b="0" i="0" sz="946" u="none" cap="none" strike="noStrike">
              <a:solidFill>
                <a:schemeClr val="dk1"/>
              </a:solidFill>
              <a:latin typeface="Calibri"/>
              <a:ea typeface="Calibri"/>
              <a:cs typeface="Calibri"/>
              <a:sym typeface="Calibri"/>
            </a:endParaRPr>
          </a:p>
        </p:txBody>
      </p:sp>
      <p:sp>
        <p:nvSpPr>
          <p:cNvPr id="301" name="Google Shape;301;p10"/>
          <p:cNvSpPr/>
          <p:nvPr/>
        </p:nvSpPr>
        <p:spPr>
          <a:xfrm>
            <a:off x="5029200" y="707231"/>
            <a:ext cx="3886200" cy="365727"/>
          </a:xfrm>
          <a:prstGeom prst="rect">
            <a:avLst/>
          </a:prstGeom>
          <a:noFill/>
          <a:ln>
            <a:noFill/>
          </a:ln>
        </p:spPr>
        <p:txBody>
          <a:bodyPr anchorCtr="0" anchor="t" bIns="0" lIns="0" spcFirstLastPara="1" rIns="0" wrap="square" tIns="0">
            <a:noAutofit/>
          </a:bodyPr>
          <a:lstStyle/>
          <a:p>
            <a:pPr indent="-127000" lvl="0" marL="127000" marR="0" rtl="0" algn="l">
              <a:lnSpc>
                <a:spcPct val="167865"/>
              </a:lnSpc>
              <a:spcBef>
                <a:spcPts val="0"/>
              </a:spcBef>
              <a:spcAft>
                <a:spcPts val="0"/>
              </a:spcAft>
              <a:buClr>
                <a:srgbClr val="333333"/>
              </a:buClr>
              <a:buSzPts val="784"/>
              <a:buFont typeface="Times New Roman"/>
              <a:buChar char="•"/>
            </a:pPr>
            <a:r>
              <a:rPr b="1" i="0" lang="en-US" sz="784" u="none" cap="none" strike="noStrike">
                <a:solidFill>
                  <a:srgbClr val="333333"/>
                </a:solidFill>
                <a:latin typeface="Times New Roman"/>
                <a:ea typeface="Times New Roman"/>
                <a:cs typeface="Times New Roman"/>
                <a:sym typeface="Times New Roman"/>
              </a:rPr>
              <a:t>No Key Management:</a:t>
            </a:r>
            <a:r>
              <a:rPr b="0" i="0" lang="en-US" sz="834" u="none" cap="none" strike="noStrike">
                <a:solidFill>
                  <a:srgbClr val="333333"/>
                </a:solidFill>
                <a:latin typeface="Times New Roman"/>
                <a:ea typeface="Times New Roman"/>
                <a:cs typeface="Times New Roman"/>
                <a:sym typeface="Times New Roman"/>
              </a:rPr>
              <a:t> The developer never sees or handles the actual encryption key.</a:t>
            </a:r>
            <a:endParaRPr b="0" i="0" sz="784" u="none" cap="none" strike="noStrike">
              <a:solidFill>
                <a:schemeClr val="dk1"/>
              </a:solidFill>
              <a:latin typeface="Calibri"/>
              <a:ea typeface="Calibri"/>
              <a:cs typeface="Calibri"/>
              <a:sym typeface="Calibri"/>
            </a:endParaRPr>
          </a:p>
        </p:txBody>
      </p:sp>
      <p:sp>
        <p:nvSpPr>
          <p:cNvPr id="302" name="Google Shape;302;p10"/>
          <p:cNvSpPr/>
          <p:nvPr/>
        </p:nvSpPr>
        <p:spPr>
          <a:xfrm>
            <a:off x="5029200" y="1099747"/>
            <a:ext cx="997725" cy="126802"/>
          </a:xfrm>
          <a:prstGeom prst="rect">
            <a:avLst/>
          </a:prstGeom>
          <a:noFill/>
          <a:ln>
            <a:noFill/>
          </a:ln>
        </p:spPr>
        <p:txBody>
          <a:bodyPr anchorCtr="0" anchor="t" bIns="0" lIns="0" spcFirstLastPara="1" rIns="0" wrap="square" tIns="0">
            <a:noAutofit/>
          </a:bodyPr>
          <a:lstStyle/>
          <a:p>
            <a:pPr indent="-127000" lvl="0" marL="127000" marR="0" rtl="0" algn="l">
              <a:lnSpc>
                <a:spcPct val="178571"/>
              </a:lnSpc>
              <a:spcBef>
                <a:spcPts val="0"/>
              </a:spcBef>
              <a:spcAft>
                <a:spcPts val="0"/>
              </a:spcAft>
              <a:buClr>
                <a:srgbClr val="333333"/>
              </a:buClr>
              <a:buSzPts val="784"/>
              <a:buFont typeface="Times New Roman"/>
              <a:buChar char="•"/>
            </a:pPr>
            <a:r>
              <a:rPr b="1" i="0" lang="en-US" sz="784" u="none" cap="none" strike="noStrike">
                <a:solidFill>
                  <a:srgbClr val="333333"/>
                </a:solidFill>
                <a:latin typeface="Times New Roman"/>
                <a:ea typeface="Times New Roman"/>
                <a:cs typeface="Times New Roman"/>
                <a:sym typeface="Times New Roman"/>
              </a:rPr>
              <a:t>Policy Enforcement:</a:t>
            </a:r>
            <a:endParaRPr b="0" i="0" sz="784" u="none" cap="none" strike="noStrike">
              <a:solidFill>
                <a:schemeClr val="dk1"/>
              </a:solidFill>
              <a:latin typeface="Calibri"/>
              <a:ea typeface="Calibri"/>
              <a:cs typeface="Calibri"/>
              <a:sym typeface="Calibri"/>
            </a:endParaRPr>
          </a:p>
        </p:txBody>
      </p:sp>
      <p:sp>
        <p:nvSpPr>
          <p:cNvPr id="303" name="Google Shape;303;p10"/>
          <p:cNvSpPr/>
          <p:nvPr/>
        </p:nvSpPr>
        <p:spPr>
          <a:xfrm>
            <a:off x="6026925" y="1099747"/>
            <a:ext cx="232786" cy="126802"/>
          </a:xfrm>
          <a:prstGeom prst="rect">
            <a:avLst/>
          </a:prstGeom>
          <a:noFill/>
          <a:ln>
            <a:noFill/>
          </a:ln>
        </p:spPr>
        <p:txBody>
          <a:bodyPr anchorCtr="0" anchor="t" bIns="0" lIns="0" spcFirstLastPara="1" rIns="0" wrap="square" tIns="0">
            <a:noAutofit/>
          </a:bodyPr>
          <a:lstStyle/>
          <a:p>
            <a:pPr indent="0" lvl="0" marL="0" marR="0" rtl="0" algn="l">
              <a:lnSpc>
                <a:spcPct val="167865"/>
              </a:lnSpc>
              <a:spcBef>
                <a:spcPts val="0"/>
              </a:spcBef>
              <a:spcAft>
                <a:spcPts val="0"/>
              </a:spcAft>
              <a:buClr>
                <a:srgbClr val="333333"/>
              </a:buClr>
              <a:buSzPts val="834"/>
              <a:buFont typeface="Times New Roman"/>
              <a:buNone/>
            </a:pPr>
            <a:r>
              <a:rPr b="0" i="0" lang="en-US" sz="834" u="none" cap="none" strike="noStrike">
                <a:solidFill>
                  <a:srgbClr val="333333"/>
                </a:solidFill>
                <a:latin typeface="Times New Roman"/>
                <a:ea typeface="Times New Roman"/>
                <a:cs typeface="Times New Roman"/>
                <a:sym typeface="Times New Roman"/>
              </a:rPr>
              <a:t>The</a:t>
            </a:r>
            <a:endParaRPr b="0" i="0" sz="834" u="none" cap="none" strike="noStrike">
              <a:solidFill>
                <a:schemeClr val="dk1"/>
              </a:solidFill>
              <a:latin typeface="Calibri"/>
              <a:ea typeface="Calibri"/>
              <a:cs typeface="Calibri"/>
              <a:sym typeface="Calibri"/>
            </a:endParaRPr>
          </a:p>
        </p:txBody>
      </p:sp>
      <p:sp>
        <p:nvSpPr>
          <p:cNvPr id="304" name="Google Shape;304;p10"/>
          <p:cNvSpPr/>
          <p:nvPr/>
        </p:nvSpPr>
        <p:spPr>
          <a:xfrm>
            <a:off x="6259711" y="1103319"/>
            <a:ext cx="557240" cy="126802"/>
          </a:xfrm>
          <a:prstGeom prst="rect">
            <a:avLst/>
          </a:prstGeom>
          <a:noFill/>
          <a:ln>
            <a:noFill/>
          </a:ln>
        </p:spPr>
        <p:txBody>
          <a:bodyPr anchorCtr="0" anchor="t" bIns="0" lIns="0" spcFirstLastPara="1" rIns="0" wrap="square" tIns="0">
            <a:noAutofit/>
          </a:bodyPr>
          <a:lstStyle/>
          <a:p>
            <a:pPr indent="0" lvl="0" marL="0" marR="0" rtl="0" algn="l">
              <a:lnSpc>
                <a:spcPct val="178041"/>
              </a:lnSpc>
              <a:spcBef>
                <a:spcPts val="0"/>
              </a:spcBef>
              <a:spcAft>
                <a:spcPts val="0"/>
              </a:spcAft>
              <a:buClr>
                <a:srgbClr val="333333"/>
              </a:buClr>
              <a:buSzPts val="674"/>
              <a:buFont typeface="Arial"/>
              <a:buNone/>
            </a:pPr>
            <a:r>
              <a:rPr b="0" i="0" lang="en-US" sz="674" u="none" cap="none" strike="noStrike">
                <a:solidFill>
                  <a:srgbClr val="333333"/>
                </a:solidFill>
                <a:latin typeface="Arial"/>
                <a:ea typeface="Arial"/>
                <a:cs typeface="Arial"/>
                <a:sym typeface="Arial"/>
              </a:rPr>
              <a:t>RESTRICTED</a:t>
            </a:r>
            <a:endParaRPr b="0" i="0" sz="674" u="none" cap="none" strike="noStrike">
              <a:solidFill>
                <a:schemeClr val="dk1"/>
              </a:solidFill>
              <a:latin typeface="Calibri"/>
              <a:ea typeface="Calibri"/>
              <a:cs typeface="Calibri"/>
              <a:sym typeface="Calibri"/>
            </a:endParaRPr>
          </a:p>
        </p:txBody>
      </p:sp>
      <p:sp>
        <p:nvSpPr>
          <p:cNvPr id="305" name="Google Shape;305;p10"/>
          <p:cNvSpPr/>
          <p:nvPr/>
        </p:nvSpPr>
        <p:spPr>
          <a:xfrm>
            <a:off x="5029200" y="1099747"/>
            <a:ext cx="3803461" cy="309665"/>
          </a:xfrm>
          <a:prstGeom prst="rect">
            <a:avLst/>
          </a:prstGeom>
          <a:noFill/>
          <a:ln>
            <a:noFill/>
          </a:ln>
        </p:spPr>
        <p:txBody>
          <a:bodyPr anchorCtr="0" anchor="t" bIns="0" lIns="0" spcFirstLastPara="1" rIns="0" wrap="square" tIns="0">
            <a:noAutofit/>
          </a:bodyPr>
          <a:lstStyle/>
          <a:p>
            <a:pPr indent="0" lvl="0" marL="0" marR="0" rtl="0" algn="l">
              <a:lnSpc>
                <a:spcPct val="167865"/>
              </a:lnSpc>
              <a:spcBef>
                <a:spcPts val="0"/>
              </a:spcBef>
              <a:spcAft>
                <a:spcPts val="0"/>
              </a:spcAft>
              <a:buClr>
                <a:srgbClr val="333333"/>
              </a:buClr>
              <a:buSzPts val="834"/>
              <a:buFont typeface="Times New Roman"/>
              <a:buNone/>
            </a:pPr>
            <a:r>
              <a:rPr b="0" i="0" lang="en-US" sz="834" u="none" cap="none" strike="noStrike">
                <a:solidFill>
                  <a:srgbClr val="333333"/>
                </a:solidFill>
                <a:latin typeface="Times New Roman"/>
                <a:ea typeface="Times New Roman"/>
                <a:cs typeface="Times New Roman"/>
                <a:sym typeface="Times New Roman"/>
              </a:rPr>
              <a:t>classification tells the platform to use AES-256-GCM and log the operation to the high-security audit trail.</a:t>
            </a:r>
            <a:endParaRPr b="0" i="0" sz="834" u="none" cap="none" strike="noStrike">
              <a:solidFill>
                <a:schemeClr val="dk1"/>
              </a:solidFill>
              <a:latin typeface="Calibri"/>
              <a:ea typeface="Calibri"/>
              <a:cs typeface="Calibri"/>
              <a:sym typeface="Calibri"/>
            </a:endParaRPr>
          </a:p>
        </p:txBody>
      </p:sp>
      <p:sp>
        <p:nvSpPr>
          <p:cNvPr id="306" name="Google Shape;306;p10"/>
          <p:cNvSpPr/>
          <p:nvPr/>
        </p:nvSpPr>
        <p:spPr>
          <a:xfrm>
            <a:off x="5029200" y="1438684"/>
            <a:ext cx="3886200" cy="365727"/>
          </a:xfrm>
          <a:prstGeom prst="rect">
            <a:avLst/>
          </a:prstGeom>
          <a:noFill/>
          <a:ln>
            <a:noFill/>
          </a:ln>
        </p:spPr>
        <p:txBody>
          <a:bodyPr anchorCtr="0" anchor="t" bIns="0" lIns="0" spcFirstLastPara="1" rIns="0" wrap="square" tIns="0">
            <a:noAutofit/>
          </a:bodyPr>
          <a:lstStyle/>
          <a:p>
            <a:pPr indent="-127000" lvl="0" marL="127000" marR="0" rtl="0" algn="l">
              <a:lnSpc>
                <a:spcPct val="167865"/>
              </a:lnSpc>
              <a:spcBef>
                <a:spcPts val="0"/>
              </a:spcBef>
              <a:spcAft>
                <a:spcPts val="0"/>
              </a:spcAft>
              <a:buClr>
                <a:srgbClr val="333333"/>
              </a:buClr>
              <a:buSzPts val="784"/>
              <a:buFont typeface="Times New Roman"/>
              <a:buChar char="•"/>
            </a:pPr>
            <a:r>
              <a:rPr b="1" i="0" lang="en-US" sz="784" u="none" cap="none" strike="noStrike">
                <a:solidFill>
                  <a:srgbClr val="333333"/>
                </a:solidFill>
                <a:latin typeface="Times New Roman"/>
                <a:ea typeface="Times New Roman"/>
                <a:cs typeface="Times New Roman"/>
                <a:sym typeface="Times New Roman"/>
              </a:rPr>
              <a:t>Local Encryption:</a:t>
            </a:r>
            <a:r>
              <a:rPr b="0" i="0" lang="en-US" sz="834" u="none" cap="none" strike="noStrike">
                <a:solidFill>
                  <a:srgbClr val="333333"/>
                </a:solidFill>
                <a:latin typeface="Times New Roman"/>
                <a:ea typeface="Times New Roman"/>
                <a:cs typeface="Times New Roman"/>
                <a:sym typeface="Times New Roman"/>
              </a:rPr>
              <a:t> The actual encryption happens in the SDK, meaning the large file data never travels over the network to the KMS.</a:t>
            </a:r>
            <a:endParaRPr b="0" i="0" sz="784" u="none" cap="none" strike="noStrike">
              <a:solidFill>
                <a:schemeClr val="dk1"/>
              </a:solidFill>
              <a:latin typeface="Calibri"/>
              <a:ea typeface="Calibri"/>
              <a:cs typeface="Calibri"/>
              <a:sym typeface="Calibri"/>
            </a:endParaRPr>
          </a:p>
        </p:txBody>
      </p:sp>
      <p:sp>
        <p:nvSpPr>
          <p:cNvPr id="307" name="Google Shape;307;p10"/>
          <p:cNvSpPr/>
          <p:nvPr/>
        </p:nvSpPr>
        <p:spPr>
          <a:xfrm>
            <a:off x="5029200" y="1804411"/>
            <a:ext cx="3886200" cy="365727"/>
          </a:xfrm>
          <a:prstGeom prst="rect">
            <a:avLst/>
          </a:prstGeom>
          <a:noFill/>
          <a:ln>
            <a:noFill/>
          </a:ln>
        </p:spPr>
        <p:txBody>
          <a:bodyPr anchorCtr="0" anchor="t" bIns="0" lIns="0" spcFirstLastPara="1" rIns="0" wrap="square" tIns="0">
            <a:noAutofit/>
          </a:bodyPr>
          <a:lstStyle/>
          <a:p>
            <a:pPr indent="-127000" lvl="0" marL="127000" marR="0" rtl="0" algn="l">
              <a:lnSpc>
                <a:spcPct val="167865"/>
              </a:lnSpc>
              <a:spcBef>
                <a:spcPts val="0"/>
              </a:spcBef>
              <a:spcAft>
                <a:spcPts val="0"/>
              </a:spcAft>
              <a:buClr>
                <a:srgbClr val="333333"/>
              </a:buClr>
              <a:buSzPts val="784"/>
              <a:buFont typeface="Times New Roman"/>
              <a:buChar char="•"/>
            </a:pPr>
            <a:r>
              <a:rPr b="1" i="0" lang="en-US" sz="784" u="none" cap="none" strike="noStrike">
                <a:solidFill>
                  <a:srgbClr val="333333"/>
                </a:solidFill>
                <a:latin typeface="Times New Roman"/>
                <a:ea typeface="Times New Roman"/>
                <a:cs typeface="Times New Roman"/>
                <a:sym typeface="Times New Roman"/>
              </a:rPr>
              <a:t>Ephemeral DEK:</a:t>
            </a:r>
            <a:r>
              <a:rPr b="0" i="0" lang="en-US" sz="834" u="none" cap="none" strike="noStrike">
                <a:solidFill>
                  <a:srgbClr val="333333"/>
                </a:solidFill>
                <a:latin typeface="Times New Roman"/>
                <a:ea typeface="Times New Roman"/>
                <a:cs typeface="Times New Roman"/>
                <a:sym typeface="Times New Roman"/>
              </a:rPr>
              <a:t> Because this is a one-off operation, the DEK is used once and immediately discarded from memory.</a:t>
            </a:r>
            <a:endParaRPr b="0" i="0" sz="784"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pic>
        <p:nvPicPr>
          <p:cNvPr descr="preencoded.png" id="313" name="Google Shape;313;p11"/>
          <p:cNvPicPr preferRelativeResize="0"/>
          <p:nvPr/>
        </p:nvPicPr>
        <p:blipFill rotWithShape="1">
          <a:blip r:embed="rId3">
            <a:alphaModFix/>
          </a:blip>
          <a:srcRect b="0" l="0" r="0" t="0"/>
          <a:stretch/>
        </p:blipFill>
        <p:spPr>
          <a:xfrm>
            <a:off x="0" y="0"/>
            <a:ext cx="9144000" cy="5188818"/>
          </a:xfrm>
          <a:prstGeom prst="rect">
            <a:avLst/>
          </a:prstGeom>
          <a:noFill/>
          <a:ln>
            <a:noFill/>
          </a:ln>
        </p:spPr>
      </p:pic>
      <p:sp>
        <p:nvSpPr>
          <p:cNvPr id="314" name="Google Shape;314;p11"/>
          <p:cNvSpPr/>
          <p:nvPr/>
        </p:nvSpPr>
        <p:spPr>
          <a:xfrm>
            <a:off x="357188" y="214313"/>
            <a:ext cx="8429625" cy="258961"/>
          </a:xfrm>
          <a:prstGeom prst="rect">
            <a:avLst/>
          </a:prstGeom>
          <a:noFill/>
          <a:ln>
            <a:noFill/>
          </a:ln>
        </p:spPr>
        <p:txBody>
          <a:bodyPr anchorCtr="0" anchor="t" bIns="0" lIns="0" spcFirstLastPara="1" rIns="0" wrap="square" tIns="0">
            <a:noAutofit/>
          </a:bodyPr>
          <a:lstStyle/>
          <a:p>
            <a:pPr indent="0" lvl="0" marL="0" marR="0" rtl="0" algn="l">
              <a:lnSpc>
                <a:spcPct val="133422"/>
              </a:lnSpc>
              <a:spcBef>
                <a:spcPts val="0"/>
              </a:spcBef>
              <a:spcAft>
                <a:spcPts val="0"/>
              </a:spcAft>
              <a:buClr>
                <a:srgbClr val="FFFFFF"/>
              </a:buClr>
              <a:buSzPts val="1499"/>
              <a:buFont typeface="Inter"/>
              <a:buNone/>
            </a:pPr>
            <a:r>
              <a:rPr b="1" i="0" lang="en-US" sz="1499" u="none" cap="none" strike="noStrike">
                <a:solidFill>
                  <a:srgbClr val="FFFFFF"/>
                </a:solidFill>
                <a:latin typeface="Inter"/>
                <a:ea typeface="Inter"/>
                <a:cs typeface="Inter"/>
                <a:sym typeface="Inter"/>
              </a:rPr>
              <a:t>Use Case B: API-Based Encrypted Attachment Flow</a:t>
            </a:r>
            <a:endParaRPr b="0" i="0" sz="1499" u="none" cap="none" strike="noStrike">
              <a:solidFill>
                <a:schemeClr val="dk1"/>
              </a:solidFill>
              <a:latin typeface="Calibri"/>
              <a:ea typeface="Calibri"/>
              <a:cs typeface="Calibri"/>
              <a:sym typeface="Calibri"/>
            </a:endParaRPr>
          </a:p>
        </p:txBody>
      </p:sp>
      <p:sp>
        <p:nvSpPr>
          <p:cNvPr id="315" name="Google Shape;315;p11"/>
          <p:cNvSpPr/>
          <p:nvPr/>
        </p:nvSpPr>
        <p:spPr>
          <a:xfrm>
            <a:off x="357188" y="501848"/>
            <a:ext cx="8429625" cy="121444"/>
          </a:xfrm>
          <a:prstGeom prst="rect">
            <a:avLst/>
          </a:prstGeom>
          <a:noFill/>
          <a:ln>
            <a:noFill/>
          </a:ln>
        </p:spPr>
        <p:txBody>
          <a:bodyPr anchorCtr="0" anchor="t" bIns="0" lIns="0" spcFirstLastPara="1" rIns="0" wrap="square" tIns="0">
            <a:noAutofit/>
          </a:bodyPr>
          <a:lstStyle/>
          <a:p>
            <a:pPr indent="0" lvl="0" marL="0" marR="0" rtl="0" algn="l">
              <a:lnSpc>
                <a:spcPct val="133531"/>
              </a:lnSpc>
              <a:spcBef>
                <a:spcPts val="0"/>
              </a:spcBef>
              <a:spcAft>
                <a:spcPts val="0"/>
              </a:spcAft>
              <a:buClr>
                <a:srgbClr val="546E7A"/>
              </a:buClr>
              <a:buSzPts val="674"/>
              <a:buFont typeface="Roboto Mono"/>
              <a:buNone/>
            </a:pPr>
            <a:r>
              <a:rPr b="0" i="0" lang="en-US" sz="674" u="none" cap="none" strike="noStrike">
                <a:solidFill>
                  <a:srgbClr val="546E7A"/>
                </a:solidFill>
                <a:latin typeface="Roboto Mono"/>
                <a:ea typeface="Roboto Mono"/>
                <a:cs typeface="Roboto Mono"/>
                <a:sym typeface="Roboto Mono"/>
              </a:rPr>
              <a:t>User uploads a document via REST API. The service encrypts the attachment before storing in S3/blob storage.</a:t>
            </a:r>
            <a:endParaRPr b="0" i="0" sz="674" u="none" cap="none" strike="noStrike">
              <a:solidFill>
                <a:schemeClr val="dk1"/>
              </a:solidFill>
              <a:latin typeface="Calibri"/>
              <a:ea typeface="Calibri"/>
              <a:cs typeface="Calibri"/>
              <a:sym typeface="Calibri"/>
            </a:endParaRPr>
          </a:p>
        </p:txBody>
      </p:sp>
      <p:sp>
        <p:nvSpPr>
          <p:cNvPr id="316" name="Google Shape;316;p11"/>
          <p:cNvSpPr/>
          <p:nvPr/>
        </p:nvSpPr>
        <p:spPr>
          <a:xfrm>
            <a:off x="285750" y="737592"/>
            <a:ext cx="1714500" cy="489347"/>
          </a:xfrm>
          <a:prstGeom prst="rect">
            <a:avLst/>
          </a:prstGeom>
          <a:solidFill>
            <a:srgbClr val="00E5FF">
              <a:alpha val="14901"/>
            </a:srgbClr>
          </a:solidFill>
          <a:ln cap="flat" cmpd="sng" w="9525">
            <a:solidFill>
              <a:srgbClr val="FFFFFF">
                <a:alpha val="784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17" name="Google Shape;317;p11"/>
          <p:cNvPicPr preferRelativeResize="0"/>
          <p:nvPr/>
        </p:nvPicPr>
        <p:blipFill rotWithShape="1">
          <a:blip r:embed="rId4">
            <a:alphaModFix/>
          </a:blip>
          <a:srcRect b="0" l="0" r="0" t="0"/>
          <a:stretch/>
        </p:blipFill>
        <p:spPr>
          <a:xfrm>
            <a:off x="1076027" y="816173"/>
            <a:ext cx="133945" cy="107156"/>
          </a:xfrm>
          <a:prstGeom prst="rect">
            <a:avLst/>
          </a:prstGeom>
          <a:noFill/>
          <a:ln>
            <a:noFill/>
          </a:ln>
        </p:spPr>
      </p:pic>
      <p:sp>
        <p:nvSpPr>
          <p:cNvPr id="318" name="Google Shape;318;p11"/>
          <p:cNvSpPr/>
          <p:nvPr/>
        </p:nvSpPr>
        <p:spPr>
          <a:xfrm>
            <a:off x="918865" y="944761"/>
            <a:ext cx="448270" cy="96441"/>
          </a:xfrm>
          <a:prstGeom prst="rect">
            <a:avLst/>
          </a:prstGeom>
          <a:noFill/>
          <a:ln>
            <a:noFill/>
          </a:ln>
        </p:spPr>
        <p:txBody>
          <a:bodyPr anchorCtr="0" anchor="t" bIns="0" lIns="0" spcFirstLastPara="1" rIns="0" wrap="square" tIns="0">
            <a:noAutofit/>
          </a:bodyPr>
          <a:lstStyle/>
          <a:p>
            <a:pPr indent="0" lvl="0" marL="0" marR="0" rtl="0" algn="l">
              <a:lnSpc>
                <a:spcPct val="131086"/>
              </a:lnSpc>
              <a:spcBef>
                <a:spcPts val="0"/>
              </a:spcBef>
              <a:spcAft>
                <a:spcPts val="0"/>
              </a:spcAft>
              <a:buClr>
                <a:srgbClr val="00E5FF"/>
              </a:buClr>
              <a:buSzPts val="534"/>
              <a:buFont typeface="Inter"/>
              <a:buNone/>
            </a:pPr>
            <a:r>
              <a:rPr b="1" i="0" lang="en-US" sz="534" u="none" cap="none" strike="noStrike">
                <a:solidFill>
                  <a:srgbClr val="00E5FF"/>
                </a:solidFill>
                <a:latin typeface="Inter"/>
                <a:ea typeface="Inter"/>
                <a:cs typeface="Inter"/>
                <a:sym typeface="Inter"/>
              </a:rPr>
              <a:t>API Service</a:t>
            </a:r>
            <a:endParaRPr b="0" i="0" sz="534" u="none" cap="none" strike="noStrike">
              <a:solidFill>
                <a:schemeClr val="dk1"/>
              </a:solidFill>
              <a:latin typeface="Calibri"/>
              <a:ea typeface="Calibri"/>
              <a:cs typeface="Calibri"/>
              <a:sym typeface="Calibri"/>
            </a:endParaRPr>
          </a:p>
        </p:txBody>
      </p:sp>
      <p:sp>
        <p:nvSpPr>
          <p:cNvPr id="319" name="Google Shape;319;p11"/>
          <p:cNvSpPr/>
          <p:nvPr/>
        </p:nvSpPr>
        <p:spPr>
          <a:xfrm>
            <a:off x="1025128" y="1062633"/>
            <a:ext cx="235744" cy="85725"/>
          </a:xfrm>
          <a:prstGeom prst="rect">
            <a:avLst/>
          </a:prstGeom>
          <a:noFill/>
          <a:ln>
            <a:noFill/>
          </a:ln>
        </p:spPr>
        <p:txBody>
          <a:bodyPr anchorCtr="0" anchor="t" bIns="0" lIns="0" spcFirstLastPara="1" rIns="0" wrap="square" tIns="0">
            <a:noAutofit/>
          </a:bodyPr>
          <a:lstStyle/>
          <a:p>
            <a:pPr indent="0" lvl="0" marL="0" marR="0" rtl="0" algn="l">
              <a:lnSpc>
                <a:spcPct val="129589"/>
              </a:lnSpc>
              <a:spcBef>
                <a:spcPts val="0"/>
              </a:spcBef>
              <a:spcAft>
                <a:spcPts val="0"/>
              </a:spcAft>
              <a:buClr>
                <a:srgbClr val="00E5FF"/>
              </a:buClr>
              <a:buSzPts val="463"/>
              <a:buFont typeface="Roboto Mono"/>
              <a:buNone/>
            </a:pPr>
            <a:r>
              <a:rPr b="0" i="0" lang="en-US" sz="463" u="none" cap="none" strike="noStrike">
                <a:solidFill>
                  <a:srgbClr val="00E5FF"/>
                </a:solidFill>
                <a:latin typeface="Roboto Mono"/>
                <a:ea typeface="Roboto Mono"/>
                <a:cs typeface="Roboto Mono"/>
                <a:sym typeface="Roboto Mono"/>
              </a:rPr>
              <a:t>Caller</a:t>
            </a:r>
            <a:endParaRPr b="0" i="0" sz="463" u="none" cap="none" strike="noStrike">
              <a:solidFill>
                <a:schemeClr val="dk1"/>
              </a:solidFill>
              <a:latin typeface="Calibri"/>
              <a:ea typeface="Calibri"/>
              <a:cs typeface="Calibri"/>
              <a:sym typeface="Calibri"/>
            </a:endParaRPr>
          </a:p>
        </p:txBody>
      </p:sp>
      <p:sp>
        <p:nvSpPr>
          <p:cNvPr id="320" name="Google Shape;320;p11"/>
          <p:cNvSpPr/>
          <p:nvPr/>
        </p:nvSpPr>
        <p:spPr>
          <a:xfrm>
            <a:off x="2000250" y="737592"/>
            <a:ext cx="1714500" cy="489347"/>
          </a:xfrm>
          <a:prstGeom prst="rect">
            <a:avLst/>
          </a:prstGeom>
          <a:solidFill>
            <a:srgbClr val="2979FF">
              <a:alpha val="14901"/>
            </a:srgbClr>
          </a:solidFill>
          <a:ln cap="flat" cmpd="sng" w="9525">
            <a:solidFill>
              <a:srgbClr val="FFFFFF">
                <a:alpha val="784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21" name="Google Shape;321;p11"/>
          <p:cNvPicPr preferRelativeResize="0"/>
          <p:nvPr/>
        </p:nvPicPr>
        <p:blipFill rotWithShape="1">
          <a:blip r:embed="rId5">
            <a:alphaModFix/>
          </a:blip>
          <a:srcRect b="0" l="0" r="0" t="0"/>
          <a:stretch/>
        </p:blipFill>
        <p:spPr>
          <a:xfrm>
            <a:off x="2803922" y="816173"/>
            <a:ext cx="107156" cy="107156"/>
          </a:xfrm>
          <a:prstGeom prst="rect">
            <a:avLst/>
          </a:prstGeom>
          <a:noFill/>
          <a:ln>
            <a:noFill/>
          </a:ln>
        </p:spPr>
      </p:pic>
      <p:sp>
        <p:nvSpPr>
          <p:cNvPr id="322" name="Google Shape;322;p11"/>
          <p:cNvSpPr/>
          <p:nvPr/>
        </p:nvSpPr>
        <p:spPr>
          <a:xfrm>
            <a:off x="2691408" y="944761"/>
            <a:ext cx="332184" cy="96441"/>
          </a:xfrm>
          <a:prstGeom prst="rect">
            <a:avLst/>
          </a:prstGeom>
          <a:noFill/>
          <a:ln>
            <a:noFill/>
          </a:ln>
        </p:spPr>
        <p:txBody>
          <a:bodyPr anchorCtr="0" anchor="t" bIns="0" lIns="0" spcFirstLastPara="1" rIns="0" wrap="square" tIns="0">
            <a:noAutofit/>
          </a:bodyPr>
          <a:lstStyle/>
          <a:p>
            <a:pPr indent="0" lvl="0" marL="0" marR="0" rtl="0" algn="l">
              <a:lnSpc>
                <a:spcPct val="131086"/>
              </a:lnSpc>
              <a:spcBef>
                <a:spcPts val="0"/>
              </a:spcBef>
              <a:spcAft>
                <a:spcPts val="0"/>
              </a:spcAft>
              <a:buClr>
                <a:srgbClr val="2979FF"/>
              </a:buClr>
              <a:buSzPts val="534"/>
              <a:buFont typeface="Inter"/>
              <a:buNone/>
            </a:pPr>
            <a:r>
              <a:rPr b="1" i="0" lang="en-US" sz="534" u="none" cap="none" strike="noStrike">
                <a:solidFill>
                  <a:srgbClr val="2979FF"/>
                </a:solidFill>
                <a:latin typeface="Inter"/>
                <a:ea typeface="Inter"/>
                <a:cs typeface="Inter"/>
                <a:sym typeface="Inter"/>
              </a:rPr>
              <a:t>EES SDK</a:t>
            </a:r>
            <a:endParaRPr b="0" i="0" sz="534" u="none" cap="none" strike="noStrike">
              <a:solidFill>
                <a:schemeClr val="dk1"/>
              </a:solidFill>
              <a:latin typeface="Calibri"/>
              <a:ea typeface="Calibri"/>
              <a:cs typeface="Calibri"/>
              <a:sym typeface="Calibri"/>
            </a:endParaRPr>
          </a:p>
        </p:txBody>
      </p:sp>
      <p:sp>
        <p:nvSpPr>
          <p:cNvPr id="323" name="Google Shape;323;p11"/>
          <p:cNvSpPr/>
          <p:nvPr/>
        </p:nvSpPr>
        <p:spPr>
          <a:xfrm>
            <a:off x="2582466" y="1062633"/>
            <a:ext cx="550069" cy="85725"/>
          </a:xfrm>
          <a:prstGeom prst="rect">
            <a:avLst/>
          </a:prstGeom>
          <a:noFill/>
          <a:ln>
            <a:noFill/>
          </a:ln>
        </p:spPr>
        <p:txBody>
          <a:bodyPr anchorCtr="0" anchor="t" bIns="0" lIns="0" spcFirstLastPara="1" rIns="0" wrap="square" tIns="0">
            <a:noAutofit/>
          </a:bodyPr>
          <a:lstStyle/>
          <a:p>
            <a:pPr indent="0" lvl="0" marL="0" marR="0" rtl="0" algn="l">
              <a:lnSpc>
                <a:spcPct val="129589"/>
              </a:lnSpc>
              <a:spcBef>
                <a:spcPts val="0"/>
              </a:spcBef>
              <a:spcAft>
                <a:spcPts val="0"/>
              </a:spcAft>
              <a:buClr>
                <a:srgbClr val="2979FF"/>
              </a:buClr>
              <a:buSzPts val="463"/>
              <a:buFont typeface="Roboto Mono"/>
              <a:buNone/>
            </a:pPr>
            <a:r>
              <a:rPr b="0" i="0" lang="en-US" sz="463" u="none" cap="none" strike="noStrike">
                <a:solidFill>
                  <a:srgbClr val="2979FF"/>
                </a:solidFill>
                <a:latin typeface="Roboto Mono"/>
                <a:ea typeface="Roboto Mono"/>
                <a:cs typeface="Roboto Mono"/>
                <a:sym typeface="Roboto Mono"/>
              </a:rPr>
              <a:t>Client Library</a:t>
            </a:r>
            <a:endParaRPr b="0" i="0" sz="463" u="none" cap="none" strike="noStrike">
              <a:solidFill>
                <a:schemeClr val="dk1"/>
              </a:solidFill>
              <a:latin typeface="Calibri"/>
              <a:ea typeface="Calibri"/>
              <a:cs typeface="Calibri"/>
              <a:sym typeface="Calibri"/>
            </a:endParaRPr>
          </a:p>
        </p:txBody>
      </p:sp>
      <p:sp>
        <p:nvSpPr>
          <p:cNvPr id="324" name="Google Shape;324;p11"/>
          <p:cNvSpPr/>
          <p:nvPr/>
        </p:nvSpPr>
        <p:spPr>
          <a:xfrm>
            <a:off x="3714750" y="737592"/>
            <a:ext cx="1714500" cy="489347"/>
          </a:xfrm>
          <a:prstGeom prst="rect">
            <a:avLst/>
          </a:prstGeom>
          <a:solidFill>
            <a:srgbClr val="00E676">
              <a:alpha val="14901"/>
            </a:srgbClr>
          </a:solidFill>
          <a:ln cap="flat" cmpd="sng" w="9525">
            <a:solidFill>
              <a:srgbClr val="FFFFFF">
                <a:alpha val="784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25" name="Google Shape;325;p11"/>
          <p:cNvPicPr preferRelativeResize="0"/>
          <p:nvPr/>
        </p:nvPicPr>
        <p:blipFill rotWithShape="1">
          <a:blip r:embed="rId6">
            <a:alphaModFix/>
          </a:blip>
          <a:srcRect b="0" l="0" r="0" t="0"/>
          <a:stretch/>
        </p:blipFill>
        <p:spPr>
          <a:xfrm>
            <a:off x="4518422" y="816173"/>
            <a:ext cx="107156" cy="107156"/>
          </a:xfrm>
          <a:prstGeom prst="rect">
            <a:avLst/>
          </a:prstGeom>
          <a:noFill/>
          <a:ln>
            <a:noFill/>
          </a:ln>
        </p:spPr>
      </p:pic>
      <p:sp>
        <p:nvSpPr>
          <p:cNvPr id="326" name="Google Shape;326;p11"/>
          <p:cNvSpPr/>
          <p:nvPr/>
        </p:nvSpPr>
        <p:spPr>
          <a:xfrm>
            <a:off x="4346972" y="944761"/>
            <a:ext cx="450056" cy="96441"/>
          </a:xfrm>
          <a:prstGeom prst="rect">
            <a:avLst/>
          </a:prstGeom>
          <a:noFill/>
          <a:ln>
            <a:noFill/>
          </a:ln>
        </p:spPr>
        <p:txBody>
          <a:bodyPr anchorCtr="0" anchor="t" bIns="0" lIns="0" spcFirstLastPara="1" rIns="0" wrap="square" tIns="0">
            <a:noAutofit/>
          </a:bodyPr>
          <a:lstStyle/>
          <a:p>
            <a:pPr indent="0" lvl="0" marL="0" marR="0" rtl="0" algn="l">
              <a:lnSpc>
                <a:spcPct val="131086"/>
              </a:lnSpc>
              <a:spcBef>
                <a:spcPts val="0"/>
              </a:spcBef>
              <a:spcAft>
                <a:spcPts val="0"/>
              </a:spcAft>
              <a:buClr>
                <a:srgbClr val="00E676"/>
              </a:buClr>
              <a:buSzPts val="534"/>
              <a:buFont typeface="Inter"/>
              <a:buNone/>
            </a:pPr>
            <a:r>
              <a:rPr b="1" i="0" lang="en-US" sz="534" u="none" cap="none" strike="noStrike">
                <a:solidFill>
                  <a:srgbClr val="00E676"/>
                </a:solidFill>
                <a:latin typeface="Inter"/>
                <a:ea typeface="Inter"/>
                <a:cs typeface="Inter"/>
                <a:sym typeface="Inter"/>
              </a:rPr>
              <a:t>OpAMP API</a:t>
            </a:r>
            <a:endParaRPr b="0" i="0" sz="534" u="none" cap="none" strike="noStrike">
              <a:solidFill>
                <a:schemeClr val="dk1"/>
              </a:solidFill>
              <a:latin typeface="Calibri"/>
              <a:ea typeface="Calibri"/>
              <a:cs typeface="Calibri"/>
              <a:sym typeface="Calibri"/>
            </a:endParaRPr>
          </a:p>
        </p:txBody>
      </p:sp>
      <p:sp>
        <p:nvSpPr>
          <p:cNvPr id="327" name="Google Shape;327;p11"/>
          <p:cNvSpPr/>
          <p:nvPr/>
        </p:nvSpPr>
        <p:spPr>
          <a:xfrm>
            <a:off x="4277320" y="1062633"/>
            <a:ext cx="589359" cy="85725"/>
          </a:xfrm>
          <a:prstGeom prst="rect">
            <a:avLst/>
          </a:prstGeom>
          <a:noFill/>
          <a:ln>
            <a:noFill/>
          </a:ln>
        </p:spPr>
        <p:txBody>
          <a:bodyPr anchorCtr="0" anchor="t" bIns="0" lIns="0" spcFirstLastPara="1" rIns="0" wrap="square" tIns="0">
            <a:noAutofit/>
          </a:bodyPr>
          <a:lstStyle/>
          <a:p>
            <a:pPr indent="0" lvl="0" marL="0" marR="0" rtl="0" algn="l">
              <a:lnSpc>
                <a:spcPct val="129589"/>
              </a:lnSpc>
              <a:spcBef>
                <a:spcPts val="0"/>
              </a:spcBef>
              <a:spcAft>
                <a:spcPts val="0"/>
              </a:spcAft>
              <a:buClr>
                <a:srgbClr val="00E676"/>
              </a:buClr>
              <a:buSzPts val="463"/>
              <a:buFont typeface="Roboto Mono"/>
              <a:buNone/>
            </a:pPr>
            <a:r>
              <a:rPr b="0" i="0" lang="en-US" sz="463" u="none" cap="none" strike="noStrike">
                <a:solidFill>
                  <a:srgbClr val="00E676"/>
                </a:solidFill>
                <a:latin typeface="Roboto Mono"/>
                <a:ea typeface="Roboto Mono"/>
                <a:cs typeface="Roboto Mono"/>
                <a:sym typeface="Roboto Mono"/>
              </a:rPr>
              <a:t>Secrets Manager</a:t>
            </a:r>
            <a:endParaRPr b="0" i="0" sz="463" u="none" cap="none" strike="noStrike">
              <a:solidFill>
                <a:schemeClr val="dk1"/>
              </a:solidFill>
              <a:latin typeface="Calibri"/>
              <a:ea typeface="Calibri"/>
              <a:cs typeface="Calibri"/>
              <a:sym typeface="Calibri"/>
            </a:endParaRPr>
          </a:p>
        </p:txBody>
      </p:sp>
      <p:sp>
        <p:nvSpPr>
          <p:cNvPr id="328" name="Google Shape;328;p11"/>
          <p:cNvSpPr/>
          <p:nvPr/>
        </p:nvSpPr>
        <p:spPr>
          <a:xfrm>
            <a:off x="5429250" y="737592"/>
            <a:ext cx="1714500" cy="489347"/>
          </a:xfrm>
          <a:prstGeom prst="rect">
            <a:avLst/>
          </a:prstGeom>
          <a:solidFill>
            <a:srgbClr val="E040FB">
              <a:alpha val="14901"/>
            </a:srgbClr>
          </a:solidFill>
          <a:ln cap="flat" cmpd="sng" w="9525">
            <a:solidFill>
              <a:srgbClr val="FFFFFF">
                <a:alpha val="784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29" name="Google Shape;329;p11"/>
          <p:cNvPicPr preferRelativeResize="0"/>
          <p:nvPr/>
        </p:nvPicPr>
        <p:blipFill rotWithShape="1">
          <a:blip r:embed="rId7">
            <a:alphaModFix/>
          </a:blip>
          <a:srcRect b="0" l="0" r="0" t="0"/>
          <a:stretch/>
        </p:blipFill>
        <p:spPr>
          <a:xfrm>
            <a:off x="6232922" y="816173"/>
            <a:ext cx="107156" cy="107156"/>
          </a:xfrm>
          <a:prstGeom prst="rect">
            <a:avLst/>
          </a:prstGeom>
          <a:noFill/>
          <a:ln>
            <a:noFill/>
          </a:ln>
        </p:spPr>
      </p:pic>
      <p:sp>
        <p:nvSpPr>
          <p:cNvPr id="330" name="Google Shape;330;p11"/>
          <p:cNvSpPr/>
          <p:nvPr/>
        </p:nvSpPr>
        <p:spPr>
          <a:xfrm>
            <a:off x="6038255" y="944761"/>
            <a:ext cx="496491" cy="96441"/>
          </a:xfrm>
          <a:prstGeom prst="rect">
            <a:avLst/>
          </a:prstGeom>
          <a:noFill/>
          <a:ln>
            <a:noFill/>
          </a:ln>
        </p:spPr>
        <p:txBody>
          <a:bodyPr anchorCtr="0" anchor="t" bIns="0" lIns="0" spcFirstLastPara="1" rIns="0" wrap="square" tIns="0">
            <a:noAutofit/>
          </a:bodyPr>
          <a:lstStyle/>
          <a:p>
            <a:pPr indent="0" lvl="0" marL="0" marR="0" rtl="0" algn="l">
              <a:lnSpc>
                <a:spcPct val="131086"/>
              </a:lnSpc>
              <a:spcBef>
                <a:spcPts val="0"/>
              </a:spcBef>
              <a:spcAft>
                <a:spcPts val="0"/>
              </a:spcAft>
              <a:buClr>
                <a:srgbClr val="E040FB"/>
              </a:buClr>
              <a:buSzPts val="534"/>
              <a:buFont typeface="Inter"/>
              <a:buNone/>
            </a:pPr>
            <a:r>
              <a:rPr b="1" i="0" lang="en-US" sz="534" u="none" cap="none" strike="noStrike">
                <a:solidFill>
                  <a:srgbClr val="E040FB"/>
                </a:solidFill>
                <a:latin typeface="Inter"/>
                <a:ea typeface="Inter"/>
                <a:cs typeface="Inter"/>
                <a:sym typeface="Inter"/>
              </a:rPr>
              <a:t>Vault Transit</a:t>
            </a:r>
            <a:endParaRPr b="0" i="0" sz="534" u="none" cap="none" strike="noStrike">
              <a:solidFill>
                <a:schemeClr val="dk1"/>
              </a:solidFill>
              <a:latin typeface="Calibri"/>
              <a:ea typeface="Calibri"/>
              <a:cs typeface="Calibri"/>
              <a:sym typeface="Calibri"/>
            </a:endParaRPr>
          </a:p>
        </p:txBody>
      </p:sp>
      <p:sp>
        <p:nvSpPr>
          <p:cNvPr id="331" name="Google Shape;331;p11"/>
          <p:cNvSpPr/>
          <p:nvPr/>
        </p:nvSpPr>
        <p:spPr>
          <a:xfrm>
            <a:off x="5952530" y="1062633"/>
            <a:ext cx="667941" cy="85725"/>
          </a:xfrm>
          <a:prstGeom prst="rect">
            <a:avLst/>
          </a:prstGeom>
          <a:noFill/>
          <a:ln>
            <a:noFill/>
          </a:ln>
        </p:spPr>
        <p:txBody>
          <a:bodyPr anchorCtr="0" anchor="t" bIns="0" lIns="0" spcFirstLastPara="1" rIns="0" wrap="square" tIns="0">
            <a:noAutofit/>
          </a:bodyPr>
          <a:lstStyle/>
          <a:p>
            <a:pPr indent="0" lvl="0" marL="0" marR="0" rtl="0" algn="l">
              <a:lnSpc>
                <a:spcPct val="129589"/>
              </a:lnSpc>
              <a:spcBef>
                <a:spcPts val="0"/>
              </a:spcBef>
              <a:spcAft>
                <a:spcPts val="0"/>
              </a:spcAft>
              <a:buClr>
                <a:srgbClr val="E040FB"/>
              </a:buClr>
              <a:buSzPts val="463"/>
              <a:buFont typeface="Roboto Mono"/>
              <a:buNone/>
            </a:pPr>
            <a:r>
              <a:rPr b="0" i="0" lang="en-US" sz="463" u="none" cap="none" strike="noStrike">
                <a:solidFill>
                  <a:srgbClr val="E040FB"/>
                </a:solidFill>
                <a:latin typeface="Roboto Mono"/>
                <a:ea typeface="Roboto Mono"/>
                <a:cs typeface="Roboto Mono"/>
                <a:sym typeface="Roboto Mono"/>
              </a:rPr>
              <a:t>Encryption Engine</a:t>
            </a:r>
            <a:endParaRPr b="0" i="0" sz="463" u="none" cap="none" strike="noStrike">
              <a:solidFill>
                <a:schemeClr val="dk1"/>
              </a:solidFill>
              <a:latin typeface="Calibri"/>
              <a:ea typeface="Calibri"/>
              <a:cs typeface="Calibri"/>
              <a:sym typeface="Calibri"/>
            </a:endParaRPr>
          </a:p>
        </p:txBody>
      </p:sp>
      <p:sp>
        <p:nvSpPr>
          <p:cNvPr id="332" name="Google Shape;332;p11"/>
          <p:cNvSpPr/>
          <p:nvPr/>
        </p:nvSpPr>
        <p:spPr>
          <a:xfrm>
            <a:off x="7143750" y="737592"/>
            <a:ext cx="1714500" cy="489347"/>
          </a:xfrm>
          <a:prstGeom prst="rect">
            <a:avLst/>
          </a:prstGeom>
          <a:solidFill>
            <a:srgbClr val="FFAB40">
              <a:alpha val="14901"/>
            </a:srgbClr>
          </a:solidFill>
          <a:ln cap="flat" cmpd="sng" w="9525">
            <a:solidFill>
              <a:srgbClr val="FFFFFF">
                <a:alpha val="784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33" name="Google Shape;333;p11"/>
          <p:cNvPicPr preferRelativeResize="0"/>
          <p:nvPr/>
        </p:nvPicPr>
        <p:blipFill rotWithShape="1">
          <a:blip r:embed="rId8">
            <a:alphaModFix/>
          </a:blip>
          <a:srcRect b="0" l="0" r="0" t="0"/>
          <a:stretch/>
        </p:blipFill>
        <p:spPr>
          <a:xfrm>
            <a:off x="7947422" y="809030"/>
            <a:ext cx="107156" cy="107156"/>
          </a:xfrm>
          <a:prstGeom prst="rect">
            <a:avLst/>
          </a:prstGeom>
          <a:noFill/>
          <a:ln>
            <a:noFill/>
          </a:ln>
        </p:spPr>
      </p:pic>
      <p:sp>
        <p:nvSpPr>
          <p:cNvPr id="334" name="Google Shape;334;p11"/>
          <p:cNvSpPr/>
          <p:nvPr/>
        </p:nvSpPr>
        <p:spPr>
          <a:xfrm>
            <a:off x="7793831" y="937617"/>
            <a:ext cx="414338" cy="96441"/>
          </a:xfrm>
          <a:prstGeom prst="rect">
            <a:avLst/>
          </a:prstGeom>
          <a:noFill/>
          <a:ln>
            <a:noFill/>
          </a:ln>
        </p:spPr>
        <p:txBody>
          <a:bodyPr anchorCtr="0" anchor="t" bIns="0" lIns="0" spcFirstLastPara="1" rIns="0" wrap="square" tIns="0">
            <a:noAutofit/>
          </a:bodyPr>
          <a:lstStyle/>
          <a:p>
            <a:pPr indent="0" lvl="0" marL="0" marR="0" rtl="0" algn="l">
              <a:lnSpc>
                <a:spcPct val="131086"/>
              </a:lnSpc>
              <a:spcBef>
                <a:spcPts val="0"/>
              </a:spcBef>
              <a:spcAft>
                <a:spcPts val="0"/>
              </a:spcAft>
              <a:buClr>
                <a:srgbClr val="FFAB40"/>
              </a:buClr>
              <a:buSzPts val="534"/>
              <a:buFont typeface="Inter"/>
              <a:buNone/>
            </a:pPr>
            <a:r>
              <a:rPr b="1" i="0" lang="en-US" sz="534" u="none" cap="none" strike="noStrike">
                <a:solidFill>
                  <a:srgbClr val="FFAB40"/>
                </a:solidFill>
                <a:latin typeface="Inter"/>
                <a:ea typeface="Inter"/>
                <a:cs typeface="Inter"/>
                <a:sym typeface="Inter"/>
              </a:rPr>
              <a:t>CloudHSM</a:t>
            </a:r>
            <a:endParaRPr b="0" i="0" sz="534" u="none" cap="none" strike="noStrike">
              <a:solidFill>
                <a:schemeClr val="dk1"/>
              </a:solidFill>
              <a:latin typeface="Calibri"/>
              <a:ea typeface="Calibri"/>
              <a:cs typeface="Calibri"/>
              <a:sym typeface="Calibri"/>
            </a:endParaRPr>
          </a:p>
        </p:txBody>
      </p:sp>
      <p:sp>
        <p:nvSpPr>
          <p:cNvPr id="335" name="Google Shape;335;p11"/>
          <p:cNvSpPr/>
          <p:nvPr/>
        </p:nvSpPr>
        <p:spPr>
          <a:xfrm>
            <a:off x="7745611" y="1055489"/>
            <a:ext cx="510778" cy="85725"/>
          </a:xfrm>
          <a:prstGeom prst="rect">
            <a:avLst/>
          </a:prstGeom>
          <a:noFill/>
          <a:ln>
            <a:noFill/>
          </a:ln>
        </p:spPr>
        <p:txBody>
          <a:bodyPr anchorCtr="0" anchor="t" bIns="0" lIns="0" spcFirstLastPara="1" rIns="0" wrap="square" tIns="0">
            <a:noAutofit/>
          </a:bodyPr>
          <a:lstStyle/>
          <a:p>
            <a:pPr indent="0" lvl="0" marL="0" marR="0" rtl="0" algn="l">
              <a:lnSpc>
                <a:spcPct val="129589"/>
              </a:lnSpc>
              <a:spcBef>
                <a:spcPts val="0"/>
              </a:spcBef>
              <a:spcAft>
                <a:spcPts val="0"/>
              </a:spcAft>
              <a:buClr>
                <a:srgbClr val="FFAB40"/>
              </a:buClr>
              <a:buSzPts val="463"/>
              <a:buFont typeface="Roboto Mono"/>
              <a:buNone/>
            </a:pPr>
            <a:r>
              <a:rPr b="0" i="0" lang="en-US" sz="463" u="none" cap="none" strike="noStrike">
                <a:solidFill>
                  <a:srgbClr val="FFAB40"/>
                </a:solidFill>
                <a:latin typeface="Roboto Mono"/>
                <a:ea typeface="Roboto Mono"/>
                <a:cs typeface="Roboto Mono"/>
                <a:sym typeface="Roboto Mono"/>
              </a:rPr>
              <a:t>FIPS 140-2 L3</a:t>
            </a:r>
            <a:endParaRPr b="0" i="0" sz="463" u="none" cap="none" strike="noStrike">
              <a:solidFill>
                <a:schemeClr val="dk1"/>
              </a:solidFill>
              <a:latin typeface="Calibri"/>
              <a:ea typeface="Calibri"/>
              <a:cs typeface="Calibri"/>
              <a:sym typeface="Calibri"/>
            </a:endParaRPr>
          </a:p>
        </p:txBody>
      </p:sp>
      <p:sp>
        <p:nvSpPr>
          <p:cNvPr id="336" name="Google Shape;336;p11"/>
          <p:cNvSpPr/>
          <p:nvPr/>
        </p:nvSpPr>
        <p:spPr>
          <a:xfrm>
            <a:off x="285750" y="1212652"/>
            <a:ext cx="8572500" cy="3429000"/>
          </a:xfrm>
          <a:prstGeom prst="rect">
            <a:avLst/>
          </a:prstGeom>
          <a:solidFill>
            <a:srgbClr val="FFFFFF">
              <a:alpha val="117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11"/>
          <p:cNvSpPr/>
          <p:nvPr/>
        </p:nvSpPr>
        <p:spPr>
          <a:xfrm>
            <a:off x="8851106" y="1212652"/>
            <a:ext cx="7144" cy="3429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11"/>
          <p:cNvSpPr/>
          <p:nvPr/>
        </p:nvSpPr>
        <p:spPr>
          <a:xfrm>
            <a:off x="285750" y="1212652"/>
            <a:ext cx="7144" cy="3429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11"/>
          <p:cNvSpPr/>
          <p:nvPr/>
        </p:nvSpPr>
        <p:spPr>
          <a:xfrm>
            <a:off x="285750" y="1212652"/>
            <a:ext cx="8572500" cy="371475"/>
          </a:xfrm>
          <a:prstGeom prst="rect">
            <a:avLst/>
          </a:prstGeom>
          <a:solidFill>
            <a:srgbClr val="FFFFFF">
              <a:alpha val="19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11"/>
          <p:cNvSpPr/>
          <p:nvPr/>
        </p:nvSpPr>
        <p:spPr>
          <a:xfrm>
            <a:off x="285750" y="1576983"/>
            <a:ext cx="8572500" cy="714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11"/>
          <p:cNvSpPr/>
          <p:nvPr/>
        </p:nvSpPr>
        <p:spPr>
          <a:xfrm>
            <a:off x="1078706" y="1334095"/>
            <a:ext cx="128588" cy="128588"/>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11"/>
          <p:cNvSpPr/>
          <p:nvPr/>
        </p:nvSpPr>
        <p:spPr>
          <a:xfrm>
            <a:off x="1078706" y="1334095"/>
            <a:ext cx="128588" cy="128588"/>
          </a:xfrm>
          <a:prstGeom prst="rect">
            <a:avLst/>
          </a:prstGeom>
          <a:noFill/>
          <a:ln>
            <a:noFill/>
          </a:ln>
        </p:spPr>
        <p:txBody>
          <a:bodyPr anchorCtr="0" anchor="ctr" bIns="0" lIns="0" spcFirstLastPara="1" rIns="0" wrap="square" tIns="0">
            <a:noAutofit/>
          </a:bodyPr>
          <a:lstStyle/>
          <a:p>
            <a:pPr indent="0" lvl="0" marL="0" marR="0" rtl="0" algn="ctr">
              <a:lnSpc>
                <a:spcPct val="137931"/>
              </a:lnSpc>
              <a:spcBef>
                <a:spcPts val="0"/>
              </a:spcBef>
              <a:spcAft>
                <a:spcPts val="0"/>
              </a:spcAft>
              <a:buClr>
                <a:srgbClr val="0D1B2A"/>
              </a:buClr>
              <a:buSzPts val="435"/>
              <a:buFont typeface="Roboto Mono"/>
              <a:buNone/>
            </a:pPr>
            <a:r>
              <a:rPr b="1" i="0" lang="en-US" sz="435" u="none" cap="none" strike="noStrike">
                <a:solidFill>
                  <a:srgbClr val="0D1B2A"/>
                </a:solidFill>
                <a:latin typeface="Roboto Mono"/>
                <a:ea typeface="Roboto Mono"/>
                <a:cs typeface="Roboto Mono"/>
                <a:sym typeface="Roboto Mono"/>
              </a:rPr>
              <a:t>1</a:t>
            </a:r>
            <a:endParaRPr b="0" i="0" sz="435" u="none" cap="none" strike="noStrike">
              <a:solidFill>
                <a:schemeClr val="dk1"/>
              </a:solidFill>
              <a:latin typeface="Calibri"/>
              <a:ea typeface="Calibri"/>
              <a:cs typeface="Calibri"/>
              <a:sym typeface="Calibri"/>
            </a:endParaRPr>
          </a:p>
        </p:txBody>
      </p:sp>
      <p:sp>
        <p:nvSpPr>
          <p:cNvPr id="343" name="Google Shape;343;p11"/>
          <p:cNvSpPr/>
          <p:nvPr/>
        </p:nvSpPr>
        <p:spPr>
          <a:xfrm>
            <a:off x="1143000" y="1330523"/>
            <a:ext cx="1714500" cy="92869"/>
          </a:xfrm>
          <a:prstGeom prst="rect">
            <a:avLst/>
          </a:prstGeom>
          <a:noFill/>
          <a:ln>
            <a:noFill/>
          </a:ln>
        </p:spPr>
        <p:txBody>
          <a:bodyPr anchorCtr="0" anchor="t" bIns="0" lIns="0" spcFirstLastPara="1" rIns="0" wrap="square" tIns="0">
            <a:noAutofit/>
          </a:bodyPr>
          <a:lstStyle/>
          <a:p>
            <a:pPr indent="0" lvl="0" marL="0" marR="0" rtl="0" algn="ctr">
              <a:lnSpc>
                <a:spcPct val="135658"/>
              </a:lnSpc>
              <a:spcBef>
                <a:spcPts val="0"/>
              </a:spcBef>
              <a:spcAft>
                <a:spcPts val="0"/>
              </a:spcAft>
              <a:buClr>
                <a:srgbClr val="00E5FF"/>
              </a:buClr>
              <a:buSzPts val="516"/>
              <a:buFont typeface="Roboto Mono"/>
              <a:buNone/>
            </a:pPr>
            <a:r>
              <a:rPr b="0" i="0" lang="en-US" sz="516" u="none" cap="none" strike="noStrike">
                <a:solidFill>
                  <a:srgbClr val="00E5FF"/>
                </a:solidFill>
                <a:latin typeface="Roboto Mono"/>
                <a:ea typeface="Roboto Mono"/>
                <a:cs typeface="Roboto Mono"/>
                <a:sym typeface="Roboto Mono"/>
              </a:rPr>
              <a:t>encrypt</a:t>
            </a:r>
            <a:r>
              <a:rPr b="0" i="0" lang="en-US" sz="516" u="none" cap="none" strike="noStrike">
                <a:solidFill>
                  <a:srgbClr val="B0BEC5"/>
                </a:solidFill>
                <a:latin typeface="Roboto Mono"/>
                <a:ea typeface="Roboto Mono"/>
                <a:cs typeface="Roboto Mono"/>
                <a:sym typeface="Roboto Mono"/>
              </a:rPr>
              <a:t>(attachment, RESTRICTED)</a:t>
            </a:r>
            <a:endParaRPr b="0" i="0" sz="516" u="none" cap="none" strike="noStrike">
              <a:solidFill>
                <a:schemeClr val="dk1"/>
              </a:solidFill>
              <a:latin typeface="Calibri"/>
              <a:ea typeface="Calibri"/>
              <a:cs typeface="Calibri"/>
              <a:sym typeface="Calibri"/>
            </a:endParaRPr>
          </a:p>
        </p:txBody>
      </p:sp>
      <p:sp>
        <p:nvSpPr>
          <p:cNvPr id="344" name="Google Shape;344;p11"/>
          <p:cNvSpPr/>
          <p:nvPr/>
        </p:nvSpPr>
        <p:spPr>
          <a:xfrm>
            <a:off x="1143000" y="1451967"/>
            <a:ext cx="1714500" cy="14288"/>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1"/>
          <p:cNvSpPr/>
          <p:nvPr/>
        </p:nvSpPr>
        <p:spPr>
          <a:xfrm>
            <a:off x="2793206" y="1701998"/>
            <a:ext cx="128588" cy="128588"/>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11"/>
          <p:cNvSpPr/>
          <p:nvPr/>
        </p:nvSpPr>
        <p:spPr>
          <a:xfrm>
            <a:off x="2793206" y="1701998"/>
            <a:ext cx="128588" cy="128588"/>
          </a:xfrm>
          <a:prstGeom prst="rect">
            <a:avLst/>
          </a:prstGeom>
          <a:noFill/>
          <a:ln>
            <a:noFill/>
          </a:ln>
        </p:spPr>
        <p:txBody>
          <a:bodyPr anchorCtr="0" anchor="ctr" bIns="0" lIns="0" spcFirstLastPara="1" rIns="0" wrap="square" tIns="0">
            <a:noAutofit/>
          </a:bodyPr>
          <a:lstStyle/>
          <a:p>
            <a:pPr indent="0" lvl="0" marL="0" marR="0" rtl="0" algn="ctr">
              <a:lnSpc>
                <a:spcPct val="137931"/>
              </a:lnSpc>
              <a:spcBef>
                <a:spcPts val="0"/>
              </a:spcBef>
              <a:spcAft>
                <a:spcPts val="0"/>
              </a:spcAft>
              <a:buClr>
                <a:srgbClr val="0D1B2A"/>
              </a:buClr>
              <a:buSzPts val="435"/>
              <a:buFont typeface="Roboto Mono"/>
              <a:buNone/>
            </a:pPr>
            <a:r>
              <a:rPr b="1" i="0" lang="en-US" sz="435" u="none" cap="none" strike="noStrike">
                <a:solidFill>
                  <a:srgbClr val="0D1B2A"/>
                </a:solidFill>
                <a:latin typeface="Roboto Mono"/>
                <a:ea typeface="Roboto Mono"/>
                <a:cs typeface="Roboto Mono"/>
                <a:sym typeface="Roboto Mono"/>
              </a:rPr>
              <a:t>2</a:t>
            </a:r>
            <a:endParaRPr b="0" i="0" sz="435" u="none" cap="none" strike="noStrike">
              <a:solidFill>
                <a:schemeClr val="dk1"/>
              </a:solidFill>
              <a:latin typeface="Calibri"/>
              <a:ea typeface="Calibri"/>
              <a:cs typeface="Calibri"/>
              <a:sym typeface="Calibri"/>
            </a:endParaRPr>
          </a:p>
        </p:txBody>
      </p:sp>
      <p:sp>
        <p:nvSpPr>
          <p:cNvPr id="347" name="Google Shape;347;p11"/>
          <p:cNvSpPr/>
          <p:nvPr/>
        </p:nvSpPr>
        <p:spPr>
          <a:xfrm>
            <a:off x="3114675" y="1719858"/>
            <a:ext cx="1628775" cy="92869"/>
          </a:xfrm>
          <a:prstGeom prst="rect">
            <a:avLst/>
          </a:prstGeom>
          <a:noFill/>
          <a:ln>
            <a:noFill/>
          </a:ln>
        </p:spPr>
        <p:txBody>
          <a:bodyPr anchorCtr="0" anchor="t" bIns="0" lIns="0" spcFirstLastPara="1" rIns="0" wrap="square" tIns="0">
            <a:noAutofit/>
          </a:bodyPr>
          <a:lstStyle/>
          <a:p>
            <a:pPr indent="0" lvl="0" marL="0" marR="0" rtl="0" algn="l">
              <a:lnSpc>
                <a:spcPct val="135658"/>
              </a:lnSpc>
              <a:spcBef>
                <a:spcPts val="0"/>
              </a:spcBef>
              <a:spcAft>
                <a:spcPts val="0"/>
              </a:spcAft>
              <a:buClr>
                <a:srgbClr val="FFAB40"/>
              </a:buClr>
              <a:buSzPts val="516"/>
              <a:buFont typeface="Roboto Mono"/>
              <a:buNone/>
            </a:pPr>
            <a:r>
              <a:rPr b="0" i="0" lang="en-US" sz="516" u="none" cap="none" strike="noStrike">
                <a:solidFill>
                  <a:srgbClr val="FFAB40"/>
                </a:solidFill>
                <a:latin typeface="Roboto Mono"/>
                <a:ea typeface="Roboto Mono"/>
                <a:cs typeface="Roboto Mono"/>
                <a:sym typeface="Roboto Mono"/>
              </a:rPr>
              <a:t>Check DEK cache → MISS (first request)</a:t>
            </a:r>
            <a:endParaRPr b="0" i="0" sz="516" u="none" cap="none" strike="noStrike">
              <a:solidFill>
                <a:schemeClr val="dk1"/>
              </a:solidFill>
              <a:latin typeface="Calibri"/>
              <a:ea typeface="Calibri"/>
              <a:cs typeface="Calibri"/>
              <a:sym typeface="Calibri"/>
            </a:endParaRPr>
          </a:p>
        </p:txBody>
      </p:sp>
      <p:sp>
        <p:nvSpPr>
          <p:cNvPr id="348" name="Google Shape;348;p11"/>
          <p:cNvSpPr/>
          <p:nvPr/>
        </p:nvSpPr>
        <p:spPr>
          <a:xfrm>
            <a:off x="285750" y="1955602"/>
            <a:ext cx="8572500" cy="371475"/>
          </a:xfrm>
          <a:prstGeom prst="rect">
            <a:avLst/>
          </a:prstGeom>
          <a:solidFill>
            <a:srgbClr val="FFFFFF">
              <a:alpha val="19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11"/>
          <p:cNvSpPr/>
          <p:nvPr/>
        </p:nvSpPr>
        <p:spPr>
          <a:xfrm>
            <a:off x="285750" y="2319933"/>
            <a:ext cx="8572500" cy="714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11"/>
          <p:cNvSpPr/>
          <p:nvPr/>
        </p:nvSpPr>
        <p:spPr>
          <a:xfrm>
            <a:off x="2793206" y="2077045"/>
            <a:ext cx="128588" cy="128588"/>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11"/>
          <p:cNvSpPr/>
          <p:nvPr/>
        </p:nvSpPr>
        <p:spPr>
          <a:xfrm>
            <a:off x="2793206" y="2077045"/>
            <a:ext cx="128588" cy="128588"/>
          </a:xfrm>
          <a:prstGeom prst="rect">
            <a:avLst/>
          </a:prstGeom>
          <a:noFill/>
          <a:ln>
            <a:noFill/>
          </a:ln>
        </p:spPr>
        <p:txBody>
          <a:bodyPr anchorCtr="0" anchor="ctr" bIns="0" lIns="0" spcFirstLastPara="1" rIns="0" wrap="square" tIns="0">
            <a:noAutofit/>
          </a:bodyPr>
          <a:lstStyle/>
          <a:p>
            <a:pPr indent="0" lvl="0" marL="0" marR="0" rtl="0" algn="ctr">
              <a:lnSpc>
                <a:spcPct val="137931"/>
              </a:lnSpc>
              <a:spcBef>
                <a:spcPts val="0"/>
              </a:spcBef>
              <a:spcAft>
                <a:spcPts val="0"/>
              </a:spcAft>
              <a:buClr>
                <a:srgbClr val="0D1B2A"/>
              </a:buClr>
              <a:buSzPts val="435"/>
              <a:buFont typeface="Roboto Mono"/>
              <a:buNone/>
            </a:pPr>
            <a:r>
              <a:rPr b="1" i="0" lang="en-US" sz="435" u="none" cap="none" strike="noStrike">
                <a:solidFill>
                  <a:srgbClr val="0D1B2A"/>
                </a:solidFill>
                <a:latin typeface="Roboto Mono"/>
                <a:ea typeface="Roboto Mono"/>
                <a:cs typeface="Roboto Mono"/>
                <a:sym typeface="Roboto Mono"/>
              </a:rPr>
              <a:t>3</a:t>
            </a:r>
            <a:endParaRPr b="0" i="0" sz="435" u="none" cap="none" strike="noStrike">
              <a:solidFill>
                <a:schemeClr val="dk1"/>
              </a:solidFill>
              <a:latin typeface="Calibri"/>
              <a:ea typeface="Calibri"/>
              <a:cs typeface="Calibri"/>
              <a:sym typeface="Calibri"/>
            </a:endParaRPr>
          </a:p>
        </p:txBody>
      </p:sp>
      <p:sp>
        <p:nvSpPr>
          <p:cNvPr id="352" name="Google Shape;352;p11"/>
          <p:cNvSpPr/>
          <p:nvPr/>
        </p:nvSpPr>
        <p:spPr>
          <a:xfrm>
            <a:off x="2857500" y="2073473"/>
            <a:ext cx="1714500" cy="92869"/>
          </a:xfrm>
          <a:prstGeom prst="rect">
            <a:avLst/>
          </a:prstGeom>
          <a:noFill/>
          <a:ln>
            <a:noFill/>
          </a:ln>
        </p:spPr>
        <p:txBody>
          <a:bodyPr anchorCtr="0" anchor="t" bIns="0" lIns="0" spcFirstLastPara="1" rIns="0" wrap="square" tIns="0">
            <a:noAutofit/>
          </a:bodyPr>
          <a:lstStyle/>
          <a:p>
            <a:pPr indent="0" lvl="0" marL="0" marR="0" rtl="0" algn="ctr">
              <a:lnSpc>
                <a:spcPct val="135658"/>
              </a:lnSpc>
              <a:spcBef>
                <a:spcPts val="0"/>
              </a:spcBef>
              <a:spcAft>
                <a:spcPts val="0"/>
              </a:spcAft>
              <a:buClr>
                <a:srgbClr val="B0BEC5"/>
              </a:buClr>
              <a:buSzPts val="516"/>
              <a:buFont typeface="Roboto Mono"/>
              <a:buNone/>
            </a:pPr>
            <a:r>
              <a:rPr b="0" i="0" lang="en-US" sz="516" u="none" cap="none" strike="noStrike">
                <a:solidFill>
                  <a:srgbClr val="B0BEC5"/>
                </a:solidFill>
                <a:latin typeface="Roboto Mono"/>
                <a:ea typeface="Roboto Mono"/>
                <a:cs typeface="Roboto Mono"/>
                <a:sym typeface="Roboto Mono"/>
              </a:rPr>
              <a:t>POST </a:t>
            </a:r>
            <a:r>
              <a:rPr b="0" i="0" lang="en-US" sz="516" u="none" cap="none" strike="noStrike">
                <a:solidFill>
                  <a:srgbClr val="00E5FF"/>
                </a:solidFill>
                <a:latin typeface="Roboto Mono"/>
                <a:ea typeface="Roboto Mono"/>
                <a:cs typeface="Roboto Mono"/>
                <a:sym typeface="Roboto Mono"/>
              </a:rPr>
              <a:t>/crypto/encrypt-dek</a:t>
            </a:r>
            <a:r>
              <a:rPr b="0" i="0" lang="en-US" sz="516" u="none" cap="none" strike="noStrike">
                <a:solidFill>
                  <a:srgbClr val="B0BEC5"/>
                </a:solidFill>
                <a:latin typeface="Roboto Mono"/>
                <a:ea typeface="Roboto Mono"/>
                <a:cs typeface="Roboto Mono"/>
                <a:sym typeface="Roboto Mono"/>
              </a:rPr>
              <a:t> [mTLS]</a:t>
            </a:r>
            <a:endParaRPr b="0" i="0" sz="516" u="none" cap="none" strike="noStrike">
              <a:solidFill>
                <a:schemeClr val="dk1"/>
              </a:solidFill>
              <a:latin typeface="Calibri"/>
              <a:ea typeface="Calibri"/>
              <a:cs typeface="Calibri"/>
              <a:sym typeface="Calibri"/>
            </a:endParaRPr>
          </a:p>
        </p:txBody>
      </p:sp>
      <p:sp>
        <p:nvSpPr>
          <p:cNvPr id="353" name="Google Shape;353;p11"/>
          <p:cNvSpPr/>
          <p:nvPr/>
        </p:nvSpPr>
        <p:spPr>
          <a:xfrm>
            <a:off x="2857500" y="2194917"/>
            <a:ext cx="1714500" cy="14288"/>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11"/>
          <p:cNvSpPr/>
          <p:nvPr/>
        </p:nvSpPr>
        <p:spPr>
          <a:xfrm>
            <a:off x="4507706" y="2444948"/>
            <a:ext cx="128588" cy="128588"/>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11"/>
          <p:cNvSpPr/>
          <p:nvPr/>
        </p:nvSpPr>
        <p:spPr>
          <a:xfrm>
            <a:off x="4507706" y="2444948"/>
            <a:ext cx="128588" cy="128588"/>
          </a:xfrm>
          <a:prstGeom prst="rect">
            <a:avLst/>
          </a:prstGeom>
          <a:noFill/>
          <a:ln>
            <a:noFill/>
          </a:ln>
        </p:spPr>
        <p:txBody>
          <a:bodyPr anchorCtr="0" anchor="ctr" bIns="0" lIns="0" spcFirstLastPara="1" rIns="0" wrap="square" tIns="0">
            <a:noAutofit/>
          </a:bodyPr>
          <a:lstStyle/>
          <a:p>
            <a:pPr indent="0" lvl="0" marL="0" marR="0" rtl="0" algn="ctr">
              <a:lnSpc>
                <a:spcPct val="137931"/>
              </a:lnSpc>
              <a:spcBef>
                <a:spcPts val="0"/>
              </a:spcBef>
              <a:spcAft>
                <a:spcPts val="0"/>
              </a:spcAft>
              <a:buClr>
                <a:srgbClr val="0D1B2A"/>
              </a:buClr>
              <a:buSzPts val="435"/>
              <a:buFont typeface="Roboto Mono"/>
              <a:buNone/>
            </a:pPr>
            <a:r>
              <a:rPr b="1" i="0" lang="en-US" sz="435" u="none" cap="none" strike="noStrike">
                <a:solidFill>
                  <a:srgbClr val="0D1B2A"/>
                </a:solidFill>
                <a:latin typeface="Roboto Mono"/>
                <a:ea typeface="Roboto Mono"/>
                <a:cs typeface="Roboto Mono"/>
                <a:sym typeface="Roboto Mono"/>
              </a:rPr>
              <a:t>4</a:t>
            </a:r>
            <a:endParaRPr b="0" i="0" sz="435" u="none" cap="none" strike="noStrike">
              <a:solidFill>
                <a:schemeClr val="dk1"/>
              </a:solidFill>
              <a:latin typeface="Calibri"/>
              <a:ea typeface="Calibri"/>
              <a:cs typeface="Calibri"/>
              <a:sym typeface="Calibri"/>
            </a:endParaRPr>
          </a:p>
        </p:txBody>
      </p:sp>
      <p:sp>
        <p:nvSpPr>
          <p:cNvPr id="356" name="Google Shape;356;p11"/>
          <p:cNvSpPr/>
          <p:nvPr/>
        </p:nvSpPr>
        <p:spPr>
          <a:xfrm>
            <a:off x="4572000" y="2441377"/>
            <a:ext cx="1714500" cy="92869"/>
          </a:xfrm>
          <a:prstGeom prst="rect">
            <a:avLst/>
          </a:prstGeom>
          <a:noFill/>
          <a:ln>
            <a:noFill/>
          </a:ln>
        </p:spPr>
        <p:txBody>
          <a:bodyPr anchorCtr="0" anchor="t" bIns="0" lIns="0" spcFirstLastPara="1" rIns="0" wrap="square" tIns="0">
            <a:noAutofit/>
          </a:bodyPr>
          <a:lstStyle/>
          <a:p>
            <a:pPr indent="0" lvl="0" marL="0" marR="0" rtl="0" algn="ctr">
              <a:lnSpc>
                <a:spcPct val="135658"/>
              </a:lnSpc>
              <a:spcBef>
                <a:spcPts val="0"/>
              </a:spcBef>
              <a:spcAft>
                <a:spcPts val="0"/>
              </a:spcAft>
              <a:buClr>
                <a:srgbClr val="B0BEC5"/>
              </a:buClr>
              <a:buSzPts val="516"/>
              <a:buFont typeface="Roboto Mono"/>
              <a:buNone/>
            </a:pPr>
            <a:r>
              <a:rPr b="0" i="0" lang="en-US" sz="516" u="none" cap="none" strike="noStrike">
                <a:solidFill>
                  <a:srgbClr val="B0BEC5"/>
                </a:solidFill>
                <a:latin typeface="Roboto Mono"/>
                <a:ea typeface="Roboto Mono"/>
                <a:cs typeface="Roboto Mono"/>
                <a:sym typeface="Roboto Mono"/>
              </a:rPr>
              <a:t>transit/encrypt (DEK, KEK_v</a:t>
            </a:r>
            <a:r>
              <a:rPr b="0" i="0" lang="en-US" sz="516" u="none" cap="none" strike="noStrike">
                <a:solidFill>
                  <a:srgbClr val="00E5FF"/>
                </a:solidFill>
                <a:latin typeface="Roboto Mono"/>
                <a:ea typeface="Roboto Mono"/>
                <a:cs typeface="Roboto Mono"/>
                <a:sym typeface="Roboto Mono"/>
              </a:rPr>
              <a:t>N</a:t>
            </a:r>
            <a:r>
              <a:rPr b="0" i="0" lang="en-US" sz="516" u="none" cap="none" strike="noStrike">
                <a:solidFill>
                  <a:srgbClr val="B0BEC5"/>
                </a:solidFill>
                <a:latin typeface="Roboto Mono"/>
                <a:ea typeface="Roboto Mono"/>
                <a:cs typeface="Roboto Mono"/>
                <a:sym typeface="Roboto Mono"/>
              </a:rPr>
              <a:t>)</a:t>
            </a:r>
            <a:endParaRPr b="0" i="0" sz="516" u="none" cap="none" strike="noStrike">
              <a:solidFill>
                <a:schemeClr val="dk1"/>
              </a:solidFill>
              <a:latin typeface="Calibri"/>
              <a:ea typeface="Calibri"/>
              <a:cs typeface="Calibri"/>
              <a:sym typeface="Calibri"/>
            </a:endParaRPr>
          </a:p>
        </p:txBody>
      </p:sp>
      <p:sp>
        <p:nvSpPr>
          <p:cNvPr id="357" name="Google Shape;357;p11"/>
          <p:cNvSpPr/>
          <p:nvPr/>
        </p:nvSpPr>
        <p:spPr>
          <a:xfrm>
            <a:off x="4572000" y="2562820"/>
            <a:ext cx="1714500" cy="14288"/>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11"/>
          <p:cNvSpPr/>
          <p:nvPr/>
        </p:nvSpPr>
        <p:spPr>
          <a:xfrm>
            <a:off x="285750" y="2698552"/>
            <a:ext cx="8572500" cy="371475"/>
          </a:xfrm>
          <a:prstGeom prst="rect">
            <a:avLst/>
          </a:prstGeom>
          <a:solidFill>
            <a:srgbClr val="FFFFFF">
              <a:alpha val="19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11"/>
          <p:cNvSpPr/>
          <p:nvPr/>
        </p:nvSpPr>
        <p:spPr>
          <a:xfrm>
            <a:off x="285750" y="3062883"/>
            <a:ext cx="8572500" cy="714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11"/>
          <p:cNvSpPr/>
          <p:nvPr/>
        </p:nvSpPr>
        <p:spPr>
          <a:xfrm>
            <a:off x="6222206" y="2819995"/>
            <a:ext cx="128588" cy="128588"/>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11"/>
          <p:cNvSpPr/>
          <p:nvPr/>
        </p:nvSpPr>
        <p:spPr>
          <a:xfrm>
            <a:off x="6222206" y="2819995"/>
            <a:ext cx="128588" cy="128588"/>
          </a:xfrm>
          <a:prstGeom prst="rect">
            <a:avLst/>
          </a:prstGeom>
          <a:noFill/>
          <a:ln>
            <a:noFill/>
          </a:ln>
        </p:spPr>
        <p:txBody>
          <a:bodyPr anchorCtr="0" anchor="ctr" bIns="0" lIns="0" spcFirstLastPara="1" rIns="0" wrap="square" tIns="0">
            <a:noAutofit/>
          </a:bodyPr>
          <a:lstStyle/>
          <a:p>
            <a:pPr indent="0" lvl="0" marL="0" marR="0" rtl="0" algn="ctr">
              <a:lnSpc>
                <a:spcPct val="137931"/>
              </a:lnSpc>
              <a:spcBef>
                <a:spcPts val="0"/>
              </a:spcBef>
              <a:spcAft>
                <a:spcPts val="0"/>
              </a:spcAft>
              <a:buClr>
                <a:srgbClr val="0D1B2A"/>
              </a:buClr>
              <a:buSzPts val="435"/>
              <a:buFont typeface="Roboto Mono"/>
              <a:buNone/>
            </a:pPr>
            <a:r>
              <a:rPr b="1" i="0" lang="en-US" sz="435" u="none" cap="none" strike="noStrike">
                <a:solidFill>
                  <a:srgbClr val="0D1B2A"/>
                </a:solidFill>
                <a:latin typeface="Roboto Mono"/>
                <a:ea typeface="Roboto Mono"/>
                <a:cs typeface="Roboto Mono"/>
                <a:sym typeface="Roboto Mono"/>
              </a:rPr>
              <a:t>5</a:t>
            </a:r>
            <a:endParaRPr b="0" i="0" sz="435" u="none" cap="none" strike="noStrike">
              <a:solidFill>
                <a:schemeClr val="dk1"/>
              </a:solidFill>
              <a:latin typeface="Calibri"/>
              <a:ea typeface="Calibri"/>
              <a:cs typeface="Calibri"/>
              <a:sym typeface="Calibri"/>
            </a:endParaRPr>
          </a:p>
        </p:txBody>
      </p:sp>
      <p:sp>
        <p:nvSpPr>
          <p:cNvPr id="362" name="Google Shape;362;p11"/>
          <p:cNvSpPr/>
          <p:nvPr/>
        </p:nvSpPr>
        <p:spPr>
          <a:xfrm>
            <a:off x="6286500" y="2816423"/>
            <a:ext cx="1714500" cy="92869"/>
          </a:xfrm>
          <a:prstGeom prst="rect">
            <a:avLst/>
          </a:prstGeom>
          <a:noFill/>
          <a:ln>
            <a:noFill/>
          </a:ln>
        </p:spPr>
        <p:txBody>
          <a:bodyPr anchorCtr="0" anchor="t" bIns="0" lIns="0" spcFirstLastPara="1" rIns="0" wrap="square" tIns="0">
            <a:noAutofit/>
          </a:bodyPr>
          <a:lstStyle/>
          <a:p>
            <a:pPr indent="0" lvl="0" marL="0" marR="0" rtl="0" algn="ctr">
              <a:lnSpc>
                <a:spcPct val="135658"/>
              </a:lnSpc>
              <a:spcBef>
                <a:spcPts val="0"/>
              </a:spcBef>
              <a:spcAft>
                <a:spcPts val="0"/>
              </a:spcAft>
              <a:buClr>
                <a:srgbClr val="B0BEC5"/>
              </a:buClr>
              <a:buSzPts val="516"/>
              <a:buFont typeface="Roboto Mono"/>
              <a:buNone/>
            </a:pPr>
            <a:r>
              <a:rPr b="0" i="0" lang="en-US" sz="516" u="none" cap="none" strike="noStrike">
                <a:solidFill>
                  <a:srgbClr val="B0BEC5"/>
                </a:solidFill>
                <a:latin typeface="Roboto Mono"/>
                <a:ea typeface="Roboto Mono"/>
                <a:cs typeface="Roboto Mono"/>
                <a:sym typeface="Roboto Mono"/>
              </a:rPr>
              <a:t>PKCS#11 encrypt (KEK)</a:t>
            </a:r>
            <a:endParaRPr b="0" i="0" sz="516" u="none" cap="none" strike="noStrike">
              <a:solidFill>
                <a:schemeClr val="dk1"/>
              </a:solidFill>
              <a:latin typeface="Calibri"/>
              <a:ea typeface="Calibri"/>
              <a:cs typeface="Calibri"/>
              <a:sym typeface="Calibri"/>
            </a:endParaRPr>
          </a:p>
        </p:txBody>
      </p:sp>
      <p:sp>
        <p:nvSpPr>
          <p:cNvPr id="363" name="Google Shape;363;p11"/>
          <p:cNvSpPr/>
          <p:nvPr/>
        </p:nvSpPr>
        <p:spPr>
          <a:xfrm>
            <a:off x="6286500" y="2937867"/>
            <a:ext cx="1714500" cy="14288"/>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11"/>
          <p:cNvSpPr/>
          <p:nvPr/>
        </p:nvSpPr>
        <p:spPr>
          <a:xfrm>
            <a:off x="7936706" y="3187898"/>
            <a:ext cx="128588" cy="128588"/>
          </a:xfrm>
          <a:prstGeom prst="rect">
            <a:avLst/>
          </a:prstGeom>
          <a:solidFill>
            <a:srgbClr val="00E6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11"/>
          <p:cNvSpPr/>
          <p:nvPr/>
        </p:nvSpPr>
        <p:spPr>
          <a:xfrm>
            <a:off x="7936706" y="3187898"/>
            <a:ext cx="128588" cy="128588"/>
          </a:xfrm>
          <a:prstGeom prst="rect">
            <a:avLst/>
          </a:prstGeom>
          <a:noFill/>
          <a:ln>
            <a:noFill/>
          </a:ln>
        </p:spPr>
        <p:txBody>
          <a:bodyPr anchorCtr="0" anchor="ctr" bIns="0" lIns="0" spcFirstLastPara="1" rIns="0" wrap="square" tIns="0">
            <a:noAutofit/>
          </a:bodyPr>
          <a:lstStyle/>
          <a:p>
            <a:pPr indent="0" lvl="0" marL="0" marR="0" rtl="0" algn="ctr">
              <a:lnSpc>
                <a:spcPct val="137931"/>
              </a:lnSpc>
              <a:spcBef>
                <a:spcPts val="0"/>
              </a:spcBef>
              <a:spcAft>
                <a:spcPts val="0"/>
              </a:spcAft>
              <a:buClr>
                <a:srgbClr val="0D1B2A"/>
              </a:buClr>
              <a:buSzPts val="435"/>
              <a:buFont typeface="Roboto Mono"/>
              <a:buNone/>
            </a:pPr>
            <a:r>
              <a:rPr b="1" i="0" lang="en-US" sz="435" u="none" cap="none" strike="noStrike">
                <a:solidFill>
                  <a:srgbClr val="0D1B2A"/>
                </a:solidFill>
                <a:latin typeface="Roboto Mono"/>
                <a:ea typeface="Roboto Mono"/>
                <a:cs typeface="Roboto Mono"/>
                <a:sym typeface="Roboto Mono"/>
              </a:rPr>
              <a:t>6</a:t>
            </a:r>
            <a:endParaRPr b="0" i="0" sz="435" u="none" cap="none" strike="noStrike">
              <a:solidFill>
                <a:schemeClr val="dk1"/>
              </a:solidFill>
              <a:latin typeface="Calibri"/>
              <a:ea typeface="Calibri"/>
              <a:cs typeface="Calibri"/>
              <a:sym typeface="Calibri"/>
            </a:endParaRPr>
          </a:p>
        </p:txBody>
      </p:sp>
      <p:sp>
        <p:nvSpPr>
          <p:cNvPr id="366" name="Google Shape;366;p11"/>
          <p:cNvSpPr/>
          <p:nvPr/>
        </p:nvSpPr>
        <p:spPr>
          <a:xfrm>
            <a:off x="4807744" y="3182541"/>
            <a:ext cx="1243013" cy="94655"/>
          </a:xfrm>
          <a:prstGeom prst="rect">
            <a:avLst/>
          </a:prstGeom>
          <a:noFill/>
          <a:ln>
            <a:noFill/>
          </a:ln>
        </p:spPr>
        <p:txBody>
          <a:bodyPr anchorCtr="0" anchor="t" bIns="0" lIns="0" spcFirstLastPara="1" rIns="0" wrap="square" tIns="0">
            <a:noAutofit/>
          </a:bodyPr>
          <a:lstStyle/>
          <a:p>
            <a:pPr indent="0" lvl="0" marL="0" marR="0" rtl="0" algn="ctr">
              <a:lnSpc>
                <a:spcPct val="135658"/>
              </a:lnSpc>
              <a:spcBef>
                <a:spcPts val="0"/>
              </a:spcBef>
              <a:spcAft>
                <a:spcPts val="0"/>
              </a:spcAft>
              <a:buClr>
                <a:srgbClr val="00E676"/>
              </a:buClr>
              <a:buSzPts val="516"/>
              <a:buFont typeface="Roboto Mono"/>
              <a:buNone/>
            </a:pPr>
            <a:r>
              <a:rPr b="0" i="0" lang="en-US" sz="516" u="none" cap="none" strike="noStrike">
                <a:solidFill>
                  <a:srgbClr val="00E676"/>
                </a:solidFill>
                <a:latin typeface="Roboto Mono"/>
                <a:ea typeface="Roboto Mono"/>
                <a:cs typeface="Roboto Mono"/>
                <a:sym typeface="Roboto Mono"/>
              </a:rPr>
              <a:t>← encrypted_dek + kek_version</a:t>
            </a:r>
            <a:endParaRPr b="0" i="0" sz="516" u="none" cap="none" strike="noStrike">
              <a:solidFill>
                <a:schemeClr val="dk1"/>
              </a:solidFill>
              <a:latin typeface="Calibri"/>
              <a:ea typeface="Calibri"/>
              <a:cs typeface="Calibri"/>
              <a:sym typeface="Calibri"/>
            </a:endParaRPr>
          </a:p>
        </p:txBody>
      </p:sp>
      <p:sp>
        <p:nvSpPr>
          <p:cNvPr id="367" name="Google Shape;367;p11"/>
          <p:cNvSpPr/>
          <p:nvPr/>
        </p:nvSpPr>
        <p:spPr>
          <a:xfrm>
            <a:off x="2857500" y="3305770"/>
            <a:ext cx="5143500" cy="14288"/>
          </a:xfrm>
          <a:prstGeom prst="rect">
            <a:avLst/>
          </a:prstGeom>
          <a:solidFill>
            <a:srgbClr val="00E6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11"/>
          <p:cNvSpPr/>
          <p:nvPr/>
        </p:nvSpPr>
        <p:spPr>
          <a:xfrm>
            <a:off x="285750" y="3441502"/>
            <a:ext cx="8572500" cy="371475"/>
          </a:xfrm>
          <a:prstGeom prst="rect">
            <a:avLst/>
          </a:prstGeom>
          <a:solidFill>
            <a:srgbClr val="FFFFFF">
              <a:alpha val="19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11"/>
          <p:cNvSpPr/>
          <p:nvPr/>
        </p:nvSpPr>
        <p:spPr>
          <a:xfrm>
            <a:off x="285750" y="3805833"/>
            <a:ext cx="8572500" cy="714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11"/>
          <p:cNvSpPr/>
          <p:nvPr/>
        </p:nvSpPr>
        <p:spPr>
          <a:xfrm>
            <a:off x="2793206" y="3562945"/>
            <a:ext cx="128588" cy="128588"/>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11"/>
          <p:cNvSpPr/>
          <p:nvPr/>
        </p:nvSpPr>
        <p:spPr>
          <a:xfrm>
            <a:off x="2793206" y="3562945"/>
            <a:ext cx="128588" cy="128588"/>
          </a:xfrm>
          <a:prstGeom prst="rect">
            <a:avLst/>
          </a:prstGeom>
          <a:noFill/>
          <a:ln>
            <a:noFill/>
          </a:ln>
        </p:spPr>
        <p:txBody>
          <a:bodyPr anchorCtr="0" anchor="ctr" bIns="0" lIns="0" spcFirstLastPara="1" rIns="0" wrap="square" tIns="0">
            <a:noAutofit/>
          </a:bodyPr>
          <a:lstStyle/>
          <a:p>
            <a:pPr indent="0" lvl="0" marL="0" marR="0" rtl="0" algn="ctr">
              <a:lnSpc>
                <a:spcPct val="137931"/>
              </a:lnSpc>
              <a:spcBef>
                <a:spcPts val="0"/>
              </a:spcBef>
              <a:spcAft>
                <a:spcPts val="0"/>
              </a:spcAft>
              <a:buClr>
                <a:srgbClr val="0D1B2A"/>
              </a:buClr>
              <a:buSzPts val="435"/>
              <a:buFont typeface="Roboto Mono"/>
              <a:buNone/>
            </a:pPr>
            <a:r>
              <a:rPr b="1" i="0" lang="en-US" sz="435" u="none" cap="none" strike="noStrike">
                <a:solidFill>
                  <a:srgbClr val="0D1B2A"/>
                </a:solidFill>
                <a:latin typeface="Roboto Mono"/>
                <a:ea typeface="Roboto Mono"/>
                <a:cs typeface="Roboto Mono"/>
                <a:sym typeface="Roboto Mono"/>
              </a:rPr>
              <a:t>7</a:t>
            </a:r>
            <a:endParaRPr b="0" i="0" sz="435" u="none" cap="none" strike="noStrike">
              <a:solidFill>
                <a:schemeClr val="dk1"/>
              </a:solidFill>
              <a:latin typeface="Calibri"/>
              <a:ea typeface="Calibri"/>
              <a:cs typeface="Calibri"/>
              <a:sym typeface="Calibri"/>
            </a:endParaRPr>
          </a:p>
        </p:txBody>
      </p:sp>
      <p:sp>
        <p:nvSpPr>
          <p:cNvPr id="372" name="Google Shape;372;p11"/>
          <p:cNvSpPr/>
          <p:nvPr/>
        </p:nvSpPr>
        <p:spPr>
          <a:xfrm>
            <a:off x="3114675" y="3580805"/>
            <a:ext cx="2314575" cy="92869"/>
          </a:xfrm>
          <a:prstGeom prst="rect">
            <a:avLst/>
          </a:prstGeom>
          <a:noFill/>
          <a:ln>
            <a:noFill/>
          </a:ln>
        </p:spPr>
        <p:txBody>
          <a:bodyPr anchorCtr="0" anchor="t" bIns="0" lIns="0" spcFirstLastPara="1" rIns="0" wrap="square" tIns="0">
            <a:noAutofit/>
          </a:bodyPr>
          <a:lstStyle/>
          <a:p>
            <a:pPr indent="0" lvl="0" marL="0" marR="0" rtl="0" algn="l">
              <a:lnSpc>
                <a:spcPct val="135658"/>
              </a:lnSpc>
              <a:spcBef>
                <a:spcPts val="0"/>
              </a:spcBef>
              <a:spcAft>
                <a:spcPts val="0"/>
              </a:spcAft>
              <a:buClr>
                <a:srgbClr val="FFAB40"/>
              </a:buClr>
              <a:buSzPts val="516"/>
              <a:buFont typeface="Roboto Mono"/>
              <a:buNone/>
            </a:pPr>
            <a:r>
              <a:rPr b="0" i="0" lang="en-US" sz="516" u="none" cap="none" strike="noStrike">
                <a:solidFill>
                  <a:srgbClr val="FFAB40"/>
                </a:solidFill>
                <a:latin typeface="Roboto Mono"/>
                <a:ea typeface="Roboto Mono"/>
                <a:cs typeface="Roboto Mono"/>
                <a:sym typeface="Roboto Mono"/>
              </a:rPr>
              <a:t>Cache DEK (TTL: 5 min); AES-256-GCM encrypt attachment</a:t>
            </a:r>
            <a:endParaRPr b="0" i="0" sz="516" u="none" cap="none" strike="noStrike">
              <a:solidFill>
                <a:schemeClr val="dk1"/>
              </a:solidFill>
              <a:latin typeface="Calibri"/>
              <a:ea typeface="Calibri"/>
              <a:cs typeface="Calibri"/>
              <a:sym typeface="Calibri"/>
            </a:endParaRPr>
          </a:p>
        </p:txBody>
      </p:sp>
      <p:sp>
        <p:nvSpPr>
          <p:cNvPr id="373" name="Google Shape;373;p11"/>
          <p:cNvSpPr/>
          <p:nvPr/>
        </p:nvSpPr>
        <p:spPr>
          <a:xfrm>
            <a:off x="2793206" y="3930848"/>
            <a:ext cx="128588" cy="128588"/>
          </a:xfrm>
          <a:prstGeom prst="rect">
            <a:avLst/>
          </a:prstGeom>
          <a:solidFill>
            <a:srgbClr val="00E6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11"/>
          <p:cNvSpPr/>
          <p:nvPr/>
        </p:nvSpPr>
        <p:spPr>
          <a:xfrm>
            <a:off x="2793206" y="3930848"/>
            <a:ext cx="128588" cy="128588"/>
          </a:xfrm>
          <a:prstGeom prst="rect">
            <a:avLst/>
          </a:prstGeom>
          <a:noFill/>
          <a:ln>
            <a:noFill/>
          </a:ln>
        </p:spPr>
        <p:txBody>
          <a:bodyPr anchorCtr="0" anchor="ctr" bIns="0" lIns="0" spcFirstLastPara="1" rIns="0" wrap="square" tIns="0">
            <a:noAutofit/>
          </a:bodyPr>
          <a:lstStyle/>
          <a:p>
            <a:pPr indent="0" lvl="0" marL="0" marR="0" rtl="0" algn="ctr">
              <a:lnSpc>
                <a:spcPct val="137931"/>
              </a:lnSpc>
              <a:spcBef>
                <a:spcPts val="0"/>
              </a:spcBef>
              <a:spcAft>
                <a:spcPts val="0"/>
              </a:spcAft>
              <a:buClr>
                <a:srgbClr val="0D1B2A"/>
              </a:buClr>
              <a:buSzPts val="435"/>
              <a:buFont typeface="Roboto Mono"/>
              <a:buNone/>
            </a:pPr>
            <a:r>
              <a:rPr b="1" i="0" lang="en-US" sz="435" u="none" cap="none" strike="noStrike">
                <a:solidFill>
                  <a:srgbClr val="0D1B2A"/>
                </a:solidFill>
                <a:latin typeface="Roboto Mono"/>
                <a:ea typeface="Roboto Mono"/>
                <a:cs typeface="Roboto Mono"/>
                <a:sym typeface="Roboto Mono"/>
              </a:rPr>
              <a:t>8</a:t>
            </a:r>
            <a:endParaRPr b="0" i="0" sz="435" u="none" cap="none" strike="noStrike">
              <a:solidFill>
                <a:schemeClr val="dk1"/>
              </a:solidFill>
              <a:latin typeface="Calibri"/>
              <a:ea typeface="Calibri"/>
              <a:cs typeface="Calibri"/>
              <a:sym typeface="Calibri"/>
            </a:endParaRPr>
          </a:p>
        </p:txBody>
      </p:sp>
      <p:sp>
        <p:nvSpPr>
          <p:cNvPr id="375" name="Google Shape;375;p11"/>
          <p:cNvSpPr/>
          <p:nvPr/>
        </p:nvSpPr>
        <p:spPr>
          <a:xfrm>
            <a:off x="1614488" y="3925491"/>
            <a:ext cx="771525" cy="94655"/>
          </a:xfrm>
          <a:prstGeom prst="rect">
            <a:avLst/>
          </a:prstGeom>
          <a:noFill/>
          <a:ln>
            <a:noFill/>
          </a:ln>
        </p:spPr>
        <p:txBody>
          <a:bodyPr anchorCtr="0" anchor="t" bIns="0" lIns="0" spcFirstLastPara="1" rIns="0" wrap="square" tIns="0">
            <a:noAutofit/>
          </a:bodyPr>
          <a:lstStyle/>
          <a:p>
            <a:pPr indent="0" lvl="0" marL="0" marR="0" rtl="0" algn="ctr">
              <a:lnSpc>
                <a:spcPct val="135658"/>
              </a:lnSpc>
              <a:spcBef>
                <a:spcPts val="0"/>
              </a:spcBef>
              <a:spcAft>
                <a:spcPts val="0"/>
              </a:spcAft>
              <a:buClr>
                <a:srgbClr val="00E676"/>
              </a:buClr>
              <a:buSzPts val="516"/>
              <a:buFont typeface="Roboto Mono"/>
              <a:buNone/>
            </a:pPr>
            <a:r>
              <a:rPr b="0" i="0" lang="en-US" sz="516" u="none" cap="none" strike="noStrike">
                <a:solidFill>
                  <a:srgbClr val="00E676"/>
                </a:solidFill>
                <a:latin typeface="Roboto Mono"/>
                <a:ea typeface="Roboto Mono"/>
                <a:cs typeface="Roboto Mono"/>
                <a:sym typeface="Roboto Mono"/>
              </a:rPr>
              <a:t>← EncryptedPayload</a:t>
            </a:r>
            <a:endParaRPr b="0" i="0" sz="516" u="none" cap="none" strike="noStrike">
              <a:solidFill>
                <a:schemeClr val="dk1"/>
              </a:solidFill>
              <a:latin typeface="Calibri"/>
              <a:ea typeface="Calibri"/>
              <a:cs typeface="Calibri"/>
              <a:sym typeface="Calibri"/>
            </a:endParaRPr>
          </a:p>
        </p:txBody>
      </p:sp>
      <p:sp>
        <p:nvSpPr>
          <p:cNvPr id="376" name="Google Shape;376;p11"/>
          <p:cNvSpPr/>
          <p:nvPr/>
        </p:nvSpPr>
        <p:spPr>
          <a:xfrm>
            <a:off x="1143000" y="4048720"/>
            <a:ext cx="1714500" cy="14288"/>
          </a:xfrm>
          <a:prstGeom prst="rect">
            <a:avLst/>
          </a:prstGeom>
          <a:solidFill>
            <a:srgbClr val="00E6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11"/>
          <p:cNvSpPr/>
          <p:nvPr/>
        </p:nvSpPr>
        <p:spPr>
          <a:xfrm>
            <a:off x="285750" y="4184452"/>
            <a:ext cx="8572500" cy="371475"/>
          </a:xfrm>
          <a:prstGeom prst="rect">
            <a:avLst/>
          </a:prstGeom>
          <a:solidFill>
            <a:srgbClr val="FFFFFF">
              <a:alpha val="19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11"/>
          <p:cNvSpPr/>
          <p:nvPr/>
        </p:nvSpPr>
        <p:spPr>
          <a:xfrm>
            <a:off x="285750" y="4548783"/>
            <a:ext cx="8572500" cy="714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11"/>
          <p:cNvSpPr/>
          <p:nvPr/>
        </p:nvSpPr>
        <p:spPr>
          <a:xfrm>
            <a:off x="1078706" y="4305895"/>
            <a:ext cx="128588" cy="128588"/>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11"/>
          <p:cNvSpPr/>
          <p:nvPr/>
        </p:nvSpPr>
        <p:spPr>
          <a:xfrm>
            <a:off x="1078706" y="4305895"/>
            <a:ext cx="128588" cy="128588"/>
          </a:xfrm>
          <a:prstGeom prst="rect">
            <a:avLst/>
          </a:prstGeom>
          <a:noFill/>
          <a:ln>
            <a:noFill/>
          </a:ln>
        </p:spPr>
        <p:txBody>
          <a:bodyPr anchorCtr="0" anchor="ctr" bIns="0" lIns="0" spcFirstLastPara="1" rIns="0" wrap="square" tIns="0">
            <a:noAutofit/>
          </a:bodyPr>
          <a:lstStyle/>
          <a:p>
            <a:pPr indent="0" lvl="0" marL="0" marR="0" rtl="0" algn="ctr">
              <a:lnSpc>
                <a:spcPct val="137931"/>
              </a:lnSpc>
              <a:spcBef>
                <a:spcPts val="0"/>
              </a:spcBef>
              <a:spcAft>
                <a:spcPts val="0"/>
              </a:spcAft>
              <a:buClr>
                <a:srgbClr val="0D1B2A"/>
              </a:buClr>
              <a:buSzPts val="435"/>
              <a:buFont typeface="Roboto Mono"/>
              <a:buNone/>
            </a:pPr>
            <a:r>
              <a:rPr b="1" i="0" lang="en-US" sz="435" u="none" cap="none" strike="noStrike">
                <a:solidFill>
                  <a:srgbClr val="0D1B2A"/>
                </a:solidFill>
                <a:latin typeface="Roboto Mono"/>
                <a:ea typeface="Roboto Mono"/>
                <a:cs typeface="Roboto Mono"/>
                <a:sym typeface="Roboto Mono"/>
              </a:rPr>
              <a:t>9</a:t>
            </a:r>
            <a:endParaRPr b="0" i="0" sz="435" u="none" cap="none" strike="noStrike">
              <a:solidFill>
                <a:schemeClr val="dk1"/>
              </a:solidFill>
              <a:latin typeface="Calibri"/>
              <a:ea typeface="Calibri"/>
              <a:cs typeface="Calibri"/>
              <a:sym typeface="Calibri"/>
            </a:endParaRPr>
          </a:p>
        </p:txBody>
      </p:sp>
      <p:sp>
        <p:nvSpPr>
          <p:cNvPr id="381" name="Google Shape;381;p11"/>
          <p:cNvSpPr/>
          <p:nvPr/>
        </p:nvSpPr>
        <p:spPr>
          <a:xfrm>
            <a:off x="1400175" y="4323755"/>
            <a:ext cx="1800225" cy="92869"/>
          </a:xfrm>
          <a:prstGeom prst="rect">
            <a:avLst/>
          </a:prstGeom>
          <a:noFill/>
          <a:ln>
            <a:noFill/>
          </a:ln>
        </p:spPr>
        <p:txBody>
          <a:bodyPr anchorCtr="0" anchor="t" bIns="0" lIns="0" spcFirstLastPara="1" rIns="0" wrap="square" tIns="0">
            <a:noAutofit/>
          </a:bodyPr>
          <a:lstStyle/>
          <a:p>
            <a:pPr indent="0" lvl="0" marL="0" marR="0" rtl="0" algn="l">
              <a:lnSpc>
                <a:spcPct val="135658"/>
              </a:lnSpc>
              <a:spcBef>
                <a:spcPts val="0"/>
              </a:spcBef>
              <a:spcAft>
                <a:spcPts val="0"/>
              </a:spcAft>
              <a:buClr>
                <a:srgbClr val="FFAB40"/>
              </a:buClr>
              <a:buSzPts val="516"/>
              <a:buFont typeface="Roboto Mono"/>
              <a:buNone/>
            </a:pPr>
            <a:r>
              <a:rPr b="0" i="0" lang="en-US" sz="516" u="none" cap="none" strike="noStrike">
                <a:solidFill>
                  <a:srgbClr val="FFAB40"/>
                </a:solidFill>
                <a:latin typeface="Roboto Mono"/>
                <a:ea typeface="Roboto Mono"/>
                <a:cs typeface="Roboto Mono"/>
                <a:sym typeface="Roboto Mono"/>
              </a:rPr>
              <a:t>Store encrypted blob + encrypted_dek in S3</a:t>
            </a:r>
            <a:endParaRPr b="0" i="0" sz="516" u="none" cap="none" strike="noStrike">
              <a:solidFill>
                <a:schemeClr val="dk1"/>
              </a:solidFill>
              <a:latin typeface="Calibri"/>
              <a:ea typeface="Calibri"/>
              <a:cs typeface="Calibri"/>
              <a:sym typeface="Calibri"/>
            </a:endParaRPr>
          </a:p>
        </p:txBody>
      </p:sp>
      <p:sp>
        <p:nvSpPr>
          <p:cNvPr id="382" name="Google Shape;382;p11"/>
          <p:cNvSpPr/>
          <p:nvPr/>
        </p:nvSpPr>
        <p:spPr>
          <a:xfrm>
            <a:off x="285750" y="4748808"/>
            <a:ext cx="8572500" cy="425723"/>
          </a:xfrm>
          <a:prstGeom prst="rect">
            <a:avLst/>
          </a:prstGeom>
          <a:solidFill>
            <a:srgbClr val="00E5FF">
              <a:alpha val="3921"/>
            </a:srgbClr>
          </a:solidFill>
          <a:ln cap="flat" cmpd="sng" w="9525">
            <a:solidFill>
              <a:srgbClr val="00E5FF">
                <a:alpha val="1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83" name="Google Shape;383;p11"/>
          <p:cNvPicPr preferRelativeResize="0"/>
          <p:nvPr/>
        </p:nvPicPr>
        <p:blipFill rotWithShape="1">
          <a:blip r:embed="rId9">
            <a:alphaModFix/>
          </a:blip>
          <a:srcRect b="0" l="0" r="0" t="0"/>
          <a:stretch/>
        </p:blipFill>
        <p:spPr>
          <a:xfrm>
            <a:off x="428625" y="4897375"/>
            <a:ext cx="85725" cy="114300"/>
          </a:xfrm>
          <a:prstGeom prst="rect">
            <a:avLst/>
          </a:prstGeom>
          <a:noFill/>
          <a:ln>
            <a:noFill/>
          </a:ln>
        </p:spPr>
      </p:pic>
      <p:sp>
        <p:nvSpPr>
          <p:cNvPr id="384" name="Google Shape;384;p11"/>
          <p:cNvSpPr/>
          <p:nvPr/>
        </p:nvSpPr>
        <p:spPr>
          <a:xfrm>
            <a:off x="585788" y="4834533"/>
            <a:ext cx="8129588" cy="239985"/>
          </a:xfrm>
          <a:prstGeom prst="rect">
            <a:avLst/>
          </a:prstGeom>
          <a:noFill/>
          <a:ln>
            <a:noFill/>
          </a:ln>
        </p:spPr>
        <p:txBody>
          <a:bodyPr anchorCtr="0" anchor="t" bIns="0" lIns="0" spcFirstLastPara="1" rIns="0" wrap="square" tIns="0">
            <a:noAutofit/>
          </a:bodyPr>
          <a:lstStyle/>
          <a:p>
            <a:pPr indent="0" lvl="0" marL="0" marR="0" rtl="0" algn="l">
              <a:lnSpc>
                <a:spcPct val="144927"/>
              </a:lnSpc>
              <a:spcBef>
                <a:spcPts val="0"/>
              </a:spcBef>
              <a:spcAft>
                <a:spcPts val="0"/>
              </a:spcAft>
              <a:buClr>
                <a:srgbClr val="00E5FF"/>
              </a:buClr>
              <a:buSzPts val="584"/>
              <a:buFont typeface="Inter"/>
              <a:buNone/>
            </a:pPr>
            <a:r>
              <a:rPr b="1" i="0" lang="en-US" sz="584" u="none" cap="none" strike="noStrike">
                <a:solidFill>
                  <a:srgbClr val="00E5FF"/>
                </a:solidFill>
                <a:latin typeface="Inter"/>
                <a:ea typeface="Inter"/>
                <a:cs typeface="Inter"/>
                <a:sym typeface="Inter"/>
              </a:rPr>
              <a:t>Performance Note:</a:t>
            </a:r>
            <a:r>
              <a:rPr b="0" i="0" lang="en-US" sz="621" u="none" cap="none" strike="noStrike">
                <a:solidFill>
                  <a:srgbClr val="B0BEC5"/>
                </a:solidFill>
                <a:latin typeface="Inter"/>
                <a:ea typeface="Inter"/>
                <a:cs typeface="Inter"/>
                <a:sym typeface="Inter"/>
              </a:rPr>
              <a:t> Subsequent requests within the 5-minute TTL window will reuse the cached DEK, bypassing steps 3-6. Each attachment still gets a unique nonce to ensure cryptographic safety even when reusing the DEK.</a:t>
            </a:r>
            <a:endParaRPr b="0" i="0" sz="584"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pic>
        <p:nvPicPr>
          <p:cNvPr descr="preencoded.png" id="390" name="Google Shape;390;p12"/>
          <p:cNvPicPr preferRelativeResize="0"/>
          <p:nvPr/>
        </p:nvPicPr>
        <p:blipFill rotWithShape="1">
          <a:blip r:embed="rId3">
            <a:alphaModFix/>
          </a:blip>
          <a:srcRect b="0" l="0" r="0" t="0"/>
          <a:stretch/>
        </p:blipFill>
        <p:spPr>
          <a:xfrm>
            <a:off x="57150" y="57150"/>
            <a:ext cx="9029700" cy="5293519"/>
          </a:xfrm>
          <a:prstGeom prst="rect">
            <a:avLst/>
          </a:prstGeom>
          <a:noFill/>
          <a:ln>
            <a:noFill/>
          </a:ln>
        </p:spPr>
      </p:pic>
      <p:sp>
        <p:nvSpPr>
          <p:cNvPr id="391" name="Google Shape;391;p12"/>
          <p:cNvSpPr/>
          <p:nvPr/>
        </p:nvSpPr>
        <p:spPr>
          <a:xfrm>
            <a:off x="57150" y="57150"/>
            <a:ext cx="9029700" cy="132159"/>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000000"/>
              </a:buClr>
              <a:buSzPts val="834"/>
              <a:buFont typeface="Times New Roman"/>
              <a:buNone/>
            </a:pPr>
            <a:r>
              <a:rPr b="0" i="0" lang="en-US" sz="834" u="none" cap="none" strike="noStrike">
                <a:solidFill>
                  <a:srgbClr val="000000"/>
                </a:solidFill>
                <a:latin typeface="Times New Roman"/>
                <a:ea typeface="Times New Roman"/>
                <a:cs typeface="Times New Roman"/>
                <a:sym typeface="Times New Roman"/>
              </a:rPr>
              <a:t>Code Example: API-Based Encrypted Attachment</a:t>
            </a:r>
            <a:endParaRPr b="0" i="0" sz="834" u="none" cap="none" strike="noStrike">
              <a:solidFill>
                <a:schemeClr val="dk1"/>
              </a:solidFill>
              <a:latin typeface="Calibri"/>
              <a:ea typeface="Calibri"/>
              <a:cs typeface="Calibri"/>
              <a:sym typeface="Calibri"/>
            </a:endParaRPr>
          </a:p>
        </p:txBody>
      </p:sp>
      <p:sp>
        <p:nvSpPr>
          <p:cNvPr id="392" name="Google Shape;392;p12"/>
          <p:cNvSpPr/>
          <p:nvPr/>
        </p:nvSpPr>
        <p:spPr>
          <a:xfrm>
            <a:off x="57150" y="189309"/>
            <a:ext cx="9029700" cy="132159"/>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000000"/>
              </a:buClr>
              <a:buSzPts val="834"/>
              <a:buFont typeface="Times New Roman"/>
              <a:buNone/>
            </a:pPr>
            <a:r>
              <a:rPr b="0" i="0" lang="en-US" sz="834" u="none" cap="none" strike="noStrike">
                <a:solidFill>
                  <a:srgbClr val="000000"/>
                </a:solidFill>
                <a:latin typeface="Times New Roman"/>
                <a:ea typeface="Times New Roman"/>
                <a:cs typeface="Times New Roman"/>
                <a:sym typeface="Times New Roman"/>
              </a:rPr>
              <a:t>Use Case B: High-frequency operations with cached DEKs</a:t>
            </a:r>
            <a:endParaRPr b="0" i="0" sz="834" u="none" cap="none" strike="noStrike">
              <a:solidFill>
                <a:schemeClr val="dk1"/>
              </a:solidFill>
              <a:latin typeface="Calibri"/>
              <a:ea typeface="Calibri"/>
              <a:cs typeface="Calibri"/>
              <a:sym typeface="Calibri"/>
            </a:endParaRPr>
          </a:p>
        </p:txBody>
      </p:sp>
      <p:sp>
        <p:nvSpPr>
          <p:cNvPr id="393" name="Google Shape;393;p12"/>
          <p:cNvSpPr/>
          <p:nvPr/>
        </p:nvSpPr>
        <p:spPr>
          <a:xfrm>
            <a:off x="57150" y="321469"/>
            <a:ext cx="4400550" cy="5029200"/>
          </a:xfrm>
          <a:prstGeom prst="rect">
            <a:avLst/>
          </a:prstGeom>
          <a:solidFill>
            <a:srgbClr val="1E1E1E"/>
          </a:solidFill>
          <a:ln cap="flat" cmpd="sng" w="952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12"/>
          <p:cNvSpPr/>
          <p:nvPr/>
        </p:nvSpPr>
        <p:spPr>
          <a:xfrm>
            <a:off x="228600" y="492919"/>
            <a:ext cx="4057650" cy="141089"/>
          </a:xfrm>
          <a:prstGeom prst="rect">
            <a:avLst/>
          </a:prstGeom>
          <a:noFill/>
          <a:ln>
            <a:noFill/>
          </a:ln>
        </p:spPr>
        <p:txBody>
          <a:bodyPr anchorCtr="0" anchor="t" bIns="0" lIns="0" spcFirstLastPara="1" rIns="0" wrap="square" tIns="0">
            <a:noAutofit/>
          </a:bodyPr>
          <a:lstStyle/>
          <a:p>
            <a:pPr indent="0" lvl="0" marL="0" marR="0" rtl="0" algn="l">
              <a:lnSpc>
                <a:spcPct val="133689"/>
              </a:lnSpc>
              <a:spcBef>
                <a:spcPts val="0"/>
              </a:spcBef>
              <a:spcAft>
                <a:spcPts val="0"/>
              </a:spcAft>
              <a:buClr>
                <a:srgbClr val="569CD6"/>
              </a:buClr>
              <a:buSzPts val="748"/>
              <a:buFont typeface="Arial"/>
              <a:buNone/>
            </a:pPr>
            <a:r>
              <a:rPr b="0" i="0" lang="en-US" sz="748" u="none" cap="none" strike="noStrike">
                <a:solidFill>
                  <a:srgbClr val="569CD6"/>
                </a:solidFill>
                <a:latin typeface="Arial"/>
                <a:ea typeface="Arial"/>
                <a:cs typeface="Arial"/>
                <a:sym typeface="Arial"/>
              </a:rPr>
              <a:t>// 1. Initialize SDK with caching enabled</a:t>
            </a:r>
            <a:endParaRPr b="0" i="0" sz="748" u="none" cap="none" strike="noStrike">
              <a:solidFill>
                <a:schemeClr val="dk1"/>
              </a:solidFill>
              <a:latin typeface="Calibri"/>
              <a:ea typeface="Calibri"/>
              <a:cs typeface="Calibri"/>
              <a:sym typeface="Calibri"/>
            </a:endParaRPr>
          </a:p>
        </p:txBody>
      </p:sp>
      <p:sp>
        <p:nvSpPr>
          <p:cNvPr id="395" name="Google Shape;395;p12"/>
          <p:cNvSpPr/>
          <p:nvPr/>
        </p:nvSpPr>
        <p:spPr>
          <a:xfrm>
            <a:off x="228600" y="634008"/>
            <a:ext cx="4057650" cy="141089"/>
          </a:xfrm>
          <a:prstGeom prst="rect">
            <a:avLst/>
          </a:prstGeom>
          <a:noFill/>
          <a:ln>
            <a:noFill/>
          </a:ln>
        </p:spPr>
        <p:txBody>
          <a:bodyPr anchorCtr="0" anchor="t" bIns="0" lIns="0" spcFirstLastPara="1" rIns="0" wrap="square" tIns="0">
            <a:noAutofit/>
          </a:bodyPr>
          <a:lstStyle/>
          <a:p>
            <a:pPr indent="0" lvl="0" marL="0" marR="0" rtl="0" algn="l">
              <a:lnSpc>
                <a:spcPct val="133689"/>
              </a:lnSpc>
              <a:spcBef>
                <a:spcPts val="0"/>
              </a:spcBef>
              <a:spcAft>
                <a:spcPts val="0"/>
              </a:spcAft>
              <a:buClr>
                <a:srgbClr val="4EC9B0"/>
              </a:buClr>
              <a:buSzPts val="748"/>
              <a:buFont typeface="Arial"/>
              <a:buNone/>
            </a:pPr>
            <a:r>
              <a:rPr b="0" i="0" lang="en-US" sz="748" u="none" cap="none" strike="noStrike">
                <a:solidFill>
                  <a:srgbClr val="4EC9B0"/>
                </a:solidFill>
                <a:latin typeface="Arial"/>
                <a:ea typeface="Arial"/>
                <a:cs typeface="Arial"/>
                <a:sym typeface="Arial"/>
              </a:rPr>
              <a:t>EESClient</a:t>
            </a:r>
            <a:r>
              <a:rPr b="0" i="0" lang="en-US" sz="748" u="none" cap="none" strike="noStrike">
                <a:solidFill>
                  <a:srgbClr val="D4D4D4"/>
                </a:solidFill>
                <a:latin typeface="Arial"/>
                <a:ea typeface="Arial"/>
                <a:cs typeface="Arial"/>
                <a:sym typeface="Arial"/>
              </a:rPr>
              <a:t> client = </a:t>
            </a:r>
            <a:r>
              <a:rPr b="0" i="0" lang="en-US" sz="748" u="none" cap="none" strike="noStrike">
                <a:solidFill>
                  <a:srgbClr val="4EC9B0"/>
                </a:solidFill>
                <a:latin typeface="Arial"/>
                <a:ea typeface="Arial"/>
                <a:cs typeface="Arial"/>
                <a:sym typeface="Arial"/>
              </a:rPr>
              <a:t>EESClient</a:t>
            </a:r>
            <a:r>
              <a:rPr b="0" i="0" lang="en-US" sz="748" u="none" cap="none" strike="noStrike">
                <a:solidFill>
                  <a:srgbClr val="D4D4D4"/>
                </a:solidFill>
                <a:latin typeface="Arial"/>
                <a:ea typeface="Arial"/>
                <a:cs typeface="Arial"/>
                <a:sym typeface="Arial"/>
              </a:rPr>
              <a:t>.builder()</a:t>
            </a:r>
            <a:endParaRPr b="0" i="0" sz="748" u="none" cap="none" strike="noStrike">
              <a:solidFill>
                <a:schemeClr val="dk1"/>
              </a:solidFill>
              <a:latin typeface="Calibri"/>
              <a:ea typeface="Calibri"/>
              <a:cs typeface="Calibri"/>
              <a:sym typeface="Calibri"/>
            </a:endParaRPr>
          </a:p>
        </p:txBody>
      </p:sp>
      <p:sp>
        <p:nvSpPr>
          <p:cNvPr id="396" name="Google Shape;396;p12"/>
          <p:cNvSpPr/>
          <p:nvPr/>
        </p:nvSpPr>
        <p:spPr>
          <a:xfrm>
            <a:off x="228600" y="775097"/>
            <a:ext cx="4057650" cy="141089"/>
          </a:xfrm>
          <a:prstGeom prst="rect">
            <a:avLst/>
          </a:prstGeom>
          <a:noFill/>
          <a:ln>
            <a:noFill/>
          </a:ln>
        </p:spPr>
        <p:txBody>
          <a:bodyPr anchorCtr="0" anchor="t" bIns="0" lIns="272150" spcFirstLastPara="1" rIns="0" wrap="square" tIns="0">
            <a:noAutofit/>
          </a:bodyPr>
          <a:lstStyle/>
          <a:p>
            <a:pPr indent="0" lvl="0" marL="0" marR="0" rtl="0" algn="l">
              <a:lnSpc>
                <a:spcPct val="133689"/>
              </a:lnSpc>
              <a:spcBef>
                <a:spcPts val="0"/>
              </a:spcBef>
              <a:spcAft>
                <a:spcPts val="0"/>
              </a:spcAft>
              <a:buClr>
                <a:srgbClr val="D4D4D4"/>
              </a:buClr>
              <a:buSzPts val="748"/>
              <a:buFont typeface="Arial"/>
              <a:buNone/>
            </a:pPr>
            <a:r>
              <a:rPr b="0" i="0" lang="en-US" sz="748" u="none" cap="none" strike="noStrike">
                <a:solidFill>
                  <a:srgbClr val="D4D4D4"/>
                </a:solidFill>
                <a:latin typeface="Arial"/>
                <a:ea typeface="Arial"/>
                <a:cs typeface="Arial"/>
                <a:sym typeface="Arial"/>
              </a:rPr>
              <a:t>.withIdentity(</a:t>
            </a:r>
            <a:r>
              <a:rPr b="0" i="0" lang="en-US" sz="748" u="none" cap="none" strike="noStrike">
                <a:solidFill>
                  <a:srgbClr val="CE9178"/>
                </a:solidFill>
                <a:latin typeface="Arial"/>
                <a:ea typeface="Arial"/>
                <a:cs typeface="Arial"/>
                <a:sym typeface="Arial"/>
              </a:rPr>
              <a:t>"api-gateway-asv"</a:t>
            </a:r>
            <a:r>
              <a:rPr b="0" i="0" lang="en-US" sz="748" u="none" cap="none" strike="noStrike">
                <a:solidFill>
                  <a:srgbClr val="D4D4D4"/>
                </a:solidFill>
                <a:latin typeface="Arial"/>
                <a:ea typeface="Arial"/>
                <a:cs typeface="Arial"/>
                <a:sym typeface="Arial"/>
              </a:rPr>
              <a:t>)</a:t>
            </a:r>
            <a:endParaRPr b="0" i="0" sz="748" u="none" cap="none" strike="noStrike">
              <a:solidFill>
                <a:schemeClr val="dk1"/>
              </a:solidFill>
              <a:latin typeface="Calibri"/>
              <a:ea typeface="Calibri"/>
              <a:cs typeface="Calibri"/>
              <a:sym typeface="Calibri"/>
            </a:endParaRPr>
          </a:p>
        </p:txBody>
      </p:sp>
      <p:sp>
        <p:nvSpPr>
          <p:cNvPr id="397" name="Google Shape;397;p12"/>
          <p:cNvSpPr/>
          <p:nvPr/>
        </p:nvSpPr>
        <p:spPr>
          <a:xfrm>
            <a:off x="228600" y="916186"/>
            <a:ext cx="4057650" cy="141089"/>
          </a:xfrm>
          <a:prstGeom prst="rect">
            <a:avLst/>
          </a:prstGeom>
          <a:noFill/>
          <a:ln>
            <a:noFill/>
          </a:ln>
        </p:spPr>
        <p:txBody>
          <a:bodyPr anchorCtr="0" anchor="t" bIns="0" lIns="272150" spcFirstLastPara="1" rIns="0" wrap="square" tIns="0">
            <a:noAutofit/>
          </a:bodyPr>
          <a:lstStyle/>
          <a:p>
            <a:pPr indent="0" lvl="0" marL="0" marR="0" rtl="0" algn="l">
              <a:lnSpc>
                <a:spcPct val="133689"/>
              </a:lnSpc>
              <a:spcBef>
                <a:spcPts val="0"/>
              </a:spcBef>
              <a:spcAft>
                <a:spcPts val="0"/>
              </a:spcAft>
              <a:buClr>
                <a:srgbClr val="D4D4D4"/>
              </a:buClr>
              <a:buSzPts val="748"/>
              <a:buFont typeface="Arial"/>
              <a:buNone/>
            </a:pPr>
            <a:r>
              <a:rPr b="0" i="0" lang="en-US" sz="748" u="none" cap="none" strike="noStrike">
                <a:solidFill>
                  <a:srgbClr val="D4D4D4"/>
                </a:solidFill>
                <a:latin typeface="Arial"/>
                <a:ea typeface="Arial"/>
                <a:cs typeface="Arial"/>
                <a:sym typeface="Arial"/>
              </a:rPr>
              <a:t>.withDekCache(</a:t>
            </a:r>
            <a:r>
              <a:rPr b="0" i="0" lang="en-US" sz="748" u="none" cap="none" strike="noStrike">
                <a:solidFill>
                  <a:srgbClr val="B5CEA8"/>
                </a:solidFill>
                <a:latin typeface="Arial"/>
                <a:ea typeface="Arial"/>
                <a:cs typeface="Arial"/>
                <a:sym typeface="Arial"/>
              </a:rPr>
              <a:t>Duration</a:t>
            </a:r>
            <a:r>
              <a:rPr b="0" i="0" lang="en-US" sz="748" u="none" cap="none" strike="noStrike">
                <a:solidFill>
                  <a:srgbClr val="D4D4D4"/>
                </a:solidFill>
                <a:latin typeface="Arial"/>
                <a:ea typeface="Arial"/>
                <a:cs typeface="Arial"/>
                <a:sym typeface="Arial"/>
              </a:rPr>
              <a:t>.ofMinutes(</a:t>
            </a:r>
            <a:r>
              <a:rPr b="0" i="0" lang="en-US" sz="748" u="none" cap="none" strike="noStrike">
                <a:solidFill>
                  <a:srgbClr val="B5CEA8"/>
                </a:solidFill>
                <a:latin typeface="Arial"/>
                <a:ea typeface="Arial"/>
                <a:cs typeface="Arial"/>
                <a:sym typeface="Arial"/>
              </a:rPr>
              <a:t>15</a:t>
            </a:r>
            <a:r>
              <a:rPr b="0" i="0" lang="en-US" sz="748" u="none" cap="none" strike="noStrike">
                <a:solidFill>
                  <a:srgbClr val="D4D4D4"/>
                </a:solidFill>
                <a:latin typeface="Arial"/>
                <a:ea typeface="Arial"/>
                <a:cs typeface="Arial"/>
                <a:sym typeface="Arial"/>
              </a:rPr>
              <a:t>))</a:t>
            </a:r>
            <a:endParaRPr b="0" i="0" sz="748" u="none" cap="none" strike="noStrike">
              <a:solidFill>
                <a:schemeClr val="dk1"/>
              </a:solidFill>
              <a:latin typeface="Calibri"/>
              <a:ea typeface="Calibri"/>
              <a:cs typeface="Calibri"/>
              <a:sym typeface="Calibri"/>
            </a:endParaRPr>
          </a:p>
        </p:txBody>
      </p:sp>
      <p:sp>
        <p:nvSpPr>
          <p:cNvPr id="398" name="Google Shape;398;p12"/>
          <p:cNvSpPr/>
          <p:nvPr/>
        </p:nvSpPr>
        <p:spPr>
          <a:xfrm>
            <a:off x="228600" y="1057275"/>
            <a:ext cx="4057650" cy="141089"/>
          </a:xfrm>
          <a:prstGeom prst="rect">
            <a:avLst/>
          </a:prstGeom>
          <a:noFill/>
          <a:ln>
            <a:noFill/>
          </a:ln>
        </p:spPr>
        <p:txBody>
          <a:bodyPr anchorCtr="0" anchor="t" bIns="0" lIns="272150" spcFirstLastPara="1" rIns="0" wrap="square" tIns="0">
            <a:noAutofit/>
          </a:bodyPr>
          <a:lstStyle/>
          <a:p>
            <a:pPr indent="0" lvl="0" marL="0" marR="0" rtl="0" algn="l">
              <a:lnSpc>
                <a:spcPct val="133689"/>
              </a:lnSpc>
              <a:spcBef>
                <a:spcPts val="0"/>
              </a:spcBef>
              <a:spcAft>
                <a:spcPts val="0"/>
              </a:spcAft>
              <a:buClr>
                <a:srgbClr val="D4D4D4"/>
              </a:buClr>
              <a:buSzPts val="748"/>
              <a:buFont typeface="Arial"/>
              <a:buNone/>
            </a:pPr>
            <a:r>
              <a:rPr b="0" i="0" lang="en-US" sz="748" u="none" cap="none" strike="noStrike">
                <a:solidFill>
                  <a:srgbClr val="D4D4D4"/>
                </a:solidFill>
                <a:latin typeface="Arial"/>
                <a:ea typeface="Arial"/>
                <a:cs typeface="Arial"/>
                <a:sym typeface="Arial"/>
              </a:rPr>
              <a:t>.build();</a:t>
            </a:r>
            <a:endParaRPr b="0" i="0" sz="748" u="none" cap="none" strike="noStrike">
              <a:solidFill>
                <a:schemeClr val="dk1"/>
              </a:solidFill>
              <a:latin typeface="Calibri"/>
              <a:ea typeface="Calibri"/>
              <a:cs typeface="Calibri"/>
              <a:sym typeface="Calibri"/>
            </a:endParaRPr>
          </a:p>
        </p:txBody>
      </p:sp>
      <p:sp>
        <p:nvSpPr>
          <p:cNvPr id="399" name="Google Shape;399;p12"/>
          <p:cNvSpPr/>
          <p:nvPr/>
        </p:nvSpPr>
        <p:spPr>
          <a:xfrm>
            <a:off x="228600" y="1339453"/>
            <a:ext cx="4057650" cy="141089"/>
          </a:xfrm>
          <a:prstGeom prst="rect">
            <a:avLst/>
          </a:prstGeom>
          <a:noFill/>
          <a:ln>
            <a:noFill/>
          </a:ln>
        </p:spPr>
        <p:txBody>
          <a:bodyPr anchorCtr="0" anchor="t" bIns="0" lIns="0" spcFirstLastPara="1" rIns="0" wrap="square" tIns="0">
            <a:noAutofit/>
          </a:bodyPr>
          <a:lstStyle/>
          <a:p>
            <a:pPr indent="0" lvl="0" marL="0" marR="0" rtl="0" algn="l">
              <a:lnSpc>
                <a:spcPct val="133689"/>
              </a:lnSpc>
              <a:spcBef>
                <a:spcPts val="0"/>
              </a:spcBef>
              <a:spcAft>
                <a:spcPts val="0"/>
              </a:spcAft>
              <a:buClr>
                <a:srgbClr val="569CD6"/>
              </a:buClr>
              <a:buSzPts val="748"/>
              <a:buFont typeface="Arial"/>
              <a:buNone/>
            </a:pPr>
            <a:r>
              <a:rPr b="0" i="0" lang="en-US" sz="748" u="none" cap="none" strike="noStrike">
                <a:solidFill>
                  <a:srgbClr val="569CD6"/>
                </a:solidFill>
                <a:latin typeface="Arial"/>
                <a:ea typeface="Arial"/>
                <a:cs typeface="Arial"/>
                <a:sym typeface="Arial"/>
              </a:rPr>
              <a:t>// 2. Handle incoming API request</a:t>
            </a:r>
            <a:endParaRPr b="0" i="0" sz="748" u="none" cap="none" strike="noStrike">
              <a:solidFill>
                <a:schemeClr val="dk1"/>
              </a:solidFill>
              <a:latin typeface="Calibri"/>
              <a:ea typeface="Calibri"/>
              <a:cs typeface="Calibri"/>
              <a:sym typeface="Calibri"/>
            </a:endParaRPr>
          </a:p>
        </p:txBody>
      </p:sp>
      <p:sp>
        <p:nvSpPr>
          <p:cNvPr id="400" name="Google Shape;400;p12"/>
          <p:cNvSpPr/>
          <p:nvPr/>
        </p:nvSpPr>
        <p:spPr>
          <a:xfrm>
            <a:off x="228600" y="1480542"/>
            <a:ext cx="4057650" cy="141089"/>
          </a:xfrm>
          <a:prstGeom prst="rect">
            <a:avLst/>
          </a:prstGeom>
          <a:noFill/>
          <a:ln>
            <a:noFill/>
          </a:ln>
        </p:spPr>
        <p:txBody>
          <a:bodyPr anchorCtr="0" anchor="t" bIns="0" lIns="0" spcFirstLastPara="1" rIns="0" wrap="square" tIns="0">
            <a:noAutofit/>
          </a:bodyPr>
          <a:lstStyle/>
          <a:p>
            <a:pPr indent="0" lvl="0" marL="0" marR="0" rtl="0" algn="l">
              <a:lnSpc>
                <a:spcPct val="133689"/>
              </a:lnSpc>
              <a:spcBef>
                <a:spcPts val="0"/>
              </a:spcBef>
              <a:spcAft>
                <a:spcPts val="0"/>
              </a:spcAft>
              <a:buClr>
                <a:srgbClr val="569CD6"/>
              </a:buClr>
              <a:buSzPts val="748"/>
              <a:buFont typeface="Arial"/>
              <a:buNone/>
            </a:pPr>
            <a:r>
              <a:rPr b="0" i="0" lang="en-US" sz="748" u="none" cap="none" strike="noStrike">
                <a:solidFill>
                  <a:srgbClr val="569CD6"/>
                </a:solidFill>
                <a:latin typeface="Arial"/>
                <a:ea typeface="Arial"/>
                <a:cs typeface="Arial"/>
                <a:sym typeface="Arial"/>
              </a:rPr>
              <a:t>public</a:t>
            </a:r>
            <a:r>
              <a:rPr b="0" i="0" lang="en-US" sz="748" u="none" cap="none" strike="noStrike">
                <a:solidFill>
                  <a:srgbClr val="D4D4D4"/>
                </a:solidFill>
                <a:latin typeface="Arial"/>
                <a:ea typeface="Arial"/>
                <a:cs typeface="Arial"/>
                <a:sym typeface="Arial"/>
              </a:rPr>
              <a:t> </a:t>
            </a:r>
            <a:r>
              <a:rPr b="0" i="0" lang="en-US" sz="748" u="none" cap="none" strike="noStrike">
                <a:solidFill>
                  <a:srgbClr val="4EC9B0"/>
                </a:solidFill>
                <a:latin typeface="Arial"/>
                <a:ea typeface="Arial"/>
                <a:cs typeface="Arial"/>
                <a:sym typeface="Arial"/>
              </a:rPr>
              <a:t>Response</a:t>
            </a:r>
            <a:r>
              <a:rPr b="0" i="0" lang="en-US" sz="748" u="none" cap="none" strike="noStrike">
                <a:solidFill>
                  <a:srgbClr val="D4D4D4"/>
                </a:solidFill>
                <a:latin typeface="Arial"/>
                <a:ea typeface="Arial"/>
                <a:cs typeface="Arial"/>
                <a:sym typeface="Arial"/>
              </a:rPr>
              <a:t> handleUpload(</a:t>
            </a:r>
            <a:r>
              <a:rPr b="0" i="0" lang="en-US" sz="748" u="none" cap="none" strike="noStrike">
                <a:solidFill>
                  <a:srgbClr val="4EC9B0"/>
                </a:solidFill>
                <a:latin typeface="Arial"/>
                <a:ea typeface="Arial"/>
                <a:cs typeface="Arial"/>
                <a:sym typeface="Arial"/>
              </a:rPr>
              <a:t>byte</a:t>
            </a:r>
            <a:r>
              <a:rPr b="0" i="0" lang="en-US" sz="748" u="none" cap="none" strike="noStrike">
                <a:solidFill>
                  <a:srgbClr val="D4D4D4"/>
                </a:solidFill>
                <a:latin typeface="Arial"/>
                <a:ea typeface="Arial"/>
                <a:cs typeface="Arial"/>
                <a:sym typeface="Arial"/>
              </a:rPr>
              <a:t>[] attachment) {</a:t>
            </a:r>
            <a:endParaRPr b="0" i="0" sz="748" u="none" cap="none" strike="noStrike">
              <a:solidFill>
                <a:schemeClr val="dk1"/>
              </a:solidFill>
              <a:latin typeface="Calibri"/>
              <a:ea typeface="Calibri"/>
              <a:cs typeface="Calibri"/>
              <a:sym typeface="Calibri"/>
            </a:endParaRPr>
          </a:p>
        </p:txBody>
      </p:sp>
      <p:sp>
        <p:nvSpPr>
          <p:cNvPr id="401" name="Google Shape;401;p12"/>
          <p:cNvSpPr/>
          <p:nvPr/>
        </p:nvSpPr>
        <p:spPr>
          <a:xfrm>
            <a:off x="228600" y="1762720"/>
            <a:ext cx="4057650" cy="141089"/>
          </a:xfrm>
          <a:prstGeom prst="rect">
            <a:avLst/>
          </a:prstGeom>
          <a:noFill/>
          <a:ln>
            <a:noFill/>
          </a:ln>
        </p:spPr>
        <p:txBody>
          <a:bodyPr anchorCtr="0" anchor="t" bIns="0" lIns="272150" spcFirstLastPara="1" rIns="0" wrap="square" tIns="0">
            <a:noAutofit/>
          </a:bodyPr>
          <a:lstStyle/>
          <a:p>
            <a:pPr indent="0" lvl="0" marL="0" marR="0" rtl="0" algn="l">
              <a:lnSpc>
                <a:spcPct val="133689"/>
              </a:lnSpc>
              <a:spcBef>
                <a:spcPts val="0"/>
              </a:spcBef>
              <a:spcAft>
                <a:spcPts val="0"/>
              </a:spcAft>
              <a:buClr>
                <a:srgbClr val="569CD6"/>
              </a:buClr>
              <a:buSzPts val="748"/>
              <a:buFont typeface="Arial"/>
              <a:buNone/>
            </a:pPr>
            <a:r>
              <a:rPr b="0" i="0" lang="en-US" sz="748" u="none" cap="none" strike="noStrike">
                <a:solidFill>
                  <a:srgbClr val="569CD6"/>
                </a:solidFill>
                <a:latin typeface="Arial"/>
                <a:ea typeface="Arial"/>
                <a:cs typeface="Arial"/>
                <a:sym typeface="Arial"/>
              </a:rPr>
              <a:t>// 3. Encrypt attachment</a:t>
            </a:r>
            <a:endParaRPr b="0" i="0" sz="748" u="none" cap="none" strike="noStrike">
              <a:solidFill>
                <a:schemeClr val="dk1"/>
              </a:solidFill>
              <a:latin typeface="Calibri"/>
              <a:ea typeface="Calibri"/>
              <a:cs typeface="Calibri"/>
              <a:sym typeface="Calibri"/>
            </a:endParaRPr>
          </a:p>
        </p:txBody>
      </p:sp>
      <p:sp>
        <p:nvSpPr>
          <p:cNvPr id="402" name="Google Shape;402;p12"/>
          <p:cNvSpPr/>
          <p:nvPr/>
        </p:nvSpPr>
        <p:spPr>
          <a:xfrm>
            <a:off x="228600" y="1903809"/>
            <a:ext cx="4057650" cy="141089"/>
          </a:xfrm>
          <a:prstGeom prst="rect">
            <a:avLst/>
          </a:prstGeom>
          <a:noFill/>
          <a:ln>
            <a:noFill/>
          </a:ln>
        </p:spPr>
        <p:txBody>
          <a:bodyPr anchorCtr="0" anchor="t" bIns="0" lIns="272150" spcFirstLastPara="1" rIns="0" wrap="square" tIns="0">
            <a:noAutofit/>
          </a:bodyPr>
          <a:lstStyle/>
          <a:p>
            <a:pPr indent="0" lvl="0" marL="0" marR="0" rtl="0" algn="l">
              <a:lnSpc>
                <a:spcPct val="133689"/>
              </a:lnSpc>
              <a:spcBef>
                <a:spcPts val="0"/>
              </a:spcBef>
              <a:spcAft>
                <a:spcPts val="0"/>
              </a:spcAft>
              <a:buClr>
                <a:srgbClr val="569CD6"/>
              </a:buClr>
              <a:buSzPts val="748"/>
              <a:buFont typeface="Arial"/>
              <a:buNone/>
            </a:pPr>
            <a:r>
              <a:rPr b="0" i="0" lang="en-US" sz="748" u="none" cap="none" strike="noStrike">
                <a:solidFill>
                  <a:srgbClr val="569CD6"/>
                </a:solidFill>
                <a:latin typeface="Arial"/>
                <a:ea typeface="Arial"/>
                <a:cs typeface="Arial"/>
                <a:sym typeface="Arial"/>
              </a:rPr>
              <a:t>// SDK checks cache first. If a valid DEK exists</a:t>
            </a:r>
            <a:endParaRPr b="0" i="0" sz="748" u="none" cap="none" strike="noStrike">
              <a:solidFill>
                <a:schemeClr val="dk1"/>
              </a:solidFill>
              <a:latin typeface="Calibri"/>
              <a:ea typeface="Calibri"/>
              <a:cs typeface="Calibri"/>
              <a:sym typeface="Calibri"/>
            </a:endParaRPr>
          </a:p>
        </p:txBody>
      </p:sp>
      <p:sp>
        <p:nvSpPr>
          <p:cNvPr id="403" name="Google Shape;403;p12"/>
          <p:cNvSpPr/>
          <p:nvPr/>
        </p:nvSpPr>
        <p:spPr>
          <a:xfrm>
            <a:off x="228600" y="2044898"/>
            <a:ext cx="4057650" cy="141089"/>
          </a:xfrm>
          <a:prstGeom prst="rect">
            <a:avLst/>
          </a:prstGeom>
          <a:noFill/>
          <a:ln>
            <a:noFill/>
          </a:ln>
        </p:spPr>
        <p:txBody>
          <a:bodyPr anchorCtr="0" anchor="t" bIns="0" lIns="272150" spcFirstLastPara="1" rIns="0" wrap="square" tIns="0">
            <a:noAutofit/>
          </a:bodyPr>
          <a:lstStyle/>
          <a:p>
            <a:pPr indent="0" lvl="0" marL="0" marR="0" rtl="0" algn="l">
              <a:lnSpc>
                <a:spcPct val="133689"/>
              </a:lnSpc>
              <a:spcBef>
                <a:spcPts val="0"/>
              </a:spcBef>
              <a:spcAft>
                <a:spcPts val="0"/>
              </a:spcAft>
              <a:buClr>
                <a:srgbClr val="569CD6"/>
              </a:buClr>
              <a:buSzPts val="748"/>
              <a:buFont typeface="Arial"/>
              <a:buNone/>
            </a:pPr>
            <a:r>
              <a:rPr b="0" i="0" lang="en-US" sz="748" u="none" cap="none" strike="noStrike">
                <a:solidFill>
                  <a:srgbClr val="569CD6"/>
                </a:solidFill>
                <a:latin typeface="Arial"/>
                <a:ea typeface="Arial"/>
                <a:cs typeface="Arial"/>
                <a:sym typeface="Arial"/>
              </a:rPr>
              <a:t>// for CONFIDENTIAL data, it uses it instantly</a:t>
            </a:r>
            <a:endParaRPr b="0" i="0" sz="748" u="none" cap="none" strike="noStrike">
              <a:solidFill>
                <a:schemeClr val="dk1"/>
              </a:solidFill>
              <a:latin typeface="Calibri"/>
              <a:ea typeface="Calibri"/>
              <a:cs typeface="Calibri"/>
              <a:sym typeface="Calibri"/>
            </a:endParaRPr>
          </a:p>
        </p:txBody>
      </p:sp>
      <p:sp>
        <p:nvSpPr>
          <p:cNvPr id="404" name="Google Shape;404;p12"/>
          <p:cNvSpPr/>
          <p:nvPr/>
        </p:nvSpPr>
        <p:spPr>
          <a:xfrm>
            <a:off x="228600" y="2185988"/>
            <a:ext cx="4057650" cy="141089"/>
          </a:xfrm>
          <a:prstGeom prst="rect">
            <a:avLst/>
          </a:prstGeom>
          <a:noFill/>
          <a:ln>
            <a:noFill/>
          </a:ln>
        </p:spPr>
        <p:txBody>
          <a:bodyPr anchorCtr="0" anchor="t" bIns="0" lIns="272150" spcFirstLastPara="1" rIns="0" wrap="square" tIns="0">
            <a:noAutofit/>
          </a:bodyPr>
          <a:lstStyle/>
          <a:p>
            <a:pPr indent="0" lvl="0" marL="0" marR="0" rtl="0" algn="l">
              <a:lnSpc>
                <a:spcPct val="133689"/>
              </a:lnSpc>
              <a:spcBef>
                <a:spcPts val="0"/>
              </a:spcBef>
              <a:spcAft>
                <a:spcPts val="0"/>
              </a:spcAft>
              <a:buClr>
                <a:srgbClr val="569CD6"/>
              </a:buClr>
              <a:buSzPts val="748"/>
              <a:buFont typeface="Arial"/>
              <a:buNone/>
            </a:pPr>
            <a:r>
              <a:rPr b="0" i="0" lang="en-US" sz="748" u="none" cap="none" strike="noStrike">
                <a:solidFill>
                  <a:srgbClr val="569CD6"/>
                </a:solidFill>
                <a:latin typeface="Arial"/>
                <a:ea typeface="Arial"/>
                <a:cs typeface="Arial"/>
                <a:sym typeface="Arial"/>
              </a:rPr>
              <a:t>// without calling the platform API.</a:t>
            </a:r>
            <a:endParaRPr b="0" i="0" sz="748" u="none" cap="none" strike="noStrike">
              <a:solidFill>
                <a:schemeClr val="dk1"/>
              </a:solidFill>
              <a:latin typeface="Calibri"/>
              <a:ea typeface="Calibri"/>
              <a:cs typeface="Calibri"/>
              <a:sym typeface="Calibri"/>
            </a:endParaRPr>
          </a:p>
        </p:txBody>
      </p:sp>
      <p:sp>
        <p:nvSpPr>
          <p:cNvPr id="405" name="Google Shape;405;p12"/>
          <p:cNvSpPr/>
          <p:nvPr/>
        </p:nvSpPr>
        <p:spPr>
          <a:xfrm>
            <a:off x="228600" y="2327077"/>
            <a:ext cx="4057650" cy="141089"/>
          </a:xfrm>
          <a:prstGeom prst="rect">
            <a:avLst/>
          </a:prstGeom>
          <a:noFill/>
          <a:ln>
            <a:noFill/>
          </a:ln>
        </p:spPr>
        <p:txBody>
          <a:bodyPr anchorCtr="0" anchor="t" bIns="0" lIns="272150" spcFirstLastPara="1" rIns="0" wrap="square" tIns="0">
            <a:noAutofit/>
          </a:bodyPr>
          <a:lstStyle/>
          <a:p>
            <a:pPr indent="0" lvl="0" marL="0" marR="0" rtl="0" algn="l">
              <a:lnSpc>
                <a:spcPct val="133689"/>
              </a:lnSpc>
              <a:spcBef>
                <a:spcPts val="0"/>
              </a:spcBef>
              <a:spcAft>
                <a:spcPts val="0"/>
              </a:spcAft>
              <a:buClr>
                <a:srgbClr val="4EC9B0"/>
              </a:buClr>
              <a:buSzPts val="748"/>
              <a:buFont typeface="Arial"/>
              <a:buNone/>
            </a:pPr>
            <a:r>
              <a:rPr b="0" i="0" lang="en-US" sz="748" u="none" cap="none" strike="noStrike">
                <a:solidFill>
                  <a:srgbClr val="4EC9B0"/>
                </a:solidFill>
                <a:latin typeface="Arial"/>
                <a:ea typeface="Arial"/>
                <a:cs typeface="Arial"/>
                <a:sym typeface="Arial"/>
              </a:rPr>
              <a:t>EncryptedPayload</a:t>
            </a:r>
            <a:r>
              <a:rPr b="0" i="0" lang="en-US" sz="748" u="none" cap="none" strike="noStrike">
                <a:solidFill>
                  <a:srgbClr val="D4D4D4"/>
                </a:solidFill>
                <a:latin typeface="Arial"/>
                <a:ea typeface="Arial"/>
                <a:cs typeface="Arial"/>
                <a:sym typeface="Arial"/>
              </a:rPr>
              <a:t> payload = client.encrypt(</a:t>
            </a:r>
            <a:endParaRPr b="0" i="0" sz="748" u="none" cap="none" strike="noStrike">
              <a:solidFill>
                <a:schemeClr val="dk1"/>
              </a:solidFill>
              <a:latin typeface="Calibri"/>
              <a:ea typeface="Calibri"/>
              <a:cs typeface="Calibri"/>
              <a:sym typeface="Calibri"/>
            </a:endParaRPr>
          </a:p>
        </p:txBody>
      </p:sp>
      <p:sp>
        <p:nvSpPr>
          <p:cNvPr id="406" name="Google Shape;406;p12"/>
          <p:cNvSpPr/>
          <p:nvPr/>
        </p:nvSpPr>
        <p:spPr>
          <a:xfrm>
            <a:off x="228600" y="2468166"/>
            <a:ext cx="4057650" cy="141089"/>
          </a:xfrm>
          <a:prstGeom prst="rect">
            <a:avLst/>
          </a:prstGeom>
          <a:noFill/>
          <a:ln>
            <a:noFill/>
          </a:ln>
        </p:spPr>
        <p:txBody>
          <a:bodyPr anchorCtr="0" anchor="t" bIns="0" lIns="544300" spcFirstLastPara="1" rIns="0" wrap="square" tIns="0">
            <a:noAutofit/>
          </a:bodyPr>
          <a:lstStyle/>
          <a:p>
            <a:pPr indent="0" lvl="0" marL="0" marR="0" rtl="0" algn="l">
              <a:lnSpc>
                <a:spcPct val="133689"/>
              </a:lnSpc>
              <a:spcBef>
                <a:spcPts val="0"/>
              </a:spcBef>
              <a:spcAft>
                <a:spcPts val="0"/>
              </a:spcAft>
              <a:buClr>
                <a:srgbClr val="D4D4D4"/>
              </a:buClr>
              <a:buSzPts val="748"/>
              <a:buFont typeface="Arial"/>
              <a:buNone/>
            </a:pPr>
            <a:r>
              <a:rPr b="0" i="0" lang="en-US" sz="748" u="none" cap="none" strike="noStrike">
                <a:solidFill>
                  <a:srgbClr val="D4D4D4"/>
                </a:solidFill>
                <a:latin typeface="Arial"/>
                <a:ea typeface="Arial"/>
                <a:cs typeface="Arial"/>
                <a:sym typeface="Arial"/>
              </a:rPr>
              <a:t>attachment,</a:t>
            </a:r>
            <a:endParaRPr b="0" i="0" sz="748" u="none" cap="none" strike="noStrike">
              <a:solidFill>
                <a:schemeClr val="dk1"/>
              </a:solidFill>
              <a:latin typeface="Calibri"/>
              <a:ea typeface="Calibri"/>
              <a:cs typeface="Calibri"/>
              <a:sym typeface="Calibri"/>
            </a:endParaRPr>
          </a:p>
        </p:txBody>
      </p:sp>
      <p:sp>
        <p:nvSpPr>
          <p:cNvPr id="407" name="Google Shape;407;p12"/>
          <p:cNvSpPr/>
          <p:nvPr/>
        </p:nvSpPr>
        <p:spPr>
          <a:xfrm>
            <a:off x="228600" y="2609255"/>
            <a:ext cx="4057650" cy="141089"/>
          </a:xfrm>
          <a:prstGeom prst="rect">
            <a:avLst/>
          </a:prstGeom>
          <a:noFill/>
          <a:ln>
            <a:noFill/>
          </a:ln>
        </p:spPr>
        <p:txBody>
          <a:bodyPr anchorCtr="0" anchor="t" bIns="0" lIns="544300" spcFirstLastPara="1" rIns="0" wrap="square" tIns="0">
            <a:noAutofit/>
          </a:bodyPr>
          <a:lstStyle/>
          <a:p>
            <a:pPr indent="0" lvl="0" marL="0" marR="0" rtl="0" algn="l">
              <a:lnSpc>
                <a:spcPct val="133689"/>
              </a:lnSpc>
              <a:spcBef>
                <a:spcPts val="0"/>
              </a:spcBef>
              <a:spcAft>
                <a:spcPts val="0"/>
              </a:spcAft>
              <a:buClr>
                <a:srgbClr val="4EC9B0"/>
              </a:buClr>
              <a:buSzPts val="748"/>
              <a:buFont typeface="Arial"/>
              <a:buNone/>
            </a:pPr>
            <a:r>
              <a:rPr b="0" i="0" lang="en-US" sz="748" u="none" cap="none" strike="noStrike">
                <a:solidFill>
                  <a:srgbClr val="4EC9B0"/>
                </a:solidFill>
                <a:latin typeface="Arial"/>
                <a:ea typeface="Arial"/>
                <a:cs typeface="Arial"/>
                <a:sym typeface="Arial"/>
              </a:rPr>
              <a:t>DataClassification</a:t>
            </a:r>
            <a:r>
              <a:rPr b="0" i="0" lang="en-US" sz="748" u="none" cap="none" strike="noStrike">
                <a:solidFill>
                  <a:srgbClr val="D4D4D4"/>
                </a:solidFill>
                <a:latin typeface="Arial"/>
                <a:ea typeface="Arial"/>
                <a:cs typeface="Arial"/>
                <a:sym typeface="Arial"/>
              </a:rPr>
              <a:t>.</a:t>
            </a:r>
            <a:r>
              <a:rPr b="0" i="0" lang="en-US" sz="748" u="none" cap="none" strike="noStrike">
                <a:solidFill>
                  <a:srgbClr val="4FC1FF"/>
                </a:solidFill>
                <a:latin typeface="Arial"/>
                <a:ea typeface="Arial"/>
                <a:cs typeface="Arial"/>
                <a:sym typeface="Arial"/>
              </a:rPr>
              <a:t>CONFIDENTIAL</a:t>
            </a:r>
            <a:endParaRPr b="0" i="0" sz="748" u="none" cap="none" strike="noStrike">
              <a:solidFill>
                <a:schemeClr val="dk1"/>
              </a:solidFill>
              <a:latin typeface="Calibri"/>
              <a:ea typeface="Calibri"/>
              <a:cs typeface="Calibri"/>
              <a:sym typeface="Calibri"/>
            </a:endParaRPr>
          </a:p>
        </p:txBody>
      </p:sp>
      <p:sp>
        <p:nvSpPr>
          <p:cNvPr id="408" name="Google Shape;408;p12"/>
          <p:cNvSpPr/>
          <p:nvPr/>
        </p:nvSpPr>
        <p:spPr>
          <a:xfrm>
            <a:off x="228600" y="2750344"/>
            <a:ext cx="4057650" cy="141089"/>
          </a:xfrm>
          <a:prstGeom prst="rect">
            <a:avLst/>
          </a:prstGeom>
          <a:noFill/>
          <a:ln>
            <a:noFill/>
          </a:ln>
        </p:spPr>
        <p:txBody>
          <a:bodyPr anchorCtr="0" anchor="t" bIns="0" lIns="272150" spcFirstLastPara="1" rIns="0" wrap="square" tIns="0">
            <a:noAutofit/>
          </a:bodyPr>
          <a:lstStyle/>
          <a:p>
            <a:pPr indent="0" lvl="0" marL="0" marR="0" rtl="0" algn="l">
              <a:lnSpc>
                <a:spcPct val="133689"/>
              </a:lnSpc>
              <a:spcBef>
                <a:spcPts val="0"/>
              </a:spcBef>
              <a:spcAft>
                <a:spcPts val="0"/>
              </a:spcAft>
              <a:buClr>
                <a:srgbClr val="D4D4D4"/>
              </a:buClr>
              <a:buSzPts val="748"/>
              <a:buFont typeface="Arial"/>
              <a:buNone/>
            </a:pPr>
            <a:r>
              <a:rPr b="0" i="0" lang="en-US" sz="748" u="none" cap="none" strike="noStrike">
                <a:solidFill>
                  <a:srgbClr val="D4D4D4"/>
                </a:solidFill>
                <a:latin typeface="Arial"/>
                <a:ea typeface="Arial"/>
                <a:cs typeface="Arial"/>
                <a:sym typeface="Arial"/>
              </a:rPr>
              <a:t>);</a:t>
            </a:r>
            <a:endParaRPr b="0" i="0" sz="748" u="none" cap="none" strike="noStrike">
              <a:solidFill>
                <a:schemeClr val="dk1"/>
              </a:solidFill>
              <a:latin typeface="Calibri"/>
              <a:ea typeface="Calibri"/>
              <a:cs typeface="Calibri"/>
              <a:sym typeface="Calibri"/>
            </a:endParaRPr>
          </a:p>
        </p:txBody>
      </p:sp>
      <p:sp>
        <p:nvSpPr>
          <p:cNvPr id="409" name="Google Shape;409;p12"/>
          <p:cNvSpPr/>
          <p:nvPr/>
        </p:nvSpPr>
        <p:spPr>
          <a:xfrm>
            <a:off x="228600" y="3032522"/>
            <a:ext cx="4057650" cy="141089"/>
          </a:xfrm>
          <a:prstGeom prst="rect">
            <a:avLst/>
          </a:prstGeom>
          <a:noFill/>
          <a:ln>
            <a:noFill/>
          </a:ln>
        </p:spPr>
        <p:txBody>
          <a:bodyPr anchorCtr="0" anchor="t" bIns="0" lIns="272150" spcFirstLastPara="1" rIns="0" wrap="square" tIns="0">
            <a:noAutofit/>
          </a:bodyPr>
          <a:lstStyle/>
          <a:p>
            <a:pPr indent="0" lvl="0" marL="0" marR="0" rtl="0" algn="l">
              <a:lnSpc>
                <a:spcPct val="133689"/>
              </a:lnSpc>
              <a:spcBef>
                <a:spcPts val="0"/>
              </a:spcBef>
              <a:spcAft>
                <a:spcPts val="0"/>
              </a:spcAft>
              <a:buClr>
                <a:srgbClr val="569CD6"/>
              </a:buClr>
              <a:buSzPts val="748"/>
              <a:buFont typeface="Arial"/>
              <a:buNone/>
            </a:pPr>
            <a:r>
              <a:rPr b="0" i="0" lang="en-US" sz="748" u="none" cap="none" strike="noStrike">
                <a:solidFill>
                  <a:srgbClr val="569CD6"/>
                </a:solidFill>
                <a:latin typeface="Arial"/>
                <a:ea typeface="Arial"/>
                <a:cs typeface="Arial"/>
                <a:sym typeface="Arial"/>
              </a:rPr>
              <a:t>// 4. Store in database</a:t>
            </a:r>
            <a:endParaRPr b="0" i="0" sz="748" u="none" cap="none" strike="noStrike">
              <a:solidFill>
                <a:schemeClr val="dk1"/>
              </a:solidFill>
              <a:latin typeface="Calibri"/>
              <a:ea typeface="Calibri"/>
              <a:cs typeface="Calibri"/>
              <a:sym typeface="Calibri"/>
            </a:endParaRPr>
          </a:p>
        </p:txBody>
      </p:sp>
      <p:sp>
        <p:nvSpPr>
          <p:cNvPr id="410" name="Google Shape;410;p12"/>
          <p:cNvSpPr/>
          <p:nvPr/>
        </p:nvSpPr>
        <p:spPr>
          <a:xfrm>
            <a:off x="228600" y="3173611"/>
            <a:ext cx="4057650" cy="141089"/>
          </a:xfrm>
          <a:prstGeom prst="rect">
            <a:avLst/>
          </a:prstGeom>
          <a:noFill/>
          <a:ln>
            <a:noFill/>
          </a:ln>
        </p:spPr>
        <p:txBody>
          <a:bodyPr anchorCtr="0" anchor="t" bIns="0" lIns="272150" spcFirstLastPara="1" rIns="0" wrap="square" tIns="0">
            <a:noAutofit/>
          </a:bodyPr>
          <a:lstStyle/>
          <a:p>
            <a:pPr indent="0" lvl="0" marL="0" marR="0" rtl="0" algn="l">
              <a:lnSpc>
                <a:spcPct val="133689"/>
              </a:lnSpc>
              <a:spcBef>
                <a:spcPts val="0"/>
              </a:spcBef>
              <a:spcAft>
                <a:spcPts val="0"/>
              </a:spcAft>
              <a:buClr>
                <a:srgbClr val="D4D4D4"/>
              </a:buClr>
              <a:buSzPts val="748"/>
              <a:buFont typeface="Arial"/>
              <a:buNone/>
            </a:pPr>
            <a:r>
              <a:rPr b="0" i="0" lang="en-US" sz="748" u="none" cap="none" strike="noStrike">
                <a:solidFill>
                  <a:srgbClr val="D4D4D4"/>
                </a:solidFill>
                <a:latin typeface="Arial"/>
                <a:ea typeface="Arial"/>
                <a:cs typeface="Arial"/>
                <a:sym typeface="Arial"/>
              </a:rPr>
              <a:t>db.save(</a:t>
            </a:r>
            <a:endParaRPr b="0" i="0" sz="748" u="none" cap="none" strike="noStrike">
              <a:solidFill>
                <a:schemeClr val="dk1"/>
              </a:solidFill>
              <a:latin typeface="Calibri"/>
              <a:ea typeface="Calibri"/>
              <a:cs typeface="Calibri"/>
              <a:sym typeface="Calibri"/>
            </a:endParaRPr>
          </a:p>
        </p:txBody>
      </p:sp>
      <p:sp>
        <p:nvSpPr>
          <p:cNvPr id="411" name="Google Shape;411;p12"/>
          <p:cNvSpPr/>
          <p:nvPr/>
        </p:nvSpPr>
        <p:spPr>
          <a:xfrm>
            <a:off x="228600" y="3314700"/>
            <a:ext cx="4057650" cy="141089"/>
          </a:xfrm>
          <a:prstGeom prst="rect">
            <a:avLst/>
          </a:prstGeom>
          <a:noFill/>
          <a:ln>
            <a:noFill/>
          </a:ln>
        </p:spPr>
        <p:txBody>
          <a:bodyPr anchorCtr="0" anchor="t" bIns="0" lIns="544300" spcFirstLastPara="1" rIns="0" wrap="square" tIns="0">
            <a:noAutofit/>
          </a:bodyPr>
          <a:lstStyle/>
          <a:p>
            <a:pPr indent="0" lvl="0" marL="0" marR="0" rtl="0" algn="l">
              <a:lnSpc>
                <a:spcPct val="133689"/>
              </a:lnSpc>
              <a:spcBef>
                <a:spcPts val="0"/>
              </a:spcBef>
              <a:spcAft>
                <a:spcPts val="0"/>
              </a:spcAft>
              <a:buClr>
                <a:srgbClr val="D4D4D4"/>
              </a:buClr>
              <a:buSzPts val="748"/>
              <a:buFont typeface="Arial"/>
              <a:buNone/>
            </a:pPr>
            <a:r>
              <a:rPr b="0" i="0" lang="en-US" sz="748" u="none" cap="none" strike="noStrike">
                <a:solidFill>
                  <a:srgbClr val="D4D4D4"/>
                </a:solidFill>
                <a:latin typeface="Arial"/>
                <a:ea typeface="Arial"/>
                <a:cs typeface="Arial"/>
                <a:sym typeface="Arial"/>
              </a:rPr>
              <a:t>payload.getCiphertext(),</a:t>
            </a:r>
            <a:endParaRPr b="0" i="0" sz="748" u="none" cap="none" strike="noStrike">
              <a:solidFill>
                <a:schemeClr val="dk1"/>
              </a:solidFill>
              <a:latin typeface="Calibri"/>
              <a:ea typeface="Calibri"/>
              <a:cs typeface="Calibri"/>
              <a:sym typeface="Calibri"/>
            </a:endParaRPr>
          </a:p>
        </p:txBody>
      </p:sp>
      <p:sp>
        <p:nvSpPr>
          <p:cNvPr id="412" name="Google Shape;412;p12"/>
          <p:cNvSpPr/>
          <p:nvPr/>
        </p:nvSpPr>
        <p:spPr>
          <a:xfrm>
            <a:off x="228600" y="3455789"/>
            <a:ext cx="4057650" cy="141089"/>
          </a:xfrm>
          <a:prstGeom prst="rect">
            <a:avLst/>
          </a:prstGeom>
          <a:noFill/>
          <a:ln>
            <a:noFill/>
          </a:ln>
        </p:spPr>
        <p:txBody>
          <a:bodyPr anchorCtr="0" anchor="t" bIns="0" lIns="544300" spcFirstLastPara="1" rIns="0" wrap="square" tIns="0">
            <a:noAutofit/>
          </a:bodyPr>
          <a:lstStyle/>
          <a:p>
            <a:pPr indent="0" lvl="0" marL="0" marR="0" rtl="0" algn="l">
              <a:lnSpc>
                <a:spcPct val="133689"/>
              </a:lnSpc>
              <a:spcBef>
                <a:spcPts val="0"/>
              </a:spcBef>
              <a:spcAft>
                <a:spcPts val="0"/>
              </a:spcAft>
              <a:buClr>
                <a:srgbClr val="D4D4D4"/>
              </a:buClr>
              <a:buSzPts val="748"/>
              <a:buFont typeface="Arial"/>
              <a:buNone/>
            </a:pPr>
            <a:r>
              <a:rPr b="0" i="0" lang="en-US" sz="748" u="none" cap="none" strike="noStrike">
                <a:solidFill>
                  <a:srgbClr val="D4D4D4"/>
                </a:solidFill>
                <a:latin typeface="Arial"/>
                <a:ea typeface="Arial"/>
                <a:cs typeface="Arial"/>
                <a:sym typeface="Arial"/>
              </a:rPr>
              <a:t>payload.getEncryptedDek()</a:t>
            </a:r>
            <a:endParaRPr b="0" i="0" sz="748" u="none" cap="none" strike="noStrike">
              <a:solidFill>
                <a:schemeClr val="dk1"/>
              </a:solidFill>
              <a:latin typeface="Calibri"/>
              <a:ea typeface="Calibri"/>
              <a:cs typeface="Calibri"/>
              <a:sym typeface="Calibri"/>
            </a:endParaRPr>
          </a:p>
        </p:txBody>
      </p:sp>
      <p:sp>
        <p:nvSpPr>
          <p:cNvPr id="413" name="Google Shape;413;p12"/>
          <p:cNvSpPr/>
          <p:nvPr/>
        </p:nvSpPr>
        <p:spPr>
          <a:xfrm>
            <a:off x="228600" y="3596878"/>
            <a:ext cx="4057650" cy="141089"/>
          </a:xfrm>
          <a:prstGeom prst="rect">
            <a:avLst/>
          </a:prstGeom>
          <a:noFill/>
          <a:ln>
            <a:noFill/>
          </a:ln>
        </p:spPr>
        <p:txBody>
          <a:bodyPr anchorCtr="0" anchor="t" bIns="0" lIns="272150" spcFirstLastPara="1" rIns="0" wrap="square" tIns="0">
            <a:noAutofit/>
          </a:bodyPr>
          <a:lstStyle/>
          <a:p>
            <a:pPr indent="0" lvl="0" marL="0" marR="0" rtl="0" algn="l">
              <a:lnSpc>
                <a:spcPct val="133689"/>
              </a:lnSpc>
              <a:spcBef>
                <a:spcPts val="0"/>
              </a:spcBef>
              <a:spcAft>
                <a:spcPts val="0"/>
              </a:spcAft>
              <a:buClr>
                <a:srgbClr val="D4D4D4"/>
              </a:buClr>
              <a:buSzPts val="748"/>
              <a:buFont typeface="Arial"/>
              <a:buNone/>
            </a:pPr>
            <a:r>
              <a:rPr b="0" i="0" lang="en-US" sz="748" u="none" cap="none" strike="noStrike">
                <a:solidFill>
                  <a:srgbClr val="D4D4D4"/>
                </a:solidFill>
                <a:latin typeface="Arial"/>
                <a:ea typeface="Arial"/>
                <a:cs typeface="Arial"/>
                <a:sym typeface="Arial"/>
              </a:rPr>
              <a:t>);</a:t>
            </a:r>
            <a:endParaRPr b="0" i="0" sz="748" u="none" cap="none" strike="noStrike">
              <a:solidFill>
                <a:schemeClr val="dk1"/>
              </a:solidFill>
              <a:latin typeface="Calibri"/>
              <a:ea typeface="Calibri"/>
              <a:cs typeface="Calibri"/>
              <a:sym typeface="Calibri"/>
            </a:endParaRPr>
          </a:p>
        </p:txBody>
      </p:sp>
      <p:sp>
        <p:nvSpPr>
          <p:cNvPr id="414" name="Google Shape;414;p12"/>
          <p:cNvSpPr/>
          <p:nvPr/>
        </p:nvSpPr>
        <p:spPr>
          <a:xfrm>
            <a:off x="228600" y="3879056"/>
            <a:ext cx="4057650" cy="141089"/>
          </a:xfrm>
          <a:prstGeom prst="rect">
            <a:avLst/>
          </a:prstGeom>
          <a:noFill/>
          <a:ln>
            <a:noFill/>
          </a:ln>
        </p:spPr>
        <p:txBody>
          <a:bodyPr anchorCtr="0" anchor="t" bIns="0" lIns="272150" spcFirstLastPara="1" rIns="0" wrap="square" tIns="0">
            <a:noAutofit/>
          </a:bodyPr>
          <a:lstStyle/>
          <a:p>
            <a:pPr indent="0" lvl="0" marL="0" marR="0" rtl="0" algn="l">
              <a:lnSpc>
                <a:spcPct val="133689"/>
              </a:lnSpc>
              <a:spcBef>
                <a:spcPts val="0"/>
              </a:spcBef>
              <a:spcAft>
                <a:spcPts val="0"/>
              </a:spcAft>
              <a:buClr>
                <a:srgbClr val="569CD6"/>
              </a:buClr>
              <a:buSzPts val="748"/>
              <a:buFont typeface="Arial"/>
              <a:buNone/>
            </a:pPr>
            <a:r>
              <a:rPr b="0" i="0" lang="en-US" sz="748" u="none" cap="none" strike="noStrike">
                <a:solidFill>
                  <a:srgbClr val="569CD6"/>
                </a:solidFill>
                <a:latin typeface="Arial"/>
                <a:ea typeface="Arial"/>
                <a:cs typeface="Arial"/>
                <a:sym typeface="Arial"/>
              </a:rPr>
              <a:t>return</a:t>
            </a:r>
            <a:r>
              <a:rPr b="0" i="0" lang="en-US" sz="748" u="none" cap="none" strike="noStrike">
                <a:solidFill>
                  <a:srgbClr val="D4D4D4"/>
                </a:solidFill>
                <a:latin typeface="Arial"/>
                <a:ea typeface="Arial"/>
                <a:cs typeface="Arial"/>
                <a:sym typeface="Arial"/>
              </a:rPr>
              <a:t> </a:t>
            </a:r>
            <a:r>
              <a:rPr b="0" i="0" lang="en-US" sz="748" u="none" cap="none" strike="noStrike">
                <a:solidFill>
                  <a:srgbClr val="4EC9B0"/>
                </a:solidFill>
                <a:latin typeface="Arial"/>
                <a:ea typeface="Arial"/>
                <a:cs typeface="Arial"/>
                <a:sym typeface="Arial"/>
              </a:rPr>
              <a:t>Response</a:t>
            </a:r>
            <a:r>
              <a:rPr b="0" i="0" lang="en-US" sz="748" u="none" cap="none" strike="noStrike">
                <a:solidFill>
                  <a:srgbClr val="D4D4D4"/>
                </a:solidFill>
                <a:latin typeface="Arial"/>
                <a:ea typeface="Arial"/>
                <a:cs typeface="Arial"/>
                <a:sym typeface="Arial"/>
              </a:rPr>
              <a:t>.ok();</a:t>
            </a:r>
            <a:endParaRPr b="0" i="0" sz="748" u="none" cap="none" strike="noStrike">
              <a:solidFill>
                <a:schemeClr val="dk1"/>
              </a:solidFill>
              <a:latin typeface="Calibri"/>
              <a:ea typeface="Calibri"/>
              <a:cs typeface="Calibri"/>
              <a:sym typeface="Calibri"/>
            </a:endParaRPr>
          </a:p>
        </p:txBody>
      </p:sp>
      <p:sp>
        <p:nvSpPr>
          <p:cNvPr id="415" name="Google Shape;415;p12"/>
          <p:cNvSpPr/>
          <p:nvPr/>
        </p:nvSpPr>
        <p:spPr>
          <a:xfrm>
            <a:off x="228600" y="4020145"/>
            <a:ext cx="4057650" cy="141089"/>
          </a:xfrm>
          <a:prstGeom prst="rect">
            <a:avLst/>
          </a:prstGeom>
          <a:noFill/>
          <a:ln>
            <a:noFill/>
          </a:ln>
        </p:spPr>
        <p:txBody>
          <a:bodyPr anchorCtr="0" anchor="t" bIns="0" lIns="0" spcFirstLastPara="1" rIns="0" wrap="square" tIns="0">
            <a:noAutofit/>
          </a:bodyPr>
          <a:lstStyle/>
          <a:p>
            <a:pPr indent="0" lvl="0" marL="0" marR="0" rtl="0" algn="l">
              <a:lnSpc>
                <a:spcPct val="133689"/>
              </a:lnSpc>
              <a:spcBef>
                <a:spcPts val="0"/>
              </a:spcBef>
              <a:spcAft>
                <a:spcPts val="0"/>
              </a:spcAft>
              <a:buClr>
                <a:srgbClr val="D4D4D4"/>
              </a:buClr>
              <a:buSzPts val="748"/>
              <a:buFont typeface="Arial"/>
              <a:buNone/>
            </a:pPr>
            <a:r>
              <a:rPr b="0" i="0" lang="en-US" sz="748" u="none" cap="none" strike="noStrike">
                <a:solidFill>
                  <a:srgbClr val="D4D4D4"/>
                </a:solidFill>
                <a:latin typeface="Arial"/>
                <a:ea typeface="Arial"/>
                <a:cs typeface="Arial"/>
                <a:sym typeface="Arial"/>
              </a:rPr>
              <a:t>}</a:t>
            </a:r>
            <a:endParaRPr b="0" i="0" sz="748" u="none" cap="none" strike="noStrike">
              <a:solidFill>
                <a:schemeClr val="dk1"/>
              </a:solidFill>
              <a:latin typeface="Calibri"/>
              <a:ea typeface="Calibri"/>
              <a:cs typeface="Calibri"/>
              <a:sym typeface="Calibri"/>
            </a:endParaRPr>
          </a:p>
        </p:txBody>
      </p:sp>
      <p:sp>
        <p:nvSpPr>
          <p:cNvPr id="416" name="Google Shape;416;p12"/>
          <p:cNvSpPr/>
          <p:nvPr/>
        </p:nvSpPr>
        <p:spPr>
          <a:xfrm>
            <a:off x="4686300" y="321469"/>
            <a:ext cx="4400550" cy="2020119"/>
          </a:xfrm>
          <a:prstGeom prst="rect">
            <a:avLst/>
          </a:prstGeom>
          <a:solidFill>
            <a:srgbClr val="0078D4">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12"/>
          <p:cNvSpPr/>
          <p:nvPr/>
        </p:nvSpPr>
        <p:spPr>
          <a:xfrm>
            <a:off x="4686300" y="321469"/>
            <a:ext cx="28575" cy="2020119"/>
          </a:xfrm>
          <a:prstGeom prst="rect">
            <a:avLst/>
          </a:prstGeom>
          <a:solidFill>
            <a:srgbClr val="0078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12"/>
          <p:cNvSpPr/>
          <p:nvPr/>
        </p:nvSpPr>
        <p:spPr>
          <a:xfrm>
            <a:off x="4857750" y="492919"/>
            <a:ext cx="4057650" cy="157163"/>
          </a:xfrm>
          <a:prstGeom prst="rect">
            <a:avLst/>
          </a:prstGeom>
          <a:noFill/>
          <a:ln>
            <a:noFill/>
          </a:ln>
        </p:spPr>
        <p:txBody>
          <a:bodyPr anchorCtr="0" anchor="t" bIns="0" lIns="0" spcFirstLastPara="1" rIns="0" wrap="square" tIns="0">
            <a:noAutofit/>
          </a:bodyPr>
          <a:lstStyle/>
          <a:p>
            <a:pPr indent="0" lvl="0" marL="0" marR="0" rtl="0" algn="l">
              <a:lnSpc>
                <a:spcPct val="137420"/>
              </a:lnSpc>
              <a:spcBef>
                <a:spcPts val="0"/>
              </a:spcBef>
              <a:spcAft>
                <a:spcPts val="0"/>
              </a:spcAft>
              <a:buClr>
                <a:srgbClr val="0078D4"/>
              </a:buClr>
              <a:buSzPts val="946"/>
              <a:buFont typeface="Times New Roman"/>
              <a:buNone/>
            </a:pPr>
            <a:r>
              <a:rPr b="1" i="0" lang="en-US" sz="946" u="none" cap="none" strike="noStrike">
                <a:solidFill>
                  <a:srgbClr val="0078D4"/>
                </a:solidFill>
                <a:latin typeface="Times New Roman"/>
                <a:ea typeface="Times New Roman"/>
                <a:cs typeface="Times New Roman"/>
                <a:sym typeface="Times New Roman"/>
              </a:rPr>
              <a:t>Behind the Scenes</a:t>
            </a:r>
            <a:endParaRPr b="0" i="0" sz="946" u="none" cap="none" strike="noStrike">
              <a:solidFill>
                <a:schemeClr val="dk1"/>
              </a:solidFill>
              <a:latin typeface="Calibri"/>
              <a:ea typeface="Calibri"/>
              <a:cs typeface="Calibri"/>
              <a:sym typeface="Calibri"/>
            </a:endParaRPr>
          </a:p>
        </p:txBody>
      </p:sp>
      <p:sp>
        <p:nvSpPr>
          <p:cNvPr id="419" name="Google Shape;419;p12"/>
          <p:cNvSpPr/>
          <p:nvPr/>
        </p:nvSpPr>
        <p:spPr>
          <a:xfrm>
            <a:off x="5029200" y="707231"/>
            <a:ext cx="3886200" cy="548590"/>
          </a:xfrm>
          <a:prstGeom prst="rect">
            <a:avLst/>
          </a:prstGeom>
          <a:noFill/>
          <a:ln>
            <a:noFill/>
          </a:ln>
        </p:spPr>
        <p:txBody>
          <a:bodyPr anchorCtr="0" anchor="t" bIns="0" lIns="0" spcFirstLastPara="1" rIns="0" wrap="square" tIns="0">
            <a:noAutofit/>
          </a:bodyPr>
          <a:lstStyle/>
          <a:p>
            <a:pPr indent="-127000" lvl="0" marL="127000" marR="0" rtl="0" algn="l">
              <a:lnSpc>
                <a:spcPct val="167865"/>
              </a:lnSpc>
              <a:spcBef>
                <a:spcPts val="0"/>
              </a:spcBef>
              <a:spcAft>
                <a:spcPts val="0"/>
              </a:spcAft>
              <a:buClr>
                <a:srgbClr val="333333"/>
              </a:buClr>
              <a:buSzPts val="784"/>
              <a:buFont typeface="Times New Roman"/>
              <a:buChar char="•"/>
            </a:pPr>
            <a:r>
              <a:rPr b="1" i="0" lang="en-US" sz="784" u="none" cap="none" strike="noStrike">
                <a:solidFill>
                  <a:srgbClr val="333333"/>
                </a:solidFill>
                <a:latin typeface="Times New Roman"/>
                <a:ea typeface="Times New Roman"/>
                <a:cs typeface="Times New Roman"/>
                <a:sym typeface="Times New Roman"/>
              </a:rPr>
              <a:t>High Throughput:</a:t>
            </a:r>
            <a:r>
              <a:rPr b="0" i="0" lang="en-US" sz="834" u="none" cap="none" strike="noStrike">
                <a:solidFill>
                  <a:srgbClr val="333333"/>
                </a:solidFill>
                <a:latin typeface="Times New Roman"/>
                <a:ea typeface="Times New Roman"/>
                <a:cs typeface="Times New Roman"/>
                <a:sym typeface="Times New Roman"/>
              </a:rPr>
              <a:t> By enabling the DEK cache, the SDK only calls the platform KMS once every 15 minutes. The next 10,000 API requests are encrypted locally in microseconds.</a:t>
            </a:r>
            <a:endParaRPr b="0" i="0" sz="784" u="none" cap="none" strike="noStrike">
              <a:solidFill>
                <a:schemeClr val="dk1"/>
              </a:solidFill>
              <a:latin typeface="Calibri"/>
              <a:ea typeface="Calibri"/>
              <a:cs typeface="Calibri"/>
              <a:sym typeface="Calibri"/>
            </a:endParaRPr>
          </a:p>
        </p:txBody>
      </p:sp>
      <p:sp>
        <p:nvSpPr>
          <p:cNvPr id="420" name="Google Shape;420;p12"/>
          <p:cNvSpPr/>
          <p:nvPr/>
        </p:nvSpPr>
        <p:spPr>
          <a:xfrm>
            <a:off x="5029200" y="1282610"/>
            <a:ext cx="1114369" cy="126802"/>
          </a:xfrm>
          <a:prstGeom prst="rect">
            <a:avLst/>
          </a:prstGeom>
          <a:noFill/>
          <a:ln>
            <a:noFill/>
          </a:ln>
        </p:spPr>
        <p:txBody>
          <a:bodyPr anchorCtr="0" anchor="t" bIns="0" lIns="0" spcFirstLastPara="1" rIns="0" wrap="square" tIns="0">
            <a:noAutofit/>
          </a:bodyPr>
          <a:lstStyle/>
          <a:p>
            <a:pPr indent="-127000" lvl="0" marL="127000" marR="0" rtl="0" algn="l">
              <a:lnSpc>
                <a:spcPct val="178571"/>
              </a:lnSpc>
              <a:spcBef>
                <a:spcPts val="0"/>
              </a:spcBef>
              <a:spcAft>
                <a:spcPts val="0"/>
              </a:spcAft>
              <a:buClr>
                <a:srgbClr val="333333"/>
              </a:buClr>
              <a:buSzPts val="784"/>
              <a:buFont typeface="Times New Roman"/>
              <a:buChar char="•"/>
            </a:pPr>
            <a:r>
              <a:rPr b="1" i="0" lang="en-US" sz="784" u="none" cap="none" strike="noStrike">
                <a:solidFill>
                  <a:srgbClr val="333333"/>
                </a:solidFill>
                <a:latin typeface="Times New Roman"/>
                <a:ea typeface="Times New Roman"/>
                <a:cs typeface="Times New Roman"/>
                <a:sym typeface="Times New Roman"/>
              </a:rPr>
              <a:t>Cryptographic Agility:</a:t>
            </a:r>
            <a:endParaRPr b="0" i="0" sz="784" u="none" cap="none" strike="noStrike">
              <a:solidFill>
                <a:schemeClr val="dk1"/>
              </a:solidFill>
              <a:latin typeface="Calibri"/>
              <a:ea typeface="Calibri"/>
              <a:cs typeface="Calibri"/>
              <a:sym typeface="Calibri"/>
            </a:endParaRPr>
          </a:p>
        </p:txBody>
      </p:sp>
      <p:sp>
        <p:nvSpPr>
          <p:cNvPr id="421" name="Google Shape;421;p12"/>
          <p:cNvSpPr/>
          <p:nvPr/>
        </p:nvSpPr>
        <p:spPr>
          <a:xfrm>
            <a:off x="6143569" y="1282610"/>
            <a:ext cx="2266131" cy="126802"/>
          </a:xfrm>
          <a:prstGeom prst="rect">
            <a:avLst/>
          </a:prstGeom>
          <a:noFill/>
          <a:ln>
            <a:noFill/>
          </a:ln>
        </p:spPr>
        <p:txBody>
          <a:bodyPr anchorCtr="0" anchor="t" bIns="0" lIns="0" spcFirstLastPara="1" rIns="0" wrap="square" tIns="0">
            <a:noAutofit/>
          </a:bodyPr>
          <a:lstStyle/>
          <a:p>
            <a:pPr indent="0" lvl="0" marL="0" marR="0" rtl="0" algn="l">
              <a:lnSpc>
                <a:spcPct val="167865"/>
              </a:lnSpc>
              <a:spcBef>
                <a:spcPts val="0"/>
              </a:spcBef>
              <a:spcAft>
                <a:spcPts val="0"/>
              </a:spcAft>
              <a:buClr>
                <a:srgbClr val="333333"/>
              </a:buClr>
              <a:buSzPts val="834"/>
              <a:buFont typeface="Times New Roman"/>
              <a:buNone/>
            </a:pPr>
            <a:r>
              <a:rPr b="0" i="0" lang="en-US" sz="834" u="none" cap="none" strike="noStrike">
                <a:solidFill>
                  <a:srgbClr val="333333"/>
                </a:solidFill>
                <a:latin typeface="Times New Roman"/>
                <a:ea typeface="Times New Roman"/>
                <a:cs typeface="Times New Roman"/>
                <a:sym typeface="Times New Roman"/>
              </a:rPr>
              <a:t>If the enterprise policy changes the algorithm for</a:t>
            </a:r>
            <a:endParaRPr b="0" i="0" sz="834" u="none" cap="none" strike="noStrike">
              <a:solidFill>
                <a:schemeClr val="dk1"/>
              </a:solidFill>
              <a:latin typeface="Calibri"/>
              <a:ea typeface="Calibri"/>
              <a:cs typeface="Calibri"/>
              <a:sym typeface="Calibri"/>
            </a:endParaRPr>
          </a:p>
        </p:txBody>
      </p:sp>
      <p:sp>
        <p:nvSpPr>
          <p:cNvPr id="422" name="Google Shape;422;p12"/>
          <p:cNvSpPr/>
          <p:nvPr/>
        </p:nvSpPr>
        <p:spPr>
          <a:xfrm>
            <a:off x="5029200" y="1469045"/>
            <a:ext cx="668666" cy="126802"/>
          </a:xfrm>
          <a:prstGeom prst="rect">
            <a:avLst/>
          </a:prstGeom>
          <a:noFill/>
          <a:ln>
            <a:noFill/>
          </a:ln>
        </p:spPr>
        <p:txBody>
          <a:bodyPr anchorCtr="0" anchor="t" bIns="0" lIns="0" spcFirstLastPara="1" rIns="0" wrap="square" tIns="0">
            <a:noAutofit/>
          </a:bodyPr>
          <a:lstStyle/>
          <a:p>
            <a:pPr indent="0" lvl="0" marL="0" marR="0" rtl="0" algn="l">
              <a:lnSpc>
                <a:spcPct val="178041"/>
              </a:lnSpc>
              <a:spcBef>
                <a:spcPts val="0"/>
              </a:spcBef>
              <a:spcAft>
                <a:spcPts val="0"/>
              </a:spcAft>
              <a:buClr>
                <a:srgbClr val="333333"/>
              </a:buClr>
              <a:buSzPts val="674"/>
              <a:buFont typeface="Arial"/>
              <a:buNone/>
            </a:pPr>
            <a:r>
              <a:rPr b="0" i="0" lang="en-US" sz="674" u="none" cap="none" strike="noStrike">
                <a:solidFill>
                  <a:srgbClr val="333333"/>
                </a:solidFill>
                <a:latin typeface="Arial"/>
                <a:ea typeface="Arial"/>
                <a:cs typeface="Arial"/>
                <a:sym typeface="Arial"/>
              </a:rPr>
              <a:t>CONFIDENTIAL</a:t>
            </a:r>
            <a:endParaRPr b="0" i="0" sz="674" u="none" cap="none" strike="noStrike">
              <a:solidFill>
                <a:schemeClr val="dk1"/>
              </a:solidFill>
              <a:latin typeface="Calibri"/>
              <a:ea typeface="Calibri"/>
              <a:cs typeface="Calibri"/>
              <a:sym typeface="Calibri"/>
            </a:endParaRPr>
          </a:p>
        </p:txBody>
      </p:sp>
      <p:sp>
        <p:nvSpPr>
          <p:cNvPr id="423" name="Google Shape;423;p12"/>
          <p:cNvSpPr/>
          <p:nvPr/>
        </p:nvSpPr>
        <p:spPr>
          <a:xfrm>
            <a:off x="5029200" y="1465473"/>
            <a:ext cx="3871075" cy="309665"/>
          </a:xfrm>
          <a:prstGeom prst="rect">
            <a:avLst/>
          </a:prstGeom>
          <a:noFill/>
          <a:ln>
            <a:noFill/>
          </a:ln>
        </p:spPr>
        <p:txBody>
          <a:bodyPr anchorCtr="0" anchor="t" bIns="0" lIns="0" spcFirstLastPara="1" rIns="0" wrap="square" tIns="0">
            <a:noAutofit/>
          </a:bodyPr>
          <a:lstStyle/>
          <a:p>
            <a:pPr indent="0" lvl="0" marL="0" marR="0" rtl="0" algn="l">
              <a:lnSpc>
                <a:spcPct val="167865"/>
              </a:lnSpc>
              <a:spcBef>
                <a:spcPts val="0"/>
              </a:spcBef>
              <a:spcAft>
                <a:spcPts val="0"/>
              </a:spcAft>
              <a:buClr>
                <a:srgbClr val="333333"/>
              </a:buClr>
              <a:buSzPts val="834"/>
              <a:buFont typeface="Times New Roman"/>
              <a:buNone/>
            </a:pPr>
            <a:r>
              <a:rPr b="0" i="0" lang="en-US" sz="834" u="none" cap="none" strike="noStrike">
                <a:solidFill>
                  <a:srgbClr val="333333"/>
                </a:solidFill>
                <a:latin typeface="Times New Roman"/>
                <a:ea typeface="Times New Roman"/>
                <a:cs typeface="Times New Roman"/>
                <a:sym typeface="Times New Roman"/>
              </a:rPr>
              <a:t>data, the SDK automatically fetches the new policy on the next cache miss. No code changes required.</a:t>
            </a:r>
            <a:endParaRPr b="0" i="0" sz="834" u="none" cap="none" strike="noStrike">
              <a:solidFill>
                <a:schemeClr val="dk1"/>
              </a:solidFill>
              <a:latin typeface="Calibri"/>
              <a:ea typeface="Calibri"/>
              <a:cs typeface="Calibri"/>
              <a:sym typeface="Calibri"/>
            </a:endParaRPr>
          </a:p>
        </p:txBody>
      </p:sp>
      <p:sp>
        <p:nvSpPr>
          <p:cNvPr id="424" name="Google Shape;424;p12"/>
          <p:cNvSpPr/>
          <p:nvPr/>
        </p:nvSpPr>
        <p:spPr>
          <a:xfrm>
            <a:off x="5029200" y="1804411"/>
            <a:ext cx="3886200" cy="365727"/>
          </a:xfrm>
          <a:prstGeom prst="rect">
            <a:avLst/>
          </a:prstGeom>
          <a:noFill/>
          <a:ln>
            <a:noFill/>
          </a:ln>
        </p:spPr>
        <p:txBody>
          <a:bodyPr anchorCtr="0" anchor="t" bIns="0" lIns="0" spcFirstLastPara="1" rIns="0" wrap="square" tIns="0">
            <a:noAutofit/>
          </a:bodyPr>
          <a:lstStyle/>
          <a:p>
            <a:pPr indent="-127000" lvl="0" marL="127000" marR="0" rtl="0" algn="l">
              <a:lnSpc>
                <a:spcPct val="167865"/>
              </a:lnSpc>
              <a:spcBef>
                <a:spcPts val="0"/>
              </a:spcBef>
              <a:spcAft>
                <a:spcPts val="0"/>
              </a:spcAft>
              <a:buClr>
                <a:srgbClr val="333333"/>
              </a:buClr>
              <a:buSzPts val="784"/>
              <a:buFont typeface="Times New Roman"/>
              <a:buChar char="•"/>
            </a:pPr>
            <a:r>
              <a:rPr b="1" i="0" lang="en-US" sz="784" u="none" cap="none" strike="noStrike">
                <a:solidFill>
                  <a:srgbClr val="333333"/>
                </a:solidFill>
                <a:latin typeface="Times New Roman"/>
                <a:ea typeface="Times New Roman"/>
                <a:cs typeface="Times New Roman"/>
                <a:sym typeface="Times New Roman"/>
              </a:rPr>
              <a:t>Stateless Storage:</a:t>
            </a:r>
            <a:r>
              <a:rPr b="0" i="0" lang="en-US" sz="834" u="none" cap="none" strike="noStrike">
                <a:solidFill>
                  <a:srgbClr val="333333"/>
                </a:solidFill>
                <a:latin typeface="Times New Roman"/>
                <a:ea typeface="Times New Roman"/>
                <a:cs typeface="Times New Roman"/>
                <a:sym typeface="Times New Roman"/>
              </a:rPr>
              <a:t> The database stores the encrypted DEK alongside the ciphertext, meaning the application remains completely stateless.</a:t>
            </a:r>
            <a:endParaRPr b="0" i="0" sz="784"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pic>
        <p:nvPicPr>
          <p:cNvPr descr="preencoded.png" id="430" name="Google Shape;430;p13"/>
          <p:cNvPicPr preferRelativeResize="0"/>
          <p:nvPr/>
        </p:nvPicPr>
        <p:blipFill rotWithShape="1">
          <a:blip r:embed="rId3">
            <a:alphaModFix/>
          </a:blip>
          <a:srcRect b="0" l="0" r="0" t="0"/>
          <a:stretch/>
        </p:blipFill>
        <p:spPr>
          <a:xfrm>
            <a:off x="0" y="0"/>
            <a:ext cx="9144000" cy="5313164"/>
          </a:xfrm>
          <a:prstGeom prst="rect">
            <a:avLst/>
          </a:prstGeom>
          <a:noFill/>
          <a:ln>
            <a:noFill/>
          </a:ln>
        </p:spPr>
      </p:pic>
      <p:sp>
        <p:nvSpPr>
          <p:cNvPr id="431" name="Google Shape;431;p13"/>
          <p:cNvSpPr/>
          <p:nvPr/>
        </p:nvSpPr>
        <p:spPr>
          <a:xfrm>
            <a:off x="357188" y="214313"/>
            <a:ext cx="8429625" cy="258961"/>
          </a:xfrm>
          <a:prstGeom prst="rect">
            <a:avLst/>
          </a:prstGeom>
          <a:noFill/>
          <a:ln>
            <a:noFill/>
          </a:ln>
        </p:spPr>
        <p:txBody>
          <a:bodyPr anchorCtr="0" anchor="t" bIns="0" lIns="0" spcFirstLastPara="1" rIns="0" wrap="square" tIns="0">
            <a:noAutofit/>
          </a:bodyPr>
          <a:lstStyle/>
          <a:p>
            <a:pPr indent="0" lvl="0" marL="0" marR="0" rtl="0" algn="l">
              <a:lnSpc>
                <a:spcPct val="133422"/>
              </a:lnSpc>
              <a:spcBef>
                <a:spcPts val="0"/>
              </a:spcBef>
              <a:spcAft>
                <a:spcPts val="0"/>
              </a:spcAft>
              <a:buClr>
                <a:srgbClr val="FFFFFF"/>
              </a:buClr>
              <a:buSzPts val="1499"/>
              <a:buFont typeface="Inter"/>
              <a:buNone/>
            </a:pPr>
            <a:r>
              <a:rPr b="1" i="0" lang="en-US" sz="1499" u="none" cap="none" strike="noStrike">
                <a:solidFill>
                  <a:srgbClr val="FFFFFF"/>
                </a:solidFill>
                <a:latin typeface="Inter"/>
                <a:ea typeface="Inter"/>
                <a:cs typeface="Inter"/>
                <a:sym typeface="Inter"/>
              </a:rPr>
              <a:t>Use Case C: Streaming Encryption</a:t>
            </a:r>
            <a:endParaRPr b="0" i="0" sz="1499" u="none" cap="none" strike="noStrike">
              <a:solidFill>
                <a:schemeClr val="dk1"/>
              </a:solidFill>
              <a:latin typeface="Calibri"/>
              <a:ea typeface="Calibri"/>
              <a:cs typeface="Calibri"/>
              <a:sym typeface="Calibri"/>
            </a:endParaRPr>
          </a:p>
        </p:txBody>
      </p:sp>
      <p:sp>
        <p:nvSpPr>
          <p:cNvPr id="432" name="Google Shape;432;p13"/>
          <p:cNvSpPr/>
          <p:nvPr/>
        </p:nvSpPr>
        <p:spPr>
          <a:xfrm>
            <a:off x="357188" y="501848"/>
            <a:ext cx="8429625" cy="121444"/>
          </a:xfrm>
          <a:prstGeom prst="rect">
            <a:avLst/>
          </a:prstGeom>
          <a:noFill/>
          <a:ln>
            <a:noFill/>
          </a:ln>
        </p:spPr>
        <p:txBody>
          <a:bodyPr anchorCtr="0" anchor="t" bIns="0" lIns="0" spcFirstLastPara="1" rIns="0" wrap="square" tIns="0">
            <a:noAutofit/>
          </a:bodyPr>
          <a:lstStyle/>
          <a:p>
            <a:pPr indent="0" lvl="0" marL="0" marR="0" rtl="0" algn="l">
              <a:lnSpc>
                <a:spcPct val="133531"/>
              </a:lnSpc>
              <a:spcBef>
                <a:spcPts val="0"/>
              </a:spcBef>
              <a:spcAft>
                <a:spcPts val="0"/>
              </a:spcAft>
              <a:buClr>
                <a:srgbClr val="546E7A"/>
              </a:buClr>
              <a:buSzPts val="674"/>
              <a:buFont typeface="Roboto Mono"/>
              <a:buNone/>
            </a:pPr>
            <a:r>
              <a:rPr b="0" i="0" lang="en-US" sz="674" u="none" cap="none" strike="noStrike">
                <a:solidFill>
                  <a:srgbClr val="546E7A"/>
                </a:solidFill>
                <a:latin typeface="Roboto Mono"/>
                <a:ea typeface="Roboto Mono"/>
                <a:cs typeface="Roboto Mono"/>
                <a:sym typeface="Roboto Mono"/>
              </a:rPr>
              <a:t>Continuous data stream (Kafka, event pipeline). Long-lived cached DEK reused across stream chunks until rotation event.</a:t>
            </a:r>
            <a:endParaRPr b="0" i="0" sz="674" u="none" cap="none" strike="noStrike">
              <a:solidFill>
                <a:schemeClr val="dk1"/>
              </a:solidFill>
              <a:latin typeface="Calibri"/>
              <a:ea typeface="Calibri"/>
              <a:cs typeface="Calibri"/>
              <a:sym typeface="Calibri"/>
            </a:endParaRPr>
          </a:p>
        </p:txBody>
      </p:sp>
      <p:sp>
        <p:nvSpPr>
          <p:cNvPr id="433" name="Google Shape;433;p13"/>
          <p:cNvSpPr/>
          <p:nvPr/>
        </p:nvSpPr>
        <p:spPr>
          <a:xfrm>
            <a:off x="285750" y="737592"/>
            <a:ext cx="1714500" cy="489347"/>
          </a:xfrm>
          <a:prstGeom prst="rect">
            <a:avLst/>
          </a:prstGeom>
          <a:solidFill>
            <a:srgbClr val="00E5FF">
              <a:alpha val="14901"/>
            </a:srgbClr>
          </a:solidFill>
          <a:ln cap="flat" cmpd="sng" w="9525">
            <a:solidFill>
              <a:srgbClr val="FFFFFF">
                <a:alpha val="784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34" name="Google Shape;434;p13"/>
          <p:cNvPicPr preferRelativeResize="0"/>
          <p:nvPr/>
        </p:nvPicPr>
        <p:blipFill rotWithShape="1">
          <a:blip r:embed="rId4">
            <a:alphaModFix/>
          </a:blip>
          <a:srcRect b="0" l="0" r="0" t="0"/>
          <a:stretch/>
        </p:blipFill>
        <p:spPr>
          <a:xfrm>
            <a:off x="1089422" y="816173"/>
            <a:ext cx="107156" cy="107156"/>
          </a:xfrm>
          <a:prstGeom prst="rect">
            <a:avLst/>
          </a:prstGeom>
          <a:noFill/>
          <a:ln>
            <a:noFill/>
          </a:ln>
        </p:spPr>
      </p:pic>
      <p:sp>
        <p:nvSpPr>
          <p:cNvPr id="435" name="Google Shape;435;p13"/>
          <p:cNvSpPr/>
          <p:nvPr/>
        </p:nvSpPr>
        <p:spPr>
          <a:xfrm>
            <a:off x="817066" y="944761"/>
            <a:ext cx="651867" cy="96441"/>
          </a:xfrm>
          <a:prstGeom prst="rect">
            <a:avLst/>
          </a:prstGeom>
          <a:noFill/>
          <a:ln>
            <a:noFill/>
          </a:ln>
        </p:spPr>
        <p:txBody>
          <a:bodyPr anchorCtr="0" anchor="t" bIns="0" lIns="0" spcFirstLastPara="1" rIns="0" wrap="square" tIns="0">
            <a:noAutofit/>
          </a:bodyPr>
          <a:lstStyle/>
          <a:p>
            <a:pPr indent="0" lvl="0" marL="0" marR="0" rtl="0" algn="l">
              <a:lnSpc>
                <a:spcPct val="131086"/>
              </a:lnSpc>
              <a:spcBef>
                <a:spcPts val="0"/>
              </a:spcBef>
              <a:spcAft>
                <a:spcPts val="0"/>
              </a:spcAft>
              <a:buClr>
                <a:srgbClr val="00E5FF"/>
              </a:buClr>
              <a:buSzPts val="534"/>
              <a:buFont typeface="Inter"/>
              <a:buNone/>
            </a:pPr>
            <a:r>
              <a:rPr b="1" i="0" lang="en-US" sz="534" u="none" cap="none" strike="noStrike">
                <a:solidFill>
                  <a:srgbClr val="00E5FF"/>
                </a:solidFill>
                <a:latin typeface="Inter"/>
                <a:ea typeface="Inter"/>
                <a:cs typeface="Inter"/>
                <a:sym typeface="Inter"/>
              </a:rPr>
              <a:t>Stream Producer</a:t>
            </a:r>
            <a:endParaRPr b="0" i="0" sz="534" u="none" cap="none" strike="noStrike">
              <a:solidFill>
                <a:schemeClr val="dk1"/>
              </a:solidFill>
              <a:latin typeface="Calibri"/>
              <a:ea typeface="Calibri"/>
              <a:cs typeface="Calibri"/>
              <a:sym typeface="Calibri"/>
            </a:endParaRPr>
          </a:p>
        </p:txBody>
      </p:sp>
      <p:sp>
        <p:nvSpPr>
          <p:cNvPr id="436" name="Google Shape;436;p13"/>
          <p:cNvSpPr/>
          <p:nvPr/>
        </p:nvSpPr>
        <p:spPr>
          <a:xfrm>
            <a:off x="1025128" y="1062633"/>
            <a:ext cx="235744" cy="85725"/>
          </a:xfrm>
          <a:prstGeom prst="rect">
            <a:avLst/>
          </a:prstGeom>
          <a:noFill/>
          <a:ln>
            <a:noFill/>
          </a:ln>
        </p:spPr>
        <p:txBody>
          <a:bodyPr anchorCtr="0" anchor="t" bIns="0" lIns="0" spcFirstLastPara="1" rIns="0" wrap="square" tIns="0">
            <a:noAutofit/>
          </a:bodyPr>
          <a:lstStyle/>
          <a:p>
            <a:pPr indent="0" lvl="0" marL="0" marR="0" rtl="0" algn="l">
              <a:lnSpc>
                <a:spcPct val="129589"/>
              </a:lnSpc>
              <a:spcBef>
                <a:spcPts val="0"/>
              </a:spcBef>
              <a:spcAft>
                <a:spcPts val="0"/>
              </a:spcAft>
              <a:buClr>
                <a:srgbClr val="00E5FF"/>
              </a:buClr>
              <a:buSzPts val="463"/>
              <a:buFont typeface="Roboto Mono"/>
              <a:buNone/>
            </a:pPr>
            <a:r>
              <a:rPr b="0" i="0" lang="en-US" sz="463" u="none" cap="none" strike="noStrike">
                <a:solidFill>
                  <a:srgbClr val="00E5FF"/>
                </a:solidFill>
                <a:latin typeface="Roboto Mono"/>
                <a:ea typeface="Roboto Mono"/>
                <a:cs typeface="Roboto Mono"/>
                <a:sym typeface="Roboto Mono"/>
              </a:rPr>
              <a:t>Caller</a:t>
            </a:r>
            <a:endParaRPr b="0" i="0" sz="463" u="none" cap="none" strike="noStrike">
              <a:solidFill>
                <a:schemeClr val="dk1"/>
              </a:solidFill>
              <a:latin typeface="Calibri"/>
              <a:ea typeface="Calibri"/>
              <a:cs typeface="Calibri"/>
              <a:sym typeface="Calibri"/>
            </a:endParaRPr>
          </a:p>
        </p:txBody>
      </p:sp>
      <p:sp>
        <p:nvSpPr>
          <p:cNvPr id="437" name="Google Shape;437;p13"/>
          <p:cNvSpPr/>
          <p:nvPr/>
        </p:nvSpPr>
        <p:spPr>
          <a:xfrm>
            <a:off x="2000250" y="737592"/>
            <a:ext cx="1714500" cy="489347"/>
          </a:xfrm>
          <a:prstGeom prst="rect">
            <a:avLst/>
          </a:prstGeom>
          <a:solidFill>
            <a:srgbClr val="2979FF">
              <a:alpha val="14901"/>
            </a:srgbClr>
          </a:solidFill>
          <a:ln cap="flat" cmpd="sng" w="9525">
            <a:solidFill>
              <a:srgbClr val="FFFFFF">
                <a:alpha val="784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38" name="Google Shape;438;p13"/>
          <p:cNvPicPr preferRelativeResize="0"/>
          <p:nvPr/>
        </p:nvPicPr>
        <p:blipFill rotWithShape="1">
          <a:blip r:embed="rId5">
            <a:alphaModFix/>
          </a:blip>
          <a:srcRect b="0" l="0" r="0" t="0"/>
          <a:stretch/>
        </p:blipFill>
        <p:spPr>
          <a:xfrm>
            <a:off x="2803922" y="816173"/>
            <a:ext cx="107156" cy="107156"/>
          </a:xfrm>
          <a:prstGeom prst="rect">
            <a:avLst/>
          </a:prstGeom>
          <a:noFill/>
          <a:ln>
            <a:noFill/>
          </a:ln>
        </p:spPr>
      </p:pic>
      <p:sp>
        <p:nvSpPr>
          <p:cNvPr id="439" name="Google Shape;439;p13"/>
          <p:cNvSpPr/>
          <p:nvPr/>
        </p:nvSpPr>
        <p:spPr>
          <a:xfrm>
            <a:off x="2691408" y="944761"/>
            <a:ext cx="332184" cy="96441"/>
          </a:xfrm>
          <a:prstGeom prst="rect">
            <a:avLst/>
          </a:prstGeom>
          <a:noFill/>
          <a:ln>
            <a:noFill/>
          </a:ln>
        </p:spPr>
        <p:txBody>
          <a:bodyPr anchorCtr="0" anchor="t" bIns="0" lIns="0" spcFirstLastPara="1" rIns="0" wrap="square" tIns="0">
            <a:noAutofit/>
          </a:bodyPr>
          <a:lstStyle/>
          <a:p>
            <a:pPr indent="0" lvl="0" marL="0" marR="0" rtl="0" algn="l">
              <a:lnSpc>
                <a:spcPct val="131086"/>
              </a:lnSpc>
              <a:spcBef>
                <a:spcPts val="0"/>
              </a:spcBef>
              <a:spcAft>
                <a:spcPts val="0"/>
              </a:spcAft>
              <a:buClr>
                <a:srgbClr val="2979FF"/>
              </a:buClr>
              <a:buSzPts val="534"/>
              <a:buFont typeface="Inter"/>
              <a:buNone/>
            </a:pPr>
            <a:r>
              <a:rPr b="1" i="0" lang="en-US" sz="534" u="none" cap="none" strike="noStrike">
                <a:solidFill>
                  <a:srgbClr val="2979FF"/>
                </a:solidFill>
                <a:latin typeface="Inter"/>
                <a:ea typeface="Inter"/>
                <a:cs typeface="Inter"/>
                <a:sym typeface="Inter"/>
              </a:rPr>
              <a:t>EES SDK</a:t>
            </a:r>
            <a:endParaRPr b="0" i="0" sz="534" u="none" cap="none" strike="noStrike">
              <a:solidFill>
                <a:schemeClr val="dk1"/>
              </a:solidFill>
              <a:latin typeface="Calibri"/>
              <a:ea typeface="Calibri"/>
              <a:cs typeface="Calibri"/>
              <a:sym typeface="Calibri"/>
            </a:endParaRPr>
          </a:p>
        </p:txBody>
      </p:sp>
      <p:sp>
        <p:nvSpPr>
          <p:cNvPr id="440" name="Google Shape;440;p13"/>
          <p:cNvSpPr/>
          <p:nvPr/>
        </p:nvSpPr>
        <p:spPr>
          <a:xfrm>
            <a:off x="2582466" y="1062633"/>
            <a:ext cx="550069" cy="85725"/>
          </a:xfrm>
          <a:prstGeom prst="rect">
            <a:avLst/>
          </a:prstGeom>
          <a:noFill/>
          <a:ln>
            <a:noFill/>
          </a:ln>
        </p:spPr>
        <p:txBody>
          <a:bodyPr anchorCtr="0" anchor="t" bIns="0" lIns="0" spcFirstLastPara="1" rIns="0" wrap="square" tIns="0">
            <a:noAutofit/>
          </a:bodyPr>
          <a:lstStyle/>
          <a:p>
            <a:pPr indent="0" lvl="0" marL="0" marR="0" rtl="0" algn="l">
              <a:lnSpc>
                <a:spcPct val="129589"/>
              </a:lnSpc>
              <a:spcBef>
                <a:spcPts val="0"/>
              </a:spcBef>
              <a:spcAft>
                <a:spcPts val="0"/>
              </a:spcAft>
              <a:buClr>
                <a:srgbClr val="2979FF"/>
              </a:buClr>
              <a:buSzPts val="463"/>
              <a:buFont typeface="Roboto Mono"/>
              <a:buNone/>
            </a:pPr>
            <a:r>
              <a:rPr b="0" i="0" lang="en-US" sz="463" u="none" cap="none" strike="noStrike">
                <a:solidFill>
                  <a:srgbClr val="2979FF"/>
                </a:solidFill>
                <a:latin typeface="Roboto Mono"/>
                <a:ea typeface="Roboto Mono"/>
                <a:cs typeface="Roboto Mono"/>
                <a:sym typeface="Roboto Mono"/>
              </a:rPr>
              <a:t>Client Library</a:t>
            </a:r>
            <a:endParaRPr b="0" i="0" sz="463" u="none" cap="none" strike="noStrike">
              <a:solidFill>
                <a:schemeClr val="dk1"/>
              </a:solidFill>
              <a:latin typeface="Calibri"/>
              <a:ea typeface="Calibri"/>
              <a:cs typeface="Calibri"/>
              <a:sym typeface="Calibri"/>
            </a:endParaRPr>
          </a:p>
        </p:txBody>
      </p:sp>
      <p:sp>
        <p:nvSpPr>
          <p:cNvPr id="441" name="Google Shape;441;p13"/>
          <p:cNvSpPr/>
          <p:nvPr/>
        </p:nvSpPr>
        <p:spPr>
          <a:xfrm>
            <a:off x="3714750" y="737592"/>
            <a:ext cx="1714500" cy="489347"/>
          </a:xfrm>
          <a:prstGeom prst="rect">
            <a:avLst/>
          </a:prstGeom>
          <a:solidFill>
            <a:srgbClr val="00E676">
              <a:alpha val="14901"/>
            </a:srgbClr>
          </a:solidFill>
          <a:ln cap="flat" cmpd="sng" w="9525">
            <a:solidFill>
              <a:srgbClr val="FFFFFF">
                <a:alpha val="784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42" name="Google Shape;442;p13"/>
          <p:cNvPicPr preferRelativeResize="0"/>
          <p:nvPr/>
        </p:nvPicPr>
        <p:blipFill rotWithShape="1">
          <a:blip r:embed="rId6">
            <a:alphaModFix/>
          </a:blip>
          <a:srcRect b="0" l="0" r="0" t="0"/>
          <a:stretch/>
        </p:blipFill>
        <p:spPr>
          <a:xfrm>
            <a:off x="4518422" y="816173"/>
            <a:ext cx="107156" cy="107156"/>
          </a:xfrm>
          <a:prstGeom prst="rect">
            <a:avLst/>
          </a:prstGeom>
          <a:noFill/>
          <a:ln>
            <a:noFill/>
          </a:ln>
        </p:spPr>
      </p:pic>
      <p:sp>
        <p:nvSpPr>
          <p:cNvPr id="443" name="Google Shape;443;p13"/>
          <p:cNvSpPr/>
          <p:nvPr/>
        </p:nvSpPr>
        <p:spPr>
          <a:xfrm>
            <a:off x="4346972" y="944761"/>
            <a:ext cx="450056" cy="96441"/>
          </a:xfrm>
          <a:prstGeom prst="rect">
            <a:avLst/>
          </a:prstGeom>
          <a:noFill/>
          <a:ln>
            <a:noFill/>
          </a:ln>
        </p:spPr>
        <p:txBody>
          <a:bodyPr anchorCtr="0" anchor="t" bIns="0" lIns="0" spcFirstLastPara="1" rIns="0" wrap="square" tIns="0">
            <a:noAutofit/>
          </a:bodyPr>
          <a:lstStyle/>
          <a:p>
            <a:pPr indent="0" lvl="0" marL="0" marR="0" rtl="0" algn="l">
              <a:lnSpc>
                <a:spcPct val="131086"/>
              </a:lnSpc>
              <a:spcBef>
                <a:spcPts val="0"/>
              </a:spcBef>
              <a:spcAft>
                <a:spcPts val="0"/>
              </a:spcAft>
              <a:buClr>
                <a:srgbClr val="00E676"/>
              </a:buClr>
              <a:buSzPts val="534"/>
              <a:buFont typeface="Inter"/>
              <a:buNone/>
            </a:pPr>
            <a:r>
              <a:rPr b="1" i="0" lang="en-US" sz="534" u="none" cap="none" strike="noStrike">
                <a:solidFill>
                  <a:srgbClr val="00E676"/>
                </a:solidFill>
                <a:latin typeface="Inter"/>
                <a:ea typeface="Inter"/>
                <a:cs typeface="Inter"/>
                <a:sym typeface="Inter"/>
              </a:rPr>
              <a:t>OpAMP API</a:t>
            </a:r>
            <a:endParaRPr b="0" i="0" sz="534" u="none" cap="none" strike="noStrike">
              <a:solidFill>
                <a:schemeClr val="dk1"/>
              </a:solidFill>
              <a:latin typeface="Calibri"/>
              <a:ea typeface="Calibri"/>
              <a:cs typeface="Calibri"/>
              <a:sym typeface="Calibri"/>
            </a:endParaRPr>
          </a:p>
        </p:txBody>
      </p:sp>
      <p:sp>
        <p:nvSpPr>
          <p:cNvPr id="444" name="Google Shape;444;p13"/>
          <p:cNvSpPr/>
          <p:nvPr/>
        </p:nvSpPr>
        <p:spPr>
          <a:xfrm>
            <a:off x="4277320" y="1062633"/>
            <a:ext cx="589359" cy="85725"/>
          </a:xfrm>
          <a:prstGeom prst="rect">
            <a:avLst/>
          </a:prstGeom>
          <a:noFill/>
          <a:ln>
            <a:noFill/>
          </a:ln>
        </p:spPr>
        <p:txBody>
          <a:bodyPr anchorCtr="0" anchor="t" bIns="0" lIns="0" spcFirstLastPara="1" rIns="0" wrap="square" tIns="0">
            <a:noAutofit/>
          </a:bodyPr>
          <a:lstStyle/>
          <a:p>
            <a:pPr indent="0" lvl="0" marL="0" marR="0" rtl="0" algn="l">
              <a:lnSpc>
                <a:spcPct val="129589"/>
              </a:lnSpc>
              <a:spcBef>
                <a:spcPts val="0"/>
              </a:spcBef>
              <a:spcAft>
                <a:spcPts val="0"/>
              </a:spcAft>
              <a:buClr>
                <a:srgbClr val="00E676"/>
              </a:buClr>
              <a:buSzPts val="463"/>
              <a:buFont typeface="Roboto Mono"/>
              <a:buNone/>
            </a:pPr>
            <a:r>
              <a:rPr b="0" i="0" lang="en-US" sz="463" u="none" cap="none" strike="noStrike">
                <a:solidFill>
                  <a:srgbClr val="00E676"/>
                </a:solidFill>
                <a:latin typeface="Roboto Mono"/>
                <a:ea typeface="Roboto Mono"/>
                <a:cs typeface="Roboto Mono"/>
                <a:sym typeface="Roboto Mono"/>
              </a:rPr>
              <a:t>Secrets Manager</a:t>
            </a:r>
            <a:endParaRPr b="0" i="0" sz="463" u="none" cap="none" strike="noStrike">
              <a:solidFill>
                <a:schemeClr val="dk1"/>
              </a:solidFill>
              <a:latin typeface="Calibri"/>
              <a:ea typeface="Calibri"/>
              <a:cs typeface="Calibri"/>
              <a:sym typeface="Calibri"/>
            </a:endParaRPr>
          </a:p>
        </p:txBody>
      </p:sp>
      <p:sp>
        <p:nvSpPr>
          <p:cNvPr id="445" name="Google Shape;445;p13"/>
          <p:cNvSpPr/>
          <p:nvPr/>
        </p:nvSpPr>
        <p:spPr>
          <a:xfrm>
            <a:off x="5429250" y="737592"/>
            <a:ext cx="1714500" cy="489347"/>
          </a:xfrm>
          <a:prstGeom prst="rect">
            <a:avLst/>
          </a:prstGeom>
          <a:solidFill>
            <a:srgbClr val="E040FB">
              <a:alpha val="14901"/>
            </a:srgbClr>
          </a:solidFill>
          <a:ln cap="flat" cmpd="sng" w="9525">
            <a:solidFill>
              <a:srgbClr val="FFFFFF">
                <a:alpha val="784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46" name="Google Shape;446;p13"/>
          <p:cNvPicPr preferRelativeResize="0"/>
          <p:nvPr/>
        </p:nvPicPr>
        <p:blipFill rotWithShape="1">
          <a:blip r:embed="rId7">
            <a:alphaModFix/>
          </a:blip>
          <a:srcRect b="0" l="0" r="0" t="0"/>
          <a:stretch/>
        </p:blipFill>
        <p:spPr>
          <a:xfrm>
            <a:off x="6232922" y="816173"/>
            <a:ext cx="107156" cy="107156"/>
          </a:xfrm>
          <a:prstGeom prst="rect">
            <a:avLst/>
          </a:prstGeom>
          <a:noFill/>
          <a:ln>
            <a:noFill/>
          </a:ln>
        </p:spPr>
      </p:pic>
      <p:sp>
        <p:nvSpPr>
          <p:cNvPr id="447" name="Google Shape;447;p13"/>
          <p:cNvSpPr/>
          <p:nvPr/>
        </p:nvSpPr>
        <p:spPr>
          <a:xfrm>
            <a:off x="6038255" y="944761"/>
            <a:ext cx="496491" cy="96441"/>
          </a:xfrm>
          <a:prstGeom prst="rect">
            <a:avLst/>
          </a:prstGeom>
          <a:noFill/>
          <a:ln>
            <a:noFill/>
          </a:ln>
        </p:spPr>
        <p:txBody>
          <a:bodyPr anchorCtr="0" anchor="t" bIns="0" lIns="0" spcFirstLastPara="1" rIns="0" wrap="square" tIns="0">
            <a:noAutofit/>
          </a:bodyPr>
          <a:lstStyle/>
          <a:p>
            <a:pPr indent="0" lvl="0" marL="0" marR="0" rtl="0" algn="l">
              <a:lnSpc>
                <a:spcPct val="131086"/>
              </a:lnSpc>
              <a:spcBef>
                <a:spcPts val="0"/>
              </a:spcBef>
              <a:spcAft>
                <a:spcPts val="0"/>
              </a:spcAft>
              <a:buClr>
                <a:srgbClr val="E040FB"/>
              </a:buClr>
              <a:buSzPts val="534"/>
              <a:buFont typeface="Inter"/>
              <a:buNone/>
            </a:pPr>
            <a:r>
              <a:rPr b="1" i="0" lang="en-US" sz="534" u="none" cap="none" strike="noStrike">
                <a:solidFill>
                  <a:srgbClr val="E040FB"/>
                </a:solidFill>
                <a:latin typeface="Inter"/>
                <a:ea typeface="Inter"/>
                <a:cs typeface="Inter"/>
                <a:sym typeface="Inter"/>
              </a:rPr>
              <a:t>Vault Transit</a:t>
            </a:r>
            <a:endParaRPr b="0" i="0" sz="534" u="none" cap="none" strike="noStrike">
              <a:solidFill>
                <a:schemeClr val="dk1"/>
              </a:solidFill>
              <a:latin typeface="Calibri"/>
              <a:ea typeface="Calibri"/>
              <a:cs typeface="Calibri"/>
              <a:sym typeface="Calibri"/>
            </a:endParaRPr>
          </a:p>
        </p:txBody>
      </p:sp>
      <p:sp>
        <p:nvSpPr>
          <p:cNvPr id="448" name="Google Shape;448;p13"/>
          <p:cNvSpPr/>
          <p:nvPr/>
        </p:nvSpPr>
        <p:spPr>
          <a:xfrm>
            <a:off x="5952530" y="1062633"/>
            <a:ext cx="667941" cy="85725"/>
          </a:xfrm>
          <a:prstGeom prst="rect">
            <a:avLst/>
          </a:prstGeom>
          <a:noFill/>
          <a:ln>
            <a:noFill/>
          </a:ln>
        </p:spPr>
        <p:txBody>
          <a:bodyPr anchorCtr="0" anchor="t" bIns="0" lIns="0" spcFirstLastPara="1" rIns="0" wrap="square" tIns="0">
            <a:noAutofit/>
          </a:bodyPr>
          <a:lstStyle/>
          <a:p>
            <a:pPr indent="0" lvl="0" marL="0" marR="0" rtl="0" algn="l">
              <a:lnSpc>
                <a:spcPct val="129589"/>
              </a:lnSpc>
              <a:spcBef>
                <a:spcPts val="0"/>
              </a:spcBef>
              <a:spcAft>
                <a:spcPts val="0"/>
              </a:spcAft>
              <a:buClr>
                <a:srgbClr val="E040FB"/>
              </a:buClr>
              <a:buSzPts val="463"/>
              <a:buFont typeface="Roboto Mono"/>
              <a:buNone/>
            </a:pPr>
            <a:r>
              <a:rPr b="0" i="0" lang="en-US" sz="463" u="none" cap="none" strike="noStrike">
                <a:solidFill>
                  <a:srgbClr val="E040FB"/>
                </a:solidFill>
                <a:latin typeface="Roboto Mono"/>
                <a:ea typeface="Roboto Mono"/>
                <a:cs typeface="Roboto Mono"/>
                <a:sym typeface="Roboto Mono"/>
              </a:rPr>
              <a:t>Encryption Engine</a:t>
            </a:r>
            <a:endParaRPr b="0" i="0" sz="463" u="none" cap="none" strike="noStrike">
              <a:solidFill>
                <a:schemeClr val="dk1"/>
              </a:solidFill>
              <a:latin typeface="Calibri"/>
              <a:ea typeface="Calibri"/>
              <a:cs typeface="Calibri"/>
              <a:sym typeface="Calibri"/>
            </a:endParaRPr>
          </a:p>
        </p:txBody>
      </p:sp>
      <p:sp>
        <p:nvSpPr>
          <p:cNvPr id="449" name="Google Shape;449;p13"/>
          <p:cNvSpPr/>
          <p:nvPr/>
        </p:nvSpPr>
        <p:spPr>
          <a:xfrm>
            <a:off x="7143750" y="737592"/>
            <a:ext cx="1714500" cy="489347"/>
          </a:xfrm>
          <a:prstGeom prst="rect">
            <a:avLst/>
          </a:prstGeom>
          <a:solidFill>
            <a:srgbClr val="FFAB40">
              <a:alpha val="14901"/>
            </a:srgbClr>
          </a:solidFill>
          <a:ln cap="flat" cmpd="sng" w="9525">
            <a:solidFill>
              <a:srgbClr val="FFFFFF">
                <a:alpha val="784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50" name="Google Shape;450;p13"/>
          <p:cNvPicPr preferRelativeResize="0"/>
          <p:nvPr/>
        </p:nvPicPr>
        <p:blipFill rotWithShape="1">
          <a:blip r:embed="rId8">
            <a:alphaModFix/>
          </a:blip>
          <a:srcRect b="0" l="0" r="0" t="0"/>
          <a:stretch/>
        </p:blipFill>
        <p:spPr>
          <a:xfrm>
            <a:off x="7947422" y="809030"/>
            <a:ext cx="107156" cy="107156"/>
          </a:xfrm>
          <a:prstGeom prst="rect">
            <a:avLst/>
          </a:prstGeom>
          <a:noFill/>
          <a:ln>
            <a:noFill/>
          </a:ln>
        </p:spPr>
      </p:pic>
      <p:sp>
        <p:nvSpPr>
          <p:cNvPr id="451" name="Google Shape;451;p13"/>
          <p:cNvSpPr/>
          <p:nvPr/>
        </p:nvSpPr>
        <p:spPr>
          <a:xfrm>
            <a:off x="7793831" y="937617"/>
            <a:ext cx="414338" cy="96441"/>
          </a:xfrm>
          <a:prstGeom prst="rect">
            <a:avLst/>
          </a:prstGeom>
          <a:noFill/>
          <a:ln>
            <a:noFill/>
          </a:ln>
        </p:spPr>
        <p:txBody>
          <a:bodyPr anchorCtr="0" anchor="t" bIns="0" lIns="0" spcFirstLastPara="1" rIns="0" wrap="square" tIns="0">
            <a:noAutofit/>
          </a:bodyPr>
          <a:lstStyle/>
          <a:p>
            <a:pPr indent="0" lvl="0" marL="0" marR="0" rtl="0" algn="l">
              <a:lnSpc>
                <a:spcPct val="131086"/>
              </a:lnSpc>
              <a:spcBef>
                <a:spcPts val="0"/>
              </a:spcBef>
              <a:spcAft>
                <a:spcPts val="0"/>
              </a:spcAft>
              <a:buClr>
                <a:srgbClr val="FFAB40"/>
              </a:buClr>
              <a:buSzPts val="534"/>
              <a:buFont typeface="Inter"/>
              <a:buNone/>
            </a:pPr>
            <a:r>
              <a:rPr b="1" i="0" lang="en-US" sz="534" u="none" cap="none" strike="noStrike">
                <a:solidFill>
                  <a:srgbClr val="FFAB40"/>
                </a:solidFill>
                <a:latin typeface="Inter"/>
                <a:ea typeface="Inter"/>
                <a:cs typeface="Inter"/>
                <a:sym typeface="Inter"/>
              </a:rPr>
              <a:t>CloudHSM</a:t>
            </a:r>
            <a:endParaRPr b="0" i="0" sz="534" u="none" cap="none" strike="noStrike">
              <a:solidFill>
                <a:schemeClr val="dk1"/>
              </a:solidFill>
              <a:latin typeface="Calibri"/>
              <a:ea typeface="Calibri"/>
              <a:cs typeface="Calibri"/>
              <a:sym typeface="Calibri"/>
            </a:endParaRPr>
          </a:p>
        </p:txBody>
      </p:sp>
      <p:sp>
        <p:nvSpPr>
          <p:cNvPr id="452" name="Google Shape;452;p13"/>
          <p:cNvSpPr/>
          <p:nvPr/>
        </p:nvSpPr>
        <p:spPr>
          <a:xfrm>
            <a:off x="7745611" y="1055489"/>
            <a:ext cx="510778" cy="85725"/>
          </a:xfrm>
          <a:prstGeom prst="rect">
            <a:avLst/>
          </a:prstGeom>
          <a:noFill/>
          <a:ln>
            <a:noFill/>
          </a:ln>
        </p:spPr>
        <p:txBody>
          <a:bodyPr anchorCtr="0" anchor="t" bIns="0" lIns="0" spcFirstLastPara="1" rIns="0" wrap="square" tIns="0">
            <a:noAutofit/>
          </a:bodyPr>
          <a:lstStyle/>
          <a:p>
            <a:pPr indent="0" lvl="0" marL="0" marR="0" rtl="0" algn="l">
              <a:lnSpc>
                <a:spcPct val="129589"/>
              </a:lnSpc>
              <a:spcBef>
                <a:spcPts val="0"/>
              </a:spcBef>
              <a:spcAft>
                <a:spcPts val="0"/>
              </a:spcAft>
              <a:buClr>
                <a:srgbClr val="FFAB40"/>
              </a:buClr>
              <a:buSzPts val="463"/>
              <a:buFont typeface="Roboto Mono"/>
              <a:buNone/>
            </a:pPr>
            <a:r>
              <a:rPr b="0" i="0" lang="en-US" sz="463" u="none" cap="none" strike="noStrike">
                <a:solidFill>
                  <a:srgbClr val="FFAB40"/>
                </a:solidFill>
                <a:latin typeface="Roboto Mono"/>
                <a:ea typeface="Roboto Mono"/>
                <a:cs typeface="Roboto Mono"/>
                <a:sym typeface="Roboto Mono"/>
              </a:rPr>
              <a:t>FIPS 140-2 L3</a:t>
            </a:r>
            <a:endParaRPr b="0" i="0" sz="463" u="none" cap="none" strike="noStrike">
              <a:solidFill>
                <a:schemeClr val="dk1"/>
              </a:solidFill>
              <a:latin typeface="Calibri"/>
              <a:ea typeface="Calibri"/>
              <a:cs typeface="Calibri"/>
              <a:sym typeface="Calibri"/>
            </a:endParaRPr>
          </a:p>
        </p:txBody>
      </p:sp>
      <p:sp>
        <p:nvSpPr>
          <p:cNvPr id="453" name="Google Shape;453;p13"/>
          <p:cNvSpPr/>
          <p:nvPr/>
        </p:nvSpPr>
        <p:spPr>
          <a:xfrm>
            <a:off x="285750" y="1212652"/>
            <a:ext cx="8572500" cy="4086225"/>
          </a:xfrm>
          <a:prstGeom prst="rect">
            <a:avLst/>
          </a:prstGeom>
          <a:solidFill>
            <a:srgbClr val="FFFFFF">
              <a:alpha val="117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13"/>
          <p:cNvSpPr/>
          <p:nvPr/>
        </p:nvSpPr>
        <p:spPr>
          <a:xfrm>
            <a:off x="8851106" y="1212652"/>
            <a:ext cx="7144" cy="4086225"/>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13"/>
          <p:cNvSpPr/>
          <p:nvPr/>
        </p:nvSpPr>
        <p:spPr>
          <a:xfrm>
            <a:off x="285750" y="1212652"/>
            <a:ext cx="7144" cy="4086225"/>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13"/>
          <p:cNvSpPr/>
          <p:nvPr/>
        </p:nvSpPr>
        <p:spPr>
          <a:xfrm>
            <a:off x="285750" y="1212652"/>
            <a:ext cx="8572500" cy="371475"/>
          </a:xfrm>
          <a:prstGeom prst="rect">
            <a:avLst/>
          </a:prstGeom>
          <a:solidFill>
            <a:srgbClr val="FFFFFF">
              <a:alpha val="19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13"/>
          <p:cNvSpPr/>
          <p:nvPr/>
        </p:nvSpPr>
        <p:spPr>
          <a:xfrm>
            <a:off x="285750" y="1576983"/>
            <a:ext cx="8572500" cy="714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13"/>
          <p:cNvSpPr/>
          <p:nvPr/>
        </p:nvSpPr>
        <p:spPr>
          <a:xfrm>
            <a:off x="1078706" y="1334095"/>
            <a:ext cx="128588" cy="128588"/>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13"/>
          <p:cNvSpPr/>
          <p:nvPr/>
        </p:nvSpPr>
        <p:spPr>
          <a:xfrm>
            <a:off x="1078706" y="1334095"/>
            <a:ext cx="128588" cy="128588"/>
          </a:xfrm>
          <a:prstGeom prst="rect">
            <a:avLst/>
          </a:prstGeom>
          <a:noFill/>
          <a:ln>
            <a:noFill/>
          </a:ln>
        </p:spPr>
        <p:txBody>
          <a:bodyPr anchorCtr="0" anchor="ctr" bIns="0" lIns="0" spcFirstLastPara="1" rIns="0" wrap="square" tIns="0">
            <a:noAutofit/>
          </a:bodyPr>
          <a:lstStyle/>
          <a:p>
            <a:pPr indent="0" lvl="0" marL="0" marR="0" rtl="0" algn="ctr">
              <a:lnSpc>
                <a:spcPct val="137931"/>
              </a:lnSpc>
              <a:spcBef>
                <a:spcPts val="0"/>
              </a:spcBef>
              <a:spcAft>
                <a:spcPts val="0"/>
              </a:spcAft>
              <a:buClr>
                <a:srgbClr val="0D1B2A"/>
              </a:buClr>
              <a:buSzPts val="435"/>
              <a:buFont typeface="Roboto Mono"/>
              <a:buNone/>
            </a:pPr>
            <a:r>
              <a:rPr b="1" i="0" lang="en-US" sz="435" u="none" cap="none" strike="noStrike">
                <a:solidFill>
                  <a:srgbClr val="0D1B2A"/>
                </a:solidFill>
                <a:latin typeface="Roboto Mono"/>
                <a:ea typeface="Roboto Mono"/>
                <a:cs typeface="Roboto Mono"/>
                <a:sym typeface="Roboto Mono"/>
              </a:rPr>
              <a:t>1</a:t>
            </a:r>
            <a:endParaRPr b="0" i="0" sz="435" u="none" cap="none" strike="noStrike">
              <a:solidFill>
                <a:schemeClr val="dk1"/>
              </a:solidFill>
              <a:latin typeface="Calibri"/>
              <a:ea typeface="Calibri"/>
              <a:cs typeface="Calibri"/>
              <a:sym typeface="Calibri"/>
            </a:endParaRPr>
          </a:p>
        </p:txBody>
      </p:sp>
      <p:sp>
        <p:nvSpPr>
          <p:cNvPr id="460" name="Google Shape;460;p13"/>
          <p:cNvSpPr/>
          <p:nvPr/>
        </p:nvSpPr>
        <p:spPr>
          <a:xfrm>
            <a:off x="1143000" y="1330523"/>
            <a:ext cx="1714500" cy="92869"/>
          </a:xfrm>
          <a:prstGeom prst="rect">
            <a:avLst/>
          </a:prstGeom>
          <a:noFill/>
          <a:ln>
            <a:noFill/>
          </a:ln>
        </p:spPr>
        <p:txBody>
          <a:bodyPr anchorCtr="0" anchor="t" bIns="0" lIns="0" spcFirstLastPara="1" rIns="0" wrap="square" tIns="0">
            <a:noAutofit/>
          </a:bodyPr>
          <a:lstStyle/>
          <a:p>
            <a:pPr indent="0" lvl="0" marL="0" marR="0" rtl="0" algn="ctr">
              <a:lnSpc>
                <a:spcPct val="135658"/>
              </a:lnSpc>
              <a:spcBef>
                <a:spcPts val="0"/>
              </a:spcBef>
              <a:spcAft>
                <a:spcPts val="0"/>
              </a:spcAft>
              <a:buClr>
                <a:srgbClr val="00E5FF"/>
              </a:buClr>
              <a:buSzPts val="516"/>
              <a:buFont typeface="Roboto Mono"/>
              <a:buNone/>
            </a:pPr>
            <a:r>
              <a:rPr b="0" i="0" lang="en-US" sz="516" u="none" cap="none" strike="noStrike">
                <a:solidFill>
                  <a:srgbClr val="00E5FF"/>
                </a:solidFill>
                <a:latin typeface="Roboto Mono"/>
                <a:ea typeface="Roboto Mono"/>
                <a:cs typeface="Roboto Mono"/>
                <a:sym typeface="Roboto Mono"/>
              </a:rPr>
              <a:t>initStream</a:t>
            </a:r>
            <a:r>
              <a:rPr b="0" i="0" lang="en-US" sz="516" u="none" cap="none" strike="noStrike">
                <a:solidFill>
                  <a:srgbClr val="B0BEC5"/>
                </a:solidFill>
                <a:latin typeface="Roboto Mono"/>
                <a:ea typeface="Roboto Mono"/>
                <a:cs typeface="Roboto Mono"/>
                <a:sym typeface="Roboto Mono"/>
              </a:rPr>
              <a:t>(INTERNAL, streamConfig)</a:t>
            </a:r>
            <a:endParaRPr b="0" i="0" sz="516" u="none" cap="none" strike="noStrike">
              <a:solidFill>
                <a:schemeClr val="dk1"/>
              </a:solidFill>
              <a:latin typeface="Calibri"/>
              <a:ea typeface="Calibri"/>
              <a:cs typeface="Calibri"/>
              <a:sym typeface="Calibri"/>
            </a:endParaRPr>
          </a:p>
        </p:txBody>
      </p:sp>
      <p:sp>
        <p:nvSpPr>
          <p:cNvPr id="461" name="Google Shape;461;p13"/>
          <p:cNvSpPr/>
          <p:nvPr/>
        </p:nvSpPr>
        <p:spPr>
          <a:xfrm>
            <a:off x="1143000" y="1451967"/>
            <a:ext cx="1714500" cy="14288"/>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13"/>
          <p:cNvSpPr/>
          <p:nvPr/>
        </p:nvSpPr>
        <p:spPr>
          <a:xfrm>
            <a:off x="2793206" y="1701998"/>
            <a:ext cx="128588" cy="128588"/>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13"/>
          <p:cNvSpPr/>
          <p:nvPr/>
        </p:nvSpPr>
        <p:spPr>
          <a:xfrm>
            <a:off x="2793206" y="1701998"/>
            <a:ext cx="128588" cy="128588"/>
          </a:xfrm>
          <a:prstGeom prst="rect">
            <a:avLst/>
          </a:prstGeom>
          <a:noFill/>
          <a:ln>
            <a:noFill/>
          </a:ln>
        </p:spPr>
        <p:txBody>
          <a:bodyPr anchorCtr="0" anchor="ctr" bIns="0" lIns="0" spcFirstLastPara="1" rIns="0" wrap="square" tIns="0">
            <a:noAutofit/>
          </a:bodyPr>
          <a:lstStyle/>
          <a:p>
            <a:pPr indent="0" lvl="0" marL="0" marR="0" rtl="0" algn="ctr">
              <a:lnSpc>
                <a:spcPct val="137931"/>
              </a:lnSpc>
              <a:spcBef>
                <a:spcPts val="0"/>
              </a:spcBef>
              <a:spcAft>
                <a:spcPts val="0"/>
              </a:spcAft>
              <a:buClr>
                <a:srgbClr val="0D1B2A"/>
              </a:buClr>
              <a:buSzPts val="435"/>
              <a:buFont typeface="Roboto Mono"/>
              <a:buNone/>
            </a:pPr>
            <a:r>
              <a:rPr b="1" i="0" lang="en-US" sz="435" u="none" cap="none" strike="noStrike">
                <a:solidFill>
                  <a:srgbClr val="0D1B2A"/>
                </a:solidFill>
                <a:latin typeface="Roboto Mono"/>
                <a:ea typeface="Roboto Mono"/>
                <a:cs typeface="Roboto Mono"/>
                <a:sym typeface="Roboto Mono"/>
              </a:rPr>
              <a:t>2</a:t>
            </a:r>
            <a:endParaRPr b="0" i="0" sz="435" u="none" cap="none" strike="noStrike">
              <a:solidFill>
                <a:schemeClr val="dk1"/>
              </a:solidFill>
              <a:latin typeface="Calibri"/>
              <a:ea typeface="Calibri"/>
              <a:cs typeface="Calibri"/>
              <a:sym typeface="Calibri"/>
            </a:endParaRPr>
          </a:p>
        </p:txBody>
      </p:sp>
      <p:sp>
        <p:nvSpPr>
          <p:cNvPr id="464" name="Google Shape;464;p13"/>
          <p:cNvSpPr/>
          <p:nvPr/>
        </p:nvSpPr>
        <p:spPr>
          <a:xfrm>
            <a:off x="2857500" y="1698427"/>
            <a:ext cx="1714500" cy="92869"/>
          </a:xfrm>
          <a:prstGeom prst="rect">
            <a:avLst/>
          </a:prstGeom>
          <a:noFill/>
          <a:ln>
            <a:noFill/>
          </a:ln>
        </p:spPr>
        <p:txBody>
          <a:bodyPr anchorCtr="0" anchor="t" bIns="0" lIns="0" spcFirstLastPara="1" rIns="0" wrap="square" tIns="0">
            <a:noAutofit/>
          </a:bodyPr>
          <a:lstStyle/>
          <a:p>
            <a:pPr indent="0" lvl="0" marL="0" marR="0" rtl="0" algn="ctr">
              <a:lnSpc>
                <a:spcPct val="135658"/>
              </a:lnSpc>
              <a:spcBef>
                <a:spcPts val="0"/>
              </a:spcBef>
              <a:spcAft>
                <a:spcPts val="0"/>
              </a:spcAft>
              <a:buClr>
                <a:srgbClr val="B0BEC5"/>
              </a:buClr>
              <a:buSzPts val="516"/>
              <a:buFont typeface="Roboto Mono"/>
              <a:buNone/>
            </a:pPr>
            <a:r>
              <a:rPr b="0" i="0" lang="en-US" sz="516" u="none" cap="none" strike="noStrike">
                <a:solidFill>
                  <a:srgbClr val="B0BEC5"/>
                </a:solidFill>
                <a:latin typeface="Roboto Mono"/>
                <a:ea typeface="Roboto Mono"/>
                <a:cs typeface="Roboto Mono"/>
                <a:sym typeface="Roboto Mono"/>
              </a:rPr>
              <a:t>POST </a:t>
            </a:r>
            <a:r>
              <a:rPr b="0" i="0" lang="en-US" sz="516" u="none" cap="none" strike="noStrike">
                <a:solidFill>
                  <a:srgbClr val="00E5FF"/>
                </a:solidFill>
                <a:latin typeface="Roboto Mono"/>
                <a:ea typeface="Roboto Mono"/>
                <a:cs typeface="Roboto Mono"/>
                <a:sym typeface="Roboto Mono"/>
              </a:rPr>
              <a:t>/crypto/encrypt-dek</a:t>
            </a:r>
            <a:r>
              <a:rPr b="0" i="0" lang="en-US" sz="516" u="none" cap="none" strike="noStrike">
                <a:solidFill>
                  <a:srgbClr val="B0BEC5"/>
                </a:solidFill>
                <a:latin typeface="Roboto Mono"/>
                <a:ea typeface="Roboto Mono"/>
                <a:cs typeface="Roboto Mono"/>
                <a:sym typeface="Roboto Mono"/>
              </a:rPr>
              <a:t> [mTLS]</a:t>
            </a:r>
            <a:endParaRPr b="0" i="0" sz="516" u="none" cap="none" strike="noStrike">
              <a:solidFill>
                <a:schemeClr val="dk1"/>
              </a:solidFill>
              <a:latin typeface="Calibri"/>
              <a:ea typeface="Calibri"/>
              <a:cs typeface="Calibri"/>
              <a:sym typeface="Calibri"/>
            </a:endParaRPr>
          </a:p>
        </p:txBody>
      </p:sp>
      <p:sp>
        <p:nvSpPr>
          <p:cNvPr id="465" name="Google Shape;465;p13"/>
          <p:cNvSpPr/>
          <p:nvPr/>
        </p:nvSpPr>
        <p:spPr>
          <a:xfrm>
            <a:off x="2857500" y="1819870"/>
            <a:ext cx="1714500" cy="14288"/>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13"/>
          <p:cNvSpPr/>
          <p:nvPr/>
        </p:nvSpPr>
        <p:spPr>
          <a:xfrm>
            <a:off x="285750" y="1955602"/>
            <a:ext cx="8572500" cy="371475"/>
          </a:xfrm>
          <a:prstGeom prst="rect">
            <a:avLst/>
          </a:prstGeom>
          <a:solidFill>
            <a:srgbClr val="FFFFFF">
              <a:alpha val="19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13"/>
          <p:cNvSpPr/>
          <p:nvPr/>
        </p:nvSpPr>
        <p:spPr>
          <a:xfrm>
            <a:off x="285750" y="2319933"/>
            <a:ext cx="8572500" cy="714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13"/>
          <p:cNvSpPr/>
          <p:nvPr/>
        </p:nvSpPr>
        <p:spPr>
          <a:xfrm>
            <a:off x="4507706" y="2077045"/>
            <a:ext cx="128588" cy="128588"/>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13"/>
          <p:cNvSpPr/>
          <p:nvPr/>
        </p:nvSpPr>
        <p:spPr>
          <a:xfrm>
            <a:off x="4507706" y="2077045"/>
            <a:ext cx="128588" cy="128588"/>
          </a:xfrm>
          <a:prstGeom prst="rect">
            <a:avLst/>
          </a:prstGeom>
          <a:noFill/>
          <a:ln>
            <a:noFill/>
          </a:ln>
        </p:spPr>
        <p:txBody>
          <a:bodyPr anchorCtr="0" anchor="ctr" bIns="0" lIns="0" spcFirstLastPara="1" rIns="0" wrap="square" tIns="0">
            <a:noAutofit/>
          </a:bodyPr>
          <a:lstStyle/>
          <a:p>
            <a:pPr indent="0" lvl="0" marL="0" marR="0" rtl="0" algn="ctr">
              <a:lnSpc>
                <a:spcPct val="137931"/>
              </a:lnSpc>
              <a:spcBef>
                <a:spcPts val="0"/>
              </a:spcBef>
              <a:spcAft>
                <a:spcPts val="0"/>
              </a:spcAft>
              <a:buClr>
                <a:srgbClr val="0D1B2A"/>
              </a:buClr>
              <a:buSzPts val="435"/>
              <a:buFont typeface="Roboto Mono"/>
              <a:buNone/>
            </a:pPr>
            <a:r>
              <a:rPr b="1" i="0" lang="en-US" sz="435" u="none" cap="none" strike="noStrike">
                <a:solidFill>
                  <a:srgbClr val="0D1B2A"/>
                </a:solidFill>
                <a:latin typeface="Roboto Mono"/>
                <a:ea typeface="Roboto Mono"/>
                <a:cs typeface="Roboto Mono"/>
                <a:sym typeface="Roboto Mono"/>
              </a:rPr>
              <a:t>3</a:t>
            </a:r>
            <a:endParaRPr b="0" i="0" sz="435" u="none" cap="none" strike="noStrike">
              <a:solidFill>
                <a:schemeClr val="dk1"/>
              </a:solidFill>
              <a:latin typeface="Calibri"/>
              <a:ea typeface="Calibri"/>
              <a:cs typeface="Calibri"/>
              <a:sym typeface="Calibri"/>
            </a:endParaRPr>
          </a:p>
        </p:txBody>
      </p:sp>
      <p:sp>
        <p:nvSpPr>
          <p:cNvPr id="470" name="Google Shape;470;p13"/>
          <p:cNvSpPr/>
          <p:nvPr/>
        </p:nvSpPr>
        <p:spPr>
          <a:xfrm>
            <a:off x="4572000" y="2073473"/>
            <a:ext cx="1714500" cy="92869"/>
          </a:xfrm>
          <a:prstGeom prst="rect">
            <a:avLst/>
          </a:prstGeom>
          <a:noFill/>
          <a:ln>
            <a:noFill/>
          </a:ln>
        </p:spPr>
        <p:txBody>
          <a:bodyPr anchorCtr="0" anchor="t" bIns="0" lIns="0" spcFirstLastPara="1" rIns="0" wrap="square" tIns="0">
            <a:noAutofit/>
          </a:bodyPr>
          <a:lstStyle/>
          <a:p>
            <a:pPr indent="0" lvl="0" marL="0" marR="0" rtl="0" algn="ctr">
              <a:lnSpc>
                <a:spcPct val="135658"/>
              </a:lnSpc>
              <a:spcBef>
                <a:spcPts val="0"/>
              </a:spcBef>
              <a:spcAft>
                <a:spcPts val="0"/>
              </a:spcAft>
              <a:buClr>
                <a:srgbClr val="B0BEC5"/>
              </a:buClr>
              <a:buSzPts val="516"/>
              <a:buFont typeface="Roboto Mono"/>
              <a:buNone/>
            </a:pPr>
            <a:r>
              <a:rPr b="0" i="0" lang="en-US" sz="516" u="none" cap="none" strike="noStrike">
                <a:solidFill>
                  <a:srgbClr val="B0BEC5"/>
                </a:solidFill>
                <a:latin typeface="Roboto Mono"/>
                <a:ea typeface="Roboto Mono"/>
                <a:cs typeface="Roboto Mono"/>
                <a:sym typeface="Roboto Mono"/>
              </a:rPr>
              <a:t>transit/encrypt (DEK, KEK_v</a:t>
            </a:r>
            <a:r>
              <a:rPr b="0" i="0" lang="en-US" sz="516" u="none" cap="none" strike="noStrike">
                <a:solidFill>
                  <a:srgbClr val="00E5FF"/>
                </a:solidFill>
                <a:latin typeface="Roboto Mono"/>
                <a:ea typeface="Roboto Mono"/>
                <a:cs typeface="Roboto Mono"/>
                <a:sym typeface="Roboto Mono"/>
              </a:rPr>
              <a:t>N</a:t>
            </a:r>
            <a:r>
              <a:rPr b="0" i="0" lang="en-US" sz="516" u="none" cap="none" strike="noStrike">
                <a:solidFill>
                  <a:srgbClr val="B0BEC5"/>
                </a:solidFill>
                <a:latin typeface="Roboto Mono"/>
                <a:ea typeface="Roboto Mono"/>
                <a:cs typeface="Roboto Mono"/>
                <a:sym typeface="Roboto Mono"/>
              </a:rPr>
              <a:t>)</a:t>
            </a:r>
            <a:endParaRPr b="0" i="0" sz="516" u="none" cap="none" strike="noStrike">
              <a:solidFill>
                <a:schemeClr val="dk1"/>
              </a:solidFill>
              <a:latin typeface="Calibri"/>
              <a:ea typeface="Calibri"/>
              <a:cs typeface="Calibri"/>
              <a:sym typeface="Calibri"/>
            </a:endParaRPr>
          </a:p>
        </p:txBody>
      </p:sp>
      <p:sp>
        <p:nvSpPr>
          <p:cNvPr id="471" name="Google Shape;471;p13"/>
          <p:cNvSpPr/>
          <p:nvPr/>
        </p:nvSpPr>
        <p:spPr>
          <a:xfrm>
            <a:off x="4572000" y="2194917"/>
            <a:ext cx="1714500" cy="14288"/>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13"/>
          <p:cNvSpPr/>
          <p:nvPr/>
        </p:nvSpPr>
        <p:spPr>
          <a:xfrm>
            <a:off x="6222206" y="2444948"/>
            <a:ext cx="128588" cy="128588"/>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13"/>
          <p:cNvSpPr/>
          <p:nvPr/>
        </p:nvSpPr>
        <p:spPr>
          <a:xfrm>
            <a:off x="6222206" y="2444948"/>
            <a:ext cx="128588" cy="128588"/>
          </a:xfrm>
          <a:prstGeom prst="rect">
            <a:avLst/>
          </a:prstGeom>
          <a:noFill/>
          <a:ln>
            <a:noFill/>
          </a:ln>
        </p:spPr>
        <p:txBody>
          <a:bodyPr anchorCtr="0" anchor="ctr" bIns="0" lIns="0" spcFirstLastPara="1" rIns="0" wrap="square" tIns="0">
            <a:noAutofit/>
          </a:bodyPr>
          <a:lstStyle/>
          <a:p>
            <a:pPr indent="0" lvl="0" marL="0" marR="0" rtl="0" algn="ctr">
              <a:lnSpc>
                <a:spcPct val="137931"/>
              </a:lnSpc>
              <a:spcBef>
                <a:spcPts val="0"/>
              </a:spcBef>
              <a:spcAft>
                <a:spcPts val="0"/>
              </a:spcAft>
              <a:buClr>
                <a:srgbClr val="0D1B2A"/>
              </a:buClr>
              <a:buSzPts val="435"/>
              <a:buFont typeface="Roboto Mono"/>
              <a:buNone/>
            </a:pPr>
            <a:r>
              <a:rPr b="1" i="0" lang="en-US" sz="435" u="none" cap="none" strike="noStrike">
                <a:solidFill>
                  <a:srgbClr val="0D1B2A"/>
                </a:solidFill>
                <a:latin typeface="Roboto Mono"/>
                <a:ea typeface="Roboto Mono"/>
                <a:cs typeface="Roboto Mono"/>
                <a:sym typeface="Roboto Mono"/>
              </a:rPr>
              <a:t>4</a:t>
            </a:r>
            <a:endParaRPr b="0" i="0" sz="435" u="none" cap="none" strike="noStrike">
              <a:solidFill>
                <a:schemeClr val="dk1"/>
              </a:solidFill>
              <a:latin typeface="Calibri"/>
              <a:ea typeface="Calibri"/>
              <a:cs typeface="Calibri"/>
              <a:sym typeface="Calibri"/>
            </a:endParaRPr>
          </a:p>
        </p:txBody>
      </p:sp>
      <p:sp>
        <p:nvSpPr>
          <p:cNvPr id="474" name="Google Shape;474;p13"/>
          <p:cNvSpPr/>
          <p:nvPr/>
        </p:nvSpPr>
        <p:spPr>
          <a:xfrm>
            <a:off x="6286500" y="2441377"/>
            <a:ext cx="1714500" cy="92869"/>
          </a:xfrm>
          <a:prstGeom prst="rect">
            <a:avLst/>
          </a:prstGeom>
          <a:noFill/>
          <a:ln>
            <a:noFill/>
          </a:ln>
        </p:spPr>
        <p:txBody>
          <a:bodyPr anchorCtr="0" anchor="t" bIns="0" lIns="0" spcFirstLastPara="1" rIns="0" wrap="square" tIns="0">
            <a:noAutofit/>
          </a:bodyPr>
          <a:lstStyle/>
          <a:p>
            <a:pPr indent="0" lvl="0" marL="0" marR="0" rtl="0" algn="ctr">
              <a:lnSpc>
                <a:spcPct val="135658"/>
              </a:lnSpc>
              <a:spcBef>
                <a:spcPts val="0"/>
              </a:spcBef>
              <a:spcAft>
                <a:spcPts val="0"/>
              </a:spcAft>
              <a:buClr>
                <a:srgbClr val="B0BEC5"/>
              </a:buClr>
              <a:buSzPts val="516"/>
              <a:buFont typeface="Roboto Mono"/>
              <a:buNone/>
            </a:pPr>
            <a:r>
              <a:rPr b="0" i="0" lang="en-US" sz="516" u="none" cap="none" strike="noStrike">
                <a:solidFill>
                  <a:srgbClr val="B0BEC5"/>
                </a:solidFill>
                <a:latin typeface="Roboto Mono"/>
                <a:ea typeface="Roboto Mono"/>
                <a:cs typeface="Roboto Mono"/>
                <a:sym typeface="Roboto Mono"/>
              </a:rPr>
              <a:t>PKCS#11 encrypt (KEK)</a:t>
            </a:r>
            <a:endParaRPr b="0" i="0" sz="516" u="none" cap="none" strike="noStrike">
              <a:solidFill>
                <a:schemeClr val="dk1"/>
              </a:solidFill>
              <a:latin typeface="Calibri"/>
              <a:ea typeface="Calibri"/>
              <a:cs typeface="Calibri"/>
              <a:sym typeface="Calibri"/>
            </a:endParaRPr>
          </a:p>
        </p:txBody>
      </p:sp>
      <p:sp>
        <p:nvSpPr>
          <p:cNvPr id="475" name="Google Shape;475;p13"/>
          <p:cNvSpPr/>
          <p:nvPr/>
        </p:nvSpPr>
        <p:spPr>
          <a:xfrm>
            <a:off x="6286500" y="2562820"/>
            <a:ext cx="1714500" cy="14288"/>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13"/>
          <p:cNvSpPr/>
          <p:nvPr/>
        </p:nvSpPr>
        <p:spPr>
          <a:xfrm>
            <a:off x="285750" y="2698552"/>
            <a:ext cx="8572500" cy="371475"/>
          </a:xfrm>
          <a:prstGeom prst="rect">
            <a:avLst/>
          </a:prstGeom>
          <a:solidFill>
            <a:srgbClr val="FFFFFF">
              <a:alpha val="19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13"/>
          <p:cNvSpPr/>
          <p:nvPr/>
        </p:nvSpPr>
        <p:spPr>
          <a:xfrm>
            <a:off x="285750" y="3062883"/>
            <a:ext cx="8572500" cy="714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13"/>
          <p:cNvSpPr/>
          <p:nvPr/>
        </p:nvSpPr>
        <p:spPr>
          <a:xfrm>
            <a:off x="7936706" y="2819995"/>
            <a:ext cx="128588" cy="128588"/>
          </a:xfrm>
          <a:prstGeom prst="rect">
            <a:avLst/>
          </a:prstGeom>
          <a:solidFill>
            <a:srgbClr val="00E6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13"/>
          <p:cNvSpPr/>
          <p:nvPr/>
        </p:nvSpPr>
        <p:spPr>
          <a:xfrm>
            <a:off x="7936706" y="2819995"/>
            <a:ext cx="128588" cy="128588"/>
          </a:xfrm>
          <a:prstGeom prst="rect">
            <a:avLst/>
          </a:prstGeom>
          <a:noFill/>
          <a:ln>
            <a:noFill/>
          </a:ln>
        </p:spPr>
        <p:txBody>
          <a:bodyPr anchorCtr="0" anchor="ctr" bIns="0" lIns="0" spcFirstLastPara="1" rIns="0" wrap="square" tIns="0">
            <a:noAutofit/>
          </a:bodyPr>
          <a:lstStyle/>
          <a:p>
            <a:pPr indent="0" lvl="0" marL="0" marR="0" rtl="0" algn="ctr">
              <a:lnSpc>
                <a:spcPct val="137931"/>
              </a:lnSpc>
              <a:spcBef>
                <a:spcPts val="0"/>
              </a:spcBef>
              <a:spcAft>
                <a:spcPts val="0"/>
              </a:spcAft>
              <a:buClr>
                <a:srgbClr val="0D1B2A"/>
              </a:buClr>
              <a:buSzPts val="435"/>
              <a:buFont typeface="Roboto Mono"/>
              <a:buNone/>
            </a:pPr>
            <a:r>
              <a:rPr b="1" i="0" lang="en-US" sz="435" u="none" cap="none" strike="noStrike">
                <a:solidFill>
                  <a:srgbClr val="0D1B2A"/>
                </a:solidFill>
                <a:latin typeface="Roboto Mono"/>
                <a:ea typeface="Roboto Mono"/>
                <a:cs typeface="Roboto Mono"/>
                <a:sym typeface="Roboto Mono"/>
              </a:rPr>
              <a:t>5</a:t>
            </a:r>
            <a:endParaRPr b="0" i="0" sz="435" u="none" cap="none" strike="noStrike">
              <a:solidFill>
                <a:schemeClr val="dk1"/>
              </a:solidFill>
              <a:latin typeface="Calibri"/>
              <a:ea typeface="Calibri"/>
              <a:cs typeface="Calibri"/>
              <a:sym typeface="Calibri"/>
            </a:endParaRPr>
          </a:p>
        </p:txBody>
      </p:sp>
      <p:sp>
        <p:nvSpPr>
          <p:cNvPr id="480" name="Google Shape;480;p13"/>
          <p:cNvSpPr/>
          <p:nvPr/>
        </p:nvSpPr>
        <p:spPr>
          <a:xfrm>
            <a:off x="4807744" y="2814638"/>
            <a:ext cx="1243013" cy="94655"/>
          </a:xfrm>
          <a:prstGeom prst="rect">
            <a:avLst/>
          </a:prstGeom>
          <a:noFill/>
          <a:ln>
            <a:noFill/>
          </a:ln>
        </p:spPr>
        <p:txBody>
          <a:bodyPr anchorCtr="0" anchor="t" bIns="0" lIns="0" spcFirstLastPara="1" rIns="0" wrap="square" tIns="0">
            <a:noAutofit/>
          </a:bodyPr>
          <a:lstStyle/>
          <a:p>
            <a:pPr indent="0" lvl="0" marL="0" marR="0" rtl="0" algn="ctr">
              <a:lnSpc>
                <a:spcPct val="135658"/>
              </a:lnSpc>
              <a:spcBef>
                <a:spcPts val="0"/>
              </a:spcBef>
              <a:spcAft>
                <a:spcPts val="0"/>
              </a:spcAft>
              <a:buClr>
                <a:srgbClr val="00E676"/>
              </a:buClr>
              <a:buSzPts val="516"/>
              <a:buFont typeface="Roboto Mono"/>
              <a:buNone/>
            </a:pPr>
            <a:r>
              <a:rPr b="0" i="0" lang="en-US" sz="516" u="none" cap="none" strike="noStrike">
                <a:solidFill>
                  <a:srgbClr val="00E676"/>
                </a:solidFill>
                <a:latin typeface="Roboto Mono"/>
                <a:ea typeface="Roboto Mono"/>
                <a:cs typeface="Roboto Mono"/>
                <a:sym typeface="Roboto Mono"/>
              </a:rPr>
              <a:t>← encrypted_dek + kek_version</a:t>
            </a:r>
            <a:endParaRPr b="0" i="0" sz="516" u="none" cap="none" strike="noStrike">
              <a:solidFill>
                <a:schemeClr val="dk1"/>
              </a:solidFill>
              <a:latin typeface="Calibri"/>
              <a:ea typeface="Calibri"/>
              <a:cs typeface="Calibri"/>
              <a:sym typeface="Calibri"/>
            </a:endParaRPr>
          </a:p>
        </p:txBody>
      </p:sp>
      <p:sp>
        <p:nvSpPr>
          <p:cNvPr id="481" name="Google Shape;481;p13"/>
          <p:cNvSpPr/>
          <p:nvPr/>
        </p:nvSpPr>
        <p:spPr>
          <a:xfrm>
            <a:off x="2857500" y="2937867"/>
            <a:ext cx="5143500" cy="14288"/>
          </a:xfrm>
          <a:prstGeom prst="rect">
            <a:avLst/>
          </a:prstGeom>
          <a:solidFill>
            <a:srgbClr val="00E6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13"/>
          <p:cNvSpPr/>
          <p:nvPr/>
        </p:nvSpPr>
        <p:spPr>
          <a:xfrm>
            <a:off x="2793206" y="3187898"/>
            <a:ext cx="128588" cy="128588"/>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13"/>
          <p:cNvSpPr/>
          <p:nvPr/>
        </p:nvSpPr>
        <p:spPr>
          <a:xfrm>
            <a:off x="2793206" y="3187898"/>
            <a:ext cx="128588" cy="128588"/>
          </a:xfrm>
          <a:prstGeom prst="rect">
            <a:avLst/>
          </a:prstGeom>
          <a:noFill/>
          <a:ln>
            <a:noFill/>
          </a:ln>
        </p:spPr>
        <p:txBody>
          <a:bodyPr anchorCtr="0" anchor="ctr" bIns="0" lIns="0" spcFirstLastPara="1" rIns="0" wrap="square" tIns="0">
            <a:noAutofit/>
          </a:bodyPr>
          <a:lstStyle/>
          <a:p>
            <a:pPr indent="0" lvl="0" marL="0" marR="0" rtl="0" algn="ctr">
              <a:lnSpc>
                <a:spcPct val="137931"/>
              </a:lnSpc>
              <a:spcBef>
                <a:spcPts val="0"/>
              </a:spcBef>
              <a:spcAft>
                <a:spcPts val="0"/>
              </a:spcAft>
              <a:buClr>
                <a:srgbClr val="0D1B2A"/>
              </a:buClr>
              <a:buSzPts val="435"/>
              <a:buFont typeface="Roboto Mono"/>
              <a:buNone/>
            </a:pPr>
            <a:r>
              <a:rPr b="1" i="0" lang="en-US" sz="435" u="none" cap="none" strike="noStrike">
                <a:solidFill>
                  <a:srgbClr val="0D1B2A"/>
                </a:solidFill>
                <a:latin typeface="Roboto Mono"/>
                <a:ea typeface="Roboto Mono"/>
                <a:cs typeface="Roboto Mono"/>
                <a:sym typeface="Roboto Mono"/>
              </a:rPr>
              <a:t>6</a:t>
            </a:r>
            <a:endParaRPr b="0" i="0" sz="435" u="none" cap="none" strike="noStrike">
              <a:solidFill>
                <a:schemeClr val="dk1"/>
              </a:solidFill>
              <a:latin typeface="Calibri"/>
              <a:ea typeface="Calibri"/>
              <a:cs typeface="Calibri"/>
              <a:sym typeface="Calibri"/>
            </a:endParaRPr>
          </a:p>
        </p:txBody>
      </p:sp>
      <p:sp>
        <p:nvSpPr>
          <p:cNvPr id="484" name="Google Shape;484;p13"/>
          <p:cNvSpPr/>
          <p:nvPr/>
        </p:nvSpPr>
        <p:spPr>
          <a:xfrm>
            <a:off x="3114675" y="3205758"/>
            <a:ext cx="2014538" cy="92869"/>
          </a:xfrm>
          <a:prstGeom prst="rect">
            <a:avLst/>
          </a:prstGeom>
          <a:noFill/>
          <a:ln>
            <a:noFill/>
          </a:ln>
        </p:spPr>
        <p:txBody>
          <a:bodyPr anchorCtr="0" anchor="t" bIns="0" lIns="0" spcFirstLastPara="1" rIns="0" wrap="square" tIns="0">
            <a:noAutofit/>
          </a:bodyPr>
          <a:lstStyle/>
          <a:p>
            <a:pPr indent="0" lvl="0" marL="0" marR="0" rtl="0" algn="l">
              <a:lnSpc>
                <a:spcPct val="135658"/>
              </a:lnSpc>
              <a:spcBef>
                <a:spcPts val="0"/>
              </a:spcBef>
              <a:spcAft>
                <a:spcPts val="0"/>
              </a:spcAft>
              <a:buClr>
                <a:srgbClr val="FFAB40"/>
              </a:buClr>
              <a:buSzPts val="516"/>
              <a:buFont typeface="Roboto Mono"/>
              <a:buNone/>
            </a:pPr>
            <a:r>
              <a:rPr b="0" i="0" lang="en-US" sz="516" u="none" cap="none" strike="noStrike">
                <a:solidFill>
                  <a:srgbClr val="FFAB40"/>
                </a:solidFill>
                <a:latin typeface="Roboto Mono"/>
                <a:ea typeface="Roboto Mono"/>
                <a:cs typeface="Roboto Mono"/>
                <a:sym typeface="Roboto Mono"/>
              </a:rPr>
              <a:t>Cache DEK (TTL: 60 min); Open encryption stream</a:t>
            </a:r>
            <a:endParaRPr b="0" i="0" sz="516" u="none" cap="none" strike="noStrike">
              <a:solidFill>
                <a:schemeClr val="dk1"/>
              </a:solidFill>
              <a:latin typeface="Calibri"/>
              <a:ea typeface="Calibri"/>
              <a:cs typeface="Calibri"/>
              <a:sym typeface="Calibri"/>
            </a:endParaRPr>
          </a:p>
        </p:txBody>
      </p:sp>
      <p:sp>
        <p:nvSpPr>
          <p:cNvPr id="485" name="Google Shape;485;p13"/>
          <p:cNvSpPr/>
          <p:nvPr/>
        </p:nvSpPr>
        <p:spPr>
          <a:xfrm>
            <a:off x="285750" y="3441502"/>
            <a:ext cx="8572500" cy="371475"/>
          </a:xfrm>
          <a:prstGeom prst="rect">
            <a:avLst/>
          </a:prstGeom>
          <a:solidFill>
            <a:srgbClr val="FFFFFF">
              <a:alpha val="19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13"/>
          <p:cNvSpPr/>
          <p:nvPr/>
        </p:nvSpPr>
        <p:spPr>
          <a:xfrm>
            <a:off x="285750" y="3805833"/>
            <a:ext cx="8572500" cy="714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13"/>
          <p:cNvSpPr/>
          <p:nvPr/>
        </p:nvSpPr>
        <p:spPr>
          <a:xfrm>
            <a:off x="1078706" y="3562945"/>
            <a:ext cx="128588" cy="128588"/>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13"/>
          <p:cNvSpPr/>
          <p:nvPr/>
        </p:nvSpPr>
        <p:spPr>
          <a:xfrm>
            <a:off x="1078706" y="3562945"/>
            <a:ext cx="128588" cy="128588"/>
          </a:xfrm>
          <a:prstGeom prst="rect">
            <a:avLst/>
          </a:prstGeom>
          <a:noFill/>
          <a:ln>
            <a:noFill/>
          </a:ln>
        </p:spPr>
        <p:txBody>
          <a:bodyPr anchorCtr="0" anchor="ctr" bIns="0" lIns="0" spcFirstLastPara="1" rIns="0" wrap="square" tIns="0">
            <a:noAutofit/>
          </a:bodyPr>
          <a:lstStyle/>
          <a:p>
            <a:pPr indent="0" lvl="0" marL="0" marR="0" rtl="0" algn="ctr">
              <a:lnSpc>
                <a:spcPct val="137931"/>
              </a:lnSpc>
              <a:spcBef>
                <a:spcPts val="0"/>
              </a:spcBef>
              <a:spcAft>
                <a:spcPts val="0"/>
              </a:spcAft>
              <a:buClr>
                <a:srgbClr val="0D1B2A"/>
              </a:buClr>
              <a:buSzPts val="435"/>
              <a:buFont typeface="Roboto Mono"/>
              <a:buNone/>
            </a:pPr>
            <a:r>
              <a:rPr b="1" i="0" lang="en-US" sz="435" u="none" cap="none" strike="noStrike">
                <a:solidFill>
                  <a:srgbClr val="0D1B2A"/>
                </a:solidFill>
                <a:latin typeface="Roboto Mono"/>
                <a:ea typeface="Roboto Mono"/>
                <a:cs typeface="Roboto Mono"/>
                <a:sym typeface="Roboto Mono"/>
              </a:rPr>
              <a:t>7</a:t>
            </a:r>
            <a:endParaRPr b="0" i="0" sz="435" u="none" cap="none" strike="noStrike">
              <a:solidFill>
                <a:schemeClr val="dk1"/>
              </a:solidFill>
              <a:latin typeface="Calibri"/>
              <a:ea typeface="Calibri"/>
              <a:cs typeface="Calibri"/>
              <a:sym typeface="Calibri"/>
            </a:endParaRPr>
          </a:p>
        </p:txBody>
      </p:sp>
      <p:sp>
        <p:nvSpPr>
          <p:cNvPr id="489" name="Google Shape;489;p13"/>
          <p:cNvSpPr/>
          <p:nvPr/>
        </p:nvSpPr>
        <p:spPr>
          <a:xfrm>
            <a:off x="1143000" y="3512939"/>
            <a:ext cx="1714500" cy="185738"/>
          </a:xfrm>
          <a:prstGeom prst="rect">
            <a:avLst/>
          </a:prstGeom>
          <a:noFill/>
          <a:ln>
            <a:noFill/>
          </a:ln>
        </p:spPr>
        <p:txBody>
          <a:bodyPr anchorCtr="0" anchor="t" bIns="0" lIns="0" spcFirstLastPara="1" rIns="0" wrap="square" tIns="0">
            <a:noAutofit/>
          </a:bodyPr>
          <a:lstStyle/>
          <a:p>
            <a:pPr indent="0" lvl="0" marL="0" marR="0" rtl="0" algn="ctr">
              <a:lnSpc>
                <a:spcPct val="135658"/>
              </a:lnSpc>
              <a:spcBef>
                <a:spcPts val="0"/>
              </a:spcBef>
              <a:spcAft>
                <a:spcPts val="0"/>
              </a:spcAft>
              <a:buClr>
                <a:srgbClr val="00E5FF"/>
              </a:buClr>
              <a:buSzPts val="516"/>
              <a:buFont typeface="Roboto Mono"/>
              <a:buNone/>
            </a:pPr>
            <a:r>
              <a:rPr b="0" i="0" lang="en-US" sz="516" u="none" cap="none" strike="noStrike">
                <a:solidFill>
                  <a:srgbClr val="00E5FF"/>
                </a:solidFill>
                <a:latin typeface="Roboto Mono"/>
                <a:ea typeface="Roboto Mono"/>
                <a:cs typeface="Roboto Mono"/>
                <a:sym typeface="Roboto Mono"/>
              </a:rPr>
              <a:t>encryptChunk</a:t>
            </a:r>
            <a:r>
              <a:rPr b="0" i="0" lang="en-US" sz="516" u="none" cap="none" strike="noStrike">
                <a:solidFill>
                  <a:srgbClr val="B0BEC5"/>
                </a:solidFill>
                <a:latin typeface="Roboto Mono"/>
                <a:ea typeface="Roboto Mono"/>
                <a:cs typeface="Roboto Mono"/>
                <a:sym typeface="Roboto Mono"/>
              </a:rPr>
              <a:t>(chunk_N) — Repeated per chunk</a:t>
            </a:r>
            <a:endParaRPr b="0" i="0" sz="516" u="none" cap="none" strike="noStrike">
              <a:solidFill>
                <a:schemeClr val="dk1"/>
              </a:solidFill>
              <a:latin typeface="Calibri"/>
              <a:ea typeface="Calibri"/>
              <a:cs typeface="Calibri"/>
              <a:sym typeface="Calibri"/>
            </a:endParaRPr>
          </a:p>
        </p:txBody>
      </p:sp>
      <p:sp>
        <p:nvSpPr>
          <p:cNvPr id="490" name="Google Shape;490;p13"/>
          <p:cNvSpPr/>
          <p:nvPr/>
        </p:nvSpPr>
        <p:spPr>
          <a:xfrm>
            <a:off x="1143000" y="3727252"/>
            <a:ext cx="1714500" cy="14288"/>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13"/>
          <p:cNvSpPr/>
          <p:nvPr/>
        </p:nvSpPr>
        <p:spPr>
          <a:xfrm>
            <a:off x="2793206" y="3930848"/>
            <a:ext cx="128588" cy="128588"/>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13"/>
          <p:cNvSpPr/>
          <p:nvPr/>
        </p:nvSpPr>
        <p:spPr>
          <a:xfrm>
            <a:off x="2793206" y="3930848"/>
            <a:ext cx="128588" cy="128588"/>
          </a:xfrm>
          <a:prstGeom prst="rect">
            <a:avLst/>
          </a:prstGeom>
          <a:noFill/>
          <a:ln>
            <a:noFill/>
          </a:ln>
        </p:spPr>
        <p:txBody>
          <a:bodyPr anchorCtr="0" anchor="ctr" bIns="0" lIns="0" spcFirstLastPara="1" rIns="0" wrap="square" tIns="0">
            <a:noAutofit/>
          </a:bodyPr>
          <a:lstStyle/>
          <a:p>
            <a:pPr indent="0" lvl="0" marL="0" marR="0" rtl="0" algn="ctr">
              <a:lnSpc>
                <a:spcPct val="137931"/>
              </a:lnSpc>
              <a:spcBef>
                <a:spcPts val="0"/>
              </a:spcBef>
              <a:spcAft>
                <a:spcPts val="0"/>
              </a:spcAft>
              <a:buClr>
                <a:srgbClr val="0D1B2A"/>
              </a:buClr>
              <a:buSzPts val="435"/>
              <a:buFont typeface="Roboto Mono"/>
              <a:buNone/>
            </a:pPr>
            <a:r>
              <a:rPr b="1" i="0" lang="en-US" sz="435" u="none" cap="none" strike="noStrike">
                <a:solidFill>
                  <a:srgbClr val="0D1B2A"/>
                </a:solidFill>
                <a:latin typeface="Roboto Mono"/>
                <a:ea typeface="Roboto Mono"/>
                <a:cs typeface="Roboto Mono"/>
                <a:sym typeface="Roboto Mono"/>
              </a:rPr>
              <a:t>8</a:t>
            </a:r>
            <a:endParaRPr b="0" i="0" sz="435" u="none" cap="none" strike="noStrike">
              <a:solidFill>
                <a:schemeClr val="dk1"/>
              </a:solidFill>
              <a:latin typeface="Calibri"/>
              <a:ea typeface="Calibri"/>
              <a:cs typeface="Calibri"/>
              <a:sym typeface="Calibri"/>
            </a:endParaRPr>
          </a:p>
        </p:txBody>
      </p:sp>
      <p:sp>
        <p:nvSpPr>
          <p:cNvPr id="493" name="Google Shape;493;p13"/>
          <p:cNvSpPr/>
          <p:nvPr/>
        </p:nvSpPr>
        <p:spPr>
          <a:xfrm>
            <a:off x="3114675" y="3948708"/>
            <a:ext cx="1843088" cy="92869"/>
          </a:xfrm>
          <a:prstGeom prst="rect">
            <a:avLst/>
          </a:prstGeom>
          <a:noFill/>
          <a:ln>
            <a:noFill/>
          </a:ln>
        </p:spPr>
        <p:txBody>
          <a:bodyPr anchorCtr="0" anchor="t" bIns="0" lIns="0" spcFirstLastPara="1" rIns="0" wrap="square" tIns="0">
            <a:noAutofit/>
          </a:bodyPr>
          <a:lstStyle/>
          <a:p>
            <a:pPr indent="0" lvl="0" marL="0" marR="0" rtl="0" algn="l">
              <a:lnSpc>
                <a:spcPct val="135658"/>
              </a:lnSpc>
              <a:spcBef>
                <a:spcPts val="0"/>
              </a:spcBef>
              <a:spcAft>
                <a:spcPts val="0"/>
              </a:spcAft>
              <a:buClr>
                <a:srgbClr val="FFAB40"/>
              </a:buClr>
              <a:buSzPts val="516"/>
              <a:buFont typeface="Roboto Mono"/>
              <a:buNone/>
            </a:pPr>
            <a:r>
              <a:rPr b="0" i="0" lang="en-US" sz="516" u="none" cap="none" strike="noStrike">
                <a:solidFill>
                  <a:srgbClr val="FFAB40"/>
                </a:solidFill>
                <a:latin typeface="Roboto Mono"/>
                <a:ea typeface="Roboto Mono"/>
                <a:cs typeface="Roboto Mono"/>
                <a:sym typeface="Roboto Mono"/>
              </a:rPr>
              <a:t>AES-256-GCM encrypt chunk with unique nonce</a:t>
            </a:r>
            <a:endParaRPr b="0" i="0" sz="516" u="none" cap="none" strike="noStrike">
              <a:solidFill>
                <a:schemeClr val="dk1"/>
              </a:solidFill>
              <a:latin typeface="Calibri"/>
              <a:ea typeface="Calibri"/>
              <a:cs typeface="Calibri"/>
              <a:sym typeface="Calibri"/>
            </a:endParaRPr>
          </a:p>
        </p:txBody>
      </p:sp>
      <p:sp>
        <p:nvSpPr>
          <p:cNvPr id="494" name="Google Shape;494;p13"/>
          <p:cNvSpPr/>
          <p:nvPr/>
        </p:nvSpPr>
        <p:spPr>
          <a:xfrm>
            <a:off x="285750" y="4184452"/>
            <a:ext cx="8572500" cy="371475"/>
          </a:xfrm>
          <a:prstGeom prst="rect">
            <a:avLst/>
          </a:prstGeom>
          <a:solidFill>
            <a:srgbClr val="FFFFFF">
              <a:alpha val="19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13"/>
          <p:cNvSpPr/>
          <p:nvPr/>
        </p:nvSpPr>
        <p:spPr>
          <a:xfrm>
            <a:off x="285750" y="4548783"/>
            <a:ext cx="8572500" cy="714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13"/>
          <p:cNvSpPr/>
          <p:nvPr/>
        </p:nvSpPr>
        <p:spPr>
          <a:xfrm>
            <a:off x="2793206" y="4305895"/>
            <a:ext cx="128588" cy="128588"/>
          </a:xfrm>
          <a:prstGeom prst="rect">
            <a:avLst/>
          </a:prstGeom>
          <a:solidFill>
            <a:srgbClr val="00E6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13"/>
          <p:cNvSpPr/>
          <p:nvPr/>
        </p:nvSpPr>
        <p:spPr>
          <a:xfrm>
            <a:off x="2793206" y="4305895"/>
            <a:ext cx="128588" cy="128588"/>
          </a:xfrm>
          <a:prstGeom prst="rect">
            <a:avLst/>
          </a:prstGeom>
          <a:noFill/>
          <a:ln>
            <a:noFill/>
          </a:ln>
        </p:spPr>
        <p:txBody>
          <a:bodyPr anchorCtr="0" anchor="ctr" bIns="0" lIns="0" spcFirstLastPara="1" rIns="0" wrap="square" tIns="0">
            <a:noAutofit/>
          </a:bodyPr>
          <a:lstStyle/>
          <a:p>
            <a:pPr indent="0" lvl="0" marL="0" marR="0" rtl="0" algn="ctr">
              <a:lnSpc>
                <a:spcPct val="137931"/>
              </a:lnSpc>
              <a:spcBef>
                <a:spcPts val="0"/>
              </a:spcBef>
              <a:spcAft>
                <a:spcPts val="0"/>
              </a:spcAft>
              <a:buClr>
                <a:srgbClr val="0D1B2A"/>
              </a:buClr>
              <a:buSzPts val="435"/>
              <a:buFont typeface="Roboto Mono"/>
              <a:buNone/>
            </a:pPr>
            <a:r>
              <a:rPr b="1" i="0" lang="en-US" sz="435" u="none" cap="none" strike="noStrike">
                <a:solidFill>
                  <a:srgbClr val="0D1B2A"/>
                </a:solidFill>
                <a:latin typeface="Roboto Mono"/>
                <a:ea typeface="Roboto Mono"/>
                <a:cs typeface="Roboto Mono"/>
                <a:sym typeface="Roboto Mono"/>
              </a:rPr>
              <a:t>9</a:t>
            </a:r>
            <a:endParaRPr b="0" i="0" sz="435" u="none" cap="none" strike="noStrike">
              <a:solidFill>
                <a:schemeClr val="dk1"/>
              </a:solidFill>
              <a:latin typeface="Calibri"/>
              <a:ea typeface="Calibri"/>
              <a:cs typeface="Calibri"/>
              <a:sym typeface="Calibri"/>
            </a:endParaRPr>
          </a:p>
        </p:txBody>
      </p:sp>
      <p:sp>
        <p:nvSpPr>
          <p:cNvPr id="498" name="Google Shape;498;p13"/>
          <p:cNvSpPr/>
          <p:nvPr/>
        </p:nvSpPr>
        <p:spPr>
          <a:xfrm>
            <a:off x="1593056" y="4300538"/>
            <a:ext cx="814388" cy="94655"/>
          </a:xfrm>
          <a:prstGeom prst="rect">
            <a:avLst/>
          </a:prstGeom>
          <a:noFill/>
          <a:ln>
            <a:noFill/>
          </a:ln>
        </p:spPr>
        <p:txBody>
          <a:bodyPr anchorCtr="0" anchor="t" bIns="0" lIns="0" spcFirstLastPara="1" rIns="0" wrap="square" tIns="0">
            <a:noAutofit/>
          </a:bodyPr>
          <a:lstStyle/>
          <a:p>
            <a:pPr indent="0" lvl="0" marL="0" marR="0" rtl="0" algn="ctr">
              <a:lnSpc>
                <a:spcPct val="135658"/>
              </a:lnSpc>
              <a:spcBef>
                <a:spcPts val="0"/>
              </a:spcBef>
              <a:spcAft>
                <a:spcPts val="0"/>
              </a:spcAft>
              <a:buClr>
                <a:srgbClr val="00E676"/>
              </a:buClr>
              <a:buSzPts val="516"/>
              <a:buFont typeface="Roboto Mono"/>
              <a:buNone/>
            </a:pPr>
            <a:r>
              <a:rPr b="0" i="0" lang="en-US" sz="516" u="none" cap="none" strike="noStrike">
                <a:solidFill>
                  <a:srgbClr val="00E676"/>
                </a:solidFill>
                <a:latin typeface="Roboto Mono"/>
                <a:ea typeface="Roboto Mono"/>
                <a:cs typeface="Roboto Mono"/>
                <a:sym typeface="Roboto Mono"/>
              </a:rPr>
              <a:t>← encrypted_chunk_N</a:t>
            </a:r>
            <a:endParaRPr b="0" i="0" sz="516" u="none" cap="none" strike="noStrike">
              <a:solidFill>
                <a:schemeClr val="dk1"/>
              </a:solidFill>
              <a:latin typeface="Calibri"/>
              <a:ea typeface="Calibri"/>
              <a:cs typeface="Calibri"/>
              <a:sym typeface="Calibri"/>
            </a:endParaRPr>
          </a:p>
        </p:txBody>
      </p:sp>
      <p:sp>
        <p:nvSpPr>
          <p:cNvPr id="499" name="Google Shape;499;p13"/>
          <p:cNvSpPr/>
          <p:nvPr/>
        </p:nvSpPr>
        <p:spPr>
          <a:xfrm>
            <a:off x="1143000" y="4423767"/>
            <a:ext cx="1714500" cy="14288"/>
          </a:xfrm>
          <a:prstGeom prst="rect">
            <a:avLst/>
          </a:prstGeom>
          <a:solidFill>
            <a:srgbClr val="00E6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13"/>
          <p:cNvSpPr/>
          <p:nvPr/>
        </p:nvSpPr>
        <p:spPr>
          <a:xfrm>
            <a:off x="4507706" y="4673798"/>
            <a:ext cx="128588" cy="128588"/>
          </a:xfrm>
          <a:prstGeom prst="rect">
            <a:avLst/>
          </a:prstGeom>
          <a:solidFill>
            <a:srgbClr val="E040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13"/>
          <p:cNvSpPr/>
          <p:nvPr/>
        </p:nvSpPr>
        <p:spPr>
          <a:xfrm>
            <a:off x="4507706" y="4673798"/>
            <a:ext cx="128588" cy="128588"/>
          </a:xfrm>
          <a:prstGeom prst="rect">
            <a:avLst/>
          </a:prstGeom>
          <a:noFill/>
          <a:ln>
            <a:noFill/>
          </a:ln>
        </p:spPr>
        <p:txBody>
          <a:bodyPr anchorCtr="0" anchor="ctr" bIns="0" lIns="0" spcFirstLastPara="1" rIns="0" wrap="square" tIns="0">
            <a:noAutofit/>
          </a:bodyPr>
          <a:lstStyle/>
          <a:p>
            <a:pPr indent="0" lvl="0" marL="0" marR="0" rtl="0" algn="ctr">
              <a:lnSpc>
                <a:spcPct val="137931"/>
              </a:lnSpc>
              <a:spcBef>
                <a:spcPts val="0"/>
              </a:spcBef>
              <a:spcAft>
                <a:spcPts val="0"/>
              </a:spcAft>
              <a:buClr>
                <a:srgbClr val="0D1B2A"/>
              </a:buClr>
              <a:buSzPts val="435"/>
              <a:buFont typeface="Roboto Mono"/>
              <a:buNone/>
            </a:pPr>
            <a:r>
              <a:rPr b="1" i="0" lang="en-US" sz="435" u="none" cap="none" strike="noStrike">
                <a:solidFill>
                  <a:srgbClr val="0D1B2A"/>
                </a:solidFill>
                <a:latin typeface="Roboto Mono"/>
                <a:ea typeface="Roboto Mono"/>
                <a:cs typeface="Roboto Mono"/>
                <a:sym typeface="Roboto Mono"/>
              </a:rPr>
              <a:t>10</a:t>
            </a:r>
            <a:endParaRPr b="0" i="0" sz="435" u="none" cap="none" strike="noStrike">
              <a:solidFill>
                <a:schemeClr val="dk1"/>
              </a:solidFill>
              <a:latin typeface="Calibri"/>
              <a:ea typeface="Calibri"/>
              <a:cs typeface="Calibri"/>
              <a:sym typeface="Calibri"/>
            </a:endParaRPr>
          </a:p>
        </p:txBody>
      </p:sp>
      <p:sp>
        <p:nvSpPr>
          <p:cNvPr id="502" name="Google Shape;502;p13"/>
          <p:cNvSpPr/>
          <p:nvPr/>
        </p:nvSpPr>
        <p:spPr>
          <a:xfrm>
            <a:off x="3114675" y="4668441"/>
            <a:ext cx="1200150" cy="94655"/>
          </a:xfrm>
          <a:prstGeom prst="rect">
            <a:avLst/>
          </a:prstGeom>
          <a:noFill/>
          <a:ln>
            <a:noFill/>
          </a:ln>
        </p:spPr>
        <p:txBody>
          <a:bodyPr anchorCtr="0" anchor="t" bIns="0" lIns="0" spcFirstLastPara="1" rIns="0" wrap="square" tIns="0">
            <a:noAutofit/>
          </a:bodyPr>
          <a:lstStyle/>
          <a:p>
            <a:pPr indent="0" lvl="0" marL="0" marR="0" rtl="0" algn="ctr">
              <a:lnSpc>
                <a:spcPct val="135658"/>
              </a:lnSpc>
              <a:spcBef>
                <a:spcPts val="0"/>
              </a:spcBef>
              <a:spcAft>
                <a:spcPts val="0"/>
              </a:spcAft>
              <a:buClr>
                <a:srgbClr val="E040FB"/>
              </a:buClr>
              <a:buSzPts val="516"/>
              <a:buFont typeface="Roboto Mono"/>
              <a:buNone/>
            </a:pPr>
            <a:r>
              <a:rPr b="0" i="0" lang="en-US" sz="516" u="none" cap="none" strike="noStrike">
                <a:solidFill>
                  <a:srgbClr val="E040FB"/>
                </a:solidFill>
                <a:latin typeface="Roboto Mono"/>
                <a:ea typeface="Roboto Mono"/>
                <a:cs typeface="Roboto Mono"/>
                <a:sym typeface="Roboto Mono"/>
              </a:rPr>
              <a:t>WebSocket: KEK_ROTATED event</a:t>
            </a:r>
            <a:endParaRPr b="0" i="0" sz="516" u="none" cap="none" strike="noStrike">
              <a:solidFill>
                <a:schemeClr val="dk1"/>
              </a:solidFill>
              <a:latin typeface="Calibri"/>
              <a:ea typeface="Calibri"/>
              <a:cs typeface="Calibri"/>
              <a:sym typeface="Calibri"/>
            </a:endParaRPr>
          </a:p>
        </p:txBody>
      </p:sp>
      <p:sp>
        <p:nvSpPr>
          <p:cNvPr id="503" name="Google Shape;503;p13"/>
          <p:cNvSpPr/>
          <p:nvPr/>
        </p:nvSpPr>
        <p:spPr>
          <a:xfrm>
            <a:off x="285750" y="4927402"/>
            <a:ext cx="8572500" cy="371475"/>
          </a:xfrm>
          <a:prstGeom prst="rect">
            <a:avLst/>
          </a:prstGeom>
          <a:solidFill>
            <a:srgbClr val="FFFFFF">
              <a:alpha val="19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13"/>
          <p:cNvSpPr/>
          <p:nvPr/>
        </p:nvSpPr>
        <p:spPr>
          <a:xfrm>
            <a:off x="285750" y="5291733"/>
            <a:ext cx="8572500" cy="714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13"/>
          <p:cNvSpPr/>
          <p:nvPr/>
        </p:nvSpPr>
        <p:spPr>
          <a:xfrm>
            <a:off x="2793206" y="5048845"/>
            <a:ext cx="128588" cy="128588"/>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13"/>
          <p:cNvSpPr/>
          <p:nvPr/>
        </p:nvSpPr>
        <p:spPr>
          <a:xfrm>
            <a:off x="2793206" y="5048845"/>
            <a:ext cx="128588" cy="128588"/>
          </a:xfrm>
          <a:prstGeom prst="rect">
            <a:avLst/>
          </a:prstGeom>
          <a:noFill/>
          <a:ln>
            <a:noFill/>
          </a:ln>
        </p:spPr>
        <p:txBody>
          <a:bodyPr anchorCtr="0" anchor="ctr" bIns="0" lIns="0" spcFirstLastPara="1" rIns="0" wrap="square" tIns="0">
            <a:noAutofit/>
          </a:bodyPr>
          <a:lstStyle/>
          <a:p>
            <a:pPr indent="0" lvl="0" marL="0" marR="0" rtl="0" algn="ctr">
              <a:lnSpc>
                <a:spcPct val="137931"/>
              </a:lnSpc>
              <a:spcBef>
                <a:spcPts val="0"/>
              </a:spcBef>
              <a:spcAft>
                <a:spcPts val="0"/>
              </a:spcAft>
              <a:buClr>
                <a:srgbClr val="0D1B2A"/>
              </a:buClr>
              <a:buSzPts val="435"/>
              <a:buFont typeface="Roboto Mono"/>
              <a:buNone/>
            </a:pPr>
            <a:r>
              <a:rPr b="1" i="0" lang="en-US" sz="435" u="none" cap="none" strike="noStrike">
                <a:solidFill>
                  <a:srgbClr val="0D1B2A"/>
                </a:solidFill>
                <a:latin typeface="Roboto Mono"/>
                <a:ea typeface="Roboto Mono"/>
                <a:cs typeface="Roboto Mono"/>
                <a:sym typeface="Roboto Mono"/>
              </a:rPr>
              <a:t>11</a:t>
            </a:r>
            <a:endParaRPr b="0" i="0" sz="435" u="none" cap="none" strike="noStrike">
              <a:solidFill>
                <a:schemeClr val="dk1"/>
              </a:solidFill>
              <a:latin typeface="Calibri"/>
              <a:ea typeface="Calibri"/>
              <a:cs typeface="Calibri"/>
              <a:sym typeface="Calibri"/>
            </a:endParaRPr>
          </a:p>
        </p:txBody>
      </p:sp>
      <p:sp>
        <p:nvSpPr>
          <p:cNvPr id="507" name="Google Shape;507;p13"/>
          <p:cNvSpPr/>
          <p:nvPr/>
        </p:nvSpPr>
        <p:spPr>
          <a:xfrm>
            <a:off x="3114675" y="5066705"/>
            <a:ext cx="2185988" cy="92869"/>
          </a:xfrm>
          <a:prstGeom prst="rect">
            <a:avLst/>
          </a:prstGeom>
          <a:noFill/>
          <a:ln>
            <a:noFill/>
          </a:ln>
        </p:spPr>
        <p:txBody>
          <a:bodyPr anchorCtr="0" anchor="t" bIns="0" lIns="0" spcFirstLastPara="1" rIns="0" wrap="square" tIns="0">
            <a:noAutofit/>
          </a:bodyPr>
          <a:lstStyle/>
          <a:p>
            <a:pPr indent="0" lvl="0" marL="0" marR="0" rtl="0" algn="l">
              <a:lnSpc>
                <a:spcPct val="135658"/>
              </a:lnSpc>
              <a:spcBef>
                <a:spcPts val="0"/>
              </a:spcBef>
              <a:spcAft>
                <a:spcPts val="0"/>
              </a:spcAft>
              <a:buClr>
                <a:srgbClr val="FFAB40"/>
              </a:buClr>
              <a:buSzPts val="516"/>
              <a:buFont typeface="Roboto Mono"/>
              <a:buNone/>
            </a:pPr>
            <a:r>
              <a:rPr b="0" i="0" lang="en-US" sz="516" u="none" cap="none" strike="noStrike">
                <a:solidFill>
                  <a:srgbClr val="FFAB40"/>
                </a:solidFill>
                <a:latin typeface="Roboto Mono"/>
                <a:ea typeface="Roboto Mono"/>
                <a:cs typeface="Roboto Mono"/>
                <a:sym typeface="Roboto Mono"/>
              </a:rPr>
              <a:t>Invalidate DEK cache; acquire new DEK on next chunk</a:t>
            </a:r>
            <a:endParaRPr b="0" i="0" sz="516"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pic>
        <p:nvPicPr>
          <p:cNvPr descr="preencoded.png" id="513" name="Google Shape;513;p14"/>
          <p:cNvPicPr preferRelativeResize="0"/>
          <p:nvPr/>
        </p:nvPicPr>
        <p:blipFill rotWithShape="1">
          <a:blip r:embed="rId3">
            <a:alphaModFix/>
          </a:blip>
          <a:srcRect b="0" l="0" r="0" t="0"/>
          <a:stretch/>
        </p:blipFill>
        <p:spPr>
          <a:xfrm>
            <a:off x="57150" y="57150"/>
            <a:ext cx="9029700" cy="5293519"/>
          </a:xfrm>
          <a:prstGeom prst="rect">
            <a:avLst/>
          </a:prstGeom>
          <a:noFill/>
          <a:ln>
            <a:noFill/>
          </a:ln>
        </p:spPr>
      </p:pic>
      <p:sp>
        <p:nvSpPr>
          <p:cNvPr id="514" name="Google Shape;514;p14"/>
          <p:cNvSpPr/>
          <p:nvPr/>
        </p:nvSpPr>
        <p:spPr>
          <a:xfrm>
            <a:off x="57150" y="57150"/>
            <a:ext cx="9029700" cy="132159"/>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000000"/>
              </a:buClr>
              <a:buSzPts val="834"/>
              <a:buFont typeface="Times New Roman"/>
              <a:buNone/>
            </a:pPr>
            <a:r>
              <a:rPr b="0" i="0" lang="en-US" sz="834" u="none" cap="none" strike="noStrike">
                <a:solidFill>
                  <a:srgbClr val="000000"/>
                </a:solidFill>
                <a:latin typeface="Times New Roman"/>
                <a:ea typeface="Times New Roman"/>
                <a:cs typeface="Times New Roman"/>
                <a:sym typeface="Times New Roman"/>
              </a:rPr>
              <a:t>Code Example: Streaming Encryption</a:t>
            </a:r>
            <a:endParaRPr b="0" i="0" sz="834" u="none" cap="none" strike="noStrike">
              <a:solidFill>
                <a:schemeClr val="dk1"/>
              </a:solidFill>
              <a:latin typeface="Calibri"/>
              <a:ea typeface="Calibri"/>
              <a:cs typeface="Calibri"/>
              <a:sym typeface="Calibri"/>
            </a:endParaRPr>
          </a:p>
        </p:txBody>
      </p:sp>
      <p:sp>
        <p:nvSpPr>
          <p:cNvPr id="515" name="Google Shape;515;p14"/>
          <p:cNvSpPr/>
          <p:nvPr/>
        </p:nvSpPr>
        <p:spPr>
          <a:xfrm>
            <a:off x="57150" y="189309"/>
            <a:ext cx="9029700" cy="132159"/>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000000"/>
              </a:buClr>
              <a:buSzPts val="834"/>
              <a:buFont typeface="Times New Roman"/>
              <a:buNone/>
            </a:pPr>
            <a:r>
              <a:rPr b="0" i="0" lang="en-US" sz="834" u="none" cap="none" strike="noStrike">
                <a:solidFill>
                  <a:srgbClr val="000000"/>
                </a:solidFill>
                <a:latin typeface="Times New Roman"/>
                <a:ea typeface="Times New Roman"/>
                <a:cs typeface="Times New Roman"/>
                <a:sym typeface="Times New Roman"/>
              </a:rPr>
              <a:t>Use Case C: Continuous data streams with mid-stream rotation</a:t>
            </a:r>
            <a:endParaRPr b="0" i="0" sz="834" u="none" cap="none" strike="noStrike">
              <a:solidFill>
                <a:schemeClr val="dk1"/>
              </a:solidFill>
              <a:latin typeface="Calibri"/>
              <a:ea typeface="Calibri"/>
              <a:cs typeface="Calibri"/>
              <a:sym typeface="Calibri"/>
            </a:endParaRPr>
          </a:p>
        </p:txBody>
      </p:sp>
      <p:sp>
        <p:nvSpPr>
          <p:cNvPr id="516" name="Google Shape;516;p14"/>
          <p:cNvSpPr/>
          <p:nvPr/>
        </p:nvSpPr>
        <p:spPr>
          <a:xfrm>
            <a:off x="57150" y="321469"/>
            <a:ext cx="4400550" cy="5029200"/>
          </a:xfrm>
          <a:prstGeom prst="rect">
            <a:avLst/>
          </a:prstGeom>
          <a:solidFill>
            <a:srgbClr val="1E1E1E"/>
          </a:solidFill>
          <a:ln cap="flat" cmpd="sng" w="952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14"/>
          <p:cNvSpPr/>
          <p:nvPr/>
        </p:nvSpPr>
        <p:spPr>
          <a:xfrm>
            <a:off x="228600" y="492919"/>
            <a:ext cx="4057650" cy="141089"/>
          </a:xfrm>
          <a:prstGeom prst="rect">
            <a:avLst/>
          </a:prstGeom>
          <a:noFill/>
          <a:ln>
            <a:noFill/>
          </a:ln>
        </p:spPr>
        <p:txBody>
          <a:bodyPr anchorCtr="0" anchor="t" bIns="0" lIns="0" spcFirstLastPara="1" rIns="0" wrap="square" tIns="0">
            <a:noAutofit/>
          </a:bodyPr>
          <a:lstStyle/>
          <a:p>
            <a:pPr indent="0" lvl="0" marL="0" marR="0" rtl="0" algn="l">
              <a:lnSpc>
                <a:spcPct val="133689"/>
              </a:lnSpc>
              <a:spcBef>
                <a:spcPts val="0"/>
              </a:spcBef>
              <a:spcAft>
                <a:spcPts val="0"/>
              </a:spcAft>
              <a:buClr>
                <a:srgbClr val="569CD6"/>
              </a:buClr>
              <a:buSzPts val="748"/>
              <a:buFont typeface="Arial"/>
              <a:buNone/>
            </a:pPr>
            <a:r>
              <a:rPr b="0" i="0" lang="en-US" sz="748" u="none" cap="none" strike="noStrike">
                <a:solidFill>
                  <a:srgbClr val="569CD6"/>
                </a:solidFill>
                <a:latin typeface="Arial"/>
                <a:ea typeface="Arial"/>
                <a:cs typeface="Arial"/>
                <a:sym typeface="Arial"/>
              </a:rPr>
              <a:t>// 1. Initialize SDK with WebSocket rotation listener</a:t>
            </a:r>
            <a:endParaRPr b="0" i="0" sz="748" u="none" cap="none" strike="noStrike">
              <a:solidFill>
                <a:schemeClr val="dk1"/>
              </a:solidFill>
              <a:latin typeface="Calibri"/>
              <a:ea typeface="Calibri"/>
              <a:cs typeface="Calibri"/>
              <a:sym typeface="Calibri"/>
            </a:endParaRPr>
          </a:p>
        </p:txBody>
      </p:sp>
      <p:sp>
        <p:nvSpPr>
          <p:cNvPr id="518" name="Google Shape;518;p14"/>
          <p:cNvSpPr/>
          <p:nvPr/>
        </p:nvSpPr>
        <p:spPr>
          <a:xfrm>
            <a:off x="228600" y="634008"/>
            <a:ext cx="4057650" cy="141089"/>
          </a:xfrm>
          <a:prstGeom prst="rect">
            <a:avLst/>
          </a:prstGeom>
          <a:noFill/>
          <a:ln>
            <a:noFill/>
          </a:ln>
        </p:spPr>
        <p:txBody>
          <a:bodyPr anchorCtr="0" anchor="t" bIns="0" lIns="0" spcFirstLastPara="1" rIns="0" wrap="square" tIns="0">
            <a:noAutofit/>
          </a:bodyPr>
          <a:lstStyle/>
          <a:p>
            <a:pPr indent="0" lvl="0" marL="0" marR="0" rtl="0" algn="l">
              <a:lnSpc>
                <a:spcPct val="133689"/>
              </a:lnSpc>
              <a:spcBef>
                <a:spcPts val="0"/>
              </a:spcBef>
              <a:spcAft>
                <a:spcPts val="0"/>
              </a:spcAft>
              <a:buClr>
                <a:srgbClr val="4EC9B0"/>
              </a:buClr>
              <a:buSzPts val="748"/>
              <a:buFont typeface="Arial"/>
              <a:buNone/>
            </a:pPr>
            <a:r>
              <a:rPr b="0" i="0" lang="en-US" sz="748" u="none" cap="none" strike="noStrike">
                <a:solidFill>
                  <a:srgbClr val="4EC9B0"/>
                </a:solidFill>
                <a:latin typeface="Arial"/>
                <a:ea typeface="Arial"/>
                <a:cs typeface="Arial"/>
                <a:sym typeface="Arial"/>
              </a:rPr>
              <a:t>EESClient</a:t>
            </a:r>
            <a:r>
              <a:rPr b="0" i="0" lang="en-US" sz="748" u="none" cap="none" strike="noStrike">
                <a:solidFill>
                  <a:srgbClr val="D4D4D4"/>
                </a:solidFill>
                <a:latin typeface="Arial"/>
                <a:ea typeface="Arial"/>
                <a:cs typeface="Arial"/>
                <a:sym typeface="Arial"/>
              </a:rPr>
              <a:t> client = </a:t>
            </a:r>
            <a:r>
              <a:rPr b="0" i="0" lang="en-US" sz="748" u="none" cap="none" strike="noStrike">
                <a:solidFill>
                  <a:srgbClr val="4EC9B0"/>
                </a:solidFill>
                <a:latin typeface="Arial"/>
                <a:ea typeface="Arial"/>
                <a:cs typeface="Arial"/>
                <a:sym typeface="Arial"/>
              </a:rPr>
              <a:t>EESClient</a:t>
            </a:r>
            <a:r>
              <a:rPr b="0" i="0" lang="en-US" sz="748" u="none" cap="none" strike="noStrike">
                <a:solidFill>
                  <a:srgbClr val="D4D4D4"/>
                </a:solidFill>
                <a:latin typeface="Arial"/>
                <a:ea typeface="Arial"/>
                <a:cs typeface="Arial"/>
                <a:sym typeface="Arial"/>
              </a:rPr>
              <a:t>.builder()</a:t>
            </a:r>
            <a:endParaRPr b="0" i="0" sz="748" u="none" cap="none" strike="noStrike">
              <a:solidFill>
                <a:schemeClr val="dk1"/>
              </a:solidFill>
              <a:latin typeface="Calibri"/>
              <a:ea typeface="Calibri"/>
              <a:cs typeface="Calibri"/>
              <a:sym typeface="Calibri"/>
            </a:endParaRPr>
          </a:p>
        </p:txBody>
      </p:sp>
      <p:sp>
        <p:nvSpPr>
          <p:cNvPr id="519" name="Google Shape;519;p14"/>
          <p:cNvSpPr/>
          <p:nvPr/>
        </p:nvSpPr>
        <p:spPr>
          <a:xfrm>
            <a:off x="228600" y="775097"/>
            <a:ext cx="4057650" cy="141089"/>
          </a:xfrm>
          <a:prstGeom prst="rect">
            <a:avLst/>
          </a:prstGeom>
          <a:noFill/>
          <a:ln>
            <a:noFill/>
          </a:ln>
        </p:spPr>
        <p:txBody>
          <a:bodyPr anchorCtr="0" anchor="t" bIns="0" lIns="272150" spcFirstLastPara="1" rIns="0" wrap="square" tIns="0">
            <a:noAutofit/>
          </a:bodyPr>
          <a:lstStyle/>
          <a:p>
            <a:pPr indent="0" lvl="0" marL="0" marR="0" rtl="0" algn="l">
              <a:lnSpc>
                <a:spcPct val="133689"/>
              </a:lnSpc>
              <a:spcBef>
                <a:spcPts val="0"/>
              </a:spcBef>
              <a:spcAft>
                <a:spcPts val="0"/>
              </a:spcAft>
              <a:buClr>
                <a:srgbClr val="D4D4D4"/>
              </a:buClr>
              <a:buSzPts val="748"/>
              <a:buFont typeface="Arial"/>
              <a:buNone/>
            </a:pPr>
            <a:r>
              <a:rPr b="0" i="0" lang="en-US" sz="748" u="none" cap="none" strike="noStrike">
                <a:solidFill>
                  <a:srgbClr val="D4D4D4"/>
                </a:solidFill>
                <a:latin typeface="Arial"/>
                <a:ea typeface="Arial"/>
                <a:cs typeface="Arial"/>
                <a:sym typeface="Arial"/>
              </a:rPr>
              <a:t>.withIdentity(</a:t>
            </a:r>
            <a:r>
              <a:rPr b="0" i="0" lang="en-US" sz="748" u="none" cap="none" strike="noStrike">
                <a:solidFill>
                  <a:srgbClr val="CE9178"/>
                </a:solidFill>
                <a:latin typeface="Arial"/>
                <a:ea typeface="Arial"/>
                <a:cs typeface="Arial"/>
                <a:sym typeface="Arial"/>
              </a:rPr>
              <a:t>"log-shipper-asv"</a:t>
            </a:r>
            <a:r>
              <a:rPr b="0" i="0" lang="en-US" sz="748" u="none" cap="none" strike="noStrike">
                <a:solidFill>
                  <a:srgbClr val="D4D4D4"/>
                </a:solidFill>
                <a:latin typeface="Arial"/>
                <a:ea typeface="Arial"/>
                <a:cs typeface="Arial"/>
                <a:sym typeface="Arial"/>
              </a:rPr>
              <a:t>)</a:t>
            </a:r>
            <a:endParaRPr b="0" i="0" sz="748" u="none" cap="none" strike="noStrike">
              <a:solidFill>
                <a:schemeClr val="dk1"/>
              </a:solidFill>
              <a:latin typeface="Calibri"/>
              <a:ea typeface="Calibri"/>
              <a:cs typeface="Calibri"/>
              <a:sym typeface="Calibri"/>
            </a:endParaRPr>
          </a:p>
        </p:txBody>
      </p:sp>
      <p:sp>
        <p:nvSpPr>
          <p:cNvPr id="520" name="Google Shape;520;p14"/>
          <p:cNvSpPr/>
          <p:nvPr/>
        </p:nvSpPr>
        <p:spPr>
          <a:xfrm>
            <a:off x="228600" y="916186"/>
            <a:ext cx="4057650" cy="141089"/>
          </a:xfrm>
          <a:prstGeom prst="rect">
            <a:avLst/>
          </a:prstGeom>
          <a:noFill/>
          <a:ln>
            <a:noFill/>
          </a:ln>
        </p:spPr>
        <p:txBody>
          <a:bodyPr anchorCtr="0" anchor="t" bIns="0" lIns="272150" spcFirstLastPara="1" rIns="0" wrap="square" tIns="0">
            <a:noAutofit/>
          </a:bodyPr>
          <a:lstStyle/>
          <a:p>
            <a:pPr indent="0" lvl="0" marL="0" marR="0" rtl="0" algn="l">
              <a:lnSpc>
                <a:spcPct val="133689"/>
              </a:lnSpc>
              <a:spcBef>
                <a:spcPts val="0"/>
              </a:spcBef>
              <a:spcAft>
                <a:spcPts val="0"/>
              </a:spcAft>
              <a:buClr>
                <a:srgbClr val="D4D4D4"/>
              </a:buClr>
              <a:buSzPts val="748"/>
              <a:buFont typeface="Arial"/>
              <a:buNone/>
            </a:pPr>
            <a:r>
              <a:rPr b="0" i="0" lang="en-US" sz="748" u="none" cap="none" strike="noStrike">
                <a:solidFill>
                  <a:srgbClr val="D4D4D4"/>
                </a:solidFill>
                <a:latin typeface="Arial"/>
                <a:ea typeface="Arial"/>
                <a:cs typeface="Arial"/>
                <a:sym typeface="Arial"/>
              </a:rPr>
              <a:t>.enableRotationWatch()</a:t>
            </a:r>
            <a:endParaRPr b="0" i="0" sz="748" u="none" cap="none" strike="noStrike">
              <a:solidFill>
                <a:schemeClr val="dk1"/>
              </a:solidFill>
              <a:latin typeface="Calibri"/>
              <a:ea typeface="Calibri"/>
              <a:cs typeface="Calibri"/>
              <a:sym typeface="Calibri"/>
            </a:endParaRPr>
          </a:p>
        </p:txBody>
      </p:sp>
      <p:sp>
        <p:nvSpPr>
          <p:cNvPr id="521" name="Google Shape;521;p14"/>
          <p:cNvSpPr/>
          <p:nvPr/>
        </p:nvSpPr>
        <p:spPr>
          <a:xfrm>
            <a:off x="228600" y="1057275"/>
            <a:ext cx="4057650" cy="141089"/>
          </a:xfrm>
          <a:prstGeom prst="rect">
            <a:avLst/>
          </a:prstGeom>
          <a:noFill/>
          <a:ln>
            <a:noFill/>
          </a:ln>
        </p:spPr>
        <p:txBody>
          <a:bodyPr anchorCtr="0" anchor="t" bIns="0" lIns="272150" spcFirstLastPara="1" rIns="0" wrap="square" tIns="0">
            <a:noAutofit/>
          </a:bodyPr>
          <a:lstStyle/>
          <a:p>
            <a:pPr indent="0" lvl="0" marL="0" marR="0" rtl="0" algn="l">
              <a:lnSpc>
                <a:spcPct val="133689"/>
              </a:lnSpc>
              <a:spcBef>
                <a:spcPts val="0"/>
              </a:spcBef>
              <a:spcAft>
                <a:spcPts val="0"/>
              </a:spcAft>
              <a:buClr>
                <a:srgbClr val="D4D4D4"/>
              </a:buClr>
              <a:buSzPts val="748"/>
              <a:buFont typeface="Arial"/>
              <a:buNone/>
            </a:pPr>
            <a:r>
              <a:rPr b="0" i="0" lang="en-US" sz="748" u="none" cap="none" strike="noStrike">
                <a:solidFill>
                  <a:srgbClr val="D4D4D4"/>
                </a:solidFill>
                <a:latin typeface="Arial"/>
                <a:ea typeface="Arial"/>
                <a:cs typeface="Arial"/>
                <a:sym typeface="Arial"/>
              </a:rPr>
              <a:t>.build();</a:t>
            </a:r>
            <a:endParaRPr b="0" i="0" sz="748" u="none" cap="none" strike="noStrike">
              <a:solidFill>
                <a:schemeClr val="dk1"/>
              </a:solidFill>
              <a:latin typeface="Calibri"/>
              <a:ea typeface="Calibri"/>
              <a:cs typeface="Calibri"/>
              <a:sym typeface="Calibri"/>
            </a:endParaRPr>
          </a:p>
        </p:txBody>
      </p:sp>
      <p:sp>
        <p:nvSpPr>
          <p:cNvPr id="522" name="Google Shape;522;p14"/>
          <p:cNvSpPr/>
          <p:nvPr/>
        </p:nvSpPr>
        <p:spPr>
          <a:xfrm>
            <a:off x="228600" y="1339453"/>
            <a:ext cx="4057650" cy="141089"/>
          </a:xfrm>
          <a:prstGeom prst="rect">
            <a:avLst/>
          </a:prstGeom>
          <a:noFill/>
          <a:ln>
            <a:noFill/>
          </a:ln>
        </p:spPr>
        <p:txBody>
          <a:bodyPr anchorCtr="0" anchor="t" bIns="0" lIns="0" spcFirstLastPara="1" rIns="0" wrap="square" tIns="0">
            <a:noAutofit/>
          </a:bodyPr>
          <a:lstStyle/>
          <a:p>
            <a:pPr indent="0" lvl="0" marL="0" marR="0" rtl="0" algn="l">
              <a:lnSpc>
                <a:spcPct val="133689"/>
              </a:lnSpc>
              <a:spcBef>
                <a:spcPts val="0"/>
              </a:spcBef>
              <a:spcAft>
                <a:spcPts val="0"/>
              </a:spcAft>
              <a:buClr>
                <a:srgbClr val="569CD6"/>
              </a:buClr>
              <a:buSzPts val="748"/>
              <a:buFont typeface="Arial"/>
              <a:buNone/>
            </a:pPr>
            <a:r>
              <a:rPr b="0" i="0" lang="en-US" sz="748" u="none" cap="none" strike="noStrike">
                <a:solidFill>
                  <a:srgbClr val="569CD6"/>
                </a:solidFill>
                <a:latin typeface="Arial"/>
                <a:ea typeface="Arial"/>
                <a:cs typeface="Arial"/>
                <a:sym typeface="Arial"/>
              </a:rPr>
              <a:t>// 2. Open source and destination streams</a:t>
            </a:r>
            <a:endParaRPr b="0" i="0" sz="748" u="none" cap="none" strike="noStrike">
              <a:solidFill>
                <a:schemeClr val="dk1"/>
              </a:solidFill>
              <a:latin typeface="Calibri"/>
              <a:ea typeface="Calibri"/>
              <a:cs typeface="Calibri"/>
              <a:sym typeface="Calibri"/>
            </a:endParaRPr>
          </a:p>
        </p:txBody>
      </p:sp>
      <p:sp>
        <p:nvSpPr>
          <p:cNvPr id="523" name="Google Shape;523;p14"/>
          <p:cNvSpPr/>
          <p:nvPr/>
        </p:nvSpPr>
        <p:spPr>
          <a:xfrm>
            <a:off x="228600" y="1480542"/>
            <a:ext cx="4057650" cy="141089"/>
          </a:xfrm>
          <a:prstGeom prst="rect">
            <a:avLst/>
          </a:prstGeom>
          <a:noFill/>
          <a:ln>
            <a:noFill/>
          </a:ln>
        </p:spPr>
        <p:txBody>
          <a:bodyPr anchorCtr="0" anchor="t" bIns="0" lIns="0" spcFirstLastPara="1" rIns="0" wrap="square" tIns="0">
            <a:noAutofit/>
          </a:bodyPr>
          <a:lstStyle/>
          <a:p>
            <a:pPr indent="0" lvl="0" marL="0" marR="0" rtl="0" algn="l">
              <a:lnSpc>
                <a:spcPct val="133689"/>
              </a:lnSpc>
              <a:spcBef>
                <a:spcPts val="0"/>
              </a:spcBef>
              <a:spcAft>
                <a:spcPts val="0"/>
              </a:spcAft>
              <a:buClr>
                <a:srgbClr val="4EC9B0"/>
              </a:buClr>
              <a:buSzPts val="748"/>
              <a:buFont typeface="Arial"/>
              <a:buNone/>
            </a:pPr>
            <a:r>
              <a:rPr b="0" i="0" lang="en-US" sz="748" u="none" cap="none" strike="noStrike">
                <a:solidFill>
                  <a:srgbClr val="4EC9B0"/>
                </a:solidFill>
                <a:latin typeface="Arial"/>
                <a:ea typeface="Arial"/>
                <a:cs typeface="Arial"/>
                <a:sym typeface="Arial"/>
              </a:rPr>
              <a:t>InputStream</a:t>
            </a:r>
            <a:r>
              <a:rPr b="0" i="0" lang="en-US" sz="748" u="none" cap="none" strike="noStrike">
                <a:solidFill>
                  <a:srgbClr val="D4D4D4"/>
                </a:solidFill>
                <a:latin typeface="Arial"/>
                <a:ea typeface="Arial"/>
                <a:cs typeface="Arial"/>
                <a:sym typeface="Arial"/>
              </a:rPr>
              <a:t> source = getLogStream();</a:t>
            </a:r>
            <a:endParaRPr b="0" i="0" sz="748" u="none" cap="none" strike="noStrike">
              <a:solidFill>
                <a:schemeClr val="dk1"/>
              </a:solidFill>
              <a:latin typeface="Calibri"/>
              <a:ea typeface="Calibri"/>
              <a:cs typeface="Calibri"/>
              <a:sym typeface="Calibri"/>
            </a:endParaRPr>
          </a:p>
        </p:txBody>
      </p:sp>
      <p:sp>
        <p:nvSpPr>
          <p:cNvPr id="524" name="Google Shape;524;p14"/>
          <p:cNvSpPr/>
          <p:nvPr/>
        </p:nvSpPr>
        <p:spPr>
          <a:xfrm>
            <a:off x="228600" y="1621631"/>
            <a:ext cx="4057650" cy="141089"/>
          </a:xfrm>
          <a:prstGeom prst="rect">
            <a:avLst/>
          </a:prstGeom>
          <a:noFill/>
          <a:ln>
            <a:noFill/>
          </a:ln>
        </p:spPr>
        <p:txBody>
          <a:bodyPr anchorCtr="0" anchor="t" bIns="0" lIns="0" spcFirstLastPara="1" rIns="0" wrap="square" tIns="0">
            <a:noAutofit/>
          </a:bodyPr>
          <a:lstStyle/>
          <a:p>
            <a:pPr indent="0" lvl="0" marL="0" marR="0" rtl="0" algn="l">
              <a:lnSpc>
                <a:spcPct val="133689"/>
              </a:lnSpc>
              <a:spcBef>
                <a:spcPts val="0"/>
              </a:spcBef>
              <a:spcAft>
                <a:spcPts val="0"/>
              </a:spcAft>
              <a:buClr>
                <a:srgbClr val="4EC9B0"/>
              </a:buClr>
              <a:buSzPts val="748"/>
              <a:buFont typeface="Arial"/>
              <a:buNone/>
            </a:pPr>
            <a:r>
              <a:rPr b="0" i="0" lang="en-US" sz="748" u="none" cap="none" strike="noStrike">
                <a:solidFill>
                  <a:srgbClr val="4EC9B0"/>
                </a:solidFill>
                <a:latin typeface="Arial"/>
                <a:ea typeface="Arial"/>
                <a:cs typeface="Arial"/>
                <a:sym typeface="Arial"/>
              </a:rPr>
              <a:t>OutputStream</a:t>
            </a:r>
            <a:r>
              <a:rPr b="0" i="0" lang="en-US" sz="748" u="none" cap="none" strike="noStrike">
                <a:solidFill>
                  <a:srgbClr val="D4D4D4"/>
                </a:solidFill>
                <a:latin typeface="Arial"/>
                <a:ea typeface="Arial"/>
                <a:cs typeface="Arial"/>
                <a:sym typeface="Arial"/>
              </a:rPr>
              <a:t> dest = getS3UploadStream();</a:t>
            </a:r>
            <a:endParaRPr b="0" i="0" sz="748" u="none" cap="none" strike="noStrike">
              <a:solidFill>
                <a:schemeClr val="dk1"/>
              </a:solidFill>
              <a:latin typeface="Calibri"/>
              <a:ea typeface="Calibri"/>
              <a:cs typeface="Calibri"/>
              <a:sym typeface="Calibri"/>
            </a:endParaRPr>
          </a:p>
        </p:txBody>
      </p:sp>
      <p:sp>
        <p:nvSpPr>
          <p:cNvPr id="525" name="Google Shape;525;p14"/>
          <p:cNvSpPr/>
          <p:nvPr/>
        </p:nvSpPr>
        <p:spPr>
          <a:xfrm>
            <a:off x="228600" y="1903809"/>
            <a:ext cx="4057650" cy="141089"/>
          </a:xfrm>
          <a:prstGeom prst="rect">
            <a:avLst/>
          </a:prstGeom>
          <a:noFill/>
          <a:ln>
            <a:noFill/>
          </a:ln>
        </p:spPr>
        <p:txBody>
          <a:bodyPr anchorCtr="0" anchor="t" bIns="0" lIns="0" spcFirstLastPara="1" rIns="0" wrap="square" tIns="0">
            <a:noAutofit/>
          </a:bodyPr>
          <a:lstStyle/>
          <a:p>
            <a:pPr indent="0" lvl="0" marL="0" marR="0" rtl="0" algn="l">
              <a:lnSpc>
                <a:spcPct val="133689"/>
              </a:lnSpc>
              <a:spcBef>
                <a:spcPts val="0"/>
              </a:spcBef>
              <a:spcAft>
                <a:spcPts val="0"/>
              </a:spcAft>
              <a:buClr>
                <a:srgbClr val="569CD6"/>
              </a:buClr>
              <a:buSzPts val="748"/>
              <a:buFont typeface="Arial"/>
              <a:buNone/>
            </a:pPr>
            <a:r>
              <a:rPr b="0" i="0" lang="en-US" sz="748" u="none" cap="none" strike="noStrike">
                <a:solidFill>
                  <a:srgbClr val="569CD6"/>
                </a:solidFill>
                <a:latin typeface="Arial"/>
                <a:ea typeface="Arial"/>
                <a:cs typeface="Arial"/>
                <a:sym typeface="Arial"/>
              </a:rPr>
              <a:t>// 3. Wrap destination in an EncryptingOutputStream</a:t>
            </a:r>
            <a:endParaRPr b="0" i="0" sz="748" u="none" cap="none" strike="noStrike">
              <a:solidFill>
                <a:schemeClr val="dk1"/>
              </a:solidFill>
              <a:latin typeface="Calibri"/>
              <a:ea typeface="Calibri"/>
              <a:cs typeface="Calibri"/>
              <a:sym typeface="Calibri"/>
            </a:endParaRPr>
          </a:p>
        </p:txBody>
      </p:sp>
      <p:sp>
        <p:nvSpPr>
          <p:cNvPr id="526" name="Google Shape;526;p14"/>
          <p:cNvSpPr/>
          <p:nvPr/>
        </p:nvSpPr>
        <p:spPr>
          <a:xfrm>
            <a:off x="228600" y="2044898"/>
            <a:ext cx="4057650" cy="141089"/>
          </a:xfrm>
          <a:prstGeom prst="rect">
            <a:avLst/>
          </a:prstGeom>
          <a:noFill/>
          <a:ln>
            <a:noFill/>
          </a:ln>
        </p:spPr>
        <p:txBody>
          <a:bodyPr anchorCtr="0" anchor="t" bIns="0" lIns="0" spcFirstLastPara="1" rIns="0" wrap="square" tIns="0">
            <a:noAutofit/>
          </a:bodyPr>
          <a:lstStyle/>
          <a:p>
            <a:pPr indent="0" lvl="0" marL="0" marR="0" rtl="0" algn="l">
              <a:lnSpc>
                <a:spcPct val="133689"/>
              </a:lnSpc>
              <a:spcBef>
                <a:spcPts val="0"/>
              </a:spcBef>
              <a:spcAft>
                <a:spcPts val="0"/>
              </a:spcAft>
              <a:buClr>
                <a:srgbClr val="569CD6"/>
              </a:buClr>
              <a:buSzPts val="748"/>
              <a:buFont typeface="Arial"/>
              <a:buNone/>
            </a:pPr>
            <a:r>
              <a:rPr b="0" i="0" lang="en-US" sz="748" u="none" cap="none" strike="noStrike">
                <a:solidFill>
                  <a:srgbClr val="569CD6"/>
                </a:solidFill>
                <a:latin typeface="Arial"/>
                <a:ea typeface="Arial"/>
                <a:cs typeface="Arial"/>
                <a:sym typeface="Arial"/>
              </a:rPr>
              <a:t>// The SDK handles chunking and authentication tags</a:t>
            </a:r>
            <a:endParaRPr b="0" i="0" sz="748" u="none" cap="none" strike="noStrike">
              <a:solidFill>
                <a:schemeClr val="dk1"/>
              </a:solidFill>
              <a:latin typeface="Calibri"/>
              <a:ea typeface="Calibri"/>
              <a:cs typeface="Calibri"/>
              <a:sym typeface="Calibri"/>
            </a:endParaRPr>
          </a:p>
        </p:txBody>
      </p:sp>
      <p:sp>
        <p:nvSpPr>
          <p:cNvPr id="527" name="Google Shape;527;p14"/>
          <p:cNvSpPr/>
          <p:nvPr/>
        </p:nvSpPr>
        <p:spPr>
          <a:xfrm>
            <a:off x="228600" y="2185988"/>
            <a:ext cx="4057650" cy="141089"/>
          </a:xfrm>
          <a:prstGeom prst="rect">
            <a:avLst/>
          </a:prstGeom>
          <a:noFill/>
          <a:ln>
            <a:noFill/>
          </a:ln>
        </p:spPr>
        <p:txBody>
          <a:bodyPr anchorCtr="0" anchor="t" bIns="0" lIns="0" spcFirstLastPara="1" rIns="0" wrap="square" tIns="0">
            <a:noAutofit/>
          </a:bodyPr>
          <a:lstStyle/>
          <a:p>
            <a:pPr indent="0" lvl="0" marL="0" marR="0" rtl="0" algn="l">
              <a:lnSpc>
                <a:spcPct val="133689"/>
              </a:lnSpc>
              <a:spcBef>
                <a:spcPts val="0"/>
              </a:spcBef>
              <a:spcAft>
                <a:spcPts val="0"/>
              </a:spcAft>
              <a:buClr>
                <a:srgbClr val="569CD6"/>
              </a:buClr>
              <a:buSzPts val="748"/>
              <a:buFont typeface="Arial"/>
              <a:buNone/>
            </a:pPr>
            <a:r>
              <a:rPr b="0" i="0" lang="en-US" sz="748" u="none" cap="none" strike="noStrike">
                <a:solidFill>
                  <a:srgbClr val="569CD6"/>
                </a:solidFill>
                <a:latin typeface="Arial"/>
                <a:ea typeface="Arial"/>
                <a:cs typeface="Arial"/>
                <a:sym typeface="Arial"/>
              </a:rPr>
              <a:t>try</a:t>
            </a:r>
            <a:r>
              <a:rPr b="0" i="0" lang="en-US" sz="748" u="none" cap="none" strike="noStrike">
                <a:solidFill>
                  <a:srgbClr val="D4D4D4"/>
                </a:solidFill>
                <a:latin typeface="Arial"/>
                <a:ea typeface="Arial"/>
                <a:cs typeface="Arial"/>
                <a:sym typeface="Arial"/>
              </a:rPr>
              <a:t> (</a:t>
            </a:r>
            <a:r>
              <a:rPr b="0" i="0" lang="en-US" sz="748" u="none" cap="none" strike="noStrike">
                <a:solidFill>
                  <a:srgbClr val="4EC9B0"/>
                </a:solidFill>
                <a:latin typeface="Arial"/>
                <a:ea typeface="Arial"/>
                <a:cs typeface="Arial"/>
                <a:sym typeface="Arial"/>
              </a:rPr>
              <a:t>OutputStream</a:t>
            </a:r>
            <a:r>
              <a:rPr b="0" i="0" lang="en-US" sz="748" u="none" cap="none" strike="noStrike">
                <a:solidFill>
                  <a:srgbClr val="D4D4D4"/>
                </a:solidFill>
                <a:latin typeface="Arial"/>
                <a:ea typeface="Arial"/>
                <a:cs typeface="Arial"/>
                <a:sym typeface="Arial"/>
              </a:rPr>
              <a:t> encryptedDest = client.encryptStream(</a:t>
            </a:r>
            <a:endParaRPr b="0" i="0" sz="748" u="none" cap="none" strike="noStrike">
              <a:solidFill>
                <a:schemeClr val="dk1"/>
              </a:solidFill>
              <a:latin typeface="Calibri"/>
              <a:ea typeface="Calibri"/>
              <a:cs typeface="Calibri"/>
              <a:sym typeface="Calibri"/>
            </a:endParaRPr>
          </a:p>
        </p:txBody>
      </p:sp>
      <p:sp>
        <p:nvSpPr>
          <p:cNvPr id="528" name="Google Shape;528;p14"/>
          <p:cNvSpPr/>
          <p:nvPr/>
        </p:nvSpPr>
        <p:spPr>
          <a:xfrm>
            <a:off x="228600" y="2327077"/>
            <a:ext cx="4057650" cy="141089"/>
          </a:xfrm>
          <a:prstGeom prst="rect">
            <a:avLst/>
          </a:prstGeom>
          <a:noFill/>
          <a:ln>
            <a:noFill/>
          </a:ln>
        </p:spPr>
        <p:txBody>
          <a:bodyPr anchorCtr="0" anchor="t" bIns="0" lIns="544300" spcFirstLastPara="1" rIns="0" wrap="square" tIns="0">
            <a:noAutofit/>
          </a:bodyPr>
          <a:lstStyle/>
          <a:p>
            <a:pPr indent="0" lvl="0" marL="0" marR="0" rtl="0" algn="l">
              <a:lnSpc>
                <a:spcPct val="133689"/>
              </a:lnSpc>
              <a:spcBef>
                <a:spcPts val="0"/>
              </a:spcBef>
              <a:spcAft>
                <a:spcPts val="0"/>
              </a:spcAft>
              <a:buClr>
                <a:srgbClr val="D4D4D4"/>
              </a:buClr>
              <a:buSzPts val="748"/>
              <a:buFont typeface="Arial"/>
              <a:buNone/>
            </a:pPr>
            <a:r>
              <a:rPr b="0" i="0" lang="en-US" sz="748" u="none" cap="none" strike="noStrike">
                <a:solidFill>
                  <a:srgbClr val="D4D4D4"/>
                </a:solidFill>
                <a:latin typeface="Arial"/>
                <a:ea typeface="Arial"/>
                <a:cs typeface="Arial"/>
                <a:sym typeface="Arial"/>
              </a:rPr>
              <a:t>dest,</a:t>
            </a:r>
            <a:endParaRPr b="0" i="0" sz="748" u="none" cap="none" strike="noStrike">
              <a:solidFill>
                <a:schemeClr val="dk1"/>
              </a:solidFill>
              <a:latin typeface="Calibri"/>
              <a:ea typeface="Calibri"/>
              <a:cs typeface="Calibri"/>
              <a:sym typeface="Calibri"/>
            </a:endParaRPr>
          </a:p>
        </p:txBody>
      </p:sp>
      <p:sp>
        <p:nvSpPr>
          <p:cNvPr id="529" name="Google Shape;529;p14"/>
          <p:cNvSpPr/>
          <p:nvPr/>
        </p:nvSpPr>
        <p:spPr>
          <a:xfrm>
            <a:off x="228600" y="2468166"/>
            <a:ext cx="4057650" cy="141089"/>
          </a:xfrm>
          <a:prstGeom prst="rect">
            <a:avLst/>
          </a:prstGeom>
          <a:noFill/>
          <a:ln>
            <a:noFill/>
          </a:ln>
        </p:spPr>
        <p:txBody>
          <a:bodyPr anchorCtr="0" anchor="t" bIns="0" lIns="544300" spcFirstLastPara="1" rIns="0" wrap="square" tIns="0">
            <a:noAutofit/>
          </a:bodyPr>
          <a:lstStyle/>
          <a:p>
            <a:pPr indent="0" lvl="0" marL="0" marR="0" rtl="0" algn="l">
              <a:lnSpc>
                <a:spcPct val="133689"/>
              </a:lnSpc>
              <a:spcBef>
                <a:spcPts val="0"/>
              </a:spcBef>
              <a:spcAft>
                <a:spcPts val="0"/>
              </a:spcAft>
              <a:buClr>
                <a:srgbClr val="4EC9B0"/>
              </a:buClr>
              <a:buSzPts val="748"/>
              <a:buFont typeface="Arial"/>
              <a:buNone/>
            </a:pPr>
            <a:r>
              <a:rPr b="0" i="0" lang="en-US" sz="748" u="none" cap="none" strike="noStrike">
                <a:solidFill>
                  <a:srgbClr val="4EC9B0"/>
                </a:solidFill>
                <a:latin typeface="Arial"/>
                <a:ea typeface="Arial"/>
                <a:cs typeface="Arial"/>
                <a:sym typeface="Arial"/>
              </a:rPr>
              <a:t>DataClassification</a:t>
            </a:r>
            <a:r>
              <a:rPr b="0" i="0" lang="en-US" sz="748" u="none" cap="none" strike="noStrike">
                <a:solidFill>
                  <a:srgbClr val="D4D4D4"/>
                </a:solidFill>
                <a:latin typeface="Arial"/>
                <a:ea typeface="Arial"/>
                <a:cs typeface="Arial"/>
                <a:sym typeface="Arial"/>
              </a:rPr>
              <a:t>.</a:t>
            </a:r>
            <a:r>
              <a:rPr b="0" i="0" lang="en-US" sz="748" u="none" cap="none" strike="noStrike">
                <a:solidFill>
                  <a:srgbClr val="4FC1FF"/>
                </a:solidFill>
                <a:latin typeface="Arial"/>
                <a:ea typeface="Arial"/>
                <a:cs typeface="Arial"/>
                <a:sym typeface="Arial"/>
              </a:rPr>
              <a:t>INTERNAL</a:t>
            </a:r>
            <a:r>
              <a:rPr b="0" i="0" lang="en-US" sz="748" u="none" cap="none" strike="noStrike">
                <a:solidFill>
                  <a:srgbClr val="D4D4D4"/>
                </a:solidFill>
                <a:latin typeface="Arial"/>
                <a:ea typeface="Arial"/>
                <a:cs typeface="Arial"/>
                <a:sym typeface="Arial"/>
              </a:rPr>
              <a:t>)) {</a:t>
            </a:r>
            <a:endParaRPr b="0" i="0" sz="748" u="none" cap="none" strike="noStrike">
              <a:solidFill>
                <a:schemeClr val="dk1"/>
              </a:solidFill>
              <a:latin typeface="Calibri"/>
              <a:ea typeface="Calibri"/>
              <a:cs typeface="Calibri"/>
              <a:sym typeface="Calibri"/>
            </a:endParaRPr>
          </a:p>
        </p:txBody>
      </p:sp>
      <p:sp>
        <p:nvSpPr>
          <p:cNvPr id="530" name="Google Shape;530;p14"/>
          <p:cNvSpPr/>
          <p:nvPr/>
        </p:nvSpPr>
        <p:spPr>
          <a:xfrm>
            <a:off x="228600" y="2750344"/>
            <a:ext cx="4057650" cy="141089"/>
          </a:xfrm>
          <a:prstGeom prst="rect">
            <a:avLst/>
          </a:prstGeom>
          <a:noFill/>
          <a:ln>
            <a:noFill/>
          </a:ln>
        </p:spPr>
        <p:txBody>
          <a:bodyPr anchorCtr="0" anchor="t" bIns="0" lIns="272150" spcFirstLastPara="1" rIns="0" wrap="square" tIns="0">
            <a:noAutofit/>
          </a:bodyPr>
          <a:lstStyle/>
          <a:p>
            <a:pPr indent="0" lvl="0" marL="0" marR="0" rtl="0" algn="l">
              <a:lnSpc>
                <a:spcPct val="133689"/>
              </a:lnSpc>
              <a:spcBef>
                <a:spcPts val="0"/>
              </a:spcBef>
              <a:spcAft>
                <a:spcPts val="0"/>
              </a:spcAft>
              <a:buClr>
                <a:srgbClr val="569CD6"/>
              </a:buClr>
              <a:buSzPts val="748"/>
              <a:buFont typeface="Arial"/>
              <a:buNone/>
            </a:pPr>
            <a:r>
              <a:rPr b="0" i="0" lang="en-US" sz="748" u="none" cap="none" strike="noStrike">
                <a:solidFill>
                  <a:srgbClr val="569CD6"/>
                </a:solidFill>
                <a:latin typeface="Arial"/>
                <a:ea typeface="Arial"/>
                <a:cs typeface="Arial"/>
                <a:sym typeface="Arial"/>
              </a:rPr>
              <a:t>// 4. Stream data continuously</a:t>
            </a:r>
            <a:endParaRPr b="0" i="0" sz="748" u="none" cap="none" strike="noStrike">
              <a:solidFill>
                <a:schemeClr val="dk1"/>
              </a:solidFill>
              <a:latin typeface="Calibri"/>
              <a:ea typeface="Calibri"/>
              <a:cs typeface="Calibri"/>
              <a:sym typeface="Calibri"/>
            </a:endParaRPr>
          </a:p>
        </p:txBody>
      </p:sp>
      <p:sp>
        <p:nvSpPr>
          <p:cNvPr id="531" name="Google Shape;531;p14"/>
          <p:cNvSpPr/>
          <p:nvPr/>
        </p:nvSpPr>
        <p:spPr>
          <a:xfrm>
            <a:off x="228600" y="2891433"/>
            <a:ext cx="4057650" cy="141089"/>
          </a:xfrm>
          <a:prstGeom prst="rect">
            <a:avLst/>
          </a:prstGeom>
          <a:noFill/>
          <a:ln>
            <a:noFill/>
          </a:ln>
        </p:spPr>
        <p:txBody>
          <a:bodyPr anchorCtr="0" anchor="t" bIns="0" lIns="272150" spcFirstLastPara="1" rIns="0" wrap="square" tIns="0">
            <a:noAutofit/>
          </a:bodyPr>
          <a:lstStyle/>
          <a:p>
            <a:pPr indent="0" lvl="0" marL="0" marR="0" rtl="0" algn="l">
              <a:lnSpc>
                <a:spcPct val="133689"/>
              </a:lnSpc>
              <a:spcBef>
                <a:spcPts val="0"/>
              </a:spcBef>
              <a:spcAft>
                <a:spcPts val="0"/>
              </a:spcAft>
              <a:buClr>
                <a:srgbClr val="569CD6"/>
              </a:buClr>
              <a:buSzPts val="748"/>
              <a:buFont typeface="Arial"/>
              <a:buNone/>
            </a:pPr>
            <a:r>
              <a:rPr b="0" i="0" lang="en-US" sz="748" u="none" cap="none" strike="noStrike">
                <a:solidFill>
                  <a:srgbClr val="569CD6"/>
                </a:solidFill>
                <a:latin typeface="Arial"/>
                <a:ea typeface="Arial"/>
                <a:cs typeface="Arial"/>
                <a:sym typeface="Arial"/>
              </a:rPr>
              <a:t>// If a rotation event arrives via WebSocket,</a:t>
            </a:r>
            <a:endParaRPr b="0" i="0" sz="748" u="none" cap="none" strike="noStrike">
              <a:solidFill>
                <a:schemeClr val="dk1"/>
              </a:solidFill>
              <a:latin typeface="Calibri"/>
              <a:ea typeface="Calibri"/>
              <a:cs typeface="Calibri"/>
              <a:sym typeface="Calibri"/>
            </a:endParaRPr>
          </a:p>
        </p:txBody>
      </p:sp>
      <p:sp>
        <p:nvSpPr>
          <p:cNvPr id="532" name="Google Shape;532;p14"/>
          <p:cNvSpPr/>
          <p:nvPr/>
        </p:nvSpPr>
        <p:spPr>
          <a:xfrm>
            <a:off x="228600" y="3032522"/>
            <a:ext cx="4057650" cy="141089"/>
          </a:xfrm>
          <a:prstGeom prst="rect">
            <a:avLst/>
          </a:prstGeom>
          <a:noFill/>
          <a:ln>
            <a:noFill/>
          </a:ln>
        </p:spPr>
        <p:txBody>
          <a:bodyPr anchorCtr="0" anchor="t" bIns="0" lIns="272150" spcFirstLastPara="1" rIns="0" wrap="square" tIns="0">
            <a:noAutofit/>
          </a:bodyPr>
          <a:lstStyle/>
          <a:p>
            <a:pPr indent="0" lvl="0" marL="0" marR="0" rtl="0" algn="l">
              <a:lnSpc>
                <a:spcPct val="133689"/>
              </a:lnSpc>
              <a:spcBef>
                <a:spcPts val="0"/>
              </a:spcBef>
              <a:spcAft>
                <a:spcPts val="0"/>
              </a:spcAft>
              <a:buClr>
                <a:srgbClr val="569CD6"/>
              </a:buClr>
              <a:buSzPts val="748"/>
              <a:buFont typeface="Arial"/>
              <a:buNone/>
            </a:pPr>
            <a:r>
              <a:rPr b="0" i="0" lang="en-US" sz="748" u="none" cap="none" strike="noStrike">
                <a:solidFill>
                  <a:srgbClr val="569CD6"/>
                </a:solidFill>
                <a:latin typeface="Arial"/>
                <a:ea typeface="Arial"/>
                <a:cs typeface="Arial"/>
                <a:sym typeface="Arial"/>
              </a:rPr>
              <a:t>// the stream automatically rolls over to a new DEK</a:t>
            </a:r>
            <a:endParaRPr b="0" i="0" sz="748" u="none" cap="none" strike="noStrike">
              <a:solidFill>
                <a:schemeClr val="dk1"/>
              </a:solidFill>
              <a:latin typeface="Calibri"/>
              <a:ea typeface="Calibri"/>
              <a:cs typeface="Calibri"/>
              <a:sym typeface="Calibri"/>
            </a:endParaRPr>
          </a:p>
        </p:txBody>
      </p:sp>
      <p:sp>
        <p:nvSpPr>
          <p:cNvPr id="533" name="Google Shape;533;p14"/>
          <p:cNvSpPr/>
          <p:nvPr/>
        </p:nvSpPr>
        <p:spPr>
          <a:xfrm>
            <a:off x="228600" y="3173611"/>
            <a:ext cx="4057650" cy="141089"/>
          </a:xfrm>
          <a:prstGeom prst="rect">
            <a:avLst/>
          </a:prstGeom>
          <a:noFill/>
          <a:ln>
            <a:noFill/>
          </a:ln>
        </p:spPr>
        <p:txBody>
          <a:bodyPr anchorCtr="0" anchor="t" bIns="0" lIns="272150" spcFirstLastPara="1" rIns="0" wrap="square" tIns="0">
            <a:noAutofit/>
          </a:bodyPr>
          <a:lstStyle/>
          <a:p>
            <a:pPr indent="0" lvl="0" marL="0" marR="0" rtl="0" algn="l">
              <a:lnSpc>
                <a:spcPct val="133689"/>
              </a:lnSpc>
              <a:spcBef>
                <a:spcPts val="0"/>
              </a:spcBef>
              <a:spcAft>
                <a:spcPts val="0"/>
              </a:spcAft>
              <a:buClr>
                <a:srgbClr val="569CD6"/>
              </a:buClr>
              <a:buSzPts val="748"/>
              <a:buFont typeface="Arial"/>
              <a:buNone/>
            </a:pPr>
            <a:r>
              <a:rPr b="0" i="0" lang="en-US" sz="748" u="none" cap="none" strike="noStrike">
                <a:solidFill>
                  <a:srgbClr val="569CD6"/>
                </a:solidFill>
                <a:latin typeface="Arial"/>
                <a:ea typeface="Arial"/>
                <a:cs typeface="Arial"/>
                <a:sym typeface="Arial"/>
              </a:rPr>
              <a:t>// without interrupting the flow.</a:t>
            </a:r>
            <a:endParaRPr b="0" i="0" sz="748" u="none" cap="none" strike="noStrike">
              <a:solidFill>
                <a:schemeClr val="dk1"/>
              </a:solidFill>
              <a:latin typeface="Calibri"/>
              <a:ea typeface="Calibri"/>
              <a:cs typeface="Calibri"/>
              <a:sym typeface="Calibri"/>
            </a:endParaRPr>
          </a:p>
        </p:txBody>
      </p:sp>
      <p:sp>
        <p:nvSpPr>
          <p:cNvPr id="534" name="Google Shape;534;p14"/>
          <p:cNvSpPr/>
          <p:nvPr/>
        </p:nvSpPr>
        <p:spPr>
          <a:xfrm>
            <a:off x="228600" y="3314700"/>
            <a:ext cx="4057650" cy="141089"/>
          </a:xfrm>
          <a:prstGeom prst="rect">
            <a:avLst/>
          </a:prstGeom>
          <a:noFill/>
          <a:ln>
            <a:noFill/>
          </a:ln>
        </p:spPr>
        <p:txBody>
          <a:bodyPr anchorCtr="0" anchor="t" bIns="0" lIns="272150" spcFirstLastPara="1" rIns="0" wrap="square" tIns="0">
            <a:noAutofit/>
          </a:bodyPr>
          <a:lstStyle/>
          <a:p>
            <a:pPr indent="0" lvl="0" marL="0" marR="0" rtl="0" algn="l">
              <a:lnSpc>
                <a:spcPct val="133689"/>
              </a:lnSpc>
              <a:spcBef>
                <a:spcPts val="0"/>
              </a:spcBef>
              <a:spcAft>
                <a:spcPts val="0"/>
              </a:spcAft>
              <a:buClr>
                <a:srgbClr val="D4D4D4"/>
              </a:buClr>
              <a:buSzPts val="748"/>
              <a:buFont typeface="Arial"/>
              <a:buNone/>
            </a:pPr>
            <a:r>
              <a:rPr b="0" i="0" lang="en-US" sz="748" u="none" cap="none" strike="noStrike">
                <a:solidFill>
                  <a:srgbClr val="D4D4D4"/>
                </a:solidFill>
                <a:latin typeface="Arial"/>
                <a:ea typeface="Arial"/>
                <a:cs typeface="Arial"/>
                <a:sym typeface="Arial"/>
              </a:rPr>
              <a:t>source.transferTo(encryptedDest);</a:t>
            </a:r>
            <a:endParaRPr b="0" i="0" sz="748" u="none" cap="none" strike="noStrike">
              <a:solidFill>
                <a:schemeClr val="dk1"/>
              </a:solidFill>
              <a:latin typeface="Calibri"/>
              <a:ea typeface="Calibri"/>
              <a:cs typeface="Calibri"/>
              <a:sym typeface="Calibri"/>
            </a:endParaRPr>
          </a:p>
        </p:txBody>
      </p:sp>
      <p:sp>
        <p:nvSpPr>
          <p:cNvPr id="535" name="Google Shape;535;p14"/>
          <p:cNvSpPr/>
          <p:nvPr/>
        </p:nvSpPr>
        <p:spPr>
          <a:xfrm>
            <a:off x="228600" y="3596878"/>
            <a:ext cx="4057650" cy="141089"/>
          </a:xfrm>
          <a:prstGeom prst="rect">
            <a:avLst/>
          </a:prstGeom>
          <a:noFill/>
          <a:ln>
            <a:noFill/>
          </a:ln>
        </p:spPr>
        <p:txBody>
          <a:bodyPr anchorCtr="0" anchor="t" bIns="0" lIns="0" spcFirstLastPara="1" rIns="0" wrap="square" tIns="0">
            <a:noAutofit/>
          </a:bodyPr>
          <a:lstStyle/>
          <a:p>
            <a:pPr indent="0" lvl="0" marL="0" marR="0" rtl="0" algn="l">
              <a:lnSpc>
                <a:spcPct val="133689"/>
              </a:lnSpc>
              <a:spcBef>
                <a:spcPts val="0"/>
              </a:spcBef>
              <a:spcAft>
                <a:spcPts val="0"/>
              </a:spcAft>
              <a:buClr>
                <a:srgbClr val="D4D4D4"/>
              </a:buClr>
              <a:buSzPts val="748"/>
              <a:buFont typeface="Arial"/>
              <a:buNone/>
            </a:pPr>
            <a:r>
              <a:rPr b="0" i="0" lang="en-US" sz="748" u="none" cap="none" strike="noStrike">
                <a:solidFill>
                  <a:srgbClr val="D4D4D4"/>
                </a:solidFill>
                <a:latin typeface="Arial"/>
                <a:ea typeface="Arial"/>
                <a:cs typeface="Arial"/>
                <a:sym typeface="Arial"/>
              </a:rPr>
              <a:t>} </a:t>
            </a:r>
            <a:r>
              <a:rPr b="0" i="0" lang="en-US" sz="748" u="none" cap="none" strike="noStrike">
                <a:solidFill>
                  <a:srgbClr val="569CD6"/>
                </a:solidFill>
                <a:latin typeface="Arial"/>
                <a:ea typeface="Arial"/>
                <a:cs typeface="Arial"/>
                <a:sym typeface="Arial"/>
              </a:rPr>
              <a:t>catch</a:t>
            </a:r>
            <a:r>
              <a:rPr b="0" i="0" lang="en-US" sz="748" u="none" cap="none" strike="noStrike">
                <a:solidFill>
                  <a:srgbClr val="D4D4D4"/>
                </a:solidFill>
                <a:latin typeface="Arial"/>
                <a:ea typeface="Arial"/>
                <a:cs typeface="Arial"/>
                <a:sym typeface="Arial"/>
              </a:rPr>
              <a:t> (</a:t>
            </a:r>
            <a:r>
              <a:rPr b="0" i="0" lang="en-US" sz="748" u="none" cap="none" strike="noStrike">
                <a:solidFill>
                  <a:srgbClr val="4EC9B0"/>
                </a:solidFill>
                <a:latin typeface="Arial"/>
                <a:ea typeface="Arial"/>
                <a:cs typeface="Arial"/>
                <a:sym typeface="Arial"/>
              </a:rPr>
              <a:t>IOException</a:t>
            </a:r>
            <a:r>
              <a:rPr b="0" i="0" lang="en-US" sz="748" u="none" cap="none" strike="noStrike">
                <a:solidFill>
                  <a:srgbClr val="D4D4D4"/>
                </a:solidFill>
                <a:latin typeface="Arial"/>
                <a:ea typeface="Arial"/>
                <a:cs typeface="Arial"/>
                <a:sym typeface="Arial"/>
              </a:rPr>
              <a:t> e) {</a:t>
            </a:r>
            <a:endParaRPr b="0" i="0" sz="748" u="none" cap="none" strike="noStrike">
              <a:solidFill>
                <a:schemeClr val="dk1"/>
              </a:solidFill>
              <a:latin typeface="Calibri"/>
              <a:ea typeface="Calibri"/>
              <a:cs typeface="Calibri"/>
              <a:sym typeface="Calibri"/>
            </a:endParaRPr>
          </a:p>
        </p:txBody>
      </p:sp>
      <p:sp>
        <p:nvSpPr>
          <p:cNvPr id="536" name="Google Shape;536;p14"/>
          <p:cNvSpPr/>
          <p:nvPr/>
        </p:nvSpPr>
        <p:spPr>
          <a:xfrm>
            <a:off x="228600" y="3737967"/>
            <a:ext cx="4057650" cy="141089"/>
          </a:xfrm>
          <a:prstGeom prst="rect">
            <a:avLst/>
          </a:prstGeom>
          <a:noFill/>
          <a:ln>
            <a:noFill/>
          </a:ln>
        </p:spPr>
        <p:txBody>
          <a:bodyPr anchorCtr="0" anchor="t" bIns="0" lIns="272150" spcFirstLastPara="1" rIns="0" wrap="square" tIns="0">
            <a:noAutofit/>
          </a:bodyPr>
          <a:lstStyle/>
          <a:p>
            <a:pPr indent="0" lvl="0" marL="0" marR="0" rtl="0" algn="l">
              <a:lnSpc>
                <a:spcPct val="133689"/>
              </a:lnSpc>
              <a:spcBef>
                <a:spcPts val="0"/>
              </a:spcBef>
              <a:spcAft>
                <a:spcPts val="0"/>
              </a:spcAft>
              <a:buClr>
                <a:srgbClr val="D4D4D4"/>
              </a:buClr>
              <a:buSzPts val="748"/>
              <a:buFont typeface="Arial"/>
              <a:buNone/>
            </a:pPr>
            <a:r>
              <a:rPr b="0" i="0" lang="en-US" sz="748" u="none" cap="none" strike="noStrike">
                <a:solidFill>
                  <a:srgbClr val="D4D4D4"/>
                </a:solidFill>
                <a:latin typeface="Arial"/>
                <a:ea typeface="Arial"/>
                <a:cs typeface="Arial"/>
                <a:sym typeface="Arial"/>
              </a:rPr>
              <a:t>log.error(</a:t>
            </a:r>
            <a:r>
              <a:rPr b="0" i="0" lang="en-US" sz="748" u="none" cap="none" strike="noStrike">
                <a:solidFill>
                  <a:srgbClr val="CE9178"/>
                </a:solidFill>
                <a:latin typeface="Arial"/>
                <a:ea typeface="Arial"/>
                <a:cs typeface="Arial"/>
                <a:sym typeface="Arial"/>
              </a:rPr>
              <a:t>"Stream interrupted"</a:t>
            </a:r>
            <a:r>
              <a:rPr b="0" i="0" lang="en-US" sz="748" u="none" cap="none" strike="noStrike">
                <a:solidFill>
                  <a:srgbClr val="D4D4D4"/>
                </a:solidFill>
                <a:latin typeface="Arial"/>
                <a:ea typeface="Arial"/>
                <a:cs typeface="Arial"/>
                <a:sym typeface="Arial"/>
              </a:rPr>
              <a:t>, e);</a:t>
            </a:r>
            <a:endParaRPr b="0" i="0" sz="748" u="none" cap="none" strike="noStrike">
              <a:solidFill>
                <a:schemeClr val="dk1"/>
              </a:solidFill>
              <a:latin typeface="Calibri"/>
              <a:ea typeface="Calibri"/>
              <a:cs typeface="Calibri"/>
              <a:sym typeface="Calibri"/>
            </a:endParaRPr>
          </a:p>
        </p:txBody>
      </p:sp>
      <p:sp>
        <p:nvSpPr>
          <p:cNvPr id="537" name="Google Shape;537;p14"/>
          <p:cNvSpPr/>
          <p:nvPr/>
        </p:nvSpPr>
        <p:spPr>
          <a:xfrm>
            <a:off x="228600" y="3879056"/>
            <a:ext cx="4057650" cy="141089"/>
          </a:xfrm>
          <a:prstGeom prst="rect">
            <a:avLst/>
          </a:prstGeom>
          <a:noFill/>
          <a:ln>
            <a:noFill/>
          </a:ln>
        </p:spPr>
        <p:txBody>
          <a:bodyPr anchorCtr="0" anchor="t" bIns="0" lIns="0" spcFirstLastPara="1" rIns="0" wrap="square" tIns="0">
            <a:noAutofit/>
          </a:bodyPr>
          <a:lstStyle/>
          <a:p>
            <a:pPr indent="0" lvl="0" marL="0" marR="0" rtl="0" algn="l">
              <a:lnSpc>
                <a:spcPct val="133689"/>
              </a:lnSpc>
              <a:spcBef>
                <a:spcPts val="0"/>
              </a:spcBef>
              <a:spcAft>
                <a:spcPts val="0"/>
              </a:spcAft>
              <a:buClr>
                <a:srgbClr val="D4D4D4"/>
              </a:buClr>
              <a:buSzPts val="748"/>
              <a:buFont typeface="Arial"/>
              <a:buNone/>
            </a:pPr>
            <a:r>
              <a:rPr b="0" i="0" lang="en-US" sz="748" u="none" cap="none" strike="noStrike">
                <a:solidFill>
                  <a:srgbClr val="D4D4D4"/>
                </a:solidFill>
                <a:latin typeface="Arial"/>
                <a:ea typeface="Arial"/>
                <a:cs typeface="Arial"/>
                <a:sym typeface="Arial"/>
              </a:rPr>
              <a:t>}</a:t>
            </a:r>
            <a:endParaRPr b="0" i="0" sz="748" u="none" cap="none" strike="noStrike">
              <a:solidFill>
                <a:schemeClr val="dk1"/>
              </a:solidFill>
              <a:latin typeface="Calibri"/>
              <a:ea typeface="Calibri"/>
              <a:cs typeface="Calibri"/>
              <a:sym typeface="Calibri"/>
            </a:endParaRPr>
          </a:p>
        </p:txBody>
      </p:sp>
      <p:sp>
        <p:nvSpPr>
          <p:cNvPr id="538" name="Google Shape;538;p14"/>
          <p:cNvSpPr/>
          <p:nvPr/>
        </p:nvSpPr>
        <p:spPr>
          <a:xfrm>
            <a:off x="4686300" y="321469"/>
            <a:ext cx="4400550" cy="2020119"/>
          </a:xfrm>
          <a:prstGeom prst="rect">
            <a:avLst/>
          </a:prstGeom>
          <a:solidFill>
            <a:srgbClr val="0078D4">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14"/>
          <p:cNvSpPr/>
          <p:nvPr/>
        </p:nvSpPr>
        <p:spPr>
          <a:xfrm>
            <a:off x="4686300" y="321469"/>
            <a:ext cx="28575" cy="2020119"/>
          </a:xfrm>
          <a:prstGeom prst="rect">
            <a:avLst/>
          </a:prstGeom>
          <a:solidFill>
            <a:srgbClr val="0078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14"/>
          <p:cNvSpPr/>
          <p:nvPr/>
        </p:nvSpPr>
        <p:spPr>
          <a:xfrm>
            <a:off x="4857750" y="492919"/>
            <a:ext cx="4057650" cy="157163"/>
          </a:xfrm>
          <a:prstGeom prst="rect">
            <a:avLst/>
          </a:prstGeom>
          <a:noFill/>
          <a:ln>
            <a:noFill/>
          </a:ln>
        </p:spPr>
        <p:txBody>
          <a:bodyPr anchorCtr="0" anchor="t" bIns="0" lIns="0" spcFirstLastPara="1" rIns="0" wrap="square" tIns="0">
            <a:noAutofit/>
          </a:bodyPr>
          <a:lstStyle/>
          <a:p>
            <a:pPr indent="0" lvl="0" marL="0" marR="0" rtl="0" algn="l">
              <a:lnSpc>
                <a:spcPct val="137420"/>
              </a:lnSpc>
              <a:spcBef>
                <a:spcPts val="0"/>
              </a:spcBef>
              <a:spcAft>
                <a:spcPts val="0"/>
              </a:spcAft>
              <a:buClr>
                <a:srgbClr val="0078D4"/>
              </a:buClr>
              <a:buSzPts val="946"/>
              <a:buFont typeface="Times New Roman"/>
              <a:buNone/>
            </a:pPr>
            <a:r>
              <a:rPr b="1" i="0" lang="en-US" sz="946" u="none" cap="none" strike="noStrike">
                <a:solidFill>
                  <a:srgbClr val="0078D4"/>
                </a:solidFill>
                <a:latin typeface="Times New Roman"/>
                <a:ea typeface="Times New Roman"/>
                <a:cs typeface="Times New Roman"/>
                <a:sym typeface="Times New Roman"/>
              </a:rPr>
              <a:t>Behind the Scenes</a:t>
            </a:r>
            <a:endParaRPr b="0" i="0" sz="946" u="none" cap="none" strike="noStrike">
              <a:solidFill>
                <a:schemeClr val="dk1"/>
              </a:solidFill>
              <a:latin typeface="Calibri"/>
              <a:ea typeface="Calibri"/>
              <a:cs typeface="Calibri"/>
              <a:sym typeface="Calibri"/>
            </a:endParaRPr>
          </a:p>
        </p:txBody>
      </p:sp>
      <p:sp>
        <p:nvSpPr>
          <p:cNvPr id="541" name="Google Shape;541;p14"/>
          <p:cNvSpPr/>
          <p:nvPr/>
        </p:nvSpPr>
        <p:spPr>
          <a:xfrm>
            <a:off x="5029200" y="734020"/>
            <a:ext cx="974285" cy="126802"/>
          </a:xfrm>
          <a:prstGeom prst="rect">
            <a:avLst/>
          </a:prstGeom>
          <a:noFill/>
          <a:ln>
            <a:noFill/>
          </a:ln>
        </p:spPr>
        <p:txBody>
          <a:bodyPr anchorCtr="0" anchor="t" bIns="0" lIns="0" spcFirstLastPara="1" rIns="0" wrap="square" tIns="0">
            <a:noAutofit/>
          </a:bodyPr>
          <a:lstStyle/>
          <a:p>
            <a:pPr indent="-127000" lvl="0" marL="127000" marR="0" rtl="0" algn="l">
              <a:lnSpc>
                <a:spcPct val="178571"/>
              </a:lnSpc>
              <a:spcBef>
                <a:spcPts val="0"/>
              </a:spcBef>
              <a:spcAft>
                <a:spcPts val="0"/>
              </a:spcAft>
              <a:buClr>
                <a:srgbClr val="333333"/>
              </a:buClr>
              <a:buSzPts val="784"/>
              <a:buFont typeface="Times New Roman"/>
              <a:buChar char="•"/>
            </a:pPr>
            <a:r>
              <a:rPr b="1" i="0" lang="en-US" sz="784" u="none" cap="none" strike="noStrike">
                <a:solidFill>
                  <a:srgbClr val="333333"/>
                </a:solidFill>
                <a:latin typeface="Times New Roman"/>
                <a:ea typeface="Times New Roman"/>
                <a:cs typeface="Times New Roman"/>
                <a:sym typeface="Times New Roman"/>
              </a:rPr>
              <a:t>Memory Efficiency:</a:t>
            </a:r>
            <a:endParaRPr b="0" i="0" sz="784" u="none" cap="none" strike="noStrike">
              <a:solidFill>
                <a:schemeClr val="dk1"/>
              </a:solidFill>
              <a:latin typeface="Calibri"/>
              <a:ea typeface="Calibri"/>
              <a:cs typeface="Calibri"/>
              <a:sym typeface="Calibri"/>
            </a:endParaRPr>
          </a:p>
        </p:txBody>
      </p:sp>
      <p:sp>
        <p:nvSpPr>
          <p:cNvPr id="542" name="Google Shape;542;p14"/>
          <p:cNvSpPr/>
          <p:nvPr/>
        </p:nvSpPr>
        <p:spPr>
          <a:xfrm>
            <a:off x="6003485" y="734020"/>
            <a:ext cx="232786" cy="126802"/>
          </a:xfrm>
          <a:prstGeom prst="rect">
            <a:avLst/>
          </a:prstGeom>
          <a:noFill/>
          <a:ln>
            <a:noFill/>
          </a:ln>
        </p:spPr>
        <p:txBody>
          <a:bodyPr anchorCtr="0" anchor="t" bIns="0" lIns="0" spcFirstLastPara="1" rIns="0" wrap="square" tIns="0">
            <a:noAutofit/>
          </a:bodyPr>
          <a:lstStyle/>
          <a:p>
            <a:pPr indent="0" lvl="0" marL="0" marR="0" rtl="0" algn="l">
              <a:lnSpc>
                <a:spcPct val="167865"/>
              </a:lnSpc>
              <a:spcBef>
                <a:spcPts val="0"/>
              </a:spcBef>
              <a:spcAft>
                <a:spcPts val="0"/>
              </a:spcAft>
              <a:buClr>
                <a:srgbClr val="333333"/>
              </a:buClr>
              <a:buSzPts val="834"/>
              <a:buFont typeface="Times New Roman"/>
              <a:buNone/>
            </a:pPr>
            <a:r>
              <a:rPr b="0" i="0" lang="en-US" sz="834" u="none" cap="none" strike="noStrike">
                <a:solidFill>
                  <a:srgbClr val="333333"/>
                </a:solidFill>
                <a:latin typeface="Times New Roman"/>
                <a:ea typeface="Times New Roman"/>
                <a:cs typeface="Times New Roman"/>
                <a:sym typeface="Times New Roman"/>
              </a:rPr>
              <a:t>The</a:t>
            </a:r>
            <a:endParaRPr b="0" i="0" sz="834" u="none" cap="none" strike="noStrike">
              <a:solidFill>
                <a:schemeClr val="dk1"/>
              </a:solidFill>
              <a:latin typeface="Calibri"/>
              <a:ea typeface="Calibri"/>
              <a:cs typeface="Calibri"/>
              <a:sym typeface="Calibri"/>
            </a:endParaRPr>
          </a:p>
        </p:txBody>
      </p:sp>
      <p:sp>
        <p:nvSpPr>
          <p:cNvPr id="543" name="Google Shape;543;p14"/>
          <p:cNvSpPr/>
          <p:nvPr/>
        </p:nvSpPr>
        <p:spPr>
          <a:xfrm>
            <a:off x="6236271" y="737592"/>
            <a:ext cx="724393" cy="126802"/>
          </a:xfrm>
          <a:prstGeom prst="rect">
            <a:avLst/>
          </a:prstGeom>
          <a:noFill/>
          <a:ln>
            <a:noFill/>
          </a:ln>
        </p:spPr>
        <p:txBody>
          <a:bodyPr anchorCtr="0" anchor="t" bIns="0" lIns="0" spcFirstLastPara="1" rIns="0" wrap="square" tIns="0">
            <a:noAutofit/>
          </a:bodyPr>
          <a:lstStyle/>
          <a:p>
            <a:pPr indent="0" lvl="0" marL="0" marR="0" rtl="0" algn="l">
              <a:lnSpc>
                <a:spcPct val="178041"/>
              </a:lnSpc>
              <a:spcBef>
                <a:spcPts val="0"/>
              </a:spcBef>
              <a:spcAft>
                <a:spcPts val="0"/>
              </a:spcAft>
              <a:buClr>
                <a:srgbClr val="333333"/>
              </a:buClr>
              <a:buSzPts val="674"/>
              <a:buFont typeface="Arial"/>
              <a:buNone/>
            </a:pPr>
            <a:r>
              <a:rPr b="0" i="0" lang="en-US" sz="674" u="none" cap="none" strike="noStrike">
                <a:solidFill>
                  <a:srgbClr val="333333"/>
                </a:solidFill>
                <a:latin typeface="Arial"/>
                <a:ea typeface="Arial"/>
                <a:cs typeface="Arial"/>
                <a:sym typeface="Arial"/>
              </a:rPr>
              <a:t>encryptStream</a:t>
            </a:r>
            <a:endParaRPr b="0" i="0" sz="674" u="none" cap="none" strike="noStrike">
              <a:solidFill>
                <a:schemeClr val="dk1"/>
              </a:solidFill>
              <a:latin typeface="Calibri"/>
              <a:ea typeface="Calibri"/>
              <a:cs typeface="Calibri"/>
              <a:sym typeface="Calibri"/>
            </a:endParaRPr>
          </a:p>
        </p:txBody>
      </p:sp>
      <p:sp>
        <p:nvSpPr>
          <p:cNvPr id="544" name="Google Shape;544;p14"/>
          <p:cNvSpPr/>
          <p:nvPr/>
        </p:nvSpPr>
        <p:spPr>
          <a:xfrm>
            <a:off x="5029200" y="734020"/>
            <a:ext cx="3788504" cy="309665"/>
          </a:xfrm>
          <a:prstGeom prst="rect">
            <a:avLst/>
          </a:prstGeom>
          <a:noFill/>
          <a:ln>
            <a:noFill/>
          </a:ln>
        </p:spPr>
        <p:txBody>
          <a:bodyPr anchorCtr="0" anchor="t" bIns="0" lIns="0" spcFirstLastPara="1" rIns="0" wrap="square" tIns="0">
            <a:noAutofit/>
          </a:bodyPr>
          <a:lstStyle/>
          <a:p>
            <a:pPr indent="0" lvl="0" marL="0" marR="0" rtl="0" algn="l">
              <a:lnSpc>
                <a:spcPct val="167865"/>
              </a:lnSpc>
              <a:spcBef>
                <a:spcPts val="0"/>
              </a:spcBef>
              <a:spcAft>
                <a:spcPts val="0"/>
              </a:spcAft>
              <a:buClr>
                <a:srgbClr val="333333"/>
              </a:buClr>
              <a:buSzPts val="834"/>
              <a:buFont typeface="Times New Roman"/>
              <a:buNone/>
            </a:pPr>
            <a:r>
              <a:rPr b="0" i="0" lang="en-US" sz="834" u="none" cap="none" strike="noStrike">
                <a:solidFill>
                  <a:srgbClr val="333333"/>
                </a:solidFill>
                <a:latin typeface="Times New Roman"/>
                <a:ea typeface="Times New Roman"/>
                <a:cs typeface="Times New Roman"/>
                <a:sym typeface="Times New Roman"/>
              </a:rPr>
              <a:t>method processes data in 64KB chunks, meaning it can encrypt a 100GB log file using only a few megabytes of RAM.</a:t>
            </a:r>
            <a:endParaRPr b="0" i="0" sz="834" u="none" cap="none" strike="noStrike">
              <a:solidFill>
                <a:schemeClr val="dk1"/>
              </a:solidFill>
              <a:latin typeface="Calibri"/>
              <a:ea typeface="Calibri"/>
              <a:cs typeface="Calibri"/>
              <a:sym typeface="Calibri"/>
            </a:endParaRPr>
          </a:p>
        </p:txBody>
      </p:sp>
      <p:sp>
        <p:nvSpPr>
          <p:cNvPr id="545" name="Google Shape;545;p14"/>
          <p:cNvSpPr/>
          <p:nvPr/>
        </p:nvSpPr>
        <p:spPr>
          <a:xfrm>
            <a:off x="5029200" y="1099747"/>
            <a:ext cx="930194" cy="126802"/>
          </a:xfrm>
          <a:prstGeom prst="rect">
            <a:avLst/>
          </a:prstGeom>
          <a:noFill/>
          <a:ln>
            <a:noFill/>
          </a:ln>
        </p:spPr>
        <p:txBody>
          <a:bodyPr anchorCtr="0" anchor="t" bIns="0" lIns="0" spcFirstLastPara="1" rIns="0" wrap="square" tIns="0">
            <a:noAutofit/>
          </a:bodyPr>
          <a:lstStyle/>
          <a:p>
            <a:pPr indent="-127000" lvl="0" marL="127000" marR="0" rtl="0" algn="l">
              <a:lnSpc>
                <a:spcPct val="178571"/>
              </a:lnSpc>
              <a:spcBef>
                <a:spcPts val="0"/>
              </a:spcBef>
              <a:spcAft>
                <a:spcPts val="0"/>
              </a:spcAft>
              <a:buClr>
                <a:srgbClr val="333333"/>
              </a:buClr>
              <a:buSzPts val="784"/>
              <a:buFont typeface="Times New Roman"/>
              <a:buChar char="•"/>
            </a:pPr>
            <a:r>
              <a:rPr b="1" i="0" lang="en-US" sz="784" u="none" cap="none" strike="noStrike">
                <a:solidFill>
                  <a:srgbClr val="333333"/>
                </a:solidFill>
                <a:latin typeface="Times New Roman"/>
                <a:ea typeface="Times New Roman"/>
                <a:cs typeface="Times New Roman"/>
                <a:sym typeface="Times New Roman"/>
              </a:rPr>
              <a:t>Seamless Rotation:</a:t>
            </a:r>
            <a:endParaRPr b="0" i="0" sz="784" u="none" cap="none" strike="noStrike">
              <a:solidFill>
                <a:schemeClr val="dk1"/>
              </a:solidFill>
              <a:latin typeface="Calibri"/>
              <a:ea typeface="Calibri"/>
              <a:cs typeface="Calibri"/>
              <a:sym typeface="Calibri"/>
            </a:endParaRPr>
          </a:p>
        </p:txBody>
      </p:sp>
      <p:sp>
        <p:nvSpPr>
          <p:cNvPr id="546" name="Google Shape;546;p14"/>
          <p:cNvSpPr/>
          <p:nvPr/>
        </p:nvSpPr>
        <p:spPr>
          <a:xfrm>
            <a:off x="5959394" y="1099747"/>
            <a:ext cx="232786" cy="126802"/>
          </a:xfrm>
          <a:prstGeom prst="rect">
            <a:avLst/>
          </a:prstGeom>
          <a:noFill/>
          <a:ln>
            <a:noFill/>
          </a:ln>
        </p:spPr>
        <p:txBody>
          <a:bodyPr anchorCtr="0" anchor="t" bIns="0" lIns="0" spcFirstLastPara="1" rIns="0" wrap="square" tIns="0">
            <a:noAutofit/>
          </a:bodyPr>
          <a:lstStyle/>
          <a:p>
            <a:pPr indent="0" lvl="0" marL="0" marR="0" rtl="0" algn="l">
              <a:lnSpc>
                <a:spcPct val="167865"/>
              </a:lnSpc>
              <a:spcBef>
                <a:spcPts val="0"/>
              </a:spcBef>
              <a:spcAft>
                <a:spcPts val="0"/>
              </a:spcAft>
              <a:buClr>
                <a:srgbClr val="333333"/>
              </a:buClr>
              <a:buSzPts val="834"/>
              <a:buFont typeface="Times New Roman"/>
              <a:buNone/>
            </a:pPr>
            <a:r>
              <a:rPr b="0" i="0" lang="en-US" sz="834" u="none" cap="none" strike="noStrike">
                <a:solidFill>
                  <a:srgbClr val="333333"/>
                </a:solidFill>
                <a:latin typeface="Times New Roman"/>
                <a:ea typeface="Times New Roman"/>
                <a:cs typeface="Times New Roman"/>
                <a:sym typeface="Times New Roman"/>
              </a:rPr>
              <a:t>The</a:t>
            </a:r>
            <a:endParaRPr b="0" i="0" sz="834" u="none" cap="none" strike="noStrike">
              <a:solidFill>
                <a:schemeClr val="dk1"/>
              </a:solidFill>
              <a:latin typeface="Calibri"/>
              <a:ea typeface="Calibri"/>
              <a:cs typeface="Calibri"/>
              <a:sym typeface="Calibri"/>
            </a:endParaRPr>
          </a:p>
        </p:txBody>
      </p:sp>
      <p:sp>
        <p:nvSpPr>
          <p:cNvPr id="547" name="Google Shape;547;p14"/>
          <p:cNvSpPr/>
          <p:nvPr/>
        </p:nvSpPr>
        <p:spPr>
          <a:xfrm>
            <a:off x="6192180" y="1103319"/>
            <a:ext cx="1170152" cy="126802"/>
          </a:xfrm>
          <a:prstGeom prst="rect">
            <a:avLst/>
          </a:prstGeom>
          <a:noFill/>
          <a:ln>
            <a:noFill/>
          </a:ln>
        </p:spPr>
        <p:txBody>
          <a:bodyPr anchorCtr="0" anchor="t" bIns="0" lIns="0" spcFirstLastPara="1" rIns="0" wrap="square" tIns="0">
            <a:noAutofit/>
          </a:bodyPr>
          <a:lstStyle/>
          <a:p>
            <a:pPr indent="0" lvl="0" marL="0" marR="0" rtl="0" algn="l">
              <a:lnSpc>
                <a:spcPct val="178041"/>
              </a:lnSpc>
              <a:spcBef>
                <a:spcPts val="0"/>
              </a:spcBef>
              <a:spcAft>
                <a:spcPts val="0"/>
              </a:spcAft>
              <a:buClr>
                <a:srgbClr val="333333"/>
              </a:buClr>
              <a:buSzPts val="674"/>
              <a:buFont typeface="Arial"/>
              <a:buNone/>
            </a:pPr>
            <a:r>
              <a:rPr b="0" i="0" lang="en-US" sz="674" u="none" cap="none" strike="noStrike">
                <a:solidFill>
                  <a:srgbClr val="333333"/>
                </a:solidFill>
                <a:latin typeface="Arial"/>
                <a:ea typeface="Arial"/>
                <a:cs typeface="Arial"/>
                <a:sym typeface="Arial"/>
              </a:rPr>
              <a:t>enableRotationWatch()</a:t>
            </a:r>
            <a:endParaRPr b="0" i="0" sz="674" u="none" cap="none" strike="noStrike">
              <a:solidFill>
                <a:schemeClr val="dk1"/>
              </a:solidFill>
              <a:latin typeface="Calibri"/>
              <a:ea typeface="Calibri"/>
              <a:cs typeface="Calibri"/>
              <a:sym typeface="Calibri"/>
            </a:endParaRPr>
          </a:p>
        </p:txBody>
      </p:sp>
      <p:sp>
        <p:nvSpPr>
          <p:cNvPr id="548" name="Google Shape;548;p14"/>
          <p:cNvSpPr/>
          <p:nvPr/>
        </p:nvSpPr>
        <p:spPr>
          <a:xfrm>
            <a:off x="5029200" y="1099747"/>
            <a:ext cx="3860304" cy="675391"/>
          </a:xfrm>
          <a:prstGeom prst="rect">
            <a:avLst/>
          </a:prstGeom>
          <a:noFill/>
          <a:ln>
            <a:noFill/>
          </a:ln>
        </p:spPr>
        <p:txBody>
          <a:bodyPr anchorCtr="0" anchor="t" bIns="0" lIns="0" spcFirstLastPara="1" rIns="0" wrap="square" tIns="0">
            <a:noAutofit/>
          </a:bodyPr>
          <a:lstStyle/>
          <a:p>
            <a:pPr indent="0" lvl="0" marL="0" marR="0" rtl="0" algn="l">
              <a:lnSpc>
                <a:spcPct val="167865"/>
              </a:lnSpc>
              <a:spcBef>
                <a:spcPts val="0"/>
              </a:spcBef>
              <a:spcAft>
                <a:spcPts val="0"/>
              </a:spcAft>
              <a:buClr>
                <a:srgbClr val="333333"/>
              </a:buClr>
              <a:buSzPts val="834"/>
              <a:buFont typeface="Times New Roman"/>
              <a:buNone/>
            </a:pPr>
            <a:r>
              <a:rPr b="0" i="0" lang="en-US" sz="834" u="none" cap="none" strike="noStrike">
                <a:solidFill>
                  <a:srgbClr val="333333"/>
                </a:solidFill>
                <a:latin typeface="Times New Roman"/>
                <a:ea typeface="Times New Roman"/>
                <a:cs typeface="Times New Roman"/>
                <a:sym typeface="Times New Roman"/>
              </a:rPr>
              <a:t>method connects to the platform's WebSocket event stream. If the security team triggers an emergency KEK rotation, the SDK instantly generates a new DEK and embeds the new key metadata into the stream seamlessly.</a:t>
            </a:r>
            <a:endParaRPr b="0" i="0" sz="834" u="none" cap="none" strike="noStrike">
              <a:solidFill>
                <a:schemeClr val="dk1"/>
              </a:solidFill>
              <a:latin typeface="Calibri"/>
              <a:ea typeface="Calibri"/>
              <a:cs typeface="Calibri"/>
              <a:sym typeface="Calibri"/>
            </a:endParaRPr>
          </a:p>
        </p:txBody>
      </p:sp>
      <p:sp>
        <p:nvSpPr>
          <p:cNvPr id="549" name="Google Shape;549;p14"/>
          <p:cNvSpPr/>
          <p:nvPr/>
        </p:nvSpPr>
        <p:spPr>
          <a:xfrm>
            <a:off x="5029200" y="1804411"/>
            <a:ext cx="3886200" cy="365727"/>
          </a:xfrm>
          <a:prstGeom prst="rect">
            <a:avLst/>
          </a:prstGeom>
          <a:noFill/>
          <a:ln>
            <a:noFill/>
          </a:ln>
        </p:spPr>
        <p:txBody>
          <a:bodyPr anchorCtr="0" anchor="t" bIns="0" lIns="0" spcFirstLastPara="1" rIns="0" wrap="square" tIns="0">
            <a:noAutofit/>
          </a:bodyPr>
          <a:lstStyle/>
          <a:p>
            <a:pPr indent="-127000" lvl="0" marL="127000" marR="0" rtl="0" algn="l">
              <a:lnSpc>
                <a:spcPct val="167865"/>
              </a:lnSpc>
              <a:spcBef>
                <a:spcPts val="0"/>
              </a:spcBef>
              <a:spcAft>
                <a:spcPts val="0"/>
              </a:spcAft>
              <a:buClr>
                <a:srgbClr val="333333"/>
              </a:buClr>
              <a:buSzPts val="784"/>
              <a:buFont typeface="Times New Roman"/>
              <a:buChar char="•"/>
            </a:pPr>
            <a:r>
              <a:rPr b="1" i="0" lang="en-US" sz="784" u="none" cap="none" strike="noStrike">
                <a:solidFill>
                  <a:srgbClr val="333333"/>
                </a:solidFill>
                <a:latin typeface="Times New Roman"/>
                <a:ea typeface="Times New Roman"/>
                <a:cs typeface="Times New Roman"/>
                <a:sym typeface="Times New Roman"/>
              </a:rPr>
              <a:t>Data Integrity:</a:t>
            </a:r>
            <a:r>
              <a:rPr b="0" i="0" lang="en-US" sz="834" u="none" cap="none" strike="noStrike">
                <a:solidFill>
                  <a:srgbClr val="333333"/>
                </a:solidFill>
                <a:latin typeface="Times New Roman"/>
                <a:ea typeface="Times New Roman"/>
                <a:cs typeface="Times New Roman"/>
                <a:sym typeface="Times New Roman"/>
              </a:rPr>
              <a:t> Each chunk includes its own AES-GCM authentication tag, preventing tampering mid-stream.</a:t>
            </a:r>
            <a:endParaRPr b="0" i="0" sz="784"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pic>
        <p:nvPicPr>
          <p:cNvPr descr="preencoded.png" id="555" name="Google Shape;555;p15"/>
          <p:cNvPicPr preferRelativeResize="0"/>
          <p:nvPr/>
        </p:nvPicPr>
        <p:blipFill rotWithShape="1">
          <a:blip r:embed="rId3">
            <a:alphaModFix/>
          </a:blip>
          <a:srcRect b="0" l="0" r="0" t="0"/>
          <a:stretch/>
        </p:blipFill>
        <p:spPr>
          <a:xfrm>
            <a:off x="0" y="0"/>
            <a:ext cx="9144000" cy="5188818"/>
          </a:xfrm>
          <a:prstGeom prst="rect">
            <a:avLst/>
          </a:prstGeom>
          <a:noFill/>
          <a:ln>
            <a:noFill/>
          </a:ln>
        </p:spPr>
      </p:pic>
      <p:sp>
        <p:nvSpPr>
          <p:cNvPr id="556" name="Google Shape;556;p15"/>
          <p:cNvSpPr/>
          <p:nvPr/>
        </p:nvSpPr>
        <p:spPr>
          <a:xfrm>
            <a:off x="357188" y="214313"/>
            <a:ext cx="8429625" cy="258961"/>
          </a:xfrm>
          <a:prstGeom prst="rect">
            <a:avLst/>
          </a:prstGeom>
          <a:noFill/>
          <a:ln>
            <a:noFill/>
          </a:ln>
        </p:spPr>
        <p:txBody>
          <a:bodyPr anchorCtr="0" anchor="t" bIns="0" lIns="0" spcFirstLastPara="1" rIns="0" wrap="square" tIns="0">
            <a:noAutofit/>
          </a:bodyPr>
          <a:lstStyle/>
          <a:p>
            <a:pPr indent="0" lvl="0" marL="0" marR="0" rtl="0" algn="l">
              <a:lnSpc>
                <a:spcPct val="133422"/>
              </a:lnSpc>
              <a:spcBef>
                <a:spcPts val="0"/>
              </a:spcBef>
              <a:spcAft>
                <a:spcPts val="0"/>
              </a:spcAft>
              <a:buClr>
                <a:srgbClr val="FFFFFF"/>
              </a:buClr>
              <a:buSzPts val="1499"/>
              <a:buFont typeface="Inter"/>
              <a:buNone/>
            </a:pPr>
            <a:r>
              <a:rPr b="1" i="0" lang="en-US" sz="1499" u="none" cap="none" strike="noStrike">
                <a:solidFill>
                  <a:srgbClr val="FFFFFF"/>
                </a:solidFill>
                <a:latin typeface="Inter"/>
                <a:ea typeface="Inter"/>
                <a:cs typeface="Inter"/>
                <a:sym typeface="Inter"/>
              </a:rPr>
              <a:t>Use Case D: Database Field-Level Encryption</a:t>
            </a:r>
            <a:endParaRPr b="0" i="0" sz="1499" u="none" cap="none" strike="noStrike">
              <a:solidFill>
                <a:schemeClr val="dk1"/>
              </a:solidFill>
              <a:latin typeface="Calibri"/>
              <a:ea typeface="Calibri"/>
              <a:cs typeface="Calibri"/>
              <a:sym typeface="Calibri"/>
            </a:endParaRPr>
          </a:p>
        </p:txBody>
      </p:sp>
      <p:sp>
        <p:nvSpPr>
          <p:cNvPr id="557" name="Google Shape;557;p15"/>
          <p:cNvSpPr/>
          <p:nvPr/>
        </p:nvSpPr>
        <p:spPr>
          <a:xfrm>
            <a:off x="357188" y="501848"/>
            <a:ext cx="8429625" cy="121444"/>
          </a:xfrm>
          <a:prstGeom prst="rect">
            <a:avLst/>
          </a:prstGeom>
          <a:noFill/>
          <a:ln>
            <a:noFill/>
          </a:ln>
        </p:spPr>
        <p:txBody>
          <a:bodyPr anchorCtr="0" anchor="t" bIns="0" lIns="0" spcFirstLastPara="1" rIns="0" wrap="square" tIns="0">
            <a:noAutofit/>
          </a:bodyPr>
          <a:lstStyle/>
          <a:p>
            <a:pPr indent="0" lvl="0" marL="0" marR="0" rtl="0" algn="l">
              <a:lnSpc>
                <a:spcPct val="133531"/>
              </a:lnSpc>
              <a:spcBef>
                <a:spcPts val="0"/>
              </a:spcBef>
              <a:spcAft>
                <a:spcPts val="0"/>
              </a:spcAft>
              <a:buClr>
                <a:srgbClr val="546E7A"/>
              </a:buClr>
              <a:buSzPts val="674"/>
              <a:buFont typeface="Roboto Mono"/>
              <a:buNone/>
            </a:pPr>
            <a:r>
              <a:rPr b="0" i="0" lang="en-US" sz="674" u="none" cap="none" strike="noStrike">
                <a:solidFill>
                  <a:srgbClr val="546E7A"/>
                </a:solidFill>
                <a:latin typeface="Roboto Mono"/>
                <a:ea typeface="Roboto Mono"/>
                <a:cs typeface="Roboto Mono"/>
                <a:sym typeface="Roboto Mono"/>
              </a:rPr>
              <a:t>Application encrypts specific PII/PHI fields before writing to database. Different data classifications per field.</a:t>
            </a:r>
            <a:endParaRPr b="0" i="0" sz="674" u="none" cap="none" strike="noStrike">
              <a:solidFill>
                <a:schemeClr val="dk1"/>
              </a:solidFill>
              <a:latin typeface="Calibri"/>
              <a:ea typeface="Calibri"/>
              <a:cs typeface="Calibri"/>
              <a:sym typeface="Calibri"/>
            </a:endParaRPr>
          </a:p>
        </p:txBody>
      </p:sp>
      <p:sp>
        <p:nvSpPr>
          <p:cNvPr id="558" name="Google Shape;558;p15"/>
          <p:cNvSpPr/>
          <p:nvPr/>
        </p:nvSpPr>
        <p:spPr>
          <a:xfrm>
            <a:off x="285750" y="737592"/>
            <a:ext cx="1714500" cy="489347"/>
          </a:xfrm>
          <a:prstGeom prst="rect">
            <a:avLst/>
          </a:prstGeom>
          <a:solidFill>
            <a:srgbClr val="00E5FF">
              <a:alpha val="14901"/>
            </a:srgbClr>
          </a:solidFill>
          <a:ln cap="flat" cmpd="sng" w="9525">
            <a:solidFill>
              <a:srgbClr val="FFFFFF">
                <a:alpha val="784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59" name="Google Shape;559;p15"/>
          <p:cNvPicPr preferRelativeResize="0"/>
          <p:nvPr/>
        </p:nvPicPr>
        <p:blipFill rotWithShape="1">
          <a:blip r:embed="rId4">
            <a:alphaModFix/>
          </a:blip>
          <a:srcRect b="0" l="0" r="0" t="0"/>
          <a:stretch/>
        </p:blipFill>
        <p:spPr>
          <a:xfrm>
            <a:off x="1095673" y="816173"/>
            <a:ext cx="94655" cy="107156"/>
          </a:xfrm>
          <a:prstGeom prst="rect">
            <a:avLst/>
          </a:prstGeom>
          <a:noFill/>
          <a:ln>
            <a:noFill/>
          </a:ln>
        </p:spPr>
      </p:pic>
      <p:sp>
        <p:nvSpPr>
          <p:cNvPr id="560" name="Google Shape;560;p15"/>
          <p:cNvSpPr/>
          <p:nvPr/>
        </p:nvSpPr>
        <p:spPr>
          <a:xfrm>
            <a:off x="919758" y="944761"/>
            <a:ext cx="446484" cy="96441"/>
          </a:xfrm>
          <a:prstGeom prst="rect">
            <a:avLst/>
          </a:prstGeom>
          <a:noFill/>
          <a:ln>
            <a:noFill/>
          </a:ln>
        </p:spPr>
        <p:txBody>
          <a:bodyPr anchorCtr="0" anchor="t" bIns="0" lIns="0" spcFirstLastPara="1" rIns="0" wrap="square" tIns="0">
            <a:noAutofit/>
          </a:bodyPr>
          <a:lstStyle/>
          <a:p>
            <a:pPr indent="0" lvl="0" marL="0" marR="0" rtl="0" algn="l">
              <a:lnSpc>
                <a:spcPct val="131086"/>
              </a:lnSpc>
              <a:spcBef>
                <a:spcPts val="0"/>
              </a:spcBef>
              <a:spcAft>
                <a:spcPts val="0"/>
              </a:spcAft>
              <a:buClr>
                <a:srgbClr val="00E5FF"/>
              </a:buClr>
              <a:buSzPts val="534"/>
              <a:buFont typeface="Inter"/>
              <a:buNone/>
            </a:pPr>
            <a:r>
              <a:rPr b="1" i="0" lang="en-US" sz="534" u="none" cap="none" strike="noStrike">
                <a:solidFill>
                  <a:srgbClr val="00E5FF"/>
                </a:solidFill>
                <a:latin typeface="Inter"/>
                <a:ea typeface="Inter"/>
                <a:cs typeface="Inter"/>
                <a:sym typeface="Inter"/>
              </a:rPr>
              <a:t>Application</a:t>
            </a:r>
            <a:endParaRPr b="0" i="0" sz="534" u="none" cap="none" strike="noStrike">
              <a:solidFill>
                <a:schemeClr val="dk1"/>
              </a:solidFill>
              <a:latin typeface="Calibri"/>
              <a:ea typeface="Calibri"/>
              <a:cs typeface="Calibri"/>
              <a:sym typeface="Calibri"/>
            </a:endParaRPr>
          </a:p>
        </p:txBody>
      </p:sp>
      <p:sp>
        <p:nvSpPr>
          <p:cNvPr id="561" name="Google Shape;561;p15"/>
          <p:cNvSpPr/>
          <p:nvPr/>
        </p:nvSpPr>
        <p:spPr>
          <a:xfrm>
            <a:off x="1025128" y="1062633"/>
            <a:ext cx="235744" cy="85725"/>
          </a:xfrm>
          <a:prstGeom prst="rect">
            <a:avLst/>
          </a:prstGeom>
          <a:noFill/>
          <a:ln>
            <a:noFill/>
          </a:ln>
        </p:spPr>
        <p:txBody>
          <a:bodyPr anchorCtr="0" anchor="t" bIns="0" lIns="0" spcFirstLastPara="1" rIns="0" wrap="square" tIns="0">
            <a:noAutofit/>
          </a:bodyPr>
          <a:lstStyle/>
          <a:p>
            <a:pPr indent="0" lvl="0" marL="0" marR="0" rtl="0" algn="l">
              <a:lnSpc>
                <a:spcPct val="129589"/>
              </a:lnSpc>
              <a:spcBef>
                <a:spcPts val="0"/>
              </a:spcBef>
              <a:spcAft>
                <a:spcPts val="0"/>
              </a:spcAft>
              <a:buClr>
                <a:srgbClr val="00E5FF"/>
              </a:buClr>
              <a:buSzPts val="463"/>
              <a:buFont typeface="Roboto Mono"/>
              <a:buNone/>
            </a:pPr>
            <a:r>
              <a:rPr b="0" i="0" lang="en-US" sz="463" u="none" cap="none" strike="noStrike">
                <a:solidFill>
                  <a:srgbClr val="00E5FF"/>
                </a:solidFill>
                <a:latin typeface="Roboto Mono"/>
                <a:ea typeface="Roboto Mono"/>
                <a:cs typeface="Roboto Mono"/>
                <a:sym typeface="Roboto Mono"/>
              </a:rPr>
              <a:t>Caller</a:t>
            </a:r>
            <a:endParaRPr b="0" i="0" sz="463" u="none" cap="none" strike="noStrike">
              <a:solidFill>
                <a:schemeClr val="dk1"/>
              </a:solidFill>
              <a:latin typeface="Calibri"/>
              <a:ea typeface="Calibri"/>
              <a:cs typeface="Calibri"/>
              <a:sym typeface="Calibri"/>
            </a:endParaRPr>
          </a:p>
        </p:txBody>
      </p:sp>
      <p:sp>
        <p:nvSpPr>
          <p:cNvPr id="562" name="Google Shape;562;p15"/>
          <p:cNvSpPr/>
          <p:nvPr/>
        </p:nvSpPr>
        <p:spPr>
          <a:xfrm>
            <a:off x="2000250" y="737592"/>
            <a:ext cx="1714500" cy="489347"/>
          </a:xfrm>
          <a:prstGeom prst="rect">
            <a:avLst/>
          </a:prstGeom>
          <a:solidFill>
            <a:srgbClr val="2979FF">
              <a:alpha val="14901"/>
            </a:srgbClr>
          </a:solidFill>
          <a:ln cap="flat" cmpd="sng" w="9525">
            <a:solidFill>
              <a:srgbClr val="FFFFFF">
                <a:alpha val="784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63" name="Google Shape;563;p15"/>
          <p:cNvPicPr preferRelativeResize="0"/>
          <p:nvPr/>
        </p:nvPicPr>
        <p:blipFill rotWithShape="1">
          <a:blip r:embed="rId5">
            <a:alphaModFix/>
          </a:blip>
          <a:srcRect b="0" l="0" r="0" t="0"/>
          <a:stretch/>
        </p:blipFill>
        <p:spPr>
          <a:xfrm>
            <a:off x="2803922" y="816173"/>
            <a:ext cx="107156" cy="107156"/>
          </a:xfrm>
          <a:prstGeom prst="rect">
            <a:avLst/>
          </a:prstGeom>
          <a:noFill/>
          <a:ln>
            <a:noFill/>
          </a:ln>
        </p:spPr>
      </p:pic>
      <p:sp>
        <p:nvSpPr>
          <p:cNvPr id="564" name="Google Shape;564;p15"/>
          <p:cNvSpPr/>
          <p:nvPr/>
        </p:nvSpPr>
        <p:spPr>
          <a:xfrm>
            <a:off x="2691408" y="944761"/>
            <a:ext cx="332184" cy="96441"/>
          </a:xfrm>
          <a:prstGeom prst="rect">
            <a:avLst/>
          </a:prstGeom>
          <a:noFill/>
          <a:ln>
            <a:noFill/>
          </a:ln>
        </p:spPr>
        <p:txBody>
          <a:bodyPr anchorCtr="0" anchor="t" bIns="0" lIns="0" spcFirstLastPara="1" rIns="0" wrap="square" tIns="0">
            <a:noAutofit/>
          </a:bodyPr>
          <a:lstStyle/>
          <a:p>
            <a:pPr indent="0" lvl="0" marL="0" marR="0" rtl="0" algn="l">
              <a:lnSpc>
                <a:spcPct val="131086"/>
              </a:lnSpc>
              <a:spcBef>
                <a:spcPts val="0"/>
              </a:spcBef>
              <a:spcAft>
                <a:spcPts val="0"/>
              </a:spcAft>
              <a:buClr>
                <a:srgbClr val="2979FF"/>
              </a:buClr>
              <a:buSzPts val="534"/>
              <a:buFont typeface="Inter"/>
              <a:buNone/>
            </a:pPr>
            <a:r>
              <a:rPr b="1" i="0" lang="en-US" sz="534" u="none" cap="none" strike="noStrike">
                <a:solidFill>
                  <a:srgbClr val="2979FF"/>
                </a:solidFill>
                <a:latin typeface="Inter"/>
                <a:ea typeface="Inter"/>
                <a:cs typeface="Inter"/>
                <a:sym typeface="Inter"/>
              </a:rPr>
              <a:t>EES SDK</a:t>
            </a:r>
            <a:endParaRPr b="0" i="0" sz="534" u="none" cap="none" strike="noStrike">
              <a:solidFill>
                <a:schemeClr val="dk1"/>
              </a:solidFill>
              <a:latin typeface="Calibri"/>
              <a:ea typeface="Calibri"/>
              <a:cs typeface="Calibri"/>
              <a:sym typeface="Calibri"/>
            </a:endParaRPr>
          </a:p>
        </p:txBody>
      </p:sp>
      <p:sp>
        <p:nvSpPr>
          <p:cNvPr id="565" name="Google Shape;565;p15"/>
          <p:cNvSpPr/>
          <p:nvPr/>
        </p:nvSpPr>
        <p:spPr>
          <a:xfrm>
            <a:off x="2582466" y="1062633"/>
            <a:ext cx="550069" cy="85725"/>
          </a:xfrm>
          <a:prstGeom prst="rect">
            <a:avLst/>
          </a:prstGeom>
          <a:noFill/>
          <a:ln>
            <a:noFill/>
          </a:ln>
        </p:spPr>
        <p:txBody>
          <a:bodyPr anchorCtr="0" anchor="t" bIns="0" lIns="0" spcFirstLastPara="1" rIns="0" wrap="square" tIns="0">
            <a:noAutofit/>
          </a:bodyPr>
          <a:lstStyle/>
          <a:p>
            <a:pPr indent="0" lvl="0" marL="0" marR="0" rtl="0" algn="l">
              <a:lnSpc>
                <a:spcPct val="129589"/>
              </a:lnSpc>
              <a:spcBef>
                <a:spcPts val="0"/>
              </a:spcBef>
              <a:spcAft>
                <a:spcPts val="0"/>
              </a:spcAft>
              <a:buClr>
                <a:srgbClr val="2979FF"/>
              </a:buClr>
              <a:buSzPts val="463"/>
              <a:buFont typeface="Roboto Mono"/>
              <a:buNone/>
            </a:pPr>
            <a:r>
              <a:rPr b="0" i="0" lang="en-US" sz="463" u="none" cap="none" strike="noStrike">
                <a:solidFill>
                  <a:srgbClr val="2979FF"/>
                </a:solidFill>
                <a:latin typeface="Roboto Mono"/>
                <a:ea typeface="Roboto Mono"/>
                <a:cs typeface="Roboto Mono"/>
                <a:sym typeface="Roboto Mono"/>
              </a:rPr>
              <a:t>Client Library</a:t>
            </a:r>
            <a:endParaRPr b="0" i="0" sz="463" u="none" cap="none" strike="noStrike">
              <a:solidFill>
                <a:schemeClr val="dk1"/>
              </a:solidFill>
              <a:latin typeface="Calibri"/>
              <a:ea typeface="Calibri"/>
              <a:cs typeface="Calibri"/>
              <a:sym typeface="Calibri"/>
            </a:endParaRPr>
          </a:p>
        </p:txBody>
      </p:sp>
      <p:sp>
        <p:nvSpPr>
          <p:cNvPr id="566" name="Google Shape;566;p15"/>
          <p:cNvSpPr/>
          <p:nvPr/>
        </p:nvSpPr>
        <p:spPr>
          <a:xfrm>
            <a:off x="3714750" y="737592"/>
            <a:ext cx="1714500" cy="489347"/>
          </a:xfrm>
          <a:prstGeom prst="rect">
            <a:avLst/>
          </a:prstGeom>
          <a:solidFill>
            <a:srgbClr val="00E676">
              <a:alpha val="14901"/>
            </a:srgbClr>
          </a:solidFill>
          <a:ln cap="flat" cmpd="sng" w="9525">
            <a:solidFill>
              <a:srgbClr val="FFFFFF">
                <a:alpha val="784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67" name="Google Shape;567;p15"/>
          <p:cNvPicPr preferRelativeResize="0"/>
          <p:nvPr/>
        </p:nvPicPr>
        <p:blipFill rotWithShape="1">
          <a:blip r:embed="rId6">
            <a:alphaModFix/>
          </a:blip>
          <a:srcRect b="0" l="0" r="0" t="0"/>
          <a:stretch/>
        </p:blipFill>
        <p:spPr>
          <a:xfrm>
            <a:off x="4518422" y="816173"/>
            <a:ext cx="107156" cy="107156"/>
          </a:xfrm>
          <a:prstGeom prst="rect">
            <a:avLst/>
          </a:prstGeom>
          <a:noFill/>
          <a:ln>
            <a:noFill/>
          </a:ln>
        </p:spPr>
      </p:pic>
      <p:sp>
        <p:nvSpPr>
          <p:cNvPr id="568" name="Google Shape;568;p15"/>
          <p:cNvSpPr/>
          <p:nvPr/>
        </p:nvSpPr>
        <p:spPr>
          <a:xfrm>
            <a:off x="4346972" y="944761"/>
            <a:ext cx="450056" cy="96441"/>
          </a:xfrm>
          <a:prstGeom prst="rect">
            <a:avLst/>
          </a:prstGeom>
          <a:noFill/>
          <a:ln>
            <a:noFill/>
          </a:ln>
        </p:spPr>
        <p:txBody>
          <a:bodyPr anchorCtr="0" anchor="t" bIns="0" lIns="0" spcFirstLastPara="1" rIns="0" wrap="square" tIns="0">
            <a:noAutofit/>
          </a:bodyPr>
          <a:lstStyle/>
          <a:p>
            <a:pPr indent="0" lvl="0" marL="0" marR="0" rtl="0" algn="l">
              <a:lnSpc>
                <a:spcPct val="131086"/>
              </a:lnSpc>
              <a:spcBef>
                <a:spcPts val="0"/>
              </a:spcBef>
              <a:spcAft>
                <a:spcPts val="0"/>
              </a:spcAft>
              <a:buClr>
                <a:srgbClr val="00E676"/>
              </a:buClr>
              <a:buSzPts val="534"/>
              <a:buFont typeface="Inter"/>
              <a:buNone/>
            </a:pPr>
            <a:r>
              <a:rPr b="1" i="0" lang="en-US" sz="534" u="none" cap="none" strike="noStrike">
                <a:solidFill>
                  <a:srgbClr val="00E676"/>
                </a:solidFill>
                <a:latin typeface="Inter"/>
                <a:ea typeface="Inter"/>
                <a:cs typeface="Inter"/>
                <a:sym typeface="Inter"/>
              </a:rPr>
              <a:t>OpAMP API</a:t>
            </a:r>
            <a:endParaRPr b="0" i="0" sz="534" u="none" cap="none" strike="noStrike">
              <a:solidFill>
                <a:schemeClr val="dk1"/>
              </a:solidFill>
              <a:latin typeface="Calibri"/>
              <a:ea typeface="Calibri"/>
              <a:cs typeface="Calibri"/>
              <a:sym typeface="Calibri"/>
            </a:endParaRPr>
          </a:p>
        </p:txBody>
      </p:sp>
      <p:sp>
        <p:nvSpPr>
          <p:cNvPr id="569" name="Google Shape;569;p15"/>
          <p:cNvSpPr/>
          <p:nvPr/>
        </p:nvSpPr>
        <p:spPr>
          <a:xfrm>
            <a:off x="4277320" y="1062633"/>
            <a:ext cx="589359" cy="85725"/>
          </a:xfrm>
          <a:prstGeom prst="rect">
            <a:avLst/>
          </a:prstGeom>
          <a:noFill/>
          <a:ln>
            <a:noFill/>
          </a:ln>
        </p:spPr>
        <p:txBody>
          <a:bodyPr anchorCtr="0" anchor="t" bIns="0" lIns="0" spcFirstLastPara="1" rIns="0" wrap="square" tIns="0">
            <a:noAutofit/>
          </a:bodyPr>
          <a:lstStyle/>
          <a:p>
            <a:pPr indent="0" lvl="0" marL="0" marR="0" rtl="0" algn="l">
              <a:lnSpc>
                <a:spcPct val="129589"/>
              </a:lnSpc>
              <a:spcBef>
                <a:spcPts val="0"/>
              </a:spcBef>
              <a:spcAft>
                <a:spcPts val="0"/>
              </a:spcAft>
              <a:buClr>
                <a:srgbClr val="00E676"/>
              </a:buClr>
              <a:buSzPts val="463"/>
              <a:buFont typeface="Roboto Mono"/>
              <a:buNone/>
            </a:pPr>
            <a:r>
              <a:rPr b="0" i="0" lang="en-US" sz="463" u="none" cap="none" strike="noStrike">
                <a:solidFill>
                  <a:srgbClr val="00E676"/>
                </a:solidFill>
                <a:latin typeface="Roboto Mono"/>
                <a:ea typeface="Roboto Mono"/>
                <a:cs typeface="Roboto Mono"/>
                <a:sym typeface="Roboto Mono"/>
              </a:rPr>
              <a:t>Secrets Manager</a:t>
            </a:r>
            <a:endParaRPr b="0" i="0" sz="463" u="none" cap="none" strike="noStrike">
              <a:solidFill>
                <a:schemeClr val="dk1"/>
              </a:solidFill>
              <a:latin typeface="Calibri"/>
              <a:ea typeface="Calibri"/>
              <a:cs typeface="Calibri"/>
              <a:sym typeface="Calibri"/>
            </a:endParaRPr>
          </a:p>
        </p:txBody>
      </p:sp>
      <p:sp>
        <p:nvSpPr>
          <p:cNvPr id="570" name="Google Shape;570;p15"/>
          <p:cNvSpPr/>
          <p:nvPr/>
        </p:nvSpPr>
        <p:spPr>
          <a:xfrm>
            <a:off x="5429250" y="737592"/>
            <a:ext cx="1714500" cy="489347"/>
          </a:xfrm>
          <a:prstGeom prst="rect">
            <a:avLst/>
          </a:prstGeom>
          <a:solidFill>
            <a:srgbClr val="E040FB">
              <a:alpha val="14901"/>
            </a:srgbClr>
          </a:solidFill>
          <a:ln cap="flat" cmpd="sng" w="9525">
            <a:solidFill>
              <a:srgbClr val="FFFFFF">
                <a:alpha val="784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71" name="Google Shape;571;p15"/>
          <p:cNvPicPr preferRelativeResize="0"/>
          <p:nvPr/>
        </p:nvPicPr>
        <p:blipFill rotWithShape="1">
          <a:blip r:embed="rId7">
            <a:alphaModFix/>
          </a:blip>
          <a:srcRect b="0" l="0" r="0" t="0"/>
          <a:stretch/>
        </p:blipFill>
        <p:spPr>
          <a:xfrm>
            <a:off x="6232922" y="816173"/>
            <a:ext cx="107156" cy="107156"/>
          </a:xfrm>
          <a:prstGeom prst="rect">
            <a:avLst/>
          </a:prstGeom>
          <a:noFill/>
          <a:ln>
            <a:noFill/>
          </a:ln>
        </p:spPr>
      </p:pic>
      <p:sp>
        <p:nvSpPr>
          <p:cNvPr id="572" name="Google Shape;572;p15"/>
          <p:cNvSpPr/>
          <p:nvPr/>
        </p:nvSpPr>
        <p:spPr>
          <a:xfrm>
            <a:off x="6038255" y="944761"/>
            <a:ext cx="496491" cy="96441"/>
          </a:xfrm>
          <a:prstGeom prst="rect">
            <a:avLst/>
          </a:prstGeom>
          <a:noFill/>
          <a:ln>
            <a:noFill/>
          </a:ln>
        </p:spPr>
        <p:txBody>
          <a:bodyPr anchorCtr="0" anchor="t" bIns="0" lIns="0" spcFirstLastPara="1" rIns="0" wrap="square" tIns="0">
            <a:noAutofit/>
          </a:bodyPr>
          <a:lstStyle/>
          <a:p>
            <a:pPr indent="0" lvl="0" marL="0" marR="0" rtl="0" algn="l">
              <a:lnSpc>
                <a:spcPct val="131086"/>
              </a:lnSpc>
              <a:spcBef>
                <a:spcPts val="0"/>
              </a:spcBef>
              <a:spcAft>
                <a:spcPts val="0"/>
              </a:spcAft>
              <a:buClr>
                <a:srgbClr val="E040FB"/>
              </a:buClr>
              <a:buSzPts val="534"/>
              <a:buFont typeface="Inter"/>
              <a:buNone/>
            </a:pPr>
            <a:r>
              <a:rPr b="1" i="0" lang="en-US" sz="534" u="none" cap="none" strike="noStrike">
                <a:solidFill>
                  <a:srgbClr val="E040FB"/>
                </a:solidFill>
                <a:latin typeface="Inter"/>
                <a:ea typeface="Inter"/>
                <a:cs typeface="Inter"/>
                <a:sym typeface="Inter"/>
              </a:rPr>
              <a:t>Vault Transit</a:t>
            </a:r>
            <a:endParaRPr b="0" i="0" sz="534" u="none" cap="none" strike="noStrike">
              <a:solidFill>
                <a:schemeClr val="dk1"/>
              </a:solidFill>
              <a:latin typeface="Calibri"/>
              <a:ea typeface="Calibri"/>
              <a:cs typeface="Calibri"/>
              <a:sym typeface="Calibri"/>
            </a:endParaRPr>
          </a:p>
        </p:txBody>
      </p:sp>
      <p:sp>
        <p:nvSpPr>
          <p:cNvPr id="573" name="Google Shape;573;p15"/>
          <p:cNvSpPr/>
          <p:nvPr/>
        </p:nvSpPr>
        <p:spPr>
          <a:xfrm>
            <a:off x="5952530" y="1062633"/>
            <a:ext cx="667941" cy="85725"/>
          </a:xfrm>
          <a:prstGeom prst="rect">
            <a:avLst/>
          </a:prstGeom>
          <a:noFill/>
          <a:ln>
            <a:noFill/>
          </a:ln>
        </p:spPr>
        <p:txBody>
          <a:bodyPr anchorCtr="0" anchor="t" bIns="0" lIns="0" spcFirstLastPara="1" rIns="0" wrap="square" tIns="0">
            <a:noAutofit/>
          </a:bodyPr>
          <a:lstStyle/>
          <a:p>
            <a:pPr indent="0" lvl="0" marL="0" marR="0" rtl="0" algn="l">
              <a:lnSpc>
                <a:spcPct val="129589"/>
              </a:lnSpc>
              <a:spcBef>
                <a:spcPts val="0"/>
              </a:spcBef>
              <a:spcAft>
                <a:spcPts val="0"/>
              </a:spcAft>
              <a:buClr>
                <a:srgbClr val="E040FB"/>
              </a:buClr>
              <a:buSzPts val="463"/>
              <a:buFont typeface="Roboto Mono"/>
              <a:buNone/>
            </a:pPr>
            <a:r>
              <a:rPr b="0" i="0" lang="en-US" sz="463" u="none" cap="none" strike="noStrike">
                <a:solidFill>
                  <a:srgbClr val="E040FB"/>
                </a:solidFill>
                <a:latin typeface="Roboto Mono"/>
                <a:ea typeface="Roboto Mono"/>
                <a:cs typeface="Roboto Mono"/>
                <a:sym typeface="Roboto Mono"/>
              </a:rPr>
              <a:t>Encryption Engine</a:t>
            </a:r>
            <a:endParaRPr b="0" i="0" sz="463" u="none" cap="none" strike="noStrike">
              <a:solidFill>
                <a:schemeClr val="dk1"/>
              </a:solidFill>
              <a:latin typeface="Calibri"/>
              <a:ea typeface="Calibri"/>
              <a:cs typeface="Calibri"/>
              <a:sym typeface="Calibri"/>
            </a:endParaRPr>
          </a:p>
        </p:txBody>
      </p:sp>
      <p:sp>
        <p:nvSpPr>
          <p:cNvPr id="574" name="Google Shape;574;p15"/>
          <p:cNvSpPr/>
          <p:nvPr/>
        </p:nvSpPr>
        <p:spPr>
          <a:xfrm>
            <a:off x="7143750" y="737592"/>
            <a:ext cx="1714500" cy="489347"/>
          </a:xfrm>
          <a:prstGeom prst="rect">
            <a:avLst/>
          </a:prstGeom>
          <a:solidFill>
            <a:srgbClr val="FFAB40">
              <a:alpha val="14901"/>
            </a:srgbClr>
          </a:solidFill>
          <a:ln cap="flat" cmpd="sng" w="9525">
            <a:solidFill>
              <a:srgbClr val="FFFFFF">
                <a:alpha val="784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75" name="Google Shape;575;p15"/>
          <p:cNvPicPr preferRelativeResize="0"/>
          <p:nvPr/>
        </p:nvPicPr>
        <p:blipFill rotWithShape="1">
          <a:blip r:embed="rId8">
            <a:alphaModFix/>
          </a:blip>
          <a:srcRect b="0" l="0" r="0" t="0"/>
          <a:stretch/>
        </p:blipFill>
        <p:spPr>
          <a:xfrm>
            <a:off x="7947422" y="809030"/>
            <a:ext cx="107156" cy="107156"/>
          </a:xfrm>
          <a:prstGeom prst="rect">
            <a:avLst/>
          </a:prstGeom>
          <a:noFill/>
          <a:ln>
            <a:noFill/>
          </a:ln>
        </p:spPr>
      </p:pic>
      <p:sp>
        <p:nvSpPr>
          <p:cNvPr id="576" name="Google Shape;576;p15"/>
          <p:cNvSpPr/>
          <p:nvPr/>
        </p:nvSpPr>
        <p:spPr>
          <a:xfrm>
            <a:off x="7793831" y="937617"/>
            <a:ext cx="414338" cy="96441"/>
          </a:xfrm>
          <a:prstGeom prst="rect">
            <a:avLst/>
          </a:prstGeom>
          <a:noFill/>
          <a:ln>
            <a:noFill/>
          </a:ln>
        </p:spPr>
        <p:txBody>
          <a:bodyPr anchorCtr="0" anchor="t" bIns="0" lIns="0" spcFirstLastPara="1" rIns="0" wrap="square" tIns="0">
            <a:noAutofit/>
          </a:bodyPr>
          <a:lstStyle/>
          <a:p>
            <a:pPr indent="0" lvl="0" marL="0" marR="0" rtl="0" algn="l">
              <a:lnSpc>
                <a:spcPct val="131086"/>
              </a:lnSpc>
              <a:spcBef>
                <a:spcPts val="0"/>
              </a:spcBef>
              <a:spcAft>
                <a:spcPts val="0"/>
              </a:spcAft>
              <a:buClr>
                <a:srgbClr val="FFAB40"/>
              </a:buClr>
              <a:buSzPts val="534"/>
              <a:buFont typeface="Inter"/>
              <a:buNone/>
            </a:pPr>
            <a:r>
              <a:rPr b="1" i="0" lang="en-US" sz="534" u="none" cap="none" strike="noStrike">
                <a:solidFill>
                  <a:srgbClr val="FFAB40"/>
                </a:solidFill>
                <a:latin typeface="Inter"/>
                <a:ea typeface="Inter"/>
                <a:cs typeface="Inter"/>
                <a:sym typeface="Inter"/>
              </a:rPr>
              <a:t>CloudHSM</a:t>
            </a:r>
            <a:endParaRPr b="0" i="0" sz="534" u="none" cap="none" strike="noStrike">
              <a:solidFill>
                <a:schemeClr val="dk1"/>
              </a:solidFill>
              <a:latin typeface="Calibri"/>
              <a:ea typeface="Calibri"/>
              <a:cs typeface="Calibri"/>
              <a:sym typeface="Calibri"/>
            </a:endParaRPr>
          </a:p>
        </p:txBody>
      </p:sp>
      <p:sp>
        <p:nvSpPr>
          <p:cNvPr id="577" name="Google Shape;577;p15"/>
          <p:cNvSpPr/>
          <p:nvPr/>
        </p:nvSpPr>
        <p:spPr>
          <a:xfrm>
            <a:off x="7745611" y="1055489"/>
            <a:ext cx="510778" cy="85725"/>
          </a:xfrm>
          <a:prstGeom prst="rect">
            <a:avLst/>
          </a:prstGeom>
          <a:noFill/>
          <a:ln>
            <a:noFill/>
          </a:ln>
        </p:spPr>
        <p:txBody>
          <a:bodyPr anchorCtr="0" anchor="t" bIns="0" lIns="0" spcFirstLastPara="1" rIns="0" wrap="square" tIns="0">
            <a:noAutofit/>
          </a:bodyPr>
          <a:lstStyle/>
          <a:p>
            <a:pPr indent="0" lvl="0" marL="0" marR="0" rtl="0" algn="l">
              <a:lnSpc>
                <a:spcPct val="129589"/>
              </a:lnSpc>
              <a:spcBef>
                <a:spcPts val="0"/>
              </a:spcBef>
              <a:spcAft>
                <a:spcPts val="0"/>
              </a:spcAft>
              <a:buClr>
                <a:srgbClr val="FFAB40"/>
              </a:buClr>
              <a:buSzPts val="463"/>
              <a:buFont typeface="Roboto Mono"/>
              <a:buNone/>
            </a:pPr>
            <a:r>
              <a:rPr b="0" i="0" lang="en-US" sz="463" u="none" cap="none" strike="noStrike">
                <a:solidFill>
                  <a:srgbClr val="FFAB40"/>
                </a:solidFill>
                <a:latin typeface="Roboto Mono"/>
                <a:ea typeface="Roboto Mono"/>
                <a:cs typeface="Roboto Mono"/>
                <a:sym typeface="Roboto Mono"/>
              </a:rPr>
              <a:t>FIPS 140-2 L3</a:t>
            </a:r>
            <a:endParaRPr b="0" i="0" sz="463" u="none" cap="none" strike="noStrike">
              <a:solidFill>
                <a:schemeClr val="dk1"/>
              </a:solidFill>
              <a:latin typeface="Calibri"/>
              <a:ea typeface="Calibri"/>
              <a:cs typeface="Calibri"/>
              <a:sym typeface="Calibri"/>
            </a:endParaRPr>
          </a:p>
        </p:txBody>
      </p:sp>
      <p:sp>
        <p:nvSpPr>
          <p:cNvPr id="578" name="Google Shape;578;p15"/>
          <p:cNvSpPr/>
          <p:nvPr/>
        </p:nvSpPr>
        <p:spPr>
          <a:xfrm>
            <a:off x="285750" y="1212652"/>
            <a:ext cx="8572500" cy="3429000"/>
          </a:xfrm>
          <a:prstGeom prst="rect">
            <a:avLst/>
          </a:prstGeom>
          <a:solidFill>
            <a:srgbClr val="FFFFFF">
              <a:alpha val="117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15"/>
          <p:cNvSpPr/>
          <p:nvPr/>
        </p:nvSpPr>
        <p:spPr>
          <a:xfrm>
            <a:off x="8851106" y="1212652"/>
            <a:ext cx="7144" cy="3429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15"/>
          <p:cNvSpPr/>
          <p:nvPr/>
        </p:nvSpPr>
        <p:spPr>
          <a:xfrm>
            <a:off x="285750" y="1212652"/>
            <a:ext cx="7144" cy="3429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15"/>
          <p:cNvSpPr/>
          <p:nvPr/>
        </p:nvSpPr>
        <p:spPr>
          <a:xfrm>
            <a:off x="285750" y="1212652"/>
            <a:ext cx="8572500" cy="371475"/>
          </a:xfrm>
          <a:prstGeom prst="rect">
            <a:avLst/>
          </a:prstGeom>
          <a:solidFill>
            <a:srgbClr val="FFFFFF">
              <a:alpha val="19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15"/>
          <p:cNvSpPr/>
          <p:nvPr/>
        </p:nvSpPr>
        <p:spPr>
          <a:xfrm>
            <a:off x="285750" y="1576983"/>
            <a:ext cx="8572500" cy="714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15"/>
          <p:cNvSpPr/>
          <p:nvPr/>
        </p:nvSpPr>
        <p:spPr>
          <a:xfrm>
            <a:off x="1078706" y="1334095"/>
            <a:ext cx="128588" cy="128588"/>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15"/>
          <p:cNvSpPr/>
          <p:nvPr/>
        </p:nvSpPr>
        <p:spPr>
          <a:xfrm>
            <a:off x="1078706" y="1334095"/>
            <a:ext cx="128588" cy="128588"/>
          </a:xfrm>
          <a:prstGeom prst="rect">
            <a:avLst/>
          </a:prstGeom>
          <a:noFill/>
          <a:ln>
            <a:noFill/>
          </a:ln>
        </p:spPr>
        <p:txBody>
          <a:bodyPr anchorCtr="0" anchor="ctr" bIns="0" lIns="0" spcFirstLastPara="1" rIns="0" wrap="square" tIns="0">
            <a:noAutofit/>
          </a:bodyPr>
          <a:lstStyle/>
          <a:p>
            <a:pPr indent="0" lvl="0" marL="0" marR="0" rtl="0" algn="ctr">
              <a:lnSpc>
                <a:spcPct val="137931"/>
              </a:lnSpc>
              <a:spcBef>
                <a:spcPts val="0"/>
              </a:spcBef>
              <a:spcAft>
                <a:spcPts val="0"/>
              </a:spcAft>
              <a:buClr>
                <a:srgbClr val="0D1B2A"/>
              </a:buClr>
              <a:buSzPts val="435"/>
              <a:buFont typeface="Roboto Mono"/>
              <a:buNone/>
            </a:pPr>
            <a:r>
              <a:rPr b="1" i="0" lang="en-US" sz="435" u="none" cap="none" strike="noStrike">
                <a:solidFill>
                  <a:srgbClr val="0D1B2A"/>
                </a:solidFill>
                <a:latin typeface="Roboto Mono"/>
                <a:ea typeface="Roboto Mono"/>
                <a:cs typeface="Roboto Mono"/>
                <a:sym typeface="Roboto Mono"/>
              </a:rPr>
              <a:t>1</a:t>
            </a:r>
            <a:endParaRPr b="0" i="0" sz="435" u="none" cap="none" strike="noStrike">
              <a:solidFill>
                <a:schemeClr val="dk1"/>
              </a:solidFill>
              <a:latin typeface="Calibri"/>
              <a:ea typeface="Calibri"/>
              <a:cs typeface="Calibri"/>
              <a:sym typeface="Calibri"/>
            </a:endParaRPr>
          </a:p>
        </p:txBody>
      </p:sp>
      <p:sp>
        <p:nvSpPr>
          <p:cNvPr id="585" name="Google Shape;585;p15"/>
          <p:cNvSpPr/>
          <p:nvPr/>
        </p:nvSpPr>
        <p:spPr>
          <a:xfrm>
            <a:off x="1143000" y="1330523"/>
            <a:ext cx="1714500" cy="92869"/>
          </a:xfrm>
          <a:prstGeom prst="rect">
            <a:avLst/>
          </a:prstGeom>
          <a:noFill/>
          <a:ln>
            <a:noFill/>
          </a:ln>
        </p:spPr>
        <p:txBody>
          <a:bodyPr anchorCtr="0" anchor="t" bIns="0" lIns="0" spcFirstLastPara="1" rIns="0" wrap="square" tIns="0">
            <a:noAutofit/>
          </a:bodyPr>
          <a:lstStyle/>
          <a:p>
            <a:pPr indent="0" lvl="0" marL="0" marR="0" rtl="0" algn="ctr">
              <a:lnSpc>
                <a:spcPct val="135658"/>
              </a:lnSpc>
              <a:spcBef>
                <a:spcPts val="0"/>
              </a:spcBef>
              <a:spcAft>
                <a:spcPts val="0"/>
              </a:spcAft>
              <a:buClr>
                <a:srgbClr val="00E5FF"/>
              </a:buClr>
              <a:buSzPts val="516"/>
              <a:buFont typeface="Roboto Mono"/>
              <a:buNone/>
            </a:pPr>
            <a:r>
              <a:rPr b="0" i="0" lang="en-US" sz="516" u="none" cap="none" strike="noStrike">
                <a:solidFill>
                  <a:srgbClr val="00E5FF"/>
                </a:solidFill>
                <a:latin typeface="Roboto Mono"/>
                <a:ea typeface="Roboto Mono"/>
                <a:cs typeface="Roboto Mono"/>
                <a:sym typeface="Roboto Mono"/>
              </a:rPr>
              <a:t>encryptFields</a:t>
            </a:r>
            <a:r>
              <a:rPr b="0" i="0" lang="en-US" sz="516" u="none" cap="none" strike="noStrike">
                <a:solidFill>
                  <a:srgbClr val="B0BEC5"/>
                </a:solidFill>
                <a:latin typeface="Roboto Mono"/>
                <a:ea typeface="Roboto Mono"/>
                <a:cs typeface="Roboto Mono"/>
                <a:sym typeface="Roboto Mono"/>
              </a:rPr>
              <a:t>(record, fieldPolicies)</a:t>
            </a:r>
            <a:endParaRPr b="0" i="0" sz="516" u="none" cap="none" strike="noStrike">
              <a:solidFill>
                <a:schemeClr val="dk1"/>
              </a:solidFill>
              <a:latin typeface="Calibri"/>
              <a:ea typeface="Calibri"/>
              <a:cs typeface="Calibri"/>
              <a:sym typeface="Calibri"/>
            </a:endParaRPr>
          </a:p>
        </p:txBody>
      </p:sp>
      <p:sp>
        <p:nvSpPr>
          <p:cNvPr id="586" name="Google Shape;586;p15"/>
          <p:cNvSpPr/>
          <p:nvPr/>
        </p:nvSpPr>
        <p:spPr>
          <a:xfrm>
            <a:off x="1143000" y="1451967"/>
            <a:ext cx="1714500" cy="14288"/>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15"/>
          <p:cNvSpPr/>
          <p:nvPr/>
        </p:nvSpPr>
        <p:spPr>
          <a:xfrm>
            <a:off x="2793206" y="1701998"/>
            <a:ext cx="128588" cy="128588"/>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15"/>
          <p:cNvSpPr/>
          <p:nvPr/>
        </p:nvSpPr>
        <p:spPr>
          <a:xfrm>
            <a:off x="2793206" y="1701998"/>
            <a:ext cx="128588" cy="128588"/>
          </a:xfrm>
          <a:prstGeom prst="rect">
            <a:avLst/>
          </a:prstGeom>
          <a:noFill/>
          <a:ln>
            <a:noFill/>
          </a:ln>
        </p:spPr>
        <p:txBody>
          <a:bodyPr anchorCtr="0" anchor="ctr" bIns="0" lIns="0" spcFirstLastPara="1" rIns="0" wrap="square" tIns="0">
            <a:noAutofit/>
          </a:bodyPr>
          <a:lstStyle/>
          <a:p>
            <a:pPr indent="0" lvl="0" marL="0" marR="0" rtl="0" algn="ctr">
              <a:lnSpc>
                <a:spcPct val="137931"/>
              </a:lnSpc>
              <a:spcBef>
                <a:spcPts val="0"/>
              </a:spcBef>
              <a:spcAft>
                <a:spcPts val="0"/>
              </a:spcAft>
              <a:buClr>
                <a:srgbClr val="0D1B2A"/>
              </a:buClr>
              <a:buSzPts val="435"/>
              <a:buFont typeface="Roboto Mono"/>
              <a:buNone/>
            </a:pPr>
            <a:r>
              <a:rPr b="1" i="0" lang="en-US" sz="435" u="none" cap="none" strike="noStrike">
                <a:solidFill>
                  <a:srgbClr val="0D1B2A"/>
                </a:solidFill>
                <a:latin typeface="Roboto Mono"/>
                <a:ea typeface="Roboto Mono"/>
                <a:cs typeface="Roboto Mono"/>
                <a:sym typeface="Roboto Mono"/>
              </a:rPr>
              <a:t>2</a:t>
            </a:r>
            <a:endParaRPr b="0" i="0" sz="435" u="none" cap="none" strike="noStrike">
              <a:solidFill>
                <a:schemeClr val="dk1"/>
              </a:solidFill>
              <a:latin typeface="Calibri"/>
              <a:ea typeface="Calibri"/>
              <a:cs typeface="Calibri"/>
              <a:sym typeface="Calibri"/>
            </a:endParaRPr>
          </a:p>
        </p:txBody>
      </p:sp>
      <p:sp>
        <p:nvSpPr>
          <p:cNvPr id="589" name="Google Shape;589;p15"/>
          <p:cNvSpPr/>
          <p:nvPr/>
        </p:nvSpPr>
        <p:spPr>
          <a:xfrm>
            <a:off x="3114675" y="1719858"/>
            <a:ext cx="2143125" cy="92869"/>
          </a:xfrm>
          <a:prstGeom prst="rect">
            <a:avLst/>
          </a:prstGeom>
          <a:noFill/>
          <a:ln>
            <a:noFill/>
          </a:ln>
        </p:spPr>
        <p:txBody>
          <a:bodyPr anchorCtr="0" anchor="t" bIns="0" lIns="0" spcFirstLastPara="1" rIns="0" wrap="square" tIns="0">
            <a:noAutofit/>
          </a:bodyPr>
          <a:lstStyle/>
          <a:p>
            <a:pPr indent="0" lvl="0" marL="0" marR="0" rtl="0" algn="l">
              <a:lnSpc>
                <a:spcPct val="135658"/>
              </a:lnSpc>
              <a:spcBef>
                <a:spcPts val="0"/>
              </a:spcBef>
              <a:spcAft>
                <a:spcPts val="0"/>
              </a:spcAft>
              <a:buClr>
                <a:srgbClr val="FFAB40"/>
              </a:buClr>
              <a:buSzPts val="516"/>
              <a:buFont typeface="Roboto Mono"/>
              <a:buNone/>
            </a:pPr>
            <a:r>
              <a:rPr b="0" i="0" lang="en-US" sz="516" u="none" cap="none" strike="noStrike">
                <a:solidFill>
                  <a:srgbClr val="FFAB40"/>
                </a:solidFill>
                <a:latin typeface="Roboto Mono"/>
                <a:ea typeface="Roboto Mono"/>
                <a:cs typeface="Roboto Mono"/>
                <a:sym typeface="Roboto Mono"/>
              </a:rPr>
              <a:t>Resolve policy: SSN→RESTRICTED, email→CONFIDENTIAL</a:t>
            </a:r>
            <a:endParaRPr b="0" i="0" sz="516" u="none" cap="none" strike="noStrike">
              <a:solidFill>
                <a:schemeClr val="dk1"/>
              </a:solidFill>
              <a:latin typeface="Calibri"/>
              <a:ea typeface="Calibri"/>
              <a:cs typeface="Calibri"/>
              <a:sym typeface="Calibri"/>
            </a:endParaRPr>
          </a:p>
        </p:txBody>
      </p:sp>
      <p:sp>
        <p:nvSpPr>
          <p:cNvPr id="590" name="Google Shape;590;p15"/>
          <p:cNvSpPr/>
          <p:nvPr/>
        </p:nvSpPr>
        <p:spPr>
          <a:xfrm>
            <a:off x="285750" y="1955602"/>
            <a:ext cx="8572500" cy="371475"/>
          </a:xfrm>
          <a:prstGeom prst="rect">
            <a:avLst/>
          </a:prstGeom>
          <a:solidFill>
            <a:srgbClr val="FFFFFF">
              <a:alpha val="19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15"/>
          <p:cNvSpPr/>
          <p:nvPr/>
        </p:nvSpPr>
        <p:spPr>
          <a:xfrm>
            <a:off x="285750" y="2319933"/>
            <a:ext cx="8572500" cy="714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15"/>
          <p:cNvSpPr/>
          <p:nvPr/>
        </p:nvSpPr>
        <p:spPr>
          <a:xfrm>
            <a:off x="2793206" y="2077045"/>
            <a:ext cx="128588" cy="128588"/>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15"/>
          <p:cNvSpPr/>
          <p:nvPr/>
        </p:nvSpPr>
        <p:spPr>
          <a:xfrm>
            <a:off x="2793206" y="2077045"/>
            <a:ext cx="128588" cy="128588"/>
          </a:xfrm>
          <a:prstGeom prst="rect">
            <a:avLst/>
          </a:prstGeom>
          <a:noFill/>
          <a:ln>
            <a:noFill/>
          </a:ln>
        </p:spPr>
        <p:txBody>
          <a:bodyPr anchorCtr="0" anchor="ctr" bIns="0" lIns="0" spcFirstLastPara="1" rIns="0" wrap="square" tIns="0">
            <a:noAutofit/>
          </a:bodyPr>
          <a:lstStyle/>
          <a:p>
            <a:pPr indent="0" lvl="0" marL="0" marR="0" rtl="0" algn="ctr">
              <a:lnSpc>
                <a:spcPct val="137931"/>
              </a:lnSpc>
              <a:spcBef>
                <a:spcPts val="0"/>
              </a:spcBef>
              <a:spcAft>
                <a:spcPts val="0"/>
              </a:spcAft>
              <a:buClr>
                <a:srgbClr val="0D1B2A"/>
              </a:buClr>
              <a:buSzPts val="435"/>
              <a:buFont typeface="Roboto Mono"/>
              <a:buNone/>
            </a:pPr>
            <a:r>
              <a:rPr b="1" i="0" lang="en-US" sz="435" u="none" cap="none" strike="noStrike">
                <a:solidFill>
                  <a:srgbClr val="0D1B2A"/>
                </a:solidFill>
                <a:latin typeface="Roboto Mono"/>
                <a:ea typeface="Roboto Mono"/>
                <a:cs typeface="Roboto Mono"/>
                <a:sym typeface="Roboto Mono"/>
              </a:rPr>
              <a:t>3</a:t>
            </a:r>
            <a:endParaRPr b="0" i="0" sz="435" u="none" cap="none" strike="noStrike">
              <a:solidFill>
                <a:schemeClr val="dk1"/>
              </a:solidFill>
              <a:latin typeface="Calibri"/>
              <a:ea typeface="Calibri"/>
              <a:cs typeface="Calibri"/>
              <a:sym typeface="Calibri"/>
            </a:endParaRPr>
          </a:p>
        </p:txBody>
      </p:sp>
      <p:sp>
        <p:nvSpPr>
          <p:cNvPr id="594" name="Google Shape;594;p15"/>
          <p:cNvSpPr/>
          <p:nvPr/>
        </p:nvSpPr>
        <p:spPr>
          <a:xfrm>
            <a:off x="3114675" y="2094905"/>
            <a:ext cx="2271713" cy="92869"/>
          </a:xfrm>
          <a:prstGeom prst="rect">
            <a:avLst/>
          </a:prstGeom>
          <a:noFill/>
          <a:ln>
            <a:noFill/>
          </a:ln>
        </p:spPr>
        <p:txBody>
          <a:bodyPr anchorCtr="0" anchor="t" bIns="0" lIns="0" spcFirstLastPara="1" rIns="0" wrap="square" tIns="0">
            <a:noAutofit/>
          </a:bodyPr>
          <a:lstStyle/>
          <a:p>
            <a:pPr indent="0" lvl="0" marL="0" marR="0" rtl="0" algn="l">
              <a:lnSpc>
                <a:spcPct val="135658"/>
              </a:lnSpc>
              <a:spcBef>
                <a:spcPts val="0"/>
              </a:spcBef>
              <a:spcAft>
                <a:spcPts val="0"/>
              </a:spcAft>
              <a:buClr>
                <a:srgbClr val="FFAB40"/>
              </a:buClr>
              <a:buSzPts val="516"/>
              <a:buFont typeface="Roboto Mono"/>
              <a:buNone/>
            </a:pPr>
            <a:r>
              <a:rPr b="0" i="0" lang="en-US" sz="516" u="none" cap="none" strike="noStrike">
                <a:solidFill>
                  <a:srgbClr val="FFAB40"/>
                </a:solidFill>
                <a:latin typeface="Roboto Mono"/>
                <a:ea typeface="Roboto Mono"/>
                <a:cs typeface="Roboto Mono"/>
                <a:sym typeface="Roboto Mono"/>
              </a:rPr>
              <a:t>Check DEK cache → HIT(CONFIDENTIAL), MISS(RESTRICTED)</a:t>
            </a:r>
            <a:endParaRPr b="0" i="0" sz="516" u="none" cap="none" strike="noStrike">
              <a:solidFill>
                <a:schemeClr val="dk1"/>
              </a:solidFill>
              <a:latin typeface="Calibri"/>
              <a:ea typeface="Calibri"/>
              <a:cs typeface="Calibri"/>
              <a:sym typeface="Calibri"/>
            </a:endParaRPr>
          </a:p>
        </p:txBody>
      </p:sp>
      <p:sp>
        <p:nvSpPr>
          <p:cNvPr id="595" name="Google Shape;595;p15"/>
          <p:cNvSpPr/>
          <p:nvPr/>
        </p:nvSpPr>
        <p:spPr>
          <a:xfrm>
            <a:off x="2793206" y="2444948"/>
            <a:ext cx="128588" cy="128588"/>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15"/>
          <p:cNvSpPr/>
          <p:nvPr/>
        </p:nvSpPr>
        <p:spPr>
          <a:xfrm>
            <a:off x="2793206" y="2444948"/>
            <a:ext cx="128588" cy="128588"/>
          </a:xfrm>
          <a:prstGeom prst="rect">
            <a:avLst/>
          </a:prstGeom>
          <a:noFill/>
          <a:ln>
            <a:noFill/>
          </a:ln>
        </p:spPr>
        <p:txBody>
          <a:bodyPr anchorCtr="0" anchor="ctr" bIns="0" lIns="0" spcFirstLastPara="1" rIns="0" wrap="square" tIns="0">
            <a:noAutofit/>
          </a:bodyPr>
          <a:lstStyle/>
          <a:p>
            <a:pPr indent="0" lvl="0" marL="0" marR="0" rtl="0" algn="ctr">
              <a:lnSpc>
                <a:spcPct val="137931"/>
              </a:lnSpc>
              <a:spcBef>
                <a:spcPts val="0"/>
              </a:spcBef>
              <a:spcAft>
                <a:spcPts val="0"/>
              </a:spcAft>
              <a:buClr>
                <a:srgbClr val="0D1B2A"/>
              </a:buClr>
              <a:buSzPts val="435"/>
              <a:buFont typeface="Roboto Mono"/>
              <a:buNone/>
            </a:pPr>
            <a:r>
              <a:rPr b="1" i="0" lang="en-US" sz="435" u="none" cap="none" strike="noStrike">
                <a:solidFill>
                  <a:srgbClr val="0D1B2A"/>
                </a:solidFill>
                <a:latin typeface="Roboto Mono"/>
                <a:ea typeface="Roboto Mono"/>
                <a:cs typeface="Roboto Mono"/>
                <a:sym typeface="Roboto Mono"/>
              </a:rPr>
              <a:t>4</a:t>
            </a:r>
            <a:endParaRPr b="0" i="0" sz="435" u="none" cap="none" strike="noStrike">
              <a:solidFill>
                <a:schemeClr val="dk1"/>
              </a:solidFill>
              <a:latin typeface="Calibri"/>
              <a:ea typeface="Calibri"/>
              <a:cs typeface="Calibri"/>
              <a:sym typeface="Calibri"/>
            </a:endParaRPr>
          </a:p>
        </p:txBody>
      </p:sp>
      <p:sp>
        <p:nvSpPr>
          <p:cNvPr id="597" name="Google Shape;597;p15"/>
          <p:cNvSpPr/>
          <p:nvPr/>
        </p:nvSpPr>
        <p:spPr>
          <a:xfrm>
            <a:off x="2857500" y="2394942"/>
            <a:ext cx="1714500" cy="185738"/>
          </a:xfrm>
          <a:prstGeom prst="rect">
            <a:avLst/>
          </a:prstGeom>
          <a:noFill/>
          <a:ln>
            <a:noFill/>
          </a:ln>
        </p:spPr>
        <p:txBody>
          <a:bodyPr anchorCtr="0" anchor="t" bIns="0" lIns="0" spcFirstLastPara="1" rIns="0" wrap="square" tIns="0">
            <a:noAutofit/>
          </a:bodyPr>
          <a:lstStyle/>
          <a:p>
            <a:pPr indent="0" lvl="0" marL="0" marR="0" rtl="0" algn="ctr">
              <a:lnSpc>
                <a:spcPct val="135658"/>
              </a:lnSpc>
              <a:spcBef>
                <a:spcPts val="0"/>
              </a:spcBef>
              <a:spcAft>
                <a:spcPts val="0"/>
              </a:spcAft>
              <a:buClr>
                <a:srgbClr val="B0BEC5"/>
              </a:buClr>
              <a:buSzPts val="516"/>
              <a:buFont typeface="Roboto Mono"/>
              <a:buNone/>
            </a:pPr>
            <a:r>
              <a:rPr b="0" i="0" lang="en-US" sz="516" u="none" cap="none" strike="noStrike">
                <a:solidFill>
                  <a:srgbClr val="B0BEC5"/>
                </a:solidFill>
                <a:latin typeface="Roboto Mono"/>
                <a:ea typeface="Roboto Mono"/>
                <a:cs typeface="Roboto Mono"/>
                <a:sym typeface="Roboto Mono"/>
              </a:rPr>
              <a:t>POST </a:t>
            </a:r>
            <a:r>
              <a:rPr b="0" i="0" lang="en-US" sz="516" u="none" cap="none" strike="noStrike">
                <a:solidFill>
                  <a:srgbClr val="00E5FF"/>
                </a:solidFill>
                <a:latin typeface="Roboto Mono"/>
                <a:ea typeface="Roboto Mono"/>
                <a:cs typeface="Roboto Mono"/>
                <a:sym typeface="Roboto Mono"/>
              </a:rPr>
              <a:t>/crypto/encrypt-dek</a:t>
            </a:r>
            <a:r>
              <a:rPr b="0" i="0" lang="en-US" sz="516" u="none" cap="none" strike="noStrike">
                <a:solidFill>
                  <a:srgbClr val="B0BEC5"/>
                </a:solidFill>
                <a:latin typeface="Roboto Mono"/>
                <a:ea typeface="Roboto Mono"/>
                <a:cs typeface="Roboto Mono"/>
                <a:sym typeface="Roboto Mono"/>
              </a:rPr>
              <a:t> (For RESTRICTED only)</a:t>
            </a:r>
            <a:endParaRPr b="0" i="0" sz="516" u="none" cap="none" strike="noStrike">
              <a:solidFill>
                <a:schemeClr val="dk1"/>
              </a:solidFill>
              <a:latin typeface="Calibri"/>
              <a:ea typeface="Calibri"/>
              <a:cs typeface="Calibri"/>
              <a:sym typeface="Calibri"/>
            </a:endParaRPr>
          </a:p>
        </p:txBody>
      </p:sp>
      <p:sp>
        <p:nvSpPr>
          <p:cNvPr id="598" name="Google Shape;598;p15"/>
          <p:cNvSpPr/>
          <p:nvPr/>
        </p:nvSpPr>
        <p:spPr>
          <a:xfrm>
            <a:off x="2857500" y="2609255"/>
            <a:ext cx="1714500" cy="14288"/>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15"/>
          <p:cNvSpPr/>
          <p:nvPr/>
        </p:nvSpPr>
        <p:spPr>
          <a:xfrm>
            <a:off x="285750" y="2698552"/>
            <a:ext cx="8572500" cy="371475"/>
          </a:xfrm>
          <a:prstGeom prst="rect">
            <a:avLst/>
          </a:prstGeom>
          <a:solidFill>
            <a:srgbClr val="FFFFFF">
              <a:alpha val="19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15"/>
          <p:cNvSpPr/>
          <p:nvPr/>
        </p:nvSpPr>
        <p:spPr>
          <a:xfrm>
            <a:off x="285750" y="3062883"/>
            <a:ext cx="8572500" cy="714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15"/>
          <p:cNvSpPr/>
          <p:nvPr/>
        </p:nvSpPr>
        <p:spPr>
          <a:xfrm>
            <a:off x="4507706" y="2819995"/>
            <a:ext cx="128588" cy="128588"/>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15"/>
          <p:cNvSpPr/>
          <p:nvPr/>
        </p:nvSpPr>
        <p:spPr>
          <a:xfrm>
            <a:off x="4507706" y="2819995"/>
            <a:ext cx="128588" cy="128588"/>
          </a:xfrm>
          <a:prstGeom prst="rect">
            <a:avLst/>
          </a:prstGeom>
          <a:noFill/>
          <a:ln>
            <a:noFill/>
          </a:ln>
        </p:spPr>
        <p:txBody>
          <a:bodyPr anchorCtr="0" anchor="ctr" bIns="0" lIns="0" spcFirstLastPara="1" rIns="0" wrap="square" tIns="0">
            <a:noAutofit/>
          </a:bodyPr>
          <a:lstStyle/>
          <a:p>
            <a:pPr indent="0" lvl="0" marL="0" marR="0" rtl="0" algn="ctr">
              <a:lnSpc>
                <a:spcPct val="137931"/>
              </a:lnSpc>
              <a:spcBef>
                <a:spcPts val="0"/>
              </a:spcBef>
              <a:spcAft>
                <a:spcPts val="0"/>
              </a:spcAft>
              <a:buClr>
                <a:srgbClr val="0D1B2A"/>
              </a:buClr>
              <a:buSzPts val="435"/>
              <a:buFont typeface="Roboto Mono"/>
              <a:buNone/>
            </a:pPr>
            <a:r>
              <a:rPr b="1" i="0" lang="en-US" sz="435" u="none" cap="none" strike="noStrike">
                <a:solidFill>
                  <a:srgbClr val="0D1B2A"/>
                </a:solidFill>
                <a:latin typeface="Roboto Mono"/>
                <a:ea typeface="Roboto Mono"/>
                <a:cs typeface="Roboto Mono"/>
                <a:sym typeface="Roboto Mono"/>
              </a:rPr>
              <a:t>5</a:t>
            </a:r>
            <a:endParaRPr b="0" i="0" sz="435" u="none" cap="none" strike="noStrike">
              <a:solidFill>
                <a:schemeClr val="dk1"/>
              </a:solidFill>
              <a:latin typeface="Calibri"/>
              <a:ea typeface="Calibri"/>
              <a:cs typeface="Calibri"/>
              <a:sym typeface="Calibri"/>
            </a:endParaRPr>
          </a:p>
        </p:txBody>
      </p:sp>
      <p:sp>
        <p:nvSpPr>
          <p:cNvPr id="603" name="Google Shape;603;p15"/>
          <p:cNvSpPr/>
          <p:nvPr/>
        </p:nvSpPr>
        <p:spPr>
          <a:xfrm>
            <a:off x="4572000" y="2816423"/>
            <a:ext cx="1714500" cy="92869"/>
          </a:xfrm>
          <a:prstGeom prst="rect">
            <a:avLst/>
          </a:prstGeom>
          <a:noFill/>
          <a:ln>
            <a:noFill/>
          </a:ln>
        </p:spPr>
        <p:txBody>
          <a:bodyPr anchorCtr="0" anchor="t" bIns="0" lIns="0" spcFirstLastPara="1" rIns="0" wrap="square" tIns="0">
            <a:noAutofit/>
          </a:bodyPr>
          <a:lstStyle/>
          <a:p>
            <a:pPr indent="0" lvl="0" marL="0" marR="0" rtl="0" algn="ctr">
              <a:lnSpc>
                <a:spcPct val="135658"/>
              </a:lnSpc>
              <a:spcBef>
                <a:spcPts val="0"/>
              </a:spcBef>
              <a:spcAft>
                <a:spcPts val="0"/>
              </a:spcAft>
              <a:buClr>
                <a:srgbClr val="B0BEC5"/>
              </a:buClr>
              <a:buSzPts val="516"/>
              <a:buFont typeface="Roboto Mono"/>
              <a:buNone/>
            </a:pPr>
            <a:r>
              <a:rPr b="0" i="0" lang="en-US" sz="516" u="none" cap="none" strike="noStrike">
                <a:solidFill>
                  <a:srgbClr val="B0BEC5"/>
                </a:solidFill>
                <a:latin typeface="Roboto Mono"/>
                <a:ea typeface="Roboto Mono"/>
                <a:cs typeface="Roboto Mono"/>
                <a:sym typeface="Roboto Mono"/>
              </a:rPr>
              <a:t>transit/encrypt (DEK, KEK_RESTRICTED_v</a:t>
            </a:r>
            <a:r>
              <a:rPr b="0" i="0" lang="en-US" sz="516" u="none" cap="none" strike="noStrike">
                <a:solidFill>
                  <a:srgbClr val="00E5FF"/>
                </a:solidFill>
                <a:latin typeface="Roboto Mono"/>
                <a:ea typeface="Roboto Mono"/>
                <a:cs typeface="Roboto Mono"/>
                <a:sym typeface="Roboto Mono"/>
              </a:rPr>
              <a:t>N</a:t>
            </a:r>
            <a:r>
              <a:rPr b="0" i="0" lang="en-US" sz="516" u="none" cap="none" strike="noStrike">
                <a:solidFill>
                  <a:srgbClr val="B0BEC5"/>
                </a:solidFill>
                <a:latin typeface="Roboto Mono"/>
                <a:ea typeface="Roboto Mono"/>
                <a:cs typeface="Roboto Mono"/>
                <a:sym typeface="Roboto Mono"/>
              </a:rPr>
              <a:t>)</a:t>
            </a:r>
            <a:endParaRPr b="0" i="0" sz="516" u="none" cap="none" strike="noStrike">
              <a:solidFill>
                <a:schemeClr val="dk1"/>
              </a:solidFill>
              <a:latin typeface="Calibri"/>
              <a:ea typeface="Calibri"/>
              <a:cs typeface="Calibri"/>
              <a:sym typeface="Calibri"/>
            </a:endParaRPr>
          </a:p>
        </p:txBody>
      </p:sp>
      <p:sp>
        <p:nvSpPr>
          <p:cNvPr id="604" name="Google Shape;604;p15"/>
          <p:cNvSpPr/>
          <p:nvPr/>
        </p:nvSpPr>
        <p:spPr>
          <a:xfrm>
            <a:off x="4572000" y="2937867"/>
            <a:ext cx="1714500" cy="14288"/>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15"/>
          <p:cNvSpPr/>
          <p:nvPr/>
        </p:nvSpPr>
        <p:spPr>
          <a:xfrm>
            <a:off x="6222206" y="3187898"/>
            <a:ext cx="128588" cy="128588"/>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15"/>
          <p:cNvSpPr/>
          <p:nvPr/>
        </p:nvSpPr>
        <p:spPr>
          <a:xfrm>
            <a:off x="6222206" y="3187898"/>
            <a:ext cx="128588" cy="128588"/>
          </a:xfrm>
          <a:prstGeom prst="rect">
            <a:avLst/>
          </a:prstGeom>
          <a:noFill/>
          <a:ln>
            <a:noFill/>
          </a:ln>
        </p:spPr>
        <p:txBody>
          <a:bodyPr anchorCtr="0" anchor="ctr" bIns="0" lIns="0" spcFirstLastPara="1" rIns="0" wrap="square" tIns="0">
            <a:noAutofit/>
          </a:bodyPr>
          <a:lstStyle/>
          <a:p>
            <a:pPr indent="0" lvl="0" marL="0" marR="0" rtl="0" algn="ctr">
              <a:lnSpc>
                <a:spcPct val="137931"/>
              </a:lnSpc>
              <a:spcBef>
                <a:spcPts val="0"/>
              </a:spcBef>
              <a:spcAft>
                <a:spcPts val="0"/>
              </a:spcAft>
              <a:buClr>
                <a:srgbClr val="0D1B2A"/>
              </a:buClr>
              <a:buSzPts val="435"/>
              <a:buFont typeface="Roboto Mono"/>
              <a:buNone/>
            </a:pPr>
            <a:r>
              <a:rPr b="1" i="0" lang="en-US" sz="435" u="none" cap="none" strike="noStrike">
                <a:solidFill>
                  <a:srgbClr val="0D1B2A"/>
                </a:solidFill>
                <a:latin typeface="Roboto Mono"/>
                <a:ea typeface="Roboto Mono"/>
                <a:cs typeface="Roboto Mono"/>
                <a:sym typeface="Roboto Mono"/>
              </a:rPr>
              <a:t>6</a:t>
            </a:r>
            <a:endParaRPr b="0" i="0" sz="435" u="none" cap="none" strike="noStrike">
              <a:solidFill>
                <a:schemeClr val="dk1"/>
              </a:solidFill>
              <a:latin typeface="Calibri"/>
              <a:ea typeface="Calibri"/>
              <a:cs typeface="Calibri"/>
              <a:sym typeface="Calibri"/>
            </a:endParaRPr>
          </a:p>
        </p:txBody>
      </p:sp>
      <p:sp>
        <p:nvSpPr>
          <p:cNvPr id="607" name="Google Shape;607;p15"/>
          <p:cNvSpPr/>
          <p:nvPr/>
        </p:nvSpPr>
        <p:spPr>
          <a:xfrm>
            <a:off x="6286500" y="3184327"/>
            <a:ext cx="1714500" cy="92869"/>
          </a:xfrm>
          <a:prstGeom prst="rect">
            <a:avLst/>
          </a:prstGeom>
          <a:noFill/>
          <a:ln>
            <a:noFill/>
          </a:ln>
        </p:spPr>
        <p:txBody>
          <a:bodyPr anchorCtr="0" anchor="t" bIns="0" lIns="0" spcFirstLastPara="1" rIns="0" wrap="square" tIns="0">
            <a:noAutofit/>
          </a:bodyPr>
          <a:lstStyle/>
          <a:p>
            <a:pPr indent="0" lvl="0" marL="0" marR="0" rtl="0" algn="ctr">
              <a:lnSpc>
                <a:spcPct val="135658"/>
              </a:lnSpc>
              <a:spcBef>
                <a:spcPts val="0"/>
              </a:spcBef>
              <a:spcAft>
                <a:spcPts val="0"/>
              </a:spcAft>
              <a:buClr>
                <a:srgbClr val="B0BEC5"/>
              </a:buClr>
              <a:buSzPts val="516"/>
              <a:buFont typeface="Roboto Mono"/>
              <a:buNone/>
            </a:pPr>
            <a:r>
              <a:rPr b="0" i="0" lang="en-US" sz="516" u="none" cap="none" strike="noStrike">
                <a:solidFill>
                  <a:srgbClr val="B0BEC5"/>
                </a:solidFill>
                <a:latin typeface="Roboto Mono"/>
                <a:ea typeface="Roboto Mono"/>
                <a:cs typeface="Roboto Mono"/>
                <a:sym typeface="Roboto Mono"/>
              </a:rPr>
              <a:t>PKCS#11 encrypt (KEK)</a:t>
            </a:r>
            <a:endParaRPr b="0" i="0" sz="516" u="none" cap="none" strike="noStrike">
              <a:solidFill>
                <a:schemeClr val="dk1"/>
              </a:solidFill>
              <a:latin typeface="Calibri"/>
              <a:ea typeface="Calibri"/>
              <a:cs typeface="Calibri"/>
              <a:sym typeface="Calibri"/>
            </a:endParaRPr>
          </a:p>
        </p:txBody>
      </p:sp>
      <p:sp>
        <p:nvSpPr>
          <p:cNvPr id="608" name="Google Shape;608;p15"/>
          <p:cNvSpPr/>
          <p:nvPr/>
        </p:nvSpPr>
        <p:spPr>
          <a:xfrm>
            <a:off x="6286500" y="3305770"/>
            <a:ext cx="1714500" cy="14288"/>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15"/>
          <p:cNvSpPr/>
          <p:nvPr/>
        </p:nvSpPr>
        <p:spPr>
          <a:xfrm>
            <a:off x="285750" y="3441502"/>
            <a:ext cx="8572500" cy="371475"/>
          </a:xfrm>
          <a:prstGeom prst="rect">
            <a:avLst/>
          </a:prstGeom>
          <a:solidFill>
            <a:srgbClr val="FFFFFF">
              <a:alpha val="19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15"/>
          <p:cNvSpPr/>
          <p:nvPr/>
        </p:nvSpPr>
        <p:spPr>
          <a:xfrm>
            <a:off x="285750" y="3805833"/>
            <a:ext cx="8572500" cy="714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15"/>
          <p:cNvSpPr/>
          <p:nvPr/>
        </p:nvSpPr>
        <p:spPr>
          <a:xfrm>
            <a:off x="7936706" y="3562945"/>
            <a:ext cx="128588" cy="128588"/>
          </a:xfrm>
          <a:prstGeom prst="rect">
            <a:avLst/>
          </a:prstGeom>
          <a:solidFill>
            <a:srgbClr val="00E6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15"/>
          <p:cNvSpPr/>
          <p:nvPr/>
        </p:nvSpPr>
        <p:spPr>
          <a:xfrm>
            <a:off x="7936706" y="3562945"/>
            <a:ext cx="128588" cy="128588"/>
          </a:xfrm>
          <a:prstGeom prst="rect">
            <a:avLst/>
          </a:prstGeom>
          <a:noFill/>
          <a:ln>
            <a:noFill/>
          </a:ln>
        </p:spPr>
        <p:txBody>
          <a:bodyPr anchorCtr="0" anchor="ctr" bIns="0" lIns="0" spcFirstLastPara="1" rIns="0" wrap="square" tIns="0">
            <a:noAutofit/>
          </a:bodyPr>
          <a:lstStyle/>
          <a:p>
            <a:pPr indent="0" lvl="0" marL="0" marR="0" rtl="0" algn="ctr">
              <a:lnSpc>
                <a:spcPct val="137931"/>
              </a:lnSpc>
              <a:spcBef>
                <a:spcPts val="0"/>
              </a:spcBef>
              <a:spcAft>
                <a:spcPts val="0"/>
              </a:spcAft>
              <a:buClr>
                <a:srgbClr val="0D1B2A"/>
              </a:buClr>
              <a:buSzPts val="435"/>
              <a:buFont typeface="Roboto Mono"/>
              <a:buNone/>
            </a:pPr>
            <a:r>
              <a:rPr b="1" i="0" lang="en-US" sz="435" u="none" cap="none" strike="noStrike">
                <a:solidFill>
                  <a:srgbClr val="0D1B2A"/>
                </a:solidFill>
                <a:latin typeface="Roboto Mono"/>
                <a:ea typeface="Roboto Mono"/>
                <a:cs typeface="Roboto Mono"/>
                <a:sym typeface="Roboto Mono"/>
              </a:rPr>
              <a:t>7</a:t>
            </a:r>
            <a:endParaRPr b="0" i="0" sz="435" u="none" cap="none" strike="noStrike">
              <a:solidFill>
                <a:schemeClr val="dk1"/>
              </a:solidFill>
              <a:latin typeface="Calibri"/>
              <a:ea typeface="Calibri"/>
              <a:cs typeface="Calibri"/>
              <a:sym typeface="Calibri"/>
            </a:endParaRPr>
          </a:p>
        </p:txBody>
      </p:sp>
      <p:sp>
        <p:nvSpPr>
          <p:cNvPr id="613" name="Google Shape;613;p15"/>
          <p:cNvSpPr/>
          <p:nvPr/>
        </p:nvSpPr>
        <p:spPr>
          <a:xfrm>
            <a:off x="4872038" y="3557588"/>
            <a:ext cx="1114425" cy="94655"/>
          </a:xfrm>
          <a:prstGeom prst="rect">
            <a:avLst/>
          </a:prstGeom>
          <a:noFill/>
          <a:ln>
            <a:noFill/>
          </a:ln>
        </p:spPr>
        <p:txBody>
          <a:bodyPr anchorCtr="0" anchor="t" bIns="0" lIns="0" spcFirstLastPara="1" rIns="0" wrap="square" tIns="0">
            <a:noAutofit/>
          </a:bodyPr>
          <a:lstStyle/>
          <a:p>
            <a:pPr indent="0" lvl="0" marL="0" marR="0" rtl="0" algn="ctr">
              <a:lnSpc>
                <a:spcPct val="135658"/>
              </a:lnSpc>
              <a:spcBef>
                <a:spcPts val="0"/>
              </a:spcBef>
              <a:spcAft>
                <a:spcPts val="0"/>
              </a:spcAft>
              <a:buClr>
                <a:srgbClr val="00E676"/>
              </a:buClr>
              <a:buSzPts val="516"/>
              <a:buFont typeface="Roboto Mono"/>
              <a:buNone/>
            </a:pPr>
            <a:r>
              <a:rPr b="0" i="0" lang="en-US" sz="516" u="none" cap="none" strike="noStrike">
                <a:solidFill>
                  <a:srgbClr val="00E676"/>
                </a:solidFill>
                <a:latin typeface="Roboto Mono"/>
                <a:ea typeface="Roboto Mono"/>
                <a:cs typeface="Roboto Mono"/>
                <a:sym typeface="Roboto Mono"/>
              </a:rPr>
              <a:t>← encrypted_dek_restricted</a:t>
            </a:r>
            <a:endParaRPr b="0" i="0" sz="516" u="none" cap="none" strike="noStrike">
              <a:solidFill>
                <a:schemeClr val="dk1"/>
              </a:solidFill>
              <a:latin typeface="Calibri"/>
              <a:ea typeface="Calibri"/>
              <a:cs typeface="Calibri"/>
              <a:sym typeface="Calibri"/>
            </a:endParaRPr>
          </a:p>
        </p:txBody>
      </p:sp>
      <p:sp>
        <p:nvSpPr>
          <p:cNvPr id="614" name="Google Shape;614;p15"/>
          <p:cNvSpPr/>
          <p:nvPr/>
        </p:nvSpPr>
        <p:spPr>
          <a:xfrm>
            <a:off x="2857500" y="3680817"/>
            <a:ext cx="5143500" cy="14288"/>
          </a:xfrm>
          <a:prstGeom prst="rect">
            <a:avLst/>
          </a:prstGeom>
          <a:solidFill>
            <a:srgbClr val="00E6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15"/>
          <p:cNvSpPr/>
          <p:nvPr/>
        </p:nvSpPr>
        <p:spPr>
          <a:xfrm>
            <a:off x="2793206" y="3930848"/>
            <a:ext cx="128588" cy="128588"/>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15"/>
          <p:cNvSpPr/>
          <p:nvPr/>
        </p:nvSpPr>
        <p:spPr>
          <a:xfrm>
            <a:off x="2793206" y="3930848"/>
            <a:ext cx="128588" cy="128588"/>
          </a:xfrm>
          <a:prstGeom prst="rect">
            <a:avLst/>
          </a:prstGeom>
          <a:noFill/>
          <a:ln>
            <a:noFill/>
          </a:ln>
        </p:spPr>
        <p:txBody>
          <a:bodyPr anchorCtr="0" anchor="ctr" bIns="0" lIns="0" spcFirstLastPara="1" rIns="0" wrap="square" tIns="0">
            <a:noAutofit/>
          </a:bodyPr>
          <a:lstStyle/>
          <a:p>
            <a:pPr indent="0" lvl="0" marL="0" marR="0" rtl="0" algn="ctr">
              <a:lnSpc>
                <a:spcPct val="137931"/>
              </a:lnSpc>
              <a:spcBef>
                <a:spcPts val="0"/>
              </a:spcBef>
              <a:spcAft>
                <a:spcPts val="0"/>
              </a:spcAft>
              <a:buClr>
                <a:srgbClr val="0D1B2A"/>
              </a:buClr>
              <a:buSzPts val="435"/>
              <a:buFont typeface="Roboto Mono"/>
              <a:buNone/>
            </a:pPr>
            <a:r>
              <a:rPr b="1" i="0" lang="en-US" sz="435" u="none" cap="none" strike="noStrike">
                <a:solidFill>
                  <a:srgbClr val="0D1B2A"/>
                </a:solidFill>
                <a:latin typeface="Roboto Mono"/>
                <a:ea typeface="Roboto Mono"/>
                <a:cs typeface="Roboto Mono"/>
                <a:sym typeface="Roboto Mono"/>
              </a:rPr>
              <a:t>8</a:t>
            </a:r>
            <a:endParaRPr b="0" i="0" sz="435" u="none" cap="none" strike="noStrike">
              <a:solidFill>
                <a:schemeClr val="dk1"/>
              </a:solidFill>
              <a:latin typeface="Calibri"/>
              <a:ea typeface="Calibri"/>
              <a:cs typeface="Calibri"/>
              <a:sym typeface="Calibri"/>
            </a:endParaRPr>
          </a:p>
        </p:txBody>
      </p:sp>
      <p:sp>
        <p:nvSpPr>
          <p:cNvPr id="617" name="Google Shape;617;p15"/>
          <p:cNvSpPr/>
          <p:nvPr/>
        </p:nvSpPr>
        <p:spPr>
          <a:xfrm>
            <a:off x="3114675" y="3948708"/>
            <a:ext cx="2614613" cy="92869"/>
          </a:xfrm>
          <a:prstGeom prst="rect">
            <a:avLst/>
          </a:prstGeom>
          <a:noFill/>
          <a:ln>
            <a:noFill/>
          </a:ln>
        </p:spPr>
        <p:txBody>
          <a:bodyPr anchorCtr="0" anchor="t" bIns="0" lIns="0" spcFirstLastPara="1" rIns="0" wrap="square" tIns="0">
            <a:noAutofit/>
          </a:bodyPr>
          <a:lstStyle/>
          <a:p>
            <a:pPr indent="0" lvl="0" marL="0" marR="0" rtl="0" algn="l">
              <a:lnSpc>
                <a:spcPct val="135658"/>
              </a:lnSpc>
              <a:spcBef>
                <a:spcPts val="0"/>
              </a:spcBef>
              <a:spcAft>
                <a:spcPts val="0"/>
              </a:spcAft>
              <a:buClr>
                <a:srgbClr val="FFAB40"/>
              </a:buClr>
              <a:buSzPts val="516"/>
              <a:buFont typeface="Roboto Mono"/>
              <a:buNone/>
            </a:pPr>
            <a:r>
              <a:rPr b="0" i="0" lang="en-US" sz="516" u="none" cap="none" strike="noStrike">
                <a:solidFill>
                  <a:srgbClr val="FFAB40"/>
                </a:solidFill>
                <a:latin typeface="Roboto Mono"/>
                <a:ea typeface="Roboto Mono"/>
                <a:cs typeface="Roboto Mono"/>
                <a:sym typeface="Roboto Mono"/>
              </a:rPr>
              <a:t>Encrypt each field with its classification DEK; cache new DEK</a:t>
            </a:r>
            <a:endParaRPr b="0" i="0" sz="516" u="none" cap="none" strike="noStrike">
              <a:solidFill>
                <a:schemeClr val="dk1"/>
              </a:solidFill>
              <a:latin typeface="Calibri"/>
              <a:ea typeface="Calibri"/>
              <a:cs typeface="Calibri"/>
              <a:sym typeface="Calibri"/>
            </a:endParaRPr>
          </a:p>
        </p:txBody>
      </p:sp>
      <p:sp>
        <p:nvSpPr>
          <p:cNvPr id="618" name="Google Shape;618;p15"/>
          <p:cNvSpPr/>
          <p:nvPr/>
        </p:nvSpPr>
        <p:spPr>
          <a:xfrm>
            <a:off x="285750" y="4184452"/>
            <a:ext cx="8572500" cy="371475"/>
          </a:xfrm>
          <a:prstGeom prst="rect">
            <a:avLst/>
          </a:prstGeom>
          <a:solidFill>
            <a:srgbClr val="FFFFFF">
              <a:alpha val="19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15"/>
          <p:cNvSpPr/>
          <p:nvPr/>
        </p:nvSpPr>
        <p:spPr>
          <a:xfrm>
            <a:off x="285750" y="4548783"/>
            <a:ext cx="8572500" cy="714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15"/>
          <p:cNvSpPr/>
          <p:nvPr/>
        </p:nvSpPr>
        <p:spPr>
          <a:xfrm>
            <a:off x="2793206" y="4305895"/>
            <a:ext cx="128588" cy="128588"/>
          </a:xfrm>
          <a:prstGeom prst="rect">
            <a:avLst/>
          </a:prstGeom>
          <a:solidFill>
            <a:srgbClr val="00E6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15"/>
          <p:cNvSpPr/>
          <p:nvPr/>
        </p:nvSpPr>
        <p:spPr>
          <a:xfrm>
            <a:off x="2793206" y="4305895"/>
            <a:ext cx="128588" cy="128588"/>
          </a:xfrm>
          <a:prstGeom prst="rect">
            <a:avLst/>
          </a:prstGeom>
          <a:noFill/>
          <a:ln>
            <a:noFill/>
          </a:ln>
        </p:spPr>
        <p:txBody>
          <a:bodyPr anchorCtr="0" anchor="ctr" bIns="0" lIns="0" spcFirstLastPara="1" rIns="0" wrap="square" tIns="0">
            <a:noAutofit/>
          </a:bodyPr>
          <a:lstStyle/>
          <a:p>
            <a:pPr indent="0" lvl="0" marL="0" marR="0" rtl="0" algn="ctr">
              <a:lnSpc>
                <a:spcPct val="137931"/>
              </a:lnSpc>
              <a:spcBef>
                <a:spcPts val="0"/>
              </a:spcBef>
              <a:spcAft>
                <a:spcPts val="0"/>
              </a:spcAft>
              <a:buClr>
                <a:srgbClr val="0D1B2A"/>
              </a:buClr>
              <a:buSzPts val="435"/>
              <a:buFont typeface="Roboto Mono"/>
              <a:buNone/>
            </a:pPr>
            <a:r>
              <a:rPr b="1" i="0" lang="en-US" sz="435" u="none" cap="none" strike="noStrike">
                <a:solidFill>
                  <a:srgbClr val="0D1B2A"/>
                </a:solidFill>
                <a:latin typeface="Roboto Mono"/>
                <a:ea typeface="Roboto Mono"/>
                <a:cs typeface="Roboto Mono"/>
                <a:sym typeface="Roboto Mono"/>
              </a:rPr>
              <a:t>9</a:t>
            </a:r>
            <a:endParaRPr b="0" i="0" sz="435" u="none" cap="none" strike="noStrike">
              <a:solidFill>
                <a:schemeClr val="dk1"/>
              </a:solidFill>
              <a:latin typeface="Calibri"/>
              <a:ea typeface="Calibri"/>
              <a:cs typeface="Calibri"/>
              <a:sym typeface="Calibri"/>
            </a:endParaRPr>
          </a:p>
        </p:txBody>
      </p:sp>
      <p:sp>
        <p:nvSpPr>
          <p:cNvPr id="622" name="Google Shape;622;p15"/>
          <p:cNvSpPr/>
          <p:nvPr/>
        </p:nvSpPr>
        <p:spPr>
          <a:xfrm>
            <a:off x="1143000" y="4254103"/>
            <a:ext cx="1714500" cy="187523"/>
          </a:xfrm>
          <a:prstGeom prst="rect">
            <a:avLst/>
          </a:prstGeom>
          <a:noFill/>
          <a:ln>
            <a:noFill/>
          </a:ln>
        </p:spPr>
        <p:txBody>
          <a:bodyPr anchorCtr="0" anchor="t" bIns="0" lIns="0" spcFirstLastPara="1" rIns="0" wrap="square" tIns="0">
            <a:noAutofit/>
          </a:bodyPr>
          <a:lstStyle/>
          <a:p>
            <a:pPr indent="0" lvl="0" marL="0" marR="0" rtl="0" algn="ctr">
              <a:lnSpc>
                <a:spcPct val="135658"/>
              </a:lnSpc>
              <a:spcBef>
                <a:spcPts val="0"/>
              </a:spcBef>
              <a:spcAft>
                <a:spcPts val="0"/>
              </a:spcAft>
              <a:buClr>
                <a:srgbClr val="00E676"/>
              </a:buClr>
              <a:buSzPts val="516"/>
              <a:buFont typeface="Roboto Mono"/>
              <a:buNone/>
            </a:pPr>
            <a:r>
              <a:rPr b="0" i="0" lang="en-US" sz="516" u="none" cap="none" strike="noStrike">
                <a:solidFill>
                  <a:srgbClr val="00E676"/>
                </a:solidFill>
                <a:latin typeface="Roboto Mono"/>
                <a:ea typeface="Roboto Mono"/>
                <a:cs typeface="Roboto Mono"/>
                <a:sym typeface="Roboto Mono"/>
              </a:rPr>
              <a:t>← EncryptedRecord { ssn: enc, email: enc }</a:t>
            </a:r>
            <a:endParaRPr b="0" i="0" sz="516" u="none" cap="none" strike="noStrike">
              <a:solidFill>
                <a:schemeClr val="dk1"/>
              </a:solidFill>
              <a:latin typeface="Calibri"/>
              <a:ea typeface="Calibri"/>
              <a:cs typeface="Calibri"/>
              <a:sym typeface="Calibri"/>
            </a:endParaRPr>
          </a:p>
        </p:txBody>
      </p:sp>
      <p:sp>
        <p:nvSpPr>
          <p:cNvPr id="623" name="Google Shape;623;p15"/>
          <p:cNvSpPr/>
          <p:nvPr/>
        </p:nvSpPr>
        <p:spPr>
          <a:xfrm>
            <a:off x="1143000" y="4470202"/>
            <a:ext cx="1714500" cy="14288"/>
          </a:xfrm>
          <a:prstGeom prst="rect">
            <a:avLst/>
          </a:prstGeom>
          <a:solidFill>
            <a:srgbClr val="00E6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15"/>
          <p:cNvSpPr/>
          <p:nvPr/>
        </p:nvSpPr>
        <p:spPr>
          <a:xfrm>
            <a:off x="285750" y="4748808"/>
            <a:ext cx="8572500" cy="425723"/>
          </a:xfrm>
          <a:prstGeom prst="rect">
            <a:avLst/>
          </a:prstGeom>
          <a:solidFill>
            <a:srgbClr val="00E5FF">
              <a:alpha val="3921"/>
            </a:srgbClr>
          </a:solidFill>
          <a:ln cap="flat" cmpd="sng" w="9525">
            <a:solidFill>
              <a:srgbClr val="00E5FF">
                <a:alpha val="1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25" name="Google Shape;625;p15"/>
          <p:cNvPicPr preferRelativeResize="0"/>
          <p:nvPr/>
        </p:nvPicPr>
        <p:blipFill rotWithShape="1">
          <a:blip r:embed="rId9">
            <a:alphaModFix/>
          </a:blip>
          <a:srcRect b="0" l="0" r="0" t="0"/>
          <a:stretch/>
        </p:blipFill>
        <p:spPr>
          <a:xfrm>
            <a:off x="428625" y="4897375"/>
            <a:ext cx="114300" cy="114300"/>
          </a:xfrm>
          <a:prstGeom prst="rect">
            <a:avLst/>
          </a:prstGeom>
          <a:noFill/>
          <a:ln>
            <a:noFill/>
          </a:ln>
        </p:spPr>
      </p:pic>
      <p:sp>
        <p:nvSpPr>
          <p:cNvPr id="626" name="Google Shape;626;p15"/>
          <p:cNvSpPr/>
          <p:nvPr/>
        </p:nvSpPr>
        <p:spPr>
          <a:xfrm>
            <a:off x="614363" y="4834533"/>
            <a:ext cx="8101013" cy="239985"/>
          </a:xfrm>
          <a:prstGeom prst="rect">
            <a:avLst/>
          </a:prstGeom>
          <a:noFill/>
          <a:ln>
            <a:noFill/>
          </a:ln>
        </p:spPr>
        <p:txBody>
          <a:bodyPr anchorCtr="0" anchor="t" bIns="0" lIns="0" spcFirstLastPara="1" rIns="0" wrap="square" tIns="0">
            <a:noAutofit/>
          </a:bodyPr>
          <a:lstStyle/>
          <a:p>
            <a:pPr indent="0" lvl="0" marL="0" marR="0" rtl="0" algn="l">
              <a:lnSpc>
                <a:spcPct val="144927"/>
              </a:lnSpc>
              <a:spcBef>
                <a:spcPts val="0"/>
              </a:spcBef>
              <a:spcAft>
                <a:spcPts val="0"/>
              </a:spcAft>
              <a:buClr>
                <a:srgbClr val="00E5FF"/>
              </a:buClr>
              <a:buSzPts val="584"/>
              <a:buFont typeface="Inter"/>
              <a:buNone/>
            </a:pPr>
            <a:r>
              <a:rPr b="1" i="0" lang="en-US" sz="584" u="none" cap="none" strike="noStrike">
                <a:solidFill>
                  <a:srgbClr val="00E5FF"/>
                </a:solidFill>
                <a:latin typeface="Inter"/>
                <a:ea typeface="Inter"/>
                <a:cs typeface="Inter"/>
                <a:sym typeface="Inter"/>
              </a:rPr>
              <a:t>Granular Access Control:</a:t>
            </a:r>
            <a:r>
              <a:rPr b="0" i="0" lang="en-US" sz="621" u="none" cap="none" strike="noStrike">
                <a:solidFill>
                  <a:srgbClr val="B0BEC5"/>
                </a:solidFill>
                <a:latin typeface="Inter"/>
                <a:ea typeface="Inter"/>
                <a:cs typeface="Inter"/>
                <a:sym typeface="Inter"/>
              </a:rPr>
              <a:t> Each data classification maps to a different KEK. This enables strict per-field decryption policies — e.g., a customer support role might have permission to decrypt CONFIDENTIAL fields (email) but not RESTRICTED fields (SSN).</a:t>
            </a:r>
            <a:endParaRPr b="0" i="0" sz="584"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1" name="Shape 631"/>
        <p:cNvGrpSpPr/>
        <p:nvPr/>
      </p:nvGrpSpPr>
      <p:grpSpPr>
        <a:xfrm>
          <a:off x="0" y="0"/>
          <a:ext cx="0" cy="0"/>
          <a:chOff x="0" y="0"/>
          <a:chExt cx="0" cy="0"/>
        </a:xfrm>
      </p:grpSpPr>
      <p:pic>
        <p:nvPicPr>
          <p:cNvPr descr="preencoded.png" id="632" name="Google Shape;632;p16"/>
          <p:cNvPicPr preferRelativeResize="0"/>
          <p:nvPr/>
        </p:nvPicPr>
        <p:blipFill rotWithShape="1">
          <a:blip r:embed="rId3">
            <a:alphaModFix/>
          </a:blip>
          <a:srcRect b="0" l="0" r="0" t="0"/>
          <a:stretch/>
        </p:blipFill>
        <p:spPr>
          <a:xfrm>
            <a:off x="57150" y="57150"/>
            <a:ext cx="9029700" cy="5293519"/>
          </a:xfrm>
          <a:prstGeom prst="rect">
            <a:avLst/>
          </a:prstGeom>
          <a:noFill/>
          <a:ln>
            <a:noFill/>
          </a:ln>
        </p:spPr>
      </p:pic>
      <p:sp>
        <p:nvSpPr>
          <p:cNvPr id="633" name="Google Shape;633;p16"/>
          <p:cNvSpPr/>
          <p:nvPr/>
        </p:nvSpPr>
        <p:spPr>
          <a:xfrm>
            <a:off x="57150" y="57150"/>
            <a:ext cx="9029700" cy="132159"/>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000000"/>
              </a:buClr>
              <a:buSzPts val="834"/>
              <a:buFont typeface="Times New Roman"/>
              <a:buNone/>
            </a:pPr>
            <a:r>
              <a:rPr b="0" i="0" lang="en-US" sz="834" u="none" cap="none" strike="noStrike">
                <a:solidFill>
                  <a:srgbClr val="000000"/>
                </a:solidFill>
                <a:latin typeface="Times New Roman"/>
                <a:ea typeface="Times New Roman"/>
                <a:cs typeface="Times New Roman"/>
                <a:sym typeface="Times New Roman"/>
              </a:rPr>
              <a:t>Code Example: Database Field-Level Encryption</a:t>
            </a:r>
            <a:endParaRPr b="0" i="0" sz="834" u="none" cap="none" strike="noStrike">
              <a:solidFill>
                <a:schemeClr val="dk1"/>
              </a:solidFill>
              <a:latin typeface="Calibri"/>
              <a:ea typeface="Calibri"/>
              <a:cs typeface="Calibri"/>
              <a:sym typeface="Calibri"/>
            </a:endParaRPr>
          </a:p>
        </p:txBody>
      </p:sp>
      <p:sp>
        <p:nvSpPr>
          <p:cNvPr id="634" name="Google Shape;634;p16"/>
          <p:cNvSpPr/>
          <p:nvPr/>
        </p:nvSpPr>
        <p:spPr>
          <a:xfrm>
            <a:off x="57150" y="189309"/>
            <a:ext cx="9029700" cy="132159"/>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000000"/>
              </a:buClr>
              <a:buSzPts val="834"/>
              <a:buFont typeface="Times New Roman"/>
              <a:buNone/>
            </a:pPr>
            <a:r>
              <a:rPr b="0" i="0" lang="en-US" sz="834" u="none" cap="none" strike="noStrike">
                <a:solidFill>
                  <a:srgbClr val="000000"/>
                </a:solidFill>
                <a:latin typeface="Times New Roman"/>
                <a:ea typeface="Times New Roman"/>
                <a:cs typeface="Times New Roman"/>
                <a:sym typeface="Times New Roman"/>
              </a:rPr>
              <a:t>Use Case D: Multi-classification data within a single record</a:t>
            </a:r>
            <a:endParaRPr b="0" i="0" sz="834" u="none" cap="none" strike="noStrike">
              <a:solidFill>
                <a:schemeClr val="dk1"/>
              </a:solidFill>
              <a:latin typeface="Calibri"/>
              <a:ea typeface="Calibri"/>
              <a:cs typeface="Calibri"/>
              <a:sym typeface="Calibri"/>
            </a:endParaRPr>
          </a:p>
        </p:txBody>
      </p:sp>
      <p:sp>
        <p:nvSpPr>
          <p:cNvPr id="635" name="Google Shape;635;p16"/>
          <p:cNvSpPr/>
          <p:nvPr/>
        </p:nvSpPr>
        <p:spPr>
          <a:xfrm>
            <a:off x="57150" y="321469"/>
            <a:ext cx="4400550" cy="5029200"/>
          </a:xfrm>
          <a:prstGeom prst="rect">
            <a:avLst/>
          </a:prstGeom>
          <a:solidFill>
            <a:srgbClr val="1E1E1E"/>
          </a:solidFill>
          <a:ln cap="flat" cmpd="sng" w="952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16"/>
          <p:cNvSpPr/>
          <p:nvPr/>
        </p:nvSpPr>
        <p:spPr>
          <a:xfrm>
            <a:off x="228600" y="492919"/>
            <a:ext cx="4057650" cy="141089"/>
          </a:xfrm>
          <a:prstGeom prst="rect">
            <a:avLst/>
          </a:prstGeom>
          <a:noFill/>
          <a:ln>
            <a:noFill/>
          </a:ln>
        </p:spPr>
        <p:txBody>
          <a:bodyPr anchorCtr="0" anchor="t" bIns="0" lIns="0" spcFirstLastPara="1" rIns="0" wrap="square" tIns="0">
            <a:noAutofit/>
          </a:bodyPr>
          <a:lstStyle/>
          <a:p>
            <a:pPr indent="0" lvl="0" marL="0" marR="0" rtl="0" algn="l">
              <a:lnSpc>
                <a:spcPct val="133689"/>
              </a:lnSpc>
              <a:spcBef>
                <a:spcPts val="0"/>
              </a:spcBef>
              <a:spcAft>
                <a:spcPts val="0"/>
              </a:spcAft>
              <a:buClr>
                <a:srgbClr val="569CD6"/>
              </a:buClr>
              <a:buSzPts val="748"/>
              <a:buFont typeface="Arial"/>
              <a:buNone/>
            </a:pPr>
            <a:r>
              <a:rPr b="0" i="0" lang="en-US" sz="748" u="none" cap="none" strike="noStrike">
                <a:solidFill>
                  <a:srgbClr val="569CD6"/>
                </a:solidFill>
                <a:latin typeface="Arial"/>
                <a:ea typeface="Arial"/>
                <a:cs typeface="Arial"/>
                <a:sym typeface="Arial"/>
              </a:rPr>
              <a:t>// 1. Entity with mixed classifications</a:t>
            </a:r>
            <a:endParaRPr b="0" i="0" sz="748" u="none" cap="none" strike="noStrike">
              <a:solidFill>
                <a:schemeClr val="dk1"/>
              </a:solidFill>
              <a:latin typeface="Calibri"/>
              <a:ea typeface="Calibri"/>
              <a:cs typeface="Calibri"/>
              <a:sym typeface="Calibri"/>
            </a:endParaRPr>
          </a:p>
        </p:txBody>
      </p:sp>
      <p:sp>
        <p:nvSpPr>
          <p:cNvPr id="637" name="Google Shape;637;p16"/>
          <p:cNvSpPr/>
          <p:nvPr/>
        </p:nvSpPr>
        <p:spPr>
          <a:xfrm>
            <a:off x="228600" y="634008"/>
            <a:ext cx="4057650" cy="141089"/>
          </a:xfrm>
          <a:prstGeom prst="rect">
            <a:avLst/>
          </a:prstGeom>
          <a:noFill/>
          <a:ln>
            <a:noFill/>
          </a:ln>
        </p:spPr>
        <p:txBody>
          <a:bodyPr anchorCtr="0" anchor="t" bIns="0" lIns="0" spcFirstLastPara="1" rIns="0" wrap="square" tIns="0">
            <a:noAutofit/>
          </a:bodyPr>
          <a:lstStyle/>
          <a:p>
            <a:pPr indent="0" lvl="0" marL="0" marR="0" rtl="0" algn="l">
              <a:lnSpc>
                <a:spcPct val="133689"/>
              </a:lnSpc>
              <a:spcBef>
                <a:spcPts val="0"/>
              </a:spcBef>
              <a:spcAft>
                <a:spcPts val="0"/>
              </a:spcAft>
              <a:buClr>
                <a:srgbClr val="569CD6"/>
              </a:buClr>
              <a:buSzPts val="748"/>
              <a:buFont typeface="Arial"/>
              <a:buNone/>
            </a:pPr>
            <a:r>
              <a:rPr b="0" i="0" lang="en-US" sz="748" u="none" cap="none" strike="noStrike">
                <a:solidFill>
                  <a:srgbClr val="569CD6"/>
                </a:solidFill>
                <a:latin typeface="Arial"/>
                <a:ea typeface="Arial"/>
                <a:cs typeface="Arial"/>
                <a:sym typeface="Arial"/>
              </a:rPr>
              <a:t>public class</a:t>
            </a:r>
            <a:r>
              <a:rPr b="0" i="0" lang="en-US" sz="748" u="none" cap="none" strike="noStrike">
                <a:solidFill>
                  <a:srgbClr val="D4D4D4"/>
                </a:solidFill>
                <a:latin typeface="Arial"/>
                <a:ea typeface="Arial"/>
                <a:cs typeface="Arial"/>
                <a:sym typeface="Arial"/>
              </a:rPr>
              <a:t> </a:t>
            </a:r>
            <a:r>
              <a:rPr b="0" i="0" lang="en-US" sz="748" u="none" cap="none" strike="noStrike">
                <a:solidFill>
                  <a:srgbClr val="4EC9B0"/>
                </a:solidFill>
                <a:latin typeface="Arial"/>
                <a:ea typeface="Arial"/>
                <a:cs typeface="Arial"/>
                <a:sym typeface="Arial"/>
              </a:rPr>
              <a:t>PatientRecord</a:t>
            </a:r>
            <a:r>
              <a:rPr b="0" i="0" lang="en-US" sz="748" u="none" cap="none" strike="noStrike">
                <a:solidFill>
                  <a:srgbClr val="D4D4D4"/>
                </a:solidFill>
                <a:latin typeface="Arial"/>
                <a:ea typeface="Arial"/>
                <a:cs typeface="Arial"/>
                <a:sym typeface="Arial"/>
              </a:rPr>
              <a:t> {</a:t>
            </a:r>
            <a:endParaRPr b="0" i="0" sz="748" u="none" cap="none" strike="noStrike">
              <a:solidFill>
                <a:schemeClr val="dk1"/>
              </a:solidFill>
              <a:latin typeface="Calibri"/>
              <a:ea typeface="Calibri"/>
              <a:cs typeface="Calibri"/>
              <a:sym typeface="Calibri"/>
            </a:endParaRPr>
          </a:p>
        </p:txBody>
      </p:sp>
      <p:sp>
        <p:nvSpPr>
          <p:cNvPr id="638" name="Google Shape;638;p16"/>
          <p:cNvSpPr/>
          <p:nvPr/>
        </p:nvSpPr>
        <p:spPr>
          <a:xfrm>
            <a:off x="228600" y="775097"/>
            <a:ext cx="4057650" cy="141089"/>
          </a:xfrm>
          <a:prstGeom prst="rect">
            <a:avLst/>
          </a:prstGeom>
          <a:noFill/>
          <a:ln>
            <a:noFill/>
          </a:ln>
        </p:spPr>
        <p:txBody>
          <a:bodyPr anchorCtr="0" anchor="t" bIns="0" lIns="272150" spcFirstLastPara="1" rIns="0" wrap="square" tIns="0">
            <a:noAutofit/>
          </a:bodyPr>
          <a:lstStyle/>
          <a:p>
            <a:pPr indent="0" lvl="0" marL="0" marR="0" rtl="0" algn="l">
              <a:lnSpc>
                <a:spcPct val="133689"/>
              </a:lnSpc>
              <a:spcBef>
                <a:spcPts val="0"/>
              </a:spcBef>
              <a:spcAft>
                <a:spcPts val="0"/>
              </a:spcAft>
              <a:buClr>
                <a:srgbClr val="569CD6"/>
              </a:buClr>
              <a:buSzPts val="748"/>
              <a:buFont typeface="Arial"/>
              <a:buNone/>
            </a:pPr>
            <a:r>
              <a:rPr b="0" i="0" lang="en-US" sz="748" u="none" cap="none" strike="noStrike">
                <a:solidFill>
                  <a:srgbClr val="569CD6"/>
                </a:solidFill>
                <a:latin typeface="Arial"/>
                <a:ea typeface="Arial"/>
                <a:cs typeface="Arial"/>
                <a:sym typeface="Arial"/>
              </a:rPr>
              <a:t>private</a:t>
            </a:r>
            <a:r>
              <a:rPr b="0" i="0" lang="en-US" sz="748" u="none" cap="none" strike="noStrike">
                <a:solidFill>
                  <a:srgbClr val="D4D4D4"/>
                </a:solidFill>
                <a:latin typeface="Arial"/>
                <a:ea typeface="Arial"/>
                <a:cs typeface="Arial"/>
                <a:sym typeface="Arial"/>
              </a:rPr>
              <a:t> </a:t>
            </a:r>
            <a:r>
              <a:rPr b="0" i="0" lang="en-US" sz="748" u="none" cap="none" strike="noStrike">
                <a:solidFill>
                  <a:srgbClr val="4EC9B0"/>
                </a:solidFill>
                <a:latin typeface="Arial"/>
                <a:ea typeface="Arial"/>
                <a:cs typeface="Arial"/>
                <a:sym typeface="Arial"/>
              </a:rPr>
              <a:t>String</a:t>
            </a:r>
            <a:r>
              <a:rPr b="0" i="0" lang="en-US" sz="748" u="none" cap="none" strike="noStrike">
                <a:solidFill>
                  <a:srgbClr val="D4D4D4"/>
                </a:solidFill>
                <a:latin typeface="Arial"/>
                <a:ea typeface="Arial"/>
                <a:cs typeface="Arial"/>
                <a:sym typeface="Arial"/>
              </a:rPr>
              <a:t> patientId; </a:t>
            </a:r>
            <a:r>
              <a:rPr b="0" i="0" lang="en-US" sz="748" u="none" cap="none" strike="noStrike">
                <a:solidFill>
                  <a:srgbClr val="569CD6"/>
                </a:solidFill>
                <a:latin typeface="Arial"/>
                <a:ea typeface="Arial"/>
                <a:cs typeface="Arial"/>
                <a:sym typeface="Arial"/>
              </a:rPr>
              <a:t>// Plaintext</a:t>
            </a:r>
            <a:endParaRPr b="0" i="0" sz="748" u="none" cap="none" strike="noStrike">
              <a:solidFill>
                <a:schemeClr val="dk1"/>
              </a:solidFill>
              <a:latin typeface="Calibri"/>
              <a:ea typeface="Calibri"/>
              <a:cs typeface="Calibri"/>
              <a:sym typeface="Calibri"/>
            </a:endParaRPr>
          </a:p>
        </p:txBody>
      </p:sp>
      <p:sp>
        <p:nvSpPr>
          <p:cNvPr id="639" name="Google Shape;639;p16"/>
          <p:cNvSpPr/>
          <p:nvPr/>
        </p:nvSpPr>
        <p:spPr>
          <a:xfrm>
            <a:off x="228600" y="1057275"/>
            <a:ext cx="4057650" cy="141089"/>
          </a:xfrm>
          <a:prstGeom prst="rect">
            <a:avLst/>
          </a:prstGeom>
          <a:noFill/>
          <a:ln>
            <a:noFill/>
          </a:ln>
        </p:spPr>
        <p:txBody>
          <a:bodyPr anchorCtr="0" anchor="t" bIns="0" lIns="272150" spcFirstLastPara="1" rIns="0" wrap="square" tIns="0">
            <a:noAutofit/>
          </a:bodyPr>
          <a:lstStyle/>
          <a:p>
            <a:pPr indent="0" lvl="0" marL="0" marR="0" rtl="0" algn="l">
              <a:lnSpc>
                <a:spcPct val="133689"/>
              </a:lnSpc>
              <a:spcBef>
                <a:spcPts val="0"/>
              </a:spcBef>
              <a:spcAft>
                <a:spcPts val="0"/>
              </a:spcAft>
              <a:buClr>
                <a:srgbClr val="569CD6"/>
              </a:buClr>
              <a:buSzPts val="748"/>
              <a:buFont typeface="Arial"/>
              <a:buNone/>
            </a:pPr>
            <a:r>
              <a:rPr b="0" i="0" lang="en-US" sz="748" u="none" cap="none" strike="noStrike">
                <a:solidFill>
                  <a:srgbClr val="569CD6"/>
                </a:solidFill>
                <a:latin typeface="Arial"/>
                <a:ea typeface="Arial"/>
                <a:cs typeface="Arial"/>
                <a:sym typeface="Arial"/>
              </a:rPr>
              <a:t>// 2. Encrypt PII (Name, Address) as CONFIDENTIAL</a:t>
            </a:r>
            <a:endParaRPr b="0" i="0" sz="748" u="none" cap="none" strike="noStrike">
              <a:solidFill>
                <a:schemeClr val="dk1"/>
              </a:solidFill>
              <a:latin typeface="Calibri"/>
              <a:ea typeface="Calibri"/>
              <a:cs typeface="Calibri"/>
              <a:sym typeface="Calibri"/>
            </a:endParaRPr>
          </a:p>
        </p:txBody>
      </p:sp>
      <p:sp>
        <p:nvSpPr>
          <p:cNvPr id="640" name="Google Shape;640;p16"/>
          <p:cNvSpPr/>
          <p:nvPr/>
        </p:nvSpPr>
        <p:spPr>
          <a:xfrm>
            <a:off x="228600" y="1198364"/>
            <a:ext cx="4057650" cy="141089"/>
          </a:xfrm>
          <a:prstGeom prst="rect">
            <a:avLst/>
          </a:prstGeom>
          <a:noFill/>
          <a:ln>
            <a:noFill/>
          </a:ln>
        </p:spPr>
        <p:txBody>
          <a:bodyPr anchorCtr="0" anchor="t" bIns="0" lIns="272150" spcFirstLastPara="1" rIns="0" wrap="square" tIns="0">
            <a:noAutofit/>
          </a:bodyPr>
          <a:lstStyle/>
          <a:p>
            <a:pPr indent="0" lvl="0" marL="0" marR="0" rtl="0" algn="l">
              <a:lnSpc>
                <a:spcPct val="133689"/>
              </a:lnSpc>
              <a:spcBef>
                <a:spcPts val="0"/>
              </a:spcBef>
              <a:spcAft>
                <a:spcPts val="0"/>
              </a:spcAft>
              <a:buClr>
                <a:srgbClr val="569CD6"/>
              </a:buClr>
              <a:buSzPts val="748"/>
              <a:buFont typeface="Arial"/>
              <a:buNone/>
            </a:pPr>
            <a:r>
              <a:rPr b="0" i="0" lang="en-US" sz="748" u="none" cap="none" strike="noStrike">
                <a:solidFill>
                  <a:srgbClr val="569CD6"/>
                </a:solidFill>
                <a:latin typeface="Arial"/>
                <a:ea typeface="Arial"/>
                <a:cs typeface="Arial"/>
                <a:sym typeface="Arial"/>
              </a:rPr>
              <a:t>public void</a:t>
            </a:r>
            <a:r>
              <a:rPr b="0" i="0" lang="en-US" sz="748" u="none" cap="none" strike="noStrike">
                <a:solidFill>
                  <a:srgbClr val="D4D4D4"/>
                </a:solidFill>
                <a:latin typeface="Arial"/>
                <a:ea typeface="Arial"/>
                <a:cs typeface="Arial"/>
                <a:sym typeface="Arial"/>
              </a:rPr>
              <a:t> setPersonalInfo(</a:t>
            </a:r>
            <a:r>
              <a:rPr b="0" i="0" lang="en-US" sz="748" u="none" cap="none" strike="noStrike">
                <a:solidFill>
                  <a:srgbClr val="4EC9B0"/>
                </a:solidFill>
                <a:latin typeface="Arial"/>
                <a:ea typeface="Arial"/>
                <a:cs typeface="Arial"/>
                <a:sym typeface="Arial"/>
              </a:rPr>
              <a:t>String</a:t>
            </a:r>
            <a:r>
              <a:rPr b="0" i="0" lang="en-US" sz="748" u="none" cap="none" strike="noStrike">
                <a:solidFill>
                  <a:srgbClr val="D4D4D4"/>
                </a:solidFill>
                <a:latin typeface="Arial"/>
                <a:ea typeface="Arial"/>
                <a:cs typeface="Arial"/>
                <a:sym typeface="Arial"/>
              </a:rPr>
              <a:t> info) {</a:t>
            </a:r>
            <a:endParaRPr b="0" i="0" sz="748" u="none" cap="none" strike="noStrike">
              <a:solidFill>
                <a:schemeClr val="dk1"/>
              </a:solidFill>
              <a:latin typeface="Calibri"/>
              <a:ea typeface="Calibri"/>
              <a:cs typeface="Calibri"/>
              <a:sym typeface="Calibri"/>
            </a:endParaRPr>
          </a:p>
        </p:txBody>
      </p:sp>
      <p:sp>
        <p:nvSpPr>
          <p:cNvPr id="641" name="Google Shape;641;p16"/>
          <p:cNvSpPr/>
          <p:nvPr/>
        </p:nvSpPr>
        <p:spPr>
          <a:xfrm>
            <a:off x="228600" y="1339453"/>
            <a:ext cx="4057650" cy="141089"/>
          </a:xfrm>
          <a:prstGeom prst="rect">
            <a:avLst/>
          </a:prstGeom>
          <a:noFill/>
          <a:ln>
            <a:noFill/>
          </a:ln>
        </p:spPr>
        <p:txBody>
          <a:bodyPr anchorCtr="0" anchor="t" bIns="0" lIns="544300" spcFirstLastPara="1" rIns="0" wrap="square" tIns="0">
            <a:noAutofit/>
          </a:bodyPr>
          <a:lstStyle/>
          <a:p>
            <a:pPr indent="0" lvl="0" marL="0" marR="0" rtl="0" algn="l">
              <a:lnSpc>
                <a:spcPct val="133689"/>
              </a:lnSpc>
              <a:spcBef>
                <a:spcPts val="0"/>
              </a:spcBef>
              <a:spcAft>
                <a:spcPts val="0"/>
              </a:spcAft>
              <a:buClr>
                <a:srgbClr val="569CD6"/>
              </a:buClr>
              <a:buSzPts val="748"/>
              <a:buFont typeface="Arial"/>
              <a:buNone/>
            </a:pPr>
            <a:r>
              <a:rPr b="0" i="0" lang="en-US" sz="748" u="none" cap="none" strike="noStrike">
                <a:solidFill>
                  <a:srgbClr val="569CD6"/>
                </a:solidFill>
                <a:latin typeface="Arial"/>
                <a:ea typeface="Arial"/>
                <a:cs typeface="Arial"/>
                <a:sym typeface="Arial"/>
              </a:rPr>
              <a:t>this</a:t>
            </a:r>
            <a:r>
              <a:rPr b="0" i="0" lang="en-US" sz="748" u="none" cap="none" strike="noStrike">
                <a:solidFill>
                  <a:srgbClr val="D4D4D4"/>
                </a:solidFill>
                <a:latin typeface="Arial"/>
                <a:ea typeface="Arial"/>
                <a:cs typeface="Arial"/>
                <a:sym typeface="Arial"/>
              </a:rPr>
              <a:t>.encryptedPii = client.encrypt(</a:t>
            </a:r>
            <a:endParaRPr b="0" i="0" sz="748" u="none" cap="none" strike="noStrike">
              <a:solidFill>
                <a:schemeClr val="dk1"/>
              </a:solidFill>
              <a:latin typeface="Calibri"/>
              <a:ea typeface="Calibri"/>
              <a:cs typeface="Calibri"/>
              <a:sym typeface="Calibri"/>
            </a:endParaRPr>
          </a:p>
        </p:txBody>
      </p:sp>
      <p:sp>
        <p:nvSpPr>
          <p:cNvPr id="642" name="Google Shape;642;p16"/>
          <p:cNvSpPr/>
          <p:nvPr/>
        </p:nvSpPr>
        <p:spPr>
          <a:xfrm>
            <a:off x="228600" y="1480542"/>
            <a:ext cx="4057650" cy="141089"/>
          </a:xfrm>
          <a:prstGeom prst="rect">
            <a:avLst/>
          </a:prstGeom>
          <a:noFill/>
          <a:ln>
            <a:noFill/>
          </a:ln>
        </p:spPr>
        <p:txBody>
          <a:bodyPr anchorCtr="0" anchor="t" bIns="0" lIns="816475" spcFirstLastPara="1" rIns="0" wrap="square" tIns="0">
            <a:noAutofit/>
          </a:bodyPr>
          <a:lstStyle/>
          <a:p>
            <a:pPr indent="0" lvl="0" marL="0" marR="0" rtl="0" algn="l">
              <a:lnSpc>
                <a:spcPct val="133689"/>
              </a:lnSpc>
              <a:spcBef>
                <a:spcPts val="0"/>
              </a:spcBef>
              <a:spcAft>
                <a:spcPts val="0"/>
              </a:spcAft>
              <a:buClr>
                <a:srgbClr val="D4D4D4"/>
              </a:buClr>
              <a:buSzPts val="748"/>
              <a:buFont typeface="Arial"/>
              <a:buNone/>
            </a:pPr>
            <a:r>
              <a:rPr b="0" i="0" lang="en-US" sz="748" u="none" cap="none" strike="noStrike">
                <a:solidFill>
                  <a:srgbClr val="D4D4D4"/>
                </a:solidFill>
                <a:latin typeface="Arial"/>
                <a:ea typeface="Arial"/>
                <a:cs typeface="Arial"/>
                <a:sym typeface="Arial"/>
              </a:rPr>
              <a:t>info.getBytes(),</a:t>
            </a:r>
            <a:endParaRPr b="0" i="0" sz="748" u="none" cap="none" strike="noStrike">
              <a:solidFill>
                <a:schemeClr val="dk1"/>
              </a:solidFill>
              <a:latin typeface="Calibri"/>
              <a:ea typeface="Calibri"/>
              <a:cs typeface="Calibri"/>
              <a:sym typeface="Calibri"/>
            </a:endParaRPr>
          </a:p>
        </p:txBody>
      </p:sp>
      <p:sp>
        <p:nvSpPr>
          <p:cNvPr id="643" name="Google Shape;643;p16"/>
          <p:cNvSpPr/>
          <p:nvPr/>
        </p:nvSpPr>
        <p:spPr>
          <a:xfrm>
            <a:off x="228600" y="1621631"/>
            <a:ext cx="4057650" cy="141089"/>
          </a:xfrm>
          <a:prstGeom prst="rect">
            <a:avLst/>
          </a:prstGeom>
          <a:noFill/>
          <a:ln>
            <a:noFill/>
          </a:ln>
        </p:spPr>
        <p:txBody>
          <a:bodyPr anchorCtr="0" anchor="t" bIns="0" lIns="816475" spcFirstLastPara="1" rIns="0" wrap="square" tIns="0">
            <a:noAutofit/>
          </a:bodyPr>
          <a:lstStyle/>
          <a:p>
            <a:pPr indent="0" lvl="0" marL="0" marR="0" rtl="0" algn="l">
              <a:lnSpc>
                <a:spcPct val="133689"/>
              </a:lnSpc>
              <a:spcBef>
                <a:spcPts val="0"/>
              </a:spcBef>
              <a:spcAft>
                <a:spcPts val="0"/>
              </a:spcAft>
              <a:buClr>
                <a:srgbClr val="4EC9B0"/>
              </a:buClr>
              <a:buSzPts val="748"/>
              <a:buFont typeface="Arial"/>
              <a:buNone/>
            </a:pPr>
            <a:r>
              <a:rPr b="0" i="0" lang="en-US" sz="748" u="none" cap="none" strike="noStrike">
                <a:solidFill>
                  <a:srgbClr val="4EC9B0"/>
                </a:solidFill>
                <a:latin typeface="Arial"/>
                <a:ea typeface="Arial"/>
                <a:cs typeface="Arial"/>
                <a:sym typeface="Arial"/>
              </a:rPr>
              <a:t>DataClassification</a:t>
            </a:r>
            <a:r>
              <a:rPr b="0" i="0" lang="en-US" sz="748" u="none" cap="none" strike="noStrike">
                <a:solidFill>
                  <a:srgbClr val="D4D4D4"/>
                </a:solidFill>
                <a:latin typeface="Arial"/>
                <a:ea typeface="Arial"/>
                <a:cs typeface="Arial"/>
                <a:sym typeface="Arial"/>
              </a:rPr>
              <a:t>.</a:t>
            </a:r>
            <a:r>
              <a:rPr b="0" i="0" lang="en-US" sz="748" u="none" cap="none" strike="noStrike">
                <a:solidFill>
                  <a:srgbClr val="4FC1FF"/>
                </a:solidFill>
                <a:latin typeface="Arial"/>
                <a:ea typeface="Arial"/>
                <a:cs typeface="Arial"/>
                <a:sym typeface="Arial"/>
              </a:rPr>
              <a:t>CONFIDENTIAL</a:t>
            </a:r>
            <a:endParaRPr b="0" i="0" sz="748" u="none" cap="none" strike="noStrike">
              <a:solidFill>
                <a:schemeClr val="dk1"/>
              </a:solidFill>
              <a:latin typeface="Calibri"/>
              <a:ea typeface="Calibri"/>
              <a:cs typeface="Calibri"/>
              <a:sym typeface="Calibri"/>
            </a:endParaRPr>
          </a:p>
        </p:txBody>
      </p:sp>
      <p:sp>
        <p:nvSpPr>
          <p:cNvPr id="644" name="Google Shape;644;p16"/>
          <p:cNvSpPr/>
          <p:nvPr/>
        </p:nvSpPr>
        <p:spPr>
          <a:xfrm>
            <a:off x="228600" y="1762720"/>
            <a:ext cx="4057650" cy="141089"/>
          </a:xfrm>
          <a:prstGeom prst="rect">
            <a:avLst/>
          </a:prstGeom>
          <a:noFill/>
          <a:ln>
            <a:noFill/>
          </a:ln>
        </p:spPr>
        <p:txBody>
          <a:bodyPr anchorCtr="0" anchor="t" bIns="0" lIns="544300" spcFirstLastPara="1" rIns="0" wrap="square" tIns="0">
            <a:noAutofit/>
          </a:bodyPr>
          <a:lstStyle/>
          <a:p>
            <a:pPr indent="0" lvl="0" marL="0" marR="0" rtl="0" algn="l">
              <a:lnSpc>
                <a:spcPct val="133689"/>
              </a:lnSpc>
              <a:spcBef>
                <a:spcPts val="0"/>
              </a:spcBef>
              <a:spcAft>
                <a:spcPts val="0"/>
              </a:spcAft>
              <a:buClr>
                <a:srgbClr val="D4D4D4"/>
              </a:buClr>
              <a:buSzPts val="748"/>
              <a:buFont typeface="Arial"/>
              <a:buNone/>
            </a:pPr>
            <a:r>
              <a:rPr b="0" i="0" lang="en-US" sz="748" u="none" cap="none" strike="noStrike">
                <a:solidFill>
                  <a:srgbClr val="D4D4D4"/>
                </a:solidFill>
                <a:latin typeface="Arial"/>
                <a:ea typeface="Arial"/>
                <a:cs typeface="Arial"/>
                <a:sym typeface="Arial"/>
              </a:rPr>
              <a:t>).toBase64String();</a:t>
            </a:r>
            <a:endParaRPr b="0" i="0" sz="748" u="none" cap="none" strike="noStrike">
              <a:solidFill>
                <a:schemeClr val="dk1"/>
              </a:solidFill>
              <a:latin typeface="Calibri"/>
              <a:ea typeface="Calibri"/>
              <a:cs typeface="Calibri"/>
              <a:sym typeface="Calibri"/>
            </a:endParaRPr>
          </a:p>
        </p:txBody>
      </p:sp>
      <p:sp>
        <p:nvSpPr>
          <p:cNvPr id="645" name="Google Shape;645;p16"/>
          <p:cNvSpPr/>
          <p:nvPr/>
        </p:nvSpPr>
        <p:spPr>
          <a:xfrm>
            <a:off x="228600" y="1903809"/>
            <a:ext cx="4057650" cy="141089"/>
          </a:xfrm>
          <a:prstGeom prst="rect">
            <a:avLst/>
          </a:prstGeom>
          <a:noFill/>
          <a:ln>
            <a:noFill/>
          </a:ln>
        </p:spPr>
        <p:txBody>
          <a:bodyPr anchorCtr="0" anchor="t" bIns="0" lIns="272150" spcFirstLastPara="1" rIns="0" wrap="square" tIns="0">
            <a:noAutofit/>
          </a:bodyPr>
          <a:lstStyle/>
          <a:p>
            <a:pPr indent="0" lvl="0" marL="0" marR="0" rtl="0" algn="l">
              <a:lnSpc>
                <a:spcPct val="133689"/>
              </a:lnSpc>
              <a:spcBef>
                <a:spcPts val="0"/>
              </a:spcBef>
              <a:spcAft>
                <a:spcPts val="0"/>
              </a:spcAft>
              <a:buClr>
                <a:srgbClr val="D4D4D4"/>
              </a:buClr>
              <a:buSzPts val="748"/>
              <a:buFont typeface="Arial"/>
              <a:buNone/>
            </a:pPr>
            <a:r>
              <a:rPr b="0" i="0" lang="en-US" sz="748" u="none" cap="none" strike="noStrike">
                <a:solidFill>
                  <a:srgbClr val="D4D4D4"/>
                </a:solidFill>
                <a:latin typeface="Arial"/>
                <a:ea typeface="Arial"/>
                <a:cs typeface="Arial"/>
                <a:sym typeface="Arial"/>
              </a:rPr>
              <a:t>}</a:t>
            </a:r>
            <a:endParaRPr b="0" i="0" sz="748" u="none" cap="none" strike="noStrike">
              <a:solidFill>
                <a:schemeClr val="dk1"/>
              </a:solidFill>
              <a:latin typeface="Calibri"/>
              <a:ea typeface="Calibri"/>
              <a:cs typeface="Calibri"/>
              <a:sym typeface="Calibri"/>
            </a:endParaRPr>
          </a:p>
        </p:txBody>
      </p:sp>
      <p:sp>
        <p:nvSpPr>
          <p:cNvPr id="646" name="Google Shape;646;p16"/>
          <p:cNvSpPr/>
          <p:nvPr/>
        </p:nvSpPr>
        <p:spPr>
          <a:xfrm>
            <a:off x="228600" y="2185988"/>
            <a:ext cx="4057650" cy="141089"/>
          </a:xfrm>
          <a:prstGeom prst="rect">
            <a:avLst/>
          </a:prstGeom>
          <a:noFill/>
          <a:ln>
            <a:noFill/>
          </a:ln>
        </p:spPr>
        <p:txBody>
          <a:bodyPr anchorCtr="0" anchor="t" bIns="0" lIns="272150" spcFirstLastPara="1" rIns="0" wrap="square" tIns="0">
            <a:noAutofit/>
          </a:bodyPr>
          <a:lstStyle/>
          <a:p>
            <a:pPr indent="0" lvl="0" marL="0" marR="0" rtl="0" algn="l">
              <a:lnSpc>
                <a:spcPct val="133689"/>
              </a:lnSpc>
              <a:spcBef>
                <a:spcPts val="0"/>
              </a:spcBef>
              <a:spcAft>
                <a:spcPts val="0"/>
              </a:spcAft>
              <a:buClr>
                <a:srgbClr val="569CD6"/>
              </a:buClr>
              <a:buSzPts val="748"/>
              <a:buFont typeface="Arial"/>
              <a:buNone/>
            </a:pPr>
            <a:r>
              <a:rPr b="0" i="0" lang="en-US" sz="748" u="none" cap="none" strike="noStrike">
                <a:solidFill>
                  <a:srgbClr val="569CD6"/>
                </a:solidFill>
                <a:latin typeface="Arial"/>
                <a:ea typeface="Arial"/>
                <a:cs typeface="Arial"/>
                <a:sym typeface="Arial"/>
              </a:rPr>
              <a:t>// 3. Encrypt PHI (Medical History) as RESTRICTED</a:t>
            </a:r>
            <a:endParaRPr b="0" i="0" sz="748" u="none" cap="none" strike="noStrike">
              <a:solidFill>
                <a:schemeClr val="dk1"/>
              </a:solidFill>
              <a:latin typeface="Calibri"/>
              <a:ea typeface="Calibri"/>
              <a:cs typeface="Calibri"/>
              <a:sym typeface="Calibri"/>
            </a:endParaRPr>
          </a:p>
        </p:txBody>
      </p:sp>
      <p:sp>
        <p:nvSpPr>
          <p:cNvPr id="647" name="Google Shape;647;p16"/>
          <p:cNvSpPr/>
          <p:nvPr/>
        </p:nvSpPr>
        <p:spPr>
          <a:xfrm>
            <a:off x="228600" y="2327077"/>
            <a:ext cx="4057650" cy="141089"/>
          </a:xfrm>
          <a:prstGeom prst="rect">
            <a:avLst/>
          </a:prstGeom>
          <a:noFill/>
          <a:ln>
            <a:noFill/>
          </a:ln>
        </p:spPr>
        <p:txBody>
          <a:bodyPr anchorCtr="0" anchor="t" bIns="0" lIns="272150" spcFirstLastPara="1" rIns="0" wrap="square" tIns="0">
            <a:noAutofit/>
          </a:bodyPr>
          <a:lstStyle/>
          <a:p>
            <a:pPr indent="0" lvl="0" marL="0" marR="0" rtl="0" algn="l">
              <a:lnSpc>
                <a:spcPct val="133689"/>
              </a:lnSpc>
              <a:spcBef>
                <a:spcPts val="0"/>
              </a:spcBef>
              <a:spcAft>
                <a:spcPts val="0"/>
              </a:spcAft>
              <a:buClr>
                <a:srgbClr val="569CD6"/>
              </a:buClr>
              <a:buSzPts val="748"/>
              <a:buFont typeface="Arial"/>
              <a:buNone/>
            </a:pPr>
            <a:r>
              <a:rPr b="0" i="0" lang="en-US" sz="748" u="none" cap="none" strike="noStrike">
                <a:solidFill>
                  <a:srgbClr val="569CD6"/>
                </a:solidFill>
                <a:latin typeface="Arial"/>
                <a:ea typeface="Arial"/>
                <a:cs typeface="Arial"/>
                <a:sym typeface="Arial"/>
              </a:rPr>
              <a:t>public void</a:t>
            </a:r>
            <a:r>
              <a:rPr b="0" i="0" lang="en-US" sz="748" u="none" cap="none" strike="noStrike">
                <a:solidFill>
                  <a:srgbClr val="D4D4D4"/>
                </a:solidFill>
                <a:latin typeface="Arial"/>
                <a:ea typeface="Arial"/>
                <a:cs typeface="Arial"/>
                <a:sym typeface="Arial"/>
              </a:rPr>
              <a:t> setMedicalHistory(</a:t>
            </a:r>
            <a:r>
              <a:rPr b="0" i="0" lang="en-US" sz="748" u="none" cap="none" strike="noStrike">
                <a:solidFill>
                  <a:srgbClr val="4EC9B0"/>
                </a:solidFill>
                <a:latin typeface="Arial"/>
                <a:ea typeface="Arial"/>
                <a:cs typeface="Arial"/>
                <a:sym typeface="Arial"/>
              </a:rPr>
              <a:t>String</a:t>
            </a:r>
            <a:r>
              <a:rPr b="0" i="0" lang="en-US" sz="748" u="none" cap="none" strike="noStrike">
                <a:solidFill>
                  <a:srgbClr val="D4D4D4"/>
                </a:solidFill>
                <a:latin typeface="Arial"/>
                <a:ea typeface="Arial"/>
                <a:cs typeface="Arial"/>
                <a:sym typeface="Arial"/>
              </a:rPr>
              <a:t> history) {</a:t>
            </a:r>
            <a:endParaRPr b="0" i="0" sz="748" u="none" cap="none" strike="noStrike">
              <a:solidFill>
                <a:schemeClr val="dk1"/>
              </a:solidFill>
              <a:latin typeface="Calibri"/>
              <a:ea typeface="Calibri"/>
              <a:cs typeface="Calibri"/>
              <a:sym typeface="Calibri"/>
            </a:endParaRPr>
          </a:p>
        </p:txBody>
      </p:sp>
      <p:sp>
        <p:nvSpPr>
          <p:cNvPr id="648" name="Google Shape;648;p16"/>
          <p:cNvSpPr/>
          <p:nvPr/>
        </p:nvSpPr>
        <p:spPr>
          <a:xfrm>
            <a:off x="228600" y="2468166"/>
            <a:ext cx="4057650" cy="141089"/>
          </a:xfrm>
          <a:prstGeom prst="rect">
            <a:avLst/>
          </a:prstGeom>
          <a:noFill/>
          <a:ln>
            <a:noFill/>
          </a:ln>
        </p:spPr>
        <p:txBody>
          <a:bodyPr anchorCtr="0" anchor="t" bIns="0" lIns="544300" spcFirstLastPara="1" rIns="0" wrap="square" tIns="0">
            <a:noAutofit/>
          </a:bodyPr>
          <a:lstStyle/>
          <a:p>
            <a:pPr indent="0" lvl="0" marL="0" marR="0" rtl="0" algn="l">
              <a:lnSpc>
                <a:spcPct val="133689"/>
              </a:lnSpc>
              <a:spcBef>
                <a:spcPts val="0"/>
              </a:spcBef>
              <a:spcAft>
                <a:spcPts val="0"/>
              </a:spcAft>
              <a:buClr>
                <a:srgbClr val="569CD6"/>
              </a:buClr>
              <a:buSzPts val="748"/>
              <a:buFont typeface="Arial"/>
              <a:buNone/>
            </a:pPr>
            <a:r>
              <a:rPr b="0" i="0" lang="en-US" sz="748" u="none" cap="none" strike="noStrike">
                <a:solidFill>
                  <a:srgbClr val="569CD6"/>
                </a:solidFill>
                <a:latin typeface="Arial"/>
                <a:ea typeface="Arial"/>
                <a:cs typeface="Arial"/>
                <a:sym typeface="Arial"/>
              </a:rPr>
              <a:t>this</a:t>
            </a:r>
            <a:r>
              <a:rPr b="0" i="0" lang="en-US" sz="748" u="none" cap="none" strike="noStrike">
                <a:solidFill>
                  <a:srgbClr val="D4D4D4"/>
                </a:solidFill>
                <a:latin typeface="Arial"/>
                <a:ea typeface="Arial"/>
                <a:cs typeface="Arial"/>
                <a:sym typeface="Arial"/>
              </a:rPr>
              <a:t>.encryptedPhi = client.encrypt(</a:t>
            </a:r>
            <a:endParaRPr b="0" i="0" sz="748" u="none" cap="none" strike="noStrike">
              <a:solidFill>
                <a:schemeClr val="dk1"/>
              </a:solidFill>
              <a:latin typeface="Calibri"/>
              <a:ea typeface="Calibri"/>
              <a:cs typeface="Calibri"/>
              <a:sym typeface="Calibri"/>
            </a:endParaRPr>
          </a:p>
        </p:txBody>
      </p:sp>
      <p:sp>
        <p:nvSpPr>
          <p:cNvPr id="649" name="Google Shape;649;p16"/>
          <p:cNvSpPr/>
          <p:nvPr/>
        </p:nvSpPr>
        <p:spPr>
          <a:xfrm>
            <a:off x="228600" y="2609255"/>
            <a:ext cx="4057650" cy="141089"/>
          </a:xfrm>
          <a:prstGeom prst="rect">
            <a:avLst/>
          </a:prstGeom>
          <a:noFill/>
          <a:ln>
            <a:noFill/>
          </a:ln>
        </p:spPr>
        <p:txBody>
          <a:bodyPr anchorCtr="0" anchor="t" bIns="0" lIns="816475" spcFirstLastPara="1" rIns="0" wrap="square" tIns="0">
            <a:noAutofit/>
          </a:bodyPr>
          <a:lstStyle/>
          <a:p>
            <a:pPr indent="0" lvl="0" marL="0" marR="0" rtl="0" algn="l">
              <a:lnSpc>
                <a:spcPct val="133689"/>
              </a:lnSpc>
              <a:spcBef>
                <a:spcPts val="0"/>
              </a:spcBef>
              <a:spcAft>
                <a:spcPts val="0"/>
              </a:spcAft>
              <a:buClr>
                <a:srgbClr val="D4D4D4"/>
              </a:buClr>
              <a:buSzPts val="748"/>
              <a:buFont typeface="Arial"/>
              <a:buNone/>
            </a:pPr>
            <a:r>
              <a:rPr b="0" i="0" lang="en-US" sz="748" u="none" cap="none" strike="noStrike">
                <a:solidFill>
                  <a:srgbClr val="D4D4D4"/>
                </a:solidFill>
                <a:latin typeface="Arial"/>
                <a:ea typeface="Arial"/>
                <a:cs typeface="Arial"/>
                <a:sym typeface="Arial"/>
              </a:rPr>
              <a:t>history.getBytes(),</a:t>
            </a:r>
            <a:endParaRPr b="0" i="0" sz="748" u="none" cap="none" strike="noStrike">
              <a:solidFill>
                <a:schemeClr val="dk1"/>
              </a:solidFill>
              <a:latin typeface="Calibri"/>
              <a:ea typeface="Calibri"/>
              <a:cs typeface="Calibri"/>
              <a:sym typeface="Calibri"/>
            </a:endParaRPr>
          </a:p>
        </p:txBody>
      </p:sp>
      <p:sp>
        <p:nvSpPr>
          <p:cNvPr id="650" name="Google Shape;650;p16"/>
          <p:cNvSpPr/>
          <p:nvPr/>
        </p:nvSpPr>
        <p:spPr>
          <a:xfrm>
            <a:off x="228600" y="2750344"/>
            <a:ext cx="4057650" cy="141089"/>
          </a:xfrm>
          <a:prstGeom prst="rect">
            <a:avLst/>
          </a:prstGeom>
          <a:noFill/>
          <a:ln>
            <a:noFill/>
          </a:ln>
        </p:spPr>
        <p:txBody>
          <a:bodyPr anchorCtr="0" anchor="t" bIns="0" lIns="816475" spcFirstLastPara="1" rIns="0" wrap="square" tIns="0">
            <a:noAutofit/>
          </a:bodyPr>
          <a:lstStyle/>
          <a:p>
            <a:pPr indent="0" lvl="0" marL="0" marR="0" rtl="0" algn="l">
              <a:lnSpc>
                <a:spcPct val="133689"/>
              </a:lnSpc>
              <a:spcBef>
                <a:spcPts val="0"/>
              </a:spcBef>
              <a:spcAft>
                <a:spcPts val="0"/>
              </a:spcAft>
              <a:buClr>
                <a:srgbClr val="4EC9B0"/>
              </a:buClr>
              <a:buSzPts val="748"/>
              <a:buFont typeface="Arial"/>
              <a:buNone/>
            </a:pPr>
            <a:r>
              <a:rPr b="0" i="0" lang="en-US" sz="748" u="none" cap="none" strike="noStrike">
                <a:solidFill>
                  <a:srgbClr val="4EC9B0"/>
                </a:solidFill>
                <a:latin typeface="Arial"/>
                <a:ea typeface="Arial"/>
                <a:cs typeface="Arial"/>
                <a:sym typeface="Arial"/>
              </a:rPr>
              <a:t>DataClassification</a:t>
            </a:r>
            <a:r>
              <a:rPr b="0" i="0" lang="en-US" sz="748" u="none" cap="none" strike="noStrike">
                <a:solidFill>
                  <a:srgbClr val="D4D4D4"/>
                </a:solidFill>
                <a:latin typeface="Arial"/>
                <a:ea typeface="Arial"/>
                <a:cs typeface="Arial"/>
                <a:sym typeface="Arial"/>
              </a:rPr>
              <a:t>.</a:t>
            </a:r>
            <a:r>
              <a:rPr b="0" i="0" lang="en-US" sz="748" u="none" cap="none" strike="noStrike">
                <a:solidFill>
                  <a:srgbClr val="4FC1FF"/>
                </a:solidFill>
                <a:latin typeface="Arial"/>
                <a:ea typeface="Arial"/>
                <a:cs typeface="Arial"/>
                <a:sym typeface="Arial"/>
              </a:rPr>
              <a:t>RESTRICTED</a:t>
            </a:r>
            <a:endParaRPr b="0" i="0" sz="748" u="none" cap="none" strike="noStrike">
              <a:solidFill>
                <a:schemeClr val="dk1"/>
              </a:solidFill>
              <a:latin typeface="Calibri"/>
              <a:ea typeface="Calibri"/>
              <a:cs typeface="Calibri"/>
              <a:sym typeface="Calibri"/>
            </a:endParaRPr>
          </a:p>
        </p:txBody>
      </p:sp>
      <p:sp>
        <p:nvSpPr>
          <p:cNvPr id="651" name="Google Shape;651;p16"/>
          <p:cNvSpPr/>
          <p:nvPr/>
        </p:nvSpPr>
        <p:spPr>
          <a:xfrm>
            <a:off x="228600" y="2891433"/>
            <a:ext cx="4057650" cy="141089"/>
          </a:xfrm>
          <a:prstGeom prst="rect">
            <a:avLst/>
          </a:prstGeom>
          <a:noFill/>
          <a:ln>
            <a:noFill/>
          </a:ln>
        </p:spPr>
        <p:txBody>
          <a:bodyPr anchorCtr="0" anchor="t" bIns="0" lIns="544300" spcFirstLastPara="1" rIns="0" wrap="square" tIns="0">
            <a:noAutofit/>
          </a:bodyPr>
          <a:lstStyle/>
          <a:p>
            <a:pPr indent="0" lvl="0" marL="0" marR="0" rtl="0" algn="l">
              <a:lnSpc>
                <a:spcPct val="133689"/>
              </a:lnSpc>
              <a:spcBef>
                <a:spcPts val="0"/>
              </a:spcBef>
              <a:spcAft>
                <a:spcPts val="0"/>
              </a:spcAft>
              <a:buClr>
                <a:srgbClr val="D4D4D4"/>
              </a:buClr>
              <a:buSzPts val="748"/>
              <a:buFont typeface="Arial"/>
              <a:buNone/>
            </a:pPr>
            <a:r>
              <a:rPr b="0" i="0" lang="en-US" sz="748" u="none" cap="none" strike="noStrike">
                <a:solidFill>
                  <a:srgbClr val="D4D4D4"/>
                </a:solidFill>
                <a:latin typeface="Arial"/>
                <a:ea typeface="Arial"/>
                <a:cs typeface="Arial"/>
                <a:sym typeface="Arial"/>
              </a:rPr>
              <a:t>).toBase64String();</a:t>
            </a:r>
            <a:endParaRPr b="0" i="0" sz="748" u="none" cap="none" strike="noStrike">
              <a:solidFill>
                <a:schemeClr val="dk1"/>
              </a:solidFill>
              <a:latin typeface="Calibri"/>
              <a:ea typeface="Calibri"/>
              <a:cs typeface="Calibri"/>
              <a:sym typeface="Calibri"/>
            </a:endParaRPr>
          </a:p>
        </p:txBody>
      </p:sp>
      <p:sp>
        <p:nvSpPr>
          <p:cNvPr id="652" name="Google Shape;652;p16"/>
          <p:cNvSpPr/>
          <p:nvPr/>
        </p:nvSpPr>
        <p:spPr>
          <a:xfrm>
            <a:off x="228600" y="3032522"/>
            <a:ext cx="4057650" cy="141089"/>
          </a:xfrm>
          <a:prstGeom prst="rect">
            <a:avLst/>
          </a:prstGeom>
          <a:noFill/>
          <a:ln>
            <a:noFill/>
          </a:ln>
        </p:spPr>
        <p:txBody>
          <a:bodyPr anchorCtr="0" anchor="t" bIns="0" lIns="272150" spcFirstLastPara="1" rIns="0" wrap="square" tIns="0">
            <a:noAutofit/>
          </a:bodyPr>
          <a:lstStyle/>
          <a:p>
            <a:pPr indent="0" lvl="0" marL="0" marR="0" rtl="0" algn="l">
              <a:lnSpc>
                <a:spcPct val="133689"/>
              </a:lnSpc>
              <a:spcBef>
                <a:spcPts val="0"/>
              </a:spcBef>
              <a:spcAft>
                <a:spcPts val="0"/>
              </a:spcAft>
              <a:buClr>
                <a:srgbClr val="D4D4D4"/>
              </a:buClr>
              <a:buSzPts val="748"/>
              <a:buFont typeface="Arial"/>
              <a:buNone/>
            </a:pPr>
            <a:r>
              <a:rPr b="0" i="0" lang="en-US" sz="748" u="none" cap="none" strike="noStrike">
                <a:solidFill>
                  <a:srgbClr val="D4D4D4"/>
                </a:solidFill>
                <a:latin typeface="Arial"/>
                <a:ea typeface="Arial"/>
                <a:cs typeface="Arial"/>
                <a:sym typeface="Arial"/>
              </a:rPr>
              <a:t>}</a:t>
            </a:r>
            <a:endParaRPr b="0" i="0" sz="748" u="none" cap="none" strike="noStrike">
              <a:solidFill>
                <a:schemeClr val="dk1"/>
              </a:solidFill>
              <a:latin typeface="Calibri"/>
              <a:ea typeface="Calibri"/>
              <a:cs typeface="Calibri"/>
              <a:sym typeface="Calibri"/>
            </a:endParaRPr>
          </a:p>
        </p:txBody>
      </p:sp>
      <p:sp>
        <p:nvSpPr>
          <p:cNvPr id="653" name="Google Shape;653;p16"/>
          <p:cNvSpPr/>
          <p:nvPr/>
        </p:nvSpPr>
        <p:spPr>
          <a:xfrm>
            <a:off x="228600" y="3314700"/>
            <a:ext cx="4057650" cy="141089"/>
          </a:xfrm>
          <a:prstGeom prst="rect">
            <a:avLst/>
          </a:prstGeom>
          <a:noFill/>
          <a:ln>
            <a:noFill/>
          </a:ln>
        </p:spPr>
        <p:txBody>
          <a:bodyPr anchorCtr="0" anchor="t" bIns="0" lIns="272150" spcFirstLastPara="1" rIns="0" wrap="square" tIns="0">
            <a:noAutofit/>
          </a:bodyPr>
          <a:lstStyle/>
          <a:p>
            <a:pPr indent="0" lvl="0" marL="0" marR="0" rtl="0" algn="l">
              <a:lnSpc>
                <a:spcPct val="133689"/>
              </a:lnSpc>
              <a:spcBef>
                <a:spcPts val="0"/>
              </a:spcBef>
              <a:spcAft>
                <a:spcPts val="0"/>
              </a:spcAft>
              <a:buClr>
                <a:srgbClr val="569CD6"/>
              </a:buClr>
              <a:buSzPts val="748"/>
              <a:buFont typeface="Arial"/>
              <a:buNone/>
            </a:pPr>
            <a:r>
              <a:rPr b="0" i="0" lang="en-US" sz="748" u="none" cap="none" strike="noStrike">
                <a:solidFill>
                  <a:srgbClr val="569CD6"/>
                </a:solidFill>
                <a:latin typeface="Arial"/>
                <a:ea typeface="Arial"/>
                <a:cs typeface="Arial"/>
                <a:sym typeface="Arial"/>
              </a:rPr>
              <a:t>// 4. Decrypting requires the same SDK</a:t>
            </a:r>
            <a:endParaRPr b="0" i="0" sz="748" u="none" cap="none" strike="noStrike">
              <a:solidFill>
                <a:schemeClr val="dk1"/>
              </a:solidFill>
              <a:latin typeface="Calibri"/>
              <a:ea typeface="Calibri"/>
              <a:cs typeface="Calibri"/>
              <a:sym typeface="Calibri"/>
            </a:endParaRPr>
          </a:p>
        </p:txBody>
      </p:sp>
      <p:sp>
        <p:nvSpPr>
          <p:cNvPr id="654" name="Google Shape;654;p16"/>
          <p:cNvSpPr/>
          <p:nvPr/>
        </p:nvSpPr>
        <p:spPr>
          <a:xfrm>
            <a:off x="228600" y="3455789"/>
            <a:ext cx="4057650" cy="141089"/>
          </a:xfrm>
          <a:prstGeom prst="rect">
            <a:avLst/>
          </a:prstGeom>
          <a:noFill/>
          <a:ln>
            <a:noFill/>
          </a:ln>
        </p:spPr>
        <p:txBody>
          <a:bodyPr anchorCtr="0" anchor="t" bIns="0" lIns="272150" spcFirstLastPara="1" rIns="0" wrap="square" tIns="0">
            <a:noAutofit/>
          </a:bodyPr>
          <a:lstStyle/>
          <a:p>
            <a:pPr indent="0" lvl="0" marL="0" marR="0" rtl="0" algn="l">
              <a:lnSpc>
                <a:spcPct val="133689"/>
              </a:lnSpc>
              <a:spcBef>
                <a:spcPts val="0"/>
              </a:spcBef>
              <a:spcAft>
                <a:spcPts val="0"/>
              </a:spcAft>
              <a:buClr>
                <a:srgbClr val="569CD6"/>
              </a:buClr>
              <a:buSzPts val="748"/>
              <a:buFont typeface="Arial"/>
              <a:buNone/>
            </a:pPr>
            <a:r>
              <a:rPr b="0" i="0" lang="en-US" sz="748" u="none" cap="none" strike="noStrike">
                <a:solidFill>
                  <a:srgbClr val="569CD6"/>
                </a:solidFill>
                <a:latin typeface="Arial"/>
                <a:ea typeface="Arial"/>
                <a:cs typeface="Arial"/>
                <a:sym typeface="Arial"/>
              </a:rPr>
              <a:t>public</a:t>
            </a:r>
            <a:r>
              <a:rPr b="0" i="0" lang="en-US" sz="748" u="none" cap="none" strike="noStrike">
                <a:solidFill>
                  <a:srgbClr val="D4D4D4"/>
                </a:solidFill>
                <a:latin typeface="Arial"/>
                <a:ea typeface="Arial"/>
                <a:cs typeface="Arial"/>
                <a:sym typeface="Arial"/>
              </a:rPr>
              <a:t> </a:t>
            </a:r>
            <a:r>
              <a:rPr b="0" i="0" lang="en-US" sz="748" u="none" cap="none" strike="noStrike">
                <a:solidFill>
                  <a:srgbClr val="4EC9B0"/>
                </a:solidFill>
                <a:latin typeface="Arial"/>
                <a:ea typeface="Arial"/>
                <a:cs typeface="Arial"/>
                <a:sym typeface="Arial"/>
              </a:rPr>
              <a:t>String</a:t>
            </a:r>
            <a:r>
              <a:rPr b="0" i="0" lang="en-US" sz="748" u="none" cap="none" strike="noStrike">
                <a:solidFill>
                  <a:srgbClr val="D4D4D4"/>
                </a:solidFill>
                <a:latin typeface="Arial"/>
                <a:ea typeface="Arial"/>
                <a:cs typeface="Arial"/>
                <a:sym typeface="Arial"/>
              </a:rPr>
              <a:t> getMedicalHistory() {</a:t>
            </a:r>
            <a:endParaRPr b="0" i="0" sz="748" u="none" cap="none" strike="noStrike">
              <a:solidFill>
                <a:schemeClr val="dk1"/>
              </a:solidFill>
              <a:latin typeface="Calibri"/>
              <a:ea typeface="Calibri"/>
              <a:cs typeface="Calibri"/>
              <a:sym typeface="Calibri"/>
            </a:endParaRPr>
          </a:p>
        </p:txBody>
      </p:sp>
      <p:sp>
        <p:nvSpPr>
          <p:cNvPr id="655" name="Google Shape;655;p16"/>
          <p:cNvSpPr/>
          <p:nvPr/>
        </p:nvSpPr>
        <p:spPr>
          <a:xfrm>
            <a:off x="228600" y="3596878"/>
            <a:ext cx="4057650" cy="141089"/>
          </a:xfrm>
          <a:prstGeom prst="rect">
            <a:avLst/>
          </a:prstGeom>
          <a:noFill/>
          <a:ln>
            <a:noFill/>
          </a:ln>
        </p:spPr>
        <p:txBody>
          <a:bodyPr anchorCtr="0" anchor="t" bIns="0" lIns="544300" spcFirstLastPara="1" rIns="0" wrap="square" tIns="0">
            <a:noAutofit/>
          </a:bodyPr>
          <a:lstStyle/>
          <a:p>
            <a:pPr indent="0" lvl="0" marL="0" marR="0" rtl="0" algn="l">
              <a:lnSpc>
                <a:spcPct val="133689"/>
              </a:lnSpc>
              <a:spcBef>
                <a:spcPts val="0"/>
              </a:spcBef>
              <a:spcAft>
                <a:spcPts val="0"/>
              </a:spcAft>
              <a:buClr>
                <a:srgbClr val="4EC9B0"/>
              </a:buClr>
              <a:buSzPts val="748"/>
              <a:buFont typeface="Arial"/>
              <a:buNone/>
            </a:pPr>
            <a:r>
              <a:rPr b="0" i="0" lang="en-US" sz="748" u="none" cap="none" strike="noStrike">
                <a:solidFill>
                  <a:srgbClr val="4EC9B0"/>
                </a:solidFill>
                <a:latin typeface="Arial"/>
                <a:ea typeface="Arial"/>
                <a:cs typeface="Arial"/>
                <a:sym typeface="Arial"/>
              </a:rPr>
              <a:t>EncryptedPayload</a:t>
            </a:r>
            <a:r>
              <a:rPr b="0" i="0" lang="en-US" sz="748" u="none" cap="none" strike="noStrike">
                <a:solidFill>
                  <a:srgbClr val="D4D4D4"/>
                </a:solidFill>
                <a:latin typeface="Arial"/>
                <a:ea typeface="Arial"/>
                <a:cs typeface="Arial"/>
                <a:sym typeface="Arial"/>
              </a:rPr>
              <a:t> payload = </a:t>
            </a:r>
            <a:r>
              <a:rPr b="0" i="0" lang="en-US" sz="748" u="none" cap="none" strike="noStrike">
                <a:solidFill>
                  <a:srgbClr val="4EC9B0"/>
                </a:solidFill>
                <a:latin typeface="Arial"/>
                <a:ea typeface="Arial"/>
                <a:cs typeface="Arial"/>
                <a:sym typeface="Arial"/>
              </a:rPr>
              <a:t>EncryptedPayload</a:t>
            </a:r>
            <a:endParaRPr b="0" i="0" sz="748" u="none" cap="none" strike="noStrike">
              <a:solidFill>
                <a:schemeClr val="dk1"/>
              </a:solidFill>
              <a:latin typeface="Calibri"/>
              <a:ea typeface="Calibri"/>
              <a:cs typeface="Calibri"/>
              <a:sym typeface="Calibri"/>
            </a:endParaRPr>
          </a:p>
        </p:txBody>
      </p:sp>
      <p:sp>
        <p:nvSpPr>
          <p:cNvPr id="656" name="Google Shape;656;p16"/>
          <p:cNvSpPr/>
          <p:nvPr/>
        </p:nvSpPr>
        <p:spPr>
          <a:xfrm>
            <a:off x="228600" y="3737967"/>
            <a:ext cx="4057650" cy="141089"/>
          </a:xfrm>
          <a:prstGeom prst="rect">
            <a:avLst/>
          </a:prstGeom>
          <a:noFill/>
          <a:ln>
            <a:noFill/>
          </a:ln>
        </p:spPr>
        <p:txBody>
          <a:bodyPr anchorCtr="0" anchor="t" bIns="0" lIns="816475" spcFirstLastPara="1" rIns="0" wrap="square" tIns="0">
            <a:noAutofit/>
          </a:bodyPr>
          <a:lstStyle/>
          <a:p>
            <a:pPr indent="0" lvl="0" marL="0" marR="0" rtl="0" algn="l">
              <a:lnSpc>
                <a:spcPct val="133689"/>
              </a:lnSpc>
              <a:spcBef>
                <a:spcPts val="0"/>
              </a:spcBef>
              <a:spcAft>
                <a:spcPts val="0"/>
              </a:spcAft>
              <a:buClr>
                <a:srgbClr val="D4D4D4"/>
              </a:buClr>
              <a:buSzPts val="748"/>
              <a:buFont typeface="Arial"/>
              <a:buNone/>
            </a:pPr>
            <a:r>
              <a:rPr b="0" i="0" lang="en-US" sz="748" u="none" cap="none" strike="noStrike">
                <a:solidFill>
                  <a:srgbClr val="D4D4D4"/>
                </a:solidFill>
                <a:latin typeface="Arial"/>
                <a:ea typeface="Arial"/>
                <a:cs typeface="Arial"/>
                <a:sym typeface="Arial"/>
              </a:rPr>
              <a:t>.fromBase64String(</a:t>
            </a:r>
            <a:r>
              <a:rPr b="0" i="0" lang="en-US" sz="748" u="none" cap="none" strike="noStrike">
                <a:solidFill>
                  <a:srgbClr val="569CD6"/>
                </a:solidFill>
                <a:latin typeface="Arial"/>
                <a:ea typeface="Arial"/>
                <a:cs typeface="Arial"/>
                <a:sym typeface="Arial"/>
              </a:rPr>
              <a:t>this</a:t>
            </a:r>
            <a:r>
              <a:rPr b="0" i="0" lang="en-US" sz="748" u="none" cap="none" strike="noStrike">
                <a:solidFill>
                  <a:srgbClr val="D4D4D4"/>
                </a:solidFill>
                <a:latin typeface="Arial"/>
                <a:ea typeface="Arial"/>
                <a:cs typeface="Arial"/>
                <a:sym typeface="Arial"/>
              </a:rPr>
              <a:t>.encryptedPhi);</a:t>
            </a:r>
            <a:endParaRPr b="0" i="0" sz="748" u="none" cap="none" strike="noStrike">
              <a:solidFill>
                <a:schemeClr val="dk1"/>
              </a:solidFill>
              <a:latin typeface="Calibri"/>
              <a:ea typeface="Calibri"/>
              <a:cs typeface="Calibri"/>
              <a:sym typeface="Calibri"/>
            </a:endParaRPr>
          </a:p>
        </p:txBody>
      </p:sp>
      <p:sp>
        <p:nvSpPr>
          <p:cNvPr id="657" name="Google Shape;657;p16"/>
          <p:cNvSpPr/>
          <p:nvPr/>
        </p:nvSpPr>
        <p:spPr>
          <a:xfrm>
            <a:off x="228600" y="3879056"/>
            <a:ext cx="4057650" cy="141089"/>
          </a:xfrm>
          <a:prstGeom prst="rect">
            <a:avLst/>
          </a:prstGeom>
          <a:noFill/>
          <a:ln>
            <a:noFill/>
          </a:ln>
        </p:spPr>
        <p:txBody>
          <a:bodyPr anchorCtr="0" anchor="t" bIns="0" lIns="544300" spcFirstLastPara="1" rIns="0" wrap="square" tIns="0">
            <a:noAutofit/>
          </a:bodyPr>
          <a:lstStyle/>
          <a:p>
            <a:pPr indent="0" lvl="0" marL="0" marR="0" rtl="0" algn="l">
              <a:lnSpc>
                <a:spcPct val="133689"/>
              </a:lnSpc>
              <a:spcBef>
                <a:spcPts val="0"/>
              </a:spcBef>
              <a:spcAft>
                <a:spcPts val="0"/>
              </a:spcAft>
              <a:buClr>
                <a:srgbClr val="569CD6"/>
              </a:buClr>
              <a:buSzPts val="748"/>
              <a:buFont typeface="Arial"/>
              <a:buNone/>
            </a:pPr>
            <a:r>
              <a:rPr b="0" i="0" lang="en-US" sz="748" u="none" cap="none" strike="noStrike">
                <a:solidFill>
                  <a:srgbClr val="569CD6"/>
                </a:solidFill>
                <a:latin typeface="Arial"/>
                <a:ea typeface="Arial"/>
                <a:cs typeface="Arial"/>
                <a:sym typeface="Arial"/>
              </a:rPr>
              <a:t>return new</a:t>
            </a:r>
            <a:r>
              <a:rPr b="0" i="0" lang="en-US" sz="748" u="none" cap="none" strike="noStrike">
                <a:solidFill>
                  <a:srgbClr val="D4D4D4"/>
                </a:solidFill>
                <a:latin typeface="Arial"/>
                <a:ea typeface="Arial"/>
                <a:cs typeface="Arial"/>
                <a:sym typeface="Arial"/>
              </a:rPr>
              <a:t> </a:t>
            </a:r>
            <a:r>
              <a:rPr b="0" i="0" lang="en-US" sz="748" u="none" cap="none" strike="noStrike">
                <a:solidFill>
                  <a:srgbClr val="4EC9B0"/>
                </a:solidFill>
                <a:latin typeface="Arial"/>
                <a:ea typeface="Arial"/>
                <a:cs typeface="Arial"/>
                <a:sym typeface="Arial"/>
              </a:rPr>
              <a:t>String</a:t>
            </a:r>
            <a:r>
              <a:rPr b="0" i="0" lang="en-US" sz="748" u="none" cap="none" strike="noStrike">
                <a:solidFill>
                  <a:srgbClr val="D4D4D4"/>
                </a:solidFill>
                <a:latin typeface="Arial"/>
                <a:ea typeface="Arial"/>
                <a:cs typeface="Arial"/>
                <a:sym typeface="Arial"/>
              </a:rPr>
              <a:t>(client.decrypt(payload));</a:t>
            </a:r>
            <a:endParaRPr b="0" i="0" sz="748" u="none" cap="none" strike="noStrike">
              <a:solidFill>
                <a:schemeClr val="dk1"/>
              </a:solidFill>
              <a:latin typeface="Calibri"/>
              <a:ea typeface="Calibri"/>
              <a:cs typeface="Calibri"/>
              <a:sym typeface="Calibri"/>
            </a:endParaRPr>
          </a:p>
        </p:txBody>
      </p:sp>
      <p:sp>
        <p:nvSpPr>
          <p:cNvPr id="658" name="Google Shape;658;p16"/>
          <p:cNvSpPr/>
          <p:nvPr/>
        </p:nvSpPr>
        <p:spPr>
          <a:xfrm>
            <a:off x="228600" y="4020145"/>
            <a:ext cx="4057650" cy="141089"/>
          </a:xfrm>
          <a:prstGeom prst="rect">
            <a:avLst/>
          </a:prstGeom>
          <a:noFill/>
          <a:ln>
            <a:noFill/>
          </a:ln>
        </p:spPr>
        <p:txBody>
          <a:bodyPr anchorCtr="0" anchor="t" bIns="0" lIns="272150" spcFirstLastPara="1" rIns="0" wrap="square" tIns="0">
            <a:noAutofit/>
          </a:bodyPr>
          <a:lstStyle/>
          <a:p>
            <a:pPr indent="0" lvl="0" marL="0" marR="0" rtl="0" algn="l">
              <a:lnSpc>
                <a:spcPct val="133689"/>
              </a:lnSpc>
              <a:spcBef>
                <a:spcPts val="0"/>
              </a:spcBef>
              <a:spcAft>
                <a:spcPts val="0"/>
              </a:spcAft>
              <a:buClr>
                <a:srgbClr val="D4D4D4"/>
              </a:buClr>
              <a:buSzPts val="748"/>
              <a:buFont typeface="Arial"/>
              <a:buNone/>
            </a:pPr>
            <a:r>
              <a:rPr b="0" i="0" lang="en-US" sz="748" u="none" cap="none" strike="noStrike">
                <a:solidFill>
                  <a:srgbClr val="D4D4D4"/>
                </a:solidFill>
                <a:latin typeface="Arial"/>
                <a:ea typeface="Arial"/>
                <a:cs typeface="Arial"/>
                <a:sym typeface="Arial"/>
              </a:rPr>
              <a:t>}</a:t>
            </a:r>
            <a:endParaRPr b="0" i="0" sz="748" u="none" cap="none" strike="noStrike">
              <a:solidFill>
                <a:schemeClr val="dk1"/>
              </a:solidFill>
              <a:latin typeface="Calibri"/>
              <a:ea typeface="Calibri"/>
              <a:cs typeface="Calibri"/>
              <a:sym typeface="Calibri"/>
            </a:endParaRPr>
          </a:p>
        </p:txBody>
      </p:sp>
      <p:sp>
        <p:nvSpPr>
          <p:cNvPr id="659" name="Google Shape;659;p16"/>
          <p:cNvSpPr/>
          <p:nvPr/>
        </p:nvSpPr>
        <p:spPr>
          <a:xfrm>
            <a:off x="228600" y="4161234"/>
            <a:ext cx="4057650" cy="141089"/>
          </a:xfrm>
          <a:prstGeom prst="rect">
            <a:avLst/>
          </a:prstGeom>
          <a:noFill/>
          <a:ln>
            <a:noFill/>
          </a:ln>
        </p:spPr>
        <p:txBody>
          <a:bodyPr anchorCtr="0" anchor="t" bIns="0" lIns="0" spcFirstLastPara="1" rIns="0" wrap="square" tIns="0">
            <a:noAutofit/>
          </a:bodyPr>
          <a:lstStyle/>
          <a:p>
            <a:pPr indent="0" lvl="0" marL="0" marR="0" rtl="0" algn="l">
              <a:lnSpc>
                <a:spcPct val="133689"/>
              </a:lnSpc>
              <a:spcBef>
                <a:spcPts val="0"/>
              </a:spcBef>
              <a:spcAft>
                <a:spcPts val="0"/>
              </a:spcAft>
              <a:buClr>
                <a:srgbClr val="D4D4D4"/>
              </a:buClr>
              <a:buSzPts val="748"/>
              <a:buFont typeface="Arial"/>
              <a:buNone/>
            </a:pPr>
            <a:r>
              <a:rPr b="0" i="0" lang="en-US" sz="748" u="none" cap="none" strike="noStrike">
                <a:solidFill>
                  <a:srgbClr val="D4D4D4"/>
                </a:solidFill>
                <a:latin typeface="Arial"/>
                <a:ea typeface="Arial"/>
                <a:cs typeface="Arial"/>
                <a:sym typeface="Arial"/>
              </a:rPr>
              <a:t>}</a:t>
            </a:r>
            <a:endParaRPr b="0" i="0" sz="748" u="none" cap="none" strike="noStrike">
              <a:solidFill>
                <a:schemeClr val="dk1"/>
              </a:solidFill>
              <a:latin typeface="Calibri"/>
              <a:ea typeface="Calibri"/>
              <a:cs typeface="Calibri"/>
              <a:sym typeface="Calibri"/>
            </a:endParaRPr>
          </a:p>
        </p:txBody>
      </p:sp>
      <p:sp>
        <p:nvSpPr>
          <p:cNvPr id="660" name="Google Shape;660;p16"/>
          <p:cNvSpPr/>
          <p:nvPr/>
        </p:nvSpPr>
        <p:spPr>
          <a:xfrm>
            <a:off x="4686300" y="321469"/>
            <a:ext cx="4400550" cy="2202982"/>
          </a:xfrm>
          <a:prstGeom prst="rect">
            <a:avLst/>
          </a:prstGeom>
          <a:solidFill>
            <a:srgbClr val="0078D4">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16"/>
          <p:cNvSpPr/>
          <p:nvPr/>
        </p:nvSpPr>
        <p:spPr>
          <a:xfrm>
            <a:off x="4686300" y="321469"/>
            <a:ext cx="28575" cy="2202982"/>
          </a:xfrm>
          <a:prstGeom prst="rect">
            <a:avLst/>
          </a:prstGeom>
          <a:solidFill>
            <a:srgbClr val="0078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16"/>
          <p:cNvSpPr/>
          <p:nvPr/>
        </p:nvSpPr>
        <p:spPr>
          <a:xfrm>
            <a:off x="4857750" y="492919"/>
            <a:ext cx="4057650" cy="157163"/>
          </a:xfrm>
          <a:prstGeom prst="rect">
            <a:avLst/>
          </a:prstGeom>
          <a:noFill/>
          <a:ln>
            <a:noFill/>
          </a:ln>
        </p:spPr>
        <p:txBody>
          <a:bodyPr anchorCtr="0" anchor="t" bIns="0" lIns="0" spcFirstLastPara="1" rIns="0" wrap="square" tIns="0">
            <a:noAutofit/>
          </a:bodyPr>
          <a:lstStyle/>
          <a:p>
            <a:pPr indent="0" lvl="0" marL="0" marR="0" rtl="0" algn="l">
              <a:lnSpc>
                <a:spcPct val="137420"/>
              </a:lnSpc>
              <a:spcBef>
                <a:spcPts val="0"/>
              </a:spcBef>
              <a:spcAft>
                <a:spcPts val="0"/>
              </a:spcAft>
              <a:buClr>
                <a:srgbClr val="0078D4"/>
              </a:buClr>
              <a:buSzPts val="946"/>
              <a:buFont typeface="Times New Roman"/>
              <a:buNone/>
            </a:pPr>
            <a:r>
              <a:rPr b="1" i="0" lang="en-US" sz="946" u="none" cap="none" strike="noStrike">
                <a:solidFill>
                  <a:srgbClr val="0078D4"/>
                </a:solidFill>
                <a:latin typeface="Times New Roman"/>
                <a:ea typeface="Times New Roman"/>
                <a:cs typeface="Times New Roman"/>
                <a:sym typeface="Times New Roman"/>
              </a:rPr>
              <a:t>Behind the Scenes</a:t>
            </a:r>
            <a:endParaRPr b="0" i="0" sz="946" u="none" cap="none" strike="noStrike">
              <a:solidFill>
                <a:schemeClr val="dk1"/>
              </a:solidFill>
              <a:latin typeface="Calibri"/>
              <a:ea typeface="Calibri"/>
              <a:cs typeface="Calibri"/>
              <a:sym typeface="Calibri"/>
            </a:endParaRPr>
          </a:p>
        </p:txBody>
      </p:sp>
      <p:sp>
        <p:nvSpPr>
          <p:cNvPr id="663" name="Google Shape;663;p16"/>
          <p:cNvSpPr/>
          <p:nvPr/>
        </p:nvSpPr>
        <p:spPr>
          <a:xfrm>
            <a:off x="5029200" y="734020"/>
            <a:ext cx="953691" cy="126802"/>
          </a:xfrm>
          <a:prstGeom prst="rect">
            <a:avLst/>
          </a:prstGeom>
          <a:noFill/>
          <a:ln>
            <a:noFill/>
          </a:ln>
        </p:spPr>
        <p:txBody>
          <a:bodyPr anchorCtr="0" anchor="t" bIns="0" lIns="0" spcFirstLastPara="1" rIns="0" wrap="square" tIns="0">
            <a:noAutofit/>
          </a:bodyPr>
          <a:lstStyle/>
          <a:p>
            <a:pPr indent="-127000" lvl="0" marL="127000" marR="0" rtl="0" algn="l">
              <a:lnSpc>
                <a:spcPct val="178571"/>
              </a:lnSpc>
              <a:spcBef>
                <a:spcPts val="0"/>
              </a:spcBef>
              <a:spcAft>
                <a:spcPts val="0"/>
              </a:spcAft>
              <a:buClr>
                <a:srgbClr val="333333"/>
              </a:buClr>
              <a:buSzPts val="784"/>
              <a:buFont typeface="Times New Roman"/>
              <a:buChar char="•"/>
            </a:pPr>
            <a:r>
              <a:rPr b="1" i="0" lang="en-US" sz="784" u="none" cap="none" strike="noStrike">
                <a:solidFill>
                  <a:srgbClr val="333333"/>
                </a:solidFill>
                <a:latin typeface="Times New Roman"/>
                <a:ea typeface="Times New Roman"/>
                <a:cs typeface="Times New Roman"/>
                <a:sym typeface="Times New Roman"/>
              </a:rPr>
              <a:t>Granular Isolation:</a:t>
            </a:r>
            <a:endParaRPr b="0" i="0" sz="784" u="none" cap="none" strike="noStrike">
              <a:solidFill>
                <a:schemeClr val="dk1"/>
              </a:solidFill>
              <a:latin typeface="Calibri"/>
              <a:ea typeface="Calibri"/>
              <a:cs typeface="Calibri"/>
              <a:sym typeface="Calibri"/>
            </a:endParaRPr>
          </a:p>
        </p:txBody>
      </p:sp>
      <p:sp>
        <p:nvSpPr>
          <p:cNvPr id="664" name="Google Shape;664;p16"/>
          <p:cNvSpPr/>
          <p:nvPr/>
        </p:nvSpPr>
        <p:spPr>
          <a:xfrm>
            <a:off x="5029200" y="734020"/>
            <a:ext cx="3768217" cy="309665"/>
          </a:xfrm>
          <a:prstGeom prst="rect">
            <a:avLst/>
          </a:prstGeom>
          <a:noFill/>
          <a:ln>
            <a:noFill/>
          </a:ln>
        </p:spPr>
        <p:txBody>
          <a:bodyPr anchorCtr="0" anchor="t" bIns="0" lIns="0" spcFirstLastPara="1" rIns="0" wrap="square" tIns="0">
            <a:noAutofit/>
          </a:bodyPr>
          <a:lstStyle/>
          <a:p>
            <a:pPr indent="0" lvl="0" marL="0" marR="0" rtl="0" algn="l">
              <a:lnSpc>
                <a:spcPct val="167865"/>
              </a:lnSpc>
              <a:spcBef>
                <a:spcPts val="0"/>
              </a:spcBef>
              <a:spcAft>
                <a:spcPts val="0"/>
              </a:spcAft>
              <a:buClr>
                <a:srgbClr val="333333"/>
              </a:buClr>
              <a:buSzPts val="834"/>
              <a:buFont typeface="Times New Roman"/>
              <a:buNone/>
            </a:pPr>
            <a:r>
              <a:rPr b="0" i="0" lang="en-US" sz="834" u="none" cap="none" strike="noStrike">
                <a:solidFill>
                  <a:srgbClr val="333333"/>
                </a:solidFill>
                <a:latin typeface="Times New Roman"/>
                <a:ea typeface="Times New Roman"/>
                <a:cs typeface="Times New Roman"/>
                <a:sym typeface="Times New Roman"/>
              </a:rPr>
              <a:t>The SDK automatically uses different DEKs (and potentially different backing KEKs) for the</a:t>
            </a:r>
            <a:endParaRPr b="0" i="0" sz="834" u="none" cap="none" strike="noStrike">
              <a:solidFill>
                <a:schemeClr val="dk1"/>
              </a:solidFill>
              <a:latin typeface="Calibri"/>
              <a:ea typeface="Calibri"/>
              <a:cs typeface="Calibri"/>
              <a:sym typeface="Calibri"/>
            </a:endParaRPr>
          </a:p>
        </p:txBody>
      </p:sp>
      <p:sp>
        <p:nvSpPr>
          <p:cNvPr id="665" name="Google Shape;665;p16"/>
          <p:cNvSpPr/>
          <p:nvPr/>
        </p:nvSpPr>
        <p:spPr>
          <a:xfrm>
            <a:off x="6515658" y="920455"/>
            <a:ext cx="668666" cy="126802"/>
          </a:xfrm>
          <a:prstGeom prst="rect">
            <a:avLst/>
          </a:prstGeom>
          <a:noFill/>
          <a:ln>
            <a:noFill/>
          </a:ln>
        </p:spPr>
        <p:txBody>
          <a:bodyPr anchorCtr="0" anchor="t" bIns="0" lIns="0" spcFirstLastPara="1" rIns="0" wrap="square" tIns="0">
            <a:noAutofit/>
          </a:bodyPr>
          <a:lstStyle/>
          <a:p>
            <a:pPr indent="0" lvl="0" marL="0" marR="0" rtl="0" algn="l">
              <a:lnSpc>
                <a:spcPct val="178041"/>
              </a:lnSpc>
              <a:spcBef>
                <a:spcPts val="0"/>
              </a:spcBef>
              <a:spcAft>
                <a:spcPts val="0"/>
              </a:spcAft>
              <a:buClr>
                <a:srgbClr val="333333"/>
              </a:buClr>
              <a:buSzPts val="674"/>
              <a:buFont typeface="Arial"/>
              <a:buNone/>
            </a:pPr>
            <a:r>
              <a:rPr b="0" i="0" lang="en-US" sz="674" u="none" cap="none" strike="noStrike">
                <a:solidFill>
                  <a:srgbClr val="333333"/>
                </a:solidFill>
                <a:latin typeface="Arial"/>
                <a:ea typeface="Arial"/>
                <a:cs typeface="Arial"/>
                <a:sym typeface="Arial"/>
              </a:rPr>
              <a:t>CONFIDENTIAL</a:t>
            </a:r>
            <a:endParaRPr b="0" i="0" sz="674" u="none" cap="none" strike="noStrike">
              <a:solidFill>
                <a:schemeClr val="dk1"/>
              </a:solidFill>
              <a:latin typeface="Calibri"/>
              <a:ea typeface="Calibri"/>
              <a:cs typeface="Calibri"/>
              <a:sym typeface="Calibri"/>
            </a:endParaRPr>
          </a:p>
        </p:txBody>
      </p:sp>
      <p:sp>
        <p:nvSpPr>
          <p:cNvPr id="666" name="Google Shape;666;p16"/>
          <p:cNvSpPr/>
          <p:nvPr/>
        </p:nvSpPr>
        <p:spPr>
          <a:xfrm>
            <a:off x="7184324" y="916884"/>
            <a:ext cx="222182" cy="126802"/>
          </a:xfrm>
          <a:prstGeom prst="rect">
            <a:avLst/>
          </a:prstGeom>
          <a:noFill/>
          <a:ln>
            <a:noFill/>
          </a:ln>
        </p:spPr>
        <p:txBody>
          <a:bodyPr anchorCtr="0" anchor="t" bIns="0" lIns="0" spcFirstLastPara="1" rIns="0" wrap="square" tIns="0">
            <a:noAutofit/>
          </a:bodyPr>
          <a:lstStyle/>
          <a:p>
            <a:pPr indent="0" lvl="0" marL="0" marR="0" rtl="0" algn="l">
              <a:lnSpc>
                <a:spcPct val="167865"/>
              </a:lnSpc>
              <a:spcBef>
                <a:spcPts val="0"/>
              </a:spcBef>
              <a:spcAft>
                <a:spcPts val="0"/>
              </a:spcAft>
              <a:buClr>
                <a:srgbClr val="333333"/>
              </a:buClr>
              <a:buSzPts val="834"/>
              <a:buFont typeface="Times New Roman"/>
              <a:buNone/>
            </a:pPr>
            <a:r>
              <a:rPr b="0" i="0" lang="en-US" sz="834" u="none" cap="none" strike="noStrike">
                <a:solidFill>
                  <a:srgbClr val="333333"/>
                </a:solidFill>
                <a:latin typeface="Times New Roman"/>
                <a:ea typeface="Times New Roman"/>
                <a:cs typeface="Times New Roman"/>
                <a:sym typeface="Times New Roman"/>
              </a:rPr>
              <a:t>and</a:t>
            </a:r>
            <a:endParaRPr b="0" i="0" sz="834" u="none" cap="none" strike="noStrike">
              <a:solidFill>
                <a:schemeClr val="dk1"/>
              </a:solidFill>
              <a:latin typeface="Calibri"/>
              <a:ea typeface="Calibri"/>
              <a:cs typeface="Calibri"/>
              <a:sym typeface="Calibri"/>
            </a:endParaRPr>
          </a:p>
        </p:txBody>
      </p:sp>
      <p:sp>
        <p:nvSpPr>
          <p:cNvPr id="667" name="Google Shape;667;p16"/>
          <p:cNvSpPr/>
          <p:nvPr/>
        </p:nvSpPr>
        <p:spPr>
          <a:xfrm>
            <a:off x="7406506" y="920455"/>
            <a:ext cx="557240" cy="126802"/>
          </a:xfrm>
          <a:prstGeom prst="rect">
            <a:avLst/>
          </a:prstGeom>
          <a:noFill/>
          <a:ln>
            <a:noFill/>
          </a:ln>
        </p:spPr>
        <p:txBody>
          <a:bodyPr anchorCtr="0" anchor="t" bIns="0" lIns="0" spcFirstLastPara="1" rIns="0" wrap="square" tIns="0">
            <a:noAutofit/>
          </a:bodyPr>
          <a:lstStyle/>
          <a:p>
            <a:pPr indent="0" lvl="0" marL="0" marR="0" rtl="0" algn="l">
              <a:lnSpc>
                <a:spcPct val="178041"/>
              </a:lnSpc>
              <a:spcBef>
                <a:spcPts val="0"/>
              </a:spcBef>
              <a:spcAft>
                <a:spcPts val="0"/>
              </a:spcAft>
              <a:buClr>
                <a:srgbClr val="333333"/>
              </a:buClr>
              <a:buSzPts val="674"/>
              <a:buFont typeface="Arial"/>
              <a:buNone/>
            </a:pPr>
            <a:r>
              <a:rPr b="0" i="0" lang="en-US" sz="674" u="none" cap="none" strike="noStrike">
                <a:solidFill>
                  <a:srgbClr val="333333"/>
                </a:solidFill>
                <a:latin typeface="Arial"/>
                <a:ea typeface="Arial"/>
                <a:cs typeface="Arial"/>
                <a:sym typeface="Arial"/>
              </a:rPr>
              <a:t>RESTRICTED</a:t>
            </a:r>
            <a:endParaRPr b="0" i="0" sz="674" u="none" cap="none" strike="noStrike">
              <a:solidFill>
                <a:schemeClr val="dk1"/>
              </a:solidFill>
              <a:latin typeface="Calibri"/>
              <a:ea typeface="Calibri"/>
              <a:cs typeface="Calibri"/>
              <a:sym typeface="Calibri"/>
            </a:endParaRPr>
          </a:p>
        </p:txBody>
      </p:sp>
      <p:sp>
        <p:nvSpPr>
          <p:cNvPr id="668" name="Google Shape;668;p16"/>
          <p:cNvSpPr/>
          <p:nvPr/>
        </p:nvSpPr>
        <p:spPr>
          <a:xfrm>
            <a:off x="5029200" y="916884"/>
            <a:ext cx="3667841" cy="309665"/>
          </a:xfrm>
          <a:prstGeom prst="rect">
            <a:avLst/>
          </a:prstGeom>
          <a:noFill/>
          <a:ln>
            <a:noFill/>
          </a:ln>
        </p:spPr>
        <p:txBody>
          <a:bodyPr anchorCtr="0" anchor="t" bIns="0" lIns="0" spcFirstLastPara="1" rIns="0" wrap="square" tIns="0">
            <a:noAutofit/>
          </a:bodyPr>
          <a:lstStyle/>
          <a:p>
            <a:pPr indent="0" lvl="0" marL="0" marR="0" rtl="0" algn="l">
              <a:lnSpc>
                <a:spcPct val="167865"/>
              </a:lnSpc>
              <a:spcBef>
                <a:spcPts val="0"/>
              </a:spcBef>
              <a:spcAft>
                <a:spcPts val="0"/>
              </a:spcAft>
              <a:buClr>
                <a:srgbClr val="333333"/>
              </a:buClr>
              <a:buSzPts val="834"/>
              <a:buFont typeface="Times New Roman"/>
              <a:buNone/>
            </a:pPr>
            <a:r>
              <a:rPr b="0" i="0" lang="en-US" sz="834" u="none" cap="none" strike="noStrike">
                <a:solidFill>
                  <a:srgbClr val="333333"/>
                </a:solidFill>
                <a:latin typeface="Times New Roman"/>
                <a:ea typeface="Times New Roman"/>
                <a:cs typeface="Times New Roman"/>
                <a:sym typeface="Times New Roman"/>
              </a:rPr>
              <a:t>fields, ensuring blast radius isolation.</a:t>
            </a:r>
            <a:endParaRPr b="0" i="0" sz="834" u="none" cap="none" strike="noStrike">
              <a:solidFill>
                <a:schemeClr val="dk1"/>
              </a:solidFill>
              <a:latin typeface="Calibri"/>
              <a:ea typeface="Calibri"/>
              <a:cs typeface="Calibri"/>
              <a:sym typeface="Calibri"/>
            </a:endParaRPr>
          </a:p>
        </p:txBody>
      </p:sp>
      <p:sp>
        <p:nvSpPr>
          <p:cNvPr id="669" name="Google Shape;669;p16"/>
          <p:cNvSpPr/>
          <p:nvPr/>
        </p:nvSpPr>
        <p:spPr>
          <a:xfrm>
            <a:off x="5029200" y="1282610"/>
            <a:ext cx="1342746" cy="126802"/>
          </a:xfrm>
          <a:prstGeom prst="rect">
            <a:avLst/>
          </a:prstGeom>
          <a:noFill/>
          <a:ln>
            <a:noFill/>
          </a:ln>
        </p:spPr>
        <p:txBody>
          <a:bodyPr anchorCtr="0" anchor="t" bIns="0" lIns="0" spcFirstLastPara="1" rIns="0" wrap="square" tIns="0">
            <a:noAutofit/>
          </a:bodyPr>
          <a:lstStyle/>
          <a:p>
            <a:pPr indent="-127000" lvl="0" marL="127000" marR="0" rtl="0" algn="l">
              <a:lnSpc>
                <a:spcPct val="178571"/>
              </a:lnSpc>
              <a:spcBef>
                <a:spcPts val="0"/>
              </a:spcBef>
              <a:spcAft>
                <a:spcPts val="0"/>
              </a:spcAft>
              <a:buClr>
                <a:srgbClr val="333333"/>
              </a:buClr>
              <a:buSzPts val="784"/>
              <a:buFont typeface="Times New Roman"/>
              <a:buChar char="•"/>
            </a:pPr>
            <a:r>
              <a:rPr b="1" i="0" lang="en-US" sz="784" u="none" cap="none" strike="noStrike">
                <a:solidFill>
                  <a:srgbClr val="333333"/>
                </a:solidFill>
                <a:latin typeface="Times New Roman"/>
                <a:ea typeface="Times New Roman"/>
                <a:cs typeface="Times New Roman"/>
                <a:sym typeface="Times New Roman"/>
              </a:rPr>
              <a:t>Self-Describing Ciphertext:</a:t>
            </a:r>
            <a:endParaRPr b="0" i="0" sz="784" u="none" cap="none" strike="noStrike">
              <a:solidFill>
                <a:schemeClr val="dk1"/>
              </a:solidFill>
              <a:latin typeface="Calibri"/>
              <a:ea typeface="Calibri"/>
              <a:cs typeface="Calibri"/>
              <a:sym typeface="Calibri"/>
            </a:endParaRPr>
          </a:p>
        </p:txBody>
      </p:sp>
      <p:sp>
        <p:nvSpPr>
          <p:cNvPr id="670" name="Google Shape;670;p16"/>
          <p:cNvSpPr/>
          <p:nvPr/>
        </p:nvSpPr>
        <p:spPr>
          <a:xfrm>
            <a:off x="6371946" y="1282610"/>
            <a:ext cx="232786" cy="126802"/>
          </a:xfrm>
          <a:prstGeom prst="rect">
            <a:avLst/>
          </a:prstGeom>
          <a:noFill/>
          <a:ln>
            <a:noFill/>
          </a:ln>
        </p:spPr>
        <p:txBody>
          <a:bodyPr anchorCtr="0" anchor="t" bIns="0" lIns="0" spcFirstLastPara="1" rIns="0" wrap="square" tIns="0">
            <a:noAutofit/>
          </a:bodyPr>
          <a:lstStyle/>
          <a:p>
            <a:pPr indent="0" lvl="0" marL="0" marR="0" rtl="0" algn="l">
              <a:lnSpc>
                <a:spcPct val="167865"/>
              </a:lnSpc>
              <a:spcBef>
                <a:spcPts val="0"/>
              </a:spcBef>
              <a:spcAft>
                <a:spcPts val="0"/>
              </a:spcAft>
              <a:buClr>
                <a:srgbClr val="333333"/>
              </a:buClr>
              <a:buSzPts val="834"/>
              <a:buFont typeface="Times New Roman"/>
              <a:buNone/>
            </a:pPr>
            <a:r>
              <a:rPr b="0" i="0" lang="en-US" sz="834" u="none" cap="none" strike="noStrike">
                <a:solidFill>
                  <a:srgbClr val="333333"/>
                </a:solidFill>
                <a:latin typeface="Times New Roman"/>
                <a:ea typeface="Times New Roman"/>
                <a:cs typeface="Times New Roman"/>
                <a:sym typeface="Times New Roman"/>
              </a:rPr>
              <a:t>The</a:t>
            </a:r>
            <a:endParaRPr b="0" i="0" sz="834" u="none" cap="none" strike="noStrike">
              <a:solidFill>
                <a:schemeClr val="dk1"/>
              </a:solidFill>
              <a:latin typeface="Calibri"/>
              <a:ea typeface="Calibri"/>
              <a:cs typeface="Calibri"/>
              <a:sym typeface="Calibri"/>
            </a:endParaRPr>
          </a:p>
        </p:txBody>
      </p:sp>
      <p:sp>
        <p:nvSpPr>
          <p:cNvPr id="671" name="Google Shape;671;p16"/>
          <p:cNvSpPr/>
          <p:nvPr/>
        </p:nvSpPr>
        <p:spPr>
          <a:xfrm>
            <a:off x="6604732" y="1286182"/>
            <a:ext cx="891546" cy="126802"/>
          </a:xfrm>
          <a:prstGeom prst="rect">
            <a:avLst/>
          </a:prstGeom>
          <a:noFill/>
          <a:ln>
            <a:noFill/>
          </a:ln>
        </p:spPr>
        <p:txBody>
          <a:bodyPr anchorCtr="0" anchor="t" bIns="0" lIns="0" spcFirstLastPara="1" rIns="0" wrap="square" tIns="0">
            <a:noAutofit/>
          </a:bodyPr>
          <a:lstStyle/>
          <a:p>
            <a:pPr indent="0" lvl="0" marL="0" marR="0" rtl="0" algn="l">
              <a:lnSpc>
                <a:spcPct val="178041"/>
              </a:lnSpc>
              <a:spcBef>
                <a:spcPts val="0"/>
              </a:spcBef>
              <a:spcAft>
                <a:spcPts val="0"/>
              </a:spcAft>
              <a:buClr>
                <a:srgbClr val="333333"/>
              </a:buClr>
              <a:buSzPts val="674"/>
              <a:buFont typeface="Arial"/>
              <a:buNone/>
            </a:pPr>
            <a:r>
              <a:rPr b="0" i="0" lang="en-US" sz="674" u="none" cap="none" strike="noStrike">
                <a:solidFill>
                  <a:srgbClr val="333333"/>
                </a:solidFill>
                <a:latin typeface="Arial"/>
                <a:ea typeface="Arial"/>
                <a:cs typeface="Arial"/>
                <a:sym typeface="Arial"/>
              </a:rPr>
              <a:t>toBase64String()</a:t>
            </a:r>
            <a:endParaRPr b="0" i="0" sz="674" u="none" cap="none" strike="noStrike">
              <a:solidFill>
                <a:schemeClr val="dk1"/>
              </a:solidFill>
              <a:latin typeface="Calibri"/>
              <a:ea typeface="Calibri"/>
              <a:cs typeface="Calibri"/>
              <a:sym typeface="Calibri"/>
            </a:endParaRPr>
          </a:p>
        </p:txBody>
      </p:sp>
      <p:sp>
        <p:nvSpPr>
          <p:cNvPr id="672" name="Google Shape;672;p16"/>
          <p:cNvSpPr/>
          <p:nvPr/>
        </p:nvSpPr>
        <p:spPr>
          <a:xfrm>
            <a:off x="5029200" y="1282610"/>
            <a:ext cx="3777090" cy="492528"/>
          </a:xfrm>
          <a:prstGeom prst="rect">
            <a:avLst/>
          </a:prstGeom>
          <a:noFill/>
          <a:ln>
            <a:noFill/>
          </a:ln>
        </p:spPr>
        <p:txBody>
          <a:bodyPr anchorCtr="0" anchor="t" bIns="0" lIns="0" spcFirstLastPara="1" rIns="0" wrap="square" tIns="0">
            <a:noAutofit/>
          </a:bodyPr>
          <a:lstStyle/>
          <a:p>
            <a:pPr indent="0" lvl="0" marL="0" marR="0" rtl="0" algn="l">
              <a:lnSpc>
                <a:spcPct val="167865"/>
              </a:lnSpc>
              <a:spcBef>
                <a:spcPts val="0"/>
              </a:spcBef>
              <a:spcAft>
                <a:spcPts val="0"/>
              </a:spcAft>
              <a:buClr>
                <a:srgbClr val="333333"/>
              </a:buClr>
              <a:buSzPts val="834"/>
              <a:buFont typeface="Times New Roman"/>
              <a:buNone/>
            </a:pPr>
            <a:r>
              <a:rPr b="0" i="0" lang="en-US" sz="834" u="none" cap="none" strike="noStrike">
                <a:solidFill>
                  <a:srgbClr val="333333"/>
                </a:solidFill>
                <a:latin typeface="Times New Roman"/>
                <a:ea typeface="Times New Roman"/>
                <a:cs typeface="Times New Roman"/>
                <a:sym typeface="Times New Roman"/>
              </a:rPr>
              <a:t>method serializes the ciphertext, the encrypted DEK, and the algorithm metadata into a single string that fits neatly into a standard database column.</a:t>
            </a:r>
            <a:endParaRPr b="0" i="0" sz="834" u="none" cap="none" strike="noStrike">
              <a:solidFill>
                <a:schemeClr val="dk1"/>
              </a:solidFill>
              <a:latin typeface="Calibri"/>
              <a:ea typeface="Calibri"/>
              <a:cs typeface="Calibri"/>
              <a:sym typeface="Calibri"/>
            </a:endParaRPr>
          </a:p>
        </p:txBody>
      </p:sp>
      <p:sp>
        <p:nvSpPr>
          <p:cNvPr id="673" name="Google Shape;673;p16"/>
          <p:cNvSpPr/>
          <p:nvPr/>
        </p:nvSpPr>
        <p:spPr>
          <a:xfrm>
            <a:off x="5029200" y="1804411"/>
            <a:ext cx="3886200" cy="548590"/>
          </a:xfrm>
          <a:prstGeom prst="rect">
            <a:avLst/>
          </a:prstGeom>
          <a:noFill/>
          <a:ln>
            <a:noFill/>
          </a:ln>
        </p:spPr>
        <p:txBody>
          <a:bodyPr anchorCtr="0" anchor="t" bIns="0" lIns="0" spcFirstLastPara="1" rIns="0" wrap="square" tIns="0">
            <a:noAutofit/>
          </a:bodyPr>
          <a:lstStyle/>
          <a:p>
            <a:pPr indent="-127000" lvl="0" marL="127000" marR="0" rtl="0" algn="l">
              <a:lnSpc>
                <a:spcPct val="167865"/>
              </a:lnSpc>
              <a:spcBef>
                <a:spcPts val="0"/>
              </a:spcBef>
              <a:spcAft>
                <a:spcPts val="0"/>
              </a:spcAft>
              <a:buClr>
                <a:srgbClr val="333333"/>
              </a:buClr>
              <a:buSzPts val="784"/>
              <a:buFont typeface="Times New Roman"/>
              <a:buChar char="•"/>
            </a:pPr>
            <a:r>
              <a:rPr b="1" i="0" lang="en-US" sz="784" u="none" cap="none" strike="noStrike">
                <a:solidFill>
                  <a:srgbClr val="333333"/>
                </a:solidFill>
                <a:latin typeface="Times New Roman"/>
                <a:ea typeface="Times New Roman"/>
                <a:cs typeface="Times New Roman"/>
                <a:sym typeface="Times New Roman"/>
              </a:rPr>
              <a:t>Transparent Decryption:</a:t>
            </a:r>
            <a:r>
              <a:rPr b="0" i="0" lang="en-US" sz="834" u="none" cap="none" strike="noStrike">
                <a:solidFill>
                  <a:srgbClr val="333333"/>
                </a:solidFill>
                <a:latin typeface="Times New Roman"/>
                <a:ea typeface="Times New Roman"/>
                <a:cs typeface="Times New Roman"/>
                <a:sym typeface="Times New Roman"/>
              </a:rPr>
              <a:t> When decrypting, the developer doesn't need to specify the classification or algorithm. The SDK reads the metadata from the payload and handles it automatically.</a:t>
            </a:r>
            <a:endParaRPr b="0" i="0" sz="784"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8" name="Shape 678"/>
        <p:cNvGrpSpPr/>
        <p:nvPr/>
      </p:nvGrpSpPr>
      <p:grpSpPr>
        <a:xfrm>
          <a:off x="0" y="0"/>
          <a:ext cx="0" cy="0"/>
          <a:chOff x="0" y="0"/>
          <a:chExt cx="0" cy="0"/>
        </a:xfrm>
      </p:grpSpPr>
      <p:pic>
        <p:nvPicPr>
          <p:cNvPr descr="preencoded.png" id="679" name="Google Shape;679;p17"/>
          <p:cNvPicPr preferRelativeResize="0"/>
          <p:nvPr/>
        </p:nvPicPr>
        <p:blipFill rotWithShape="1">
          <a:blip r:embed="rId3">
            <a:alphaModFix/>
          </a:blip>
          <a:srcRect b="0" l="0" r="0" t="0"/>
          <a:stretch/>
        </p:blipFill>
        <p:spPr>
          <a:xfrm>
            <a:off x="0" y="0"/>
            <a:ext cx="9144000" cy="5313164"/>
          </a:xfrm>
          <a:prstGeom prst="rect">
            <a:avLst/>
          </a:prstGeom>
          <a:noFill/>
          <a:ln>
            <a:noFill/>
          </a:ln>
        </p:spPr>
      </p:pic>
      <p:sp>
        <p:nvSpPr>
          <p:cNvPr id="680" name="Google Shape;680;p17"/>
          <p:cNvSpPr/>
          <p:nvPr/>
        </p:nvSpPr>
        <p:spPr>
          <a:xfrm>
            <a:off x="357188" y="214313"/>
            <a:ext cx="8429625" cy="258961"/>
          </a:xfrm>
          <a:prstGeom prst="rect">
            <a:avLst/>
          </a:prstGeom>
          <a:noFill/>
          <a:ln>
            <a:noFill/>
          </a:ln>
        </p:spPr>
        <p:txBody>
          <a:bodyPr anchorCtr="0" anchor="t" bIns="0" lIns="0" spcFirstLastPara="1" rIns="0" wrap="square" tIns="0">
            <a:noAutofit/>
          </a:bodyPr>
          <a:lstStyle/>
          <a:p>
            <a:pPr indent="0" lvl="0" marL="0" marR="0" rtl="0" algn="l">
              <a:lnSpc>
                <a:spcPct val="133422"/>
              </a:lnSpc>
              <a:spcBef>
                <a:spcPts val="0"/>
              </a:spcBef>
              <a:spcAft>
                <a:spcPts val="0"/>
              </a:spcAft>
              <a:buClr>
                <a:srgbClr val="FFFFFF"/>
              </a:buClr>
              <a:buSzPts val="1499"/>
              <a:buFont typeface="Inter"/>
              <a:buNone/>
            </a:pPr>
            <a:r>
              <a:rPr b="1" i="0" lang="en-US" sz="1499" u="none" cap="none" strike="noStrike">
                <a:solidFill>
                  <a:srgbClr val="FFFFFF"/>
                </a:solidFill>
                <a:latin typeface="Inter"/>
                <a:ea typeface="Inter"/>
                <a:cs typeface="Inter"/>
                <a:sym typeface="Inter"/>
              </a:rPr>
              <a:t>Use Case E: Cross-ASV Secure Messaging</a:t>
            </a:r>
            <a:endParaRPr b="0" i="0" sz="1499" u="none" cap="none" strike="noStrike">
              <a:solidFill>
                <a:schemeClr val="dk1"/>
              </a:solidFill>
              <a:latin typeface="Calibri"/>
              <a:ea typeface="Calibri"/>
              <a:cs typeface="Calibri"/>
              <a:sym typeface="Calibri"/>
            </a:endParaRPr>
          </a:p>
        </p:txBody>
      </p:sp>
      <p:sp>
        <p:nvSpPr>
          <p:cNvPr id="681" name="Google Shape;681;p17"/>
          <p:cNvSpPr/>
          <p:nvPr/>
        </p:nvSpPr>
        <p:spPr>
          <a:xfrm>
            <a:off x="357188" y="501848"/>
            <a:ext cx="8429625" cy="121444"/>
          </a:xfrm>
          <a:prstGeom prst="rect">
            <a:avLst/>
          </a:prstGeom>
          <a:noFill/>
          <a:ln>
            <a:noFill/>
          </a:ln>
        </p:spPr>
        <p:txBody>
          <a:bodyPr anchorCtr="0" anchor="t" bIns="0" lIns="0" spcFirstLastPara="1" rIns="0" wrap="square" tIns="0">
            <a:noAutofit/>
          </a:bodyPr>
          <a:lstStyle/>
          <a:p>
            <a:pPr indent="0" lvl="0" marL="0" marR="0" rtl="0" algn="l">
              <a:lnSpc>
                <a:spcPct val="133531"/>
              </a:lnSpc>
              <a:spcBef>
                <a:spcPts val="0"/>
              </a:spcBef>
              <a:spcAft>
                <a:spcPts val="0"/>
              </a:spcAft>
              <a:buClr>
                <a:srgbClr val="546E7A"/>
              </a:buClr>
              <a:buSzPts val="674"/>
              <a:buFont typeface="Roboto Mono"/>
              <a:buNone/>
            </a:pPr>
            <a:r>
              <a:rPr b="0" i="0" lang="en-US" sz="674" u="none" cap="none" strike="noStrike">
                <a:solidFill>
                  <a:srgbClr val="546E7A"/>
                </a:solidFill>
                <a:latin typeface="Roboto Mono"/>
                <a:ea typeface="Roboto Mono"/>
                <a:cs typeface="Roboto Mono"/>
                <a:sym typeface="Roboto Mono"/>
              </a:rPr>
              <a:t>Service in ASV-A sends encrypted data to ASV-B using a time-limited grant and shared KEK.</a:t>
            </a:r>
            <a:endParaRPr b="0" i="0" sz="674" u="none" cap="none" strike="noStrike">
              <a:solidFill>
                <a:schemeClr val="dk1"/>
              </a:solidFill>
              <a:latin typeface="Calibri"/>
              <a:ea typeface="Calibri"/>
              <a:cs typeface="Calibri"/>
              <a:sym typeface="Calibri"/>
            </a:endParaRPr>
          </a:p>
        </p:txBody>
      </p:sp>
      <p:sp>
        <p:nvSpPr>
          <p:cNvPr id="682" name="Google Shape;682;p17"/>
          <p:cNvSpPr/>
          <p:nvPr/>
        </p:nvSpPr>
        <p:spPr>
          <a:xfrm>
            <a:off x="285750" y="737592"/>
            <a:ext cx="1714500" cy="489347"/>
          </a:xfrm>
          <a:prstGeom prst="rect">
            <a:avLst/>
          </a:prstGeom>
          <a:solidFill>
            <a:srgbClr val="00E5FF">
              <a:alpha val="14901"/>
            </a:srgbClr>
          </a:solidFill>
          <a:ln cap="flat" cmpd="sng" w="9525">
            <a:solidFill>
              <a:srgbClr val="FFFFFF">
                <a:alpha val="784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83" name="Google Shape;683;p17"/>
          <p:cNvPicPr preferRelativeResize="0"/>
          <p:nvPr/>
        </p:nvPicPr>
        <p:blipFill rotWithShape="1">
          <a:blip r:embed="rId4">
            <a:alphaModFix/>
          </a:blip>
          <a:srcRect b="0" l="0" r="0" t="0"/>
          <a:stretch/>
        </p:blipFill>
        <p:spPr>
          <a:xfrm>
            <a:off x="1089422" y="816173"/>
            <a:ext cx="107156" cy="107156"/>
          </a:xfrm>
          <a:prstGeom prst="rect">
            <a:avLst/>
          </a:prstGeom>
          <a:noFill/>
          <a:ln>
            <a:noFill/>
          </a:ln>
        </p:spPr>
      </p:pic>
      <p:sp>
        <p:nvSpPr>
          <p:cNvPr id="684" name="Google Shape;684;p17"/>
          <p:cNvSpPr/>
          <p:nvPr/>
        </p:nvSpPr>
        <p:spPr>
          <a:xfrm>
            <a:off x="956370" y="944761"/>
            <a:ext cx="373261" cy="96441"/>
          </a:xfrm>
          <a:prstGeom prst="rect">
            <a:avLst/>
          </a:prstGeom>
          <a:noFill/>
          <a:ln>
            <a:noFill/>
          </a:ln>
        </p:spPr>
        <p:txBody>
          <a:bodyPr anchorCtr="0" anchor="t" bIns="0" lIns="0" spcFirstLastPara="1" rIns="0" wrap="square" tIns="0">
            <a:noAutofit/>
          </a:bodyPr>
          <a:lstStyle/>
          <a:p>
            <a:pPr indent="0" lvl="0" marL="0" marR="0" rtl="0" algn="l">
              <a:lnSpc>
                <a:spcPct val="131086"/>
              </a:lnSpc>
              <a:spcBef>
                <a:spcPts val="0"/>
              </a:spcBef>
              <a:spcAft>
                <a:spcPts val="0"/>
              </a:spcAft>
              <a:buClr>
                <a:srgbClr val="00E5FF"/>
              </a:buClr>
              <a:buSzPts val="534"/>
              <a:buFont typeface="Inter"/>
              <a:buNone/>
            </a:pPr>
            <a:r>
              <a:rPr b="1" i="0" lang="en-US" sz="534" u="none" cap="none" strike="noStrike">
                <a:solidFill>
                  <a:srgbClr val="00E5FF"/>
                </a:solidFill>
                <a:latin typeface="Inter"/>
                <a:ea typeface="Inter"/>
                <a:cs typeface="Inter"/>
                <a:sym typeface="Inter"/>
              </a:rPr>
              <a:t>Service A</a:t>
            </a:r>
            <a:endParaRPr b="0" i="0" sz="534" u="none" cap="none" strike="noStrike">
              <a:solidFill>
                <a:schemeClr val="dk1"/>
              </a:solidFill>
              <a:latin typeface="Calibri"/>
              <a:ea typeface="Calibri"/>
              <a:cs typeface="Calibri"/>
              <a:sym typeface="Calibri"/>
            </a:endParaRPr>
          </a:p>
        </p:txBody>
      </p:sp>
      <p:sp>
        <p:nvSpPr>
          <p:cNvPr id="685" name="Google Shape;685;p17"/>
          <p:cNvSpPr/>
          <p:nvPr/>
        </p:nvSpPr>
        <p:spPr>
          <a:xfrm>
            <a:off x="867966" y="1062633"/>
            <a:ext cx="550069" cy="85725"/>
          </a:xfrm>
          <a:prstGeom prst="rect">
            <a:avLst/>
          </a:prstGeom>
          <a:noFill/>
          <a:ln>
            <a:noFill/>
          </a:ln>
        </p:spPr>
        <p:txBody>
          <a:bodyPr anchorCtr="0" anchor="t" bIns="0" lIns="0" spcFirstLastPara="1" rIns="0" wrap="square" tIns="0">
            <a:noAutofit/>
          </a:bodyPr>
          <a:lstStyle/>
          <a:p>
            <a:pPr indent="0" lvl="0" marL="0" marR="0" rtl="0" algn="l">
              <a:lnSpc>
                <a:spcPct val="129589"/>
              </a:lnSpc>
              <a:spcBef>
                <a:spcPts val="0"/>
              </a:spcBef>
              <a:spcAft>
                <a:spcPts val="0"/>
              </a:spcAft>
              <a:buClr>
                <a:srgbClr val="00E5FF"/>
              </a:buClr>
              <a:buSzPts val="463"/>
              <a:buFont typeface="Roboto Mono"/>
              <a:buNone/>
            </a:pPr>
            <a:r>
              <a:rPr b="0" i="0" lang="en-US" sz="463" u="none" cap="none" strike="noStrike">
                <a:solidFill>
                  <a:srgbClr val="00E5FF"/>
                </a:solidFill>
                <a:latin typeface="Roboto Mono"/>
                <a:ea typeface="Roboto Mono"/>
                <a:cs typeface="Roboto Mono"/>
                <a:sym typeface="Roboto Mono"/>
              </a:rPr>
              <a:t>ASV-A (Sender)</a:t>
            </a:r>
            <a:endParaRPr b="0" i="0" sz="463" u="none" cap="none" strike="noStrike">
              <a:solidFill>
                <a:schemeClr val="dk1"/>
              </a:solidFill>
              <a:latin typeface="Calibri"/>
              <a:ea typeface="Calibri"/>
              <a:cs typeface="Calibri"/>
              <a:sym typeface="Calibri"/>
            </a:endParaRPr>
          </a:p>
        </p:txBody>
      </p:sp>
      <p:sp>
        <p:nvSpPr>
          <p:cNvPr id="686" name="Google Shape;686;p17"/>
          <p:cNvSpPr/>
          <p:nvPr/>
        </p:nvSpPr>
        <p:spPr>
          <a:xfrm>
            <a:off x="2000250" y="737592"/>
            <a:ext cx="1714500" cy="489347"/>
          </a:xfrm>
          <a:prstGeom prst="rect">
            <a:avLst/>
          </a:prstGeom>
          <a:solidFill>
            <a:srgbClr val="2979FF">
              <a:alpha val="14901"/>
            </a:srgbClr>
          </a:solidFill>
          <a:ln cap="flat" cmpd="sng" w="9525">
            <a:solidFill>
              <a:srgbClr val="FFFFFF">
                <a:alpha val="784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87" name="Google Shape;687;p17"/>
          <p:cNvPicPr preferRelativeResize="0"/>
          <p:nvPr/>
        </p:nvPicPr>
        <p:blipFill rotWithShape="1">
          <a:blip r:embed="rId5">
            <a:alphaModFix/>
          </a:blip>
          <a:srcRect b="0" l="0" r="0" t="0"/>
          <a:stretch/>
        </p:blipFill>
        <p:spPr>
          <a:xfrm>
            <a:off x="2803922" y="816173"/>
            <a:ext cx="107156" cy="107156"/>
          </a:xfrm>
          <a:prstGeom prst="rect">
            <a:avLst/>
          </a:prstGeom>
          <a:noFill/>
          <a:ln>
            <a:noFill/>
          </a:ln>
        </p:spPr>
      </p:pic>
      <p:sp>
        <p:nvSpPr>
          <p:cNvPr id="688" name="Google Shape;688;p17"/>
          <p:cNvSpPr/>
          <p:nvPr/>
        </p:nvSpPr>
        <p:spPr>
          <a:xfrm>
            <a:off x="2691408" y="944761"/>
            <a:ext cx="332184" cy="96441"/>
          </a:xfrm>
          <a:prstGeom prst="rect">
            <a:avLst/>
          </a:prstGeom>
          <a:noFill/>
          <a:ln>
            <a:noFill/>
          </a:ln>
        </p:spPr>
        <p:txBody>
          <a:bodyPr anchorCtr="0" anchor="t" bIns="0" lIns="0" spcFirstLastPara="1" rIns="0" wrap="square" tIns="0">
            <a:noAutofit/>
          </a:bodyPr>
          <a:lstStyle/>
          <a:p>
            <a:pPr indent="0" lvl="0" marL="0" marR="0" rtl="0" algn="l">
              <a:lnSpc>
                <a:spcPct val="131086"/>
              </a:lnSpc>
              <a:spcBef>
                <a:spcPts val="0"/>
              </a:spcBef>
              <a:spcAft>
                <a:spcPts val="0"/>
              </a:spcAft>
              <a:buClr>
                <a:srgbClr val="2979FF"/>
              </a:buClr>
              <a:buSzPts val="534"/>
              <a:buFont typeface="Inter"/>
              <a:buNone/>
            </a:pPr>
            <a:r>
              <a:rPr b="1" i="0" lang="en-US" sz="534" u="none" cap="none" strike="noStrike">
                <a:solidFill>
                  <a:srgbClr val="2979FF"/>
                </a:solidFill>
                <a:latin typeface="Inter"/>
                <a:ea typeface="Inter"/>
                <a:cs typeface="Inter"/>
                <a:sym typeface="Inter"/>
              </a:rPr>
              <a:t>EES SDK</a:t>
            </a:r>
            <a:endParaRPr b="0" i="0" sz="534" u="none" cap="none" strike="noStrike">
              <a:solidFill>
                <a:schemeClr val="dk1"/>
              </a:solidFill>
              <a:latin typeface="Calibri"/>
              <a:ea typeface="Calibri"/>
              <a:cs typeface="Calibri"/>
              <a:sym typeface="Calibri"/>
            </a:endParaRPr>
          </a:p>
        </p:txBody>
      </p:sp>
      <p:sp>
        <p:nvSpPr>
          <p:cNvPr id="689" name="Google Shape;689;p17"/>
          <p:cNvSpPr/>
          <p:nvPr/>
        </p:nvSpPr>
        <p:spPr>
          <a:xfrm>
            <a:off x="2582466" y="1062633"/>
            <a:ext cx="550069" cy="85725"/>
          </a:xfrm>
          <a:prstGeom prst="rect">
            <a:avLst/>
          </a:prstGeom>
          <a:noFill/>
          <a:ln>
            <a:noFill/>
          </a:ln>
        </p:spPr>
        <p:txBody>
          <a:bodyPr anchorCtr="0" anchor="t" bIns="0" lIns="0" spcFirstLastPara="1" rIns="0" wrap="square" tIns="0">
            <a:noAutofit/>
          </a:bodyPr>
          <a:lstStyle/>
          <a:p>
            <a:pPr indent="0" lvl="0" marL="0" marR="0" rtl="0" algn="l">
              <a:lnSpc>
                <a:spcPct val="129589"/>
              </a:lnSpc>
              <a:spcBef>
                <a:spcPts val="0"/>
              </a:spcBef>
              <a:spcAft>
                <a:spcPts val="0"/>
              </a:spcAft>
              <a:buClr>
                <a:srgbClr val="2979FF"/>
              </a:buClr>
              <a:buSzPts val="463"/>
              <a:buFont typeface="Roboto Mono"/>
              <a:buNone/>
            </a:pPr>
            <a:r>
              <a:rPr b="0" i="0" lang="en-US" sz="463" u="none" cap="none" strike="noStrike">
                <a:solidFill>
                  <a:srgbClr val="2979FF"/>
                </a:solidFill>
                <a:latin typeface="Roboto Mono"/>
                <a:ea typeface="Roboto Mono"/>
                <a:cs typeface="Roboto Mono"/>
                <a:sym typeface="Roboto Mono"/>
              </a:rPr>
              <a:t>Client Library</a:t>
            </a:r>
            <a:endParaRPr b="0" i="0" sz="463" u="none" cap="none" strike="noStrike">
              <a:solidFill>
                <a:schemeClr val="dk1"/>
              </a:solidFill>
              <a:latin typeface="Calibri"/>
              <a:ea typeface="Calibri"/>
              <a:cs typeface="Calibri"/>
              <a:sym typeface="Calibri"/>
            </a:endParaRPr>
          </a:p>
        </p:txBody>
      </p:sp>
      <p:sp>
        <p:nvSpPr>
          <p:cNvPr id="690" name="Google Shape;690;p17"/>
          <p:cNvSpPr/>
          <p:nvPr/>
        </p:nvSpPr>
        <p:spPr>
          <a:xfrm>
            <a:off x="3714750" y="737592"/>
            <a:ext cx="1714500" cy="489347"/>
          </a:xfrm>
          <a:prstGeom prst="rect">
            <a:avLst/>
          </a:prstGeom>
          <a:solidFill>
            <a:srgbClr val="00E676">
              <a:alpha val="14901"/>
            </a:srgbClr>
          </a:solidFill>
          <a:ln cap="flat" cmpd="sng" w="9525">
            <a:solidFill>
              <a:srgbClr val="FFFFFF">
                <a:alpha val="784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91" name="Google Shape;691;p17"/>
          <p:cNvPicPr preferRelativeResize="0"/>
          <p:nvPr/>
        </p:nvPicPr>
        <p:blipFill rotWithShape="1">
          <a:blip r:embed="rId6">
            <a:alphaModFix/>
          </a:blip>
          <a:srcRect b="0" l="0" r="0" t="0"/>
          <a:stretch/>
        </p:blipFill>
        <p:spPr>
          <a:xfrm>
            <a:off x="4518422" y="816173"/>
            <a:ext cx="107156" cy="107156"/>
          </a:xfrm>
          <a:prstGeom prst="rect">
            <a:avLst/>
          </a:prstGeom>
          <a:noFill/>
          <a:ln>
            <a:noFill/>
          </a:ln>
        </p:spPr>
      </p:pic>
      <p:sp>
        <p:nvSpPr>
          <p:cNvPr id="692" name="Google Shape;692;p17"/>
          <p:cNvSpPr/>
          <p:nvPr/>
        </p:nvSpPr>
        <p:spPr>
          <a:xfrm>
            <a:off x="4346972" y="944761"/>
            <a:ext cx="450056" cy="96441"/>
          </a:xfrm>
          <a:prstGeom prst="rect">
            <a:avLst/>
          </a:prstGeom>
          <a:noFill/>
          <a:ln>
            <a:noFill/>
          </a:ln>
        </p:spPr>
        <p:txBody>
          <a:bodyPr anchorCtr="0" anchor="t" bIns="0" lIns="0" spcFirstLastPara="1" rIns="0" wrap="square" tIns="0">
            <a:noAutofit/>
          </a:bodyPr>
          <a:lstStyle/>
          <a:p>
            <a:pPr indent="0" lvl="0" marL="0" marR="0" rtl="0" algn="l">
              <a:lnSpc>
                <a:spcPct val="131086"/>
              </a:lnSpc>
              <a:spcBef>
                <a:spcPts val="0"/>
              </a:spcBef>
              <a:spcAft>
                <a:spcPts val="0"/>
              </a:spcAft>
              <a:buClr>
                <a:srgbClr val="00E676"/>
              </a:buClr>
              <a:buSzPts val="534"/>
              <a:buFont typeface="Inter"/>
              <a:buNone/>
            </a:pPr>
            <a:r>
              <a:rPr b="1" i="0" lang="en-US" sz="534" u="none" cap="none" strike="noStrike">
                <a:solidFill>
                  <a:srgbClr val="00E676"/>
                </a:solidFill>
                <a:latin typeface="Inter"/>
                <a:ea typeface="Inter"/>
                <a:cs typeface="Inter"/>
                <a:sym typeface="Inter"/>
              </a:rPr>
              <a:t>OpAMP API</a:t>
            </a:r>
            <a:endParaRPr b="0" i="0" sz="534" u="none" cap="none" strike="noStrike">
              <a:solidFill>
                <a:schemeClr val="dk1"/>
              </a:solidFill>
              <a:latin typeface="Calibri"/>
              <a:ea typeface="Calibri"/>
              <a:cs typeface="Calibri"/>
              <a:sym typeface="Calibri"/>
            </a:endParaRPr>
          </a:p>
        </p:txBody>
      </p:sp>
      <p:sp>
        <p:nvSpPr>
          <p:cNvPr id="693" name="Google Shape;693;p17"/>
          <p:cNvSpPr/>
          <p:nvPr/>
        </p:nvSpPr>
        <p:spPr>
          <a:xfrm>
            <a:off x="4277320" y="1062633"/>
            <a:ext cx="589359" cy="85725"/>
          </a:xfrm>
          <a:prstGeom prst="rect">
            <a:avLst/>
          </a:prstGeom>
          <a:noFill/>
          <a:ln>
            <a:noFill/>
          </a:ln>
        </p:spPr>
        <p:txBody>
          <a:bodyPr anchorCtr="0" anchor="t" bIns="0" lIns="0" spcFirstLastPara="1" rIns="0" wrap="square" tIns="0">
            <a:noAutofit/>
          </a:bodyPr>
          <a:lstStyle/>
          <a:p>
            <a:pPr indent="0" lvl="0" marL="0" marR="0" rtl="0" algn="l">
              <a:lnSpc>
                <a:spcPct val="129589"/>
              </a:lnSpc>
              <a:spcBef>
                <a:spcPts val="0"/>
              </a:spcBef>
              <a:spcAft>
                <a:spcPts val="0"/>
              </a:spcAft>
              <a:buClr>
                <a:srgbClr val="00E676"/>
              </a:buClr>
              <a:buSzPts val="463"/>
              <a:buFont typeface="Roboto Mono"/>
              <a:buNone/>
            </a:pPr>
            <a:r>
              <a:rPr b="0" i="0" lang="en-US" sz="463" u="none" cap="none" strike="noStrike">
                <a:solidFill>
                  <a:srgbClr val="00E676"/>
                </a:solidFill>
                <a:latin typeface="Roboto Mono"/>
                <a:ea typeface="Roboto Mono"/>
                <a:cs typeface="Roboto Mono"/>
                <a:sym typeface="Roboto Mono"/>
              </a:rPr>
              <a:t>Secrets Manager</a:t>
            </a:r>
            <a:endParaRPr b="0" i="0" sz="463" u="none" cap="none" strike="noStrike">
              <a:solidFill>
                <a:schemeClr val="dk1"/>
              </a:solidFill>
              <a:latin typeface="Calibri"/>
              <a:ea typeface="Calibri"/>
              <a:cs typeface="Calibri"/>
              <a:sym typeface="Calibri"/>
            </a:endParaRPr>
          </a:p>
        </p:txBody>
      </p:sp>
      <p:sp>
        <p:nvSpPr>
          <p:cNvPr id="694" name="Google Shape;694;p17"/>
          <p:cNvSpPr/>
          <p:nvPr/>
        </p:nvSpPr>
        <p:spPr>
          <a:xfrm>
            <a:off x="5429250" y="737592"/>
            <a:ext cx="1714500" cy="489347"/>
          </a:xfrm>
          <a:prstGeom prst="rect">
            <a:avLst/>
          </a:prstGeom>
          <a:solidFill>
            <a:srgbClr val="E040FB">
              <a:alpha val="14901"/>
            </a:srgbClr>
          </a:solidFill>
          <a:ln cap="flat" cmpd="sng" w="9525">
            <a:solidFill>
              <a:srgbClr val="FFFFFF">
                <a:alpha val="784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95" name="Google Shape;695;p17"/>
          <p:cNvPicPr preferRelativeResize="0"/>
          <p:nvPr/>
        </p:nvPicPr>
        <p:blipFill rotWithShape="1">
          <a:blip r:embed="rId7">
            <a:alphaModFix/>
          </a:blip>
          <a:srcRect b="0" l="0" r="0" t="0"/>
          <a:stretch/>
        </p:blipFill>
        <p:spPr>
          <a:xfrm>
            <a:off x="6232922" y="816173"/>
            <a:ext cx="107156" cy="107156"/>
          </a:xfrm>
          <a:prstGeom prst="rect">
            <a:avLst/>
          </a:prstGeom>
          <a:noFill/>
          <a:ln>
            <a:noFill/>
          </a:ln>
        </p:spPr>
      </p:pic>
      <p:sp>
        <p:nvSpPr>
          <p:cNvPr id="696" name="Google Shape;696;p17"/>
          <p:cNvSpPr/>
          <p:nvPr/>
        </p:nvSpPr>
        <p:spPr>
          <a:xfrm>
            <a:off x="6038255" y="944761"/>
            <a:ext cx="496491" cy="96441"/>
          </a:xfrm>
          <a:prstGeom prst="rect">
            <a:avLst/>
          </a:prstGeom>
          <a:noFill/>
          <a:ln>
            <a:noFill/>
          </a:ln>
        </p:spPr>
        <p:txBody>
          <a:bodyPr anchorCtr="0" anchor="t" bIns="0" lIns="0" spcFirstLastPara="1" rIns="0" wrap="square" tIns="0">
            <a:noAutofit/>
          </a:bodyPr>
          <a:lstStyle/>
          <a:p>
            <a:pPr indent="0" lvl="0" marL="0" marR="0" rtl="0" algn="l">
              <a:lnSpc>
                <a:spcPct val="131086"/>
              </a:lnSpc>
              <a:spcBef>
                <a:spcPts val="0"/>
              </a:spcBef>
              <a:spcAft>
                <a:spcPts val="0"/>
              </a:spcAft>
              <a:buClr>
                <a:srgbClr val="E040FB"/>
              </a:buClr>
              <a:buSzPts val="534"/>
              <a:buFont typeface="Inter"/>
              <a:buNone/>
            </a:pPr>
            <a:r>
              <a:rPr b="1" i="0" lang="en-US" sz="534" u="none" cap="none" strike="noStrike">
                <a:solidFill>
                  <a:srgbClr val="E040FB"/>
                </a:solidFill>
                <a:latin typeface="Inter"/>
                <a:ea typeface="Inter"/>
                <a:cs typeface="Inter"/>
                <a:sym typeface="Inter"/>
              </a:rPr>
              <a:t>Vault Transit</a:t>
            </a:r>
            <a:endParaRPr b="0" i="0" sz="534" u="none" cap="none" strike="noStrike">
              <a:solidFill>
                <a:schemeClr val="dk1"/>
              </a:solidFill>
              <a:latin typeface="Calibri"/>
              <a:ea typeface="Calibri"/>
              <a:cs typeface="Calibri"/>
              <a:sym typeface="Calibri"/>
            </a:endParaRPr>
          </a:p>
        </p:txBody>
      </p:sp>
      <p:sp>
        <p:nvSpPr>
          <p:cNvPr id="697" name="Google Shape;697;p17"/>
          <p:cNvSpPr/>
          <p:nvPr/>
        </p:nvSpPr>
        <p:spPr>
          <a:xfrm>
            <a:off x="5952530" y="1062633"/>
            <a:ext cx="667941" cy="85725"/>
          </a:xfrm>
          <a:prstGeom prst="rect">
            <a:avLst/>
          </a:prstGeom>
          <a:noFill/>
          <a:ln>
            <a:noFill/>
          </a:ln>
        </p:spPr>
        <p:txBody>
          <a:bodyPr anchorCtr="0" anchor="t" bIns="0" lIns="0" spcFirstLastPara="1" rIns="0" wrap="square" tIns="0">
            <a:noAutofit/>
          </a:bodyPr>
          <a:lstStyle/>
          <a:p>
            <a:pPr indent="0" lvl="0" marL="0" marR="0" rtl="0" algn="l">
              <a:lnSpc>
                <a:spcPct val="129589"/>
              </a:lnSpc>
              <a:spcBef>
                <a:spcPts val="0"/>
              </a:spcBef>
              <a:spcAft>
                <a:spcPts val="0"/>
              </a:spcAft>
              <a:buClr>
                <a:srgbClr val="E040FB"/>
              </a:buClr>
              <a:buSzPts val="463"/>
              <a:buFont typeface="Roboto Mono"/>
              <a:buNone/>
            </a:pPr>
            <a:r>
              <a:rPr b="0" i="0" lang="en-US" sz="463" u="none" cap="none" strike="noStrike">
                <a:solidFill>
                  <a:srgbClr val="E040FB"/>
                </a:solidFill>
                <a:latin typeface="Roboto Mono"/>
                <a:ea typeface="Roboto Mono"/>
                <a:cs typeface="Roboto Mono"/>
                <a:sym typeface="Roboto Mono"/>
              </a:rPr>
              <a:t>Encryption Engine</a:t>
            </a:r>
            <a:endParaRPr b="0" i="0" sz="463" u="none" cap="none" strike="noStrike">
              <a:solidFill>
                <a:schemeClr val="dk1"/>
              </a:solidFill>
              <a:latin typeface="Calibri"/>
              <a:ea typeface="Calibri"/>
              <a:cs typeface="Calibri"/>
              <a:sym typeface="Calibri"/>
            </a:endParaRPr>
          </a:p>
        </p:txBody>
      </p:sp>
      <p:sp>
        <p:nvSpPr>
          <p:cNvPr id="698" name="Google Shape;698;p17"/>
          <p:cNvSpPr/>
          <p:nvPr/>
        </p:nvSpPr>
        <p:spPr>
          <a:xfrm>
            <a:off x="7143750" y="737592"/>
            <a:ext cx="1714500" cy="489347"/>
          </a:xfrm>
          <a:prstGeom prst="rect">
            <a:avLst/>
          </a:prstGeom>
          <a:solidFill>
            <a:srgbClr val="FFAB40">
              <a:alpha val="14901"/>
            </a:srgbClr>
          </a:solidFill>
          <a:ln cap="flat" cmpd="sng" w="9525">
            <a:solidFill>
              <a:srgbClr val="FFFFFF">
                <a:alpha val="784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99" name="Google Shape;699;p17"/>
          <p:cNvPicPr preferRelativeResize="0"/>
          <p:nvPr/>
        </p:nvPicPr>
        <p:blipFill rotWithShape="1">
          <a:blip r:embed="rId8">
            <a:alphaModFix/>
          </a:blip>
          <a:srcRect b="0" l="0" r="0" t="0"/>
          <a:stretch/>
        </p:blipFill>
        <p:spPr>
          <a:xfrm>
            <a:off x="7947422" y="809030"/>
            <a:ext cx="107156" cy="107156"/>
          </a:xfrm>
          <a:prstGeom prst="rect">
            <a:avLst/>
          </a:prstGeom>
          <a:noFill/>
          <a:ln>
            <a:noFill/>
          </a:ln>
        </p:spPr>
      </p:pic>
      <p:sp>
        <p:nvSpPr>
          <p:cNvPr id="700" name="Google Shape;700;p17"/>
          <p:cNvSpPr/>
          <p:nvPr/>
        </p:nvSpPr>
        <p:spPr>
          <a:xfrm>
            <a:off x="7818834" y="937617"/>
            <a:ext cx="364331" cy="96441"/>
          </a:xfrm>
          <a:prstGeom prst="rect">
            <a:avLst/>
          </a:prstGeom>
          <a:noFill/>
          <a:ln>
            <a:noFill/>
          </a:ln>
        </p:spPr>
        <p:txBody>
          <a:bodyPr anchorCtr="0" anchor="t" bIns="0" lIns="0" spcFirstLastPara="1" rIns="0" wrap="square" tIns="0">
            <a:noAutofit/>
          </a:bodyPr>
          <a:lstStyle/>
          <a:p>
            <a:pPr indent="0" lvl="0" marL="0" marR="0" rtl="0" algn="l">
              <a:lnSpc>
                <a:spcPct val="131086"/>
              </a:lnSpc>
              <a:spcBef>
                <a:spcPts val="0"/>
              </a:spcBef>
              <a:spcAft>
                <a:spcPts val="0"/>
              </a:spcAft>
              <a:buClr>
                <a:srgbClr val="FFAB40"/>
              </a:buClr>
              <a:buSzPts val="534"/>
              <a:buFont typeface="Inter"/>
              <a:buNone/>
            </a:pPr>
            <a:r>
              <a:rPr b="1" i="0" lang="en-US" sz="534" u="none" cap="none" strike="noStrike">
                <a:solidFill>
                  <a:srgbClr val="FFAB40"/>
                </a:solidFill>
                <a:latin typeface="Inter"/>
                <a:ea typeface="Inter"/>
                <a:cs typeface="Inter"/>
                <a:sym typeface="Inter"/>
              </a:rPr>
              <a:t>Service B</a:t>
            </a:r>
            <a:endParaRPr b="0" i="0" sz="534" u="none" cap="none" strike="noStrike">
              <a:solidFill>
                <a:schemeClr val="dk1"/>
              </a:solidFill>
              <a:latin typeface="Calibri"/>
              <a:ea typeface="Calibri"/>
              <a:cs typeface="Calibri"/>
              <a:sym typeface="Calibri"/>
            </a:endParaRPr>
          </a:p>
        </p:txBody>
      </p:sp>
      <p:sp>
        <p:nvSpPr>
          <p:cNvPr id="701" name="Google Shape;701;p17"/>
          <p:cNvSpPr/>
          <p:nvPr/>
        </p:nvSpPr>
        <p:spPr>
          <a:xfrm>
            <a:off x="7667030" y="1055489"/>
            <a:ext cx="667941" cy="85725"/>
          </a:xfrm>
          <a:prstGeom prst="rect">
            <a:avLst/>
          </a:prstGeom>
          <a:noFill/>
          <a:ln>
            <a:noFill/>
          </a:ln>
        </p:spPr>
        <p:txBody>
          <a:bodyPr anchorCtr="0" anchor="t" bIns="0" lIns="0" spcFirstLastPara="1" rIns="0" wrap="square" tIns="0">
            <a:noAutofit/>
          </a:bodyPr>
          <a:lstStyle/>
          <a:p>
            <a:pPr indent="0" lvl="0" marL="0" marR="0" rtl="0" algn="l">
              <a:lnSpc>
                <a:spcPct val="129589"/>
              </a:lnSpc>
              <a:spcBef>
                <a:spcPts val="0"/>
              </a:spcBef>
              <a:spcAft>
                <a:spcPts val="0"/>
              </a:spcAft>
              <a:buClr>
                <a:srgbClr val="FFAB40"/>
              </a:buClr>
              <a:buSzPts val="463"/>
              <a:buFont typeface="Roboto Mono"/>
              <a:buNone/>
            </a:pPr>
            <a:r>
              <a:rPr b="0" i="0" lang="en-US" sz="463" u="none" cap="none" strike="noStrike">
                <a:solidFill>
                  <a:srgbClr val="FFAB40"/>
                </a:solidFill>
                <a:latin typeface="Roboto Mono"/>
                <a:ea typeface="Roboto Mono"/>
                <a:cs typeface="Roboto Mono"/>
                <a:sym typeface="Roboto Mono"/>
              </a:rPr>
              <a:t>ASV-B (Recipient)</a:t>
            </a:r>
            <a:endParaRPr b="0" i="0" sz="463" u="none" cap="none" strike="noStrike">
              <a:solidFill>
                <a:schemeClr val="dk1"/>
              </a:solidFill>
              <a:latin typeface="Calibri"/>
              <a:ea typeface="Calibri"/>
              <a:cs typeface="Calibri"/>
              <a:sym typeface="Calibri"/>
            </a:endParaRPr>
          </a:p>
        </p:txBody>
      </p:sp>
      <p:sp>
        <p:nvSpPr>
          <p:cNvPr id="702" name="Google Shape;702;p17"/>
          <p:cNvSpPr/>
          <p:nvPr/>
        </p:nvSpPr>
        <p:spPr>
          <a:xfrm>
            <a:off x="285750" y="1212652"/>
            <a:ext cx="8572500" cy="4086225"/>
          </a:xfrm>
          <a:prstGeom prst="rect">
            <a:avLst/>
          </a:prstGeom>
          <a:solidFill>
            <a:srgbClr val="FFFFFF">
              <a:alpha val="117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17"/>
          <p:cNvSpPr/>
          <p:nvPr/>
        </p:nvSpPr>
        <p:spPr>
          <a:xfrm>
            <a:off x="8851106" y="1212652"/>
            <a:ext cx="7144" cy="4086225"/>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17"/>
          <p:cNvSpPr/>
          <p:nvPr/>
        </p:nvSpPr>
        <p:spPr>
          <a:xfrm>
            <a:off x="285750" y="1212652"/>
            <a:ext cx="7144" cy="4086225"/>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17"/>
          <p:cNvSpPr/>
          <p:nvPr/>
        </p:nvSpPr>
        <p:spPr>
          <a:xfrm>
            <a:off x="285750" y="1212652"/>
            <a:ext cx="8572500" cy="371475"/>
          </a:xfrm>
          <a:prstGeom prst="rect">
            <a:avLst/>
          </a:prstGeom>
          <a:solidFill>
            <a:srgbClr val="FFFFFF">
              <a:alpha val="19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17"/>
          <p:cNvSpPr/>
          <p:nvPr/>
        </p:nvSpPr>
        <p:spPr>
          <a:xfrm>
            <a:off x="285750" y="1576983"/>
            <a:ext cx="8572500" cy="714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17"/>
          <p:cNvSpPr/>
          <p:nvPr/>
        </p:nvSpPr>
        <p:spPr>
          <a:xfrm>
            <a:off x="1078706" y="1334095"/>
            <a:ext cx="128588" cy="128588"/>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17"/>
          <p:cNvSpPr/>
          <p:nvPr/>
        </p:nvSpPr>
        <p:spPr>
          <a:xfrm>
            <a:off x="1078706" y="1334095"/>
            <a:ext cx="128588" cy="128588"/>
          </a:xfrm>
          <a:prstGeom prst="rect">
            <a:avLst/>
          </a:prstGeom>
          <a:noFill/>
          <a:ln>
            <a:noFill/>
          </a:ln>
        </p:spPr>
        <p:txBody>
          <a:bodyPr anchorCtr="0" anchor="ctr" bIns="0" lIns="0" spcFirstLastPara="1" rIns="0" wrap="square" tIns="0">
            <a:noAutofit/>
          </a:bodyPr>
          <a:lstStyle/>
          <a:p>
            <a:pPr indent="0" lvl="0" marL="0" marR="0" rtl="0" algn="ctr">
              <a:lnSpc>
                <a:spcPct val="137931"/>
              </a:lnSpc>
              <a:spcBef>
                <a:spcPts val="0"/>
              </a:spcBef>
              <a:spcAft>
                <a:spcPts val="0"/>
              </a:spcAft>
              <a:buClr>
                <a:srgbClr val="0D1B2A"/>
              </a:buClr>
              <a:buSzPts val="435"/>
              <a:buFont typeface="Roboto Mono"/>
              <a:buNone/>
            </a:pPr>
            <a:r>
              <a:rPr b="1" i="0" lang="en-US" sz="435" u="none" cap="none" strike="noStrike">
                <a:solidFill>
                  <a:srgbClr val="0D1B2A"/>
                </a:solidFill>
                <a:latin typeface="Roboto Mono"/>
                <a:ea typeface="Roboto Mono"/>
                <a:cs typeface="Roboto Mono"/>
                <a:sym typeface="Roboto Mono"/>
              </a:rPr>
              <a:t>1</a:t>
            </a:r>
            <a:endParaRPr b="0" i="0" sz="435" u="none" cap="none" strike="noStrike">
              <a:solidFill>
                <a:schemeClr val="dk1"/>
              </a:solidFill>
              <a:latin typeface="Calibri"/>
              <a:ea typeface="Calibri"/>
              <a:cs typeface="Calibri"/>
              <a:sym typeface="Calibri"/>
            </a:endParaRPr>
          </a:p>
        </p:txBody>
      </p:sp>
      <p:sp>
        <p:nvSpPr>
          <p:cNvPr id="709" name="Google Shape;709;p17"/>
          <p:cNvSpPr/>
          <p:nvPr/>
        </p:nvSpPr>
        <p:spPr>
          <a:xfrm>
            <a:off x="1143000" y="1330523"/>
            <a:ext cx="1714500" cy="92869"/>
          </a:xfrm>
          <a:prstGeom prst="rect">
            <a:avLst/>
          </a:prstGeom>
          <a:noFill/>
          <a:ln>
            <a:noFill/>
          </a:ln>
        </p:spPr>
        <p:txBody>
          <a:bodyPr anchorCtr="0" anchor="t" bIns="0" lIns="0" spcFirstLastPara="1" rIns="0" wrap="square" tIns="0">
            <a:noAutofit/>
          </a:bodyPr>
          <a:lstStyle/>
          <a:p>
            <a:pPr indent="0" lvl="0" marL="0" marR="0" rtl="0" algn="ctr">
              <a:lnSpc>
                <a:spcPct val="135658"/>
              </a:lnSpc>
              <a:spcBef>
                <a:spcPts val="0"/>
              </a:spcBef>
              <a:spcAft>
                <a:spcPts val="0"/>
              </a:spcAft>
              <a:buClr>
                <a:srgbClr val="00E5FF"/>
              </a:buClr>
              <a:buSzPts val="516"/>
              <a:buFont typeface="Roboto Mono"/>
              <a:buNone/>
            </a:pPr>
            <a:r>
              <a:rPr b="0" i="0" lang="en-US" sz="516" u="none" cap="none" strike="noStrike">
                <a:solidFill>
                  <a:srgbClr val="00E5FF"/>
                </a:solidFill>
                <a:latin typeface="Roboto Mono"/>
                <a:ea typeface="Roboto Mono"/>
                <a:cs typeface="Roboto Mono"/>
                <a:sym typeface="Roboto Mono"/>
              </a:rPr>
              <a:t>encryptForRecipient</a:t>
            </a:r>
            <a:r>
              <a:rPr b="0" i="0" lang="en-US" sz="516" u="none" cap="none" strike="noStrike">
                <a:solidFill>
                  <a:srgbClr val="B0BEC5"/>
                </a:solidFill>
                <a:latin typeface="Roboto Mono"/>
                <a:ea typeface="Roboto Mono"/>
                <a:cs typeface="Roboto Mono"/>
                <a:sym typeface="Roboto Mono"/>
              </a:rPr>
              <a:t>(data, "ASV-B")</a:t>
            </a:r>
            <a:endParaRPr b="0" i="0" sz="516" u="none" cap="none" strike="noStrike">
              <a:solidFill>
                <a:schemeClr val="dk1"/>
              </a:solidFill>
              <a:latin typeface="Calibri"/>
              <a:ea typeface="Calibri"/>
              <a:cs typeface="Calibri"/>
              <a:sym typeface="Calibri"/>
            </a:endParaRPr>
          </a:p>
        </p:txBody>
      </p:sp>
      <p:sp>
        <p:nvSpPr>
          <p:cNvPr id="710" name="Google Shape;710;p17"/>
          <p:cNvSpPr/>
          <p:nvPr/>
        </p:nvSpPr>
        <p:spPr>
          <a:xfrm>
            <a:off x="1143000" y="1451967"/>
            <a:ext cx="1714500" cy="14288"/>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17"/>
          <p:cNvSpPr/>
          <p:nvPr/>
        </p:nvSpPr>
        <p:spPr>
          <a:xfrm>
            <a:off x="2793206" y="1701998"/>
            <a:ext cx="128588" cy="128588"/>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17"/>
          <p:cNvSpPr/>
          <p:nvPr/>
        </p:nvSpPr>
        <p:spPr>
          <a:xfrm>
            <a:off x="2793206" y="1701998"/>
            <a:ext cx="128588" cy="128588"/>
          </a:xfrm>
          <a:prstGeom prst="rect">
            <a:avLst/>
          </a:prstGeom>
          <a:noFill/>
          <a:ln>
            <a:noFill/>
          </a:ln>
        </p:spPr>
        <p:txBody>
          <a:bodyPr anchorCtr="0" anchor="ctr" bIns="0" lIns="0" spcFirstLastPara="1" rIns="0" wrap="square" tIns="0">
            <a:noAutofit/>
          </a:bodyPr>
          <a:lstStyle/>
          <a:p>
            <a:pPr indent="0" lvl="0" marL="0" marR="0" rtl="0" algn="ctr">
              <a:lnSpc>
                <a:spcPct val="137931"/>
              </a:lnSpc>
              <a:spcBef>
                <a:spcPts val="0"/>
              </a:spcBef>
              <a:spcAft>
                <a:spcPts val="0"/>
              </a:spcAft>
              <a:buClr>
                <a:srgbClr val="0D1B2A"/>
              </a:buClr>
              <a:buSzPts val="435"/>
              <a:buFont typeface="Roboto Mono"/>
              <a:buNone/>
            </a:pPr>
            <a:r>
              <a:rPr b="1" i="0" lang="en-US" sz="435" u="none" cap="none" strike="noStrike">
                <a:solidFill>
                  <a:srgbClr val="0D1B2A"/>
                </a:solidFill>
                <a:latin typeface="Roboto Mono"/>
                <a:ea typeface="Roboto Mono"/>
                <a:cs typeface="Roboto Mono"/>
                <a:sym typeface="Roboto Mono"/>
              </a:rPr>
              <a:t>2</a:t>
            </a:r>
            <a:endParaRPr b="0" i="0" sz="435" u="none" cap="none" strike="noStrike">
              <a:solidFill>
                <a:schemeClr val="dk1"/>
              </a:solidFill>
              <a:latin typeface="Calibri"/>
              <a:ea typeface="Calibri"/>
              <a:cs typeface="Calibri"/>
              <a:sym typeface="Calibri"/>
            </a:endParaRPr>
          </a:p>
        </p:txBody>
      </p:sp>
      <p:sp>
        <p:nvSpPr>
          <p:cNvPr id="713" name="Google Shape;713;p17"/>
          <p:cNvSpPr/>
          <p:nvPr/>
        </p:nvSpPr>
        <p:spPr>
          <a:xfrm>
            <a:off x="2857500" y="1698427"/>
            <a:ext cx="1714500" cy="92869"/>
          </a:xfrm>
          <a:prstGeom prst="rect">
            <a:avLst/>
          </a:prstGeom>
          <a:noFill/>
          <a:ln>
            <a:noFill/>
          </a:ln>
        </p:spPr>
        <p:txBody>
          <a:bodyPr anchorCtr="0" anchor="t" bIns="0" lIns="0" spcFirstLastPara="1" rIns="0" wrap="square" tIns="0">
            <a:noAutofit/>
          </a:bodyPr>
          <a:lstStyle/>
          <a:p>
            <a:pPr indent="0" lvl="0" marL="0" marR="0" rtl="0" algn="ctr">
              <a:lnSpc>
                <a:spcPct val="135658"/>
              </a:lnSpc>
              <a:spcBef>
                <a:spcPts val="0"/>
              </a:spcBef>
              <a:spcAft>
                <a:spcPts val="0"/>
              </a:spcAft>
              <a:buClr>
                <a:srgbClr val="B0BEC5"/>
              </a:buClr>
              <a:buSzPts val="516"/>
              <a:buFont typeface="Roboto Mono"/>
              <a:buNone/>
            </a:pPr>
            <a:r>
              <a:rPr b="0" i="0" lang="en-US" sz="516" u="none" cap="none" strike="noStrike">
                <a:solidFill>
                  <a:srgbClr val="B0BEC5"/>
                </a:solidFill>
                <a:latin typeface="Roboto Mono"/>
                <a:ea typeface="Roboto Mono"/>
                <a:cs typeface="Roboto Mono"/>
                <a:sym typeface="Roboto Mono"/>
              </a:rPr>
              <a:t>POST </a:t>
            </a:r>
            <a:r>
              <a:rPr b="0" i="0" lang="en-US" sz="516" u="none" cap="none" strike="noStrike">
                <a:solidFill>
                  <a:srgbClr val="00E5FF"/>
                </a:solidFill>
                <a:latin typeface="Roboto Mono"/>
                <a:ea typeface="Roboto Mono"/>
                <a:cs typeface="Roboto Mono"/>
                <a:sym typeface="Roboto Mono"/>
              </a:rPr>
              <a:t>/crypto/cross-asv-grant</a:t>
            </a:r>
            <a:r>
              <a:rPr b="0" i="0" lang="en-US" sz="516" u="none" cap="none" strike="noStrike">
                <a:solidFill>
                  <a:srgbClr val="B0BEC5"/>
                </a:solidFill>
                <a:latin typeface="Roboto Mono"/>
                <a:ea typeface="Roboto Mono"/>
                <a:cs typeface="Roboto Mono"/>
                <a:sym typeface="Roboto Mono"/>
              </a:rPr>
              <a:t> [mTLS]</a:t>
            </a:r>
            <a:endParaRPr b="0" i="0" sz="516" u="none" cap="none" strike="noStrike">
              <a:solidFill>
                <a:schemeClr val="dk1"/>
              </a:solidFill>
              <a:latin typeface="Calibri"/>
              <a:ea typeface="Calibri"/>
              <a:cs typeface="Calibri"/>
              <a:sym typeface="Calibri"/>
            </a:endParaRPr>
          </a:p>
        </p:txBody>
      </p:sp>
      <p:sp>
        <p:nvSpPr>
          <p:cNvPr id="714" name="Google Shape;714;p17"/>
          <p:cNvSpPr/>
          <p:nvPr/>
        </p:nvSpPr>
        <p:spPr>
          <a:xfrm>
            <a:off x="2857500" y="1819870"/>
            <a:ext cx="1714500" cy="14288"/>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17"/>
          <p:cNvSpPr/>
          <p:nvPr/>
        </p:nvSpPr>
        <p:spPr>
          <a:xfrm>
            <a:off x="285750" y="1955602"/>
            <a:ext cx="8572500" cy="371475"/>
          </a:xfrm>
          <a:prstGeom prst="rect">
            <a:avLst/>
          </a:prstGeom>
          <a:solidFill>
            <a:srgbClr val="FFFFFF">
              <a:alpha val="19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17"/>
          <p:cNvSpPr/>
          <p:nvPr/>
        </p:nvSpPr>
        <p:spPr>
          <a:xfrm>
            <a:off x="285750" y="2319933"/>
            <a:ext cx="8572500" cy="714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17"/>
          <p:cNvSpPr/>
          <p:nvPr/>
        </p:nvSpPr>
        <p:spPr>
          <a:xfrm>
            <a:off x="4507706" y="2077045"/>
            <a:ext cx="128588" cy="128588"/>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17"/>
          <p:cNvSpPr/>
          <p:nvPr/>
        </p:nvSpPr>
        <p:spPr>
          <a:xfrm>
            <a:off x="4507706" y="2077045"/>
            <a:ext cx="128588" cy="128588"/>
          </a:xfrm>
          <a:prstGeom prst="rect">
            <a:avLst/>
          </a:prstGeom>
          <a:noFill/>
          <a:ln>
            <a:noFill/>
          </a:ln>
        </p:spPr>
        <p:txBody>
          <a:bodyPr anchorCtr="0" anchor="ctr" bIns="0" lIns="0" spcFirstLastPara="1" rIns="0" wrap="square" tIns="0">
            <a:noAutofit/>
          </a:bodyPr>
          <a:lstStyle/>
          <a:p>
            <a:pPr indent="0" lvl="0" marL="0" marR="0" rtl="0" algn="ctr">
              <a:lnSpc>
                <a:spcPct val="137931"/>
              </a:lnSpc>
              <a:spcBef>
                <a:spcPts val="0"/>
              </a:spcBef>
              <a:spcAft>
                <a:spcPts val="0"/>
              </a:spcAft>
              <a:buClr>
                <a:srgbClr val="0D1B2A"/>
              </a:buClr>
              <a:buSzPts val="435"/>
              <a:buFont typeface="Roboto Mono"/>
              <a:buNone/>
            </a:pPr>
            <a:r>
              <a:rPr b="1" i="0" lang="en-US" sz="435" u="none" cap="none" strike="noStrike">
                <a:solidFill>
                  <a:srgbClr val="0D1B2A"/>
                </a:solidFill>
                <a:latin typeface="Roboto Mono"/>
                <a:ea typeface="Roboto Mono"/>
                <a:cs typeface="Roboto Mono"/>
                <a:sym typeface="Roboto Mono"/>
              </a:rPr>
              <a:t>3</a:t>
            </a:r>
            <a:endParaRPr b="0" i="0" sz="435" u="none" cap="none" strike="noStrike">
              <a:solidFill>
                <a:schemeClr val="dk1"/>
              </a:solidFill>
              <a:latin typeface="Calibri"/>
              <a:ea typeface="Calibri"/>
              <a:cs typeface="Calibri"/>
              <a:sym typeface="Calibri"/>
            </a:endParaRPr>
          </a:p>
        </p:txBody>
      </p:sp>
      <p:sp>
        <p:nvSpPr>
          <p:cNvPr id="719" name="Google Shape;719;p17"/>
          <p:cNvSpPr/>
          <p:nvPr/>
        </p:nvSpPr>
        <p:spPr>
          <a:xfrm>
            <a:off x="4829175" y="2094905"/>
            <a:ext cx="1971675" cy="92869"/>
          </a:xfrm>
          <a:prstGeom prst="rect">
            <a:avLst/>
          </a:prstGeom>
          <a:noFill/>
          <a:ln>
            <a:noFill/>
          </a:ln>
        </p:spPr>
        <p:txBody>
          <a:bodyPr anchorCtr="0" anchor="t" bIns="0" lIns="0" spcFirstLastPara="1" rIns="0" wrap="square" tIns="0">
            <a:noAutofit/>
          </a:bodyPr>
          <a:lstStyle/>
          <a:p>
            <a:pPr indent="0" lvl="0" marL="0" marR="0" rtl="0" algn="l">
              <a:lnSpc>
                <a:spcPct val="135658"/>
              </a:lnSpc>
              <a:spcBef>
                <a:spcPts val="0"/>
              </a:spcBef>
              <a:spcAft>
                <a:spcPts val="0"/>
              </a:spcAft>
              <a:buClr>
                <a:srgbClr val="FFAB40"/>
              </a:buClr>
              <a:buSzPts val="516"/>
              <a:buFont typeface="Roboto Mono"/>
              <a:buNone/>
            </a:pPr>
            <a:r>
              <a:rPr b="0" i="0" lang="en-US" sz="516" u="none" cap="none" strike="noStrike">
                <a:solidFill>
                  <a:srgbClr val="FFAB40"/>
                </a:solidFill>
                <a:latin typeface="Roboto Mono"/>
                <a:ea typeface="Roboto Mono"/>
                <a:cs typeface="Roboto Mono"/>
                <a:sym typeface="Roboto Mono"/>
              </a:rPr>
              <a:t>Validate ASV-A policy; create grant (TTL: 1hr)</a:t>
            </a:r>
            <a:endParaRPr b="0" i="0" sz="516" u="none" cap="none" strike="noStrike">
              <a:solidFill>
                <a:schemeClr val="dk1"/>
              </a:solidFill>
              <a:latin typeface="Calibri"/>
              <a:ea typeface="Calibri"/>
              <a:cs typeface="Calibri"/>
              <a:sym typeface="Calibri"/>
            </a:endParaRPr>
          </a:p>
        </p:txBody>
      </p:sp>
      <p:sp>
        <p:nvSpPr>
          <p:cNvPr id="720" name="Google Shape;720;p17"/>
          <p:cNvSpPr/>
          <p:nvPr/>
        </p:nvSpPr>
        <p:spPr>
          <a:xfrm>
            <a:off x="4507706" y="2444948"/>
            <a:ext cx="128588" cy="128588"/>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17"/>
          <p:cNvSpPr/>
          <p:nvPr/>
        </p:nvSpPr>
        <p:spPr>
          <a:xfrm>
            <a:off x="4507706" y="2444948"/>
            <a:ext cx="128588" cy="128588"/>
          </a:xfrm>
          <a:prstGeom prst="rect">
            <a:avLst/>
          </a:prstGeom>
          <a:noFill/>
          <a:ln>
            <a:noFill/>
          </a:ln>
        </p:spPr>
        <p:txBody>
          <a:bodyPr anchorCtr="0" anchor="ctr" bIns="0" lIns="0" spcFirstLastPara="1" rIns="0" wrap="square" tIns="0">
            <a:noAutofit/>
          </a:bodyPr>
          <a:lstStyle/>
          <a:p>
            <a:pPr indent="0" lvl="0" marL="0" marR="0" rtl="0" algn="ctr">
              <a:lnSpc>
                <a:spcPct val="137931"/>
              </a:lnSpc>
              <a:spcBef>
                <a:spcPts val="0"/>
              </a:spcBef>
              <a:spcAft>
                <a:spcPts val="0"/>
              </a:spcAft>
              <a:buClr>
                <a:srgbClr val="0D1B2A"/>
              </a:buClr>
              <a:buSzPts val="435"/>
              <a:buFont typeface="Roboto Mono"/>
              <a:buNone/>
            </a:pPr>
            <a:r>
              <a:rPr b="1" i="0" lang="en-US" sz="435" u="none" cap="none" strike="noStrike">
                <a:solidFill>
                  <a:srgbClr val="0D1B2A"/>
                </a:solidFill>
                <a:latin typeface="Roboto Mono"/>
                <a:ea typeface="Roboto Mono"/>
                <a:cs typeface="Roboto Mono"/>
                <a:sym typeface="Roboto Mono"/>
              </a:rPr>
              <a:t>4</a:t>
            </a:r>
            <a:endParaRPr b="0" i="0" sz="435" u="none" cap="none" strike="noStrike">
              <a:solidFill>
                <a:schemeClr val="dk1"/>
              </a:solidFill>
              <a:latin typeface="Calibri"/>
              <a:ea typeface="Calibri"/>
              <a:cs typeface="Calibri"/>
              <a:sym typeface="Calibri"/>
            </a:endParaRPr>
          </a:p>
        </p:txBody>
      </p:sp>
      <p:sp>
        <p:nvSpPr>
          <p:cNvPr id="722" name="Google Shape;722;p17"/>
          <p:cNvSpPr/>
          <p:nvPr/>
        </p:nvSpPr>
        <p:spPr>
          <a:xfrm>
            <a:off x="4572000" y="2441377"/>
            <a:ext cx="1714500" cy="92869"/>
          </a:xfrm>
          <a:prstGeom prst="rect">
            <a:avLst/>
          </a:prstGeom>
          <a:noFill/>
          <a:ln>
            <a:noFill/>
          </a:ln>
        </p:spPr>
        <p:txBody>
          <a:bodyPr anchorCtr="0" anchor="t" bIns="0" lIns="0" spcFirstLastPara="1" rIns="0" wrap="square" tIns="0">
            <a:noAutofit/>
          </a:bodyPr>
          <a:lstStyle/>
          <a:p>
            <a:pPr indent="0" lvl="0" marL="0" marR="0" rtl="0" algn="ctr">
              <a:lnSpc>
                <a:spcPct val="135658"/>
              </a:lnSpc>
              <a:spcBef>
                <a:spcPts val="0"/>
              </a:spcBef>
              <a:spcAft>
                <a:spcPts val="0"/>
              </a:spcAft>
              <a:buClr>
                <a:srgbClr val="B0BEC5"/>
              </a:buClr>
              <a:buSzPts val="516"/>
              <a:buFont typeface="Roboto Mono"/>
              <a:buNone/>
            </a:pPr>
            <a:r>
              <a:rPr b="0" i="0" lang="en-US" sz="516" u="none" cap="none" strike="noStrike">
                <a:solidFill>
                  <a:srgbClr val="B0BEC5"/>
                </a:solidFill>
                <a:latin typeface="Roboto Mono"/>
                <a:ea typeface="Roboto Mono"/>
                <a:cs typeface="Roboto Mono"/>
                <a:sym typeface="Roboto Mono"/>
              </a:rPr>
              <a:t>transit/encrypt (DEK, shared_KEK)</a:t>
            </a:r>
            <a:endParaRPr b="0" i="0" sz="516" u="none" cap="none" strike="noStrike">
              <a:solidFill>
                <a:schemeClr val="dk1"/>
              </a:solidFill>
              <a:latin typeface="Calibri"/>
              <a:ea typeface="Calibri"/>
              <a:cs typeface="Calibri"/>
              <a:sym typeface="Calibri"/>
            </a:endParaRPr>
          </a:p>
        </p:txBody>
      </p:sp>
      <p:sp>
        <p:nvSpPr>
          <p:cNvPr id="723" name="Google Shape;723;p17"/>
          <p:cNvSpPr/>
          <p:nvPr/>
        </p:nvSpPr>
        <p:spPr>
          <a:xfrm>
            <a:off x="4572000" y="2562820"/>
            <a:ext cx="1714500" cy="14288"/>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17"/>
          <p:cNvSpPr/>
          <p:nvPr/>
        </p:nvSpPr>
        <p:spPr>
          <a:xfrm>
            <a:off x="285750" y="2698552"/>
            <a:ext cx="8572500" cy="371475"/>
          </a:xfrm>
          <a:prstGeom prst="rect">
            <a:avLst/>
          </a:prstGeom>
          <a:solidFill>
            <a:srgbClr val="FFFFFF">
              <a:alpha val="19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17"/>
          <p:cNvSpPr/>
          <p:nvPr/>
        </p:nvSpPr>
        <p:spPr>
          <a:xfrm>
            <a:off x="285750" y="3062883"/>
            <a:ext cx="8572500" cy="714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17"/>
          <p:cNvSpPr/>
          <p:nvPr/>
        </p:nvSpPr>
        <p:spPr>
          <a:xfrm>
            <a:off x="6222206" y="2819995"/>
            <a:ext cx="128588" cy="128588"/>
          </a:xfrm>
          <a:prstGeom prst="rect">
            <a:avLst/>
          </a:prstGeom>
          <a:solidFill>
            <a:srgbClr val="00E6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17"/>
          <p:cNvSpPr/>
          <p:nvPr/>
        </p:nvSpPr>
        <p:spPr>
          <a:xfrm>
            <a:off x="6222206" y="2819995"/>
            <a:ext cx="128588" cy="128588"/>
          </a:xfrm>
          <a:prstGeom prst="rect">
            <a:avLst/>
          </a:prstGeom>
          <a:noFill/>
          <a:ln>
            <a:noFill/>
          </a:ln>
        </p:spPr>
        <p:txBody>
          <a:bodyPr anchorCtr="0" anchor="ctr" bIns="0" lIns="0" spcFirstLastPara="1" rIns="0" wrap="square" tIns="0">
            <a:noAutofit/>
          </a:bodyPr>
          <a:lstStyle/>
          <a:p>
            <a:pPr indent="0" lvl="0" marL="0" marR="0" rtl="0" algn="ctr">
              <a:lnSpc>
                <a:spcPct val="137931"/>
              </a:lnSpc>
              <a:spcBef>
                <a:spcPts val="0"/>
              </a:spcBef>
              <a:spcAft>
                <a:spcPts val="0"/>
              </a:spcAft>
              <a:buClr>
                <a:srgbClr val="0D1B2A"/>
              </a:buClr>
              <a:buSzPts val="435"/>
              <a:buFont typeface="Roboto Mono"/>
              <a:buNone/>
            </a:pPr>
            <a:r>
              <a:rPr b="1" i="0" lang="en-US" sz="435" u="none" cap="none" strike="noStrike">
                <a:solidFill>
                  <a:srgbClr val="0D1B2A"/>
                </a:solidFill>
                <a:latin typeface="Roboto Mono"/>
                <a:ea typeface="Roboto Mono"/>
                <a:cs typeface="Roboto Mono"/>
                <a:sym typeface="Roboto Mono"/>
              </a:rPr>
              <a:t>5</a:t>
            </a:r>
            <a:endParaRPr b="0" i="0" sz="435" u="none" cap="none" strike="noStrike">
              <a:solidFill>
                <a:schemeClr val="dk1"/>
              </a:solidFill>
              <a:latin typeface="Calibri"/>
              <a:ea typeface="Calibri"/>
              <a:cs typeface="Calibri"/>
              <a:sym typeface="Calibri"/>
            </a:endParaRPr>
          </a:p>
        </p:txBody>
      </p:sp>
      <p:sp>
        <p:nvSpPr>
          <p:cNvPr id="728" name="Google Shape;728;p17"/>
          <p:cNvSpPr/>
          <p:nvPr/>
        </p:nvSpPr>
        <p:spPr>
          <a:xfrm>
            <a:off x="3950494" y="2814638"/>
            <a:ext cx="1243013" cy="94655"/>
          </a:xfrm>
          <a:prstGeom prst="rect">
            <a:avLst/>
          </a:prstGeom>
          <a:noFill/>
          <a:ln>
            <a:noFill/>
          </a:ln>
        </p:spPr>
        <p:txBody>
          <a:bodyPr anchorCtr="0" anchor="t" bIns="0" lIns="0" spcFirstLastPara="1" rIns="0" wrap="square" tIns="0">
            <a:noAutofit/>
          </a:bodyPr>
          <a:lstStyle/>
          <a:p>
            <a:pPr indent="0" lvl="0" marL="0" marR="0" rtl="0" algn="ctr">
              <a:lnSpc>
                <a:spcPct val="135658"/>
              </a:lnSpc>
              <a:spcBef>
                <a:spcPts val="0"/>
              </a:spcBef>
              <a:spcAft>
                <a:spcPts val="0"/>
              </a:spcAft>
              <a:buClr>
                <a:srgbClr val="00E676"/>
              </a:buClr>
              <a:buSzPts val="516"/>
              <a:buFont typeface="Roboto Mono"/>
              <a:buNone/>
            </a:pPr>
            <a:r>
              <a:rPr b="0" i="0" lang="en-US" sz="516" u="none" cap="none" strike="noStrike">
                <a:solidFill>
                  <a:srgbClr val="00E676"/>
                </a:solidFill>
                <a:latin typeface="Roboto Mono"/>
                <a:ea typeface="Roboto Mono"/>
                <a:cs typeface="Roboto Mono"/>
                <a:sym typeface="Roboto Mono"/>
              </a:rPr>
              <a:t>← encrypted_dek + grant_token</a:t>
            </a:r>
            <a:endParaRPr b="0" i="0" sz="516" u="none" cap="none" strike="noStrike">
              <a:solidFill>
                <a:schemeClr val="dk1"/>
              </a:solidFill>
              <a:latin typeface="Calibri"/>
              <a:ea typeface="Calibri"/>
              <a:cs typeface="Calibri"/>
              <a:sym typeface="Calibri"/>
            </a:endParaRPr>
          </a:p>
        </p:txBody>
      </p:sp>
      <p:sp>
        <p:nvSpPr>
          <p:cNvPr id="729" name="Google Shape;729;p17"/>
          <p:cNvSpPr/>
          <p:nvPr/>
        </p:nvSpPr>
        <p:spPr>
          <a:xfrm>
            <a:off x="2857500" y="2937867"/>
            <a:ext cx="3429000" cy="14288"/>
          </a:xfrm>
          <a:prstGeom prst="rect">
            <a:avLst/>
          </a:prstGeom>
          <a:solidFill>
            <a:srgbClr val="00E6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17"/>
          <p:cNvSpPr/>
          <p:nvPr/>
        </p:nvSpPr>
        <p:spPr>
          <a:xfrm>
            <a:off x="2793206" y="3187898"/>
            <a:ext cx="128588" cy="128588"/>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17"/>
          <p:cNvSpPr/>
          <p:nvPr/>
        </p:nvSpPr>
        <p:spPr>
          <a:xfrm>
            <a:off x="2793206" y="3187898"/>
            <a:ext cx="128588" cy="128588"/>
          </a:xfrm>
          <a:prstGeom prst="rect">
            <a:avLst/>
          </a:prstGeom>
          <a:noFill/>
          <a:ln>
            <a:noFill/>
          </a:ln>
        </p:spPr>
        <p:txBody>
          <a:bodyPr anchorCtr="0" anchor="ctr" bIns="0" lIns="0" spcFirstLastPara="1" rIns="0" wrap="square" tIns="0">
            <a:noAutofit/>
          </a:bodyPr>
          <a:lstStyle/>
          <a:p>
            <a:pPr indent="0" lvl="0" marL="0" marR="0" rtl="0" algn="ctr">
              <a:lnSpc>
                <a:spcPct val="137931"/>
              </a:lnSpc>
              <a:spcBef>
                <a:spcPts val="0"/>
              </a:spcBef>
              <a:spcAft>
                <a:spcPts val="0"/>
              </a:spcAft>
              <a:buClr>
                <a:srgbClr val="0D1B2A"/>
              </a:buClr>
              <a:buSzPts val="435"/>
              <a:buFont typeface="Roboto Mono"/>
              <a:buNone/>
            </a:pPr>
            <a:r>
              <a:rPr b="1" i="0" lang="en-US" sz="435" u="none" cap="none" strike="noStrike">
                <a:solidFill>
                  <a:srgbClr val="0D1B2A"/>
                </a:solidFill>
                <a:latin typeface="Roboto Mono"/>
                <a:ea typeface="Roboto Mono"/>
                <a:cs typeface="Roboto Mono"/>
                <a:sym typeface="Roboto Mono"/>
              </a:rPr>
              <a:t>6</a:t>
            </a:r>
            <a:endParaRPr b="0" i="0" sz="435" u="none" cap="none" strike="noStrike">
              <a:solidFill>
                <a:schemeClr val="dk1"/>
              </a:solidFill>
              <a:latin typeface="Calibri"/>
              <a:ea typeface="Calibri"/>
              <a:cs typeface="Calibri"/>
              <a:sym typeface="Calibri"/>
            </a:endParaRPr>
          </a:p>
        </p:txBody>
      </p:sp>
      <p:sp>
        <p:nvSpPr>
          <p:cNvPr id="732" name="Google Shape;732;p17"/>
          <p:cNvSpPr/>
          <p:nvPr/>
        </p:nvSpPr>
        <p:spPr>
          <a:xfrm>
            <a:off x="3114675" y="3205758"/>
            <a:ext cx="2143125" cy="92869"/>
          </a:xfrm>
          <a:prstGeom prst="rect">
            <a:avLst/>
          </a:prstGeom>
          <a:noFill/>
          <a:ln>
            <a:noFill/>
          </a:ln>
        </p:spPr>
        <p:txBody>
          <a:bodyPr anchorCtr="0" anchor="t" bIns="0" lIns="0" spcFirstLastPara="1" rIns="0" wrap="square" tIns="0">
            <a:noAutofit/>
          </a:bodyPr>
          <a:lstStyle/>
          <a:p>
            <a:pPr indent="0" lvl="0" marL="0" marR="0" rtl="0" algn="l">
              <a:lnSpc>
                <a:spcPct val="135658"/>
              </a:lnSpc>
              <a:spcBef>
                <a:spcPts val="0"/>
              </a:spcBef>
              <a:spcAft>
                <a:spcPts val="0"/>
              </a:spcAft>
              <a:buClr>
                <a:srgbClr val="FFAB40"/>
              </a:buClr>
              <a:buSzPts val="516"/>
              <a:buFont typeface="Roboto Mono"/>
              <a:buNone/>
            </a:pPr>
            <a:r>
              <a:rPr b="0" i="0" lang="en-US" sz="516" u="none" cap="none" strike="noStrike">
                <a:solidFill>
                  <a:srgbClr val="FFAB40"/>
                </a:solidFill>
                <a:latin typeface="Roboto Mono"/>
                <a:ea typeface="Roboto Mono"/>
                <a:cs typeface="Roboto Mono"/>
                <a:sym typeface="Roboto Mono"/>
              </a:rPr>
              <a:t>AES-256-GCM encrypt data; package with grant_token</a:t>
            </a:r>
            <a:endParaRPr b="0" i="0" sz="516" u="none" cap="none" strike="noStrike">
              <a:solidFill>
                <a:schemeClr val="dk1"/>
              </a:solidFill>
              <a:latin typeface="Calibri"/>
              <a:ea typeface="Calibri"/>
              <a:cs typeface="Calibri"/>
              <a:sym typeface="Calibri"/>
            </a:endParaRPr>
          </a:p>
        </p:txBody>
      </p:sp>
      <p:sp>
        <p:nvSpPr>
          <p:cNvPr id="733" name="Google Shape;733;p17"/>
          <p:cNvSpPr/>
          <p:nvPr/>
        </p:nvSpPr>
        <p:spPr>
          <a:xfrm>
            <a:off x="285750" y="3441502"/>
            <a:ext cx="8572500" cy="371475"/>
          </a:xfrm>
          <a:prstGeom prst="rect">
            <a:avLst/>
          </a:prstGeom>
          <a:solidFill>
            <a:srgbClr val="FFFFFF">
              <a:alpha val="19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17"/>
          <p:cNvSpPr/>
          <p:nvPr/>
        </p:nvSpPr>
        <p:spPr>
          <a:xfrm>
            <a:off x="285750" y="3805833"/>
            <a:ext cx="8572500" cy="714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17"/>
          <p:cNvSpPr/>
          <p:nvPr/>
        </p:nvSpPr>
        <p:spPr>
          <a:xfrm>
            <a:off x="2793206" y="3562945"/>
            <a:ext cx="128588" cy="128588"/>
          </a:xfrm>
          <a:prstGeom prst="rect">
            <a:avLst/>
          </a:prstGeom>
          <a:solidFill>
            <a:srgbClr val="00E6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17"/>
          <p:cNvSpPr/>
          <p:nvPr/>
        </p:nvSpPr>
        <p:spPr>
          <a:xfrm>
            <a:off x="2793206" y="3562945"/>
            <a:ext cx="128588" cy="128588"/>
          </a:xfrm>
          <a:prstGeom prst="rect">
            <a:avLst/>
          </a:prstGeom>
          <a:noFill/>
          <a:ln>
            <a:noFill/>
          </a:ln>
        </p:spPr>
        <p:txBody>
          <a:bodyPr anchorCtr="0" anchor="ctr" bIns="0" lIns="0" spcFirstLastPara="1" rIns="0" wrap="square" tIns="0">
            <a:noAutofit/>
          </a:bodyPr>
          <a:lstStyle/>
          <a:p>
            <a:pPr indent="0" lvl="0" marL="0" marR="0" rtl="0" algn="ctr">
              <a:lnSpc>
                <a:spcPct val="137931"/>
              </a:lnSpc>
              <a:spcBef>
                <a:spcPts val="0"/>
              </a:spcBef>
              <a:spcAft>
                <a:spcPts val="0"/>
              </a:spcAft>
              <a:buClr>
                <a:srgbClr val="0D1B2A"/>
              </a:buClr>
              <a:buSzPts val="435"/>
              <a:buFont typeface="Roboto Mono"/>
              <a:buNone/>
            </a:pPr>
            <a:r>
              <a:rPr b="1" i="0" lang="en-US" sz="435" u="none" cap="none" strike="noStrike">
                <a:solidFill>
                  <a:srgbClr val="0D1B2A"/>
                </a:solidFill>
                <a:latin typeface="Roboto Mono"/>
                <a:ea typeface="Roboto Mono"/>
                <a:cs typeface="Roboto Mono"/>
                <a:sym typeface="Roboto Mono"/>
              </a:rPr>
              <a:t>7</a:t>
            </a:r>
            <a:endParaRPr b="0" i="0" sz="435" u="none" cap="none" strike="noStrike">
              <a:solidFill>
                <a:schemeClr val="dk1"/>
              </a:solidFill>
              <a:latin typeface="Calibri"/>
              <a:ea typeface="Calibri"/>
              <a:cs typeface="Calibri"/>
              <a:sym typeface="Calibri"/>
            </a:endParaRPr>
          </a:p>
        </p:txBody>
      </p:sp>
      <p:sp>
        <p:nvSpPr>
          <p:cNvPr id="737" name="Google Shape;737;p17"/>
          <p:cNvSpPr/>
          <p:nvPr/>
        </p:nvSpPr>
        <p:spPr>
          <a:xfrm>
            <a:off x="1207294" y="3511153"/>
            <a:ext cx="1585913" cy="187523"/>
          </a:xfrm>
          <a:prstGeom prst="rect">
            <a:avLst/>
          </a:prstGeom>
          <a:noFill/>
          <a:ln>
            <a:noFill/>
          </a:ln>
        </p:spPr>
        <p:txBody>
          <a:bodyPr anchorCtr="0" anchor="t" bIns="0" lIns="0" spcFirstLastPara="1" rIns="0" wrap="square" tIns="0">
            <a:noAutofit/>
          </a:bodyPr>
          <a:lstStyle/>
          <a:p>
            <a:pPr indent="0" lvl="0" marL="0" marR="0" rtl="0" algn="ctr">
              <a:lnSpc>
                <a:spcPct val="135658"/>
              </a:lnSpc>
              <a:spcBef>
                <a:spcPts val="0"/>
              </a:spcBef>
              <a:spcAft>
                <a:spcPts val="0"/>
              </a:spcAft>
              <a:buClr>
                <a:srgbClr val="00E676"/>
              </a:buClr>
              <a:buSzPts val="516"/>
              <a:buFont typeface="Roboto Mono"/>
              <a:buNone/>
            </a:pPr>
            <a:r>
              <a:rPr b="0" i="0" lang="en-US" sz="516" u="none" cap="none" strike="noStrike">
                <a:solidFill>
                  <a:srgbClr val="00E676"/>
                </a:solidFill>
                <a:latin typeface="Roboto Mono"/>
                <a:ea typeface="Roboto Mono"/>
                <a:cs typeface="Roboto Mono"/>
                <a:sym typeface="Roboto Mono"/>
              </a:rPr>
              <a:t>← SecureEnvelope { enc_data, enc_dek, grant_token }</a:t>
            </a:r>
            <a:endParaRPr b="0" i="0" sz="516" u="none" cap="none" strike="noStrike">
              <a:solidFill>
                <a:schemeClr val="dk1"/>
              </a:solidFill>
              <a:latin typeface="Calibri"/>
              <a:ea typeface="Calibri"/>
              <a:cs typeface="Calibri"/>
              <a:sym typeface="Calibri"/>
            </a:endParaRPr>
          </a:p>
        </p:txBody>
      </p:sp>
      <p:sp>
        <p:nvSpPr>
          <p:cNvPr id="738" name="Google Shape;738;p17"/>
          <p:cNvSpPr/>
          <p:nvPr/>
        </p:nvSpPr>
        <p:spPr>
          <a:xfrm>
            <a:off x="1143000" y="3727252"/>
            <a:ext cx="1714500" cy="14288"/>
          </a:xfrm>
          <a:prstGeom prst="rect">
            <a:avLst/>
          </a:prstGeom>
          <a:solidFill>
            <a:srgbClr val="00E6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17"/>
          <p:cNvSpPr/>
          <p:nvPr/>
        </p:nvSpPr>
        <p:spPr>
          <a:xfrm>
            <a:off x="1078706" y="3930848"/>
            <a:ext cx="128588" cy="128588"/>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17"/>
          <p:cNvSpPr/>
          <p:nvPr/>
        </p:nvSpPr>
        <p:spPr>
          <a:xfrm>
            <a:off x="1078706" y="3930848"/>
            <a:ext cx="128588" cy="128588"/>
          </a:xfrm>
          <a:prstGeom prst="rect">
            <a:avLst/>
          </a:prstGeom>
          <a:noFill/>
          <a:ln>
            <a:noFill/>
          </a:ln>
        </p:spPr>
        <p:txBody>
          <a:bodyPr anchorCtr="0" anchor="ctr" bIns="0" lIns="0" spcFirstLastPara="1" rIns="0" wrap="square" tIns="0">
            <a:noAutofit/>
          </a:bodyPr>
          <a:lstStyle/>
          <a:p>
            <a:pPr indent="0" lvl="0" marL="0" marR="0" rtl="0" algn="ctr">
              <a:lnSpc>
                <a:spcPct val="137931"/>
              </a:lnSpc>
              <a:spcBef>
                <a:spcPts val="0"/>
              </a:spcBef>
              <a:spcAft>
                <a:spcPts val="0"/>
              </a:spcAft>
              <a:buClr>
                <a:srgbClr val="0D1B2A"/>
              </a:buClr>
              <a:buSzPts val="435"/>
              <a:buFont typeface="Roboto Mono"/>
              <a:buNone/>
            </a:pPr>
            <a:r>
              <a:rPr b="1" i="0" lang="en-US" sz="435" u="none" cap="none" strike="noStrike">
                <a:solidFill>
                  <a:srgbClr val="0D1B2A"/>
                </a:solidFill>
                <a:latin typeface="Roboto Mono"/>
                <a:ea typeface="Roboto Mono"/>
                <a:cs typeface="Roboto Mono"/>
                <a:sym typeface="Roboto Mono"/>
              </a:rPr>
              <a:t>8</a:t>
            </a:r>
            <a:endParaRPr b="0" i="0" sz="435" u="none" cap="none" strike="noStrike">
              <a:solidFill>
                <a:schemeClr val="dk1"/>
              </a:solidFill>
              <a:latin typeface="Calibri"/>
              <a:ea typeface="Calibri"/>
              <a:cs typeface="Calibri"/>
              <a:sym typeface="Calibri"/>
            </a:endParaRPr>
          </a:p>
        </p:txBody>
      </p:sp>
      <p:sp>
        <p:nvSpPr>
          <p:cNvPr id="741" name="Google Shape;741;p17"/>
          <p:cNvSpPr/>
          <p:nvPr/>
        </p:nvSpPr>
        <p:spPr>
          <a:xfrm>
            <a:off x="1143000" y="3927277"/>
            <a:ext cx="6858000" cy="92869"/>
          </a:xfrm>
          <a:prstGeom prst="rect">
            <a:avLst/>
          </a:prstGeom>
          <a:noFill/>
          <a:ln>
            <a:noFill/>
          </a:ln>
        </p:spPr>
        <p:txBody>
          <a:bodyPr anchorCtr="0" anchor="t" bIns="0" lIns="0" spcFirstLastPara="1" rIns="0" wrap="square" tIns="0">
            <a:noAutofit/>
          </a:bodyPr>
          <a:lstStyle/>
          <a:p>
            <a:pPr indent="0" lvl="0" marL="0" marR="0" rtl="0" algn="ctr">
              <a:lnSpc>
                <a:spcPct val="135658"/>
              </a:lnSpc>
              <a:spcBef>
                <a:spcPts val="0"/>
              </a:spcBef>
              <a:spcAft>
                <a:spcPts val="0"/>
              </a:spcAft>
              <a:buClr>
                <a:srgbClr val="B0BEC5"/>
              </a:buClr>
              <a:buSzPts val="516"/>
              <a:buFont typeface="Roboto Mono"/>
              <a:buNone/>
            </a:pPr>
            <a:r>
              <a:rPr b="0" i="0" lang="en-US" sz="516" u="none" cap="none" strike="noStrike">
                <a:solidFill>
                  <a:srgbClr val="B0BEC5"/>
                </a:solidFill>
                <a:latin typeface="Roboto Mono"/>
                <a:ea typeface="Roboto Mono"/>
                <a:cs typeface="Roboto Mono"/>
                <a:sym typeface="Roboto Mono"/>
              </a:rPr>
              <a:t>Transmit SecureEnvelope via message queue / API</a:t>
            </a:r>
            <a:endParaRPr b="0" i="0" sz="516" u="none" cap="none" strike="noStrike">
              <a:solidFill>
                <a:schemeClr val="dk1"/>
              </a:solidFill>
              <a:latin typeface="Calibri"/>
              <a:ea typeface="Calibri"/>
              <a:cs typeface="Calibri"/>
              <a:sym typeface="Calibri"/>
            </a:endParaRPr>
          </a:p>
        </p:txBody>
      </p:sp>
      <p:sp>
        <p:nvSpPr>
          <p:cNvPr id="742" name="Google Shape;742;p17"/>
          <p:cNvSpPr/>
          <p:nvPr/>
        </p:nvSpPr>
        <p:spPr>
          <a:xfrm>
            <a:off x="1143000" y="4048720"/>
            <a:ext cx="6858000" cy="14288"/>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17"/>
          <p:cNvSpPr/>
          <p:nvPr/>
        </p:nvSpPr>
        <p:spPr>
          <a:xfrm>
            <a:off x="285750" y="4184452"/>
            <a:ext cx="8572500" cy="371475"/>
          </a:xfrm>
          <a:prstGeom prst="rect">
            <a:avLst/>
          </a:prstGeom>
          <a:solidFill>
            <a:srgbClr val="FFFFFF">
              <a:alpha val="19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17"/>
          <p:cNvSpPr/>
          <p:nvPr/>
        </p:nvSpPr>
        <p:spPr>
          <a:xfrm>
            <a:off x="285750" y="4548783"/>
            <a:ext cx="8572500" cy="714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17"/>
          <p:cNvSpPr/>
          <p:nvPr/>
        </p:nvSpPr>
        <p:spPr>
          <a:xfrm>
            <a:off x="7936706" y="4305895"/>
            <a:ext cx="128588" cy="128588"/>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17"/>
          <p:cNvSpPr/>
          <p:nvPr/>
        </p:nvSpPr>
        <p:spPr>
          <a:xfrm>
            <a:off x="7936706" y="4305895"/>
            <a:ext cx="128588" cy="128588"/>
          </a:xfrm>
          <a:prstGeom prst="rect">
            <a:avLst/>
          </a:prstGeom>
          <a:noFill/>
          <a:ln>
            <a:noFill/>
          </a:ln>
        </p:spPr>
        <p:txBody>
          <a:bodyPr anchorCtr="0" anchor="ctr" bIns="0" lIns="0" spcFirstLastPara="1" rIns="0" wrap="square" tIns="0">
            <a:noAutofit/>
          </a:bodyPr>
          <a:lstStyle/>
          <a:p>
            <a:pPr indent="0" lvl="0" marL="0" marR="0" rtl="0" algn="ctr">
              <a:lnSpc>
                <a:spcPct val="137931"/>
              </a:lnSpc>
              <a:spcBef>
                <a:spcPts val="0"/>
              </a:spcBef>
              <a:spcAft>
                <a:spcPts val="0"/>
              </a:spcAft>
              <a:buClr>
                <a:srgbClr val="0D1B2A"/>
              </a:buClr>
              <a:buSzPts val="435"/>
              <a:buFont typeface="Roboto Mono"/>
              <a:buNone/>
            </a:pPr>
            <a:r>
              <a:rPr b="1" i="0" lang="en-US" sz="435" u="none" cap="none" strike="noStrike">
                <a:solidFill>
                  <a:srgbClr val="0D1B2A"/>
                </a:solidFill>
                <a:latin typeface="Roboto Mono"/>
                <a:ea typeface="Roboto Mono"/>
                <a:cs typeface="Roboto Mono"/>
                <a:sym typeface="Roboto Mono"/>
              </a:rPr>
              <a:t>9</a:t>
            </a:r>
            <a:endParaRPr b="0" i="0" sz="435" u="none" cap="none" strike="noStrike">
              <a:solidFill>
                <a:schemeClr val="dk1"/>
              </a:solidFill>
              <a:latin typeface="Calibri"/>
              <a:ea typeface="Calibri"/>
              <a:cs typeface="Calibri"/>
              <a:sym typeface="Calibri"/>
            </a:endParaRPr>
          </a:p>
        </p:txBody>
      </p:sp>
      <p:sp>
        <p:nvSpPr>
          <p:cNvPr id="747" name="Google Shape;747;p17"/>
          <p:cNvSpPr/>
          <p:nvPr/>
        </p:nvSpPr>
        <p:spPr>
          <a:xfrm>
            <a:off x="4572000" y="4302323"/>
            <a:ext cx="3429000" cy="92869"/>
          </a:xfrm>
          <a:prstGeom prst="rect">
            <a:avLst/>
          </a:prstGeom>
          <a:noFill/>
          <a:ln>
            <a:noFill/>
          </a:ln>
        </p:spPr>
        <p:txBody>
          <a:bodyPr anchorCtr="0" anchor="t" bIns="0" lIns="0" spcFirstLastPara="1" rIns="0" wrap="square" tIns="0">
            <a:noAutofit/>
          </a:bodyPr>
          <a:lstStyle/>
          <a:p>
            <a:pPr indent="0" lvl="0" marL="0" marR="0" rtl="0" algn="ctr">
              <a:lnSpc>
                <a:spcPct val="135658"/>
              </a:lnSpc>
              <a:spcBef>
                <a:spcPts val="0"/>
              </a:spcBef>
              <a:spcAft>
                <a:spcPts val="0"/>
              </a:spcAft>
              <a:buClr>
                <a:srgbClr val="B0BEC5"/>
              </a:buClr>
              <a:buSzPts val="516"/>
              <a:buFont typeface="Roboto Mono"/>
              <a:buNone/>
            </a:pPr>
            <a:r>
              <a:rPr b="0" i="0" lang="en-US" sz="516" u="none" cap="none" strike="noStrike">
                <a:solidFill>
                  <a:srgbClr val="B0BEC5"/>
                </a:solidFill>
                <a:latin typeface="Roboto Mono"/>
                <a:ea typeface="Roboto Mono"/>
                <a:cs typeface="Roboto Mono"/>
                <a:sym typeface="Roboto Mono"/>
              </a:rPr>
              <a:t>POST </a:t>
            </a:r>
            <a:r>
              <a:rPr b="0" i="0" lang="en-US" sz="516" u="none" cap="none" strike="noStrike">
                <a:solidFill>
                  <a:srgbClr val="00E5FF"/>
                </a:solidFill>
                <a:latin typeface="Roboto Mono"/>
                <a:ea typeface="Roboto Mono"/>
                <a:cs typeface="Roboto Mono"/>
                <a:sym typeface="Roboto Mono"/>
              </a:rPr>
              <a:t>/crypto/decrypt-dek</a:t>
            </a:r>
            <a:r>
              <a:rPr b="0" i="0" lang="en-US" sz="516" u="none" cap="none" strike="noStrike">
                <a:solidFill>
                  <a:srgbClr val="B0BEC5"/>
                </a:solidFill>
                <a:latin typeface="Roboto Mono"/>
                <a:ea typeface="Roboto Mono"/>
                <a:cs typeface="Roboto Mono"/>
                <a:sym typeface="Roboto Mono"/>
              </a:rPr>
              <a:t> + grant_token</a:t>
            </a:r>
            <a:endParaRPr b="0" i="0" sz="516" u="none" cap="none" strike="noStrike">
              <a:solidFill>
                <a:schemeClr val="dk1"/>
              </a:solidFill>
              <a:latin typeface="Calibri"/>
              <a:ea typeface="Calibri"/>
              <a:cs typeface="Calibri"/>
              <a:sym typeface="Calibri"/>
            </a:endParaRPr>
          </a:p>
        </p:txBody>
      </p:sp>
      <p:sp>
        <p:nvSpPr>
          <p:cNvPr id="748" name="Google Shape;748;p17"/>
          <p:cNvSpPr/>
          <p:nvPr/>
        </p:nvSpPr>
        <p:spPr>
          <a:xfrm>
            <a:off x="4572000" y="4423767"/>
            <a:ext cx="3429000" cy="14288"/>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17"/>
          <p:cNvSpPr/>
          <p:nvPr/>
        </p:nvSpPr>
        <p:spPr>
          <a:xfrm>
            <a:off x="4507706" y="4673798"/>
            <a:ext cx="128588" cy="128588"/>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17"/>
          <p:cNvSpPr/>
          <p:nvPr/>
        </p:nvSpPr>
        <p:spPr>
          <a:xfrm>
            <a:off x="4507706" y="4673798"/>
            <a:ext cx="128588" cy="128588"/>
          </a:xfrm>
          <a:prstGeom prst="rect">
            <a:avLst/>
          </a:prstGeom>
          <a:noFill/>
          <a:ln>
            <a:noFill/>
          </a:ln>
        </p:spPr>
        <p:txBody>
          <a:bodyPr anchorCtr="0" anchor="ctr" bIns="0" lIns="0" spcFirstLastPara="1" rIns="0" wrap="square" tIns="0">
            <a:noAutofit/>
          </a:bodyPr>
          <a:lstStyle/>
          <a:p>
            <a:pPr indent="0" lvl="0" marL="0" marR="0" rtl="0" algn="ctr">
              <a:lnSpc>
                <a:spcPct val="137931"/>
              </a:lnSpc>
              <a:spcBef>
                <a:spcPts val="0"/>
              </a:spcBef>
              <a:spcAft>
                <a:spcPts val="0"/>
              </a:spcAft>
              <a:buClr>
                <a:srgbClr val="0D1B2A"/>
              </a:buClr>
              <a:buSzPts val="435"/>
              <a:buFont typeface="Roboto Mono"/>
              <a:buNone/>
            </a:pPr>
            <a:r>
              <a:rPr b="1" i="0" lang="en-US" sz="435" u="none" cap="none" strike="noStrike">
                <a:solidFill>
                  <a:srgbClr val="0D1B2A"/>
                </a:solidFill>
                <a:latin typeface="Roboto Mono"/>
                <a:ea typeface="Roboto Mono"/>
                <a:cs typeface="Roboto Mono"/>
                <a:sym typeface="Roboto Mono"/>
              </a:rPr>
              <a:t>10</a:t>
            </a:r>
            <a:endParaRPr b="0" i="0" sz="435" u="none" cap="none" strike="noStrike">
              <a:solidFill>
                <a:schemeClr val="dk1"/>
              </a:solidFill>
              <a:latin typeface="Calibri"/>
              <a:ea typeface="Calibri"/>
              <a:cs typeface="Calibri"/>
              <a:sym typeface="Calibri"/>
            </a:endParaRPr>
          </a:p>
        </p:txBody>
      </p:sp>
      <p:sp>
        <p:nvSpPr>
          <p:cNvPr id="751" name="Google Shape;751;p17"/>
          <p:cNvSpPr/>
          <p:nvPr/>
        </p:nvSpPr>
        <p:spPr>
          <a:xfrm>
            <a:off x="4829175" y="4691658"/>
            <a:ext cx="2443163" cy="92869"/>
          </a:xfrm>
          <a:prstGeom prst="rect">
            <a:avLst/>
          </a:prstGeom>
          <a:noFill/>
          <a:ln>
            <a:noFill/>
          </a:ln>
        </p:spPr>
        <p:txBody>
          <a:bodyPr anchorCtr="0" anchor="t" bIns="0" lIns="0" spcFirstLastPara="1" rIns="0" wrap="square" tIns="0">
            <a:noAutofit/>
          </a:bodyPr>
          <a:lstStyle/>
          <a:p>
            <a:pPr indent="0" lvl="0" marL="0" marR="0" rtl="0" algn="l">
              <a:lnSpc>
                <a:spcPct val="135658"/>
              </a:lnSpc>
              <a:spcBef>
                <a:spcPts val="0"/>
              </a:spcBef>
              <a:spcAft>
                <a:spcPts val="0"/>
              </a:spcAft>
              <a:buClr>
                <a:srgbClr val="FFAB40"/>
              </a:buClr>
              <a:buSzPts val="516"/>
              <a:buFont typeface="Roboto Mono"/>
              <a:buNone/>
            </a:pPr>
            <a:r>
              <a:rPr b="0" i="0" lang="en-US" sz="516" u="none" cap="none" strike="noStrike">
                <a:solidFill>
                  <a:srgbClr val="FFAB40"/>
                </a:solidFill>
                <a:latin typeface="Roboto Mono"/>
                <a:ea typeface="Roboto Mono"/>
                <a:cs typeface="Roboto Mono"/>
                <a:sym typeface="Roboto Mono"/>
              </a:rPr>
              <a:t>Validate grant_token (not expired, correct recipient ASV)</a:t>
            </a:r>
            <a:endParaRPr b="0" i="0" sz="516" u="none" cap="none" strike="noStrike">
              <a:solidFill>
                <a:schemeClr val="dk1"/>
              </a:solidFill>
              <a:latin typeface="Calibri"/>
              <a:ea typeface="Calibri"/>
              <a:cs typeface="Calibri"/>
              <a:sym typeface="Calibri"/>
            </a:endParaRPr>
          </a:p>
        </p:txBody>
      </p:sp>
      <p:sp>
        <p:nvSpPr>
          <p:cNvPr id="752" name="Google Shape;752;p17"/>
          <p:cNvSpPr/>
          <p:nvPr/>
        </p:nvSpPr>
        <p:spPr>
          <a:xfrm>
            <a:off x="285750" y="4927402"/>
            <a:ext cx="8572500" cy="371475"/>
          </a:xfrm>
          <a:prstGeom prst="rect">
            <a:avLst/>
          </a:prstGeom>
          <a:solidFill>
            <a:srgbClr val="FFFFFF">
              <a:alpha val="19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17"/>
          <p:cNvSpPr/>
          <p:nvPr/>
        </p:nvSpPr>
        <p:spPr>
          <a:xfrm>
            <a:off x="285750" y="5291733"/>
            <a:ext cx="8572500" cy="714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17"/>
          <p:cNvSpPr/>
          <p:nvPr/>
        </p:nvSpPr>
        <p:spPr>
          <a:xfrm>
            <a:off x="4507706" y="5048845"/>
            <a:ext cx="128588" cy="128588"/>
          </a:xfrm>
          <a:prstGeom prst="rect">
            <a:avLst/>
          </a:prstGeom>
          <a:solidFill>
            <a:srgbClr val="00E6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17"/>
          <p:cNvSpPr/>
          <p:nvPr/>
        </p:nvSpPr>
        <p:spPr>
          <a:xfrm>
            <a:off x="4507706" y="5048845"/>
            <a:ext cx="128588" cy="128588"/>
          </a:xfrm>
          <a:prstGeom prst="rect">
            <a:avLst/>
          </a:prstGeom>
          <a:noFill/>
          <a:ln>
            <a:noFill/>
          </a:ln>
        </p:spPr>
        <p:txBody>
          <a:bodyPr anchorCtr="0" anchor="ctr" bIns="0" lIns="0" spcFirstLastPara="1" rIns="0" wrap="square" tIns="0">
            <a:noAutofit/>
          </a:bodyPr>
          <a:lstStyle/>
          <a:p>
            <a:pPr indent="0" lvl="0" marL="0" marR="0" rtl="0" algn="ctr">
              <a:lnSpc>
                <a:spcPct val="137931"/>
              </a:lnSpc>
              <a:spcBef>
                <a:spcPts val="0"/>
              </a:spcBef>
              <a:spcAft>
                <a:spcPts val="0"/>
              </a:spcAft>
              <a:buClr>
                <a:srgbClr val="0D1B2A"/>
              </a:buClr>
              <a:buSzPts val="435"/>
              <a:buFont typeface="Roboto Mono"/>
              <a:buNone/>
            </a:pPr>
            <a:r>
              <a:rPr b="1" i="0" lang="en-US" sz="435" u="none" cap="none" strike="noStrike">
                <a:solidFill>
                  <a:srgbClr val="0D1B2A"/>
                </a:solidFill>
                <a:latin typeface="Roboto Mono"/>
                <a:ea typeface="Roboto Mono"/>
                <a:cs typeface="Roboto Mono"/>
                <a:sym typeface="Roboto Mono"/>
              </a:rPr>
              <a:t>11</a:t>
            </a:r>
            <a:endParaRPr b="0" i="0" sz="435" u="none" cap="none" strike="noStrike">
              <a:solidFill>
                <a:schemeClr val="dk1"/>
              </a:solidFill>
              <a:latin typeface="Calibri"/>
              <a:ea typeface="Calibri"/>
              <a:cs typeface="Calibri"/>
              <a:sym typeface="Calibri"/>
            </a:endParaRPr>
          </a:p>
        </p:txBody>
      </p:sp>
      <p:sp>
        <p:nvSpPr>
          <p:cNvPr id="756" name="Google Shape;756;p17"/>
          <p:cNvSpPr/>
          <p:nvPr/>
        </p:nvSpPr>
        <p:spPr>
          <a:xfrm>
            <a:off x="5965031" y="5043488"/>
            <a:ext cx="642938" cy="94655"/>
          </a:xfrm>
          <a:prstGeom prst="rect">
            <a:avLst/>
          </a:prstGeom>
          <a:noFill/>
          <a:ln>
            <a:noFill/>
          </a:ln>
        </p:spPr>
        <p:txBody>
          <a:bodyPr anchorCtr="0" anchor="t" bIns="0" lIns="0" spcFirstLastPara="1" rIns="0" wrap="square" tIns="0">
            <a:noAutofit/>
          </a:bodyPr>
          <a:lstStyle/>
          <a:p>
            <a:pPr indent="0" lvl="0" marL="0" marR="0" rtl="0" algn="ctr">
              <a:lnSpc>
                <a:spcPct val="135658"/>
              </a:lnSpc>
              <a:spcBef>
                <a:spcPts val="0"/>
              </a:spcBef>
              <a:spcAft>
                <a:spcPts val="0"/>
              </a:spcAft>
              <a:buClr>
                <a:srgbClr val="00E676"/>
              </a:buClr>
              <a:buSzPts val="516"/>
              <a:buFont typeface="Roboto Mono"/>
              <a:buNone/>
            </a:pPr>
            <a:r>
              <a:rPr b="0" i="0" lang="en-US" sz="516" u="none" cap="none" strike="noStrike">
                <a:solidFill>
                  <a:srgbClr val="00E676"/>
                </a:solidFill>
                <a:latin typeface="Roboto Mono"/>
                <a:ea typeface="Roboto Mono"/>
                <a:cs typeface="Roboto Mono"/>
                <a:sym typeface="Roboto Mono"/>
              </a:rPr>
              <a:t>← plaintext_dek</a:t>
            </a:r>
            <a:endParaRPr b="0" i="0" sz="516" u="none" cap="none" strike="noStrike">
              <a:solidFill>
                <a:schemeClr val="dk1"/>
              </a:solidFill>
              <a:latin typeface="Calibri"/>
              <a:ea typeface="Calibri"/>
              <a:cs typeface="Calibri"/>
              <a:sym typeface="Calibri"/>
            </a:endParaRPr>
          </a:p>
        </p:txBody>
      </p:sp>
      <p:sp>
        <p:nvSpPr>
          <p:cNvPr id="757" name="Google Shape;757;p17"/>
          <p:cNvSpPr/>
          <p:nvPr/>
        </p:nvSpPr>
        <p:spPr>
          <a:xfrm>
            <a:off x="4572000" y="5166717"/>
            <a:ext cx="3429000" cy="14288"/>
          </a:xfrm>
          <a:prstGeom prst="rect">
            <a:avLst/>
          </a:prstGeom>
          <a:solidFill>
            <a:srgbClr val="00E6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2" name="Shape 762"/>
        <p:cNvGrpSpPr/>
        <p:nvPr/>
      </p:nvGrpSpPr>
      <p:grpSpPr>
        <a:xfrm>
          <a:off x="0" y="0"/>
          <a:ext cx="0" cy="0"/>
          <a:chOff x="0" y="0"/>
          <a:chExt cx="0" cy="0"/>
        </a:xfrm>
      </p:grpSpPr>
      <p:pic>
        <p:nvPicPr>
          <p:cNvPr descr="preencoded.png" id="763" name="Google Shape;763;p18"/>
          <p:cNvPicPr preferRelativeResize="0"/>
          <p:nvPr/>
        </p:nvPicPr>
        <p:blipFill rotWithShape="1">
          <a:blip r:embed="rId3">
            <a:alphaModFix/>
          </a:blip>
          <a:srcRect b="0" l="0" r="0" t="0"/>
          <a:stretch/>
        </p:blipFill>
        <p:spPr>
          <a:xfrm>
            <a:off x="57150" y="57150"/>
            <a:ext cx="9029700" cy="5293519"/>
          </a:xfrm>
          <a:prstGeom prst="rect">
            <a:avLst/>
          </a:prstGeom>
          <a:noFill/>
          <a:ln>
            <a:noFill/>
          </a:ln>
        </p:spPr>
      </p:pic>
      <p:sp>
        <p:nvSpPr>
          <p:cNvPr id="764" name="Google Shape;764;p18"/>
          <p:cNvSpPr/>
          <p:nvPr/>
        </p:nvSpPr>
        <p:spPr>
          <a:xfrm>
            <a:off x="57150" y="57150"/>
            <a:ext cx="9029700" cy="132159"/>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000000"/>
              </a:buClr>
              <a:buSzPts val="834"/>
              <a:buFont typeface="Times New Roman"/>
              <a:buNone/>
            </a:pPr>
            <a:r>
              <a:rPr b="0" i="0" lang="en-US" sz="834" u="none" cap="none" strike="noStrike">
                <a:solidFill>
                  <a:srgbClr val="000000"/>
                </a:solidFill>
                <a:latin typeface="Times New Roman"/>
                <a:ea typeface="Times New Roman"/>
                <a:cs typeface="Times New Roman"/>
                <a:sym typeface="Times New Roman"/>
              </a:rPr>
              <a:t>Code Example: Cross-ASV Secure Messaging</a:t>
            </a:r>
            <a:endParaRPr b="0" i="0" sz="834" u="none" cap="none" strike="noStrike">
              <a:solidFill>
                <a:schemeClr val="dk1"/>
              </a:solidFill>
              <a:latin typeface="Calibri"/>
              <a:ea typeface="Calibri"/>
              <a:cs typeface="Calibri"/>
              <a:sym typeface="Calibri"/>
            </a:endParaRPr>
          </a:p>
        </p:txBody>
      </p:sp>
      <p:sp>
        <p:nvSpPr>
          <p:cNvPr id="765" name="Google Shape;765;p18"/>
          <p:cNvSpPr/>
          <p:nvPr/>
        </p:nvSpPr>
        <p:spPr>
          <a:xfrm>
            <a:off x="57150" y="189309"/>
            <a:ext cx="9029700" cy="132159"/>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000000"/>
              </a:buClr>
              <a:buSzPts val="834"/>
              <a:buFont typeface="Times New Roman"/>
              <a:buNone/>
            </a:pPr>
            <a:r>
              <a:rPr b="0" i="0" lang="en-US" sz="834" u="none" cap="none" strike="noStrike">
                <a:solidFill>
                  <a:srgbClr val="000000"/>
                </a:solidFill>
                <a:latin typeface="Times New Roman"/>
                <a:ea typeface="Times New Roman"/>
                <a:cs typeface="Times New Roman"/>
                <a:sym typeface="Times New Roman"/>
              </a:rPr>
              <a:t>Use Case E: Time-limited grants and JWE token exchange</a:t>
            </a:r>
            <a:endParaRPr b="0" i="0" sz="834" u="none" cap="none" strike="noStrike">
              <a:solidFill>
                <a:schemeClr val="dk1"/>
              </a:solidFill>
              <a:latin typeface="Calibri"/>
              <a:ea typeface="Calibri"/>
              <a:cs typeface="Calibri"/>
              <a:sym typeface="Calibri"/>
            </a:endParaRPr>
          </a:p>
        </p:txBody>
      </p:sp>
      <p:sp>
        <p:nvSpPr>
          <p:cNvPr id="766" name="Google Shape;766;p18"/>
          <p:cNvSpPr/>
          <p:nvPr/>
        </p:nvSpPr>
        <p:spPr>
          <a:xfrm>
            <a:off x="57150" y="321469"/>
            <a:ext cx="4400550" cy="5029200"/>
          </a:xfrm>
          <a:prstGeom prst="rect">
            <a:avLst/>
          </a:prstGeom>
          <a:solidFill>
            <a:srgbClr val="1E1E1E"/>
          </a:solidFill>
          <a:ln cap="flat" cmpd="sng" w="952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18"/>
          <p:cNvSpPr/>
          <p:nvPr/>
        </p:nvSpPr>
        <p:spPr>
          <a:xfrm>
            <a:off x="228600" y="492919"/>
            <a:ext cx="4057650" cy="141089"/>
          </a:xfrm>
          <a:prstGeom prst="rect">
            <a:avLst/>
          </a:prstGeom>
          <a:noFill/>
          <a:ln>
            <a:noFill/>
          </a:ln>
        </p:spPr>
        <p:txBody>
          <a:bodyPr anchorCtr="0" anchor="t" bIns="0" lIns="0" spcFirstLastPara="1" rIns="0" wrap="square" tIns="0">
            <a:noAutofit/>
          </a:bodyPr>
          <a:lstStyle/>
          <a:p>
            <a:pPr indent="0" lvl="0" marL="0" marR="0" rtl="0" algn="l">
              <a:lnSpc>
                <a:spcPct val="133689"/>
              </a:lnSpc>
              <a:spcBef>
                <a:spcPts val="0"/>
              </a:spcBef>
              <a:spcAft>
                <a:spcPts val="0"/>
              </a:spcAft>
              <a:buClr>
                <a:srgbClr val="569CD6"/>
              </a:buClr>
              <a:buSzPts val="748"/>
              <a:buFont typeface="Arial"/>
              <a:buNone/>
            </a:pPr>
            <a:r>
              <a:rPr b="0" i="0" lang="en-US" sz="748" u="none" cap="none" strike="noStrike">
                <a:solidFill>
                  <a:srgbClr val="569CD6"/>
                </a:solidFill>
                <a:latin typeface="Arial"/>
                <a:ea typeface="Arial"/>
                <a:cs typeface="Arial"/>
                <a:sym typeface="Arial"/>
              </a:rPr>
              <a:t>// --- SERVICE A (Sender) ---</a:t>
            </a:r>
            <a:endParaRPr b="0" i="0" sz="748" u="none" cap="none" strike="noStrike">
              <a:solidFill>
                <a:schemeClr val="dk1"/>
              </a:solidFill>
              <a:latin typeface="Calibri"/>
              <a:ea typeface="Calibri"/>
              <a:cs typeface="Calibri"/>
              <a:sym typeface="Calibri"/>
            </a:endParaRPr>
          </a:p>
        </p:txBody>
      </p:sp>
      <p:sp>
        <p:nvSpPr>
          <p:cNvPr id="768" name="Google Shape;768;p18"/>
          <p:cNvSpPr/>
          <p:nvPr/>
        </p:nvSpPr>
        <p:spPr>
          <a:xfrm>
            <a:off x="228600" y="634008"/>
            <a:ext cx="4057650" cy="141089"/>
          </a:xfrm>
          <a:prstGeom prst="rect">
            <a:avLst/>
          </a:prstGeom>
          <a:noFill/>
          <a:ln>
            <a:noFill/>
          </a:ln>
        </p:spPr>
        <p:txBody>
          <a:bodyPr anchorCtr="0" anchor="t" bIns="0" lIns="0" spcFirstLastPara="1" rIns="0" wrap="square" tIns="0">
            <a:noAutofit/>
          </a:bodyPr>
          <a:lstStyle/>
          <a:p>
            <a:pPr indent="0" lvl="0" marL="0" marR="0" rtl="0" algn="l">
              <a:lnSpc>
                <a:spcPct val="133689"/>
              </a:lnSpc>
              <a:spcBef>
                <a:spcPts val="0"/>
              </a:spcBef>
              <a:spcAft>
                <a:spcPts val="0"/>
              </a:spcAft>
              <a:buClr>
                <a:srgbClr val="569CD6"/>
              </a:buClr>
              <a:buSzPts val="748"/>
              <a:buFont typeface="Arial"/>
              <a:buNone/>
            </a:pPr>
            <a:r>
              <a:rPr b="0" i="0" lang="en-US" sz="748" u="none" cap="none" strike="noStrike">
                <a:solidFill>
                  <a:srgbClr val="569CD6"/>
                </a:solidFill>
                <a:latin typeface="Arial"/>
                <a:ea typeface="Arial"/>
                <a:cs typeface="Arial"/>
                <a:sym typeface="Arial"/>
              </a:rPr>
              <a:t>// 1. Request a time-limited grant for Service B</a:t>
            </a:r>
            <a:endParaRPr b="0" i="0" sz="748" u="none" cap="none" strike="noStrike">
              <a:solidFill>
                <a:schemeClr val="dk1"/>
              </a:solidFill>
              <a:latin typeface="Calibri"/>
              <a:ea typeface="Calibri"/>
              <a:cs typeface="Calibri"/>
              <a:sym typeface="Calibri"/>
            </a:endParaRPr>
          </a:p>
        </p:txBody>
      </p:sp>
      <p:sp>
        <p:nvSpPr>
          <p:cNvPr id="769" name="Google Shape;769;p18"/>
          <p:cNvSpPr/>
          <p:nvPr/>
        </p:nvSpPr>
        <p:spPr>
          <a:xfrm>
            <a:off x="228600" y="775097"/>
            <a:ext cx="4057650" cy="141089"/>
          </a:xfrm>
          <a:prstGeom prst="rect">
            <a:avLst/>
          </a:prstGeom>
          <a:noFill/>
          <a:ln>
            <a:noFill/>
          </a:ln>
        </p:spPr>
        <p:txBody>
          <a:bodyPr anchorCtr="0" anchor="t" bIns="0" lIns="0" spcFirstLastPara="1" rIns="0" wrap="square" tIns="0">
            <a:noAutofit/>
          </a:bodyPr>
          <a:lstStyle/>
          <a:p>
            <a:pPr indent="0" lvl="0" marL="0" marR="0" rtl="0" algn="l">
              <a:lnSpc>
                <a:spcPct val="133689"/>
              </a:lnSpc>
              <a:spcBef>
                <a:spcPts val="0"/>
              </a:spcBef>
              <a:spcAft>
                <a:spcPts val="0"/>
              </a:spcAft>
              <a:buClr>
                <a:srgbClr val="4EC9B0"/>
              </a:buClr>
              <a:buSzPts val="748"/>
              <a:buFont typeface="Arial"/>
              <a:buNone/>
            </a:pPr>
            <a:r>
              <a:rPr b="0" i="0" lang="en-US" sz="748" u="none" cap="none" strike="noStrike">
                <a:solidFill>
                  <a:srgbClr val="4EC9B0"/>
                </a:solidFill>
                <a:latin typeface="Arial"/>
                <a:ea typeface="Arial"/>
                <a:cs typeface="Arial"/>
                <a:sym typeface="Arial"/>
              </a:rPr>
              <a:t>GrantToken</a:t>
            </a:r>
            <a:r>
              <a:rPr b="0" i="0" lang="en-US" sz="748" u="none" cap="none" strike="noStrike">
                <a:solidFill>
                  <a:srgbClr val="D4D4D4"/>
                </a:solidFill>
                <a:latin typeface="Arial"/>
                <a:ea typeface="Arial"/>
                <a:cs typeface="Arial"/>
                <a:sym typeface="Arial"/>
              </a:rPr>
              <a:t> grant = client.requestGrant(</a:t>
            </a:r>
            <a:endParaRPr b="0" i="0" sz="748" u="none" cap="none" strike="noStrike">
              <a:solidFill>
                <a:schemeClr val="dk1"/>
              </a:solidFill>
              <a:latin typeface="Calibri"/>
              <a:ea typeface="Calibri"/>
              <a:cs typeface="Calibri"/>
              <a:sym typeface="Calibri"/>
            </a:endParaRPr>
          </a:p>
        </p:txBody>
      </p:sp>
      <p:sp>
        <p:nvSpPr>
          <p:cNvPr id="770" name="Google Shape;770;p18"/>
          <p:cNvSpPr/>
          <p:nvPr/>
        </p:nvSpPr>
        <p:spPr>
          <a:xfrm>
            <a:off x="228600" y="916186"/>
            <a:ext cx="4057650" cy="141089"/>
          </a:xfrm>
          <a:prstGeom prst="rect">
            <a:avLst/>
          </a:prstGeom>
          <a:noFill/>
          <a:ln>
            <a:noFill/>
          </a:ln>
        </p:spPr>
        <p:txBody>
          <a:bodyPr anchorCtr="0" anchor="t" bIns="0" lIns="272150" spcFirstLastPara="1" rIns="0" wrap="square" tIns="0">
            <a:noAutofit/>
          </a:bodyPr>
          <a:lstStyle/>
          <a:p>
            <a:pPr indent="0" lvl="0" marL="0" marR="0" rtl="0" algn="l">
              <a:lnSpc>
                <a:spcPct val="133689"/>
              </a:lnSpc>
              <a:spcBef>
                <a:spcPts val="0"/>
              </a:spcBef>
              <a:spcAft>
                <a:spcPts val="0"/>
              </a:spcAft>
              <a:buClr>
                <a:srgbClr val="CE9178"/>
              </a:buClr>
              <a:buSzPts val="748"/>
              <a:buFont typeface="Arial"/>
              <a:buNone/>
            </a:pPr>
            <a:r>
              <a:rPr b="0" i="0" lang="en-US" sz="748" u="none" cap="none" strike="noStrike">
                <a:solidFill>
                  <a:srgbClr val="CE9178"/>
                </a:solidFill>
                <a:latin typeface="Arial"/>
                <a:ea typeface="Arial"/>
                <a:cs typeface="Arial"/>
                <a:sym typeface="Arial"/>
              </a:rPr>
              <a:t>"service-b-asv"</a:t>
            </a:r>
            <a:r>
              <a:rPr b="0" i="0" lang="en-US" sz="748" u="none" cap="none" strike="noStrike">
                <a:solidFill>
                  <a:srgbClr val="D4D4D4"/>
                </a:solidFill>
                <a:latin typeface="Arial"/>
                <a:ea typeface="Arial"/>
                <a:cs typeface="Arial"/>
                <a:sym typeface="Arial"/>
              </a:rPr>
              <a:t>,</a:t>
            </a:r>
            <a:endParaRPr b="0" i="0" sz="748" u="none" cap="none" strike="noStrike">
              <a:solidFill>
                <a:schemeClr val="dk1"/>
              </a:solidFill>
              <a:latin typeface="Calibri"/>
              <a:ea typeface="Calibri"/>
              <a:cs typeface="Calibri"/>
              <a:sym typeface="Calibri"/>
            </a:endParaRPr>
          </a:p>
        </p:txBody>
      </p:sp>
      <p:sp>
        <p:nvSpPr>
          <p:cNvPr id="771" name="Google Shape;771;p18"/>
          <p:cNvSpPr/>
          <p:nvPr/>
        </p:nvSpPr>
        <p:spPr>
          <a:xfrm>
            <a:off x="228600" y="1057275"/>
            <a:ext cx="4057650" cy="141089"/>
          </a:xfrm>
          <a:prstGeom prst="rect">
            <a:avLst/>
          </a:prstGeom>
          <a:noFill/>
          <a:ln>
            <a:noFill/>
          </a:ln>
        </p:spPr>
        <p:txBody>
          <a:bodyPr anchorCtr="0" anchor="t" bIns="0" lIns="272150" spcFirstLastPara="1" rIns="0" wrap="square" tIns="0">
            <a:noAutofit/>
          </a:bodyPr>
          <a:lstStyle/>
          <a:p>
            <a:pPr indent="0" lvl="0" marL="0" marR="0" rtl="0" algn="l">
              <a:lnSpc>
                <a:spcPct val="133689"/>
              </a:lnSpc>
              <a:spcBef>
                <a:spcPts val="0"/>
              </a:spcBef>
              <a:spcAft>
                <a:spcPts val="0"/>
              </a:spcAft>
              <a:buClr>
                <a:srgbClr val="B5CEA8"/>
              </a:buClr>
              <a:buSzPts val="748"/>
              <a:buFont typeface="Arial"/>
              <a:buNone/>
            </a:pPr>
            <a:r>
              <a:rPr b="0" i="0" lang="en-US" sz="748" u="none" cap="none" strike="noStrike">
                <a:solidFill>
                  <a:srgbClr val="B5CEA8"/>
                </a:solidFill>
                <a:latin typeface="Arial"/>
                <a:ea typeface="Arial"/>
                <a:cs typeface="Arial"/>
                <a:sym typeface="Arial"/>
              </a:rPr>
              <a:t>Duration</a:t>
            </a:r>
            <a:r>
              <a:rPr b="0" i="0" lang="en-US" sz="748" u="none" cap="none" strike="noStrike">
                <a:solidFill>
                  <a:srgbClr val="D4D4D4"/>
                </a:solidFill>
                <a:latin typeface="Arial"/>
                <a:ea typeface="Arial"/>
                <a:cs typeface="Arial"/>
                <a:sym typeface="Arial"/>
              </a:rPr>
              <a:t>.ofHours(</a:t>
            </a:r>
            <a:r>
              <a:rPr b="0" i="0" lang="en-US" sz="748" u="none" cap="none" strike="noStrike">
                <a:solidFill>
                  <a:srgbClr val="B5CEA8"/>
                </a:solidFill>
                <a:latin typeface="Arial"/>
                <a:ea typeface="Arial"/>
                <a:cs typeface="Arial"/>
                <a:sym typeface="Arial"/>
              </a:rPr>
              <a:t>1</a:t>
            </a:r>
            <a:r>
              <a:rPr b="0" i="0" lang="en-US" sz="748" u="none" cap="none" strike="noStrike">
                <a:solidFill>
                  <a:srgbClr val="D4D4D4"/>
                </a:solidFill>
                <a:latin typeface="Arial"/>
                <a:ea typeface="Arial"/>
                <a:cs typeface="Arial"/>
                <a:sym typeface="Arial"/>
              </a:rPr>
              <a:t>)</a:t>
            </a:r>
            <a:endParaRPr b="0" i="0" sz="748" u="none" cap="none" strike="noStrike">
              <a:solidFill>
                <a:schemeClr val="dk1"/>
              </a:solidFill>
              <a:latin typeface="Calibri"/>
              <a:ea typeface="Calibri"/>
              <a:cs typeface="Calibri"/>
              <a:sym typeface="Calibri"/>
            </a:endParaRPr>
          </a:p>
        </p:txBody>
      </p:sp>
      <p:sp>
        <p:nvSpPr>
          <p:cNvPr id="772" name="Google Shape;772;p18"/>
          <p:cNvSpPr/>
          <p:nvPr/>
        </p:nvSpPr>
        <p:spPr>
          <a:xfrm>
            <a:off x="228600" y="1198364"/>
            <a:ext cx="4057650" cy="141089"/>
          </a:xfrm>
          <a:prstGeom prst="rect">
            <a:avLst/>
          </a:prstGeom>
          <a:noFill/>
          <a:ln>
            <a:noFill/>
          </a:ln>
        </p:spPr>
        <p:txBody>
          <a:bodyPr anchorCtr="0" anchor="t" bIns="0" lIns="0" spcFirstLastPara="1" rIns="0" wrap="square" tIns="0">
            <a:noAutofit/>
          </a:bodyPr>
          <a:lstStyle/>
          <a:p>
            <a:pPr indent="0" lvl="0" marL="0" marR="0" rtl="0" algn="l">
              <a:lnSpc>
                <a:spcPct val="133689"/>
              </a:lnSpc>
              <a:spcBef>
                <a:spcPts val="0"/>
              </a:spcBef>
              <a:spcAft>
                <a:spcPts val="0"/>
              </a:spcAft>
              <a:buClr>
                <a:srgbClr val="D4D4D4"/>
              </a:buClr>
              <a:buSzPts val="748"/>
              <a:buFont typeface="Arial"/>
              <a:buNone/>
            </a:pPr>
            <a:r>
              <a:rPr b="0" i="0" lang="en-US" sz="748" u="none" cap="none" strike="noStrike">
                <a:solidFill>
                  <a:srgbClr val="D4D4D4"/>
                </a:solidFill>
                <a:latin typeface="Arial"/>
                <a:ea typeface="Arial"/>
                <a:cs typeface="Arial"/>
                <a:sym typeface="Arial"/>
              </a:rPr>
              <a:t>);</a:t>
            </a:r>
            <a:endParaRPr b="0" i="0" sz="748" u="none" cap="none" strike="noStrike">
              <a:solidFill>
                <a:schemeClr val="dk1"/>
              </a:solidFill>
              <a:latin typeface="Calibri"/>
              <a:ea typeface="Calibri"/>
              <a:cs typeface="Calibri"/>
              <a:sym typeface="Calibri"/>
            </a:endParaRPr>
          </a:p>
        </p:txBody>
      </p:sp>
      <p:sp>
        <p:nvSpPr>
          <p:cNvPr id="773" name="Google Shape;773;p18"/>
          <p:cNvSpPr/>
          <p:nvPr/>
        </p:nvSpPr>
        <p:spPr>
          <a:xfrm>
            <a:off x="228600" y="1480542"/>
            <a:ext cx="4057650" cy="141089"/>
          </a:xfrm>
          <a:prstGeom prst="rect">
            <a:avLst/>
          </a:prstGeom>
          <a:noFill/>
          <a:ln>
            <a:noFill/>
          </a:ln>
        </p:spPr>
        <p:txBody>
          <a:bodyPr anchorCtr="0" anchor="t" bIns="0" lIns="0" spcFirstLastPara="1" rIns="0" wrap="square" tIns="0">
            <a:noAutofit/>
          </a:bodyPr>
          <a:lstStyle/>
          <a:p>
            <a:pPr indent="0" lvl="0" marL="0" marR="0" rtl="0" algn="l">
              <a:lnSpc>
                <a:spcPct val="133689"/>
              </a:lnSpc>
              <a:spcBef>
                <a:spcPts val="0"/>
              </a:spcBef>
              <a:spcAft>
                <a:spcPts val="0"/>
              </a:spcAft>
              <a:buClr>
                <a:srgbClr val="569CD6"/>
              </a:buClr>
              <a:buSzPts val="748"/>
              <a:buFont typeface="Arial"/>
              <a:buNone/>
            </a:pPr>
            <a:r>
              <a:rPr b="0" i="0" lang="en-US" sz="748" u="none" cap="none" strike="noStrike">
                <a:solidFill>
                  <a:srgbClr val="569CD6"/>
                </a:solidFill>
                <a:latin typeface="Arial"/>
                <a:ea typeface="Arial"/>
                <a:cs typeface="Arial"/>
                <a:sym typeface="Arial"/>
              </a:rPr>
              <a:t>// 2. Encrypt payload as a JWE token for Service B</a:t>
            </a:r>
            <a:endParaRPr b="0" i="0" sz="748" u="none" cap="none" strike="noStrike">
              <a:solidFill>
                <a:schemeClr val="dk1"/>
              </a:solidFill>
              <a:latin typeface="Calibri"/>
              <a:ea typeface="Calibri"/>
              <a:cs typeface="Calibri"/>
              <a:sym typeface="Calibri"/>
            </a:endParaRPr>
          </a:p>
        </p:txBody>
      </p:sp>
      <p:sp>
        <p:nvSpPr>
          <p:cNvPr id="774" name="Google Shape;774;p18"/>
          <p:cNvSpPr/>
          <p:nvPr/>
        </p:nvSpPr>
        <p:spPr>
          <a:xfrm>
            <a:off x="228600" y="1621631"/>
            <a:ext cx="4057650" cy="141089"/>
          </a:xfrm>
          <a:prstGeom prst="rect">
            <a:avLst/>
          </a:prstGeom>
          <a:noFill/>
          <a:ln>
            <a:noFill/>
          </a:ln>
        </p:spPr>
        <p:txBody>
          <a:bodyPr anchorCtr="0" anchor="t" bIns="0" lIns="0" spcFirstLastPara="1" rIns="0" wrap="square" tIns="0">
            <a:noAutofit/>
          </a:bodyPr>
          <a:lstStyle/>
          <a:p>
            <a:pPr indent="0" lvl="0" marL="0" marR="0" rtl="0" algn="l">
              <a:lnSpc>
                <a:spcPct val="133689"/>
              </a:lnSpc>
              <a:spcBef>
                <a:spcPts val="0"/>
              </a:spcBef>
              <a:spcAft>
                <a:spcPts val="0"/>
              </a:spcAft>
              <a:buClr>
                <a:srgbClr val="4EC9B0"/>
              </a:buClr>
              <a:buSzPts val="748"/>
              <a:buFont typeface="Arial"/>
              <a:buNone/>
            </a:pPr>
            <a:r>
              <a:rPr b="0" i="0" lang="en-US" sz="748" u="none" cap="none" strike="noStrike">
                <a:solidFill>
                  <a:srgbClr val="4EC9B0"/>
                </a:solidFill>
                <a:latin typeface="Arial"/>
                <a:ea typeface="Arial"/>
                <a:cs typeface="Arial"/>
                <a:sym typeface="Arial"/>
              </a:rPr>
              <a:t>String</a:t>
            </a:r>
            <a:r>
              <a:rPr b="0" i="0" lang="en-US" sz="748" u="none" cap="none" strike="noStrike">
                <a:solidFill>
                  <a:srgbClr val="D4D4D4"/>
                </a:solidFill>
                <a:latin typeface="Arial"/>
                <a:ea typeface="Arial"/>
                <a:cs typeface="Arial"/>
                <a:sym typeface="Arial"/>
              </a:rPr>
              <a:t> jweToken = client.encryptJWE(</a:t>
            </a:r>
            <a:endParaRPr b="0" i="0" sz="748" u="none" cap="none" strike="noStrike">
              <a:solidFill>
                <a:schemeClr val="dk1"/>
              </a:solidFill>
              <a:latin typeface="Calibri"/>
              <a:ea typeface="Calibri"/>
              <a:cs typeface="Calibri"/>
              <a:sym typeface="Calibri"/>
            </a:endParaRPr>
          </a:p>
        </p:txBody>
      </p:sp>
      <p:sp>
        <p:nvSpPr>
          <p:cNvPr id="775" name="Google Shape;775;p18"/>
          <p:cNvSpPr/>
          <p:nvPr/>
        </p:nvSpPr>
        <p:spPr>
          <a:xfrm>
            <a:off x="228600" y="1762720"/>
            <a:ext cx="4057650" cy="141089"/>
          </a:xfrm>
          <a:prstGeom prst="rect">
            <a:avLst/>
          </a:prstGeom>
          <a:noFill/>
          <a:ln>
            <a:noFill/>
          </a:ln>
        </p:spPr>
        <p:txBody>
          <a:bodyPr anchorCtr="0" anchor="t" bIns="0" lIns="272150" spcFirstLastPara="1" rIns="0" wrap="square" tIns="0">
            <a:noAutofit/>
          </a:bodyPr>
          <a:lstStyle/>
          <a:p>
            <a:pPr indent="0" lvl="0" marL="0" marR="0" rtl="0" algn="l">
              <a:lnSpc>
                <a:spcPct val="133689"/>
              </a:lnSpc>
              <a:spcBef>
                <a:spcPts val="0"/>
              </a:spcBef>
              <a:spcAft>
                <a:spcPts val="0"/>
              </a:spcAft>
              <a:buClr>
                <a:srgbClr val="D4D4D4"/>
              </a:buClr>
              <a:buSzPts val="748"/>
              <a:buFont typeface="Arial"/>
              <a:buNone/>
            </a:pPr>
            <a:r>
              <a:rPr b="0" i="0" lang="en-US" sz="748" u="none" cap="none" strike="noStrike">
                <a:solidFill>
                  <a:srgbClr val="D4D4D4"/>
                </a:solidFill>
                <a:latin typeface="Arial"/>
                <a:ea typeface="Arial"/>
                <a:cs typeface="Arial"/>
                <a:sym typeface="Arial"/>
              </a:rPr>
              <a:t>sensitivePayload,</a:t>
            </a:r>
            <a:endParaRPr b="0" i="0" sz="748" u="none" cap="none" strike="noStrike">
              <a:solidFill>
                <a:schemeClr val="dk1"/>
              </a:solidFill>
              <a:latin typeface="Calibri"/>
              <a:ea typeface="Calibri"/>
              <a:cs typeface="Calibri"/>
              <a:sym typeface="Calibri"/>
            </a:endParaRPr>
          </a:p>
        </p:txBody>
      </p:sp>
      <p:sp>
        <p:nvSpPr>
          <p:cNvPr id="776" name="Google Shape;776;p18"/>
          <p:cNvSpPr/>
          <p:nvPr/>
        </p:nvSpPr>
        <p:spPr>
          <a:xfrm>
            <a:off x="228600" y="1903809"/>
            <a:ext cx="4057650" cy="141089"/>
          </a:xfrm>
          <a:prstGeom prst="rect">
            <a:avLst/>
          </a:prstGeom>
          <a:noFill/>
          <a:ln>
            <a:noFill/>
          </a:ln>
        </p:spPr>
        <p:txBody>
          <a:bodyPr anchorCtr="0" anchor="t" bIns="0" lIns="272150" spcFirstLastPara="1" rIns="0" wrap="square" tIns="0">
            <a:noAutofit/>
          </a:bodyPr>
          <a:lstStyle/>
          <a:p>
            <a:pPr indent="0" lvl="0" marL="0" marR="0" rtl="0" algn="l">
              <a:lnSpc>
                <a:spcPct val="133689"/>
              </a:lnSpc>
              <a:spcBef>
                <a:spcPts val="0"/>
              </a:spcBef>
              <a:spcAft>
                <a:spcPts val="0"/>
              </a:spcAft>
              <a:buClr>
                <a:srgbClr val="D4D4D4"/>
              </a:buClr>
              <a:buSzPts val="748"/>
              <a:buFont typeface="Arial"/>
              <a:buNone/>
            </a:pPr>
            <a:r>
              <a:rPr b="0" i="0" lang="en-US" sz="748" u="none" cap="none" strike="noStrike">
                <a:solidFill>
                  <a:srgbClr val="D4D4D4"/>
                </a:solidFill>
                <a:latin typeface="Arial"/>
                <a:ea typeface="Arial"/>
                <a:cs typeface="Arial"/>
                <a:sym typeface="Arial"/>
              </a:rPr>
              <a:t>grant.getPublicKey()</a:t>
            </a:r>
            <a:endParaRPr b="0" i="0" sz="748" u="none" cap="none" strike="noStrike">
              <a:solidFill>
                <a:schemeClr val="dk1"/>
              </a:solidFill>
              <a:latin typeface="Calibri"/>
              <a:ea typeface="Calibri"/>
              <a:cs typeface="Calibri"/>
              <a:sym typeface="Calibri"/>
            </a:endParaRPr>
          </a:p>
        </p:txBody>
      </p:sp>
      <p:sp>
        <p:nvSpPr>
          <p:cNvPr id="777" name="Google Shape;777;p18"/>
          <p:cNvSpPr/>
          <p:nvPr/>
        </p:nvSpPr>
        <p:spPr>
          <a:xfrm>
            <a:off x="228600" y="2044898"/>
            <a:ext cx="4057650" cy="141089"/>
          </a:xfrm>
          <a:prstGeom prst="rect">
            <a:avLst/>
          </a:prstGeom>
          <a:noFill/>
          <a:ln>
            <a:noFill/>
          </a:ln>
        </p:spPr>
        <p:txBody>
          <a:bodyPr anchorCtr="0" anchor="t" bIns="0" lIns="0" spcFirstLastPara="1" rIns="0" wrap="square" tIns="0">
            <a:noAutofit/>
          </a:bodyPr>
          <a:lstStyle/>
          <a:p>
            <a:pPr indent="0" lvl="0" marL="0" marR="0" rtl="0" algn="l">
              <a:lnSpc>
                <a:spcPct val="133689"/>
              </a:lnSpc>
              <a:spcBef>
                <a:spcPts val="0"/>
              </a:spcBef>
              <a:spcAft>
                <a:spcPts val="0"/>
              </a:spcAft>
              <a:buClr>
                <a:srgbClr val="D4D4D4"/>
              </a:buClr>
              <a:buSzPts val="748"/>
              <a:buFont typeface="Arial"/>
              <a:buNone/>
            </a:pPr>
            <a:r>
              <a:rPr b="0" i="0" lang="en-US" sz="748" u="none" cap="none" strike="noStrike">
                <a:solidFill>
                  <a:srgbClr val="D4D4D4"/>
                </a:solidFill>
                <a:latin typeface="Arial"/>
                <a:ea typeface="Arial"/>
                <a:cs typeface="Arial"/>
                <a:sym typeface="Arial"/>
              </a:rPr>
              <a:t>);</a:t>
            </a:r>
            <a:endParaRPr b="0" i="0" sz="748" u="none" cap="none" strike="noStrike">
              <a:solidFill>
                <a:schemeClr val="dk1"/>
              </a:solidFill>
              <a:latin typeface="Calibri"/>
              <a:ea typeface="Calibri"/>
              <a:cs typeface="Calibri"/>
              <a:sym typeface="Calibri"/>
            </a:endParaRPr>
          </a:p>
        </p:txBody>
      </p:sp>
      <p:sp>
        <p:nvSpPr>
          <p:cNvPr id="778" name="Google Shape;778;p18"/>
          <p:cNvSpPr/>
          <p:nvPr/>
        </p:nvSpPr>
        <p:spPr>
          <a:xfrm>
            <a:off x="228600" y="2327077"/>
            <a:ext cx="4057650" cy="141089"/>
          </a:xfrm>
          <a:prstGeom prst="rect">
            <a:avLst/>
          </a:prstGeom>
          <a:noFill/>
          <a:ln>
            <a:noFill/>
          </a:ln>
        </p:spPr>
        <p:txBody>
          <a:bodyPr anchorCtr="0" anchor="t" bIns="0" lIns="0" spcFirstLastPara="1" rIns="0" wrap="square" tIns="0">
            <a:noAutofit/>
          </a:bodyPr>
          <a:lstStyle/>
          <a:p>
            <a:pPr indent="0" lvl="0" marL="0" marR="0" rtl="0" algn="l">
              <a:lnSpc>
                <a:spcPct val="133689"/>
              </a:lnSpc>
              <a:spcBef>
                <a:spcPts val="0"/>
              </a:spcBef>
              <a:spcAft>
                <a:spcPts val="0"/>
              </a:spcAft>
              <a:buClr>
                <a:srgbClr val="569CD6"/>
              </a:buClr>
              <a:buSzPts val="748"/>
              <a:buFont typeface="Arial"/>
              <a:buNone/>
            </a:pPr>
            <a:r>
              <a:rPr b="0" i="0" lang="en-US" sz="748" u="none" cap="none" strike="noStrike">
                <a:solidFill>
                  <a:srgbClr val="569CD6"/>
                </a:solidFill>
                <a:latin typeface="Arial"/>
                <a:ea typeface="Arial"/>
                <a:cs typeface="Arial"/>
                <a:sym typeface="Arial"/>
              </a:rPr>
              <a:t>// 3. Send over standard HTTP</a:t>
            </a:r>
            <a:endParaRPr b="0" i="0" sz="748" u="none" cap="none" strike="noStrike">
              <a:solidFill>
                <a:schemeClr val="dk1"/>
              </a:solidFill>
              <a:latin typeface="Calibri"/>
              <a:ea typeface="Calibri"/>
              <a:cs typeface="Calibri"/>
              <a:sym typeface="Calibri"/>
            </a:endParaRPr>
          </a:p>
        </p:txBody>
      </p:sp>
      <p:sp>
        <p:nvSpPr>
          <p:cNvPr id="779" name="Google Shape;779;p18"/>
          <p:cNvSpPr/>
          <p:nvPr/>
        </p:nvSpPr>
        <p:spPr>
          <a:xfrm>
            <a:off x="228600" y="2468166"/>
            <a:ext cx="4057650" cy="141089"/>
          </a:xfrm>
          <a:prstGeom prst="rect">
            <a:avLst/>
          </a:prstGeom>
          <a:noFill/>
          <a:ln>
            <a:noFill/>
          </a:ln>
        </p:spPr>
        <p:txBody>
          <a:bodyPr anchorCtr="0" anchor="t" bIns="0" lIns="0" spcFirstLastPara="1" rIns="0" wrap="square" tIns="0">
            <a:noAutofit/>
          </a:bodyPr>
          <a:lstStyle/>
          <a:p>
            <a:pPr indent="0" lvl="0" marL="0" marR="0" rtl="0" algn="l">
              <a:lnSpc>
                <a:spcPct val="133689"/>
              </a:lnSpc>
              <a:spcBef>
                <a:spcPts val="0"/>
              </a:spcBef>
              <a:spcAft>
                <a:spcPts val="0"/>
              </a:spcAft>
              <a:buClr>
                <a:srgbClr val="D4D4D4"/>
              </a:buClr>
              <a:buSzPts val="748"/>
              <a:buFont typeface="Arial"/>
              <a:buNone/>
            </a:pPr>
            <a:r>
              <a:rPr b="0" i="0" lang="en-US" sz="748" u="none" cap="none" strike="noStrike">
                <a:solidFill>
                  <a:srgbClr val="D4D4D4"/>
                </a:solidFill>
                <a:latin typeface="Arial"/>
                <a:ea typeface="Arial"/>
                <a:cs typeface="Arial"/>
                <a:sym typeface="Arial"/>
              </a:rPr>
              <a:t>httpClient.post(</a:t>
            </a:r>
            <a:r>
              <a:rPr b="0" i="0" lang="en-US" sz="748" u="none" cap="none" strike="noStrike">
                <a:solidFill>
                  <a:srgbClr val="CE9178"/>
                </a:solidFill>
                <a:latin typeface="Arial"/>
                <a:ea typeface="Arial"/>
                <a:cs typeface="Arial"/>
                <a:sym typeface="Arial"/>
              </a:rPr>
              <a:t>"https://service-b/api/data"</a:t>
            </a:r>
            <a:r>
              <a:rPr b="0" i="0" lang="en-US" sz="748" u="none" cap="none" strike="noStrike">
                <a:solidFill>
                  <a:srgbClr val="D4D4D4"/>
                </a:solidFill>
                <a:latin typeface="Arial"/>
                <a:ea typeface="Arial"/>
                <a:cs typeface="Arial"/>
                <a:sym typeface="Arial"/>
              </a:rPr>
              <a:t>, jweToken);</a:t>
            </a:r>
            <a:endParaRPr b="0" i="0" sz="748" u="none" cap="none" strike="noStrike">
              <a:solidFill>
                <a:schemeClr val="dk1"/>
              </a:solidFill>
              <a:latin typeface="Calibri"/>
              <a:ea typeface="Calibri"/>
              <a:cs typeface="Calibri"/>
              <a:sym typeface="Calibri"/>
            </a:endParaRPr>
          </a:p>
        </p:txBody>
      </p:sp>
      <p:sp>
        <p:nvSpPr>
          <p:cNvPr id="780" name="Google Shape;780;p18"/>
          <p:cNvSpPr/>
          <p:nvPr/>
        </p:nvSpPr>
        <p:spPr>
          <a:xfrm>
            <a:off x="228600" y="3248620"/>
            <a:ext cx="4057650" cy="141089"/>
          </a:xfrm>
          <a:prstGeom prst="rect">
            <a:avLst/>
          </a:prstGeom>
          <a:noFill/>
          <a:ln>
            <a:noFill/>
          </a:ln>
        </p:spPr>
        <p:txBody>
          <a:bodyPr anchorCtr="0" anchor="t" bIns="0" lIns="0" spcFirstLastPara="1" rIns="0" wrap="square" tIns="0">
            <a:noAutofit/>
          </a:bodyPr>
          <a:lstStyle/>
          <a:p>
            <a:pPr indent="0" lvl="0" marL="0" marR="0" rtl="0" algn="l">
              <a:lnSpc>
                <a:spcPct val="133689"/>
              </a:lnSpc>
              <a:spcBef>
                <a:spcPts val="0"/>
              </a:spcBef>
              <a:spcAft>
                <a:spcPts val="0"/>
              </a:spcAft>
              <a:buClr>
                <a:srgbClr val="569CD6"/>
              </a:buClr>
              <a:buSzPts val="748"/>
              <a:buFont typeface="Arial"/>
              <a:buNone/>
            </a:pPr>
            <a:r>
              <a:rPr b="0" i="0" lang="en-US" sz="748" u="none" cap="none" strike="noStrike">
                <a:solidFill>
                  <a:srgbClr val="569CD6"/>
                </a:solidFill>
                <a:latin typeface="Arial"/>
                <a:ea typeface="Arial"/>
                <a:cs typeface="Arial"/>
                <a:sym typeface="Arial"/>
              </a:rPr>
              <a:t>// --- SERVICE B (Receiver) ---</a:t>
            </a:r>
            <a:endParaRPr b="0" i="0" sz="748" u="none" cap="none" strike="noStrike">
              <a:solidFill>
                <a:schemeClr val="dk1"/>
              </a:solidFill>
              <a:latin typeface="Calibri"/>
              <a:ea typeface="Calibri"/>
              <a:cs typeface="Calibri"/>
              <a:sym typeface="Calibri"/>
            </a:endParaRPr>
          </a:p>
        </p:txBody>
      </p:sp>
      <p:sp>
        <p:nvSpPr>
          <p:cNvPr id="781" name="Google Shape;781;p18"/>
          <p:cNvSpPr/>
          <p:nvPr/>
        </p:nvSpPr>
        <p:spPr>
          <a:xfrm>
            <a:off x="228600" y="3389709"/>
            <a:ext cx="4057650" cy="141089"/>
          </a:xfrm>
          <a:prstGeom prst="rect">
            <a:avLst/>
          </a:prstGeom>
          <a:noFill/>
          <a:ln>
            <a:noFill/>
          </a:ln>
        </p:spPr>
        <p:txBody>
          <a:bodyPr anchorCtr="0" anchor="t" bIns="0" lIns="0" spcFirstLastPara="1" rIns="0" wrap="square" tIns="0">
            <a:noAutofit/>
          </a:bodyPr>
          <a:lstStyle/>
          <a:p>
            <a:pPr indent="0" lvl="0" marL="0" marR="0" rtl="0" algn="l">
              <a:lnSpc>
                <a:spcPct val="133689"/>
              </a:lnSpc>
              <a:spcBef>
                <a:spcPts val="0"/>
              </a:spcBef>
              <a:spcAft>
                <a:spcPts val="0"/>
              </a:spcAft>
              <a:buClr>
                <a:srgbClr val="569CD6"/>
              </a:buClr>
              <a:buSzPts val="748"/>
              <a:buFont typeface="Arial"/>
              <a:buNone/>
            </a:pPr>
            <a:r>
              <a:rPr b="0" i="0" lang="en-US" sz="748" u="none" cap="none" strike="noStrike">
                <a:solidFill>
                  <a:srgbClr val="569CD6"/>
                </a:solidFill>
                <a:latin typeface="Arial"/>
                <a:ea typeface="Arial"/>
                <a:cs typeface="Arial"/>
                <a:sym typeface="Arial"/>
              </a:rPr>
              <a:t>// 4. Receive JWE token</a:t>
            </a:r>
            <a:endParaRPr b="0" i="0" sz="748" u="none" cap="none" strike="noStrike">
              <a:solidFill>
                <a:schemeClr val="dk1"/>
              </a:solidFill>
              <a:latin typeface="Calibri"/>
              <a:ea typeface="Calibri"/>
              <a:cs typeface="Calibri"/>
              <a:sym typeface="Calibri"/>
            </a:endParaRPr>
          </a:p>
        </p:txBody>
      </p:sp>
      <p:sp>
        <p:nvSpPr>
          <p:cNvPr id="782" name="Google Shape;782;p18"/>
          <p:cNvSpPr/>
          <p:nvPr/>
        </p:nvSpPr>
        <p:spPr>
          <a:xfrm>
            <a:off x="228600" y="3530798"/>
            <a:ext cx="4057650" cy="141089"/>
          </a:xfrm>
          <a:prstGeom prst="rect">
            <a:avLst/>
          </a:prstGeom>
          <a:noFill/>
          <a:ln>
            <a:noFill/>
          </a:ln>
        </p:spPr>
        <p:txBody>
          <a:bodyPr anchorCtr="0" anchor="t" bIns="0" lIns="0" spcFirstLastPara="1" rIns="0" wrap="square" tIns="0">
            <a:noAutofit/>
          </a:bodyPr>
          <a:lstStyle/>
          <a:p>
            <a:pPr indent="0" lvl="0" marL="0" marR="0" rtl="0" algn="l">
              <a:lnSpc>
                <a:spcPct val="133689"/>
              </a:lnSpc>
              <a:spcBef>
                <a:spcPts val="0"/>
              </a:spcBef>
              <a:spcAft>
                <a:spcPts val="0"/>
              </a:spcAft>
              <a:buClr>
                <a:srgbClr val="569CD6"/>
              </a:buClr>
              <a:buSzPts val="748"/>
              <a:buFont typeface="Arial"/>
              <a:buNone/>
            </a:pPr>
            <a:r>
              <a:rPr b="0" i="0" lang="en-US" sz="748" u="none" cap="none" strike="noStrike">
                <a:solidFill>
                  <a:srgbClr val="569CD6"/>
                </a:solidFill>
                <a:latin typeface="Arial"/>
                <a:ea typeface="Arial"/>
                <a:cs typeface="Arial"/>
                <a:sym typeface="Arial"/>
              </a:rPr>
              <a:t>public</a:t>
            </a:r>
            <a:r>
              <a:rPr b="0" i="0" lang="en-US" sz="748" u="none" cap="none" strike="noStrike">
                <a:solidFill>
                  <a:srgbClr val="D4D4D4"/>
                </a:solidFill>
                <a:latin typeface="Arial"/>
                <a:ea typeface="Arial"/>
                <a:cs typeface="Arial"/>
                <a:sym typeface="Arial"/>
              </a:rPr>
              <a:t> </a:t>
            </a:r>
            <a:r>
              <a:rPr b="0" i="0" lang="en-US" sz="748" u="none" cap="none" strike="noStrike">
                <a:solidFill>
                  <a:srgbClr val="4EC9B0"/>
                </a:solidFill>
                <a:latin typeface="Arial"/>
                <a:ea typeface="Arial"/>
                <a:cs typeface="Arial"/>
                <a:sym typeface="Arial"/>
              </a:rPr>
              <a:t>Response</a:t>
            </a:r>
            <a:r>
              <a:rPr b="0" i="0" lang="en-US" sz="748" u="none" cap="none" strike="noStrike">
                <a:solidFill>
                  <a:srgbClr val="D4D4D4"/>
                </a:solidFill>
                <a:latin typeface="Arial"/>
                <a:ea typeface="Arial"/>
                <a:cs typeface="Arial"/>
                <a:sym typeface="Arial"/>
              </a:rPr>
              <a:t> receiveData(</a:t>
            </a:r>
            <a:r>
              <a:rPr b="0" i="0" lang="en-US" sz="748" u="none" cap="none" strike="noStrike">
                <a:solidFill>
                  <a:srgbClr val="4EC9B0"/>
                </a:solidFill>
                <a:latin typeface="Arial"/>
                <a:ea typeface="Arial"/>
                <a:cs typeface="Arial"/>
                <a:sym typeface="Arial"/>
              </a:rPr>
              <a:t>String</a:t>
            </a:r>
            <a:r>
              <a:rPr b="0" i="0" lang="en-US" sz="748" u="none" cap="none" strike="noStrike">
                <a:solidFill>
                  <a:srgbClr val="D4D4D4"/>
                </a:solidFill>
                <a:latin typeface="Arial"/>
                <a:ea typeface="Arial"/>
                <a:cs typeface="Arial"/>
                <a:sym typeface="Arial"/>
              </a:rPr>
              <a:t> jweToken) {</a:t>
            </a:r>
            <a:endParaRPr b="0" i="0" sz="748" u="none" cap="none" strike="noStrike">
              <a:solidFill>
                <a:schemeClr val="dk1"/>
              </a:solidFill>
              <a:latin typeface="Calibri"/>
              <a:ea typeface="Calibri"/>
              <a:cs typeface="Calibri"/>
              <a:sym typeface="Calibri"/>
            </a:endParaRPr>
          </a:p>
        </p:txBody>
      </p:sp>
      <p:sp>
        <p:nvSpPr>
          <p:cNvPr id="783" name="Google Shape;783;p18"/>
          <p:cNvSpPr/>
          <p:nvPr/>
        </p:nvSpPr>
        <p:spPr>
          <a:xfrm>
            <a:off x="228600" y="3812977"/>
            <a:ext cx="4057650" cy="141089"/>
          </a:xfrm>
          <a:prstGeom prst="rect">
            <a:avLst/>
          </a:prstGeom>
          <a:noFill/>
          <a:ln>
            <a:noFill/>
          </a:ln>
        </p:spPr>
        <p:txBody>
          <a:bodyPr anchorCtr="0" anchor="t" bIns="0" lIns="272150" spcFirstLastPara="1" rIns="0" wrap="square" tIns="0">
            <a:noAutofit/>
          </a:bodyPr>
          <a:lstStyle/>
          <a:p>
            <a:pPr indent="0" lvl="0" marL="0" marR="0" rtl="0" algn="l">
              <a:lnSpc>
                <a:spcPct val="133689"/>
              </a:lnSpc>
              <a:spcBef>
                <a:spcPts val="0"/>
              </a:spcBef>
              <a:spcAft>
                <a:spcPts val="0"/>
              </a:spcAft>
              <a:buClr>
                <a:srgbClr val="569CD6"/>
              </a:buClr>
              <a:buSzPts val="748"/>
              <a:buFont typeface="Arial"/>
              <a:buNone/>
            </a:pPr>
            <a:r>
              <a:rPr b="0" i="0" lang="en-US" sz="748" u="none" cap="none" strike="noStrike">
                <a:solidFill>
                  <a:srgbClr val="569CD6"/>
                </a:solidFill>
                <a:latin typeface="Arial"/>
                <a:ea typeface="Arial"/>
                <a:cs typeface="Arial"/>
                <a:sym typeface="Arial"/>
              </a:rPr>
              <a:t>// 5. Decrypt JWE token</a:t>
            </a:r>
            <a:endParaRPr b="0" i="0" sz="748" u="none" cap="none" strike="noStrike">
              <a:solidFill>
                <a:schemeClr val="dk1"/>
              </a:solidFill>
              <a:latin typeface="Calibri"/>
              <a:ea typeface="Calibri"/>
              <a:cs typeface="Calibri"/>
              <a:sym typeface="Calibri"/>
            </a:endParaRPr>
          </a:p>
        </p:txBody>
      </p:sp>
      <p:sp>
        <p:nvSpPr>
          <p:cNvPr id="784" name="Google Shape;784;p18"/>
          <p:cNvSpPr/>
          <p:nvPr/>
        </p:nvSpPr>
        <p:spPr>
          <a:xfrm>
            <a:off x="228600" y="3954066"/>
            <a:ext cx="4057650" cy="141089"/>
          </a:xfrm>
          <a:prstGeom prst="rect">
            <a:avLst/>
          </a:prstGeom>
          <a:noFill/>
          <a:ln>
            <a:noFill/>
          </a:ln>
        </p:spPr>
        <p:txBody>
          <a:bodyPr anchorCtr="0" anchor="t" bIns="0" lIns="272150" spcFirstLastPara="1" rIns="0" wrap="square" tIns="0">
            <a:noAutofit/>
          </a:bodyPr>
          <a:lstStyle/>
          <a:p>
            <a:pPr indent="0" lvl="0" marL="0" marR="0" rtl="0" algn="l">
              <a:lnSpc>
                <a:spcPct val="133689"/>
              </a:lnSpc>
              <a:spcBef>
                <a:spcPts val="0"/>
              </a:spcBef>
              <a:spcAft>
                <a:spcPts val="0"/>
              </a:spcAft>
              <a:buClr>
                <a:srgbClr val="569CD6"/>
              </a:buClr>
              <a:buSzPts val="748"/>
              <a:buFont typeface="Arial"/>
              <a:buNone/>
            </a:pPr>
            <a:r>
              <a:rPr b="0" i="0" lang="en-US" sz="748" u="none" cap="none" strike="noStrike">
                <a:solidFill>
                  <a:srgbClr val="569CD6"/>
                </a:solidFill>
                <a:latin typeface="Arial"/>
                <a:ea typeface="Arial"/>
                <a:cs typeface="Arial"/>
                <a:sym typeface="Arial"/>
              </a:rPr>
              <a:t>// SDK automatically uses Service B's private key</a:t>
            </a:r>
            <a:endParaRPr b="0" i="0" sz="748" u="none" cap="none" strike="noStrike">
              <a:solidFill>
                <a:schemeClr val="dk1"/>
              </a:solidFill>
              <a:latin typeface="Calibri"/>
              <a:ea typeface="Calibri"/>
              <a:cs typeface="Calibri"/>
              <a:sym typeface="Calibri"/>
            </a:endParaRPr>
          </a:p>
        </p:txBody>
      </p:sp>
      <p:sp>
        <p:nvSpPr>
          <p:cNvPr id="785" name="Google Shape;785;p18"/>
          <p:cNvSpPr/>
          <p:nvPr/>
        </p:nvSpPr>
        <p:spPr>
          <a:xfrm>
            <a:off x="228600" y="4095155"/>
            <a:ext cx="4057650" cy="141089"/>
          </a:xfrm>
          <a:prstGeom prst="rect">
            <a:avLst/>
          </a:prstGeom>
          <a:noFill/>
          <a:ln>
            <a:noFill/>
          </a:ln>
        </p:spPr>
        <p:txBody>
          <a:bodyPr anchorCtr="0" anchor="t" bIns="0" lIns="272150" spcFirstLastPara="1" rIns="0" wrap="square" tIns="0">
            <a:noAutofit/>
          </a:bodyPr>
          <a:lstStyle/>
          <a:p>
            <a:pPr indent="0" lvl="0" marL="0" marR="0" rtl="0" algn="l">
              <a:lnSpc>
                <a:spcPct val="133689"/>
              </a:lnSpc>
              <a:spcBef>
                <a:spcPts val="0"/>
              </a:spcBef>
              <a:spcAft>
                <a:spcPts val="0"/>
              </a:spcAft>
              <a:buClr>
                <a:srgbClr val="569CD6"/>
              </a:buClr>
              <a:buSzPts val="748"/>
              <a:buFont typeface="Arial"/>
              <a:buNone/>
            </a:pPr>
            <a:r>
              <a:rPr b="0" i="0" lang="en-US" sz="748" u="none" cap="none" strike="noStrike">
                <a:solidFill>
                  <a:srgbClr val="569CD6"/>
                </a:solidFill>
                <a:latin typeface="Arial"/>
                <a:ea typeface="Arial"/>
                <a:cs typeface="Arial"/>
                <a:sym typeface="Arial"/>
              </a:rPr>
              <a:t>// via the platform API to decrypt the payload</a:t>
            </a:r>
            <a:endParaRPr b="0" i="0" sz="748" u="none" cap="none" strike="noStrike">
              <a:solidFill>
                <a:schemeClr val="dk1"/>
              </a:solidFill>
              <a:latin typeface="Calibri"/>
              <a:ea typeface="Calibri"/>
              <a:cs typeface="Calibri"/>
              <a:sym typeface="Calibri"/>
            </a:endParaRPr>
          </a:p>
        </p:txBody>
      </p:sp>
      <p:sp>
        <p:nvSpPr>
          <p:cNvPr id="786" name="Google Shape;786;p18"/>
          <p:cNvSpPr/>
          <p:nvPr/>
        </p:nvSpPr>
        <p:spPr>
          <a:xfrm>
            <a:off x="228600" y="4236244"/>
            <a:ext cx="4057650" cy="141089"/>
          </a:xfrm>
          <a:prstGeom prst="rect">
            <a:avLst/>
          </a:prstGeom>
          <a:noFill/>
          <a:ln>
            <a:noFill/>
          </a:ln>
        </p:spPr>
        <p:txBody>
          <a:bodyPr anchorCtr="0" anchor="t" bIns="0" lIns="272150" spcFirstLastPara="1" rIns="0" wrap="square" tIns="0">
            <a:noAutofit/>
          </a:bodyPr>
          <a:lstStyle/>
          <a:p>
            <a:pPr indent="0" lvl="0" marL="0" marR="0" rtl="0" algn="l">
              <a:lnSpc>
                <a:spcPct val="133689"/>
              </a:lnSpc>
              <a:spcBef>
                <a:spcPts val="0"/>
              </a:spcBef>
              <a:spcAft>
                <a:spcPts val="0"/>
              </a:spcAft>
              <a:buClr>
                <a:srgbClr val="4EC9B0"/>
              </a:buClr>
              <a:buSzPts val="748"/>
              <a:buFont typeface="Arial"/>
              <a:buNone/>
            </a:pPr>
            <a:r>
              <a:rPr b="0" i="0" lang="en-US" sz="748" u="none" cap="none" strike="noStrike">
                <a:solidFill>
                  <a:srgbClr val="4EC9B0"/>
                </a:solidFill>
                <a:latin typeface="Arial"/>
                <a:ea typeface="Arial"/>
                <a:cs typeface="Arial"/>
                <a:sym typeface="Arial"/>
              </a:rPr>
              <a:t>byte</a:t>
            </a:r>
            <a:r>
              <a:rPr b="0" i="0" lang="en-US" sz="748" u="none" cap="none" strike="noStrike">
                <a:solidFill>
                  <a:srgbClr val="D4D4D4"/>
                </a:solidFill>
                <a:latin typeface="Arial"/>
                <a:ea typeface="Arial"/>
                <a:cs typeface="Arial"/>
                <a:sym typeface="Arial"/>
              </a:rPr>
              <a:t>[] decrypted = client.decryptJWE(jweToken);</a:t>
            </a:r>
            <a:endParaRPr b="0" i="0" sz="748" u="none" cap="none" strike="noStrike">
              <a:solidFill>
                <a:schemeClr val="dk1"/>
              </a:solidFill>
              <a:latin typeface="Calibri"/>
              <a:ea typeface="Calibri"/>
              <a:cs typeface="Calibri"/>
              <a:sym typeface="Calibri"/>
            </a:endParaRPr>
          </a:p>
        </p:txBody>
      </p:sp>
      <p:sp>
        <p:nvSpPr>
          <p:cNvPr id="787" name="Google Shape;787;p18"/>
          <p:cNvSpPr/>
          <p:nvPr/>
        </p:nvSpPr>
        <p:spPr>
          <a:xfrm>
            <a:off x="228600" y="4518422"/>
            <a:ext cx="4057650" cy="141089"/>
          </a:xfrm>
          <a:prstGeom prst="rect">
            <a:avLst/>
          </a:prstGeom>
          <a:noFill/>
          <a:ln>
            <a:noFill/>
          </a:ln>
        </p:spPr>
        <p:txBody>
          <a:bodyPr anchorCtr="0" anchor="t" bIns="0" lIns="272150" spcFirstLastPara="1" rIns="0" wrap="square" tIns="0">
            <a:noAutofit/>
          </a:bodyPr>
          <a:lstStyle/>
          <a:p>
            <a:pPr indent="0" lvl="0" marL="0" marR="0" rtl="0" algn="l">
              <a:lnSpc>
                <a:spcPct val="133689"/>
              </a:lnSpc>
              <a:spcBef>
                <a:spcPts val="0"/>
              </a:spcBef>
              <a:spcAft>
                <a:spcPts val="0"/>
              </a:spcAft>
              <a:buClr>
                <a:srgbClr val="D4D4D4"/>
              </a:buClr>
              <a:buSzPts val="748"/>
              <a:buFont typeface="Arial"/>
              <a:buNone/>
            </a:pPr>
            <a:r>
              <a:rPr b="0" i="0" lang="en-US" sz="748" u="none" cap="none" strike="noStrike">
                <a:solidFill>
                  <a:srgbClr val="D4D4D4"/>
                </a:solidFill>
                <a:latin typeface="Arial"/>
                <a:ea typeface="Arial"/>
                <a:cs typeface="Arial"/>
                <a:sym typeface="Arial"/>
              </a:rPr>
              <a:t>processData(decrypted);</a:t>
            </a:r>
            <a:endParaRPr b="0" i="0" sz="748" u="none" cap="none" strike="noStrike">
              <a:solidFill>
                <a:schemeClr val="dk1"/>
              </a:solidFill>
              <a:latin typeface="Calibri"/>
              <a:ea typeface="Calibri"/>
              <a:cs typeface="Calibri"/>
              <a:sym typeface="Calibri"/>
            </a:endParaRPr>
          </a:p>
        </p:txBody>
      </p:sp>
      <p:sp>
        <p:nvSpPr>
          <p:cNvPr id="788" name="Google Shape;788;p18"/>
          <p:cNvSpPr/>
          <p:nvPr/>
        </p:nvSpPr>
        <p:spPr>
          <a:xfrm>
            <a:off x="228600" y="4659511"/>
            <a:ext cx="4057650" cy="141089"/>
          </a:xfrm>
          <a:prstGeom prst="rect">
            <a:avLst/>
          </a:prstGeom>
          <a:noFill/>
          <a:ln>
            <a:noFill/>
          </a:ln>
        </p:spPr>
        <p:txBody>
          <a:bodyPr anchorCtr="0" anchor="t" bIns="0" lIns="272150" spcFirstLastPara="1" rIns="0" wrap="square" tIns="0">
            <a:noAutofit/>
          </a:bodyPr>
          <a:lstStyle/>
          <a:p>
            <a:pPr indent="0" lvl="0" marL="0" marR="0" rtl="0" algn="l">
              <a:lnSpc>
                <a:spcPct val="133689"/>
              </a:lnSpc>
              <a:spcBef>
                <a:spcPts val="0"/>
              </a:spcBef>
              <a:spcAft>
                <a:spcPts val="0"/>
              </a:spcAft>
              <a:buClr>
                <a:srgbClr val="569CD6"/>
              </a:buClr>
              <a:buSzPts val="748"/>
              <a:buFont typeface="Arial"/>
              <a:buNone/>
            </a:pPr>
            <a:r>
              <a:rPr b="0" i="0" lang="en-US" sz="748" u="none" cap="none" strike="noStrike">
                <a:solidFill>
                  <a:srgbClr val="569CD6"/>
                </a:solidFill>
                <a:latin typeface="Arial"/>
                <a:ea typeface="Arial"/>
                <a:cs typeface="Arial"/>
                <a:sym typeface="Arial"/>
              </a:rPr>
              <a:t>return</a:t>
            </a:r>
            <a:r>
              <a:rPr b="0" i="0" lang="en-US" sz="748" u="none" cap="none" strike="noStrike">
                <a:solidFill>
                  <a:srgbClr val="D4D4D4"/>
                </a:solidFill>
                <a:latin typeface="Arial"/>
                <a:ea typeface="Arial"/>
                <a:cs typeface="Arial"/>
                <a:sym typeface="Arial"/>
              </a:rPr>
              <a:t> </a:t>
            </a:r>
            <a:r>
              <a:rPr b="0" i="0" lang="en-US" sz="748" u="none" cap="none" strike="noStrike">
                <a:solidFill>
                  <a:srgbClr val="4EC9B0"/>
                </a:solidFill>
                <a:latin typeface="Arial"/>
                <a:ea typeface="Arial"/>
                <a:cs typeface="Arial"/>
                <a:sym typeface="Arial"/>
              </a:rPr>
              <a:t>Response</a:t>
            </a:r>
            <a:r>
              <a:rPr b="0" i="0" lang="en-US" sz="748" u="none" cap="none" strike="noStrike">
                <a:solidFill>
                  <a:srgbClr val="D4D4D4"/>
                </a:solidFill>
                <a:latin typeface="Arial"/>
                <a:ea typeface="Arial"/>
                <a:cs typeface="Arial"/>
                <a:sym typeface="Arial"/>
              </a:rPr>
              <a:t>.ok();</a:t>
            </a:r>
            <a:endParaRPr b="0" i="0" sz="748" u="none" cap="none" strike="noStrike">
              <a:solidFill>
                <a:schemeClr val="dk1"/>
              </a:solidFill>
              <a:latin typeface="Calibri"/>
              <a:ea typeface="Calibri"/>
              <a:cs typeface="Calibri"/>
              <a:sym typeface="Calibri"/>
            </a:endParaRPr>
          </a:p>
        </p:txBody>
      </p:sp>
      <p:sp>
        <p:nvSpPr>
          <p:cNvPr id="789" name="Google Shape;789;p18"/>
          <p:cNvSpPr/>
          <p:nvPr/>
        </p:nvSpPr>
        <p:spPr>
          <a:xfrm>
            <a:off x="228600" y="4800600"/>
            <a:ext cx="4057650" cy="141089"/>
          </a:xfrm>
          <a:prstGeom prst="rect">
            <a:avLst/>
          </a:prstGeom>
          <a:noFill/>
          <a:ln>
            <a:noFill/>
          </a:ln>
        </p:spPr>
        <p:txBody>
          <a:bodyPr anchorCtr="0" anchor="t" bIns="0" lIns="0" spcFirstLastPara="1" rIns="0" wrap="square" tIns="0">
            <a:noAutofit/>
          </a:bodyPr>
          <a:lstStyle/>
          <a:p>
            <a:pPr indent="0" lvl="0" marL="0" marR="0" rtl="0" algn="l">
              <a:lnSpc>
                <a:spcPct val="133689"/>
              </a:lnSpc>
              <a:spcBef>
                <a:spcPts val="0"/>
              </a:spcBef>
              <a:spcAft>
                <a:spcPts val="0"/>
              </a:spcAft>
              <a:buClr>
                <a:srgbClr val="D4D4D4"/>
              </a:buClr>
              <a:buSzPts val="748"/>
              <a:buFont typeface="Arial"/>
              <a:buNone/>
            </a:pPr>
            <a:r>
              <a:rPr b="0" i="0" lang="en-US" sz="748" u="none" cap="none" strike="noStrike">
                <a:solidFill>
                  <a:srgbClr val="D4D4D4"/>
                </a:solidFill>
                <a:latin typeface="Arial"/>
                <a:ea typeface="Arial"/>
                <a:cs typeface="Arial"/>
                <a:sym typeface="Arial"/>
              </a:rPr>
              <a:t>}</a:t>
            </a:r>
            <a:endParaRPr b="0" i="0" sz="748" u="none" cap="none" strike="noStrike">
              <a:solidFill>
                <a:schemeClr val="dk1"/>
              </a:solidFill>
              <a:latin typeface="Calibri"/>
              <a:ea typeface="Calibri"/>
              <a:cs typeface="Calibri"/>
              <a:sym typeface="Calibri"/>
            </a:endParaRPr>
          </a:p>
        </p:txBody>
      </p:sp>
      <p:sp>
        <p:nvSpPr>
          <p:cNvPr id="790" name="Google Shape;790;p18"/>
          <p:cNvSpPr/>
          <p:nvPr/>
        </p:nvSpPr>
        <p:spPr>
          <a:xfrm>
            <a:off x="4686300" y="321469"/>
            <a:ext cx="4400550" cy="2020119"/>
          </a:xfrm>
          <a:prstGeom prst="rect">
            <a:avLst/>
          </a:prstGeom>
          <a:solidFill>
            <a:srgbClr val="0078D4">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18"/>
          <p:cNvSpPr/>
          <p:nvPr/>
        </p:nvSpPr>
        <p:spPr>
          <a:xfrm>
            <a:off x="4686300" y="321469"/>
            <a:ext cx="28575" cy="2020119"/>
          </a:xfrm>
          <a:prstGeom prst="rect">
            <a:avLst/>
          </a:prstGeom>
          <a:solidFill>
            <a:srgbClr val="0078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18"/>
          <p:cNvSpPr/>
          <p:nvPr/>
        </p:nvSpPr>
        <p:spPr>
          <a:xfrm>
            <a:off x="4857750" y="492919"/>
            <a:ext cx="4057650" cy="157163"/>
          </a:xfrm>
          <a:prstGeom prst="rect">
            <a:avLst/>
          </a:prstGeom>
          <a:noFill/>
          <a:ln>
            <a:noFill/>
          </a:ln>
        </p:spPr>
        <p:txBody>
          <a:bodyPr anchorCtr="0" anchor="t" bIns="0" lIns="0" spcFirstLastPara="1" rIns="0" wrap="square" tIns="0">
            <a:noAutofit/>
          </a:bodyPr>
          <a:lstStyle/>
          <a:p>
            <a:pPr indent="0" lvl="0" marL="0" marR="0" rtl="0" algn="l">
              <a:lnSpc>
                <a:spcPct val="137420"/>
              </a:lnSpc>
              <a:spcBef>
                <a:spcPts val="0"/>
              </a:spcBef>
              <a:spcAft>
                <a:spcPts val="0"/>
              </a:spcAft>
              <a:buClr>
                <a:srgbClr val="0078D4"/>
              </a:buClr>
              <a:buSzPts val="946"/>
              <a:buFont typeface="Times New Roman"/>
              <a:buNone/>
            </a:pPr>
            <a:r>
              <a:rPr b="1" i="0" lang="en-US" sz="946" u="none" cap="none" strike="noStrike">
                <a:solidFill>
                  <a:srgbClr val="0078D4"/>
                </a:solidFill>
                <a:latin typeface="Times New Roman"/>
                <a:ea typeface="Times New Roman"/>
                <a:cs typeface="Times New Roman"/>
                <a:sym typeface="Times New Roman"/>
              </a:rPr>
              <a:t>Behind the Scenes</a:t>
            </a:r>
            <a:endParaRPr b="0" i="0" sz="946" u="none" cap="none" strike="noStrike">
              <a:solidFill>
                <a:schemeClr val="dk1"/>
              </a:solidFill>
              <a:latin typeface="Calibri"/>
              <a:ea typeface="Calibri"/>
              <a:cs typeface="Calibri"/>
              <a:sym typeface="Calibri"/>
            </a:endParaRPr>
          </a:p>
        </p:txBody>
      </p:sp>
      <p:sp>
        <p:nvSpPr>
          <p:cNvPr id="793" name="Google Shape;793;p18"/>
          <p:cNvSpPr/>
          <p:nvPr/>
        </p:nvSpPr>
        <p:spPr>
          <a:xfrm>
            <a:off x="5029200" y="707231"/>
            <a:ext cx="3886200" cy="548590"/>
          </a:xfrm>
          <a:prstGeom prst="rect">
            <a:avLst/>
          </a:prstGeom>
          <a:noFill/>
          <a:ln>
            <a:noFill/>
          </a:ln>
        </p:spPr>
        <p:txBody>
          <a:bodyPr anchorCtr="0" anchor="t" bIns="0" lIns="0" spcFirstLastPara="1" rIns="0" wrap="square" tIns="0">
            <a:noAutofit/>
          </a:bodyPr>
          <a:lstStyle/>
          <a:p>
            <a:pPr indent="-127000" lvl="0" marL="127000" marR="0" rtl="0" algn="l">
              <a:lnSpc>
                <a:spcPct val="167865"/>
              </a:lnSpc>
              <a:spcBef>
                <a:spcPts val="0"/>
              </a:spcBef>
              <a:spcAft>
                <a:spcPts val="0"/>
              </a:spcAft>
              <a:buClr>
                <a:srgbClr val="333333"/>
              </a:buClr>
              <a:buSzPts val="784"/>
              <a:buFont typeface="Times New Roman"/>
              <a:buChar char="•"/>
            </a:pPr>
            <a:r>
              <a:rPr b="1" i="0" lang="en-US" sz="784" u="none" cap="none" strike="noStrike">
                <a:solidFill>
                  <a:srgbClr val="333333"/>
                </a:solidFill>
                <a:latin typeface="Times New Roman"/>
                <a:ea typeface="Times New Roman"/>
                <a:cs typeface="Times New Roman"/>
                <a:sym typeface="Times New Roman"/>
              </a:rPr>
              <a:t>Zero Trust Architecture:</a:t>
            </a:r>
            <a:r>
              <a:rPr b="0" i="0" lang="en-US" sz="834" u="none" cap="none" strike="noStrike">
                <a:solidFill>
                  <a:srgbClr val="333333"/>
                </a:solidFill>
                <a:latin typeface="Times New Roman"/>
                <a:ea typeface="Times New Roman"/>
                <a:cs typeface="Times New Roman"/>
                <a:sym typeface="Times New Roman"/>
              </a:rPr>
              <a:t> Service A cannot encrypt data for Service B without first obtaining a cryptographic grant from the platform, which verifies Service A's identity and authorization policy.</a:t>
            </a:r>
            <a:endParaRPr b="0" i="0" sz="784" u="none" cap="none" strike="noStrike">
              <a:solidFill>
                <a:schemeClr val="dk1"/>
              </a:solidFill>
              <a:latin typeface="Calibri"/>
              <a:ea typeface="Calibri"/>
              <a:cs typeface="Calibri"/>
              <a:sym typeface="Calibri"/>
            </a:endParaRPr>
          </a:p>
        </p:txBody>
      </p:sp>
      <p:sp>
        <p:nvSpPr>
          <p:cNvPr id="794" name="Google Shape;794;p18"/>
          <p:cNvSpPr/>
          <p:nvPr/>
        </p:nvSpPr>
        <p:spPr>
          <a:xfrm>
            <a:off x="5029200" y="1255821"/>
            <a:ext cx="3886200" cy="365727"/>
          </a:xfrm>
          <a:prstGeom prst="rect">
            <a:avLst/>
          </a:prstGeom>
          <a:noFill/>
          <a:ln>
            <a:noFill/>
          </a:ln>
        </p:spPr>
        <p:txBody>
          <a:bodyPr anchorCtr="0" anchor="t" bIns="0" lIns="0" spcFirstLastPara="1" rIns="0" wrap="square" tIns="0">
            <a:noAutofit/>
          </a:bodyPr>
          <a:lstStyle/>
          <a:p>
            <a:pPr indent="-127000" lvl="0" marL="127000" marR="0" rtl="0" algn="l">
              <a:lnSpc>
                <a:spcPct val="167865"/>
              </a:lnSpc>
              <a:spcBef>
                <a:spcPts val="0"/>
              </a:spcBef>
              <a:spcAft>
                <a:spcPts val="0"/>
              </a:spcAft>
              <a:buClr>
                <a:srgbClr val="333333"/>
              </a:buClr>
              <a:buSzPts val="784"/>
              <a:buFont typeface="Times New Roman"/>
              <a:buChar char="•"/>
            </a:pPr>
            <a:r>
              <a:rPr b="1" i="0" lang="en-US" sz="784" u="none" cap="none" strike="noStrike">
                <a:solidFill>
                  <a:srgbClr val="333333"/>
                </a:solidFill>
                <a:latin typeface="Times New Roman"/>
                <a:ea typeface="Times New Roman"/>
                <a:cs typeface="Times New Roman"/>
                <a:sym typeface="Times New Roman"/>
              </a:rPr>
              <a:t>Standardized Formats:</a:t>
            </a:r>
            <a:r>
              <a:rPr b="0" i="0" lang="en-US" sz="834" u="none" cap="none" strike="noStrike">
                <a:solidFill>
                  <a:srgbClr val="333333"/>
                </a:solidFill>
                <a:latin typeface="Times New Roman"/>
                <a:ea typeface="Times New Roman"/>
                <a:cs typeface="Times New Roman"/>
                <a:sym typeface="Times New Roman"/>
              </a:rPr>
              <a:t> The SDK handles the complex JWE (JSON Web Encryption) serialization locally, ensuring the output is standard and interoperable.</a:t>
            </a:r>
            <a:endParaRPr b="0" i="0" sz="784" u="none" cap="none" strike="noStrike">
              <a:solidFill>
                <a:schemeClr val="dk1"/>
              </a:solidFill>
              <a:latin typeface="Calibri"/>
              <a:ea typeface="Calibri"/>
              <a:cs typeface="Calibri"/>
              <a:sym typeface="Calibri"/>
            </a:endParaRPr>
          </a:p>
        </p:txBody>
      </p:sp>
      <p:sp>
        <p:nvSpPr>
          <p:cNvPr id="795" name="Google Shape;795;p18"/>
          <p:cNvSpPr/>
          <p:nvPr/>
        </p:nvSpPr>
        <p:spPr>
          <a:xfrm>
            <a:off x="5029200" y="1621548"/>
            <a:ext cx="3886200" cy="548590"/>
          </a:xfrm>
          <a:prstGeom prst="rect">
            <a:avLst/>
          </a:prstGeom>
          <a:noFill/>
          <a:ln>
            <a:noFill/>
          </a:ln>
        </p:spPr>
        <p:txBody>
          <a:bodyPr anchorCtr="0" anchor="t" bIns="0" lIns="0" spcFirstLastPara="1" rIns="0" wrap="square" tIns="0">
            <a:noAutofit/>
          </a:bodyPr>
          <a:lstStyle/>
          <a:p>
            <a:pPr indent="-127000" lvl="0" marL="127000" marR="0" rtl="0" algn="l">
              <a:lnSpc>
                <a:spcPct val="167865"/>
              </a:lnSpc>
              <a:spcBef>
                <a:spcPts val="0"/>
              </a:spcBef>
              <a:spcAft>
                <a:spcPts val="0"/>
              </a:spcAft>
              <a:buClr>
                <a:srgbClr val="333333"/>
              </a:buClr>
              <a:buSzPts val="784"/>
              <a:buFont typeface="Times New Roman"/>
              <a:buChar char="•"/>
            </a:pPr>
            <a:r>
              <a:rPr b="1" i="0" lang="en-US" sz="784" u="none" cap="none" strike="noStrike">
                <a:solidFill>
                  <a:srgbClr val="333333"/>
                </a:solidFill>
                <a:latin typeface="Times New Roman"/>
                <a:ea typeface="Times New Roman"/>
                <a:cs typeface="Times New Roman"/>
                <a:sym typeface="Times New Roman"/>
              </a:rPr>
              <a:t>Private Key Protection:</a:t>
            </a:r>
            <a:r>
              <a:rPr b="0" i="0" lang="en-US" sz="834" u="none" cap="none" strike="noStrike">
                <a:solidFill>
                  <a:srgbClr val="333333"/>
                </a:solidFill>
                <a:latin typeface="Times New Roman"/>
                <a:ea typeface="Times New Roman"/>
                <a:cs typeface="Times New Roman"/>
                <a:sym typeface="Times New Roman"/>
              </a:rPr>
              <a:t> Service B's private key never leaves the platform KMS. The SDK sends the encrypted DEK from the JWE header to the platform for decryption.</a:t>
            </a:r>
            <a:endParaRPr b="0" i="0" sz="784"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0" name="Shape 800"/>
        <p:cNvGrpSpPr/>
        <p:nvPr/>
      </p:nvGrpSpPr>
      <p:grpSpPr>
        <a:xfrm>
          <a:off x="0" y="0"/>
          <a:ext cx="0" cy="0"/>
          <a:chOff x="0" y="0"/>
          <a:chExt cx="0" cy="0"/>
        </a:xfrm>
      </p:grpSpPr>
      <p:pic>
        <p:nvPicPr>
          <p:cNvPr descr="preencoded.png" id="801" name="Google Shape;801;p19"/>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802" name="Google Shape;802;p19"/>
          <p:cNvSpPr/>
          <p:nvPr/>
        </p:nvSpPr>
        <p:spPr>
          <a:xfrm>
            <a:off x="357188" y="214313"/>
            <a:ext cx="8429625" cy="258961"/>
          </a:xfrm>
          <a:prstGeom prst="rect">
            <a:avLst/>
          </a:prstGeom>
          <a:noFill/>
          <a:ln>
            <a:noFill/>
          </a:ln>
        </p:spPr>
        <p:txBody>
          <a:bodyPr anchorCtr="0" anchor="t" bIns="0" lIns="0" spcFirstLastPara="1" rIns="0" wrap="square" tIns="0">
            <a:noAutofit/>
          </a:bodyPr>
          <a:lstStyle/>
          <a:p>
            <a:pPr indent="0" lvl="0" marL="0" marR="0" rtl="0" algn="l">
              <a:lnSpc>
                <a:spcPct val="133422"/>
              </a:lnSpc>
              <a:spcBef>
                <a:spcPts val="0"/>
              </a:spcBef>
              <a:spcAft>
                <a:spcPts val="0"/>
              </a:spcAft>
              <a:buClr>
                <a:srgbClr val="FFFFFF"/>
              </a:buClr>
              <a:buSzPts val="1499"/>
              <a:buFont typeface="Inter"/>
              <a:buNone/>
            </a:pPr>
            <a:r>
              <a:rPr b="1" i="0" lang="en-US" sz="1499" u="none" cap="none" strike="noStrike">
                <a:solidFill>
                  <a:srgbClr val="FFFFFF"/>
                </a:solidFill>
                <a:latin typeface="Inter"/>
                <a:ea typeface="Inter"/>
                <a:cs typeface="Inter"/>
                <a:sym typeface="Inter"/>
              </a:rPr>
              <a:t>Summary: Use Case Comparison Matrix</a:t>
            </a:r>
            <a:endParaRPr b="0" i="0" sz="1499" u="none" cap="none" strike="noStrike">
              <a:solidFill>
                <a:schemeClr val="dk1"/>
              </a:solidFill>
              <a:latin typeface="Calibri"/>
              <a:ea typeface="Calibri"/>
              <a:cs typeface="Calibri"/>
              <a:sym typeface="Calibri"/>
            </a:endParaRPr>
          </a:p>
        </p:txBody>
      </p:sp>
      <p:sp>
        <p:nvSpPr>
          <p:cNvPr id="803" name="Google Shape;803;p19"/>
          <p:cNvSpPr/>
          <p:nvPr/>
        </p:nvSpPr>
        <p:spPr>
          <a:xfrm>
            <a:off x="357188" y="501848"/>
            <a:ext cx="8429625" cy="121444"/>
          </a:xfrm>
          <a:prstGeom prst="rect">
            <a:avLst/>
          </a:prstGeom>
          <a:noFill/>
          <a:ln>
            <a:noFill/>
          </a:ln>
        </p:spPr>
        <p:txBody>
          <a:bodyPr anchorCtr="0" anchor="t" bIns="0" lIns="0" spcFirstLastPara="1" rIns="0" wrap="square" tIns="0">
            <a:noAutofit/>
          </a:bodyPr>
          <a:lstStyle/>
          <a:p>
            <a:pPr indent="0" lvl="0" marL="0" marR="0" rtl="0" algn="l">
              <a:lnSpc>
                <a:spcPct val="133531"/>
              </a:lnSpc>
              <a:spcBef>
                <a:spcPts val="0"/>
              </a:spcBef>
              <a:spcAft>
                <a:spcPts val="0"/>
              </a:spcAft>
              <a:buClr>
                <a:srgbClr val="546E7A"/>
              </a:buClr>
              <a:buSzPts val="674"/>
              <a:buFont typeface="Roboto Mono"/>
              <a:buNone/>
            </a:pPr>
            <a:r>
              <a:rPr b="0" i="0" lang="en-US" sz="674" u="none" cap="none" strike="noStrike">
                <a:solidFill>
                  <a:srgbClr val="546E7A"/>
                </a:solidFill>
                <a:latin typeface="Roboto Mono"/>
                <a:ea typeface="Roboto Mono"/>
                <a:cs typeface="Roboto Mono"/>
                <a:sym typeface="Roboto Mono"/>
              </a:rPr>
              <a:t>Comparing the five encryption patterns across key architectural dimensions</a:t>
            </a:r>
            <a:endParaRPr b="0" i="0" sz="674" u="none" cap="none" strike="noStrike">
              <a:solidFill>
                <a:schemeClr val="dk1"/>
              </a:solidFill>
              <a:latin typeface="Calibri"/>
              <a:ea typeface="Calibri"/>
              <a:cs typeface="Calibri"/>
              <a:sym typeface="Calibri"/>
            </a:endParaRPr>
          </a:p>
        </p:txBody>
      </p:sp>
      <p:sp>
        <p:nvSpPr>
          <p:cNvPr id="804" name="Google Shape;804;p19"/>
          <p:cNvSpPr/>
          <p:nvPr/>
        </p:nvSpPr>
        <p:spPr>
          <a:xfrm>
            <a:off x="357188" y="766167"/>
            <a:ext cx="8429625" cy="2409230"/>
          </a:xfrm>
          <a:prstGeom prst="rect">
            <a:avLst/>
          </a:prstGeom>
          <a:solidFill>
            <a:srgbClr val="FFFFFF">
              <a:alpha val="1960"/>
            </a:srgbClr>
          </a:solidFill>
          <a:ln cap="flat" cmpd="sng" w="9525">
            <a:solidFill>
              <a:srgbClr val="FFFFFF">
                <a:alpha val="1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19"/>
          <p:cNvSpPr/>
          <p:nvPr/>
        </p:nvSpPr>
        <p:spPr>
          <a:xfrm>
            <a:off x="357188" y="766167"/>
            <a:ext cx="1854501" cy="344686"/>
          </a:xfrm>
          <a:prstGeom prst="rect">
            <a:avLst/>
          </a:prstGeom>
          <a:solidFill>
            <a:srgbClr val="00E5FF">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19"/>
          <p:cNvSpPr/>
          <p:nvPr/>
        </p:nvSpPr>
        <p:spPr>
          <a:xfrm>
            <a:off x="357188" y="1103709"/>
            <a:ext cx="1854501" cy="714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19"/>
          <p:cNvSpPr/>
          <p:nvPr/>
        </p:nvSpPr>
        <p:spPr>
          <a:xfrm>
            <a:off x="357188" y="766167"/>
            <a:ext cx="1854501" cy="344686"/>
          </a:xfrm>
          <a:prstGeom prst="rect">
            <a:avLst/>
          </a:prstGeom>
          <a:noFill/>
          <a:ln>
            <a:noFill/>
          </a:ln>
        </p:spPr>
        <p:txBody>
          <a:bodyPr anchorCtr="0" anchor="ctr" bIns="136000" lIns="170050" spcFirstLastPara="1" rIns="170050" wrap="square" tIns="136000">
            <a:noAutofit/>
          </a:bodyPr>
          <a:lstStyle/>
          <a:p>
            <a:pPr indent="0" lvl="0" marL="0" marR="0" rtl="0" algn="l">
              <a:lnSpc>
                <a:spcPct val="136986"/>
              </a:lnSpc>
              <a:spcBef>
                <a:spcPts val="0"/>
              </a:spcBef>
              <a:spcAft>
                <a:spcPts val="0"/>
              </a:spcAft>
              <a:buClr>
                <a:srgbClr val="00E5FF"/>
              </a:buClr>
              <a:buSzPts val="584"/>
              <a:buFont typeface="Roboto Mono"/>
              <a:buNone/>
            </a:pPr>
            <a:r>
              <a:rPr b="1" i="0" lang="en-US" sz="584" u="none" cap="none" strike="noStrike">
                <a:solidFill>
                  <a:srgbClr val="00E5FF"/>
                </a:solidFill>
                <a:latin typeface="Roboto Mono"/>
                <a:ea typeface="Roboto Mono"/>
                <a:cs typeface="Roboto Mono"/>
                <a:sym typeface="Roboto Mono"/>
              </a:rPr>
              <a:t>USE CASE PATTERN</a:t>
            </a:r>
            <a:endParaRPr b="0" i="0" sz="584" u="none" cap="none" strike="noStrike">
              <a:solidFill>
                <a:schemeClr val="dk1"/>
              </a:solidFill>
              <a:latin typeface="Calibri"/>
              <a:ea typeface="Calibri"/>
              <a:cs typeface="Calibri"/>
              <a:sym typeface="Calibri"/>
            </a:endParaRPr>
          </a:p>
        </p:txBody>
      </p:sp>
      <p:sp>
        <p:nvSpPr>
          <p:cNvPr id="808" name="Google Shape;808;p19"/>
          <p:cNvSpPr/>
          <p:nvPr/>
        </p:nvSpPr>
        <p:spPr>
          <a:xfrm>
            <a:off x="2211688" y="766167"/>
            <a:ext cx="1448702" cy="344686"/>
          </a:xfrm>
          <a:prstGeom prst="rect">
            <a:avLst/>
          </a:prstGeom>
          <a:solidFill>
            <a:srgbClr val="00E5FF">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19"/>
          <p:cNvSpPr/>
          <p:nvPr/>
        </p:nvSpPr>
        <p:spPr>
          <a:xfrm>
            <a:off x="2211688" y="1103709"/>
            <a:ext cx="1448702" cy="714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19"/>
          <p:cNvSpPr/>
          <p:nvPr/>
        </p:nvSpPr>
        <p:spPr>
          <a:xfrm>
            <a:off x="2211688" y="766167"/>
            <a:ext cx="1448702" cy="344686"/>
          </a:xfrm>
          <a:prstGeom prst="rect">
            <a:avLst/>
          </a:prstGeom>
          <a:noFill/>
          <a:ln>
            <a:noFill/>
          </a:ln>
        </p:spPr>
        <p:txBody>
          <a:bodyPr anchorCtr="0" anchor="ctr" bIns="136000" lIns="170050" spcFirstLastPara="1" rIns="170050" wrap="square" tIns="136000">
            <a:noAutofit/>
          </a:bodyPr>
          <a:lstStyle/>
          <a:p>
            <a:pPr indent="0" lvl="0" marL="0" marR="0" rtl="0" algn="l">
              <a:lnSpc>
                <a:spcPct val="136986"/>
              </a:lnSpc>
              <a:spcBef>
                <a:spcPts val="0"/>
              </a:spcBef>
              <a:spcAft>
                <a:spcPts val="0"/>
              </a:spcAft>
              <a:buClr>
                <a:srgbClr val="00E5FF"/>
              </a:buClr>
              <a:buSzPts val="584"/>
              <a:buFont typeface="Roboto Mono"/>
              <a:buNone/>
            </a:pPr>
            <a:r>
              <a:rPr b="1" i="0" lang="en-US" sz="584" u="none" cap="none" strike="noStrike">
                <a:solidFill>
                  <a:srgbClr val="00E5FF"/>
                </a:solidFill>
                <a:latin typeface="Roboto Mono"/>
                <a:ea typeface="Roboto Mono"/>
                <a:cs typeface="Roboto Mono"/>
                <a:sym typeface="Roboto Mono"/>
              </a:rPr>
              <a:t>DEK LIFECYCLE</a:t>
            </a:r>
            <a:endParaRPr b="0" i="0" sz="584" u="none" cap="none" strike="noStrike">
              <a:solidFill>
                <a:schemeClr val="dk1"/>
              </a:solidFill>
              <a:latin typeface="Calibri"/>
              <a:ea typeface="Calibri"/>
              <a:cs typeface="Calibri"/>
              <a:sym typeface="Calibri"/>
            </a:endParaRPr>
          </a:p>
        </p:txBody>
      </p:sp>
      <p:sp>
        <p:nvSpPr>
          <p:cNvPr id="811" name="Google Shape;811;p19"/>
          <p:cNvSpPr/>
          <p:nvPr/>
        </p:nvSpPr>
        <p:spPr>
          <a:xfrm>
            <a:off x="3660391" y="766167"/>
            <a:ext cx="1534678" cy="344686"/>
          </a:xfrm>
          <a:prstGeom prst="rect">
            <a:avLst/>
          </a:prstGeom>
          <a:solidFill>
            <a:srgbClr val="00E5FF">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19"/>
          <p:cNvSpPr/>
          <p:nvPr/>
        </p:nvSpPr>
        <p:spPr>
          <a:xfrm>
            <a:off x="3660391" y="1103709"/>
            <a:ext cx="1534678" cy="714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19"/>
          <p:cNvSpPr/>
          <p:nvPr/>
        </p:nvSpPr>
        <p:spPr>
          <a:xfrm>
            <a:off x="3660391" y="766167"/>
            <a:ext cx="1534678" cy="344686"/>
          </a:xfrm>
          <a:prstGeom prst="rect">
            <a:avLst/>
          </a:prstGeom>
          <a:noFill/>
          <a:ln>
            <a:noFill/>
          </a:ln>
        </p:spPr>
        <p:txBody>
          <a:bodyPr anchorCtr="0" anchor="ctr" bIns="136000" lIns="170050" spcFirstLastPara="1" rIns="170050" wrap="square" tIns="136000">
            <a:noAutofit/>
          </a:bodyPr>
          <a:lstStyle/>
          <a:p>
            <a:pPr indent="0" lvl="0" marL="0" marR="0" rtl="0" algn="l">
              <a:lnSpc>
                <a:spcPct val="136986"/>
              </a:lnSpc>
              <a:spcBef>
                <a:spcPts val="0"/>
              </a:spcBef>
              <a:spcAft>
                <a:spcPts val="0"/>
              </a:spcAft>
              <a:buClr>
                <a:srgbClr val="00E5FF"/>
              </a:buClr>
              <a:buSzPts val="584"/>
              <a:buFont typeface="Roboto Mono"/>
              <a:buNone/>
            </a:pPr>
            <a:r>
              <a:rPr b="1" i="0" lang="en-US" sz="584" u="none" cap="none" strike="noStrike">
                <a:solidFill>
                  <a:srgbClr val="00E5FF"/>
                </a:solidFill>
                <a:latin typeface="Roboto Mono"/>
                <a:ea typeface="Roboto Mono"/>
                <a:cs typeface="Roboto Mono"/>
                <a:sym typeface="Roboto Mono"/>
              </a:rPr>
              <a:t>CACHE STRATEGY</a:t>
            </a:r>
            <a:endParaRPr b="0" i="0" sz="584" u="none" cap="none" strike="noStrike">
              <a:solidFill>
                <a:schemeClr val="dk1"/>
              </a:solidFill>
              <a:latin typeface="Calibri"/>
              <a:ea typeface="Calibri"/>
              <a:cs typeface="Calibri"/>
              <a:sym typeface="Calibri"/>
            </a:endParaRPr>
          </a:p>
        </p:txBody>
      </p:sp>
      <p:sp>
        <p:nvSpPr>
          <p:cNvPr id="814" name="Google Shape;814;p19"/>
          <p:cNvSpPr/>
          <p:nvPr/>
        </p:nvSpPr>
        <p:spPr>
          <a:xfrm>
            <a:off x="5195069" y="766167"/>
            <a:ext cx="1652913" cy="344686"/>
          </a:xfrm>
          <a:prstGeom prst="rect">
            <a:avLst/>
          </a:prstGeom>
          <a:solidFill>
            <a:srgbClr val="00E5FF">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19"/>
          <p:cNvSpPr/>
          <p:nvPr/>
        </p:nvSpPr>
        <p:spPr>
          <a:xfrm>
            <a:off x="5195069" y="1103709"/>
            <a:ext cx="1652913" cy="714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 name="Google Shape;816;p19"/>
          <p:cNvSpPr/>
          <p:nvPr/>
        </p:nvSpPr>
        <p:spPr>
          <a:xfrm>
            <a:off x="5195069" y="766167"/>
            <a:ext cx="1652913" cy="344686"/>
          </a:xfrm>
          <a:prstGeom prst="rect">
            <a:avLst/>
          </a:prstGeom>
          <a:noFill/>
          <a:ln>
            <a:noFill/>
          </a:ln>
        </p:spPr>
        <p:txBody>
          <a:bodyPr anchorCtr="0" anchor="ctr" bIns="136000" lIns="170050" spcFirstLastPara="1" rIns="170050" wrap="square" tIns="136000">
            <a:noAutofit/>
          </a:bodyPr>
          <a:lstStyle/>
          <a:p>
            <a:pPr indent="0" lvl="0" marL="0" marR="0" rtl="0" algn="l">
              <a:lnSpc>
                <a:spcPct val="136986"/>
              </a:lnSpc>
              <a:spcBef>
                <a:spcPts val="0"/>
              </a:spcBef>
              <a:spcAft>
                <a:spcPts val="0"/>
              </a:spcAft>
              <a:buClr>
                <a:srgbClr val="00E5FF"/>
              </a:buClr>
              <a:buSzPts val="584"/>
              <a:buFont typeface="Roboto Mono"/>
              <a:buNone/>
            </a:pPr>
            <a:r>
              <a:rPr b="1" i="0" lang="en-US" sz="584" u="none" cap="none" strike="noStrike">
                <a:solidFill>
                  <a:srgbClr val="00E5FF"/>
                </a:solidFill>
                <a:latin typeface="Roboto Mono"/>
                <a:ea typeface="Roboto Mono"/>
                <a:cs typeface="Roboto Mono"/>
                <a:sym typeface="Roboto Mono"/>
              </a:rPr>
              <a:t>THROUGHPUT PROFILE</a:t>
            </a:r>
            <a:endParaRPr b="0" i="0" sz="584" u="none" cap="none" strike="noStrike">
              <a:solidFill>
                <a:schemeClr val="dk1"/>
              </a:solidFill>
              <a:latin typeface="Calibri"/>
              <a:ea typeface="Calibri"/>
              <a:cs typeface="Calibri"/>
              <a:sym typeface="Calibri"/>
            </a:endParaRPr>
          </a:p>
        </p:txBody>
      </p:sp>
      <p:sp>
        <p:nvSpPr>
          <p:cNvPr id="817" name="Google Shape;817;p19"/>
          <p:cNvSpPr/>
          <p:nvPr/>
        </p:nvSpPr>
        <p:spPr>
          <a:xfrm>
            <a:off x="6847982" y="766167"/>
            <a:ext cx="1938830" cy="344686"/>
          </a:xfrm>
          <a:prstGeom prst="rect">
            <a:avLst/>
          </a:prstGeom>
          <a:solidFill>
            <a:srgbClr val="00E5FF">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19"/>
          <p:cNvSpPr/>
          <p:nvPr/>
        </p:nvSpPr>
        <p:spPr>
          <a:xfrm>
            <a:off x="6847982" y="1103709"/>
            <a:ext cx="1938830" cy="714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19"/>
          <p:cNvSpPr/>
          <p:nvPr/>
        </p:nvSpPr>
        <p:spPr>
          <a:xfrm>
            <a:off x="6847982" y="766167"/>
            <a:ext cx="1938830" cy="344686"/>
          </a:xfrm>
          <a:prstGeom prst="rect">
            <a:avLst/>
          </a:prstGeom>
          <a:noFill/>
          <a:ln>
            <a:noFill/>
          </a:ln>
        </p:spPr>
        <p:txBody>
          <a:bodyPr anchorCtr="0" anchor="ctr" bIns="136000" lIns="170050" spcFirstLastPara="1" rIns="170050" wrap="square" tIns="136000">
            <a:noAutofit/>
          </a:bodyPr>
          <a:lstStyle/>
          <a:p>
            <a:pPr indent="0" lvl="0" marL="0" marR="0" rtl="0" algn="l">
              <a:lnSpc>
                <a:spcPct val="136986"/>
              </a:lnSpc>
              <a:spcBef>
                <a:spcPts val="0"/>
              </a:spcBef>
              <a:spcAft>
                <a:spcPts val="0"/>
              </a:spcAft>
              <a:buClr>
                <a:srgbClr val="00E5FF"/>
              </a:buClr>
              <a:buSzPts val="584"/>
              <a:buFont typeface="Roboto Mono"/>
              <a:buNone/>
            </a:pPr>
            <a:r>
              <a:rPr b="1" i="0" lang="en-US" sz="584" u="none" cap="none" strike="noStrike">
                <a:solidFill>
                  <a:srgbClr val="00E5FF"/>
                </a:solidFill>
                <a:latin typeface="Roboto Mono"/>
                <a:ea typeface="Roboto Mono"/>
                <a:cs typeface="Roboto Mono"/>
                <a:sym typeface="Roboto Mono"/>
              </a:rPr>
              <a:t>NETWORK ROUND-TRIPS</a:t>
            </a:r>
            <a:endParaRPr b="0" i="0" sz="584" u="none" cap="none" strike="noStrike">
              <a:solidFill>
                <a:schemeClr val="dk1"/>
              </a:solidFill>
              <a:latin typeface="Calibri"/>
              <a:ea typeface="Calibri"/>
              <a:cs typeface="Calibri"/>
              <a:sym typeface="Calibri"/>
            </a:endParaRPr>
          </a:p>
        </p:txBody>
      </p:sp>
      <p:pic>
        <p:nvPicPr>
          <p:cNvPr descr="preencoded.png" id="820" name="Google Shape;820;p19"/>
          <p:cNvPicPr preferRelativeResize="0"/>
          <p:nvPr/>
        </p:nvPicPr>
        <p:blipFill rotWithShape="1">
          <a:blip r:embed="rId4">
            <a:alphaModFix/>
          </a:blip>
          <a:srcRect b="0" l="0" r="0" t="0"/>
          <a:stretch/>
        </p:blipFill>
        <p:spPr>
          <a:xfrm>
            <a:off x="500063" y="1257300"/>
            <a:ext cx="112514" cy="100013"/>
          </a:xfrm>
          <a:prstGeom prst="rect">
            <a:avLst/>
          </a:prstGeom>
          <a:noFill/>
          <a:ln>
            <a:noFill/>
          </a:ln>
        </p:spPr>
      </p:pic>
      <p:sp>
        <p:nvSpPr>
          <p:cNvPr id="821" name="Google Shape;821;p19"/>
          <p:cNvSpPr/>
          <p:nvPr/>
        </p:nvSpPr>
        <p:spPr>
          <a:xfrm>
            <a:off x="669727" y="1248370"/>
            <a:ext cx="678656" cy="121444"/>
          </a:xfrm>
          <a:prstGeom prst="rect">
            <a:avLst/>
          </a:prstGeom>
          <a:noFill/>
          <a:ln>
            <a:noFill/>
          </a:ln>
        </p:spPr>
        <p:txBody>
          <a:bodyPr anchorCtr="0" anchor="t" bIns="0" lIns="0" spcFirstLastPara="1" rIns="0" wrap="square" tIns="0">
            <a:noAutofit/>
          </a:bodyPr>
          <a:lstStyle/>
          <a:p>
            <a:pPr indent="0" lvl="0" marL="0" marR="0" rtl="0" algn="l">
              <a:lnSpc>
                <a:spcPct val="131771"/>
              </a:lnSpc>
              <a:spcBef>
                <a:spcPts val="0"/>
              </a:spcBef>
              <a:spcAft>
                <a:spcPts val="0"/>
              </a:spcAft>
              <a:buClr>
                <a:srgbClr val="E0E0E0"/>
              </a:buClr>
              <a:buSzPts val="683"/>
              <a:buFont typeface="Inter"/>
              <a:buNone/>
            </a:pPr>
            <a:r>
              <a:rPr b="1" i="0" lang="en-US" sz="683" u="none" cap="none" strike="noStrike">
                <a:solidFill>
                  <a:srgbClr val="E0E0E0"/>
                </a:solidFill>
                <a:latin typeface="Inter"/>
                <a:ea typeface="Inter"/>
                <a:cs typeface="Inter"/>
                <a:sym typeface="Inter"/>
              </a:rPr>
              <a:t>A) File-Based</a:t>
            </a:r>
            <a:endParaRPr b="0" i="0" sz="683" u="none" cap="none" strike="noStrike">
              <a:solidFill>
                <a:schemeClr val="dk1"/>
              </a:solidFill>
              <a:latin typeface="Calibri"/>
              <a:ea typeface="Calibri"/>
              <a:cs typeface="Calibri"/>
              <a:sym typeface="Calibri"/>
            </a:endParaRPr>
          </a:p>
        </p:txBody>
      </p:sp>
      <p:sp>
        <p:nvSpPr>
          <p:cNvPr id="822" name="Google Shape;822;p19"/>
          <p:cNvSpPr/>
          <p:nvPr/>
        </p:nvSpPr>
        <p:spPr>
          <a:xfrm>
            <a:off x="2354563" y="1221581"/>
            <a:ext cx="546497" cy="175022"/>
          </a:xfrm>
          <a:prstGeom prst="rect">
            <a:avLst/>
          </a:prstGeom>
          <a:solidFill>
            <a:srgbClr val="FF5252">
              <a:alpha val="14901"/>
            </a:srgbClr>
          </a:solidFill>
          <a:ln cap="flat" cmpd="sng" w="9525">
            <a:solidFill>
              <a:srgbClr val="FF5252">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19"/>
          <p:cNvSpPr/>
          <p:nvPr/>
        </p:nvSpPr>
        <p:spPr>
          <a:xfrm>
            <a:off x="2354563" y="1221581"/>
            <a:ext cx="546497" cy="175022"/>
          </a:xfrm>
          <a:prstGeom prst="rect">
            <a:avLst/>
          </a:prstGeom>
          <a:noFill/>
          <a:ln>
            <a:noFill/>
          </a:ln>
        </p:spPr>
        <p:txBody>
          <a:bodyPr anchorCtr="0" anchor="t" bIns="34025" lIns="68050" spcFirstLastPara="1" rIns="68050" wrap="square" tIns="34025">
            <a:noAutofit/>
          </a:bodyPr>
          <a:lstStyle/>
          <a:p>
            <a:pPr indent="0" lvl="0" marL="0" marR="0" rtl="0" algn="l">
              <a:lnSpc>
                <a:spcPct val="131086"/>
              </a:lnSpc>
              <a:spcBef>
                <a:spcPts val="0"/>
              </a:spcBef>
              <a:spcAft>
                <a:spcPts val="0"/>
              </a:spcAft>
              <a:buClr>
                <a:srgbClr val="FF5252"/>
              </a:buClr>
              <a:buSzPts val="534"/>
              <a:buFont typeface="Roboto Mono"/>
              <a:buNone/>
            </a:pPr>
            <a:r>
              <a:rPr b="1" i="0" lang="en-US" sz="534" u="none" cap="none" strike="noStrike">
                <a:solidFill>
                  <a:srgbClr val="FF5252"/>
                </a:solidFill>
                <a:latin typeface="Roboto Mono"/>
                <a:ea typeface="Roboto Mono"/>
                <a:cs typeface="Roboto Mono"/>
                <a:sym typeface="Roboto Mono"/>
              </a:rPr>
              <a:t>Ephemeral</a:t>
            </a:r>
            <a:endParaRPr b="0" i="0" sz="534" u="none" cap="none" strike="noStrike">
              <a:solidFill>
                <a:schemeClr val="dk1"/>
              </a:solidFill>
              <a:latin typeface="Calibri"/>
              <a:ea typeface="Calibri"/>
              <a:cs typeface="Calibri"/>
              <a:sym typeface="Calibri"/>
            </a:endParaRPr>
          </a:p>
        </p:txBody>
      </p:sp>
      <p:sp>
        <p:nvSpPr>
          <p:cNvPr id="824" name="Google Shape;824;p19"/>
          <p:cNvSpPr/>
          <p:nvPr/>
        </p:nvSpPr>
        <p:spPr>
          <a:xfrm>
            <a:off x="3660391" y="1107281"/>
            <a:ext cx="1534678" cy="392906"/>
          </a:xfrm>
          <a:prstGeom prst="rect">
            <a:avLst/>
          </a:prstGeom>
          <a:noFill/>
          <a:ln>
            <a:noFill/>
          </a:ln>
        </p:spPr>
        <p:txBody>
          <a:bodyPr anchorCtr="0" anchor="ctr" bIns="136000" lIns="170050" spcFirstLastPara="1" rIns="170050" wrap="square" tIns="136000">
            <a:noAutofit/>
          </a:bodyPr>
          <a:lstStyle/>
          <a:p>
            <a:pPr indent="0" lvl="0" marL="0" marR="0" rtl="0" algn="l">
              <a:lnSpc>
                <a:spcPct val="123796"/>
              </a:lnSpc>
              <a:spcBef>
                <a:spcPts val="0"/>
              </a:spcBef>
              <a:spcAft>
                <a:spcPts val="0"/>
              </a:spcAft>
              <a:buClr>
                <a:srgbClr val="E0E0E0"/>
              </a:buClr>
              <a:buSzPts val="727"/>
              <a:buFont typeface="Inter"/>
              <a:buNone/>
            </a:pPr>
            <a:r>
              <a:rPr b="0" i="0" lang="en-US" sz="727" u="none" cap="none" strike="noStrike">
                <a:solidFill>
                  <a:srgbClr val="E0E0E0"/>
                </a:solidFill>
                <a:latin typeface="Inter"/>
                <a:ea typeface="Inter"/>
                <a:cs typeface="Inter"/>
                <a:sym typeface="Inter"/>
              </a:rPr>
              <a:t>None (Discarded)</a:t>
            </a:r>
            <a:endParaRPr b="0" i="0" sz="727" u="none" cap="none" strike="noStrike">
              <a:solidFill>
                <a:schemeClr val="dk1"/>
              </a:solidFill>
              <a:latin typeface="Calibri"/>
              <a:ea typeface="Calibri"/>
              <a:cs typeface="Calibri"/>
              <a:sym typeface="Calibri"/>
            </a:endParaRPr>
          </a:p>
        </p:txBody>
      </p:sp>
      <p:sp>
        <p:nvSpPr>
          <p:cNvPr id="825" name="Google Shape;825;p19"/>
          <p:cNvSpPr/>
          <p:nvPr/>
        </p:nvSpPr>
        <p:spPr>
          <a:xfrm>
            <a:off x="5195069" y="1107281"/>
            <a:ext cx="1652913" cy="392906"/>
          </a:xfrm>
          <a:prstGeom prst="rect">
            <a:avLst/>
          </a:prstGeom>
          <a:noFill/>
          <a:ln>
            <a:noFill/>
          </a:ln>
        </p:spPr>
        <p:txBody>
          <a:bodyPr anchorCtr="0" anchor="ctr" bIns="136000" lIns="170050" spcFirstLastPara="1" rIns="170050" wrap="square" tIns="136000">
            <a:noAutofit/>
          </a:bodyPr>
          <a:lstStyle/>
          <a:p>
            <a:pPr indent="0" lvl="0" marL="0" marR="0" rtl="0" algn="l">
              <a:lnSpc>
                <a:spcPct val="123796"/>
              </a:lnSpc>
              <a:spcBef>
                <a:spcPts val="0"/>
              </a:spcBef>
              <a:spcAft>
                <a:spcPts val="0"/>
              </a:spcAft>
              <a:buClr>
                <a:srgbClr val="E0E0E0"/>
              </a:buClr>
              <a:buSzPts val="727"/>
              <a:buFont typeface="Inter"/>
              <a:buNone/>
            </a:pPr>
            <a:r>
              <a:rPr b="0" i="0" lang="en-US" sz="727" u="none" cap="none" strike="noStrike">
                <a:solidFill>
                  <a:srgbClr val="E0E0E0"/>
                </a:solidFill>
                <a:latin typeface="Inter"/>
                <a:ea typeface="Inter"/>
                <a:cs typeface="Inter"/>
                <a:sym typeface="Inter"/>
              </a:rPr>
              <a:t>Low (Batch)</a:t>
            </a:r>
            <a:endParaRPr b="0" i="0" sz="727" u="none" cap="none" strike="noStrike">
              <a:solidFill>
                <a:schemeClr val="dk1"/>
              </a:solidFill>
              <a:latin typeface="Calibri"/>
              <a:ea typeface="Calibri"/>
              <a:cs typeface="Calibri"/>
              <a:sym typeface="Calibri"/>
            </a:endParaRPr>
          </a:p>
        </p:txBody>
      </p:sp>
      <p:sp>
        <p:nvSpPr>
          <p:cNvPr id="826" name="Google Shape;826;p19"/>
          <p:cNvSpPr/>
          <p:nvPr/>
        </p:nvSpPr>
        <p:spPr>
          <a:xfrm>
            <a:off x="6847982" y="1107281"/>
            <a:ext cx="1938830" cy="392906"/>
          </a:xfrm>
          <a:prstGeom prst="rect">
            <a:avLst/>
          </a:prstGeom>
          <a:noFill/>
          <a:ln>
            <a:noFill/>
          </a:ln>
        </p:spPr>
        <p:txBody>
          <a:bodyPr anchorCtr="0" anchor="ctr" bIns="136000" lIns="170050" spcFirstLastPara="1" rIns="170050" wrap="square" tIns="136000">
            <a:noAutofit/>
          </a:bodyPr>
          <a:lstStyle/>
          <a:p>
            <a:pPr indent="0" lvl="0" marL="0" marR="0" rtl="0" algn="l">
              <a:lnSpc>
                <a:spcPct val="123796"/>
              </a:lnSpc>
              <a:spcBef>
                <a:spcPts val="0"/>
              </a:spcBef>
              <a:spcAft>
                <a:spcPts val="0"/>
              </a:spcAft>
              <a:buClr>
                <a:srgbClr val="E0E0E0"/>
              </a:buClr>
              <a:buSzPts val="727"/>
              <a:buFont typeface="Inter"/>
              <a:buNone/>
            </a:pPr>
            <a:r>
              <a:rPr b="0" i="0" lang="en-US" sz="727" u="none" cap="none" strike="noStrike">
                <a:solidFill>
                  <a:srgbClr val="E0E0E0"/>
                </a:solidFill>
                <a:latin typeface="Inter"/>
                <a:ea typeface="Inter"/>
                <a:cs typeface="Inter"/>
                <a:sym typeface="Inter"/>
              </a:rPr>
              <a:t>1 per file</a:t>
            </a:r>
            <a:endParaRPr b="0" i="0" sz="727" u="none" cap="none" strike="noStrike">
              <a:solidFill>
                <a:schemeClr val="dk1"/>
              </a:solidFill>
              <a:latin typeface="Calibri"/>
              <a:ea typeface="Calibri"/>
              <a:cs typeface="Calibri"/>
              <a:sym typeface="Calibri"/>
            </a:endParaRPr>
          </a:p>
        </p:txBody>
      </p:sp>
      <p:pic>
        <p:nvPicPr>
          <p:cNvPr descr="preencoded.png" id="827" name="Google Shape;827;p19"/>
          <p:cNvPicPr preferRelativeResize="0"/>
          <p:nvPr/>
        </p:nvPicPr>
        <p:blipFill rotWithShape="1">
          <a:blip r:embed="rId5">
            <a:alphaModFix/>
          </a:blip>
          <a:srcRect b="0" l="0" r="0" t="0"/>
          <a:stretch/>
        </p:blipFill>
        <p:spPr>
          <a:xfrm>
            <a:off x="500063" y="1653778"/>
            <a:ext cx="125016" cy="100013"/>
          </a:xfrm>
          <a:prstGeom prst="rect">
            <a:avLst/>
          </a:prstGeom>
          <a:noFill/>
          <a:ln>
            <a:noFill/>
          </a:ln>
        </p:spPr>
      </p:pic>
      <p:sp>
        <p:nvSpPr>
          <p:cNvPr id="828" name="Google Shape;828;p19"/>
          <p:cNvSpPr/>
          <p:nvPr/>
        </p:nvSpPr>
        <p:spPr>
          <a:xfrm>
            <a:off x="682228" y="1644848"/>
            <a:ext cx="909042" cy="121444"/>
          </a:xfrm>
          <a:prstGeom prst="rect">
            <a:avLst/>
          </a:prstGeom>
          <a:noFill/>
          <a:ln>
            <a:noFill/>
          </a:ln>
        </p:spPr>
        <p:txBody>
          <a:bodyPr anchorCtr="0" anchor="t" bIns="0" lIns="0" spcFirstLastPara="1" rIns="0" wrap="square" tIns="0">
            <a:noAutofit/>
          </a:bodyPr>
          <a:lstStyle/>
          <a:p>
            <a:pPr indent="0" lvl="0" marL="0" marR="0" rtl="0" algn="l">
              <a:lnSpc>
                <a:spcPct val="131771"/>
              </a:lnSpc>
              <a:spcBef>
                <a:spcPts val="0"/>
              </a:spcBef>
              <a:spcAft>
                <a:spcPts val="0"/>
              </a:spcAft>
              <a:buClr>
                <a:srgbClr val="E0E0E0"/>
              </a:buClr>
              <a:buSzPts val="683"/>
              <a:buFont typeface="Inter"/>
              <a:buNone/>
            </a:pPr>
            <a:r>
              <a:rPr b="1" i="0" lang="en-US" sz="683" u="none" cap="none" strike="noStrike">
                <a:solidFill>
                  <a:srgbClr val="E0E0E0"/>
                </a:solidFill>
                <a:latin typeface="Inter"/>
                <a:ea typeface="Inter"/>
                <a:cs typeface="Inter"/>
                <a:sym typeface="Inter"/>
              </a:rPr>
              <a:t>B) API Attachment</a:t>
            </a:r>
            <a:endParaRPr b="0" i="0" sz="683" u="none" cap="none" strike="noStrike">
              <a:solidFill>
                <a:schemeClr val="dk1"/>
              </a:solidFill>
              <a:latin typeface="Calibri"/>
              <a:ea typeface="Calibri"/>
              <a:cs typeface="Calibri"/>
              <a:sym typeface="Calibri"/>
            </a:endParaRPr>
          </a:p>
        </p:txBody>
      </p:sp>
      <p:sp>
        <p:nvSpPr>
          <p:cNvPr id="829" name="Google Shape;829;p19"/>
          <p:cNvSpPr/>
          <p:nvPr/>
        </p:nvSpPr>
        <p:spPr>
          <a:xfrm>
            <a:off x="2354563" y="1618059"/>
            <a:ext cx="407194" cy="175022"/>
          </a:xfrm>
          <a:prstGeom prst="rect">
            <a:avLst/>
          </a:prstGeom>
          <a:solidFill>
            <a:srgbClr val="00E676">
              <a:alpha val="14901"/>
            </a:srgbClr>
          </a:solidFill>
          <a:ln cap="flat" cmpd="sng" w="9525">
            <a:solidFill>
              <a:srgbClr val="00E676">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19"/>
          <p:cNvSpPr/>
          <p:nvPr/>
        </p:nvSpPr>
        <p:spPr>
          <a:xfrm>
            <a:off x="2354563" y="1618059"/>
            <a:ext cx="407194" cy="175022"/>
          </a:xfrm>
          <a:prstGeom prst="rect">
            <a:avLst/>
          </a:prstGeom>
          <a:noFill/>
          <a:ln>
            <a:noFill/>
          </a:ln>
        </p:spPr>
        <p:txBody>
          <a:bodyPr anchorCtr="0" anchor="t" bIns="34025" lIns="68050" spcFirstLastPara="1" rIns="68050" wrap="square" tIns="34025">
            <a:noAutofit/>
          </a:bodyPr>
          <a:lstStyle/>
          <a:p>
            <a:pPr indent="0" lvl="0" marL="0" marR="0" rtl="0" algn="l">
              <a:lnSpc>
                <a:spcPct val="131086"/>
              </a:lnSpc>
              <a:spcBef>
                <a:spcPts val="0"/>
              </a:spcBef>
              <a:spcAft>
                <a:spcPts val="0"/>
              </a:spcAft>
              <a:buClr>
                <a:srgbClr val="00E676"/>
              </a:buClr>
              <a:buSzPts val="534"/>
              <a:buFont typeface="Roboto Mono"/>
              <a:buNone/>
            </a:pPr>
            <a:r>
              <a:rPr b="1" i="0" lang="en-US" sz="534" u="none" cap="none" strike="noStrike">
                <a:solidFill>
                  <a:srgbClr val="00E676"/>
                </a:solidFill>
                <a:latin typeface="Roboto Mono"/>
                <a:ea typeface="Roboto Mono"/>
                <a:cs typeface="Roboto Mono"/>
                <a:sym typeface="Roboto Mono"/>
              </a:rPr>
              <a:t>Cached</a:t>
            </a:r>
            <a:endParaRPr b="0" i="0" sz="534" u="none" cap="none" strike="noStrike">
              <a:solidFill>
                <a:schemeClr val="dk1"/>
              </a:solidFill>
              <a:latin typeface="Calibri"/>
              <a:ea typeface="Calibri"/>
              <a:cs typeface="Calibri"/>
              <a:sym typeface="Calibri"/>
            </a:endParaRPr>
          </a:p>
        </p:txBody>
      </p:sp>
      <p:sp>
        <p:nvSpPr>
          <p:cNvPr id="831" name="Google Shape;831;p19"/>
          <p:cNvSpPr/>
          <p:nvPr/>
        </p:nvSpPr>
        <p:spPr>
          <a:xfrm>
            <a:off x="3660391" y="1500188"/>
            <a:ext cx="1534678" cy="396478"/>
          </a:xfrm>
          <a:prstGeom prst="rect">
            <a:avLst/>
          </a:prstGeom>
          <a:noFill/>
          <a:ln>
            <a:noFill/>
          </a:ln>
        </p:spPr>
        <p:txBody>
          <a:bodyPr anchorCtr="0" anchor="ctr" bIns="136000" lIns="170050" spcFirstLastPara="1" rIns="170050" wrap="square" tIns="136000">
            <a:noAutofit/>
          </a:bodyPr>
          <a:lstStyle/>
          <a:p>
            <a:pPr indent="0" lvl="0" marL="0" marR="0" rtl="0" algn="l">
              <a:lnSpc>
                <a:spcPct val="123796"/>
              </a:lnSpc>
              <a:spcBef>
                <a:spcPts val="0"/>
              </a:spcBef>
              <a:spcAft>
                <a:spcPts val="0"/>
              </a:spcAft>
              <a:buClr>
                <a:srgbClr val="E0E0E0"/>
              </a:buClr>
              <a:buSzPts val="727"/>
              <a:buFont typeface="Inter"/>
              <a:buNone/>
            </a:pPr>
            <a:r>
              <a:rPr b="0" i="0" lang="en-US" sz="727" u="none" cap="none" strike="noStrike">
                <a:solidFill>
                  <a:srgbClr val="E0E0E0"/>
                </a:solidFill>
                <a:latin typeface="Inter"/>
                <a:ea typeface="Inter"/>
                <a:cs typeface="Inter"/>
                <a:sym typeface="Inter"/>
              </a:rPr>
              <a:t>Short TTL (5 min)</a:t>
            </a:r>
            <a:endParaRPr b="0" i="0" sz="727" u="none" cap="none" strike="noStrike">
              <a:solidFill>
                <a:schemeClr val="dk1"/>
              </a:solidFill>
              <a:latin typeface="Calibri"/>
              <a:ea typeface="Calibri"/>
              <a:cs typeface="Calibri"/>
              <a:sym typeface="Calibri"/>
            </a:endParaRPr>
          </a:p>
        </p:txBody>
      </p:sp>
      <p:sp>
        <p:nvSpPr>
          <p:cNvPr id="832" name="Google Shape;832;p19"/>
          <p:cNvSpPr/>
          <p:nvPr/>
        </p:nvSpPr>
        <p:spPr>
          <a:xfrm>
            <a:off x="5195069" y="1500188"/>
            <a:ext cx="1652913" cy="396478"/>
          </a:xfrm>
          <a:prstGeom prst="rect">
            <a:avLst/>
          </a:prstGeom>
          <a:noFill/>
          <a:ln>
            <a:noFill/>
          </a:ln>
        </p:spPr>
        <p:txBody>
          <a:bodyPr anchorCtr="0" anchor="ctr" bIns="136000" lIns="170050" spcFirstLastPara="1" rIns="170050" wrap="square" tIns="136000">
            <a:noAutofit/>
          </a:bodyPr>
          <a:lstStyle/>
          <a:p>
            <a:pPr indent="0" lvl="0" marL="0" marR="0" rtl="0" algn="l">
              <a:lnSpc>
                <a:spcPct val="123796"/>
              </a:lnSpc>
              <a:spcBef>
                <a:spcPts val="0"/>
              </a:spcBef>
              <a:spcAft>
                <a:spcPts val="0"/>
              </a:spcAft>
              <a:buClr>
                <a:srgbClr val="E0E0E0"/>
              </a:buClr>
              <a:buSzPts val="727"/>
              <a:buFont typeface="Inter"/>
              <a:buNone/>
            </a:pPr>
            <a:r>
              <a:rPr b="0" i="0" lang="en-US" sz="727" u="none" cap="none" strike="noStrike">
                <a:solidFill>
                  <a:srgbClr val="E0E0E0"/>
                </a:solidFill>
                <a:latin typeface="Inter"/>
                <a:ea typeface="Inter"/>
                <a:cs typeface="Inter"/>
                <a:sym typeface="Inter"/>
              </a:rPr>
              <a:t>Medium (Per-Request)</a:t>
            </a:r>
            <a:endParaRPr b="0" i="0" sz="727" u="none" cap="none" strike="noStrike">
              <a:solidFill>
                <a:schemeClr val="dk1"/>
              </a:solidFill>
              <a:latin typeface="Calibri"/>
              <a:ea typeface="Calibri"/>
              <a:cs typeface="Calibri"/>
              <a:sym typeface="Calibri"/>
            </a:endParaRPr>
          </a:p>
        </p:txBody>
      </p:sp>
      <p:sp>
        <p:nvSpPr>
          <p:cNvPr id="833" name="Google Shape;833;p19"/>
          <p:cNvSpPr/>
          <p:nvPr/>
        </p:nvSpPr>
        <p:spPr>
          <a:xfrm>
            <a:off x="6847982" y="1500188"/>
            <a:ext cx="1938830" cy="396478"/>
          </a:xfrm>
          <a:prstGeom prst="rect">
            <a:avLst/>
          </a:prstGeom>
          <a:noFill/>
          <a:ln>
            <a:noFill/>
          </a:ln>
        </p:spPr>
        <p:txBody>
          <a:bodyPr anchorCtr="0" anchor="ctr" bIns="136000" lIns="170050" spcFirstLastPara="1" rIns="170050" wrap="square" tIns="136000">
            <a:noAutofit/>
          </a:bodyPr>
          <a:lstStyle/>
          <a:p>
            <a:pPr indent="0" lvl="0" marL="0" marR="0" rtl="0" algn="l">
              <a:lnSpc>
                <a:spcPct val="123796"/>
              </a:lnSpc>
              <a:spcBef>
                <a:spcPts val="0"/>
              </a:spcBef>
              <a:spcAft>
                <a:spcPts val="0"/>
              </a:spcAft>
              <a:buClr>
                <a:srgbClr val="E0E0E0"/>
              </a:buClr>
              <a:buSzPts val="727"/>
              <a:buFont typeface="Inter"/>
              <a:buNone/>
            </a:pPr>
            <a:r>
              <a:rPr b="0" i="0" lang="en-US" sz="727" u="none" cap="none" strike="noStrike">
                <a:solidFill>
                  <a:srgbClr val="E0E0E0"/>
                </a:solidFill>
                <a:latin typeface="Inter"/>
                <a:ea typeface="Inter"/>
                <a:cs typeface="Inter"/>
                <a:sym typeface="Inter"/>
              </a:rPr>
              <a:t>Amortized (1 per 5 min)</a:t>
            </a:r>
            <a:endParaRPr b="0" i="0" sz="727" u="none" cap="none" strike="noStrike">
              <a:solidFill>
                <a:schemeClr val="dk1"/>
              </a:solidFill>
              <a:latin typeface="Calibri"/>
              <a:ea typeface="Calibri"/>
              <a:cs typeface="Calibri"/>
              <a:sym typeface="Calibri"/>
            </a:endParaRPr>
          </a:p>
        </p:txBody>
      </p:sp>
      <p:pic>
        <p:nvPicPr>
          <p:cNvPr descr="preencoded.png" id="834" name="Google Shape;834;p19"/>
          <p:cNvPicPr preferRelativeResize="0"/>
          <p:nvPr/>
        </p:nvPicPr>
        <p:blipFill rotWithShape="1">
          <a:blip r:embed="rId6">
            <a:alphaModFix/>
          </a:blip>
          <a:srcRect b="0" l="0" r="0" t="0"/>
          <a:stretch/>
        </p:blipFill>
        <p:spPr>
          <a:xfrm>
            <a:off x="500063" y="2050256"/>
            <a:ext cx="100013" cy="100013"/>
          </a:xfrm>
          <a:prstGeom prst="rect">
            <a:avLst/>
          </a:prstGeom>
          <a:noFill/>
          <a:ln>
            <a:noFill/>
          </a:ln>
        </p:spPr>
      </p:pic>
      <p:sp>
        <p:nvSpPr>
          <p:cNvPr id="835" name="Google Shape;835;p19"/>
          <p:cNvSpPr/>
          <p:nvPr/>
        </p:nvSpPr>
        <p:spPr>
          <a:xfrm>
            <a:off x="657225" y="2041327"/>
            <a:ext cx="655439" cy="121444"/>
          </a:xfrm>
          <a:prstGeom prst="rect">
            <a:avLst/>
          </a:prstGeom>
          <a:noFill/>
          <a:ln>
            <a:noFill/>
          </a:ln>
        </p:spPr>
        <p:txBody>
          <a:bodyPr anchorCtr="0" anchor="t" bIns="0" lIns="0" spcFirstLastPara="1" rIns="0" wrap="square" tIns="0">
            <a:noAutofit/>
          </a:bodyPr>
          <a:lstStyle/>
          <a:p>
            <a:pPr indent="0" lvl="0" marL="0" marR="0" rtl="0" algn="l">
              <a:lnSpc>
                <a:spcPct val="131771"/>
              </a:lnSpc>
              <a:spcBef>
                <a:spcPts val="0"/>
              </a:spcBef>
              <a:spcAft>
                <a:spcPts val="0"/>
              </a:spcAft>
              <a:buClr>
                <a:srgbClr val="E0E0E0"/>
              </a:buClr>
              <a:buSzPts val="683"/>
              <a:buFont typeface="Inter"/>
              <a:buNone/>
            </a:pPr>
            <a:r>
              <a:rPr b="1" i="0" lang="en-US" sz="683" u="none" cap="none" strike="noStrike">
                <a:solidFill>
                  <a:srgbClr val="E0E0E0"/>
                </a:solidFill>
                <a:latin typeface="Inter"/>
                <a:ea typeface="Inter"/>
                <a:cs typeface="Inter"/>
                <a:sym typeface="Inter"/>
              </a:rPr>
              <a:t>C) Streaming</a:t>
            </a:r>
            <a:endParaRPr b="0" i="0" sz="683" u="none" cap="none" strike="noStrike">
              <a:solidFill>
                <a:schemeClr val="dk1"/>
              </a:solidFill>
              <a:latin typeface="Calibri"/>
              <a:ea typeface="Calibri"/>
              <a:cs typeface="Calibri"/>
              <a:sym typeface="Calibri"/>
            </a:endParaRPr>
          </a:p>
        </p:txBody>
      </p:sp>
      <p:sp>
        <p:nvSpPr>
          <p:cNvPr id="836" name="Google Shape;836;p19"/>
          <p:cNvSpPr/>
          <p:nvPr/>
        </p:nvSpPr>
        <p:spPr>
          <a:xfrm>
            <a:off x="2354563" y="2014538"/>
            <a:ext cx="592931" cy="175022"/>
          </a:xfrm>
          <a:prstGeom prst="rect">
            <a:avLst/>
          </a:prstGeom>
          <a:solidFill>
            <a:srgbClr val="00E676">
              <a:alpha val="14901"/>
            </a:srgbClr>
          </a:solidFill>
          <a:ln cap="flat" cmpd="sng" w="9525">
            <a:solidFill>
              <a:srgbClr val="00E676">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19"/>
          <p:cNvSpPr/>
          <p:nvPr/>
        </p:nvSpPr>
        <p:spPr>
          <a:xfrm>
            <a:off x="2354563" y="2014538"/>
            <a:ext cx="592931" cy="175022"/>
          </a:xfrm>
          <a:prstGeom prst="rect">
            <a:avLst/>
          </a:prstGeom>
          <a:noFill/>
          <a:ln>
            <a:noFill/>
          </a:ln>
        </p:spPr>
        <p:txBody>
          <a:bodyPr anchorCtr="0" anchor="t" bIns="34025" lIns="68050" spcFirstLastPara="1" rIns="68050" wrap="square" tIns="34025">
            <a:noAutofit/>
          </a:bodyPr>
          <a:lstStyle/>
          <a:p>
            <a:pPr indent="0" lvl="0" marL="0" marR="0" rtl="0" algn="l">
              <a:lnSpc>
                <a:spcPct val="131086"/>
              </a:lnSpc>
              <a:spcBef>
                <a:spcPts val="0"/>
              </a:spcBef>
              <a:spcAft>
                <a:spcPts val="0"/>
              </a:spcAft>
              <a:buClr>
                <a:srgbClr val="00E676"/>
              </a:buClr>
              <a:buSzPts val="534"/>
              <a:buFont typeface="Roboto Mono"/>
              <a:buNone/>
            </a:pPr>
            <a:r>
              <a:rPr b="1" i="0" lang="en-US" sz="534" u="none" cap="none" strike="noStrike">
                <a:solidFill>
                  <a:srgbClr val="00E676"/>
                </a:solidFill>
                <a:latin typeface="Roboto Mono"/>
                <a:ea typeface="Roboto Mono"/>
                <a:cs typeface="Roboto Mono"/>
                <a:sym typeface="Roboto Mono"/>
              </a:rPr>
              <a:t>Long-Lived</a:t>
            </a:r>
            <a:endParaRPr b="0" i="0" sz="534" u="none" cap="none" strike="noStrike">
              <a:solidFill>
                <a:schemeClr val="dk1"/>
              </a:solidFill>
              <a:latin typeface="Calibri"/>
              <a:ea typeface="Calibri"/>
              <a:cs typeface="Calibri"/>
              <a:sym typeface="Calibri"/>
            </a:endParaRPr>
          </a:p>
        </p:txBody>
      </p:sp>
      <p:sp>
        <p:nvSpPr>
          <p:cNvPr id="838" name="Google Shape;838;p19"/>
          <p:cNvSpPr/>
          <p:nvPr/>
        </p:nvSpPr>
        <p:spPr>
          <a:xfrm>
            <a:off x="3660391" y="1896666"/>
            <a:ext cx="1534678" cy="396478"/>
          </a:xfrm>
          <a:prstGeom prst="rect">
            <a:avLst/>
          </a:prstGeom>
          <a:noFill/>
          <a:ln>
            <a:noFill/>
          </a:ln>
        </p:spPr>
        <p:txBody>
          <a:bodyPr anchorCtr="0" anchor="ctr" bIns="136000" lIns="170050" spcFirstLastPara="1" rIns="170050" wrap="square" tIns="136000">
            <a:noAutofit/>
          </a:bodyPr>
          <a:lstStyle/>
          <a:p>
            <a:pPr indent="0" lvl="0" marL="0" marR="0" rtl="0" algn="l">
              <a:lnSpc>
                <a:spcPct val="123796"/>
              </a:lnSpc>
              <a:spcBef>
                <a:spcPts val="0"/>
              </a:spcBef>
              <a:spcAft>
                <a:spcPts val="0"/>
              </a:spcAft>
              <a:buClr>
                <a:srgbClr val="E0E0E0"/>
              </a:buClr>
              <a:buSzPts val="727"/>
              <a:buFont typeface="Inter"/>
              <a:buNone/>
            </a:pPr>
            <a:r>
              <a:rPr b="0" i="0" lang="en-US" sz="727" u="none" cap="none" strike="noStrike">
                <a:solidFill>
                  <a:srgbClr val="E0E0E0"/>
                </a:solidFill>
                <a:latin typeface="Inter"/>
                <a:ea typeface="Inter"/>
                <a:cs typeface="Inter"/>
                <a:sym typeface="Inter"/>
              </a:rPr>
              <a:t>Long TTL (60 min)</a:t>
            </a:r>
            <a:endParaRPr b="0" i="0" sz="727" u="none" cap="none" strike="noStrike">
              <a:solidFill>
                <a:schemeClr val="dk1"/>
              </a:solidFill>
              <a:latin typeface="Calibri"/>
              <a:ea typeface="Calibri"/>
              <a:cs typeface="Calibri"/>
              <a:sym typeface="Calibri"/>
            </a:endParaRPr>
          </a:p>
        </p:txBody>
      </p:sp>
      <p:sp>
        <p:nvSpPr>
          <p:cNvPr id="839" name="Google Shape;839;p19"/>
          <p:cNvSpPr/>
          <p:nvPr/>
        </p:nvSpPr>
        <p:spPr>
          <a:xfrm>
            <a:off x="5195069" y="1896666"/>
            <a:ext cx="1652913" cy="396478"/>
          </a:xfrm>
          <a:prstGeom prst="rect">
            <a:avLst/>
          </a:prstGeom>
          <a:noFill/>
          <a:ln>
            <a:noFill/>
          </a:ln>
        </p:spPr>
        <p:txBody>
          <a:bodyPr anchorCtr="0" anchor="ctr" bIns="136000" lIns="170050" spcFirstLastPara="1" rIns="170050" wrap="square" tIns="136000">
            <a:noAutofit/>
          </a:bodyPr>
          <a:lstStyle/>
          <a:p>
            <a:pPr indent="0" lvl="0" marL="0" marR="0" rtl="0" algn="l">
              <a:lnSpc>
                <a:spcPct val="131771"/>
              </a:lnSpc>
              <a:spcBef>
                <a:spcPts val="0"/>
              </a:spcBef>
              <a:spcAft>
                <a:spcPts val="0"/>
              </a:spcAft>
              <a:buClr>
                <a:srgbClr val="E0E0E0"/>
              </a:buClr>
              <a:buSzPts val="683"/>
              <a:buFont typeface="Inter"/>
              <a:buNone/>
            </a:pPr>
            <a:r>
              <a:rPr b="1" i="0" lang="en-US" sz="683" u="none" cap="none" strike="noStrike">
                <a:solidFill>
                  <a:srgbClr val="E0E0E0"/>
                </a:solidFill>
                <a:latin typeface="Inter"/>
                <a:ea typeface="Inter"/>
                <a:cs typeface="Inter"/>
                <a:sym typeface="Inter"/>
              </a:rPr>
              <a:t>High (Continuous)</a:t>
            </a:r>
            <a:endParaRPr b="0" i="0" sz="683" u="none" cap="none" strike="noStrike">
              <a:solidFill>
                <a:schemeClr val="dk1"/>
              </a:solidFill>
              <a:latin typeface="Calibri"/>
              <a:ea typeface="Calibri"/>
              <a:cs typeface="Calibri"/>
              <a:sym typeface="Calibri"/>
            </a:endParaRPr>
          </a:p>
        </p:txBody>
      </p:sp>
      <p:sp>
        <p:nvSpPr>
          <p:cNvPr id="840" name="Google Shape;840;p19"/>
          <p:cNvSpPr/>
          <p:nvPr/>
        </p:nvSpPr>
        <p:spPr>
          <a:xfrm>
            <a:off x="6847982" y="1896666"/>
            <a:ext cx="1938830" cy="396478"/>
          </a:xfrm>
          <a:prstGeom prst="rect">
            <a:avLst/>
          </a:prstGeom>
          <a:noFill/>
          <a:ln>
            <a:noFill/>
          </a:ln>
        </p:spPr>
        <p:txBody>
          <a:bodyPr anchorCtr="0" anchor="ctr" bIns="136000" lIns="170050" spcFirstLastPara="1" rIns="170050" wrap="square" tIns="136000">
            <a:noAutofit/>
          </a:bodyPr>
          <a:lstStyle/>
          <a:p>
            <a:pPr indent="0" lvl="0" marL="0" marR="0" rtl="0" algn="l">
              <a:lnSpc>
                <a:spcPct val="123796"/>
              </a:lnSpc>
              <a:spcBef>
                <a:spcPts val="0"/>
              </a:spcBef>
              <a:spcAft>
                <a:spcPts val="0"/>
              </a:spcAft>
              <a:buClr>
                <a:srgbClr val="E0E0E0"/>
              </a:buClr>
              <a:buSzPts val="727"/>
              <a:buFont typeface="Inter"/>
              <a:buNone/>
            </a:pPr>
            <a:r>
              <a:rPr b="0" i="0" lang="en-US" sz="727" u="none" cap="none" strike="noStrike">
                <a:solidFill>
                  <a:srgbClr val="E0E0E0"/>
                </a:solidFill>
                <a:latin typeface="Inter"/>
                <a:ea typeface="Inter"/>
                <a:cs typeface="Inter"/>
                <a:sym typeface="Inter"/>
              </a:rPr>
              <a:t>Initial only + Rotation</a:t>
            </a:r>
            <a:endParaRPr b="0" i="0" sz="727" u="none" cap="none" strike="noStrike">
              <a:solidFill>
                <a:schemeClr val="dk1"/>
              </a:solidFill>
              <a:latin typeface="Calibri"/>
              <a:ea typeface="Calibri"/>
              <a:cs typeface="Calibri"/>
              <a:sym typeface="Calibri"/>
            </a:endParaRPr>
          </a:p>
        </p:txBody>
      </p:sp>
      <p:pic>
        <p:nvPicPr>
          <p:cNvPr descr="preencoded.png" id="841" name="Google Shape;841;p19"/>
          <p:cNvPicPr preferRelativeResize="0"/>
          <p:nvPr/>
        </p:nvPicPr>
        <p:blipFill rotWithShape="1">
          <a:blip r:embed="rId7">
            <a:alphaModFix/>
          </a:blip>
          <a:srcRect b="0" l="0" r="0" t="0"/>
          <a:stretch/>
        </p:blipFill>
        <p:spPr>
          <a:xfrm>
            <a:off x="500063" y="2446734"/>
            <a:ext cx="87511" cy="100013"/>
          </a:xfrm>
          <a:prstGeom prst="rect">
            <a:avLst/>
          </a:prstGeom>
          <a:noFill/>
          <a:ln>
            <a:noFill/>
          </a:ln>
        </p:spPr>
      </p:pic>
      <p:sp>
        <p:nvSpPr>
          <p:cNvPr id="842" name="Google Shape;842;p19"/>
          <p:cNvSpPr/>
          <p:nvPr/>
        </p:nvSpPr>
        <p:spPr>
          <a:xfrm>
            <a:off x="644723" y="2437805"/>
            <a:ext cx="859036" cy="121444"/>
          </a:xfrm>
          <a:prstGeom prst="rect">
            <a:avLst/>
          </a:prstGeom>
          <a:noFill/>
          <a:ln>
            <a:noFill/>
          </a:ln>
        </p:spPr>
        <p:txBody>
          <a:bodyPr anchorCtr="0" anchor="t" bIns="0" lIns="0" spcFirstLastPara="1" rIns="0" wrap="square" tIns="0">
            <a:noAutofit/>
          </a:bodyPr>
          <a:lstStyle/>
          <a:p>
            <a:pPr indent="0" lvl="0" marL="0" marR="0" rtl="0" algn="l">
              <a:lnSpc>
                <a:spcPct val="131771"/>
              </a:lnSpc>
              <a:spcBef>
                <a:spcPts val="0"/>
              </a:spcBef>
              <a:spcAft>
                <a:spcPts val="0"/>
              </a:spcAft>
              <a:buClr>
                <a:srgbClr val="E0E0E0"/>
              </a:buClr>
              <a:buSzPts val="683"/>
              <a:buFont typeface="Inter"/>
              <a:buNone/>
            </a:pPr>
            <a:r>
              <a:rPr b="1" i="0" lang="en-US" sz="683" u="none" cap="none" strike="noStrike">
                <a:solidFill>
                  <a:srgbClr val="E0E0E0"/>
                </a:solidFill>
                <a:latin typeface="Inter"/>
                <a:ea typeface="Inter"/>
                <a:cs typeface="Inter"/>
                <a:sym typeface="Inter"/>
              </a:rPr>
              <a:t>D) DB Field-Level</a:t>
            </a:r>
            <a:endParaRPr b="0" i="0" sz="683" u="none" cap="none" strike="noStrike">
              <a:solidFill>
                <a:schemeClr val="dk1"/>
              </a:solidFill>
              <a:latin typeface="Calibri"/>
              <a:ea typeface="Calibri"/>
              <a:cs typeface="Calibri"/>
              <a:sym typeface="Calibri"/>
            </a:endParaRPr>
          </a:p>
        </p:txBody>
      </p:sp>
      <p:sp>
        <p:nvSpPr>
          <p:cNvPr id="843" name="Google Shape;843;p19"/>
          <p:cNvSpPr/>
          <p:nvPr/>
        </p:nvSpPr>
        <p:spPr>
          <a:xfrm>
            <a:off x="2354563" y="2411016"/>
            <a:ext cx="917972" cy="175022"/>
          </a:xfrm>
          <a:prstGeom prst="rect">
            <a:avLst/>
          </a:prstGeom>
          <a:solidFill>
            <a:srgbClr val="00E676">
              <a:alpha val="14901"/>
            </a:srgbClr>
          </a:solidFill>
          <a:ln cap="flat" cmpd="sng" w="9525">
            <a:solidFill>
              <a:srgbClr val="00E676">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19"/>
          <p:cNvSpPr/>
          <p:nvPr/>
        </p:nvSpPr>
        <p:spPr>
          <a:xfrm>
            <a:off x="2354563" y="2411016"/>
            <a:ext cx="917972" cy="175022"/>
          </a:xfrm>
          <a:prstGeom prst="rect">
            <a:avLst/>
          </a:prstGeom>
          <a:noFill/>
          <a:ln>
            <a:noFill/>
          </a:ln>
        </p:spPr>
        <p:txBody>
          <a:bodyPr anchorCtr="0" anchor="t" bIns="34025" lIns="68050" spcFirstLastPara="1" rIns="68050" wrap="square" tIns="34025">
            <a:noAutofit/>
          </a:bodyPr>
          <a:lstStyle/>
          <a:p>
            <a:pPr indent="0" lvl="0" marL="0" marR="0" rtl="0" algn="l">
              <a:lnSpc>
                <a:spcPct val="131086"/>
              </a:lnSpc>
              <a:spcBef>
                <a:spcPts val="0"/>
              </a:spcBef>
              <a:spcAft>
                <a:spcPts val="0"/>
              </a:spcAft>
              <a:buClr>
                <a:srgbClr val="00E676"/>
              </a:buClr>
              <a:buSzPts val="534"/>
              <a:buFont typeface="Roboto Mono"/>
              <a:buNone/>
            </a:pPr>
            <a:r>
              <a:rPr b="1" i="0" lang="en-US" sz="534" u="none" cap="none" strike="noStrike">
                <a:solidFill>
                  <a:srgbClr val="00E676"/>
                </a:solidFill>
                <a:latin typeface="Roboto Mono"/>
                <a:ea typeface="Roboto Mono"/>
                <a:cs typeface="Roboto Mono"/>
                <a:sym typeface="Roboto Mono"/>
              </a:rPr>
              <a:t>Cached per Policy</a:t>
            </a:r>
            <a:endParaRPr b="0" i="0" sz="534" u="none" cap="none" strike="noStrike">
              <a:solidFill>
                <a:schemeClr val="dk1"/>
              </a:solidFill>
              <a:latin typeface="Calibri"/>
              <a:ea typeface="Calibri"/>
              <a:cs typeface="Calibri"/>
              <a:sym typeface="Calibri"/>
            </a:endParaRPr>
          </a:p>
        </p:txBody>
      </p:sp>
      <p:sp>
        <p:nvSpPr>
          <p:cNvPr id="845" name="Google Shape;845;p19"/>
          <p:cNvSpPr/>
          <p:nvPr/>
        </p:nvSpPr>
        <p:spPr>
          <a:xfrm>
            <a:off x="3646940" y="2293144"/>
            <a:ext cx="1538697" cy="396478"/>
          </a:xfrm>
          <a:prstGeom prst="rect">
            <a:avLst/>
          </a:prstGeom>
          <a:noFill/>
          <a:ln>
            <a:noFill/>
          </a:ln>
        </p:spPr>
        <p:txBody>
          <a:bodyPr anchorCtr="0" anchor="ctr" bIns="136000" lIns="170050" spcFirstLastPara="1" rIns="170050" wrap="square" tIns="136000">
            <a:noAutofit/>
          </a:bodyPr>
          <a:lstStyle/>
          <a:p>
            <a:pPr indent="0" lvl="0" marL="0" marR="0" rtl="0" algn="l">
              <a:lnSpc>
                <a:spcPct val="123796"/>
              </a:lnSpc>
              <a:spcBef>
                <a:spcPts val="0"/>
              </a:spcBef>
              <a:spcAft>
                <a:spcPts val="0"/>
              </a:spcAft>
              <a:buClr>
                <a:srgbClr val="E0E0E0"/>
              </a:buClr>
              <a:buSzPts val="727"/>
              <a:buFont typeface="Inter"/>
              <a:buNone/>
            </a:pPr>
            <a:r>
              <a:rPr b="0" i="0" lang="en-US" sz="727" u="none" cap="none" strike="noStrike">
                <a:solidFill>
                  <a:srgbClr val="E0E0E0"/>
                </a:solidFill>
                <a:latin typeface="Inter"/>
                <a:ea typeface="Inter"/>
                <a:cs typeface="Inter"/>
                <a:sym typeface="Inter"/>
              </a:rPr>
              <a:t>Short TTL (5 min)</a:t>
            </a:r>
            <a:endParaRPr b="0" i="0" sz="727" u="none" cap="none" strike="noStrike">
              <a:solidFill>
                <a:schemeClr val="dk1"/>
              </a:solidFill>
              <a:latin typeface="Calibri"/>
              <a:ea typeface="Calibri"/>
              <a:cs typeface="Calibri"/>
              <a:sym typeface="Calibri"/>
            </a:endParaRPr>
          </a:p>
        </p:txBody>
      </p:sp>
      <p:sp>
        <p:nvSpPr>
          <p:cNvPr id="846" name="Google Shape;846;p19"/>
          <p:cNvSpPr/>
          <p:nvPr/>
        </p:nvSpPr>
        <p:spPr>
          <a:xfrm>
            <a:off x="5185637" y="2293144"/>
            <a:ext cx="1657238" cy="396478"/>
          </a:xfrm>
          <a:prstGeom prst="rect">
            <a:avLst/>
          </a:prstGeom>
          <a:noFill/>
          <a:ln>
            <a:noFill/>
          </a:ln>
        </p:spPr>
        <p:txBody>
          <a:bodyPr anchorCtr="0" anchor="ctr" bIns="136000" lIns="170050" spcFirstLastPara="1" rIns="170050" wrap="square" tIns="136000">
            <a:noAutofit/>
          </a:bodyPr>
          <a:lstStyle/>
          <a:p>
            <a:pPr indent="0" lvl="0" marL="0" marR="0" rtl="0" algn="l">
              <a:lnSpc>
                <a:spcPct val="131771"/>
              </a:lnSpc>
              <a:spcBef>
                <a:spcPts val="0"/>
              </a:spcBef>
              <a:spcAft>
                <a:spcPts val="0"/>
              </a:spcAft>
              <a:buClr>
                <a:srgbClr val="E0E0E0"/>
              </a:buClr>
              <a:buSzPts val="683"/>
              <a:buFont typeface="Inter"/>
              <a:buNone/>
            </a:pPr>
            <a:r>
              <a:rPr b="1" i="0" lang="en-US" sz="683" u="none" cap="none" strike="noStrike">
                <a:solidFill>
                  <a:srgbClr val="E0E0E0"/>
                </a:solidFill>
                <a:latin typeface="Inter"/>
                <a:ea typeface="Inter"/>
                <a:cs typeface="Inter"/>
                <a:sym typeface="Inter"/>
              </a:rPr>
              <a:t>High (Per-Row)</a:t>
            </a:r>
            <a:endParaRPr b="0" i="0" sz="683" u="none" cap="none" strike="noStrike">
              <a:solidFill>
                <a:schemeClr val="dk1"/>
              </a:solidFill>
              <a:latin typeface="Calibri"/>
              <a:ea typeface="Calibri"/>
              <a:cs typeface="Calibri"/>
              <a:sym typeface="Calibri"/>
            </a:endParaRPr>
          </a:p>
        </p:txBody>
      </p:sp>
      <p:sp>
        <p:nvSpPr>
          <p:cNvPr id="847" name="Google Shape;847;p19"/>
          <p:cNvSpPr/>
          <p:nvPr/>
        </p:nvSpPr>
        <p:spPr>
          <a:xfrm>
            <a:off x="6842875" y="2293144"/>
            <a:ext cx="1943937" cy="396478"/>
          </a:xfrm>
          <a:prstGeom prst="rect">
            <a:avLst/>
          </a:prstGeom>
          <a:noFill/>
          <a:ln>
            <a:noFill/>
          </a:ln>
        </p:spPr>
        <p:txBody>
          <a:bodyPr anchorCtr="0" anchor="ctr" bIns="136000" lIns="170050" spcFirstLastPara="1" rIns="170050" wrap="square" tIns="136000">
            <a:noAutofit/>
          </a:bodyPr>
          <a:lstStyle/>
          <a:p>
            <a:pPr indent="0" lvl="0" marL="0" marR="0" rtl="0" algn="l">
              <a:lnSpc>
                <a:spcPct val="123796"/>
              </a:lnSpc>
              <a:spcBef>
                <a:spcPts val="0"/>
              </a:spcBef>
              <a:spcAft>
                <a:spcPts val="0"/>
              </a:spcAft>
              <a:buClr>
                <a:srgbClr val="E0E0E0"/>
              </a:buClr>
              <a:buSzPts val="727"/>
              <a:buFont typeface="Inter"/>
              <a:buNone/>
            </a:pPr>
            <a:r>
              <a:rPr b="0" i="0" lang="en-US" sz="727" u="none" cap="none" strike="noStrike">
                <a:solidFill>
                  <a:srgbClr val="E0E0E0"/>
                </a:solidFill>
                <a:latin typeface="Inter"/>
                <a:ea typeface="Inter"/>
                <a:cs typeface="Inter"/>
                <a:sym typeface="Inter"/>
              </a:rPr>
              <a:t>Amortized per classification</a:t>
            </a:r>
            <a:endParaRPr b="0" i="0" sz="727" u="none" cap="none" strike="noStrike">
              <a:solidFill>
                <a:schemeClr val="dk1"/>
              </a:solidFill>
              <a:latin typeface="Calibri"/>
              <a:ea typeface="Calibri"/>
              <a:cs typeface="Calibri"/>
              <a:sym typeface="Calibri"/>
            </a:endParaRPr>
          </a:p>
        </p:txBody>
      </p:sp>
      <p:pic>
        <p:nvPicPr>
          <p:cNvPr descr="preencoded.png" id="848" name="Google Shape;848;p19"/>
          <p:cNvPicPr preferRelativeResize="0"/>
          <p:nvPr/>
        </p:nvPicPr>
        <p:blipFill rotWithShape="1">
          <a:blip r:embed="rId8">
            <a:alphaModFix/>
          </a:blip>
          <a:srcRect b="0" l="0" r="0" t="0"/>
          <a:stretch/>
        </p:blipFill>
        <p:spPr>
          <a:xfrm>
            <a:off x="500063" y="2843213"/>
            <a:ext cx="125016" cy="100013"/>
          </a:xfrm>
          <a:prstGeom prst="rect">
            <a:avLst/>
          </a:prstGeom>
          <a:noFill/>
          <a:ln>
            <a:noFill/>
          </a:ln>
        </p:spPr>
      </p:pic>
      <p:sp>
        <p:nvSpPr>
          <p:cNvPr id="849" name="Google Shape;849;p19"/>
          <p:cNvSpPr/>
          <p:nvPr/>
        </p:nvSpPr>
        <p:spPr>
          <a:xfrm>
            <a:off x="682228" y="2834283"/>
            <a:ext cx="682228" cy="121444"/>
          </a:xfrm>
          <a:prstGeom prst="rect">
            <a:avLst/>
          </a:prstGeom>
          <a:noFill/>
          <a:ln>
            <a:noFill/>
          </a:ln>
        </p:spPr>
        <p:txBody>
          <a:bodyPr anchorCtr="0" anchor="t" bIns="0" lIns="0" spcFirstLastPara="1" rIns="0" wrap="square" tIns="0">
            <a:noAutofit/>
          </a:bodyPr>
          <a:lstStyle/>
          <a:p>
            <a:pPr indent="0" lvl="0" marL="0" marR="0" rtl="0" algn="l">
              <a:lnSpc>
                <a:spcPct val="131771"/>
              </a:lnSpc>
              <a:spcBef>
                <a:spcPts val="0"/>
              </a:spcBef>
              <a:spcAft>
                <a:spcPts val="0"/>
              </a:spcAft>
              <a:buClr>
                <a:srgbClr val="E0E0E0"/>
              </a:buClr>
              <a:buSzPts val="683"/>
              <a:buFont typeface="Inter"/>
              <a:buNone/>
            </a:pPr>
            <a:r>
              <a:rPr b="1" i="0" lang="en-US" sz="683" u="none" cap="none" strike="noStrike">
                <a:solidFill>
                  <a:srgbClr val="E0E0E0"/>
                </a:solidFill>
                <a:latin typeface="Inter"/>
                <a:ea typeface="Inter"/>
                <a:cs typeface="Inter"/>
                <a:sym typeface="Inter"/>
              </a:rPr>
              <a:t>E) Cross-ASV</a:t>
            </a:r>
            <a:endParaRPr b="0" i="0" sz="683" u="none" cap="none" strike="noStrike">
              <a:solidFill>
                <a:schemeClr val="dk1"/>
              </a:solidFill>
              <a:latin typeface="Calibri"/>
              <a:ea typeface="Calibri"/>
              <a:cs typeface="Calibri"/>
              <a:sym typeface="Calibri"/>
            </a:endParaRPr>
          </a:p>
        </p:txBody>
      </p:sp>
      <p:sp>
        <p:nvSpPr>
          <p:cNvPr id="850" name="Google Shape;850;p19"/>
          <p:cNvSpPr/>
          <p:nvPr/>
        </p:nvSpPr>
        <p:spPr>
          <a:xfrm>
            <a:off x="2354563" y="2807494"/>
            <a:ext cx="871538" cy="175022"/>
          </a:xfrm>
          <a:prstGeom prst="rect">
            <a:avLst/>
          </a:prstGeom>
          <a:solidFill>
            <a:srgbClr val="E040FB">
              <a:alpha val="14901"/>
            </a:srgbClr>
          </a:solidFill>
          <a:ln cap="flat" cmpd="sng" w="9525">
            <a:solidFill>
              <a:srgbClr val="E040FB">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19"/>
          <p:cNvSpPr/>
          <p:nvPr/>
        </p:nvSpPr>
        <p:spPr>
          <a:xfrm>
            <a:off x="2354563" y="2807494"/>
            <a:ext cx="871538" cy="175022"/>
          </a:xfrm>
          <a:prstGeom prst="rect">
            <a:avLst/>
          </a:prstGeom>
          <a:noFill/>
          <a:ln>
            <a:noFill/>
          </a:ln>
        </p:spPr>
        <p:txBody>
          <a:bodyPr anchorCtr="0" anchor="t" bIns="34025" lIns="68050" spcFirstLastPara="1" rIns="68050" wrap="square" tIns="34025">
            <a:noAutofit/>
          </a:bodyPr>
          <a:lstStyle/>
          <a:p>
            <a:pPr indent="0" lvl="0" marL="0" marR="0" rtl="0" algn="l">
              <a:lnSpc>
                <a:spcPct val="131086"/>
              </a:lnSpc>
              <a:spcBef>
                <a:spcPts val="0"/>
              </a:spcBef>
              <a:spcAft>
                <a:spcPts val="0"/>
              </a:spcAft>
              <a:buClr>
                <a:srgbClr val="E040FB"/>
              </a:buClr>
              <a:buSzPts val="534"/>
              <a:buFont typeface="Roboto Mono"/>
              <a:buNone/>
            </a:pPr>
            <a:r>
              <a:rPr b="1" i="0" lang="en-US" sz="534" u="none" cap="none" strike="noStrike">
                <a:solidFill>
                  <a:srgbClr val="E040FB"/>
                </a:solidFill>
                <a:latin typeface="Roboto Mono"/>
                <a:ea typeface="Roboto Mono"/>
                <a:cs typeface="Roboto Mono"/>
                <a:sym typeface="Roboto Mono"/>
              </a:rPr>
              <a:t>Shared / Granted</a:t>
            </a:r>
            <a:endParaRPr b="0" i="0" sz="534" u="none" cap="none" strike="noStrike">
              <a:solidFill>
                <a:schemeClr val="dk1"/>
              </a:solidFill>
              <a:latin typeface="Calibri"/>
              <a:ea typeface="Calibri"/>
              <a:cs typeface="Calibri"/>
              <a:sym typeface="Calibri"/>
            </a:endParaRPr>
          </a:p>
        </p:txBody>
      </p:sp>
      <p:sp>
        <p:nvSpPr>
          <p:cNvPr id="852" name="Google Shape;852;p19"/>
          <p:cNvSpPr/>
          <p:nvPr/>
        </p:nvSpPr>
        <p:spPr>
          <a:xfrm>
            <a:off x="3646940" y="2689622"/>
            <a:ext cx="1538697" cy="396478"/>
          </a:xfrm>
          <a:prstGeom prst="rect">
            <a:avLst/>
          </a:prstGeom>
          <a:noFill/>
          <a:ln>
            <a:noFill/>
          </a:ln>
        </p:spPr>
        <p:txBody>
          <a:bodyPr anchorCtr="0" anchor="ctr" bIns="136000" lIns="170050" spcFirstLastPara="1" rIns="170050" wrap="square" tIns="136000">
            <a:noAutofit/>
          </a:bodyPr>
          <a:lstStyle/>
          <a:p>
            <a:pPr indent="0" lvl="0" marL="0" marR="0" rtl="0" algn="l">
              <a:lnSpc>
                <a:spcPct val="123796"/>
              </a:lnSpc>
              <a:spcBef>
                <a:spcPts val="0"/>
              </a:spcBef>
              <a:spcAft>
                <a:spcPts val="0"/>
              </a:spcAft>
              <a:buClr>
                <a:srgbClr val="E0E0E0"/>
              </a:buClr>
              <a:buSzPts val="727"/>
              <a:buFont typeface="Inter"/>
              <a:buNone/>
            </a:pPr>
            <a:r>
              <a:rPr b="0" i="0" lang="en-US" sz="727" u="none" cap="none" strike="noStrike">
                <a:solidFill>
                  <a:srgbClr val="E0E0E0"/>
                </a:solidFill>
                <a:latin typeface="Inter"/>
                <a:ea typeface="Inter"/>
                <a:cs typeface="Inter"/>
                <a:sym typeface="Inter"/>
              </a:rPr>
              <a:t>None (Token-bound)</a:t>
            </a:r>
            <a:endParaRPr b="0" i="0" sz="727" u="none" cap="none" strike="noStrike">
              <a:solidFill>
                <a:schemeClr val="dk1"/>
              </a:solidFill>
              <a:latin typeface="Calibri"/>
              <a:ea typeface="Calibri"/>
              <a:cs typeface="Calibri"/>
              <a:sym typeface="Calibri"/>
            </a:endParaRPr>
          </a:p>
        </p:txBody>
      </p:sp>
      <p:sp>
        <p:nvSpPr>
          <p:cNvPr id="853" name="Google Shape;853;p19"/>
          <p:cNvSpPr/>
          <p:nvPr/>
        </p:nvSpPr>
        <p:spPr>
          <a:xfrm>
            <a:off x="5185637" y="2689622"/>
            <a:ext cx="1657238" cy="396478"/>
          </a:xfrm>
          <a:prstGeom prst="rect">
            <a:avLst/>
          </a:prstGeom>
          <a:noFill/>
          <a:ln>
            <a:noFill/>
          </a:ln>
        </p:spPr>
        <p:txBody>
          <a:bodyPr anchorCtr="0" anchor="ctr" bIns="136000" lIns="170050" spcFirstLastPara="1" rIns="170050" wrap="square" tIns="136000">
            <a:noAutofit/>
          </a:bodyPr>
          <a:lstStyle/>
          <a:p>
            <a:pPr indent="0" lvl="0" marL="0" marR="0" rtl="0" algn="l">
              <a:lnSpc>
                <a:spcPct val="123796"/>
              </a:lnSpc>
              <a:spcBef>
                <a:spcPts val="0"/>
              </a:spcBef>
              <a:spcAft>
                <a:spcPts val="0"/>
              </a:spcAft>
              <a:buClr>
                <a:srgbClr val="E0E0E0"/>
              </a:buClr>
              <a:buSzPts val="727"/>
              <a:buFont typeface="Inter"/>
              <a:buNone/>
            </a:pPr>
            <a:r>
              <a:rPr b="0" i="0" lang="en-US" sz="727" u="none" cap="none" strike="noStrike">
                <a:solidFill>
                  <a:srgbClr val="E0E0E0"/>
                </a:solidFill>
                <a:latin typeface="Inter"/>
                <a:ea typeface="Inter"/>
                <a:cs typeface="Inter"/>
                <a:sym typeface="Inter"/>
              </a:rPr>
              <a:t>Medium (Event-driven)</a:t>
            </a:r>
            <a:endParaRPr b="0" i="0" sz="727" u="none" cap="none" strike="noStrike">
              <a:solidFill>
                <a:schemeClr val="dk1"/>
              </a:solidFill>
              <a:latin typeface="Calibri"/>
              <a:ea typeface="Calibri"/>
              <a:cs typeface="Calibri"/>
              <a:sym typeface="Calibri"/>
            </a:endParaRPr>
          </a:p>
        </p:txBody>
      </p:sp>
      <p:sp>
        <p:nvSpPr>
          <p:cNvPr id="854" name="Google Shape;854;p19"/>
          <p:cNvSpPr/>
          <p:nvPr/>
        </p:nvSpPr>
        <p:spPr>
          <a:xfrm>
            <a:off x="6842875" y="2689622"/>
            <a:ext cx="1943937" cy="396478"/>
          </a:xfrm>
          <a:prstGeom prst="rect">
            <a:avLst/>
          </a:prstGeom>
          <a:noFill/>
          <a:ln>
            <a:noFill/>
          </a:ln>
        </p:spPr>
        <p:txBody>
          <a:bodyPr anchorCtr="0" anchor="ctr" bIns="136000" lIns="170050" spcFirstLastPara="1" rIns="170050" wrap="square" tIns="136000">
            <a:noAutofit/>
          </a:bodyPr>
          <a:lstStyle/>
          <a:p>
            <a:pPr indent="0" lvl="0" marL="0" marR="0" rtl="0" algn="l">
              <a:lnSpc>
                <a:spcPct val="123796"/>
              </a:lnSpc>
              <a:spcBef>
                <a:spcPts val="0"/>
              </a:spcBef>
              <a:spcAft>
                <a:spcPts val="0"/>
              </a:spcAft>
              <a:buClr>
                <a:srgbClr val="E0E0E0"/>
              </a:buClr>
              <a:buSzPts val="727"/>
              <a:buFont typeface="Inter"/>
              <a:buNone/>
            </a:pPr>
            <a:r>
              <a:rPr b="0" i="0" lang="en-US" sz="727" u="none" cap="none" strike="noStrike">
                <a:solidFill>
                  <a:srgbClr val="E0E0E0"/>
                </a:solidFill>
                <a:latin typeface="Inter"/>
                <a:ea typeface="Inter"/>
                <a:cs typeface="Inter"/>
                <a:sym typeface="Inter"/>
              </a:rPr>
              <a:t>1 for Sender, 1 for Recipient</a:t>
            </a:r>
            <a:endParaRPr b="0" i="0" sz="727" u="none" cap="none" strike="noStrike">
              <a:solidFill>
                <a:schemeClr val="dk1"/>
              </a:solidFill>
              <a:latin typeface="Calibri"/>
              <a:ea typeface="Calibri"/>
              <a:cs typeface="Calibri"/>
              <a:sym typeface="Calibri"/>
            </a:endParaRPr>
          </a:p>
        </p:txBody>
      </p:sp>
      <p:sp>
        <p:nvSpPr>
          <p:cNvPr id="855" name="Google Shape;855;p19"/>
          <p:cNvSpPr/>
          <p:nvPr/>
        </p:nvSpPr>
        <p:spPr>
          <a:xfrm>
            <a:off x="357188" y="3303984"/>
            <a:ext cx="8429625" cy="425723"/>
          </a:xfrm>
          <a:prstGeom prst="rect">
            <a:avLst/>
          </a:prstGeom>
          <a:solidFill>
            <a:srgbClr val="00E5FF">
              <a:alpha val="3921"/>
            </a:srgbClr>
          </a:solidFill>
          <a:ln cap="flat" cmpd="sng" w="9525">
            <a:solidFill>
              <a:srgbClr val="00E5FF">
                <a:alpha val="1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856" name="Google Shape;856;p19"/>
          <p:cNvPicPr preferRelativeResize="0"/>
          <p:nvPr/>
        </p:nvPicPr>
        <p:blipFill rotWithShape="1">
          <a:blip r:embed="rId9">
            <a:alphaModFix/>
          </a:blip>
          <a:srcRect b="0" l="0" r="0" t="0"/>
          <a:stretch/>
        </p:blipFill>
        <p:spPr>
          <a:xfrm>
            <a:off x="500063" y="3452552"/>
            <a:ext cx="114300" cy="114300"/>
          </a:xfrm>
          <a:prstGeom prst="rect">
            <a:avLst/>
          </a:prstGeom>
          <a:noFill/>
          <a:ln>
            <a:noFill/>
          </a:ln>
        </p:spPr>
      </p:pic>
      <p:sp>
        <p:nvSpPr>
          <p:cNvPr id="857" name="Google Shape;857;p19"/>
          <p:cNvSpPr/>
          <p:nvPr/>
        </p:nvSpPr>
        <p:spPr>
          <a:xfrm>
            <a:off x="685800" y="3389709"/>
            <a:ext cx="7958138" cy="239985"/>
          </a:xfrm>
          <a:prstGeom prst="rect">
            <a:avLst/>
          </a:prstGeom>
          <a:noFill/>
          <a:ln>
            <a:noFill/>
          </a:ln>
        </p:spPr>
        <p:txBody>
          <a:bodyPr anchorCtr="0" anchor="t" bIns="0" lIns="0" spcFirstLastPara="1" rIns="0" wrap="square" tIns="0">
            <a:noAutofit/>
          </a:bodyPr>
          <a:lstStyle/>
          <a:p>
            <a:pPr indent="0" lvl="0" marL="0" marR="0" rtl="0" algn="l">
              <a:lnSpc>
                <a:spcPct val="144927"/>
              </a:lnSpc>
              <a:spcBef>
                <a:spcPts val="0"/>
              </a:spcBef>
              <a:spcAft>
                <a:spcPts val="0"/>
              </a:spcAft>
              <a:buClr>
                <a:srgbClr val="00E5FF"/>
              </a:buClr>
              <a:buSzPts val="584"/>
              <a:buFont typeface="Inter"/>
              <a:buNone/>
            </a:pPr>
            <a:r>
              <a:rPr b="1" i="0" lang="en-US" sz="584" u="none" cap="none" strike="noStrike">
                <a:solidFill>
                  <a:srgbClr val="00E5FF"/>
                </a:solidFill>
                <a:latin typeface="Inter"/>
                <a:ea typeface="Inter"/>
                <a:cs typeface="Inter"/>
                <a:sym typeface="Inter"/>
              </a:rPr>
              <a:t>Core Principle:</a:t>
            </a:r>
            <a:r>
              <a:rPr b="0" i="0" lang="en-US" sz="621" u="none" cap="none" strike="noStrike">
                <a:solidFill>
                  <a:srgbClr val="B0BEC5"/>
                </a:solidFill>
                <a:latin typeface="Inter"/>
                <a:ea typeface="Inter"/>
                <a:cs typeface="Inter"/>
                <a:sym typeface="Inter"/>
              </a:rPr>
              <a:t> Across all use cases, the application developer makes </a:t>
            </a:r>
            <a:r>
              <a:rPr b="1" i="0" lang="en-US" sz="584" u="none" cap="none" strike="noStrike">
                <a:solidFill>
                  <a:srgbClr val="B0BEC5"/>
                </a:solidFill>
                <a:latin typeface="Inter"/>
                <a:ea typeface="Inter"/>
                <a:cs typeface="Inter"/>
                <a:sym typeface="Inter"/>
              </a:rPr>
              <a:t>zero cryptographic decisions</a:t>
            </a:r>
            <a:r>
              <a:rPr b="0" i="0" lang="en-US" sz="621" u="none" cap="none" strike="noStrike">
                <a:solidFill>
                  <a:srgbClr val="B0BEC5"/>
                </a:solidFill>
                <a:latin typeface="Inter"/>
                <a:ea typeface="Inter"/>
                <a:cs typeface="Inter"/>
                <a:sym typeface="Inter"/>
              </a:rPr>
              <a:t>. They only provide the data and the classification level (e.g., CONFIDENTIAL, RESTRICTED). The EES SDK and OpAMP platform handle DEK generation, caching, algorithm selection, and HSM integration automatically.</a:t>
            </a:r>
            <a:endParaRPr b="0" i="0" sz="584"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