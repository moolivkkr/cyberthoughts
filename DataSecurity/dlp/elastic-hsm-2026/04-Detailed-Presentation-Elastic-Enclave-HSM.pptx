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FD1D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Elastic Enclave HSM — Technical Deep-Dive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7FD1D8"/>
                </a:solidFill>
                <a:latin typeface="Calibri"/>
              </a:rPr>
              <a:t>EJBCA PKI + SPIRE zero-trust · attested · autoscaling · FIPS 140-3 L1 · PQC-native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9FB3C8"/>
                </a:solidFill>
                <a:latin typeface="Calibri"/>
              </a:rPr>
              <a:t>Attested key custody on commodity spot EC2 — validated end-to-end on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394960" cy="4572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01 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FIPS 140-3 levels — L1 vs L3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02 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The problem — CloudHSM cost &amp; rigidity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03 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Solution &amp; architecture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04 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Component view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05 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Attested key custody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06 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Architecture A — EJBCA PKI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5394960" cy="4572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07 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Architecture B — SPIRE zero-trust flow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08 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Zero-trust use case — OTel identity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09 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Deployment topology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10 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Performance — measured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11 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Resilience — self-healing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12   </a:t>
            </a:r>
            <a:r>
              <a:rPr sz="1400" b="0" i="0">
                <a:solidFill>
                  <a:srgbClr val="1A1F2B"/>
                </a:solidFill>
                <a:latin typeface="Calibri"/>
              </a:rPr>
              <a:t>Roadmap — NLB autoscaling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FIPS 140-3 — Level 1 vs Level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2971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2032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09728" cy="2971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81912"/>
            <a:ext cx="4937760" cy="2697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A5A62"/>
                </a:solidFill>
                <a:latin typeface="Calibri"/>
              </a:rPr>
              <a:t>FIPS 140-3 Level 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Where high-volume signing runs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Production-grade validated crypto (FIPS-approved algorithms). No physical tamper hardware required. The enclave adds hardware-isolated, operator-inaccessible memory + cryptographic attestation of the exact image that may hold the key — a strong isolation boundary at L1 economics.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417320"/>
            <a:ext cx="5394960" cy="29718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2032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417320"/>
            <a:ext cx="109728" cy="2971800"/>
          </a:xfrm>
          <a:prstGeom prst="rect">
            <a:avLst/>
          </a:prstGeom>
          <a:solidFill>
            <a:srgbClr val="8A6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581912"/>
            <a:ext cx="4937760" cy="2697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8A6D1A"/>
                </a:solidFill>
                <a:latin typeface="Calibri"/>
              </a:rPr>
              <a:t>FIPS 140-3 Level 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80"/>
                </a:solidFill>
                <a:latin typeface="Calibri"/>
              </a:rPr>
              <a:t>The CloudHSM / dedicated-HSM tier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Adds tamper-evident/responsive physical security, identity-based operator authentication, and physical separation of plaintext critical security parameters. This is the CloudHSM / dedicated-HSM tier.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90288"/>
            <a:ext cx="11091672" cy="960120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00016"/>
            <a:ext cx="10515600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FD1D8"/>
                </a:solidFill>
                <a:latin typeface="Calibri"/>
              </a:rPr>
              <a:t>TIERED TRUST 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An L3 root (KMS/CloudHSM) can anchor the trust chain and sign the intermediate; the high-volume leaf/SVID signing runs at L1 inside the attested enclave. You buy L3 assurance once for the root, and scale L1 signing elastically.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The problem — CloudHSM cost &amp; rigidity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1651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329184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9770E"/>
                </a:solidFill>
                <a:latin typeface="Calibri"/>
              </a:rPr>
              <a:t>Cost of HA at scale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1A1F2B"/>
                </a:solidFill>
                <a:latin typeface="Calibri"/>
              </a:rPr>
              <a:t>An HA CloudHSM cluster bills 24/7 per HSM for peak capacity — expensive whether you sign 10 or 10,000 TPS.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98448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1651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71600"/>
            <a:ext cx="329184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9770E"/>
                </a:solidFill>
                <a:latin typeface="Calibri"/>
              </a:rPr>
              <a:t>No autoscaling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1A1F2B"/>
                </a:solidFill>
                <a:latin typeface="Calibri"/>
              </a:rPr>
              <a:t>Fixed capacity. You provision for peak and pay for it continuously; there is no scale-to-load.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298448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1651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371600"/>
            <a:ext cx="3291840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9770E"/>
                </a:solidFill>
                <a:latin typeface="Calibri"/>
              </a:rPr>
              <a:t>No production post-quantum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1A1F2B"/>
                </a:solidFill>
                <a:latin typeface="Calibri"/>
              </a:rPr>
              <a:t>No ML-DSA / ML-KEM / hybrid signing in the firmware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0906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3A42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3909060"/>
            <a:ext cx="2267712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EJBCA / SPIRE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needs HW-grade custody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72618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DF4E3"/>
          </a:solidFill>
          <a:ln w="2286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726180"/>
            <a:ext cx="2286000" cy="13716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B9770E"/>
                </a:solidFill>
                <a:latin typeface="Calibri"/>
              </a:rPr>
              <a:t>AWS CloudHSM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HA cluster (status quo)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1">
                <a:solidFill>
                  <a:srgbClr val="B3341F"/>
                </a:solidFill>
                <a:latin typeface="Calibri"/>
              </a:rPr>
              <a:t>billed 24/7 per HSM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34640" y="4411980"/>
            <a:ext cx="640080" cy="0"/>
          </a:xfrm>
          <a:prstGeom prst="line">
            <a:avLst/>
          </a:prstGeom>
          <a:ln w="2032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34640" y="4155948"/>
            <a:ext cx="640080" cy="20116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B7280"/>
                </a:solidFill>
                <a:latin typeface="Calibri"/>
              </a:rPr>
              <a:t>PKCS#11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606040"/>
            <a:ext cx="5303520" cy="6053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06040"/>
            <a:ext cx="5120640" cy="6053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Pay for PEAK 24/7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5760720" y="2908706"/>
            <a:ext cx="640080" cy="1503274"/>
          </a:xfrm>
          <a:prstGeom prst="line">
            <a:avLst/>
          </a:prstGeom>
          <a:ln w="1397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0" y="3357676"/>
            <a:ext cx="5303520" cy="6053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357676"/>
            <a:ext cx="5120640" cy="6053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No autoscaling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5760720" y="3660343"/>
            <a:ext cx="640080" cy="751637"/>
          </a:xfrm>
          <a:prstGeom prst="line">
            <a:avLst/>
          </a:prstGeom>
          <a:ln w="1397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0" y="4109313"/>
            <a:ext cx="5303520" cy="6053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109313"/>
            <a:ext cx="5120640" cy="6053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Regional · manual failover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60720" y="4411980"/>
            <a:ext cx="640080" cy="0"/>
          </a:xfrm>
          <a:prstGeom prst="line">
            <a:avLst/>
          </a:prstGeom>
          <a:ln w="1397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00800" y="4860950"/>
            <a:ext cx="5303520" cy="6053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860950"/>
            <a:ext cx="5120640" cy="6053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No production PQC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760720" y="4411980"/>
            <a:ext cx="640080" cy="751636"/>
          </a:xfrm>
          <a:prstGeom prst="line">
            <a:avLst/>
          </a:prstGeom>
          <a:ln w="1397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00800" y="5612587"/>
            <a:ext cx="5303520" cy="6053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B97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612587"/>
            <a:ext cx="5120640" cy="6053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Connection cliff · coarse metrics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60720" y="4411980"/>
            <a:ext cx="640080" cy="1503273"/>
          </a:xfrm>
          <a:prstGeom prst="line">
            <a:avLst/>
          </a:prstGeom>
          <a:ln w="13970">
            <a:solidFill>
              <a:srgbClr val="B977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Solution — four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40680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72768"/>
            <a:ext cx="5038344" cy="1783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7C86"/>
                </a:solidFill>
                <a:latin typeface="Calibri"/>
              </a:rPr>
              <a:t>Elastic — pay for load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No dedicated HSM. Spot EC2 + KMS, autoscale to min when idle. Linear scale-out: add boxes -&gt; +throughput, behind a multi-AZ NLB.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71600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9050">
            <a:solidFill>
              <a:srgbClr val="245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71600"/>
            <a:ext cx="5440680" cy="91440"/>
          </a:xfrm>
          <a:prstGeom prst="rect">
            <a:avLst/>
          </a:prstGeom>
          <a:solidFill>
            <a:srgbClr val="24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5038344" cy="1783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457B8"/>
                </a:solidFill>
                <a:latin typeface="Calibri"/>
              </a:rPr>
              <a:t>HSM-grade custody (FIPS 140-3 L1)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The CA/ICA key is released only into an attested enclave via KMS and never leaves that boundary. Parent host and operators never see plaintext key.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21608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9050">
            <a:solidFill>
              <a:srgbClr val="6D4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21608"/>
            <a:ext cx="5440680" cy="91440"/>
          </a:xfrm>
          <a:prstGeom prst="rect">
            <a:avLst/>
          </a:prstGeom>
          <a:solidFill>
            <a:srgbClr val="6D4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922776"/>
            <a:ext cx="5038344" cy="1783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D45C7"/>
                </a:solidFill>
                <a:latin typeface="Calibri"/>
              </a:rPr>
              <a:t>PQC-native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ML-DSA-65, ML-KEM-768/1024 and hybrid (P-384+ML-DSA) signing — in software, today, not waiting on HSM firmware.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21608"/>
            <a:ext cx="5440680" cy="2148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9050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721608"/>
            <a:ext cx="5440680" cy="9144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22776"/>
            <a:ext cx="5038344" cy="1783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7A46"/>
                </a:solidFill>
                <a:latin typeface="Calibri"/>
              </a:rPr>
              <a:t>Enterprise resilience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Enclave-aware health reporting; a wedged enclave -&gt; 503 -&gt; NLB -&gt; ASG auto-replaces. Self-heals under chaos, validated on real spot infra.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1274552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3A4256"/>
                </a:solidFill>
                <a:latin typeface="Calibri"/>
              </a:rPr>
              <a:t>One elastic enclave HSM serves EJBCA PKI and SPIRE zero-trust — key never leaves the enclave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331720" cy="2286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IDENTITY CONSUMERS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5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103120"/>
            <a:ext cx="2112263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B3E86"/>
                </a:solidFill>
                <a:latin typeface="Calibri"/>
              </a:rPr>
              <a:t>EJBCA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3A4256"/>
                </a:solidFill>
                <a:latin typeface="Calibri"/>
              </a:rPr>
              <a:t>PKI cert issuance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PKCS#11 token · libnitrop11.so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23317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D4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337560"/>
            <a:ext cx="2112263" cy="9144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4E2FA0"/>
                </a:solidFill>
                <a:latin typeface="Calibri"/>
              </a:rPr>
              <a:t>SPIRE server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3A4256"/>
                </a:solidFill>
                <a:latin typeface="Calibri"/>
              </a:rPr>
              <a:t>workload identity (SVIDs)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nitro_gateway KeyManager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544568"/>
            <a:ext cx="2112263" cy="8229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A1F2B"/>
                </a:solidFill>
                <a:latin typeface="Calibri"/>
              </a:rPr>
              <a:t>OTel / Vector agents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aws_iid · app/component SANs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host · service · agent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148840"/>
            <a:ext cx="1371600" cy="301752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5240">
            <a:solidFill>
              <a:srgbClr val="3A42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148840"/>
            <a:ext cx="1280160" cy="3017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A4256"/>
                </a:solidFill>
                <a:latin typeface="Calibri"/>
              </a:rPr>
              <a:t>Internal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A1F2B"/>
                </a:solidFill>
                <a:latin typeface="Calibri"/>
              </a:rPr>
              <a:t>NLB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multi-AZ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cross-zone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TCP health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0952" y="1828800"/>
            <a:ext cx="4197096" cy="3657600"/>
          </a:xfrm>
          <a:prstGeom prst="roundRect">
            <a:avLst>
              <a:gd name="adj" fmla="val 8000"/>
            </a:avLst>
          </a:prstGeom>
          <a:solidFill>
            <a:srgbClr val="F0FBFB"/>
          </a:solidFill>
          <a:ln w="2032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1892808"/>
            <a:ext cx="3977639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A5A62"/>
                </a:solidFill>
                <a:latin typeface="Calibri"/>
              </a:rPr>
              <a:t>AUTOSCALING GATEWAY / ENCLAVE FLEET  ·  spot ASG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2240280"/>
            <a:ext cx="1805939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2313432"/>
            <a:ext cx="1805939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280"/>
                </a:solidFill>
                <a:latin typeface="Calibri"/>
              </a:rPr>
              <a:t>EC2 box 1 (parent)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96128" y="2587752"/>
            <a:ext cx="1586484" cy="4572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6128" y="2587752"/>
            <a:ext cx="1586484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1A1F2B"/>
                </a:solidFill>
                <a:latin typeface="Calibri"/>
              </a:rPr>
              <a:t>gateway-bridge
mTLS :8443 · /healthz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96128" y="3154680"/>
            <a:ext cx="1586484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96128" y="3227832"/>
            <a:ext cx="1586484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5A62"/>
                </a:solidFill>
                <a:latin typeface="Calibri"/>
              </a:rPr>
              <a:t>NITRO ENCLAVE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32704" y="3474720"/>
            <a:ext cx="1513331" cy="17373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enclave-signerd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ICA (ECDSA P-384)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+ managed SVID keys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+ PQC: ML-DSA / ML-KEM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1">
                <a:solidFill>
                  <a:srgbClr val="0A5A62"/>
                </a:solidFill>
                <a:latin typeface="Calibri"/>
              </a:rPr>
              <a:t>key never leaves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vsock only · attested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29500" y="2240280"/>
            <a:ext cx="1805939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9500" y="2313432"/>
            <a:ext cx="1805939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280"/>
                </a:solidFill>
                <a:latin typeface="Calibri"/>
              </a:rPr>
              <a:t>EC2 box 2 (parent)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39227" y="2587752"/>
            <a:ext cx="1586484" cy="4572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9227" y="2587752"/>
            <a:ext cx="1586484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1A1F2B"/>
                </a:solidFill>
                <a:latin typeface="Calibri"/>
              </a:rPr>
              <a:t>gateway-bridge
mTLS :8443 · /healthz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9227" y="3154680"/>
            <a:ext cx="1586484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39227" y="3227832"/>
            <a:ext cx="1586484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5A62"/>
                </a:solidFill>
                <a:latin typeface="Calibri"/>
              </a:rPr>
              <a:t>NITRO ENCLAVE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5804" y="3474720"/>
            <a:ext cx="1513331" cy="17373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enclave-signerd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ICA (ECDSA P-384)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+ managed SVID keys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+ PQC: ML-DSA / ML-KEM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1">
                <a:solidFill>
                  <a:srgbClr val="0A5A62"/>
                </a:solidFill>
                <a:latin typeface="Calibri"/>
              </a:rPr>
              <a:t>key never leaves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vsock only · attested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1691640"/>
            <a:ext cx="1810511" cy="2286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AWS TRUST ANCHOR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40" y="2011680"/>
            <a:ext cx="1810511" cy="1234440"/>
          </a:xfrm>
          <a:prstGeom prst="roundRect">
            <a:avLst>
              <a:gd name="adj" fmla="val 8000"/>
            </a:avLst>
          </a:prstGeom>
          <a:solidFill>
            <a:srgbClr val="FFFCF2"/>
          </a:solidFill>
          <a:ln w="1905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12680" y="2103120"/>
            <a:ext cx="1627631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8A6D1A"/>
                </a:solidFill>
                <a:latin typeface="Calibri"/>
              </a:rPr>
              <a:t>AWS KMS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A4256"/>
                </a:solidFill>
                <a:latin typeface="Calibri"/>
              </a:rPr>
              <a:t>attested release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(FIPS 140-3 L3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root option)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21240" y="3474720"/>
            <a:ext cx="1810511" cy="12344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12680" y="3566160"/>
            <a:ext cx="1627631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A1F2B"/>
                </a:solidFill>
                <a:latin typeface="Calibri"/>
              </a:rPr>
              <a:t>Secrets Mgr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A4256"/>
                </a:solidFill>
                <a:latin typeface="Calibri"/>
              </a:rPr>
              <a:t>sealed ICA +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A4256"/>
                </a:solidFill>
                <a:latin typeface="Calibri"/>
              </a:rPr>
              <a:t>managed-key vault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B7280"/>
                </a:solidFill>
                <a:latin typeface="Calibri"/>
              </a:rPr>
              <a:t>(inert ciphertext)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788920" y="2532888"/>
            <a:ext cx="640080" cy="758952"/>
          </a:xfrm>
          <a:prstGeom prst="line">
            <a:avLst/>
          </a:prstGeom>
          <a:ln w="22860">
            <a:solidFill>
              <a:srgbClr val="2457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788920" y="3657600"/>
            <a:ext cx="640080" cy="109728"/>
          </a:xfrm>
          <a:prstGeom prst="line">
            <a:avLst/>
          </a:prstGeom>
          <a:ln w="22860">
            <a:solidFill>
              <a:srgbClr val="6D45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788920" y="4114800"/>
            <a:ext cx="640080" cy="82296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800600" y="3657600"/>
            <a:ext cx="530352" cy="0"/>
          </a:xfrm>
          <a:prstGeom prst="line">
            <a:avLst/>
          </a:prstGeom>
          <a:ln w="25400">
            <a:solidFill>
              <a:srgbClr val="0A5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528048" y="2606040"/>
            <a:ext cx="393192" cy="45720"/>
          </a:xfrm>
          <a:prstGeom prst="line">
            <a:avLst/>
          </a:prstGeom>
          <a:ln w="20320">
            <a:solidFill>
              <a:srgbClr val="8A6D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528048" y="4069080"/>
            <a:ext cx="393192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Component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3A4256"/>
                </a:solidFill>
                <a:latin typeface="Calibri"/>
              </a:rPr>
              <a:t>gateway-bridge → vsock broker → enclave signer — the request path, component by 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7B8"/>
                </a:solidFill>
                <a:latin typeface="Calibri"/>
              </a:rPr>
              <a:t>IDENTITY CONSUMERS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45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011680"/>
            <a:ext cx="3273552" cy="10515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EJBCA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PKI issuance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64408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45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3264408"/>
            <a:ext cx="3273552" cy="10515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SPIRE server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workload 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17136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45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4517136"/>
            <a:ext cx="3273552" cy="10515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OTel/Vector agents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aws_iid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645920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86"/>
                </a:solidFill>
                <a:latin typeface="Calibri"/>
              </a:rPr>
              <a:t>CUSTODY 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011680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2011680"/>
            <a:ext cx="3273552" cy="10515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gateway-bridge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mTLS + /healthz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264408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4" y="3264408"/>
            <a:ext cx="3273552" cy="10515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enclave-host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vsock broker + KMS proxy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517136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4517136"/>
            <a:ext cx="3273552" cy="10515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enclave-signerd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ICA · managed · PQC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645920"/>
            <a:ext cx="33832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6D1A"/>
                </a:solidFill>
                <a:latin typeface="Calibri"/>
              </a:rPr>
              <a:t>AWS ANCHOR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2011680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2011680"/>
            <a:ext cx="3273552" cy="10515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AWS KMS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attested release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264408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264408"/>
            <a:ext cx="3273552" cy="10515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Secrets Manager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sealed blobs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40480" y="2514600"/>
            <a:ext cx="548640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72400" y="2514600"/>
            <a:ext cx="548640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Attested key custody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3A4256"/>
                </a:solidFill>
                <a:latin typeface="Calibri"/>
              </a:rPr>
              <a:t>NSM attestation → KMS Decrypt with Recipient → ciphertext re-wrapped to the enclave key → unwrapped only inside the enclave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59" y="1783080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59" y="1783080"/>
            <a:ext cx="2057400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Enclave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signerd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6060" y="1783080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6060" y="1783080"/>
            <a:ext cx="2057400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Nitro NSM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2060" y="1783080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2060" y="1783080"/>
            <a:ext cx="2057400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Parent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enclave-host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8060" y="1783080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8060" y="1783080"/>
            <a:ext cx="2057400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Secrets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Manager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24060" y="1783080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24060" y="1783080"/>
            <a:ext cx="2057400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AWS KMS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(L3 root)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08760" y="2331720"/>
            <a:ext cx="0" cy="3977640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94760" y="2331720"/>
            <a:ext cx="0" cy="3977640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2331720"/>
            <a:ext cx="0" cy="3977640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66760" y="2331720"/>
            <a:ext cx="0" cy="3977640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52760" y="2331720"/>
            <a:ext cx="0" cy="3977640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31519" y="2496311"/>
            <a:ext cx="1554480" cy="329184"/>
          </a:xfrm>
          <a:prstGeom prst="rect">
            <a:avLst/>
          </a:prstGeom>
          <a:solidFill>
            <a:srgbClr val="FFFCF2"/>
          </a:solidFill>
          <a:ln w="1270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39" y="2496311"/>
            <a:ext cx="1463040" cy="32918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A1F2B"/>
                </a:solidFill>
                <a:latin typeface="Calibri"/>
              </a:rPr>
              <a:t>boot — no NIC, vsock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880359"/>
            <a:ext cx="228600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1. request attestation doc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508760" y="3118103"/>
            <a:ext cx="2286000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508760" y="3253435"/>
            <a:ext cx="228600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2. signed doc (PCR0 = image)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508760" y="3491179"/>
            <a:ext cx="2286000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80760" y="3626510"/>
            <a:ext cx="228600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3. fetch sealed ICA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3864254"/>
            <a:ext cx="2286000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80760" y="3999585"/>
            <a:ext cx="228600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4. sealed_key_b64 + cert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080760" y="4237329"/>
            <a:ext cx="2286000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508760" y="4372660"/>
            <a:ext cx="457200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5. deliver over vsock:7000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508760" y="4610404"/>
            <a:ext cx="4572000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508760" y="4745736"/>
            <a:ext cx="914400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6. Decrypt(Recipient=attest) via vsock:7001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508760" y="4983480"/>
            <a:ext cx="9144000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508760" y="5118811"/>
            <a:ext cx="914400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7. CiphertextForRecipient (CMS)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1508760" y="5356555"/>
            <a:ext cx="9144000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31519" y="5583326"/>
            <a:ext cx="1554480" cy="329184"/>
          </a:xfrm>
          <a:prstGeom prst="rect">
            <a:avLst/>
          </a:prstGeom>
          <a:solidFill>
            <a:srgbClr val="FFFCF2"/>
          </a:solidFill>
          <a:ln w="1270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39" y="5583326"/>
            <a:ext cx="1463040" cy="32918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A1F2B"/>
                </a:solidFill>
                <a:latin typeface="Calibri"/>
              </a:rPr>
              <a:t>unwrap -&gt; ICA (P-384) in RAM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6058814"/>
            <a:ext cx="6126479" cy="329184"/>
          </a:xfrm>
          <a:prstGeom prst="rect">
            <a:avLst/>
          </a:prstGeom>
          <a:solidFill>
            <a:srgbClr val="FFFCF2"/>
          </a:solidFill>
          <a:ln w="1270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6058814"/>
            <a:ext cx="6035040" cy="32918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A1F2B"/>
                </a:solidFill>
                <a:latin typeface="Calibri"/>
              </a:rPr>
              <a:t>parent &amp; operators never see plaintext key — FIPS 140-3 L1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Architecture A — EJBCA PKI issuance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3A4256"/>
                </a:solidFill>
                <a:latin typeface="Calibri"/>
              </a:rPr>
              <a:t>Stock PKCS#11 token (libnitrop11.so): every C_Sign forwards over mTLS to the in-enclave ICA — no EJBCA rebuild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7270" y="1737360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7270" y="1737360"/>
            <a:ext cx="2103120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EJBCA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(NitroEnclaveCA)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1889" y="1737360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1889" y="1737360"/>
            <a:ext cx="2103120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libnitrop11.so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(PKCS#11)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6509" y="1737360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6509" y="1737360"/>
            <a:ext cx="2103120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gateway-bridge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mTLS :8443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1130" y="1737360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1130" y="1737360"/>
            <a:ext cx="2103120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Enclave signer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vsock :7100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68830" y="2286000"/>
            <a:ext cx="0" cy="3566160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43450" y="2286000"/>
            <a:ext cx="0" cy="3566160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18069" y="2286000"/>
            <a:ext cx="0" cy="3566160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92690" y="2286000"/>
            <a:ext cx="0" cy="3566160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59459" y="2450591"/>
            <a:ext cx="1818741" cy="329184"/>
          </a:xfrm>
          <a:prstGeom prst="rect">
            <a:avLst/>
          </a:prstGeom>
          <a:solidFill>
            <a:srgbClr val="FFFCF2"/>
          </a:solidFill>
          <a:ln w="1270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5179" y="2450591"/>
            <a:ext cx="1727301" cy="32918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A1F2B"/>
                </a:solidFill>
                <a:latin typeface="Calibri"/>
              </a:rPr>
              <a:t>CSR (PKCS#10) enrol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8830" y="2834639"/>
            <a:ext cx="267462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1. C_Sign(digest)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68830" y="3072384"/>
            <a:ext cx="2674620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43450" y="3203447"/>
            <a:ext cx="2674619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2. POST /v1/sign (mTLS, digest only)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43450" y="3441192"/>
            <a:ext cx="2674619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18069" y="3572255"/>
            <a:ext cx="267462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3. forward over vsock:7100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18069" y="3809999"/>
            <a:ext cx="2674621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92690" y="4178807"/>
            <a:ext cx="411479" cy="0"/>
          </a:xfrm>
          <a:prstGeom prst="line">
            <a:avLst/>
          </a:prstGeom>
          <a:ln w="15240">
            <a:solidFill>
              <a:srgbClr val="3A4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504169" y="4178807"/>
            <a:ext cx="0" cy="146305"/>
          </a:xfrm>
          <a:prstGeom prst="line">
            <a:avLst/>
          </a:prstGeom>
          <a:ln w="15240">
            <a:solidFill>
              <a:srgbClr val="3A4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0092690" y="4325112"/>
            <a:ext cx="411479" cy="0"/>
          </a:xfrm>
          <a:prstGeom prst="line">
            <a:avLst/>
          </a:prstGeom>
          <a:ln w="1524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595610" y="4105655"/>
            <a:ext cx="2743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4. sign with ICA (key never leaves)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8069" y="4328312"/>
            <a:ext cx="267462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5. signature (r‖s)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418069" y="4566056"/>
            <a:ext cx="2674621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43450" y="4697120"/>
            <a:ext cx="2674619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6. signature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4743450" y="4934864"/>
            <a:ext cx="2674619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068830" y="5065928"/>
            <a:ext cx="267462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7. assemble + issue certificate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2068830" y="5303672"/>
            <a:ext cx="2674620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159459" y="5526176"/>
            <a:ext cx="9842601" cy="329184"/>
          </a:xfrm>
          <a:prstGeom prst="rect">
            <a:avLst/>
          </a:prstGeom>
          <a:solidFill>
            <a:srgbClr val="FFFCF2"/>
          </a:solidFill>
          <a:ln w="1270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05179" y="5526176"/>
            <a:ext cx="9751161" cy="32918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A1F2B"/>
                </a:solidFill>
                <a:latin typeface="Calibri"/>
              </a:rPr>
              <a:t>EJBCA never sees the private key — only digests &amp; signatures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3E86"/>
                </a:solidFill>
                <a:latin typeface="Calibri"/>
              </a:rPr>
              <a:t>Measured ~895 certs/sec/node (ecdsa-p256, 0 errors); EJBCA-bound, scales with EJBCA nodes.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Architecture B — SPIRE zero-trust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094" y="1325880"/>
            <a:ext cx="1741932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094" y="1325880"/>
            <a:ext cx="1741932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OTel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workload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6573" y="1325880"/>
            <a:ext cx="1741932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6573" y="1325880"/>
            <a:ext cx="1741932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spire-agent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(aws_iid)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054" y="1325880"/>
            <a:ext cx="1741932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054" y="1325880"/>
            <a:ext cx="1741932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spire-server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:8181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7534" y="1325880"/>
            <a:ext cx="1741932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7534" y="1325880"/>
            <a:ext cx="1741932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nitro_gateway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KeyManager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3014" y="1325880"/>
            <a:ext cx="1741932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3014" y="1325880"/>
            <a:ext cx="1741932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:8443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48494" y="1325880"/>
            <a:ext cx="1741932" cy="47548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8494" y="1325880"/>
            <a:ext cx="1741932" cy="47548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Enclave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A1F2B"/>
                </a:solidFill>
                <a:latin typeface="Calibri"/>
              </a:rPr>
              <a:t>managed key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42060" y="1874519"/>
            <a:ext cx="0" cy="3063241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77539" y="1874519"/>
            <a:ext cx="0" cy="3063241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13020" y="1874519"/>
            <a:ext cx="0" cy="3063241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48500" y="1874519"/>
            <a:ext cx="0" cy="3063241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83980" y="1874519"/>
            <a:ext cx="0" cy="3063241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919460" y="1874519"/>
            <a:ext cx="0" cy="3063241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519476" y="2039111"/>
            <a:ext cx="1316126" cy="329184"/>
          </a:xfrm>
          <a:prstGeom prst="rect">
            <a:avLst/>
          </a:prstGeom>
          <a:solidFill>
            <a:srgbClr val="FFFCF2"/>
          </a:solidFill>
          <a:ln w="1270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5196" y="2039111"/>
            <a:ext cx="1224686" cy="32918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1A1F2B"/>
                </a:solidFill>
                <a:latin typeface="Calibri"/>
              </a:rPr>
              <a:t>node attested via signed AWS IID (tag app/component)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2060" y="2423159"/>
            <a:ext cx="1935479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1. Workload API: fetch SVID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42060" y="2660903"/>
            <a:ext cx="1935479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177539" y="2679191"/>
            <a:ext cx="193548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2. request (selectors: unix uid)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77539" y="2916935"/>
            <a:ext cx="1935481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13020" y="2935224"/>
            <a:ext cx="1935479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3. sign X509/JWT SVID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13020" y="3172968"/>
            <a:ext cx="1935480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48500" y="3191256"/>
            <a:ext cx="193548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4. POST /v1/managed/sign (mTLS)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048500" y="3429000"/>
            <a:ext cx="1935480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983980" y="3447288"/>
            <a:ext cx="193548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5. forward over vsock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83980" y="3685032"/>
            <a:ext cx="1935480" cy="0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983980" y="3703320"/>
            <a:ext cx="193548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6. signature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8983980" y="3941064"/>
            <a:ext cx="1935480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048500" y="3959352"/>
            <a:ext cx="193548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7. signature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7048500" y="4197096"/>
            <a:ext cx="1935480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13020" y="4215384"/>
            <a:ext cx="1935479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8. signed SVID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5113020" y="4453128"/>
            <a:ext cx="1935480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177539" y="4471416"/>
            <a:ext cx="1935480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9. SVID (SAN: host / service-component / agent)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3177539" y="4709160"/>
            <a:ext cx="1935481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242060" y="4727448"/>
            <a:ext cx="1935479" cy="21945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A4256"/>
                </a:solidFill>
                <a:latin typeface="Calibri"/>
              </a:rPr>
              <a:t>10. SVID delivered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1242060" y="4965192"/>
            <a:ext cx="1935479" cy="0"/>
          </a:xfrm>
          <a:prstGeom prst="line">
            <a:avLst/>
          </a:prstGeom>
          <a:ln w="17780">
            <a:solidFill>
              <a:srgbClr val="3A425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640" y="5029200"/>
            <a:ext cx="11064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4E2FA0"/>
                </a:solidFill>
                <a:latin typeface="Calibri"/>
              </a:rPr>
              <a:t>Measured ~236 SVIDs/sec (agent-&gt;server-&gt;gateway); SPIRE-server-bound, scales with servers.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80160" y="5486400"/>
            <a:ext cx="9628632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6D4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4480" y="5559552"/>
            <a:ext cx="9098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E2FA0"/>
                </a:solidFill>
                <a:latin typeface="Calibri"/>
              </a:rPr>
              <a:t>Central trust root:  </a:t>
            </a:r>
            <a:r>
              <a:rPr sz="1100" b="0" i="0">
                <a:solidFill>
                  <a:srgbClr val="1A1F2B"/>
                </a:solidFill>
                <a:latin typeface="Calibri"/>
              </a:rPr>
              <a:t>the SPIRE server can be an EJBCA child ICA via UpstreamAuthority — one root anchors both PKI and workload identity.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Zero-trust use case — OTel by app +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704088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6D45C7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A1F2B"/>
                </a:solidFill>
                <a:latin typeface="Calibri"/>
              </a:rPr>
              <a:t>Host / node  </a:t>
            </a:r>
            <a:r>
              <a:rPr sz="1000" b="0" i="0">
                <a:solidFill>
                  <a:srgbClr val="4E2FA0"/>
                </a:solidFill>
                <a:latin typeface="Calibri"/>
              </a:rPr>
              <a:t>spiffe://td/node/&lt;app&gt;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256"/>
                </a:solidFill>
                <a:latin typeface="Calibri"/>
              </a:rPr>
              <a:t>      the attested EC2 instance (aws_iid, tag:app)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6D45C7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A1F2B"/>
                </a:solidFill>
                <a:latin typeface="Calibri"/>
              </a:rPr>
              <a:t>Service / component  </a:t>
            </a:r>
            <a:r>
              <a:rPr sz="1000" b="0" i="0">
                <a:solidFill>
                  <a:srgbClr val="4E2FA0"/>
                </a:solidFill>
                <a:latin typeface="Calibri"/>
              </a:rPr>
              <a:t>spiffe://td/app/&lt;app&gt;/component/&lt;component&gt;/...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256"/>
                </a:solidFill>
                <a:latin typeface="Calibri"/>
              </a:rPr>
              <a:t>      the application component — set from deploy-time tags, not inferred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6D45C7"/>
                </a:solidFill>
                <a:latin typeface="Calibri"/>
              </a:rPr>
              <a:t>▸  </a:t>
            </a:r>
            <a:r>
              <a:rPr sz="1250" b="1" i="0">
                <a:solidFill>
                  <a:srgbClr val="1A1F2B"/>
                </a:solidFill>
                <a:latin typeface="Calibri"/>
              </a:rPr>
              <a:t>Agent / workload  </a:t>
            </a:r>
            <a:r>
              <a:rPr sz="1000" b="0" i="0">
                <a:solidFill>
                  <a:srgbClr val="4E2FA0"/>
                </a:solidFill>
                <a:latin typeface="Calibri"/>
              </a:rPr>
              <a:t>.../wl/otel-agent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256"/>
                </a:solidFill>
                <a:latin typeface="Calibri"/>
              </a:rPr>
              <a:t>      the specific workload on the node (unix selector)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1A1F2B"/>
                </a:solidFill>
                <a:latin typeface="Calibri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704088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At deploy time each instance is tagged </a:t>
            </a:r>
            <a:r>
              <a:rPr sz="1100" b="1" i="0">
                <a:solidFill>
                  <a:srgbClr val="4E2FA0"/>
                </a:solidFill>
                <a:latin typeface="Calibri"/>
              </a:rPr>
              <a:t>app</a:t>
            </a:r>
            <a:r>
              <a:rPr sz="1100" b="0" i="0">
                <a:solidFill>
                  <a:srgbClr val="1A1F2B"/>
                </a:solidFill>
                <a:latin typeface="Calibri"/>
              </a:rPr>
              <a:t> and </a:t>
            </a:r>
            <a:r>
              <a:rPr sz="1100" b="1" i="0">
                <a:solidFill>
                  <a:srgbClr val="4E2FA0"/>
                </a:solidFill>
                <a:latin typeface="Calibri"/>
              </a:rPr>
              <a:t>component</a:t>
            </a:r>
            <a:r>
              <a:rPr sz="1100" b="0" i="0">
                <a:solidFill>
                  <a:srgbClr val="1A1F2B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SPIRE's aws_iid node attestor reads the signed AWS Instance Identity Document, resolves the tags, and mints host / service / agent SANs — each SVID signed inside the enclave.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371600"/>
            <a:ext cx="3931920" cy="881481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9050">
            <a:solidFill>
              <a:srgbClr val="3A42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0144" y="1371600"/>
            <a:ext cx="3822191" cy="881481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A1F2B"/>
                </a:solidFill>
                <a:latin typeface="Calibri"/>
              </a:rPr>
              <a:t>AWS Instance Identity Doc (signed)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tags at deploy: app, component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921240" y="2253081"/>
            <a:ext cx="0" cy="201168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55279" y="2454249"/>
            <a:ext cx="3931920" cy="88148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5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0144" y="2454249"/>
            <a:ext cx="3822191" cy="881481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B3E86"/>
                </a:solidFill>
                <a:latin typeface="Calibri"/>
              </a:rPr>
              <a:t>HOST / node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spiffe://td/node/&lt;app&gt;  ·  attested EC2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21240" y="3335731"/>
            <a:ext cx="0" cy="201168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55279" y="3536899"/>
            <a:ext cx="3931920" cy="88148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D4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0144" y="3536899"/>
            <a:ext cx="3822191" cy="881481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4E2FA0"/>
                </a:solidFill>
                <a:latin typeface="Calibri"/>
              </a:rPr>
              <a:t>SERVICE / component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spiffe://td/app/&lt;app&gt;/component/&lt;component&gt;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21240" y="4418380"/>
            <a:ext cx="0" cy="201168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55279" y="4619548"/>
            <a:ext cx="3931920" cy="88148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4619548"/>
            <a:ext cx="3822191" cy="881481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0A5A62"/>
                </a:solidFill>
                <a:latin typeface="Calibri"/>
              </a:rPr>
              <a:t>AGENT / workload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.../wl/otel-agent  ·  the specific workload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21240" y="5501030"/>
            <a:ext cx="0" cy="201168"/>
          </a:xfrm>
          <a:prstGeom prst="line">
            <a:avLst/>
          </a:prstGeom>
          <a:ln w="17780">
            <a:solidFill>
              <a:srgbClr val="3A42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55279" y="5702198"/>
            <a:ext cx="3931920" cy="881481"/>
          </a:xfrm>
          <a:prstGeom prst="roundRect">
            <a:avLst>
              <a:gd name="adj" fmla="val 8000"/>
            </a:avLst>
          </a:prstGeom>
          <a:solidFill>
            <a:srgbClr val="F0FBFB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0144" y="5702198"/>
            <a:ext cx="3822191" cy="881481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0A5A62"/>
                </a:solidFill>
                <a:latin typeface="Calibri"/>
              </a:rPr>
              <a:t>signed inside the enclave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FIPS 140-3 L1 custody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Deployment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607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7FD1D8"/>
                </a:solidFill>
                <a:latin typeface="Calibri"/>
              </a:rPr>
              <a:t>VSOCK PORTS 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creds 7000 · KMS proxy 7001 · sealed-key vault 7002 · signer 7100 · ParentCID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83080"/>
            <a:ext cx="2377440" cy="7315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245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783080"/>
            <a:ext cx="2267712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EJBCA nodes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PKCS#11 · libnitrop11.so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783080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6D4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1783080"/>
            <a:ext cx="2084831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app=checkout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component=api-server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783080"/>
            <a:ext cx="2194560" cy="7315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6D4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24144" y="1783080"/>
            <a:ext cx="2084831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app=payments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component=ledger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34639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5240">
            <a:solidFill>
              <a:srgbClr val="3A42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2834639"/>
            <a:ext cx="2267712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NLB gateway :8443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834639"/>
            <a:ext cx="4572000" cy="64008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5240">
            <a:solidFill>
              <a:srgbClr val="3A42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6704" y="2834639"/>
            <a:ext cx="4462272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NLB spire :8181  (multi-AZ · cross-zone)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54480" y="2514600"/>
            <a:ext cx="0" cy="320039"/>
          </a:xfrm>
          <a:prstGeom prst="line">
            <a:avLst/>
          </a:prstGeom>
          <a:ln w="17780">
            <a:solidFill>
              <a:srgbClr val="2457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89120" y="2514600"/>
            <a:ext cx="0" cy="320039"/>
          </a:xfrm>
          <a:prstGeom prst="line">
            <a:avLst/>
          </a:prstGeom>
          <a:ln w="17780">
            <a:solidFill>
              <a:srgbClr val="6D45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52160" y="2514600"/>
            <a:ext cx="914400" cy="320039"/>
          </a:xfrm>
          <a:prstGeom prst="line">
            <a:avLst/>
          </a:prstGeom>
          <a:ln w="17780">
            <a:solidFill>
              <a:srgbClr val="6D45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" y="3749039"/>
            <a:ext cx="7498079" cy="25146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2032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94759"/>
            <a:ext cx="7315199" cy="237744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A5A62"/>
                </a:solidFill>
                <a:latin typeface="Calibri"/>
              </a:rPr>
              <a:t>Parent EC2 · c9g.2xlarge (spot ASG)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14800"/>
            <a:ext cx="3182112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spire-server :8181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KeyManager=nitro_gateway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0060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800600"/>
            <a:ext cx="3182112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gateway-bridge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:8443 mTLS · :8081 /healthz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32918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5486400"/>
            <a:ext cx="3182112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enclave-host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vsock broker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9080" y="411480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0FBFB"/>
          </a:solidFill>
          <a:ln w="2286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4206240"/>
            <a:ext cx="356616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A5A62"/>
                </a:solidFill>
                <a:latin typeface="Calibri"/>
              </a:rPr>
              <a:t>NITRO ENCLAVE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526279"/>
            <a:ext cx="3383280" cy="13716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A1F2B"/>
                </a:solidFill>
                <a:latin typeface="Calibri"/>
              </a:rPr>
              <a:t>enclave-signerd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3A4256"/>
                </a:solidFill>
                <a:latin typeface="Calibri"/>
              </a:rPr>
              <a:t>ICA (ECDSA P-384) + managed keys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3A4256"/>
                </a:solidFill>
                <a:latin typeface="Calibri"/>
              </a:rPr>
              <a:t>+ PQC: ML-DSA / ML-KEM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1">
                <a:solidFill>
                  <a:srgbClr val="0A5A62"/>
                </a:solidFill>
                <a:latin typeface="Calibri"/>
              </a:rPr>
              <a:t>key never leaves · vsock only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554480" y="3474720"/>
            <a:ext cx="640080" cy="274319"/>
          </a:xfrm>
          <a:prstGeom prst="line">
            <a:avLst/>
          </a:prstGeom>
          <a:ln w="17780">
            <a:solidFill>
              <a:srgbClr val="2457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2194560" y="3474720"/>
            <a:ext cx="2194560" cy="640080"/>
          </a:xfrm>
          <a:prstGeom prst="line">
            <a:avLst/>
          </a:prstGeom>
          <a:ln w="17780">
            <a:solidFill>
              <a:srgbClr val="6D45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321040" y="411480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FFFCF2"/>
          </a:solidFill>
          <a:ln w="15240">
            <a:solidFill>
              <a:srgbClr val="8A6D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4114800"/>
            <a:ext cx="3364992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AWS KMS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attested release (L3 root)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507492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5240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5074920"/>
            <a:ext cx="3364992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Secrets Manager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sealed ICA + vault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7863840" y="4526279"/>
            <a:ext cx="457200" cy="45721"/>
          </a:xfrm>
          <a:prstGeom prst="line">
            <a:avLst/>
          </a:prstGeom>
          <a:ln w="17780">
            <a:solidFill>
              <a:srgbClr val="8A6D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772400" y="6126479"/>
            <a:ext cx="109728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B7280"/>
                </a:solidFill>
                <a:latin typeface="Calibri"/>
              </a:rPr>
              <a:t>vsock: creds 7000 · KMS proxy 7001 · sealed-key vault 7002 · signer 7100 · ParentCID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Performance — measured, honestly labeled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89888"/>
            <a:ext cx="3346704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HSM CEILING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~8.6k/box → 48k fleet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298448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24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389888"/>
            <a:ext cx="3346704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EJBCA ISSUANCE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~895 certs/s/node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298448"/>
            <a:ext cx="3566160" cy="841248"/>
          </a:xfrm>
          <a:prstGeom prst="roundRect">
            <a:avLst>
              <a:gd name="adj" fmla="val 8000"/>
            </a:avLst>
          </a:prstGeom>
          <a:solidFill>
            <a:srgbClr val="6D4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1389888"/>
            <a:ext cx="3346704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SPIRE SVIDS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~236 SVIDs/s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514600"/>
            <a:ext cx="3017520" cy="4572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79" y="2514600"/>
            <a:ext cx="1554480" cy="4572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2514600"/>
            <a:ext cx="29260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Cipher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79" y="2514600"/>
            <a:ext cx="1554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signs/sec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2971800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9079" y="29718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2971800"/>
            <a:ext cx="29260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A1F2B"/>
                </a:solidFill>
                <a:latin typeface="Calibri"/>
              </a:rPr>
              <a:t>ECDSA P-256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79" y="2971800"/>
            <a:ext cx="1554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4,374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429000"/>
            <a:ext cx="3017520" cy="457200"/>
          </a:xfrm>
          <a:prstGeom prst="rect">
            <a:avLst/>
          </a:prstGeom>
          <a:solidFill>
            <a:srgbClr val="FAFBFD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79" y="3429000"/>
            <a:ext cx="1554480" cy="457200"/>
          </a:xfrm>
          <a:prstGeom prst="rect">
            <a:avLst/>
          </a:prstGeom>
          <a:solidFill>
            <a:srgbClr val="FAFBFD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3429000"/>
            <a:ext cx="29260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A1F2B"/>
                </a:solidFill>
                <a:latin typeface="Calibri"/>
              </a:rPr>
              <a:t>ECDSA P-384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3429000"/>
            <a:ext cx="1554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7,530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3886200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69079" y="38862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" y="3886200"/>
            <a:ext cx="29260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A1F2B"/>
                </a:solidFill>
                <a:latin typeface="Calibri"/>
              </a:rPr>
              <a:t>RSA-2048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79" y="3886200"/>
            <a:ext cx="1554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2,888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" y="4343400"/>
            <a:ext cx="3017520" cy="457200"/>
          </a:xfrm>
          <a:prstGeom prst="rect">
            <a:avLst/>
          </a:prstGeom>
          <a:solidFill>
            <a:srgbClr val="FAFBFD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69079" y="4343400"/>
            <a:ext cx="1554480" cy="457200"/>
          </a:xfrm>
          <a:prstGeom prst="rect">
            <a:avLst/>
          </a:prstGeom>
          <a:solidFill>
            <a:srgbClr val="FAFBFD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1288" y="4343400"/>
            <a:ext cx="29260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1A1F2B"/>
                </a:solidFill>
                <a:latin typeface="Calibri"/>
              </a:rPr>
              <a:t>RSA-4096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79" y="4343400"/>
            <a:ext cx="1554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497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2514600"/>
            <a:ext cx="3017520" cy="4572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55480" y="2514600"/>
            <a:ext cx="1554480" cy="45720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2514600"/>
            <a:ext cx="29260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Cipher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2514600"/>
            <a:ext cx="1554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signs/sec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2971800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55480" y="29718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47688" y="2971800"/>
            <a:ext cx="29260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4E2FA0"/>
                </a:solidFill>
                <a:latin typeface="Calibri"/>
              </a:rPr>
              <a:t>ML-DSA-65 (PQC)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2971800"/>
            <a:ext cx="1554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6,261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3429000"/>
            <a:ext cx="3017520" cy="457200"/>
          </a:xfrm>
          <a:prstGeom prst="rect">
            <a:avLst/>
          </a:prstGeom>
          <a:solidFill>
            <a:srgbClr val="FAFBFD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55480" y="3429000"/>
            <a:ext cx="1554480" cy="457200"/>
          </a:xfrm>
          <a:prstGeom prst="rect">
            <a:avLst/>
          </a:prstGeom>
          <a:solidFill>
            <a:srgbClr val="FAFBFD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47688" y="3429000"/>
            <a:ext cx="29260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4E2FA0"/>
                </a:solidFill>
                <a:latin typeface="Calibri"/>
              </a:rPr>
              <a:t>ML-KEM-768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429000"/>
            <a:ext cx="1554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7,912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3886200"/>
            <a:ext cx="3017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55480" y="38862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47688" y="3886200"/>
            <a:ext cx="29260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4E2FA0"/>
                </a:solidFill>
                <a:latin typeface="Calibri"/>
              </a:rPr>
              <a:t>ML-KEM-1024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3886200"/>
            <a:ext cx="1554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8,478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37960" y="4343400"/>
            <a:ext cx="3017520" cy="457200"/>
          </a:xfrm>
          <a:prstGeom prst="rect">
            <a:avLst/>
          </a:prstGeom>
          <a:solidFill>
            <a:srgbClr val="FAFBFD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55480" y="4343400"/>
            <a:ext cx="1554480" cy="457200"/>
          </a:xfrm>
          <a:prstGeom prst="rect">
            <a:avLst/>
          </a:prstGeom>
          <a:solidFill>
            <a:srgbClr val="FAFBFD"/>
          </a:solidFill>
          <a:ln w="9525">
            <a:solidFill>
              <a:srgbClr val="D6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47688" y="4343400"/>
            <a:ext cx="29260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4E2FA0"/>
                </a:solidFill>
                <a:latin typeface="Calibri"/>
              </a:rPr>
              <a:t>Hybrid P-384+ML-DSA-65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4343400"/>
            <a:ext cx="1554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1F2B"/>
                </a:solidFill>
                <a:latin typeface="Calibri"/>
              </a:rPr>
              <a:t>6,207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1560" y="4937760"/>
            <a:ext cx="10058400" cy="658368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 w="1651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0160" y="4937760"/>
            <a:ext cx="960120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A5A62"/>
                </a:solidFill>
                <a:latin typeface="Calibri"/>
              </a:rPr>
              <a:t>Takeaway:  </a:t>
            </a:r>
            <a:r>
              <a:rPr sz="1300" b="1" i="0">
                <a:solidFill>
                  <a:srgbClr val="1A1F2B"/>
                </a:solidFill>
                <a:latin typeface="Calibri"/>
              </a:rPr>
              <a:t>the signer is never the bottleneck — ~10–36× headroom over both product paths.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FB3C8"/>
                </a:solidFill>
                <a:latin typeface="Calibri"/>
              </a:rPr>
              <a:t>ELASTIC ENCLAVE HSM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Resilience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NitroEnclave · Elastic Enclave HSM · Technical Deep-Dive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9050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94960" cy="9144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4937760" cy="3017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7A46"/>
                </a:solidFill>
                <a:latin typeface="Calibri"/>
              </a:rPr>
              <a:t>Self-healing today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Enclave-aware </a:t>
            </a:r>
            <a:r>
              <a:rPr sz="1150" b="1" i="0">
                <a:solidFill>
                  <a:srgbClr val="1E7A46"/>
                </a:solidFill>
                <a:latin typeface="Calibri"/>
              </a:rPr>
              <a:t>/healthz</a:t>
            </a:r>
            <a:r>
              <a:rPr sz="1150" b="0" i="0">
                <a:solidFill>
                  <a:srgbClr val="1A1F2B"/>
                </a:solidFill>
                <a:latin typeface="Calibri"/>
              </a:rPr>
              <a:t> probes the vsock signer, not just the parent process.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A wedged enclave → </a:t>
            </a:r>
            <a:r>
              <a:rPr sz="1150" b="1" i="0">
                <a:solidFill>
                  <a:srgbClr val="B3341F"/>
                </a:solidFill>
                <a:latin typeface="Calibri"/>
              </a:rPr>
              <a:t>503</a:t>
            </a:r>
            <a:r>
              <a:rPr sz="1150" b="0" i="0">
                <a:solidFill>
                  <a:srgbClr val="1A1F2B"/>
                </a:solidFill>
                <a:latin typeface="Calibri"/>
              </a:rPr>
              <a:t> → NLB drops the target → ASG auto-replaces the box.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3A4256"/>
                </a:solidFill>
                <a:latin typeface="Calibri"/>
              </a:rPr>
              <a:t>Validated on real spot infra under HA chaos — traffic reconverges with zero operator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37160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371600"/>
            <a:ext cx="5394960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72768"/>
            <a:ext cx="4937760" cy="3017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A5A62"/>
                </a:solidFill>
                <a:latin typeface="Calibri"/>
              </a:rPr>
              <a:t>Roadmap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A5A62"/>
                </a:solidFill>
                <a:latin typeface="Calibri"/>
              </a:rPr>
              <a:t>Two internal NLBs</a:t>
            </a:r>
            <a:r>
              <a:rPr sz="1150" b="0" i="0">
                <a:solidFill>
                  <a:srgbClr val="1A1F2B"/>
                </a:solidFill>
                <a:latin typeface="Calibri"/>
              </a:rPr>
              <a:t> (SPIRE :8181, gateway :8443) + shared RDS + a Secrets vault.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Both tiers become stateless and scale horizontally, independently — PKI and identity load no longer share a box.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1A1F2B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280"/>
                </a:solidFill>
                <a:latin typeface="Calibri"/>
              </a:rPr>
              <a:t>Ref: </a:t>
            </a:r>
            <a:r>
              <a:rPr sz="1050" b="1" i="1">
                <a:solidFill>
                  <a:srgbClr val="0A5A62"/>
                </a:solidFill>
                <a:latin typeface="Calibri"/>
              </a:rPr>
              <a:t>NLB-SCALING-PLAN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5394960" cy="841248"/>
          </a:xfrm>
          <a:prstGeom prst="roundRect">
            <a:avLst>
              <a:gd name="adj" fmla="val 8000"/>
            </a:avLst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983479"/>
            <a:ext cx="5175504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VALIDATED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single-box + HA chaos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4892040"/>
            <a:ext cx="5394960" cy="841248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983479"/>
            <a:ext cx="5175504" cy="6858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NEXT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NLB autoscaling ×2 tiers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