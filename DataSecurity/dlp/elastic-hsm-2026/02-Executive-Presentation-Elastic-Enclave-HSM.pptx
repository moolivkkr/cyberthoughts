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61488"/>
            <a:ext cx="12191695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FB3C8"/>
                </a:solidFill>
                <a:latin typeface="Calibri"/>
              </a:rPr>
              <a:t>NITROENCLAVE  ·  EXECUTIVE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Elastic Enclave HSM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240280"/>
            <a:ext cx="9631375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0E7C86"/>
                </a:solidFill>
                <a:latin typeface="Calibri"/>
              </a:rPr>
              <a:t>HSM-grade custody for EJBCA PKI + SPIRE zero-trust — autoscaled on spot EC2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11094415" cy="3200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6D2E0"/>
                </a:solidFill>
                <a:latin typeface="Calibri"/>
              </a:rPr>
              <a:t>FIPS 140-3 Level 1 custody  ·  PQC-native (ML-DSA / ML-KEM / hybrid)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60520"/>
            <a:ext cx="2508427" cy="841248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4251959"/>
            <a:ext cx="2288971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ELASTIC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Pay for 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1115" y="4160520"/>
            <a:ext cx="2508427" cy="841248"/>
          </a:xfrm>
          <a:prstGeom prst="roundRect">
            <a:avLst>
              <a:gd name="adj" fmla="val 8000"/>
            </a:avLst>
          </a:prstGeom>
          <a:solidFill>
            <a:srgbClr val="24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0843" y="4251959"/>
            <a:ext cx="2288971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HSM-GRADE CUSTODY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FIPS 140-3 L1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2151" y="4160520"/>
            <a:ext cx="2508427" cy="841248"/>
          </a:xfrm>
          <a:prstGeom prst="roundRect">
            <a:avLst>
              <a:gd name="adj" fmla="val 8000"/>
            </a:avLst>
          </a:prstGeom>
          <a:solidFill>
            <a:srgbClr val="6D4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1879" y="4251959"/>
            <a:ext cx="2288971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PQC-NATIVE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Quantum-ready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3187" y="4160520"/>
            <a:ext cx="2508427" cy="841248"/>
          </a:xfrm>
          <a:prstGeom prst="roundRect">
            <a:avLst>
              <a:gd name="adj" fmla="val 8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52915" y="4251959"/>
            <a:ext cx="2288971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ENTERPRISE RESILIENCE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Self-healing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E90A8"/>
                </a:solidFill>
                <a:latin typeface="Calibri"/>
              </a:rPr>
              <a:t>One attested signer · behind an autoscaling multi-AZ fleet · key never leaves the enclave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B3C8"/>
                </a:solidFill>
                <a:latin typeface="Calibri"/>
              </a:rPr>
              <a:t>ELASTIC ENCLAVE HSM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The problem — HSM cost &amp; rigidity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F2B"/>
                </a:solidFill>
                <a:latin typeface="Calibri"/>
              </a:rPr>
              <a:t>EJBCA PKI and SPIRE zero-trust both need hardware-grade key custody — the CA/ICA and SVID-signing keys must live behind a real isolation boundary. But CloudHSM forces you to pay for peak: a fixed, always-on cluster billed 24/7 whether you sign 10 TPS or 10,000.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2044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3A42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3520440"/>
            <a:ext cx="2267712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EJBCA / SPIRE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needs HW-grade custody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33756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DF4E3"/>
          </a:solidFill>
          <a:ln w="2286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3337560"/>
            <a:ext cx="2286000" cy="13716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B9770E"/>
                </a:solidFill>
                <a:latin typeface="Calibri"/>
              </a:rPr>
              <a:t>AWS CloudHSM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HA cluster (status quo)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1">
                <a:solidFill>
                  <a:srgbClr val="B3341F"/>
                </a:solidFill>
                <a:latin typeface="Calibri"/>
              </a:rPr>
              <a:t>billed 24/7 per HSM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40" y="4023360"/>
            <a:ext cx="640080" cy="0"/>
          </a:xfrm>
          <a:prstGeom prst="line">
            <a:avLst/>
          </a:prstGeom>
          <a:ln w="2032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34640" y="3767328"/>
            <a:ext cx="640080" cy="20116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B7280"/>
                </a:solidFill>
                <a:latin typeface="Calibri"/>
              </a:rPr>
              <a:t>PKCS#11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331720"/>
            <a:ext cx="5303520" cy="5596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5120640" cy="55961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Pay for PEAK 24/7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5760720" y="2611526"/>
            <a:ext cx="640080" cy="1411834"/>
          </a:xfrm>
          <a:prstGeom prst="line">
            <a:avLst/>
          </a:prstGeom>
          <a:ln w="13970">
            <a:solidFill>
              <a:srgbClr val="B977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0" y="3037636"/>
            <a:ext cx="5303520" cy="5596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037636"/>
            <a:ext cx="5120640" cy="55961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No autoscaling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5760720" y="3317443"/>
            <a:ext cx="640080" cy="705917"/>
          </a:xfrm>
          <a:prstGeom prst="line">
            <a:avLst/>
          </a:prstGeom>
          <a:ln w="13970">
            <a:solidFill>
              <a:srgbClr val="B977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0" y="3743553"/>
            <a:ext cx="5303520" cy="5596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743553"/>
            <a:ext cx="5120640" cy="55961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Regional · manual failover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5760720" y="4023359"/>
            <a:ext cx="640080" cy="1"/>
          </a:xfrm>
          <a:prstGeom prst="line">
            <a:avLst/>
          </a:prstGeom>
          <a:ln w="13970">
            <a:solidFill>
              <a:srgbClr val="B977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0" y="4449470"/>
            <a:ext cx="5303520" cy="5596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49470"/>
            <a:ext cx="5120640" cy="55961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No production PQC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60720" y="4023360"/>
            <a:ext cx="640080" cy="705916"/>
          </a:xfrm>
          <a:prstGeom prst="line">
            <a:avLst/>
          </a:prstGeom>
          <a:ln w="13970">
            <a:solidFill>
              <a:srgbClr val="B977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0" y="5155387"/>
            <a:ext cx="5303520" cy="5596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5155387"/>
            <a:ext cx="5120640" cy="55961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Connection cliff · coarse metrics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60720" y="4023360"/>
            <a:ext cx="640080" cy="1411833"/>
          </a:xfrm>
          <a:prstGeom prst="line">
            <a:avLst/>
          </a:prstGeom>
          <a:ln w="13970">
            <a:solidFill>
              <a:srgbClr val="B977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5870448"/>
            <a:ext cx="6858000" cy="3200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3341F"/>
                </a:solidFill>
                <a:latin typeface="Calibri"/>
              </a:rPr>
              <a:t>Status quo: expensive and rigid.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5888736"/>
            <a:ext cx="6428232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6B7280"/>
                </a:solidFill>
                <a:latin typeface="Calibri"/>
              </a:rPr>
              <a:t>CloudHSM: provision for peak, pay for peak — no scale-to-load.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NitroEnclave · Elastic Enclave HSM · Executive Brief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B3C8"/>
                </a:solidFill>
                <a:latin typeface="Calibri"/>
              </a:rPr>
              <a:t>ELASTIC ENCLAVE HSM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Solution architecture — attested signer behind an autoscaling fleet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3A4256"/>
                </a:solidFill>
                <a:latin typeface="Calibri"/>
              </a:rPr>
              <a:t>One elastic enclave HSM serves EJBCA PKI and SPIRE zero-trust — key never leaves the enclave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331720" cy="2286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IDENTITY CONSUMERS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45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103120"/>
            <a:ext cx="2112263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B3E86"/>
                </a:solidFill>
                <a:latin typeface="Calibri"/>
              </a:rPr>
              <a:t>EJBCA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3A4256"/>
                </a:solidFill>
                <a:latin typeface="Calibri"/>
              </a:rPr>
              <a:t>PKI cert issuance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PKCS#11 token · libnitrop11.so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4612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D4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337560"/>
            <a:ext cx="2112263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4E2FA0"/>
                </a:solidFill>
                <a:latin typeface="Calibri"/>
              </a:rPr>
              <a:t>SPIRE server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3A4256"/>
                </a:solidFill>
                <a:latin typeface="Calibri"/>
              </a:rPr>
              <a:t>workload identity (SVIDs)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nitro_gateway KeyManager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8056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544568"/>
            <a:ext cx="2112263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A1F2B"/>
                </a:solidFill>
                <a:latin typeface="Calibri"/>
              </a:rPr>
              <a:t>OTel / Vector agents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aws_iid · app/component SANs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host · service · agent identity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148840"/>
            <a:ext cx="1371600" cy="301752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5240">
            <a:solidFill>
              <a:srgbClr val="3A42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148840"/>
            <a:ext cx="1280160" cy="30175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A4256"/>
                </a:solidFill>
                <a:latin typeface="Calibri"/>
              </a:rPr>
              <a:t>Internal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A1F2B"/>
                </a:solidFill>
                <a:latin typeface="Calibri"/>
              </a:rPr>
              <a:t>NLB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multi-AZ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cross-zone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TCP health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0952" y="1828800"/>
            <a:ext cx="4197096" cy="3657600"/>
          </a:xfrm>
          <a:prstGeom prst="roundRect">
            <a:avLst>
              <a:gd name="adj" fmla="val 8000"/>
            </a:avLst>
          </a:prstGeom>
          <a:solidFill>
            <a:srgbClr val="F0FBFB"/>
          </a:solidFill>
          <a:ln w="2032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1892808"/>
            <a:ext cx="3977639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A5A62"/>
                </a:solidFill>
                <a:latin typeface="Calibri"/>
              </a:rPr>
              <a:t>AUTOSCALING GATEWAY / ENCLAVE FLEET  ·  spot ASG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2240280"/>
            <a:ext cx="1805939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2313432"/>
            <a:ext cx="1805939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280"/>
                </a:solidFill>
                <a:latin typeface="Calibri"/>
              </a:rPr>
              <a:t>EC2 box 1 (parent)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96128" y="2587752"/>
            <a:ext cx="1586484" cy="4572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6128" y="2587752"/>
            <a:ext cx="1586484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1A1F2B"/>
                </a:solidFill>
                <a:latin typeface="Calibri"/>
              </a:rPr>
              <a:t>gateway-bridge
mTLS :8443 · /healthz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96128" y="3154680"/>
            <a:ext cx="1586484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96128" y="3227832"/>
            <a:ext cx="1586484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A5A62"/>
                </a:solidFill>
                <a:latin typeface="Calibri"/>
              </a:rPr>
              <a:t>NITRO ENCLAVE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32704" y="3474720"/>
            <a:ext cx="1513331" cy="17373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enclave-signerd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ICA (ECDSA P-384)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+ managed SVID keys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+ PQC: ML-DSA / ML-KEM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1">
                <a:solidFill>
                  <a:srgbClr val="0A5A62"/>
                </a:solidFill>
                <a:latin typeface="Calibri"/>
              </a:rPr>
              <a:t>key never leaves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vsock only · attested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29500" y="2240280"/>
            <a:ext cx="1805939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9500" y="2313432"/>
            <a:ext cx="1805939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280"/>
                </a:solidFill>
                <a:latin typeface="Calibri"/>
              </a:rPr>
              <a:t>EC2 box 2 (parent)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39227" y="2587752"/>
            <a:ext cx="1586484" cy="4572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39227" y="2587752"/>
            <a:ext cx="1586484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1A1F2B"/>
                </a:solidFill>
                <a:latin typeface="Calibri"/>
              </a:rPr>
              <a:t>gateway-bridge
mTLS :8443 · /healthz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39227" y="3154680"/>
            <a:ext cx="1586484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39227" y="3227832"/>
            <a:ext cx="1586484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A5A62"/>
                </a:solidFill>
                <a:latin typeface="Calibri"/>
              </a:rPr>
              <a:t>NITRO ENCLAVE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5804" y="3474720"/>
            <a:ext cx="1513331" cy="17373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enclave-signerd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ICA (ECDSA P-384)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+ managed SVID keys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+ PQC: ML-DSA / ML-KEM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1">
                <a:solidFill>
                  <a:srgbClr val="0A5A62"/>
                </a:solidFill>
                <a:latin typeface="Calibri"/>
              </a:rPr>
              <a:t>key never leaves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vsock only · attested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1691640"/>
            <a:ext cx="1810511" cy="2286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AWS TRUST ANCHOR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21240" y="2011680"/>
            <a:ext cx="1810511" cy="1234440"/>
          </a:xfrm>
          <a:prstGeom prst="roundRect">
            <a:avLst>
              <a:gd name="adj" fmla="val 8000"/>
            </a:avLst>
          </a:prstGeom>
          <a:solidFill>
            <a:srgbClr val="FFFCF2"/>
          </a:solidFill>
          <a:ln w="19050">
            <a:solidFill>
              <a:srgbClr val="8A6D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80" y="2103120"/>
            <a:ext cx="1627631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8A6D1A"/>
                </a:solidFill>
                <a:latin typeface="Calibri"/>
              </a:rPr>
              <a:t>AWS KMS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A4256"/>
                </a:solidFill>
                <a:latin typeface="Calibri"/>
              </a:rPr>
              <a:t>attested release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(FIPS 140-3 L3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root option)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21240" y="3474720"/>
            <a:ext cx="1810511" cy="12344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2680" y="3566160"/>
            <a:ext cx="1627631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A1F2B"/>
                </a:solidFill>
                <a:latin typeface="Calibri"/>
              </a:rPr>
              <a:t>Secrets Mgr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A4256"/>
                </a:solidFill>
                <a:latin typeface="Calibri"/>
              </a:rPr>
              <a:t>sealed ICA +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A4256"/>
                </a:solidFill>
                <a:latin typeface="Calibri"/>
              </a:rPr>
              <a:t>managed-key vault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(inert ciphertext)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788920" y="2532888"/>
            <a:ext cx="640080" cy="758952"/>
          </a:xfrm>
          <a:prstGeom prst="line">
            <a:avLst/>
          </a:prstGeom>
          <a:ln w="22860">
            <a:solidFill>
              <a:srgbClr val="2457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788920" y="3657600"/>
            <a:ext cx="640080" cy="109728"/>
          </a:xfrm>
          <a:prstGeom prst="line">
            <a:avLst/>
          </a:prstGeom>
          <a:ln w="22860">
            <a:solidFill>
              <a:srgbClr val="6D45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788920" y="4114800"/>
            <a:ext cx="640080" cy="822960"/>
          </a:xfrm>
          <a:prstGeom prst="line">
            <a:avLst/>
          </a:prstGeom>
          <a:ln w="17780">
            <a:solidFill>
              <a:srgbClr val="3A42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800600" y="3657600"/>
            <a:ext cx="530352" cy="0"/>
          </a:xfrm>
          <a:prstGeom prst="line">
            <a:avLst/>
          </a:prstGeom>
          <a:ln w="2540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528048" y="2606040"/>
            <a:ext cx="393192" cy="45720"/>
          </a:xfrm>
          <a:prstGeom prst="line">
            <a:avLst/>
          </a:prstGeom>
          <a:ln w="20320">
            <a:solidFill>
              <a:srgbClr val="8A6D1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528048" y="4069080"/>
            <a:ext cx="393192" cy="0"/>
          </a:xfrm>
          <a:prstGeom prst="line">
            <a:avLst/>
          </a:prstGeom>
          <a:ln w="17780">
            <a:solidFill>
              <a:srgbClr val="3A42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NitroEnclave · Elastic Enclave HSM · Executive Brief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B3C8"/>
                </a:solidFill>
                <a:latin typeface="Calibri"/>
              </a:rPr>
              <a:t>ELASTIC ENCLAVE HSM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Performance — measured on AWS, honestly labeled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15258" cy="841248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63040"/>
            <a:ext cx="3295802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HSM CEILING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~8.6k/box → ~48k fleet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371600"/>
            <a:ext cx="3515258" cy="841248"/>
          </a:xfrm>
          <a:prstGeom prst="roundRect">
            <a:avLst>
              <a:gd name="adj" fmla="val 8000"/>
            </a:avLst>
          </a:prstGeom>
          <a:solidFill>
            <a:srgbClr val="24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7946" y="1463040"/>
            <a:ext cx="3295802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EJBCA ISSUANCE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~895 certs/s/node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1371600"/>
            <a:ext cx="3515258" cy="841248"/>
          </a:xfrm>
          <a:prstGeom prst="roundRect">
            <a:avLst>
              <a:gd name="adj" fmla="val 8000"/>
            </a:avLst>
          </a:prstGeom>
          <a:solidFill>
            <a:srgbClr val="6D4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7524" y="1463040"/>
            <a:ext cx="3295802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SPIRE ISSUANCE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~236 SVIDs/s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51760"/>
            <a:ext cx="3063240" cy="384048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651760"/>
            <a:ext cx="2953512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Cipher /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80" y="2651760"/>
            <a:ext cx="1417320" cy="384048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1608" y="2651760"/>
            <a:ext cx="1307592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Signs/sec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651760"/>
            <a:ext cx="1874519" cy="384048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2651760"/>
            <a:ext cx="1764791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Family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35808"/>
            <a:ext cx="3063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035808"/>
            <a:ext cx="2953512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ECDSA P-384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3035808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21608" y="3035808"/>
            <a:ext cx="1307592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A5A62"/>
                </a:solidFill>
                <a:latin typeface="Calibri"/>
              </a:rPr>
              <a:t>7,530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3035808"/>
            <a:ext cx="187451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38928" y="3035808"/>
            <a:ext cx="1764791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classical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19856"/>
            <a:ext cx="306324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419856"/>
            <a:ext cx="2953512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ML-DSA-65 (PQC)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1880" y="3419856"/>
            <a:ext cx="141732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21608" y="3419856"/>
            <a:ext cx="1307592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A5A62"/>
                </a:solidFill>
                <a:latin typeface="Calibri"/>
              </a:rPr>
              <a:t>6,261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3419856"/>
            <a:ext cx="1874519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38928" y="3419856"/>
            <a:ext cx="1764791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post-quantum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03904"/>
            <a:ext cx="3063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803904"/>
            <a:ext cx="2953512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ML-KEM-1024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11880" y="3803904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21608" y="3803904"/>
            <a:ext cx="1307592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A5A62"/>
                </a:solidFill>
                <a:latin typeface="Calibri"/>
              </a:rPr>
              <a:t>8,478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3803904"/>
            <a:ext cx="187451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38928" y="3803904"/>
            <a:ext cx="1764791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post-quantum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187952"/>
            <a:ext cx="306324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187952"/>
            <a:ext cx="2953512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ECDSA P-256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11880" y="4187952"/>
            <a:ext cx="141732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21608" y="4187952"/>
            <a:ext cx="1307592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A5A62"/>
                </a:solidFill>
                <a:latin typeface="Calibri"/>
              </a:rPr>
              <a:t>4,374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4187952"/>
            <a:ext cx="1874519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38928" y="4187952"/>
            <a:ext cx="1764791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classical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572000"/>
            <a:ext cx="3063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572000"/>
            <a:ext cx="2953512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RSA-2048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11880" y="4572000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21608" y="4572000"/>
            <a:ext cx="1307592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A5A62"/>
                </a:solidFill>
                <a:latin typeface="Calibri"/>
              </a:rPr>
              <a:t>2,888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0" y="4572000"/>
            <a:ext cx="187451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38928" y="4572000"/>
            <a:ext cx="1764791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classical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2340864"/>
            <a:ext cx="63550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B7280"/>
                </a:solidFill>
                <a:latin typeface="Calibri"/>
              </a:rPr>
              <a:t>Per-cipher enclave ceiling  ·  concurrency 512  ·  0 errors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60920" y="2651760"/>
            <a:ext cx="4279392" cy="230428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62088" y="2788920"/>
            <a:ext cx="3877055" cy="21031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A1F2B"/>
                </a:solidFill>
                <a:latin typeface="Calibri"/>
              </a:rPr>
              <a:t>Raw ceiling ≠ product issuance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3A4256"/>
                </a:solidFill>
                <a:latin typeface="Calibri"/>
              </a:rPr>
              <a:t>The signer's raw ceiling is the crypto primitive. Product throughput is service-bound — EJBCA's parse / assemble / DB-write pipeline and the SPIRE server — not the signer.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A5A62"/>
                </a:solidFill>
                <a:latin typeface="Calibri"/>
              </a:rPr>
              <a:t>Headroom: ~10× over EJBCA issuance, ~36× over SPIRE issuance.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5257800"/>
            <a:ext cx="11094415" cy="658368"/>
          </a:xfrm>
          <a:prstGeom prst="roundRect">
            <a:avLst>
              <a:gd name="adj" fmla="val 8000"/>
            </a:avLst>
          </a:prstGeom>
          <a:solidFill>
            <a:srgbClr val="F0FBFB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257800"/>
            <a:ext cx="10637215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F2B"/>
                </a:solidFill>
                <a:latin typeface="Calibri"/>
              </a:rPr>
              <a:t>The signer is never the bottleneck — ~10–36× headroom. </a:t>
            </a:r>
            <a:r>
              <a:rPr sz="1300" b="1" i="0">
                <a:solidFill>
                  <a:srgbClr val="0A5A62"/>
                </a:solidFill>
                <a:latin typeface="Calibri"/>
              </a:rPr>
              <a:t>Scale EJBCA / SPIRE nodes, not the signer.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NitroEnclave · Elastic Enclave HSM · Executive Brief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B3C8"/>
                </a:solidFill>
                <a:latin typeface="Calibri"/>
              </a:rPr>
              <a:t>ELASTIC ENCLAVE HSM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Zero-trust — OpenTelemetry agent auth by app + component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371600"/>
            <a:ext cx="3931920" cy="863193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9050">
            <a:solidFill>
              <a:srgbClr val="3A42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10144" y="1371600"/>
            <a:ext cx="3822191" cy="863193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A1F2B"/>
                </a:solidFill>
                <a:latin typeface="Calibri"/>
              </a:rPr>
              <a:t>AWS Instance Identity Doc (signed)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tags at deploy: app, component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921240" y="2234793"/>
            <a:ext cx="0" cy="201168"/>
          </a:xfrm>
          <a:prstGeom prst="line">
            <a:avLst/>
          </a:prstGeom>
          <a:ln w="1778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955279" y="2435961"/>
            <a:ext cx="3931920" cy="86319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45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10144" y="2435961"/>
            <a:ext cx="3822191" cy="863193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B3E86"/>
                </a:solidFill>
                <a:latin typeface="Calibri"/>
              </a:rPr>
              <a:t>HOST / node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spiffe://td/node/&lt;app&gt;  ·  attested EC2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921240" y="3299155"/>
            <a:ext cx="0" cy="201168"/>
          </a:xfrm>
          <a:prstGeom prst="line">
            <a:avLst/>
          </a:prstGeom>
          <a:ln w="1778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55279" y="3500323"/>
            <a:ext cx="3931920" cy="86319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D4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0144" y="3500323"/>
            <a:ext cx="3822191" cy="863193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4E2FA0"/>
                </a:solidFill>
                <a:latin typeface="Calibri"/>
              </a:rPr>
              <a:t>SERVICE / component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spiffe://td/app/&lt;app&gt;/component/&lt;component&gt;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21240" y="4363516"/>
            <a:ext cx="0" cy="201168"/>
          </a:xfrm>
          <a:prstGeom prst="line">
            <a:avLst/>
          </a:prstGeom>
          <a:ln w="1778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955279" y="4564684"/>
            <a:ext cx="3931920" cy="86319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0144" y="4564684"/>
            <a:ext cx="3822191" cy="863193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0A5A62"/>
                </a:solidFill>
                <a:latin typeface="Calibri"/>
              </a:rPr>
              <a:t>AGENT / workload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.../wl/otel-agent  ·  the specific workload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921240" y="5427878"/>
            <a:ext cx="0" cy="201168"/>
          </a:xfrm>
          <a:prstGeom prst="line">
            <a:avLst/>
          </a:prstGeom>
          <a:ln w="1778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955279" y="5629046"/>
            <a:ext cx="3931920" cy="863193"/>
          </a:xfrm>
          <a:prstGeom prst="roundRect">
            <a:avLst>
              <a:gd name="adj" fmla="val 8000"/>
            </a:avLst>
          </a:prstGeom>
          <a:solidFill>
            <a:srgbClr val="F0FBFB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5629046"/>
            <a:ext cx="3822191" cy="863193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0A5A62"/>
                </a:solidFill>
                <a:latin typeface="Calibri"/>
              </a:rPr>
              <a:t>signed inside the enclave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FIPS 140-3 L1 custody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63040"/>
            <a:ext cx="6949440" cy="10515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1F2B"/>
                </a:solidFill>
                <a:latin typeface="Calibri"/>
              </a:rPr>
              <a:t>At deploy time each instance is tagged </a:t>
            </a:r>
            <a:r>
              <a:rPr sz="1250" b="1" i="0">
                <a:solidFill>
                  <a:srgbClr val="4E2FA0"/>
                </a:solidFill>
                <a:latin typeface="Calibri"/>
              </a:rPr>
              <a:t>app=&lt;app&gt;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 and </a:t>
            </a:r>
            <a:r>
              <a:rPr sz="1250" b="1" i="0">
                <a:solidFill>
                  <a:srgbClr val="4E2FA0"/>
                </a:solidFill>
                <a:latin typeface="Calibri"/>
              </a:rPr>
              <a:t>component=&lt;component&gt;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. SPIRE's aws_iid node attestor signs those tags into a SPIFFE SAN at three levels — host, service-component, and agent.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97480"/>
            <a:ext cx="91440" cy="932688"/>
          </a:xfrm>
          <a:prstGeom prst="rect">
            <a:avLst/>
          </a:prstGeom>
          <a:solidFill>
            <a:srgbClr val="6D4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2715768"/>
            <a:ext cx="6693407" cy="9601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A1F2B"/>
                </a:solidFill>
                <a:latin typeface="Calibri"/>
              </a:rPr>
              <a:t>Host / node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A5A62"/>
                </a:solidFill>
                <a:latin typeface="Calibri"/>
              </a:rPr>
              <a:t>spiffe://td/node/&lt;app&gt;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the attested EC2 instance (aws_iid, tag:app)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21608"/>
            <a:ext cx="91440" cy="932688"/>
          </a:xfrm>
          <a:prstGeom prst="rect">
            <a:avLst/>
          </a:prstGeom>
          <a:solidFill>
            <a:srgbClr val="6D4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739896"/>
            <a:ext cx="6693407" cy="9601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A1F2B"/>
                </a:solidFill>
                <a:latin typeface="Calibri"/>
              </a:rPr>
              <a:t>Service / component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A5A62"/>
                </a:solidFill>
                <a:latin typeface="Calibri"/>
              </a:rPr>
              <a:t>spiffe://td/app/&lt;app&gt;/component/&lt;component&gt;/...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the application component — set from deploy-time tags, not inferred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745736"/>
            <a:ext cx="91440" cy="932688"/>
          </a:xfrm>
          <a:prstGeom prst="rect">
            <a:avLst/>
          </a:prstGeom>
          <a:solidFill>
            <a:srgbClr val="6D4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764024"/>
            <a:ext cx="6693407" cy="9601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A1F2B"/>
                </a:solidFill>
                <a:latin typeface="Calibri"/>
              </a:rPr>
              <a:t>Agent / workload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A5A62"/>
                </a:solidFill>
                <a:latin typeface="Calibri"/>
              </a:rPr>
              <a:t>.../wl/otel-agent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the specific workload on the node (unix selector)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69864"/>
            <a:ext cx="6949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4E2FA0"/>
                </a:solidFill>
                <a:latin typeface="Calibri"/>
              </a:rPr>
              <a:t>Every SVID is signed inside the enclave = true zero trust.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NitroEnclave · Elastic Enclave HSM · Executive Brief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B3C8"/>
                </a:solidFill>
                <a:latin typeface="Calibri"/>
              </a:rPr>
              <a:t>ELASTIC ENCLAVE HSM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Resilience &amp; economics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4068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49834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A5A62"/>
                </a:solidFill>
                <a:latin typeface="Calibri"/>
              </a:rPr>
              <a:t>Self-healing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983480" cy="1920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Enclave-aware /healthz vsock-probes the live enclave — CPU and signing backlog, not just "is the process up."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A4256"/>
                </a:solidFill>
                <a:latin typeface="Calibri"/>
              </a:rPr>
              <a:t>A wedged enclave → 503 → NLB drains the node → the ASG auto-replaces it.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A4256"/>
                </a:solidFill>
                <a:latin typeface="Calibri"/>
              </a:rPr>
              <a:t>No AWS API calls in the health path — the probe stays fast and cannot be throttled when you need it most.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E7A46"/>
                </a:solidFill>
                <a:latin typeface="Calibri"/>
              </a:rPr>
              <a:t>Validated self-healing under chaos on real spot infrastructure.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2583180" cy="841248"/>
          </a:xfrm>
          <a:prstGeom prst="roundRect">
            <a:avLst>
              <a:gd name="adj" fmla="val 8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297679"/>
            <a:ext cx="2363724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SIGNAL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enclave CPU + backlog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6140" y="4206240"/>
            <a:ext cx="2583180" cy="841248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5868" y="4297679"/>
            <a:ext cx="2363724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HEAL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auto-replace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376672" cy="3630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A6D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4919472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8A6D1A"/>
                </a:solidFill>
                <a:latin typeface="Calibri"/>
              </a:rPr>
              <a:t>Economics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112264"/>
            <a:ext cx="82296" cy="603504"/>
          </a:xfrm>
          <a:prstGeom prst="rect">
            <a:avLst/>
          </a:prstGeom>
          <a:solidFill>
            <a:srgbClr val="8A6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057400"/>
            <a:ext cx="4690872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A1F2B"/>
                </a:solidFill>
                <a:latin typeface="Calibri"/>
              </a:rPr>
              <a:t>No dedicated HSM. </a:t>
            </a:r>
            <a:r>
              <a:rPr sz="1150" b="0" i="0">
                <a:solidFill>
                  <a:srgbClr val="3A4256"/>
                </a:solidFill>
                <a:latin typeface="Calibri"/>
              </a:rPr>
              <a:t>Spot EC2 + KMS attested release — no 24/7 per-HSM bill, no cluster to stand up.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825496"/>
            <a:ext cx="82296" cy="603504"/>
          </a:xfrm>
          <a:prstGeom prst="rect">
            <a:avLst/>
          </a:prstGeom>
          <a:solidFill>
            <a:srgbClr val="8A6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770632"/>
            <a:ext cx="4690872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A1F2B"/>
                </a:solidFill>
                <a:latin typeface="Calibri"/>
              </a:rPr>
              <a:t>Scale-to-min when idle. </a:t>
            </a:r>
            <a:r>
              <a:rPr sz="1150" b="0" i="0">
                <a:solidFill>
                  <a:srgbClr val="3A4256"/>
                </a:solidFill>
                <a:latin typeface="Calibri"/>
              </a:rPr>
              <a:t>Autoscale down between bursts — you pay for load, not for peak capacity you rarely use.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538728"/>
            <a:ext cx="82296" cy="603504"/>
          </a:xfrm>
          <a:prstGeom prst="rect">
            <a:avLst/>
          </a:prstGeom>
          <a:solidFill>
            <a:srgbClr val="8A6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483864"/>
            <a:ext cx="4690872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A1F2B"/>
                </a:solidFill>
                <a:latin typeface="Calibri"/>
              </a:rPr>
              <a:t>Linear scale-out. </a:t>
            </a:r>
            <a:r>
              <a:rPr sz="1150" b="0" i="0">
                <a:solidFill>
                  <a:srgbClr val="3A4256"/>
                </a:solidFill>
                <a:latin typeface="Calibri"/>
              </a:rPr>
              <a:t>Add boxes → +throughput, behind a multi-AZ, cross-zone internal NLB. Capacity tracks demand.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251960"/>
            <a:ext cx="82296" cy="603504"/>
          </a:xfrm>
          <a:prstGeom prst="rect">
            <a:avLst/>
          </a:prstGeom>
          <a:solidFill>
            <a:srgbClr val="8A6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4197096"/>
            <a:ext cx="4690872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A1F2B"/>
                </a:solidFill>
                <a:latin typeface="Calibri"/>
              </a:rPr>
              <a:t>PQC without new hardware. </a:t>
            </a:r>
            <a:r>
              <a:rPr sz="1150" b="0" i="0">
                <a:solidFill>
                  <a:srgbClr val="3A4256"/>
                </a:solidFill>
                <a:latin typeface="Calibri"/>
              </a:rPr>
              <a:t>ML-DSA / ML-KEM / hybrid in software today — no HSM firmware refresh, no CapEx.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NitroEnclave · Elastic Enclave HSM · Executive Brief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