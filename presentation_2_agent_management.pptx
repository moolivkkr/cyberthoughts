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image" Target="../media/image-29-8.png"/><Relationship Id="rId9" Type="http://schemas.openxmlformats.org/officeDocument/2006/relationships/image" Target="../media/image-2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image" Target="../media/image-31-8.png"/><Relationship Id="rId9" Type="http://schemas.openxmlformats.org/officeDocument/2006/relationships/image" Target="../media/image-31-9.png"/><Relationship Id="rId10" Type="http://schemas.openxmlformats.org/officeDocument/2006/relationships/image" Target="../media/image-31-10.png"/><Relationship Id="rId11" Type="http://schemas.openxmlformats.org/officeDocument/2006/relationships/image" Target="../media/image-31-11.png"/><Relationship Id="rId12" Type="http://schemas.openxmlformats.org/officeDocument/2006/relationships/image" Target="../media/image-3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7587" y="708124"/>
            <a:ext cx="7488827" cy="700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900"/>
              </a:lnSpc>
              <a:buNone/>
            </a:pPr>
            <a:r>
              <a:rPr lang="en-US" sz="3731" b="1" spc="-1" kern="0" dirty="0">
                <a:solidFill>
                  <a:srgbClr val="FFFFFF"/>
                </a:solidFill>
              </a:rPr>
              <a:t>Endpoint Agent Management</a:t>
            </a:r>
            <a:endParaRPr lang="en-US" sz="3731" dirty="0"/>
          </a:p>
        </p:txBody>
      </p:sp>
      <p:sp>
        <p:nvSpPr>
          <p:cNvPr id="4" name="Text 1"/>
          <p:cNvSpPr/>
          <p:nvPr/>
        </p:nvSpPr>
        <p:spPr>
          <a:xfrm>
            <a:off x="827587" y="1551087"/>
            <a:ext cx="7488827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spc="1" kern="0" dirty="0">
                <a:solidFill>
                  <a:srgbClr val="00BFFF"/>
                </a:solidFill>
              </a:rPr>
              <a:t>Operational Excellence at Scale with OpAMP</a:t>
            </a:r>
            <a:endParaRPr lang="en-US" sz="1704" dirty="0"/>
          </a:p>
        </p:txBody>
      </p:sp>
      <p:sp>
        <p:nvSpPr>
          <p:cNvPr id="5" name="Shape 2"/>
          <p:cNvSpPr/>
          <p:nvPr/>
        </p:nvSpPr>
        <p:spPr>
          <a:xfrm>
            <a:off x="3256462" y="2935188"/>
            <a:ext cx="857250" cy="857250"/>
          </a:xfrm>
          <a:prstGeom prst="ellipse">
            <a:avLst/>
          </a:prstGeom>
          <a:solidFill>
            <a:srgbClr val="00BF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774" y="3192363"/>
            <a:ext cx="428625" cy="3429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470774" y="2092226"/>
            <a:ext cx="428625" cy="428625"/>
          </a:xfrm>
          <a:prstGeom prst="ellipse">
            <a:avLst/>
          </a:prstGeom>
          <a:solidFill>
            <a:srgbClr val="112240"/>
          </a:solidFill>
          <a:ln w="18288">
            <a:solidFill>
              <a:srgbClr val="FFD700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8646" y="2220813"/>
            <a:ext cx="192881" cy="17145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313737" y="3569559"/>
            <a:ext cx="428625" cy="428625"/>
          </a:xfrm>
          <a:prstGeom prst="ellipse">
            <a:avLst/>
          </a:prstGeom>
          <a:solidFill>
            <a:srgbClr val="112240"/>
          </a:solidFill>
          <a:ln w="18288">
            <a:solidFill>
              <a:srgbClr val="FFD700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2324" y="3698146"/>
            <a:ext cx="171450" cy="17145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2627812" y="3569559"/>
            <a:ext cx="428625" cy="428625"/>
          </a:xfrm>
          <a:prstGeom prst="ellipse">
            <a:avLst/>
          </a:prstGeom>
          <a:solidFill>
            <a:srgbClr val="112240"/>
          </a:solidFill>
          <a:ln w="18288">
            <a:solidFill>
              <a:srgbClr val="FFD700"/>
            </a:solidFill>
            <a:prstDash val="solid"/>
          </a:ln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6399" y="3698146"/>
            <a:ext cx="171450" cy="171450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5382425" y="3009472"/>
            <a:ext cx="428625" cy="428625"/>
          </a:xfrm>
          <a:prstGeom prst="ellipse">
            <a:avLst/>
          </a:prstGeom>
          <a:solidFill>
            <a:srgbClr val="112240"/>
          </a:solidFill>
          <a:ln w="18288">
            <a:solidFill>
              <a:srgbClr val="FFD700"/>
            </a:solidFill>
            <a:prstDash val="solid"/>
          </a:ln>
        </p:spPr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1728" y="3138060"/>
            <a:ext cx="150019" cy="171450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1559123" y="3009472"/>
            <a:ext cx="428625" cy="428625"/>
          </a:xfrm>
          <a:prstGeom prst="ellipse">
            <a:avLst/>
          </a:prstGeom>
          <a:solidFill>
            <a:srgbClr val="112240"/>
          </a:solidFill>
          <a:ln w="18288">
            <a:solidFill>
              <a:srgbClr val="FFD700"/>
            </a:solidFill>
            <a:prstDash val="solid"/>
          </a:ln>
        </p:spPr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7711" y="3138060"/>
            <a:ext cx="171450" cy="171450"/>
          </a:xfrm>
          <a:prstGeom prst="rect">
            <a:avLst/>
          </a:prstGeom>
        </p:spPr>
      </p:pic>
      <p:sp>
        <p:nvSpPr>
          <p:cNvPr id="17" name="Shape 8"/>
          <p:cNvSpPr/>
          <p:nvPr/>
        </p:nvSpPr>
        <p:spPr>
          <a:xfrm>
            <a:off x="914400" y="4532709"/>
            <a:ext cx="7315200" cy="32504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8" name="Shape 9"/>
          <p:cNvSpPr/>
          <p:nvPr/>
        </p:nvSpPr>
        <p:spPr>
          <a:xfrm>
            <a:off x="914400" y="4532709"/>
            <a:ext cx="731520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0"/>
          <p:cNvSpPr/>
          <p:nvPr/>
        </p:nvSpPr>
        <p:spPr>
          <a:xfrm>
            <a:off x="914400" y="4532709"/>
            <a:ext cx="7315200" cy="325041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B0C4DE"/>
                </a:solidFill>
              </a:rPr>
              <a:t>Unified Agent Management Series - Part 2</a:t>
            </a:r>
            <a:endParaRPr lang="en-US" sz="88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488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4474359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The Operational Challenge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323380"/>
            <a:ext cx="3893344" cy="163413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1500" y="1323380"/>
            <a:ext cx="42863" cy="1619845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8" name="Shape 5"/>
          <p:cNvSpPr/>
          <p:nvPr/>
        </p:nvSpPr>
        <p:spPr>
          <a:xfrm>
            <a:off x="785813" y="1537692"/>
            <a:ext cx="428625" cy="428625"/>
          </a:xfrm>
          <a:prstGeom prst="rect">
            <a:avLst/>
          </a:prstGeom>
          <a:solidFill>
            <a:srgbClr val="00BFFF">
              <a:alpha val="10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13" y="1651992"/>
            <a:ext cx="200025" cy="2000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93031" y="1537692"/>
            <a:ext cx="28575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Massive Scale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1393031" y="1843088"/>
            <a:ext cx="2857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Managing millions of agents across hundreds of thousands of endpoints creates massive operational overhead.</a:t>
            </a:r>
            <a:endParaRPr lang="en-US" sz="834" dirty="0"/>
          </a:p>
        </p:txBody>
      </p:sp>
      <p:sp>
        <p:nvSpPr>
          <p:cNvPr id="12" name="Shape 8"/>
          <p:cNvSpPr/>
          <p:nvPr/>
        </p:nvSpPr>
        <p:spPr>
          <a:xfrm>
            <a:off x="1393031" y="2464594"/>
            <a:ext cx="1602042" cy="264319"/>
          </a:xfrm>
          <a:prstGeom prst="rect">
            <a:avLst/>
          </a:prstGeom>
          <a:solidFill>
            <a:srgbClr val="000000">
              <a:alpha val="30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393031" y="2464594"/>
            <a:ext cx="1602042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1.2M Agents | 200k Endpoints</a:t>
            </a:r>
            <a:endParaRPr lang="en-US" sz="727" dirty="0"/>
          </a:p>
        </p:txBody>
      </p:sp>
      <p:sp>
        <p:nvSpPr>
          <p:cNvPr id="14" name="Shape 10"/>
          <p:cNvSpPr/>
          <p:nvPr/>
        </p:nvSpPr>
        <p:spPr>
          <a:xfrm>
            <a:off x="4679156" y="1323380"/>
            <a:ext cx="3893344" cy="160555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679156" y="1323380"/>
            <a:ext cx="42863" cy="1619845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16" name="Shape 12"/>
          <p:cNvSpPr/>
          <p:nvPr/>
        </p:nvSpPr>
        <p:spPr>
          <a:xfrm>
            <a:off x="4893469" y="1537692"/>
            <a:ext cx="428625" cy="428625"/>
          </a:xfrm>
          <a:prstGeom prst="rect">
            <a:avLst/>
          </a:prstGeom>
          <a:solidFill>
            <a:srgbClr val="9370DB">
              <a:alpha val="10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769" y="1651992"/>
            <a:ext cx="200025" cy="2000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500688" y="1537692"/>
            <a:ext cx="28575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Agent Diversity</a:t>
            </a:r>
            <a:endParaRPr lang="en-US" sz="1193" dirty="0"/>
          </a:p>
        </p:txBody>
      </p:sp>
      <p:sp>
        <p:nvSpPr>
          <p:cNvPr id="19" name="Text 14"/>
          <p:cNvSpPr/>
          <p:nvPr/>
        </p:nvSpPr>
        <p:spPr>
          <a:xfrm>
            <a:off x="5500688" y="1843088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Heterogeneous fleet with different configuration formats, log locations, and management interfaces.</a:t>
            </a:r>
            <a:endParaRPr lang="en-US" sz="834" dirty="0"/>
          </a:p>
        </p:txBody>
      </p:sp>
      <p:sp>
        <p:nvSpPr>
          <p:cNvPr id="20" name="Shape 15"/>
          <p:cNvSpPr/>
          <p:nvPr/>
        </p:nvSpPr>
        <p:spPr>
          <a:xfrm>
            <a:off x="5500688" y="2293144"/>
            <a:ext cx="1765036" cy="264319"/>
          </a:xfrm>
          <a:prstGeom prst="rect">
            <a:avLst/>
          </a:prstGeom>
          <a:solidFill>
            <a:srgbClr val="000000">
              <a:alpha val="30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500688" y="2293144"/>
            <a:ext cx="1765036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15+ Agent Types | 4 OS Platforms</a:t>
            </a:r>
            <a:endParaRPr lang="en-US" sz="727" dirty="0"/>
          </a:p>
        </p:txBody>
      </p:sp>
      <p:sp>
        <p:nvSpPr>
          <p:cNvPr id="22" name="Shape 17"/>
          <p:cNvSpPr/>
          <p:nvPr/>
        </p:nvSpPr>
        <p:spPr>
          <a:xfrm>
            <a:off x="571500" y="3143250"/>
            <a:ext cx="3893344" cy="160555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71500" y="3143250"/>
            <a:ext cx="42863" cy="1619845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4" name="Shape 19"/>
          <p:cNvSpPr/>
          <p:nvPr/>
        </p:nvSpPr>
        <p:spPr>
          <a:xfrm>
            <a:off x="785813" y="3357563"/>
            <a:ext cx="428625" cy="428625"/>
          </a:xfrm>
          <a:prstGeom prst="rect">
            <a:avLst/>
          </a:prstGeom>
          <a:solidFill>
            <a:srgbClr val="FFD700">
              <a:alpha val="10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109" y="3471863"/>
            <a:ext cx="250031" cy="20002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93031" y="3357563"/>
            <a:ext cx="28575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Operational Complexity</a:t>
            </a:r>
            <a:endParaRPr lang="en-US" sz="1193" dirty="0"/>
          </a:p>
        </p:txBody>
      </p:sp>
      <p:sp>
        <p:nvSpPr>
          <p:cNvPr id="27" name="Text 21"/>
          <p:cNvSpPr/>
          <p:nvPr/>
        </p:nvSpPr>
        <p:spPr>
          <a:xfrm>
            <a:off x="1393031" y="3662958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Configuration drift, version fragmentation, and lack of visibility lead to "blind spots" and instability.</a:t>
            </a:r>
            <a:endParaRPr lang="en-US" sz="834" dirty="0"/>
          </a:p>
        </p:txBody>
      </p:sp>
      <p:sp>
        <p:nvSpPr>
          <p:cNvPr id="28" name="Shape 22"/>
          <p:cNvSpPr/>
          <p:nvPr/>
        </p:nvSpPr>
        <p:spPr>
          <a:xfrm>
            <a:off x="1393031" y="4113014"/>
            <a:ext cx="1396603" cy="264319"/>
          </a:xfrm>
          <a:prstGeom prst="rect">
            <a:avLst/>
          </a:prstGeom>
          <a:solidFill>
            <a:srgbClr val="000000">
              <a:alpha val="30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1393031" y="4113014"/>
            <a:ext cx="1396603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Config Drift | Version Hell</a:t>
            </a:r>
            <a:endParaRPr lang="en-US" sz="727" dirty="0"/>
          </a:p>
        </p:txBody>
      </p:sp>
      <p:sp>
        <p:nvSpPr>
          <p:cNvPr id="30" name="Shape 24"/>
          <p:cNvSpPr/>
          <p:nvPr/>
        </p:nvSpPr>
        <p:spPr>
          <a:xfrm>
            <a:off x="4679156" y="3143250"/>
            <a:ext cx="3893344" cy="160555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679156" y="3143250"/>
            <a:ext cx="42863" cy="161984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2" name="Shape 26"/>
          <p:cNvSpPr/>
          <p:nvPr/>
        </p:nvSpPr>
        <p:spPr>
          <a:xfrm>
            <a:off x="4893469" y="3357563"/>
            <a:ext cx="428625" cy="428625"/>
          </a:xfrm>
          <a:prstGeom prst="rect">
            <a:avLst/>
          </a:prstGeom>
          <a:solidFill>
            <a:srgbClr val="FF6B35">
              <a:alpha val="10000"/>
            </a:srgbClr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7769" y="3471863"/>
            <a:ext cx="200025" cy="200025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500688" y="3357563"/>
            <a:ext cx="28575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Security Risk</a:t>
            </a:r>
            <a:endParaRPr lang="en-US" sz="1193" dirty="0"/>
          </a:p>
        </p:txBody>
      </p:sp>
      <p:sp>
        <p:nvSpPr>
          <p:cNvPr id="35" name="Text 28"/>
          <p:cNvSpPr/>
          <p:nvPr/>
        </p:nvSpPr>
        <p:spPr>
          <a:xfrm>
            <a:off x="5500688" y="3662958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Misconfigured or stopped agents create security gaps that attackers can exploit unnoticed.</a:t>
            </a:r>
            <a:endParaRPr lang="en-US" sz="834" dirty="0"/>
          </a:p>
        </p:txBody>
      </p:sp>
      <p:sp>
        <p:nvSpPr>
          <p:cNvPr id="36" name="Shape 29"/>
          <p:cNvSpPr/>
          <p:nvPr/>
        </p:nvSpPr>
        <p:spPr>
          <a:xfrm>
            <a:off x="5500688" y="4113014"/>
            <a:ext cx="1876267" cy="264319"/>
          </a:xfrm>
          <a:prstGeom prst="rect">
            <a:avLst/>
          </a:prstGeom>
          <a:solidFill>
            <a:srgbClr val="000000">
              <a:alpha val="30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5500688" y="4113014"/>
            <a:ext cx="1876267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Security Gaps | Compliance Failures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3163426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Scope &amp; Objectives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485900"/>
            <a:ext cx="3786188" cy="925116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485900"/>
            <a:ext cx="28575" cy="925116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8" name="Text 5"/>
          <p:cNvSpPr/>
          <p:nvPr/>
        </p:nvSpPr>
        <p:spPr>
          <a:xfrm>
            <a:off x="714375" y="1628775"/>
            <a:ext cx="3500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BFFF"/>
                </a:solidFill>
              </a:rPr>
              <a:t>Scope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714375" y="1800225"/>
            <a:ext cx="3500438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Lifecycle management for ALL endpoint agents</a:t>
            </a:r>
            <a:endParaRPr lang="en-US" sz="1193" dirty="0"/>
          </a:p>
        </p:txBody>
      </p:sp>
      <p:sp>
        <p:nvSpPr>
          <p:cNvPr id="10" name="Shape 7"/>
          <p:cNvSpPr/>
          <p:nvPr/>
        </p:nvSpPr>
        <p:spPr>
          <a:xfrm>
            <a:off x="571500" y="2625328"/>
            <a:ext cx="3786188" cy="69115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71500" y="2625328"/>
            <a:ext cx="28575" cy="691158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12" name="Text 9"/>
          <p:cNvSpPr/>
          <p:nvPr/>
        </p:nvSpPr>
        <p:spPr>
          <a:xfrm>
            <a:off x="714375" y="2768203"/>
            <a:ext cx="3500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2CD32"/>
                </a:solidFill>
              </a:rPr>
              <a:t>Goal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714375" y="2939653"/>
            <a:ext cx="35004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100% Automation, Zero Manual Touch</a:t>
            </a:r>
            <a:endParaRPr lang="en-US" sz="1193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31" y="3554016"/>
            <a:ext cx="128588" cy="128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50106" y="3530798"/>
            <a:ext cx="143994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B0C4DE"/>
                </a:solidFill>
              </a:rPr>
              <a:t>Automated Onboarding</a:t>
            </a:r>
            <a:endParaRPr lang="en-US" sz="942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31" y="3836194"/>
            <a:ext cx="128588" cy="128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106" y="3812977"/>
            <a:ext cx="89151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B0C4DE"/>
                </a:solidFill>
              </a:rPr>
              <a:t>Granular RBAC</a:t>
            </a:r>
            <a:endParaRPr lang="en-US" sz="942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31" y="4118372"/>
            <a:ext cx="128588" cy="1285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50106" y="4095155"/>
            <a:ext cx="131662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B0C4DE"/>
                </a:solidFill>
              </a:rPr>
              <a:t>Safe Rollouts (Canary)</a:t>
            </a:r>
            <a:endParaRPr lang="en-US" sz="942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931" y="4400550"/>
            <a:ext cx="128588" cy="12858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50106" y="4377333"/>
            <a:ext cx="10040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B0C4DE"/>
                </a:solidFill>
              </a:rPr>
              <a:t>Real-time Health</a:t>
            </a:r>
            <a:endParaRPr lang="en-US" sz="942" dirty="0"/>
          </a:p>
        </p:txBody>
      </p:sp>
      <p:sp>
        <p:nvSpPr>
          <p:cNvPr id="22" name="Shape 15"/>
          <p:cNvSpPr/>
          <p:nvPr/>
        </p:nvSpPr>
        <p:spPr>
          <a:xfrm>
            <a:off x="6344794" y="1561802"/>
            <a:ext cx="669224" cy="164306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3" name="Text 16"/>
          <p:cNvSpPr/>
          <p:nvPr/>
        </p:nvSpPr>
        <p:spPr>
          <a:xfrm>
            <a:off x="6344794" y="1561802"/>
            <a:ext cx="669224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Automation</a:t>
            </a:r>
            <a:endParaRPr lang="en-US" sz="683" dirty="0"/>
          </a:p>
        </p:txBody>
      </p:sp>
      <p:sp>
        <p:nvSpPr>
          <p:cNvPr id="24" name="Shape 17"/>
          <p:cNvSpPr/>
          <p:nvPr/>
        </p:nvSpPr>
        <p:spPr>
          <a:xfrm>
            <a:off x="7744606" y="2936974"/>
            <a:ext cx="499281" cy="164306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5" name="Text 18"/>
          <p:cNvSpPr/>
          <p:nvPr/>
        </p:nvSpPr>
        <p:spPr>
          <a:xfrm>
            <a:off x="7744606" y="2936974"/>
            <a:ext cx="499281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Visibility</a:t>
            </a:r>
            <a:endParaRPr lang="en-US" sz="683" dirty="0"/>
          </a:p>
        </p:txBody>
      </p:sp>
      <p:sp>
        <p:nvSpPr>
          <p:cNvPr id="26" name="Shape 19"/>
          <p:cNvSpPr/>
          <p:nvPr/>
        </p:nvSpPr>
        <p:spPr>
          <a:xfrm>
            <a:off x="6438863" y="4312146"/>
            <a:ext cx="481087" cy="164306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7" name="Text 20"/>
          <p:cNvSpPr/>
          <p:nvPr/>
        </p:nvSpPr>
        <p:spPr>
          <a:xfrm>
            <a:off x="6438863" y="4312146"/>
            <a:ext cx="481087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Security</a:t>
            </a:r>
            <a:endParaRPr lang="en-US" sz="683" dirty="0"/>
          </a:p>
        </p:txBody>
      </p:sp>
      <p:sp>
        <p:nvSpPr>
          <p:cNvPr id="28" name="Shape 21"/>
          <p:cNvSpPr/>
          <p:nvPr/>
        </p:nvSpPr>
        <p:spPr>
          <a:xfrm>
            <a:off x="5114925" y="2936974"/>
            <a:ext cx="574095" cy="164306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9" name="Text 22"/>
          <p:cNvSpPr/>
          <p:nvPr/>
        </p:nvSpPr>
        <p:spPr>
          <a:xfrm>
            <a:off x="5114925" y="2936974"/>
            <a:ext cx="574095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Resilience</a:t>
            </a:r>
            <a:endParaRPr lang="en-US" sz="68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685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401593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Onboarding Framework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714375" y="1323380"/>
            <a:ext cx="7715250" cy="52685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14375" y="1323380"/>
            <a:ext cx="771525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8422481" y="1323380"/>
            <a:ext cx="7144" cy="5268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714375" y="1323380"/>
            <a:ext cx="7144" cy="5268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857250" y="1466255"/>
            <a:ext cx="74295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spc="2" kern="0" dirty="0">
                <a:solidFill>
                  <a:srgbClr val="FFFFFF"/>
                </a:solidFill>
              </a:rPr>
              <a:t>Unified Onboarding Standard</a:t>
            </a:r>
            <a:endParaRPr lang="en-US" sz="1193" dirty="0"/>
          </a:p>
        </p:txBody>
      </p:sp>
      <p:sp>
        <p:nvSpPr>
          <p:cNvPr id="11" name="Shape 8"/>
          <p:cNvSpPr/>
          <p:nvPr/>
        </p:nvSpPr>
        <p:spPr>
          <a:xfrm>
            <a:off x="857250" y="1828800"/>
            <a:ext cx="7415213" cy="1428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714375" y="1843088"/>
            <a:ext cx="7715250" cy="257175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857250" y="1843088"/>
            <a:ext cx="1750219" cy="2571750"/>
          </a:xfrm>
          <a:prstGeom prst="rect">
            <a:avLst/>
          </a:prstGeom>
          <a:solidFill>
            <a:srgbClr val="FFFFFF">
              <a:alpha val="1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2600325" y="1843088"/>
            <a:ext cx="7144" cy="2571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857250" y="1843088"/>
            <a:ext cx="7144" cy="2571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250" y="1843088"/>
            <a:ext cx="1735931" cy="28575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17" name="Text 14"/>
          <p:cNvSpPr/>
          <p:nvPr/>
        </p:nvSpPr>
        <p:spPr>
          <a:xfrm>
            <a:off x="2317840" y="1914525"/>
            <a:ext cx="207476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>
                    <a:alpha val="30000"/>
                  </a:srgbClr>
                </a:solidFill>
              </a:rPr>
              <a:t>Dim 1</a:t>
            </a:r>
            <a:endParaRPr lang="en-US" sz="485" dirty="0"/>
          </a:p>
        </p:txBody>
      </p:sp>
      <p:sp>
        <p:nvSpPr>
          <p:cNvPr id="18" name="Shape 15"/>
          <p:cNvSpPr/>
          <p:nvPr/>
        </p:nvSpPr>
        <p:spPr>
          <a:xfrm>
            <a:off x="1476970" y="2057400"/>
            <a:ext cx="500063" cy="500063"/>
          </a:xfrm>
          <a:prstGeom prst="ellipse">
            <a:avLst/>
          </a:prstGeom>
          <a:solidFill>
            <a:srgbClr val="000000">
              <a:alpha val="30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127" y="2193131"/>
            <a:ext cx="285750" cy="2286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329017" y="2700338"/>
            <a:ext cx="79597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RBAC Roles</a:t>
            </a:r>
            <a:endParaRPr lang="en-US" sz="987" dirty="0"/>
          </a:p>
        </p:txBody>
      </p:sp>
      <p:sp>
        <p:nvSpPr>
          <p:cNvPr id="21" name="Text 17"/>
          <p:cNvSpPr/>
          <p:nvPr/>
        </p:nvSpPr>
        <p:spPr>
          <a:xfrm>
            <a:off x="964406" y="3002161"/>
            <a:ext cx="1525191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Standardized roles defining who can view, configure, or manage the agent.</a:t>
            </a:r>
            <a:endParaRPr lang="en-US" sz="727" dirty="0"/>
          </a:p>
        </p:txBody>
      </p:sp>
      <p:sp>
        <p:nvSpPr>
          <p:cNvPr id="22" name="Shape 18"/>
          <p:cNvSpPr/>
          <p:nvPr/>
        </p:nvSpPr>
        <p:spPr>
          <a:xfrm>
            <a:off x="2739628" y="1843088"/>
            <a:ext cx="1753791" cy="2571750"/>
          </a:xfrm>
          <a:prstGeom prst="rect">
            <a:avLst/>
          </a:prstGeom>
          <a:solidFill>
            <a:srgbClr val="FFFFFF">
              <a:alpha val="1000"/>
            </a:srgbClr>
          </a:solidFill>
          <a:ln/>
        </p:spPr>
      </p:sp>
      <p:sp>
        <p:nvSpPr>
          <p:cNvPr id="23" name="Shape 19"/>
          <p:cNvSpPr/>
          <p:nvPr/>
        </p:nvSpPr>
        <p:spPr>
          <a:xfrm>
            <a:off x="4486275" y="1843088"/>
            <a:ext cx="7144" cy="2571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0"/>
          <p:cNvSpPr/>
          <p:nvPr/>
        </p:nvSpPr>
        <p:spPr>
          <a:xfrm>
            <a:off x="2739628" y="1843088"/>
            <a:ext cx="7144" cy="2571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1"/>
          <p:cNvSpPr/>
          <p:nvPr/>
        </p:nvSpPr>
        <p:spPr>
          <a:xfrm>
            <a:off x="2743200" y="1843088"/>
            <a:ext cx="1735931" cy="28575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26" name="Text 22"/>
          <p:cNvSpPr/>
          <p:nvPr/>
        </p:nvSpPr>
        <p:spPr>
          <a:xfrm>
            <a:off x="4207362" y="1914525"/>
            <a:ext cx="207476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>
                    <a:alpha val="30000"/>
                  </a:srgbClr>
                </a:solidFill>
              </a:rPr>
              <a:t>Dim 2</a:t>
            </a:r>
            <a:endParaRPr lang="en-US" sz="485" dirty="0"/>
          </a:p>
        </p:txBody>
      </p:sp>
      <p:sp>
        <p:nvSpPr>
          <p:cNvPr id="27" name="Shape 23"/>
          <p:cNvSpPr/>
          <p:nvPr/>
        </p:nvSpPr>
        <p:spPr>
          <a:xfrm>
            <a:off x="3364706" y="2057400"/>
            <a:ext cx="500063" cy="500063"/>
          </a:xfrm>
          <a:prstGeom prst="ellipse">
            <a:avLst/>
          </a:prstGeom>
          <a:solidFill>
            <a:srgbClr val="000000">
              <a:alpha val="30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013" y="2193131"/>
            <a:ext cx="171450" cy="2286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3118386" y="2700338"/>
            <a:ext cx="99270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Configuration</a:t>
            </a:r>
            <a:endParaRPr lang="en-US" sz="987" dirty="0"/>
          </a:p>
        </p:txBody>
      </p:sp>
      <p:sp>
        <p:nvSpPr>
          <p:cNvPr id="30" name="Text 25"/>
          <p:cNvSpPr/>
          <p:nvPr/>
        </p:nvSpPr>
        <p:spPr>
          <a:xfrm>
            <a:off x="2850356" y="3002161"/>
            <a:ext cx="1528763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Templates, validation schemas, and version control for consistent settings.</a:t>
            </a:r>
            <a:endParaRPr lang="en-US" sz="727" dirty="0"/>
          </a:p>
        </p:txBody>
      </p:sp>
      <p:sp>
        <p:nvSpPr>
          <p:cNvPr id="31" name="Shape 26"/>
          <p:cNvSpPr/>
          <p:nvPr/>
        </p:nvSpPr>
        <p:spPr>
          <a:xfrm>
            <a:off x="4629150" y="1843088"/>
            <a:ext cx="1757363" cy="2571750"/>
          </a:xfrm>
          <a:prstGeom prst="rect">
            <a:avLst/>
          </a:prstGeom>
          <a:solidFill>
            <a:srgbClr val="FFFFFF">
              <a:alpha val="1000"/>
            </a:srgbClr>
          </a:solidFill>
          <a:ln/>
        </p:spPr>
      </p:sp>
      <p:sp>
        <p:nvSpPr>
          <p:cNvPr id="32" name="Shape 27"/>
          <p:cNvSpPr/>
          <p:nvPr/>
        </p:nvSpPr>
        <p:spPr>
          <a:xfrm>
            <a:off x="6379369" y="1843088"/>
            <a:ext cx="7144" cy="2571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8"/>
          <p:cNvSpPr/>
          <p:nvPr/>
        </p:nvSpPr>
        <p:spPr>
          <a:xfrm>
            <a:off x="4629150" y="1843088"/>
            <a:ext cx="7144" cy="2571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29"/>
          <p:cNvSpPr/>
          <p:nvPr/>
        </p:nvSpPr>
        <p:spPr>
          <a:xfrm>
            <a:off x="4636294" y="1843088"/>
            <a:ext cx="1735931" cy="28575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35" name="Text 30"/>
          <p:cNvSpPr/>
          <p:nvPr/>
        </p:nvSpPr>
        <p:spPr>
          <a:xfrm>
            <a:off x="6104027" y="1914525"/>
            <a:ext cx="207476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>
                    <a:alpha val="30000"/>
                  </a:srgbClr>
                </a:solidFill>
              </a:rPr>
              <a:t>Dim 3</a:t>
            </a:r>
            <a:endParaRPr lang="en-US" sz="485" dirty="0"/>
          </a:p>
        </p:txBody>
      </p:sp>
      <p:sp>
        <p:nvSpPr>
          <p:cNvPr id="36" name="Shape 31"/>
          <p:cNvSpPr/>
          <p:nvPr/>
        </p:nvSpPr>
        <p:spPr>
          <a:xfrm>
            <a:off x="5259586" y="2057400"/>
            <a:ext cx="500063" cy="500063"/>
          </a:xfrm>
          <a:prstGeom prst="ellipse">
            <a:avLst/>
          </a:prstGeom>
          <a:solidFill>
            <a:srgbClr val="000000">
              <a:alpha val="30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3892" y="2193131"/>
            <a:ext cx="171450" cy="22860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4821724" y="2700338"/>
            <a:ext cx="137575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Supervisor Adapter</a:t>
            </a:r>
            <a:endParaRPr lang="en-US" sz="987" dirty="0"/>
          </a:p>
        </p:txBody>
      </p:sp>
      <p:sp>
        <p:nvSpPr>
          <p:cNvPr id="39" name="Text 33"/>
          <p:cNvSpPr/>
          <p:nvPr/>
        </p:nvSpPr>
        <p:spPr>
          <a:xfrm>
            <a:off x="4743450" y="3002161"/>
            <a:ext cx="1532334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Control logic for lifecycle management, health checks, and metrics.</a:t>
            </a:r>
            <a:endParaRPr lang="en-US" sz="727" dirty="0"/>
          </a:p>
        </p:txBody>
      </p:sp>
      <p:sp>
        <p:nvSpPr>
          <p:cNvPr id="40" name="Shape 34"/>
          <p:cNvSpPr/>
          <p:nvPr/>
        </p:nvSpPr>
        <p:spPr>
          <a:xfrm>
            <a:off x="6525816" y="1843088"/>
            <a:ext cx="1760934" cy="2571750"/>
          </a:xfrm>
          <a:prstGeom prst="rect">
            <a:avLst/>
          </a:prstGeom>
          <a:solidFill>
            <a:srgbClr val="FFFFFF">
              <a:alpha val="1000"/>
            </a:srgbClr>
          </a:solidFill>
          <a:ln/>
        </p:spPr>
      </p:sp>
      <p:sp>
        <p:nvSpPr>
          <p:cNvPr id="41" name="Shape 35"/>
          <p:cNvSpPr/>
          <p:nvPr/>
        </p:nvSpPr>
        <p:spPr>
          <a:xfrm>
            <a:off x="8279606" y="1843088"/>
            <a:ext cx="7144" cy="2571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6"/>
          <p:cNvSpPr/>
          <p:nvPr/>
        </p:nvSpPr>
        <p:spPr>
          <a:xfrm>
            <a:off x="6525816" y="1843088"/>
            <a:ext cx="7144" cy="2571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37"/>
          <p:cNvSpPr/>
          <p:nvPr/>
        </p:nvSpPr>
        <p:spPr>
          <a:xfrm>
            <a:off x="6536531" y="1843088"/>
            <a:ext cx="1735931" cy="285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4" name="Text 38"/>
          <p:cNvSpPr/>
          <p:nvPr/>
        </p:nvSpPr>
        <p:spPr>
          <a:xfrm>
            <a:off x="8007837" y="1914525"/>
            <a:ext cx="207476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>
                    <a:alpha val="30000"/>
                  </a:srgbClr>
                </a:solidFill>
              </a:rPr>
              <a:t>Dim 4</a:t>
            </a:r>
            <a:endParaRPr lang="en-US" sz="485" dirty="0"/>
          </a:p>
        </p:txBody>
      </p:sp>
      <p:sp>
        <p:nvSpPr>
          <p:cNvPr id="45" name="Shape 39"/>
          <p:cNvSpPr/>
          <p:nvPr/>
        </p:nvSpPr>
        <p:spPr>
          <a:xfrm>
            <a:off x="7161609" y="2057400"/>
            <a:ext cx="500063" cy="500063"/>
          </a:xfrm>
          <a:prstGeom prst="ellipse">
            <a:avLst/>
          </a:prstGeom>
          <a:solidFill>
            <a:srgbClr val="000000">
              <a:alpha val="30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7341" y="2193131"/>
            <a:ext cx="228600" cy="228600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6988290" y="2700338"/>
            <a:ext cx="84670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Vendor Risk</a:t>
            </a:r>
            <a:endParaRPr lang="en-US" sz="987" dirty="0"/>
          </a:p>
        </p:txBody>
      </p:sp>
      <p:sp>
        <p:nvSpPr>
          <p:cNvPr id="48" name="Text 41"/>
          <p:cNvSpPr/>
          <p:nvPr/>
        </p:nvSpPr>
        <p:spPr>
          <a:xfrm>
            <a:off x="6643688" y="3002161"/>
            <a:ext cx="1535906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Security standards enforcement, hardening, and compliance verification.</a:t>
            </a:r>
            <a:endParaRPr lang="en-US" sz="727" dirty="0"/>
          </a:p>
        </p:txBody>
      </p:sp>
      <p:sp>
        <p:nvSpPr>
          <p:cNvPr id="49" name="Shape 42"/>
          <p:cNvSpPr/>
          <p:nvPr/>
        </p:nvSpPr>
        <p:spPr>
          <a:xfrm>
            <a:off x="714375" y="4414838"/>
            <a:ext cx="7715250" cy="467916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0" name="Shape 43"/>
          <p:cNvSpPr/>
          <p:nvPr/>
        </p:nvSpPr>
        <p:spPr>
          <a:xfrm>
            <a:off x="8422481" y="4414838"/>
            <a:ext cx="7144" cy="4679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4"/>
          <p:cNvSpPr/>
          <p:nvPr/>
        </p:nvSpPr>
        <p:spPr>
          <a:xfrm>
            <a:off x="714375" y="4875609"/>
            <a:ext cx="771525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45"/>
          <p:cNvSpPr/>
          <p:nvPr/>
        </p:nvSpPr>
        <p:spPr>
          <a:xfrm>
            <a:off x="714375" y="4414838"/>
            <a:ext cx="7144" cy="4679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46"/>
          <p:cNvSpPr/>
          <p:nvPr/>
        </p:nvSpPr>
        <p:spPr>
          <a:xfrm>
            <a:off x="857250" y="4557713"/>
            <a:ext cx="74295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D700"/>
                </a:solidFill>
              </a:rPr>
              <a:t>OUTCOME: SECURE, MANAGEABLE &amp; COMPLIANT AGENT</a:t>
            </a:r>
            <a:endParaRPr lang="en-US" sz="88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413586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Dimension 1: RBAC Roles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402854"/>
            <a:ext cx="3786188" cy="560784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402854"/>
            <a:ext cx="28575" cy="56078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8" name="Text 5"/>
          <p:cNvSpPr/>
          <p:nvPr/>
        </p:nvSpPr>
        <p:spPr>
          <a:xfrm>
            <a:off x="714375" y="1510010"/>
            <a:ext cx="90630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Administrator</a:t>
            </a:r>
            <a:endParaRPr lang="en-US" sz="885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225" y="1540371"/>
            <a:ext cx="128588" cy="114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375" y="1720751"/>
            <a:ext cx="3500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Full lifecycle management, role assignment</a:t>
            </a:r>
            <a:endParaRPr lang="en-US" sz="727" dirty="0"/>
          </a:p>
        </p:txBody>
      </p:sp>
      <p:sp>
        <p:nvSpPr>
          <p:cNvPr id="11" name="Shape 7"/>
          <p:cNvSpPr/>
          <p:nvPr/>
        </p:nvSpPr>
        <p:spPr>
          <a:xfrm>
            <a:off x="571500" y="2070795"/>
            <a:ext cx="3786188" cy="560784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571500" y="2070795"/>
            <a:ext cx="28575" cy="56078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9"/>
          <p:cNvSpPr/>
          <p:nvPr/>
        </p:nvSpPr>
        <p:spPr>
          <a:xfrm>
            <a:off x="714375" y="2177951"/>
            <a:ext cx="95941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PackageAdmin</a:t>
            </a:r>
            <a:endParaRPr lang="en-US" sz="885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938" y="2208312"/>
            <a:ext cx="142875" cy="1143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4375" y="2388691"/>
            <a:ext cx="3500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Upgrade binaries, install/remove agents</a:t>
            </a:r>
            <a:endParaRPr lang="en-US" sz="727" dirty="0"/>
          </a:p>
        </p:txBody>
      </p:sp>
      <p:sp>
        <p:nvSpPr>
          <p:cNvPr id="16" name="Shape 11"/>
          <p:cNvSpPr/>
          <p:nvPr/>
        </p:nvSpPr>
        <p:spPr>
          <a:xfrm>
            <a:off x="571500" y="2738735"/>
            <a:ext cx="3786188" cy="560784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571500" y="2738735"/>
            <a:ext cx="28575" cy="560784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18" name="Text 13"/>
          <p:cNvSpPr/>
          <p:nvPr/>
        </p:nvSpPr>
        <p:spPr>
          <a:xfrm>
            <a:off x="714375" y="2845891"/>
            <a:ext cx="8364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ConfigAdmin</a:t>
            </a:r>
            <a:endParaRPr lang="en-US" sz="885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513" y="2876252"/>
            <a:ext cx="114300" cy="1143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4375" y="3056632"/>
            <a:ext cx="3500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Update configuration templates, modify policies</a:t>
            </a:r>
            <a:endParaRPr lang="en-US" sz="727" dirty="0"/>
          </a:p>
        </p:txBody>
      </p:sp>
      <p:sp>
        <p:nvSpPr>
          <p:cNvPr id="21" name="Shape 15"/>
          <p:cNvSpPr/>
          <p:nvPr/>
        </p:nvSpPr>
        <p:spPr>
          <a:xfrm>
            <a:off x="571500" y="3406676"/>
            <a:ext cx="3786188" cy="560784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2" name="Shape 16"/>
          <p:cNvSpPr/>
          <p:nvPr/>
        </p:nvSpPr>
        <p:spPr>
          <a:xfrm>
            <a:off x="571500" y="3406676"/>
            <a:ext cx="28575" cy="560784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23" name="Text 17"/>
          <p:cNvSpPr/>
          <p:nvPr/>
        </p:nvSpPr>
        <p:spPr>
          <a:xfrm>
            <a:off x="714375" y="3513832"/>
            <a:ext cx="12191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ProductionSupport</a:t>
            </a:r>
            <a:endParaRPr lang="en-US" sz="885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0513" y="3544193"/>
            <a:ext cx="114300" cy="1143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14375" y="3724573"/>
            <a:ext cx="3500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Restart services, clear cache, fetch logs</a:t>
            </a:r>
            <a:endParaRPr lang="en-US" sz="727" dirty="0"/>
          </a:p>
        </p:txBody>
      </p:sp>
      <p:sp>
        <p:nvSpPr>
          <p:cNvPr id="26" name="Shape 19"/>
          <p:cNvSpPr/>
          <p:nvPr/>
        </p:nvSpPr>
        <p:spPr>
          <a:xfrm>
            <a:off x="571500" y="4074616"/>
            <a:ext cx="3786188" cy="560784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7" name="Shape 20"/>
          <p:cNvSpPr/>
          <p:nvPr/>
        </p:nvSpPr>
        <p:spPr>
          <a:xfrm>
            <a:off x="571500" y="4074616"/>
            <a:ext cx="28575" cy="560784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28" name="Text 21"/>
          <p:cNvSpPr/>
          <p:nvPr/>
        </p:nvSpPr>
        <p:spPr>
          <a:xfrm>
            <a:off x="714375" y="4181773"/>
            <a:ext cx="61916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ReadOnly</a:t>
            </a:r>
            <a:endParaRPr lang="en-US" sz="885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6225" y="4212134"/>
            <a:ext cx="128588" cy="1143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14375" y="4392513"/>
            <a:ext cx="3500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View health status, metrics, and configuration</a:t>
            </a:r>
            <a:endParaRPr lang="en-US" sz="727" dirty="0"/>
          </a:p>
        </p:txBody>
      </p:sp>
      <p:sp>
        <p:nvSpPr>
          <p:cNvPr id="31" name="Shape 23"/>
          <p:cNvSpPr/>
          <p:nvPr/>
        </p:nvSpPr>
        <p:spPr>
          <a:xfrm>
            <a:off x="6143625" y="1541264"/>
            <a:ext cx="1071563" cy="35718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2" name="Text 24"/>
          <p:cNvSpPr/>
          <p:nvPr/>
        </p:nvSpPr>
        <p:spPr>
          <a:xfrm>
            <a:off x="6143625" y="1541264"/>
            <a:ext cx="107156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A192F"/>
                </a:solidFill>
              </a:rPr>
              <a:t>Administrator</a:t>
            </a:r>
            <a:endParaRPr lang="en-US" sz="784" dirty="0"/>
          </a:p>
        </p:txBody>
      </p:sp>
      <p:sp>
        <p:nvSpPr>
          <p:cNvPr id="33" name="Shape 25"/>
          <p:cNvSpPr/>
          <p:nvPr/>
        </p:nvSpPr>
        <p:spPr>
          <a:xfrm>
            <a:off x="5893594" y="1934170"/>
            <a:ext cx="1571625" cy="35718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4" name="Text 26"/>
          <p:cNvSpPr/>
          <p:nvPr/>
        </p:nvSpPr>
        <p:spPr>
          <a:xfrm>
            <a:off x="5893594" y="1934170"/>
            <a:ext cx="1571625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A192F"/>
                </a:solidFill>
              </a:rPr>
              <a:t>PackageAdmin</a:t>
            </a:r>
            <a:endParaRPr lang="en-US" sz="784" dirty="0"/>
          </a:p>
        </p:txBody>
      </p:sp>
      <p:sp>
        <p:nvSpPr>
          <p:cNvPr id="35" name="Shape 27"/>
          <p:cNvSpPr/>
          <p:nvPr/>
        </p:nvSpPr>
        <p:spPr>
          <a:xfrm>
            <a:off x="5643563" y="2327077"/>
            <a:ext cx="2071688" cy="357188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36" name="Text 28"/>
          <p:cNvSpPr/>
          <p:nvPr/>
        </p:nvSpPr>
        <p:spPr>
          <a:xfrm>
            <a:off x="5643563" y="2327077"/>
            <a:ext cx="20716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A192F"/>
                </a:solidFill>
              </a:rPr>
              <a:t>ConfigAdmin</a:t>
            </a:r>
            <a:endParaRPr lang="en-US" sz="784" dirty="0"/>
          </a:p>
        </p:txBody>
      </p:sp>
      <p:sp>
        <p:nvSpPr>
          <p:cNvPr id="37" name="Shape 29"/>
          <p:cNvSpPr/>
          <p:nvPr/>
        </p:nvSpPr>
        <p:spPr>
          <a:xfrm>
            <a:off x="5393531" y="2719983"/>
            <a:ext cx="2571750" cy="357188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38" name="Text 30"/>
          <p:cNvSpPr/>
          <p:nvPr/>
        </p:nvSpPr>
        <p:spPr>
          <a:xfrm>
            <a:off x="5393531" y="2719983"/>
            <a:ext cx="257175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A192F"/>
                </a:solidFill>
              </a:rPr>
              <a:t>ProductionSupport</a:t>
            </a:r>
            <a:endParaRPr lang="en-US" sz="784" dirty="0"/>
          </a:p>
        </p:txBody>
      </p:sp>
      <p:sp>
        <p:nvSpPr>
          <p:cNvPr id="39" name="Shape 31"/>
          <p:cNvSpPr/>
          <p:nvPr/>
        </p:nvSpPr>
        <p:spPr>
          <a:xfrm>
            <a:off x="5143500" y="3112889"/>
            <a:ext cx="3071813" cy="357188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40" name="Text 32"/>
          <p:cNvSpPr/>
          <p:nvPr/>
        </p:nvSpPr>
        <p:spPr>
          <a:xfrm>
            <a:off x="5143500" y="3112889"/>
            <a:ext cx="307181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A192F"/>
                </a:solidFill>
              </a:rPr>
              <a:t>ReadOnly</a:t>
            </a:r>
            <a:endParaRPr lang="en-US" sz="784" dirty="0"/>
          </a:p>
        </p:txBody>
      </p:sp>
      <p:sp>
        <p:nvSpPr>
          <p:cNvPr id="41" name="Shape 33"/>
          <p:cNvSpPr/>
          <p:nvPr/>
        </p:nvSpPr>
        <p:spPr>
          <a:xfrm>
            <a:off x="5196269" y="3755827"/>
            <a:ext cx="2966247" cy="741164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20000"/>
              </a:srgbClr>
            </a:solidFill>
            <a:prstDash val="dash"/>
          </a:ln>
        </p:spPr>
      </p:sp>
      <p:sp>
        <p:nvSpPr>
          <p:cNvPr id="42" name="Text 34"/>
          <p:cNvSpPr/>
          <p:nvPr/>
        </p:nvSpPr>
        <p:spPr>
          <a:xfrm>
            <a:off x="5489163" y="3905845"/>
            <a:ext cx="238045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B0C4DE"/>
                </a:solidFill>
              </a:rPr>
              <a:t>Applied Scope</a:t>
            </a:r>
            <a:endParaRPr lang="en-US" sz="727" dirty="0"/>
          </a:p>
        </p:txBody>
      </p:sp>
      <p:sp>
        <p:nvSpPr>
          <p:cNvPr id="43" name="Text 35"/>
          <p:cNvSpPr/>
          <p:nvPr/>
        </p:nvSpPr>
        <p:spPr>
          <a:xfrm>
            <a:off x="5489163" y="4113014"/>
            <a:ext cx="238045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BFFF"/>
                </a:solidFill>
              </a:rPr>
              <a:t>Agent Type</a:t>
            </a:r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 + </a:t>
            </a:r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BFFF"/>
                </a:solidFill>
              </a:rPr>
              <a:t>Resource Type</a:t>
            </a:r>
            <a:endParaRPr lang="en-US" sz="119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459733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Dimension 2: Configuration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323380"/>
            <a:ext cx="357188" cy="357188"/>
          </a:xfrm>
          <a:prstGeom prst="rect">
            <a:avLst/>
          </a:prstGeom>
          <a:solidFill>
            <a:srgbClr val="00BFFF">
              <a:alpha val="10000"/>
            </a:srgbClr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416248"/>
            <a:ext cx="214313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71563" y="1323380"/>
            <a:ext cx="32861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Structure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1071563" y="1614488"/>
            <a:ext cx="3286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YAML/JSON templates with variable substitution. Configuration as Code.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571500" y="2171700"/>
            <a:ext cx="357188" cy="357188"/>
          </a:xfrm>
          <a:prstGeom prst="rect">
            <a:avLst/>
          </a:prstGeom>
          <a:solidFill>
            <a:srgbClr val="00BFFF">
              <a:alpha val="10000"/>
            </a:srgbClr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69" y="2264569"/>
            <a:ext cx="171450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71563" y="2171700"/>
            <a:ext cx="32861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Validation</a:t>
            </a:r>
            <a:endParaRPr lang="en-US" sz="1193" dirty="0"/>
          </a:p>
        </p:txBody>
      </p:sp>
      <p:sp>
        <p:nvSpPr>
          <p:cNvPr id="13" name="Text 8"/>
          <p:cNvSpPr/>
          <p:nvPr/>
        </p:nvSpPr>
        <p:spPr>
          <a:xfrm>
            <a:off x="1071563" y="2462808"/>
            <a:ext cx="3286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Automated JSON Schema and OPA Policy checks before deployment.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571500" y="3020020"/>
            <a:ext cx="357188" cy="357188"/>
          </a:xfrm>
          <a:prstGeom prst="rect">
            <a:avLst/>
          </a:prstGeom>
          <a:solidFill>
            <a:srgbClr val="00BFFF">
              <a:alpha val="10000"/>
            </a:srgbClr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84" y="3112889"/>
            <a:ext cx="150019" cy="1714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71563" y="3020020"/>
            <a:ext cx="32861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Versioning</a:t>
            </a:r>
            <a:endParaRPr lang="en-US" sz="1193" dirty="0"/>
          </a:p>
        </p:txBody>
      </p:sp>
      <p:sp>
        <p:nvSpPr>
          <p:cNvPr id="17" name="Text 11"/>
          <p:cNvSpPr/>
          <p:nvPr/>
        </p:nvSpPr>
        <p:spPr>
          <a:xfrm>
            <a:off x="1071563" y="3311128"/>
            <a:ext cx="3286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Git-backed version control. Full history, rollback, and audit trail.</a:t>
            </a:r>
            <a:endParaRPr lang="en-US" sz="834" dirty="0"/>
          </a:p>
        </p:txBody>
      </p:sp>
      <p:sp>
        <p:nvSpPr>
          <p:cNvPr id="18" name="Shape 12"/>
          <p:cNvSpPr/>
          <p:nvPr/>
        </p:nvSpPr>
        <p:spPr>
          <a:xfrm>
            <a:off x="571500" y="3868341"/>
            <a:ext cx="357188" cy="357188"/>
          </a:xfrm>
          <a:prstGeom prst="rect">
            <a:avLst/>
          </a:prstGeom>
          <a:solidFill>
            <a:srgbClr val="00BFFF">
              <a:alpha val="10000"/>
            </a:srgbClr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653" y="3961209"/>
            <a:ext cx="192881" cy="1714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71563" y="3868341"/>
            <a:ext cx="32861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Inheritance</a:t>
            </a:r>
            <a:endParaRPr lang="en-US" sz="1193" dirty="0"/>
          </a:p>
        </p:txBody>
      </p:sp>
      <p:sp>
        <p:nvSpPr>
          <p:cNvPr id="21" name="Text 14"/>
          <p:cNvSpPr/>
          <p:nvPr/>
        </p:nvSpPr>
        <p:spPr>
          <a:xfrm>
            <a:off x="1071563" y="4159448"/>
            <a:ext cx="3286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Hierarchical config merging: Global → Region → Environment → Host.</a:t>
            </a:r>
            <a:endParaRPr lang="en-US" sz="834" dirty="0"/>
          </a:p>
        </p:txBody>
      </p:sp>
      <p:sp>
        <p:nvSpPr>
          <p:cNvPr id="22" name="Shape 15"/>
          <p:cNvSpPr/>
          <p:nvPr/>
        </p:nvSpPr>
        <p:spPr>
          <a:xfrm>
            <a:off x="4786313" y="1388650"/>
            <a:ext cx="3786188" cy="2464426"/>
          </a:xfrm>
          <a:prstGeom prst="rect">
            <a:avLst/>
          </a:prstGeom>
          <a:solidFill>
            <a:srgbClr val="112240"/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4786313" y="1395794"/>
            <a:ext cx="3786188" cy="264319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4" name="Shape 17"/>
          <p:cNvSpPr/>
          <p:nvPr/>
        </p:nvSpPr>
        <p:spPr>
          <a:xfrm>
            <a:off x="4786313" y="1652969"/>
            <a:ext cx="3786188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18"/>
          <p:cNvSpPr/>
          <p:nvPr/>
        </p:nvSpPr>
        <p:spPr>
          <a:xfrm>
            <a:off x="4786313" y="1656541"/>
            <a:ext cx="3786188" cy="2185820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792EA"/>
                </a:solidFill>
              </a:rPr>
              <a:t>agent: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3E88D"/>
                </a:solidFill>
              </a:rPr>
              <a:t>"osquery"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792EA"/>
                </a:solidFill>
              </a:rPr>
              <a:t>version: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3E88D"/>
                </a:solidFill>
              </a:rPr>
              <a:t>"5.2.2"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792EA"/>
                </a:solidFill>
              </a:rPr>
              <a:t>schedule: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792EA"/>
                </a:solidFill>
              </a:rPr>
              <a:t>info: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792EA"/>
                </a:solidFill>
              </a:rPr>
              <a:t>query: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3E88D"/>
                </a:solidFill>
              </a:rPr>
              <a:t>"select * from os_version;"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792EA"/>
                </a:solidFill>
              </a:rPr>
              <a:t>interval: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2AAFF"/>
                </a:solidFill>
              </a:rPr>
              <a:t>3600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792EA"/>
                </a:solidFill>
              </a:rPr>
              <a:t>options: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792EA"/>
                </a:solidFill>
              </a:rPr>
              <a:t>logger_plugin: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3E88D"/>
                </a:solidFill>
              </a:rPr>
              <a:t>"filesystem"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i="1" dirty="0">
                <a:solidFill>
                  <a:srgbClr val="676E95"/>
                </a:solidFill>
              </a:rPr>
              <a:t># Inherited from Global Policy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792EA"/>
                </a:solidFill>
              </a:rPr>
              <a:t>enable_audit: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2AAFF"/>
                </a:solidFill>
              </a:rPr>
              <a:t>true</a:t>
            </a:r>
            <a:endParaRPr lang="en-US" sz="834" dirty="0"/>
          </a:p>
        </p:txBody>
      </p:sp>
      <p:sp>
        <p:nvSpPr>
          <p:cNvPr id="26" name="Shape 19"/>
          <p:cNvSpPr/>
          <p:nvPr/>
        </p:nvSpPr>
        <p:spPr>
          <a:xfrm>
            <a:off x="7236786" y="1180505"/>
            <a:ext cx="1478589" cy="312539"/>
          </a:xfrm>
          <a:prstGeom prst="rect">
            <a:avLst/>
          </a:prstGeom>
          <a:solidFill>
            <a:srgbClr val="0A192F"/>
          </a:solidFill>
          <a:ln w="9144">
            <a:solidFill>
              <a:srgbClr val="32CD32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3949" y="1272480"/>
            <a:ext cx="114300" cy="1143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579686" y="1251942"/>
            <a:ext cx="9928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2CD32"/>
                </a:solidFill>
              </a:rPr>
              <a:t>Schema Validated</a:t>
            </a:r>
            <a:endParaRPr lang="en-US" sz="784" dirty="0"/>
          </a:p>
        </p:txBody>
      </p:sp>
      <p:sp>
        <p:nvSpPr>
          <p:cNvPr id="29" name="Shape 21"/>
          <p:cNvSpPr/>
          <p:nvPr/>
        </p:nvSpPr>
        <p:spPr>
          <a:xfrm>
            <a:off x="7251074" y="1585913"/>
            <a:ext cx="1464301" cy="312539"/>
          </a:xfrm>
          <a:prstGeom prst="rect">
            <a:avLst/>
          </a:prstGeom>
          <a:solidFill>
            <a:srgbClr val="0A192F"/>
          </a:solidFill>
          <a:ln w="9144">
            <a:solidFill>
              <a:srgbClr val="FFD700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3949" y="1677888"/>
            <a:ext cx="100013" cy="1143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565399" y="1657350"/>
            <a:ext cx="80342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D700"/>
                </a:solidFill>
              </a:rPr>
              <a:t>v1.2.4 (3a2f8b)</a:t>
            </a:r>
            <a:endParaRPr lang="en-US" sz="784" dirty="0"/>
          </a:p>
        </p:txBody>
      </p:sp>
      <p:sp>
        <p:nvSpPr>
          <p:cNvPr id="32" name="Shape 23"/>
          <p:cNvSpPr/>
          <p:nvPr/>
        </p:nvSpPr>
        <p:spPr>
          <a:xfrm>
            <a:off x="4786313" y="4056673"/>
            <a:ext cx="3786188" cy="369689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33" name="Text 24"/>
          <p:cNvSpPr/>
          <p:nvPr/>
        </p:nvSpPr>
        <p:spPr>
          <a:xfrm>
            <a:off x="4893469" y="4173652"/>
            <a:ext cx="39315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B0C4DE"/>
                </a:solidFill>
              </a:rPr>
              <a:t>Global</a:t>
            </a:r>
            <a:endParaRPr lang="en-US" sz="683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8484" y="4185261"/>
            <a:ext cx="71438" cy="11430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061779" y="4173652"/>
            <a:ext cx="3883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B0C4DE"/>
                </a:solidFill>
              </a:rPr>
              <a:t>Region</a:t>
            </a:r>
            <a:endParaRPr lang="en-US" sz="683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01994" y="4185261"/>
            <a:ext cx="71438" cy="11430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225289" y="4173652"/>
            <a:ext cx="19823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B0C4DE"/>
                </a:solidFill>
              </a:rPr>
              <a:t>Env</a:t>
            </a:r>
            <a:endParaRPr lang="en-US" sz="683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5386" y="4185261"/>
            <a:ext cx="71438" cy="11430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8198681" y="4173652"/>
            <a:ext cx="26663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Host</a:t>
            </a:r>
            <a:endParaRPr lang="en-US" sz="68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549879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Dimension 3: Supervisor Adapter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416248"/>
            <a:ext cx="3786188" cy="86618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416248"/>
            <a:ext cx="28575" cy="866180"/>
          </a:xfrm>
          <a:prstGeom prst="rect">
            <a:avLst/>
          </a:prstGeom>
          <a:solidFill>
            <a:srgbClr val="00B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8" y="1570732"/>
            <a:ext cx="142875" cy="142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1544836"/>
            <a:ext cx="88356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BFFF"/>
                </a:solidFill>
              </a:rPr>
              <a:t>The "Driver"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700088" y="1810941"/>
            <a:ext cx="35290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Acts as the translation layer between the generic Supervisor and the specific Agent implementation.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571500" y="2425303"/>
            <a:ext cx="3786188" cy="118764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571500" y="2425303"/>
            <a:ext cx="28575" cy="1187648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88" y="2579787"/>
            <a:ext cx="178594" cy="1428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50119" y="2553891"/>
            <a:ext cx="106157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D700"/>
                </a:solidFill>
              </a:rPr>
              <a:t>Core Functions</a:t>
            </a:r>
            <a:endParaRPr lang="en-US" sz="987" dirty="0"/>
          </a:p>
        </p:txBody>
      </p:sp>
      <p:sp>
        <p:nvSpPr>
          <p:cNvPr id="15" name="Shape 10"/>
          <p:cNvSpPr/>
          <p:nvPr/>
        </p:nvSpPr>
        <p:spPr>
          <a:xfrm>
            <a:off x="700088" y="2819995"/>
            <a:ext cx="1710928" cy="278606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2909292"/>
            <a:ext cx="100013" cy="10001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28688" y="2891433"/>
            <a:ext cx="74900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Start/Stop Logic</a:t>
            </a:r>
            <a:endParaRPr lang="en-US" sz="727" dirty="0"/>
          </a:p>
        </p:txBody>
      </p:sp>
      <p:sp>
        <p:nvSpPr>
          <p:cNvPr id="18" name="Shape 12"/>
          <p:cNvSpPr/>
          <p:nvPr/>
        </p:nvSpPr>
        <p:spPr>
          <a:xfrm>
            <a:off x="2518172" y="2819995"/>
            <a:ext cx="1710928" cy="278606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9609" y="2909292"/>
            <a:ext cx="112514" cy="10001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759273" y="2891433"/>
            <a:ext cx="6671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Health Checks</a:t>
            </a:r>
            <a:endParaRPr lang="en-US" sz="727" dirty="0"/>
          </a:p>
        </p:txBody>
      </p:sp>
      <p:sp>
        <p:nvSpPr>
          <p:cNvPr id="21" name="Shape 14"/>
          <p:cNvSpPr/>
          <p:nvPr/>
        </p:nvSpPr>
        <p:spPr>
          <a:xfrm>
            <a:off x="700088" y="3205758"/>
            <a:ext cx="1710928" cy="278606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3295055"/>
            <a:ext cx="100013" cy="100013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28688" y="3277195"/>
            <a:ext cx="78832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Metric Collection</a:t>
            </a:r>
            <a:endParaRPr lang="en-US" sz="727" dirty="0"/>
          </a:p>
        </p:txBody>
      </p:sp>
      <p:sp>
        <p:nvSpPr>
          <p:cNvPr id="24" name="Shape 16"/>
          <p:cNvSpPr/>
          <p:nvPr/>
        </p:nvSpPr>
        <p:spPr>
          <a:xfrm>
            <a:off x="2518172" y="3205758"/>
            <a:ext cx="1710928" cy="278606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9609" y="3295055"/>
            <a:ext cx="100013" cy="100013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2746772" y="3277195"/>
            <a:ext cx="59960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Log Rotation</a:t>
            </a:r>
            <a:endParaRPr lang="en-US" sz="727" dirty="0"/>
          </a:p>
        </p:txBody>
      </p:sp>
      <p:sp>
        <p:nvSpPr>
          <p:cNvPr id="27" name="Shape 18"/>
          <p:cNvSpPr/>
          <p:nvPr/>
        </p:nvSpPr>
        <p:spPr>
          <a:xfrm>
            <a:off x="571500" y="3755827"/>
            <a:ext cx="3786188" cy="86618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8" name="Shape 19"/>
          <p:cNvSpPr/>
          <p:nvPr/>
        </p:nvSpPr>
        <p:spPr>
          <a:xfrm>
            <a:off x="571500" y="3755827"/>
            <a:ext cx="28575" cy="866180"/>
          </a:xfrm>
          <a:prstGeom prst="rect">
            <a:avLst/>
          </a:prstGeom>
          <a:solidFill>
            <a:srgbClr val="32CD32"/>
          </a:solidFill>
          <a:ln/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088" y="3910310"/>
            <a:ext cx="178594" cy="142875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950119" y="3884414"/>
            <a:ext cx="116914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2CD32"/>
                </a:solidFill>
              </a:rPr>
              <a:t>Implementation</a:t>
            </a:r>
            <a:endParaRPr lang="en-US" sz="987" dirty="0"/>
          </a:p>
        </p:txBody>
      </p:sp>
      <p:sp>
        <p:nvSpPr>
          <p:cNvPr id="31" name="Text 21"/>
          <p:cNvSpPr/>
          <p:nvPr/>
        </p:nvSpPr>
        <p:spPr>
          <a:xfrm>
            <a:off x="700088" y="4150519"/>
            <a:ext cx="35290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Lightweight Lua or Go plugin. Minimal footprint. Easy to develop and test in isolation.</a:t>
            </a:r>
            <a:endParaRPr lang="en-US" sz="834" dirty="0"/>
          </a:p>
        </p:txBody>
      </p:sp>
      <p:sp>
        <p:nvSpPr>
          <p:cNvPr id="32" name="Shape 22"/>
          <p:cNvSpPr/>
          <p:nvPr/>
        </p:nvSpPr>
        <p:spPr>
          <a:xfrm>
            <a:off x="5250656" y="1976140"/>
            <a:ext cx="2857500" cy="571500"/>
          </a:xfrm>
          <a:prstGeom prst="rect">
            <a:avLst/>
          </a:prstGeom>
          <a:solidFill>
            <a:srgbClr val="112240"/>
          </a:solidFill>
          <a:ln w="18288">
            <a:solidFill>
              <a:srgbClr val="00BFFF"/>
            </a:solidFill>
            <a:prstDash val="solid"/>
          </a:ln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64969" y="2147590"/>
            <a:ext cx="285750" cy="22860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965031" y="2096691"/>
            <a:ext cx="20002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Supervisor</a:t>
            </a:r>
            <a:endParaRPr lang="en-US" sz="987" dirty="0"/>
          </a:p>
        </p:txBody>
      </p:sp>
      <p:sp>
        <p:nvSpPr>
          <p:cNvPr id="35" name="Text 24"/>
          <p:cNvSpPr/>
          <p:nvPr/>
        </p:nvSpPr>
        <p:spPr>
          <a:xfrm>
            <a:off x="5965031" y="2291358"/>
            <a:ext cx="2000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Generic Control Plane</a:t>
            </a:r>
            <a:endParaRPr lang="en-US" sz="727" dirty="0"/>
          </a:p>
        </p:txBody>
      </p:sp>
      <p:sp>
        <p:nvSpPr>
          <p:cNvPr id="36" name="Shape 25"/>
          <p:cNvSpPr/>
          <p:nvPr/>
        </p:nvSpPr>
        <p:spPr>
          <a:xfrm>
            <a:off x="5250656" y="2661940"/>
            <a:ext cx="2857500" cy="714375"/>
          </a:xfrm>
          <a:prstGeom prst="rect">
            <a:avLst/>
          </a:prstGeom>
          <a:solidFill>
            <a:srgbClr val="FFD700">
              <a:alpha val="10000"/>
            </a:srgbClr>
          </a:solidFill>
          <a:ln w="18288">
            <a:solidFill>
              <a:srgbClr val="FFD700"/>
            </a:solidFill>
            <a:prstDash val="solid"/>
          </a:ln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22119" y="2904827"/>
            <a:ext cx="171450" cy="22860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5965031" y="2853928"/>
            <a:ext cx="20002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Adapter</a:t>
            </a:r>
            <a:endParaRPr lang="en-US" sz="987" dirty="0"/>
          </a:p>
        </p:txBody>
      </p:sp>
      <p:sp>
        <p:nvSpPr>
          <p:cNvPr id="39" name="Text 27"/>
          <p:cNvSpPr/>
          <p:nvPr/>
        </p:nvSpPr>
        <p:spPr>
          <a:xfrm>
            <a:off x="5965031" y="3048595"/>
            <a:ext cx="2000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Translation Logic (Lua/Go)</a:t>
            </a:r>
            <a:endParaRPr lang="en-US" sz="727" dirty="0"/>
          </a:p>
        </p:txBody>
      </p:sp>
      <p:sp>
        <p:nvSpPr>
          <p:cNvPr id="40" name="Shape 28"/>
          <p:cNvSpPr/>
          <p:nvPr/>
        </p:nvSpPr>
        <p:spPr>
          <a:xfrm>
            <a:off x="5250656" y="3490615"/>
            <a:ext cx="2857500" cy="571500"/>
          </a:xfrm>
          <a:prstGeom prst="rect">
            <a:avLst/>
          </a:prstGeom>
          <a:solidFill>
            <a:srgbClr val="FFFFFF">
              <a:alpha val="5000"/>
            </a:srgbClr>
          </a:solidFill>
          <a:ln w="18288">
            <a:solidFill>
              <a:srgbClr val="FFFFFF">
                <a:alpha val="30000"/>
              </a:srgbClr>
            </a:solidFill>
            <a:prstDash val="dash"/>
          </a:ln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07831" y="3662065"/>
            <a:ext cx="200025" cy="228600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5965031" y="3611166"/>
            <a:ext cx="20002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Agent Binary</a:t>
            </a:r>
            <a:endParaRPr lang="en-US" sz="987" dirty="0"/>
          </a:p>
        </p:txBody>
      </p:sp>
      <p:sp>
        <p:nvSpPr>
          <p:cNvPr id="43" name="Text 30"/>
          <p:cNvSpPr/>
          <p:nvPr/>
        </p:nvSpPr>
        <p:spPr>
          <a:xfrm>
            <a:off x="5965031" y="3805833"/>
            <a:ext cx="2000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Specific Implementation</a:t>
            </a:r>
            <a:endParaRPr lang="en-US" sz="727" dirty="0"/>
          </a:p>
        </p:txBody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19653" y="1674316"/>
            <a:ext cx="75009" cy="85725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7947729" y="1795760"/>
            <a:ext cx="4188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2CD32"/>
                </a:solidFill>
              </a:rPr>
              <a:t>Telemetry</a:t>
            </a:r>
            <a:endParaRPr lang="en-US" sz="584" dirty="0"/>
          </a:p>
        </p:txBody>
      </p:sp>
      <p:sp>
        <p:nvSpPr>
          <p:cNvPr id="46" name="Text 32"/>
          <p:cNvSpPr/>
          <p:nvPr/>
        </p:nvSpPr>
        <p:spPr>
          <a:xfrm>
            <a:off x="7920437" y="4126409"/>
            <a:ext cx="47346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2CD32"/>
                </a:solidFill>
              </a:rPr>
              <a:t>Commands</a:t>
            </a:r>
            <a:endParaRPr lang="en-US" sz="584" dirty="0"/>
          </a:p>
        </p:txBody>
      </p:sp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19653" y="4278213"/>
            <a:ext cx="75009" cy="857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4254019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Dimension 4: Vendor Risk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411784"/>
            <a:ext cx="3214688" cy="3214688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6B35">
                <a:alpha val="3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5813" y="1626096"/>
            <a:ext cx="2778919" cy="34825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85813" y="1967210"/>
            <a:ext cx="2778919" cy="714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657350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64419" y="1626096"/>
            <a:ext cx="172376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6B35"/>
                </a:solidFill>
              </a:rPr>
              <a:t>Vendor Defaults</a:t>
            </a:r>
            <a:endParaRPr lang="en-US" sz="1193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2210098"/>
            <a:ext cx="114300" cy="114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7269" y="2181523"/>
            <a:ext cx="2557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Insecure Defaults</a:t>
            </a:r>
            <a:endParaRPr lang="en-US" sz="885" dirty="0"/>
          </a:p>
        </p:txBody>
      </p:sp>
      <p:sp>
        <p:nvSpPr>
          <p:cNvPr id="13" name="Text 8"/>
          <p:cNvSpPr/>
          <p:nvPr/>
        </p:nvSpPr>
        <p:spPr>
          <a:xfrm>
            <a:off x="1007269" y="2385120"/>
            <a:ext cx="255746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Default settings often prioritize ease of use over security (e.g., open ports, weak auth).</a:t>
            </a:r>
            <a:endParaRPr lang="en-US" sz="727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2872290"/>
            <a:ext cx="142875" cy="1143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35844" y="2843715"/>
            <a:ext cx="25288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Uncontrolled Data</a:t>
            </a:r>
            <a:endParaRPr lang="en-US" sz="885" dirty="0"/>
          </a:p>
        </p:txBody>
      </p:sp>
      <p:sp>
        <p:nvSpPr>
          <p:cNvPr id="16" name="Text 10"/>
          <p:cNvSpPr/>
          <p:nvPr/>
        </p:nvSpPr>
        <p:spPr>
          <a:xfrm>
            <a:off x="1035844" y="3047312"/>
            <a:ext cx="252888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Telemetry sent directly to vendor cloud without filtering or inspection.</a:t>
            </a:r>
            <a:endParaRPr lang="en-US" sz="727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3534482"/>
            <a:ext cx="142875" cy="1143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35844" y="3505907"/>
            <a:ext cx="25288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Direct Connection</a:t>
            </a:r>
            <a:endParaRPr lang="en-US" sz="885" dirty="0"/>
          </a:p>
        </p:txBody>
      </p:sp>
      <p:sp>
        <p:nvSpPr>
          <p:cNvPr id="19" name="Text 12"/>
          <p:cNvSpPr/>
          <p:nvPr/>
        </p:nvSpPr>
        <p:spPr>
          <a:xfrm>
            <a:off x="1035844" y="3709504"/>
            <a:ext cx="252888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Agents bypass internal proxies and firewalls, creating shadow IT paths.</a:t>
            </a:r>
            <a:endParaRPr lang="en-US" sz="727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106" y="2501205"/>
            <a:ext cx="571500" cy="57150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4112707" y="3179862"/>
            <a:ext cx="904270" cy="357188"/>
          </a:xfrm>
          <a:prstGeom prst="rect">
            <a:avLst/>
          </a:prstGeom>
          <a:solidFill>
            <a:srgbClr val="0A192F"/>
          </a:solidFill>
          <a:ln w="9144">
            <a:solidFill>
              <a:srgbClr val="00BFFF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4112707" y="3179862"/>
            <a:ext cx="904270" cy="357188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ENFORCEMENT</a:t>
            </a:r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LAYER</a:t>
            </a:r>
            <a:endParaRPr lang="en-US" sz="683" dirty="0"/>
          </a:p>
        </p:txBody>
      </p:sp>
      <p:sp>
        <p:nvSpPr>
          <p:cNvPr id="23" name="Shape 15"/>
          <p:cNvSpPr/>
          <p:nvPr/>
        </p:nvSpPr>
        <p:spPr>
          <a:xfrm>
            <a:off x="5350669" y="1411784"/>
            <a:ext cx="3221831" cy="3214688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32CD32">
                <a:alpha val="30000"/>
              </a:srgbClr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5572125" y="1626096"/>
            <a:ext cx="2786063" cy="34825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5" name="Shape 17"/>
          <p:cNvSpPr/>
          <p:nvPr/>
        </p:nvSpPr>
        <p:spPr>
          <a:xfrm>
            <a:off x="5572125" y="1967210"/>
            <a:ext cx="2786063" cy="714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2125" y="1657350"/>
            <a:ext cx="171450" cy="17145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850731" y="1626096"/>
            <a:ext cx="153236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32CD32"/>
                </a:solidFill>
              </a:rPr>
              <a:t>Our Standards</a:t>
            </a:r>
            <a:endParaRPr lang="en-US" sz="1193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2125" y="2210098"/>
            <a:ext cx="100013" cy="11430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779294" y="2181523"/>
            <a:ext cx="25788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Hardened Config</a:t>
            </a:r>
            <a:endParaRPr lang="en-US" sz="885" dirty="0"/>
          </a:p>
        </p:txBody>
      </p:sp>
      <p:sp>
        <p:nvSpPr>
          <p:cNvPr id="30" name="Text 20"/>
          <p:cNvSpPr/>
          <p:nvPr/>
        </p:nvSpPr>
        <p:spPr>
          <a:xfrm>
            <a:off x="5779294" y="2385120"/>
            <a:ext cx="257889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Override defaults with least-privilege, mTLS, and audit logging enabled.</a:t>
            </a:r>
            <a:endParaRPr lang="en-US" sz="727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72125" y="2872290"/>
            <a:ext cx="100013" cy="11430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779294" y="2843715"/>
            <a:ext cx="25788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Dual Data Paths</a:t>
            </a:r>
            <a:endParaRPr lang="en-US" sz="885" dirty="0"/>
          </a:p>
        </p:txBody>
      </p:sp>
      <p:sp>
        <p:nvSpPr>
          <p:cNvPr id="33" name="Text 22"/>
          <p:cNvSpPr/>
          <p:nvPr/>
        </p:nvSpPr>
        <p:spPr>
          <a:xfrm>
            <a:off x="5779294" y="3047312"/>
            <a:ext cx="257889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Control data flow: Security events to vendor, raw logs to internal SIEM.</a:t>
            </a:r>
            <a:endParaRPr lang="en-US" sz="727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72125" y="3534482"/>
            <a:ext cx="114300" cy="11430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5793581" y="3505907"/>
            <a:ext cx="25646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Network Control</a:t>
            </a:r>
            <a:endParaRPr lang="en-US" sz="885" dirty="0"/>
          </a:p>
        </p:txBody>
      </p:sp>
      <p:sp>
        <p:nvSpPr>
          <p:cNvPr id="36" name="Text 24"/>
          <p:cNvSpPr/>
          <p:nvPr/>
        </p:nvSpPr>
        <p:spPr>
          <a:xfrm>
            <a:off x="5793581" y="3709504"/>
            <a:ext cx="256460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Enforce proxy usage, mTLS authentication, and strict firewall rules.</a:t>
            </a:r>
            <a:endParaRPr lang="en-US" sz="72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3710229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Onboarding Workflow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340346"/>
            <a:ext cx="188441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FFFFFF">
                    <a:alpha val="50000"/>
                  </a:srgbClr>
                </a:solidFill>
              </a:rPr>
              <a:t>Phase 1: Definition &amp; Development</a:t>
            </a:r>
            <a:endParaRPr lang="en-US" sz="584" dirty="0"/>
          </a:p>
        </p:txBody>
      </p:sp>
      <p:sp>
        <p:nvSpPr>
          <p:cNvPr id="7" name="Shape 4"/>
          <p:cNvSpPr/>
          <p:nvPr/>
        </p:nvSpPr>
        <p:spPr>
          <a:xfrm>
            <a:off x="571500" y="1554659"/>
            <a:ext cx="1893094" cy="128587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05533" y="1447502"/>
            <a:ext cx="214313" cy="214313"/>
          </a:xfrm>
          <a:prstGeom prst="ellipse">
            <a:avLst/>
          </a:prstGeom>
          <a:solidFill>
            <a:srgbClr val="0A192F"/>
          </a:solidFill>
          <a:ln w="18288">
            <a:solidFill>
              <a:srgbClr val="00B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05533" y="1447502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BFFF"/>
                </a:solidFill>
              </a:rPr>
              <a:t>1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1298377" y="1804690"/>
            <a:ext cx="428625" cy="361541"/>
          </a:xfrm>
          <a:prstGeom prst="round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389" y="187116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22449" y="2273387"/>
            <a:ext cx="98048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Define Standards</a:t>
            </a:r>
            <a:endParaRPr lang="en-US" sz="784" dirty="0"/>
          </a:p>
        </p:txBody>
      </p:sp>
      <p:sp>
        <p:nvSpPr>
          <p:cNvPr id="13" name="Text 9"/>
          <p:cNvSpPr/>
          <p:nvPr/>
        </p:nvSpPr>
        <p:spPr>
          <a:xfrm>
            <a:off x="714375" y="2457673"/>
            <a:ext cx="1596628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B0C4DE"/>
                </a:solidFill>
              </a:rPr>
              <a:t>Security baseline &amp; vendor risk assessment (Dim 4)</a:t>
            </a:r>
            <a:endParaRPr lang="en-US" sz="621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527" y="2147590"/>
            <a:ext cx="62508" cy="100013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596753" y="1554659"/>
            <a:ext cx="1896666" cy="128587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436144" y="1447502"/>
            <a:ext cx="214313" cy="214313"/>
          </a:xfrm>
          <a:prstGeom prst="ellipse">
            <a:avLst/>
          </a:prstGeom>
          <a:solidFill>
            <a:srgbClr val="0A192F"/>
          </a:solidFill>
          <a:ln w="18288">
            <a:solidFill>
              <a:srgbClr val="00BFF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436144" y="1447502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BFFF"/>
                </a:solidFill>
              </a:rPr>
              <a:t>2</a:t>
            </a:r>
            <a:endParaRPr lang="en-US" sz="683" dirty="0"/>
          </a:p>
        </p:txBody>
      </p:sp>
      <p:sp>
        <p:nvSpPr>
          <p:cNvPr id="18" name="Shape 13"/>
          <p:cNvSpPr/>
          <p:nvPr/>
        </p:nvSpPr>
        <p:spPr>
          <a:xfrm>
            <a:off x="3328988" y="1804690"/>
            <a:ext cx="428625" cy="428625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0425" y="1904702"/>
            <a:ext cx="28575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067403" y="2340471"/>
            <a:ext cx="951793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Develop Adapter</a:t>
            </a:r>
            <a:endParaRPr lang="en-US" sz="784" dirty="0"/>
          </a:p>
        </p:txBody>
      </p:sp>
      <p:sp>
        <p:nvSpPr>
          <p:cNvPr id="21" name="Text 15"/>
          <p:cNvSpPr/>
          <p:nvPr/>
        </p:nvSpPr>
        <p:spPr>
          <a:xfrm>
            <a:off x="2773561" y="2524758"/>
            <a:ext cx="153947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B0C4DE"/>
                </a:solidFill>
              </a:rPr>
              <a:t>Create supervisor control logic (Dim 3)</a:t>
            </a:r>
            <a:endParaRPr lang="en-US" sz="621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0923" y="2147590"/>
            <a:ext cx="62508" cy="100013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4629150" y="1554659"/>
            <a:ext cx="1900238" cy="128587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5473898" y="1447502"/>
            <a:ext cx="214313" cy="214313"/>
          </a:xfrm>
          <a:prstGeom prst="ellipse">
            <a:avLst/>
          </a:prstGeom>
          <a:solidFill>
            <a:srgbClr val="0A192F"/>
          </a:solidFill>
          <a:ln w="18288">
            <a:solidFill>
              <a:srgbClr val="00BFFF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5473898" y="1447502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BFFF"/>
                </a:solidFill>
              </a:rPr>
              <a:t>3</a:t>
            </a:r>
            <a:endParaRPr lang="en-US" sz="683" dirty="0"/>
          </a:p>
        </p:txBody>
      </p:sp>
      <p:sp>
        <p:nvSpPr>
          <p:cNvPr id="26" name="Shape 19"/>
          <p:cNvSpPr/>
          <p:nvPr/>
        </p:nvSpPr>
        <p:spPr>
          <a:xfrm>
            <a:off x="5366742" y="1804690"/>
            <a:ext cx="428625" cy="361541"/>
          </a:xfrm>
          <a:prstGeom prst="round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5330" y="1871160"/>
            <a:ext cx="171450" cy="2286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56420" y="2273387"/>
            <a:ext cx="84926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Define Schema</a:t>
            </a:r>
            <a:endParaRPr lang="en-US" sz="784" dirty="0"/>
          </a:p>
        </p:txBody>
      </p:sp>
      <p:sp>
        <p:nvSpPr>
          <p:cNvPr id="29" name="Text 21"/>
          <p:cNvSpPr/>
          <p:nvPr/>
        </p:nvSpPr>
        <p:spPr>
          <a:xfrm>
            <a:off x="4779169" y="2457673"/>
            <a:ext cx="1603772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B0C4DE"/>
                </a:solidFill>
              </a:rPr>
              <a:t>Create config templates &amp; validation rules (Dim 2)</a:t>
            </a:r>
            <a:endParaRPr lang="en-US" sz="621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0464" y="2147590"/>
            <a:ext cx="62508" cy="100013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6668691" y="1554659"/>
            <a:ext cx="1903809" cy="128587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7518797" y="1447502"/>
            <a:ext cx="214313" cy="214313"/>
          </a:xfrm>
          <a:prstGeom prst="ellipse">
            <a:avLst/>
          </a:prstGeom>
          <a:solidFill>
            <a:srgbClr val="0A192F"/>
          </a:solidFill>
          <a:ln w="18288">
            <a:solidFill>
              <a:srgbClr val="00BFFF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7518797" y="1447502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BFFF"/>
                </a:solidFill>
              </a:rPr>
              <a:t>4</a:t>
            </a:r>
            <a:endParaRPr lang="en-US" sz="683" dirty="0"/>
          </a:p>
        </p:txBody>
      </p:sp>
      <p:sp>
        <p:nvSpPr>
          <p:cNvPr id="34" name="Shape 25"/>
          <p:cNvSpPr/>
          <p:nvPr/>
        </p:nvSpPr>
        <p:spPr>
          <a:xfrm>
            <a:off x="7411641" y="1804690"/>
            <a:ext cx="428625" cy="361541"/>
          </a:xfrm>
          <a:prstGeom prst="round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3078" y="1871160"/>
            <a:ext cx="285750" cy="22860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273314" y="2273387"/>
            <a:ext cx="7052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Define RBAC</a:t>
            </a:r>
            <a:endParaRPr lang="en-US" sz="784" dirty="0"/>
          </a:p>
        </p:txBody>
      </p:sp>
      <p:sp>
        <p:nvSpPr>
          <p:cNvPr id="37" name="Text 27"/>
          <p:cNvSpPr/>
          <p:nvPr/>
        </p:nvSpPr>
        <p:spPr>
          <a:xfrm>
            <a:off x="6822281" y="2457673"/>
            <a:ext cx="1607344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B0C4DE"/>
                </a:solidFill>
              </a:rPr>
              <a:t>Map roles to agent &amp; resource types (Dim 1)</a:t>
            </a:r>
            <a:endParaRPr lang="en-US" sz="621" dirty="0"/>
          </a:p>
        </p:txBody>
      </p:sp>
      <p:sp>
        <p:nvSpPr>
          <p:cNvPr id="38" name="Shape 28"/>
          <p:cNvSpPr/>
          <p:nvPr/>
        </p:nvSpPr>
        <p:spPr>
          <a:xfrm>
            <a:off x="8129588" y="2180630"/>
            <a:ext cx="14288" cy="357188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39" name="Text 29"/>
          <p:cNvSpPr/>
          <p:nvPr/>
        </p:nvSpPr>
        <p:spPr>
          <a:xfrm>
            <a:off x="571500" y="2983409"/>
            <a:ext cx="183937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FFFFFF">
                    <a:alpha val="50000"/>
                  </a:srgbClr>
                </a:solidFill>
              </a:rPr>
              <a:t>Phase 2: Validation &amp; Deployment</a:t>
            </a:r>
            <a:endParaRPr lang="en-US" sz="584" dirty="0"/>
          </a:p>
        </p:txBody>
      </p:sp>
      <p:sp>
        <p:nvSpPr>
          <p:cNvPr id="40" name="Shape 30"/>
          <p:cNvSpPr/>
          <p:nvPr/>
        </p:nvSpPr>
        <p:spPr>
          <a:xfrm>
            <a:off x="571500" y="3197721"/>
            <a:ext cx="1893094" cy="128587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1405533" y="3090565"/>
            <a:ext cx="214313" cy="214313"/>
          </a:xfrm>
          <a:prstGeom prst="ellipse">
            <a:avLst/>
          </a:prstGeom>
          <a:solidFill>
            <a:srgbClr val="0A192F"/>
          </a:solidFill>
          <a:ln w="18288">
            <a:solidFill>
              <a:srgbClr val="32CD32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1405533" y="3090565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2CD32"/>
                </a:solidFill>
              </a:rPr>
              <a:t>5</a:t>
            </a:r>
            <a:endParaRPr lang="en-US" sz="683" dirty="0"/>
          </a:p>
        </p:txBody>
      </p:sp>
      <p:sp>
        <p:nvSpPr>
          <p:cNvPr id="43" name="Shape 33"/>
          <p:cNvSpPr/>
          <p:nvPr/>
        </p:nvSpPr>
        <p:spPr>
          <a:xfrm>
            <a:off x="1298377" y="3447752"/>
            <a:ext cx="428625" cy="361541"/>
          </a:xfrm>
          <a:prstGeom prst="round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12677" y="3514223"/>
            <a:ext cx="200025" cy="22860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1187593" y="3916449"/>
            <a:ext cx="65016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Lab Testing</a:t>
            </a:r>
            <a:endParaRPr lang="en-US" sz="784" dirty="0"/>
          </a:p>
        </p:txBody>
      </p:sp>
      <p:sp>
        <p:nvSpPr>
          <p:cNvPr id="46" name="Text 35"/>
          <p:cNvSpPr/>
          <p:nvPr/>
        </p:nvSpPr>
        <p:spPr>
          <a:xfrm>
            <a:off x="714375" y="4100736"/>
            <a:ext cx="1596628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B0C4DE"/>
                </a:solidFill>
              </a:rPr>
              <a:t>Functional verification in isolated environment</a:t>
            </a:r>
            <a:endParaRPr lang="en-US" sz="621" dirty="0"/>
          </a:p>
        </p:txBody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98527" y="3790652"/>
            <a:ext cx="62508" cy="100013"/>
          </a:xfrm>
          <a:prstGeom prst="rect">
            <a:avLst/>
          </a:prstGeom>
        </p:spPr>
      </p:pic>
      <p:sp>
        <p:nvSpPr>
          <p:cNvPr id="48" name="Shape 36"/>
          <p:cNvSpPr/>
          <p:nvPr/>
        </p:nvSpPr>
        <p:spPr>
          <a:xfrm>
            <a:off x="2596753" y="3197721"/>
            <a:ext cx="1896666" cy="128587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9" name="Shape 37"/>
          <p:cNvSpPr/>
          <p:nvPr/>
        </p:nvSpPr>
        <p:spPr>
          <a:xfrm>
            <a:off x="3436144" y="3090565"/>
            <a:ext cx="214313" cy="214313"/>
          </a:xfrm>
          <a:prstGeom prst="ellipse">
            <a:avLst/>
          </a:prstGeom>
          <a:solidFill>
            <a:srgbClr val="0A192F"/>
          </a:solidFill>
          <a:ln w="18288">
            <a:solidFill>
              <a:srgbClr val="32CD32"/>
            </a:solidFill>
            <a:prstDash val="solid"/>
          </a:ln>
        </p:spPr>
      </p:sp>
      <p:sp>
        <p:nvSpPr>
          <p:cNvPr id="50" name="Text 38"/>
          <p:cNvSpPr/>
          <p:nvPr/>
        </p:nvSpPr>
        <p:spPr>
          <a:xfrm>
            <a:off x="3436144" y="3090565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2CD32"/>
                </a:solidFill>
              </a:rPr>
              <a:t>6</a:t>
            </a:r>
            <a:endParaRPr lang="en-US" sz="683" dirty="0"/>
          </a:p>
        </p:txBody>
      </p:sp>
      <p:sp>
        <p:nvSpPr>
          <p:cNvPr id="51" name="Shape 39"/>
          <p:cNvSpPr/>
          <p:nvPr/>
        </p:nvSpPr>
        <p:spPr>
          <a:xfrm>
            <a:off x="3328988" y="3447752"/>
            <a:ext cx="428625" cy="428625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3288" y="3547765"/>
            <a:ext cx="200025" cy="228600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3093690" y="3983534"/>
            <a:ext cx="89922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Security Review</a:t>
            </a:r>
            <a:endParaRPr lang="en-US" sz="784" dirty="0"/>
          </a:p>
        </p:txBody>
      </p:sp>
      <p:sp>
        <p:nvSpPr>
          <p:cNvPr id="54" name="Text 41"/>
          <p:cNvSpPr/>
          <p:nvPr/>
        </p:nvSpPr>
        <p:spPr>
          <a:xfrm>
            <a:off x="2915320" y="4167820"/>
            <a:ext cx="125596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B0C4DE"/>
                </a:solidFill>
              </a:rPr>
              <a:t>Code audit &amp; compliance check</a:t>
            </a:r>
            <a:endParaRPr lang="en-US" sz="621" dirty="0"/>
          </a:p>
        </p:txBody>
      </p:sp>
      <p:pic>
        <p:nvPicPr>
          <p:cNvPr id="5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30923" y="3790652"/>
            <a:ext cx="62508" cy="100013"/>
          </a:xfrm>
          <a:prstGeom prst="rect">
            <a:avLst/>
          </a:prstGeom>
        </p:spPr>
      </p:pic>
      <p:sp>
        <p:nvSpPr>
          <p:cNvPr id="56" name="Shape 42"/>
          <p:cNvSpPr/>
          <p:nvPr/>
        </p:nvSpPr>
        <p:spPr>
          <a:xfrm>
            <a:off x="4629150" y="3197721"/>
            <a:ext cx="1900238" cy="128587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7" name="Shape 43"/>
          <p:cNvSpPr/>
          <p:nvPr/>
        </p:nvSpPr>
        <p:spPr>
          <a:xfrm>
            <a:off x="5473898" y="3090565"/>
            <a:ext cx="214313" cy="214313"/>
          </a:xfrm>
          <a:prstGeom prst="ellipse">
            <a:avLst/>
          </a:prstGeom>
          <a:solidFill>
            <a:srgbClr val="0A192F"/>
          </a:solidFill>
          <a:ln w="18288">
            <a:solidFill>
              <a:srgbClr val="32CD32"/>
            </a:solidFill>
            <a:prstDash val="solid"/>
          </a:ln>
        </p:spPr>
      </p:sp>
      <p:sp>
        <p:nvSpPr>
          <p:cNvPr id="58" name="Text 44"/>
          <p:cNvSpPr/>
          <p:nvPr/>
        </p:nvSpPr>
        <p:spPr>
          <a:xfrm>
            <a:off x="5473898" y="3090565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2CD32"/>
                </a:solidFill>
              </a:rPr>
              <a:t>7</a:t>
            </a:r>
            <a:endParaRPr lang="en-US" sz="683" dirty="0"/>
          </a:p>
        </p:txBody>
      </p:sp>
      <p:sp>
        <p:nvSpPr>
          <p:cNvPr id="59" name="Shape 45"/>
          <p:cNvSpPr/>
          <p:nvPr/>
        </p:nvSpPr>
        <p:spPr>
          <a:xfrm>
            <a:off x="5366742" y="3447752"/>
            <a:ext cx="428625" cy="428625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6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38180" y="3547765"/>
            <a:ext cx="285750" cy="228600"/>
          </a:xfrm>
          <a:prstGeom prst="rect">
            <a:avLst/>
          </a:prstGeom>
        </p:spPr>
      </p:pic>
      <p:sp>
        <p:nvSpPr>
          <p:cNvPr id="61" name="Text 46"/>
          <p:cNvSpPr/>
          <p:nvPr/>
        </p:nvSpPr>
        <p:spPr>
          <a:xfrm>
            <a:off x="5086573" y="3983534"/>
            <a:ext cx="98893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Pilot Deployment</a:t>
            </a:r>
            <a:endParaRPr lang="en-US" sz="784" dirty="0"/>
          </a:p>
        </p:txBody>
      </p:sp>
      <p:sp>
        <p:nvSpPr>
          <p:cNvPr id="62" name="Text 47"/>
          <p:cNvSpPr/>
          <p:nvPr/>
        </p:nvSpPr>
        <p:spPr>
          <a:xfrm>
            <a:off x="4954916" y="4167820"/>
            <a:ext cx="1252277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B0C4DE"/>
                </a:solidFill>
              </a:rPr>
              <a:t>Limited rollout to canary group</a:t>
            </a:r>
            <a:endParaRPr lang="en-US" sz="621" dirty="0"/>
          </a:p>
        </p:txBody>
      </p:sp>
      <p:pic>
        <p:nvPicPr>
          <p:cNvPr id="6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70464" y="3790652"/>
            <a:ext cx="62508" cy="100013"/>
          </a:xfrm>
          <a:prstGeom prst="rect">
            <a:avLst/>
          </a:prstGeom>
        </p:spPr>
      </p:pic>
      <p:sp>
        <p:nvSpPr>
          <p:cNvPr id="64" name="Shape 48"/>
          <p:cNvSpPr/>
          <p:nvPr/>
        </p:nvSpPr>
        <p:spPr>
          <a:xfrm>
            <a:off x="6668691" y="3197721"/>
            <a:ext cx="1903809" cy="128587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5" name="Shape 49"/>
          <p:cNvSpPr/>
          <p:nvPr/>
        </p:nvSpPr>
        <p:spPr>
          <a:xfrm>
            <a:off x="7518797" y="3090565"/>
            <a:ext cx="214313" cy="214313"/>
          </a:xfrm>
          <a:prstGeom prst="ellipse">
            <a:avLst/>
          </a:prstGeom>
          <a:solidFill>
            <a:srgbClr val="0A192F"/>
          </a:solidFill>
          <a:ln w="18288">
            <a:solidFill>
              <a:srgbClr val="32CD32"/>
            </a:solidFill>
            <a:prstDash val="solid"/>
          </a:ln>
        </p:spPr>
      </p:sp>
      <p:sp>
        <p:nvSpPr>
          <p:cNvPr id="66" name="Text 50"/>
          <p:cNvSpPr/>
          <p:nvPr/>
        </p:nvSpPr>
        <p:spPr>
          <a:xfrm>
            <a:off x="7518797" y="3090565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2CD32"/>
                </a:solidFill>
              </a:rPr>
              <a:t>8</a:t>
            </a:r>
            <a:endParaRPr lang="en-US" sz="683" dirty="0"/>
          </a:p>
        </p:txBody>
      </p:sp>
      <p:sp>
        <p:nvSpPr>
          <p:cNvPr id="67" name="Shape 51"/>
          <p:cNvSpPr/>
          <p:nvPr/>
        </p:nvSpPr>
        <p:spPr>
          <a:xfrm>
            <a:off x="7411641" y="3447752"/>
            <a:ext cx="428625" cy="428625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6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11653" y="3547765"/>
            <a:ext cx="228600" cy="228600"/>
          </a:xfrm>
          <a:prstGeom prst="rect">
            <a:avLst/>
          </a:prstGeom>
        </p:spPr>
      </p:pic>
      <p:sp>
        <p:nvSpPr>
          <p:cNvPr id="69" name="Text 52"/>
          <p:cNvSpPr/>
          <p:nvPr/>
        </p:nvSpPr>
        <p:spPr>
          <a:xfrm>
            <a:off x="7311628" y="3983534"/>
            <a:ext cx="6286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Production</a:t>
            </a:r>
            <a:endParaRPr lang="en-US" sz="784" dirty="0"/>
          </a:p>
        </p:txBody>
      </p:sp>
      <p:sp>
        <p:nvSpPr>
          <p:cNvPr id="70" name="Text 53"/>
          <p:cNvSpPr/>
          <p:nvPr/>
        </p:nvSpPr>
        <p:spPr>
          <a:xfrm>
            <a:off x="6964068" y="4167820"/>
            <a:ext cx="132377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B0C4DE"/>
                </a:solidFill>
              </a:rPr>
              <a:t>Full scale rollout with monitoring</a:t>
            </a:r>
            <a:endParaRPr lang="en-US" sz="62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518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66192"/>
            <a:ext cx="80010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335307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The RBAC Challenge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037630"/>
            <a:ext cx="8001000" cy="634008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037630"/>
            <a:ext cx="28575" cy="634008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8" name="Shape 5"/>
          <p:cNvSpPr/>
          <p:nvPr/>
        </p:nvSpPr>
        <p:spPr>
          <a:xfrm>
            <a:off x="742950" y="1176040"/>
            <a:ext cx="357188" cy="357188"/>
          </a:xfrm>
          <a:prstGeom prst="ellipse">
            <a:avLst/>
          </a:prstGeom>
          <a:solidFill>
            <a:srgbClr val="00BFFF">
              <a:alpha val="10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88" y="1268909"/>
            <a:ext cx="214313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14438" y="1151930"/>
            <a:ext cx="51903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BFFF"/>
                </a:solidFill>
              </a:rPr>
              <a:t>Real-World Scenario</a:t>
            </a:r>
            <a:endParaRPr lang="en-US" sz="885" dirty="0"/>
          </a:p>
        </p:txBody>
      </p:sp>
      <p:sp>
        <p:nvSpPr>
          <p:cNvPr id="11" name="Text 7"/>
          <p:cNvSpPr/>
          <p:nvPr/>
        </p:nvSpPr>
        <p:spPr>
          <a:xfrm>
            <a:off x="1214438" y="1362670"/>
            <a:ext cx="51903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Alice (SRE) needs to </a:t>
            </a:r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D700"/>
                </a:solidFill>
              </a:rPr>
              <a:t>Restart OSQuery</a:t>
            </a:r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 on </a:t>
            </a:r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D700"/>
                </a:solidFill>
              </a:rPr>
              <a:t>Linux Servers</a:t>
            </a:r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 to apply a config fix.</a:t>
            </a:r>
            <a:endParaRPr lang="en-US" sz="987" dirty="0"/>
          </a:p>
        </p:txBody>
      </p:sp>
      <p:sp>
        <p:nvSpPr>
          <p:cNvPr id="12" name="Shape 8"/>
          <p:cNvSpPr/>
          <p:nvPr/>
        </p:nvSpPr>
        <p:spPr>
          <a:xfrm>
            <a:off x="571500" y="1743075"/>
            <a:ext cx="3929063" cy="3043238"/>
          </a:xfrm>
          <a:prstGeom prst="rect">
            <a:avLst/>
          </a:prstGeom>
          <a:solidFill>
            <a:srgbClr val="FF6B35">
              <a:alpha val="5000"/>
            </a:srgbClr>
          </a:solidFill>
          <a:ln w="9144">
            <a:solidFill>
              <a:srgbClr val="FF6B35">
                <a:alpha val="30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1917204"/>
            <a:ext cx="171450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71550" y="1885950"/>
            <a:ext cx="82142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6B35"/>
                </a:solidFill>
              </a:rPr>
              <a:t>Flat RBAC</a:t>
            </a:r>
            <a:endParaRPr lang="en-US" sz="1193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2375297" y="2255639"/>
            <a:ext cx="321469" cy="2857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14375" y="2684264"/>
            <a:ext cx="36433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Traditional models force broad roles based on the host.</a:t>
            </a:r>
            <a:endParaRPr lang="en-US" sz="834" dirty="0"/>
          </a:p>
        </p:txBody>
      </p:sp>
      <p:sp>
        <p:nvSpPr>
          <p:cNvPr id="17" name="Shape 11"/>
          <p:cNvSpPr/>
          <p:nvPr/>
        </p:nvSpPr>
        <p:spPr>
          <a:xfrm>
            <a:off x="714375" y="2925366"/>
            <a:ext cx="3643313" cy="550069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18" name="Shape 12"/>
          <p:cNvSpPr/>
          <p:nvPr/>
        </p:nvSpPr>
        <p:spPr>
          <a:xfrm>
            <a:off x="714375" y="2925366"/>
            <a:ext cx="21431" cy="550069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3"/>
          <p:cNvSpPr/>
          <p:nvPr/>
        </p:nvSpPr>
        <p:spPr>
          <a:xfrm>
            <a:off x="714375" y="2925366"/>
            <a:ext cx="3643313" cy="55006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Role: 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B0C4DE"/>
                </a:solidFill>
              </a:rPr>
              <a:t>Server Admin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 Scope: All Linux Hosts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 Access: Full Control</a:t>
            </a:r>
            <a:endParaRPr lang="en-US" sz="727" dirty="0"/>
          </a:p>
        </p:txBody>
      </p:sp>
      <p:sp>
        <p:nvSpPr>
          <p:cNvPr id="20" name="Shape 14"/>
          <p:cNvSpPr/>
          <p:nvPr/>
        </p:nvSpPr>
        <p:spPr>
          <a:xfrm>
            <a:off x="714375" y="4189809"/>
            <a:ext cx="3643313" cy="453628"/>
          </a:xfrm>
          <a:prstGeom prst="rect">
            <a:avLst/>
          </a:prstGeom>
          <a:solidFill>
            <a:srgbClr val="FF6B35">
              <a:alpha val="10000"/>
            </a:srgbClr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4330898"/>
            <a:ext cx="171450" cy="1714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42988" y="4261247"/>
            <a:ext cx="324326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6B35"/>
                </a:solidFill>
              </a:rPr>
              <a:t>RISK: Alice can also stop CrowdStrike or wipe logs. Over-privileged.</a:t>
            </a:r>
            <a:endParaRPr lang="en-US" sz="784" dirty="0"/>
          </a:p>
        </p:txBody>
      </p:sp>
      <p:sp>
        <p:nvSpPr>
          <p:cNvPr id="23" name="Shape 16"/>
          <p:cNvSpPr/>
          <p:nvPr/>
        </p:nvSpPr>
        <p:spPr>
          <a:xfrm>
            <a:off x="4643438" y="1743075"/>
            <a:ext cx="3929063" cy="3043238"/>
          </a:xfrm>
          <a:prstGeom prst="rect">
            <a:avLst/>
          </a:prstGeom>
          <a:solidFill>
            <a:srgbClr val="32CD32">
              <a:alpha val="5000"/>
            </a:srgbClr>
          </a:solidFill>
          <a:ln w="9144">
            <a:solidFill>
              <a:srgbClr val="32CD32">
                <a:alpha val="3000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1917204"/>
            <a:ext cx="192881" cy="17145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064919" y="1885950"/>
            <a:ext cx="158214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2CD32"/>
                </a:solidFill>
              </a:rPr>
              <a:t>Multi-Dimensional</a:t>
            </a:r>
            <a:endParaRPr lang="en-US" sz="1193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6465094" y="2255639"/>
            <a:ext cx="285750" cy="28575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786313" y="2684264"/>
            <a:ext cx="36433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Intersecting dimensions create precise access control.</a:t>
            </a:r>
            <a:endParaRPr lang="en-US" sz="834" dirty="0"/>
          </a:p>
        </p:txBody>
      </p:sp>
      <p:sp>
        <p:nvSpPr>
          <p:cNvPr id="28" name="Shape 19"/>
          <p:cNvSpPr/>
          <p:nvPr/>
        </p:nvSpPr>
        <p:spPr>
          <a:xfrm>
            <a:off x="4786313" y="2925366"/>
            <a:ext cx="3643313" cy="550069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29" name="Shape 20"/>
          <p:cNvSpPr/>
          <p:nvPr/>
        </p:nvSpPr>
        <p:spPr>
          <a:xfrm>
            <a:off x="4786313" y="2925366"/>
            <a:ext cx="21431" cy="550069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30" name="Text 21"/>
          <p:cNvSpPr/>
          <p:nvPr/>
        </p:nvSpPr>
        <p:spPr>
          <a:xfrm>
            <a:off x="4786313" y="2925366"/>
            <a:ext cx="3643313" cy="55006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Role: 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B0C4DE"/>
                </a:solidFill>
              </a:rPr>
              <a:t>ProductionSupport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 Agent: 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B0C4DE"/>
                </a:solidFill>
              </a:rPr>
              <a:t>OSQuery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 Resource: 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B0C4DE"/>
                </a:solidFill>
              </a:rPr>
              <a:t>Linux EC2</a:t>
            </a:r>
            <a:endParaRPr lang="en-US" sz="727" dirty="0"/>
          </a:p>
        </p:txBody>
      </p:sp>
      <p:sp>
        <p:nvSpPr>
          <p:cNvPr id="31" name="Shape 22"/>
          <p:cNvSpPr/>
          <p:nvPr/>
        </p:nvSpPr>
        <p:spPr>
          <a:xfrm>
            <a:off x="4786313" y="4189809"/>
            <a:ext cx="3643313" cy="453628"/>
          </a:xfrm>
          <a:prstGeom prst="rect">
            <a:avLst/>
          </a:prstGeom>
          <a:solidFill>
            <a:srgbClr val="32CD32">
              <a:alpha val="10000"/>
            </a:srgbClr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0" y="4330898"/>
            <a:ext cx="171450" cy="17145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114925" y="4261247"/>
            <a:ext cx="324326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2CD32"/>
                </a:solidFill>
              </a:rPr>
              <a:t>SECURE: Alice can restart OSQuery, but cannot touch CrowdStrike.</a:t>
            </a:r>
            <a:endParaRPr lang="en-US" sz="78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2989883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Permission Model</a:t>
            </a:r>
            <a:endParaRPr lang="en-US" sz="2436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804" y="2024360"/>
            <a:ext cx="107156" cy="17145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039" y="2024360"/>
            <a:ext cx="107156" cy="17145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71500" y="1626096"/>
            <a:ext cx="2524116" cy="285750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556975" y="1518940"/>
            <a:ext cx="543651" cy="221456"/>
          </a:xfrm>
          <a:prstGeom prst="roundRect">
            <a:avLst/>
          </a:prstGeom>
          <a:solidFill>
            <a:srgbClr val="0A192F"/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556975" y="1518940"/>
            <a:ext cx="543651" cy="221456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STEP 1</a:t>
            </a:r>
            <a:endParaRPr lang="en-US" sz="683" dirty="0"/>
          </a:p>
        </p:txBody>
      </p:sp>
      <p:sp>
        <p:nvSpPr>
          <p:cNvPr id="11" name="Shape 6"/>
          <p:cNvSpPr/>
          <p:nvPr/>
        </p:nvSpPr>
        <p:spPr>
          <a:xfrm>
            <a:off x="1471613" y="1840409"/>
            <a:ext cx="714375" cy="518313"/>
          </a:xfrm>
          <a:prstGeom prst="roundRect">
            <a:avLst/>
          </a:prstGeom>
          <a:solidFill>
            <a:srgbClr val="0A192F"/>
          </a:solidFill>
          <a:ln w="27432">
            <a:solidFill>
              <a:srgbClr val="00BFFF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066" y="1956690"/>
            <a:ext cx="321469" cy="285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75035" y="2573034"/>
            <a:ext cx="130750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Access Request</a:t>
            </a:r>
            <a:endParaRPr lang="en-US" sz="1193" dirty="0"/>
          </a:p>
        </p:txBody>
      </p:sp>
      <p:sp>
        <p:nvSpPr>
          <p:cNvPr id="14" name="Shape 8"/>
          <p:cNvSpPr/>
          <p:nvPr/>
        </p:nvSpPr>
        <p:spPr>
          <a:xfrm>
            <a:off x="785813" y="2949866"/>
            <a:ext cx="2085975" cy="451452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252" y="3119335"/>
            <a:ext cx="100013" cy="1143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36163" y="3035591"/>
            <a:ext cx="164989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User requests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B0C4DE"/>
                </a:solidFill>
              </a:rPr>
              <a:t>Role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 in All Access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portal</a:t>
            </a:r>
            <a:endParaRPr lang="en-US" sz="727" dirty="0"/>
          </a:p>
        </p:txBody>
      </p:sp>
      <p:sp>
        <p:nvSpPr>
          <p:cNvPr id="17" name="Shape 10"/>
          <p:cNvSpPr/>
          <p:nvPr/>
        </p:nvSpPr>
        <p:spPr>
          <a:xfrm>
            <a:off x="785813" y="3508474"/>
            <a:ext cx="2085975" cy="326827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113" y="3615630"/>
            <a:ext cx="114300" cy="1143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50144" y="3601873"/>
            <a:ext cx="120029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Scope: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B0C4DE"/>
                </a:solidFill>
              </a:rPr>
              <a:t>Agent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 +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B0C4DE"/>
                </a:solidFill>
              </a:rPr>
              <a:t>Resource</a:t>
            </a:r>
            <a:endParaRPr lang="en-US" sz="727" dirty="0"/>
          </a:p>
        </p:txBody>
      </p:sp>
      <p:sp>
        <p:nvSpPr>
          <p:cNvPr id="20" name="Shape 12"/>
          <p:cNvSpPr/>
          <p:nvPr/>
        </p:nvSpPr>
        <p:spPr>
          <a:xfrm>
            <a:off x="785813" y="3942457"/>
            <a:ext cx="2085975" cy="326827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113" y="4049613"/>
            <a:ext cx="114300" cy="1143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150144" y="4035856"/>
            <a:ext cx="128766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Manager approval required</a:t>
            </a:r>
            <a:endParaRPr lang="en-US" sz="727" dirty="0"/>
          </a:p>
        </p:txBody>
      </p:sp>
      <p:sp>
        <p:nvSpPr>
          <p:cNvPr id="23" name="Shape 14"/>
          <p:cNvSpPr/>
          <p:nvPr/>
        </p:nvSpPr>
        <p:spPr>
          <a:xfrm>
            <a:off x="3300413" y="1626096"/>
            <a:ext cx="2528888" cy="285750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4" name="Shape 15"/>
          <p:cNvSpPr/>
          <p:nvPr/>
        </p:nvSpPr>
        <p:spPr>
          <a:xfrm>
            <a:off x="4293031" y="1518940"/>
            <a:ext cx="543651" cy="221456"/>
          </a:xfrm>
          <a:prstGeom prst="roundRect">
            <a:avLst/>
          </a:prstGeom>
          <a:solidFill>
            <a:srgbClr val="0A192F"/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Text 16"/>
          <p:cNvSpPr/>
          <p:nvPr/>
        </p:nvSpPr>
        <p:spPr>
          <a:xfrm>
            <a:off x="4293031" y="1518940"/>
            <a:ext cx="543651" cy="221456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STEP 2</a:t>
            </a:r>
            <a:endParaRPr lang="en-US" sz="683" dirty="0"/>
          </a:p>
        </p:txBody>
      </p:sp>
      <p:sp>
        <p:nvSpPr>
          <p:cNvPr id="26" name="Shape 17"/>
          <p:cNvSpPr/>
          <p:nvPr/>
        </p:nvSpPr>
        <p:spPr>
          <a:xfrm>
            <a:off x="4207669" y="1840409"/>
            <a:ext cx="714375" cy="518313"/>
          </a:xfrm>
          <a:prstGeom prst="roundRect">
            <a:avLst/>
          </a:prstGeom>
          <a:solidFill>
            <a:srgbClr val="0A192F"/>
          </a:solidFill>
          <a:ln w="27432">
            <a:solidFill>
              <a:srgbClr val="FFD700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1981" y="1956690"/>
            <a:ext cx="285750" cy="28575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4013978" y="2573034"/>
            <a:ext cx="110175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Enforcement</a:t>
            </a:r>
            <a:endParaRPr lang="en-US" sz="1193" dirty="0"/>
          </a:p>
        </p:txBody>
      </p:sp>
      <p:sp>
        <p:nvSpPr>
          <p:cNvPr id="29" name="Shape 19"/>
          <p:cNvSpPr/>
          <p:nvPr/>
        </p:nvSpPr>
        <p:spPr>
          <a:xfrm>
            <a:off x="3519497" y="2949866"/>
            <a:ext cx="2090747" cy="326827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3797" y="3057023"/>
            <a:ext cx="114300" cy="11430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3883828" y="3043265"/>
            <a:ext cx="1595624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OpAMP Gateway intercepts action</a:t>
            </a:r>
            <a:endParaRPr lang="en-US" sz="727" dirty="0"/>
          </a:p>
        </p:txBody>
      </p:sp>
      <p:sp>
        <p:nvSpPr>
          <p:cNvPr id="32" name="Shape 21"/>
          <p:cNvSpPr/>
          <p:nvPr/>
        </p:nvSpPr>
        <p:spPr>
          <a:xfrm>
            <a:off x="3519497" y="3383849"/>
            <a:ext cx="2090747" cy="451452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9481" y="3553318"/>
            <a:ext cx="142875" cy="11430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3883800" y="3469574"/>
            <a:ext cx="164071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Validates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B0C4DE"/>
                </a:solidFill>
              </a:rPr>
              <a:t>User Role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 against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B0C4DE"/>
                </a:solidFill>
              </a:rPr>
              <a:t>Target</a:t>
            </a:r>
            <a:endParaRPr lang="en-US" sz="727" dirty="0"/>
          </a:p>
        </p:txBody>
      </p:sp>
      <p:sp>
        <p:nvSpPr>
          <p:cNvPr id="35" name="Shape 23"/>
          <p:cNvSpPr/>
          <p:nvPr/>
        </p:nvSpPr>
        <p:spPr>
          <a:xfrm>
            <a:off x="3519497" y="3942457"/>
            <a:ext cx="2090747" cy="326827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55228" y="4049613"/>
            <a:ext cx="71438" cy="11430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3883828" y="4035856"/>
            <a:ext cx="1062437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Allow or Deny decision</a:t>
            </a:r>
            <a:endParaRPr lang="en-US" sz="727" dirty="0"/>
          </a:p>
        </p:txBody>
      </p:sp>
      <p:sp>
        <p:nvSpPr>
          <p:cNvPr id="38" name="Shape 25"/>
          <p:cNvSpPr/>
          <p:nvPr/>
        </p:nvSpPr>
        <p:spPr>
          <a:xfrm>
            <a:off x="6038869" y="1626096"/>
            <a:ext cx="2533659" cy="285750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9" name="Shape 26"/>
          <p:cNvSpPr/>
          <p:nvPr/>
        </p:nvSpPr>
        <p:spPr>
          <a:xfrm>
            <a:off x="7038575" y="1518940"/>
            <a:ext cx="543651" cy="221456"/>
          </a:xfrm>
          <a:prstGeom prst="roundRect">
            <a:avLst/>
          </a:prstGeom>
          <a:solidFill>
            <a:srgbClr val="0A192F"/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0" name="Text 27"/>
          <p:cNvSpPr/>
          <p:nvPr/>
        </p:nvSpPr>
        <p:spPr>
          <a:xfrm>
            <a:off x="7038575" y="1518940"/>
            <a:ext cx="543651" cy="221456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STEP 3</a:t>
            </a:r>
            <a:endParaRPr lang="en-US" sz="683" dirty="0"/>
          </a:p>
        </p:txBody>
      </p:sp>
      <p:sp>
        <p:nvSpPr>
          <p:cNvPr id="41" name="Shape 28"/>
          <p:cNvSpPr/>
          <p:nvPr/>
        </p:nvSpPr>
        <p:spPr>
          <a:xfrm>
            <a:off x="6953213" y="1840409"/>
            <a:ext cx="714375" cy="642938"/>
          </a:xfrm>
          <a:prstGeom prst="roundRect">
            <a:avLst/>
          </a:prstGeom>
          <a:solidFill>
            <a:srgbClr val="0A192F"/>
          </a:solidFill>
          <a:ln w="27432">
            <a:solidFill>
              <a:srgbClr val="32CD32"/>
            </a:solidFill>
            <a:prstDash val="solid"/>
          </a:ln>
        </p:spPr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03244" y="2019002"/>
            <a:ext cx="214313" cy="285750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6868409" y="2697659"/>
            <a:ext cx="88401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Audit Trail</a:t>
            </a:r>
            <a:endParaRPr lang="en-US" sz="1193" dirty="0"/>
          </a:p>
        </p:txBody>
      </p:sp>
      <p:sp>
        <p:nvSpPr>
          <p:cNvPr id="44" name="Shape 30"/>
          <p:cNvSpPr/>
          <p:nvPr/>
        </p:nvSpPr>
        <p:spPr>
          <a:xfrm>
            <a:off x="6262669" y="3074491"/>
            <a:ext cx="2095491" cy="326827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76969" y="3181648"/>
            <a:ext cx="114300" cy="114300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6627000" y="3167890"/>
            <a:ext cx="147591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Logs: Who, What, Where, When</a:t>
            </a:r>
            <a:endParaRPr lang="en-US" sz="727" dirty="0"/>
          </a:p>
        </p:txBody>
      </p:sp>
      <p:sp>
        <p:nvSpPr>
          <p:cNvPr id="47" name="Shape 32"/>
          <p:cNvSpPr/>
          <p:nvPr/>
        </p:nvSpPr>
        <p:spPr>
          <a:xfrm>
            <a:off x="6262669" y="3508474"/>
            <a:ext cx="2095491" cy="326827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4113" y="3615630"/>
            <a:ext cx="100013" cy="114300"/>
          </a:xfrm>
          <a:prstGeom prst="rect">
            <a:avLst/>
          </a:prstGeom>
        </p:spPr>
      </p:pic>
      <p:sp>
        <p:nvSpPr>
          <p:cNvPr id="49" name="Text 33"/>
          <p:cNvSpPr/>
          <p:nvPr/>
        </p:nvSpPr>
        <p:spPr>
          <a:xfrm>
            <a:off x="6627000" y="3601873"/>
            <a:ext cx="123358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Immutable record storage</a:t>
            </a:r>
            <a:endParaRPr lang="en-US" sz="727" dirty="0"/>
          </a:p>
        </p:txBody>
      </p:sp>
      <p:sp>
        <p:nvSpPr>
          <p:cNvPr id="50" name="Shape 34"/>
          <p:cNvSpPr/>
          <p:nvPr/>
        </p:nvSpPr>
        <p:spPr>
          <a:xfrm>
            <a:off x="6262669" y="3942457"/>
            <a:ext cx="2095491" cy="326827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pic>
        <p:nvPicPr>
          <p:cNvPr id="5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76969" y="4049613"/>
            <a:ext cx="114300" cy="114300"/>
          </a:xfrm>
          <a:prstGeom prst="rect">
            <a:avLst/>
          </a:prstGeom>
        </p:spPr>
      </p:pic>
      <p:sp>
        <p:nvSpPr>
          <p:cNvPr id="52" name="Text 35"/>
          <p:cNvSpPr/>
          <p:nvPr/>
        </p:nvSpPr>
        <p:spPr>
          <a:xfrm>
            <a:off x="6627000" y="4035856"/>
            <a:ext cx="147730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Available for compliance review</a:t>
            </a:r>
            <a:endParaRPr lang="en-US" sz="727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518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66192"/>
            <a:ext cx="80010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2811763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JIT &amp; Break Glass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109067"/>
            <a:ext cx="80010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0C4DE"/>
                </a:solidFill>
              </a:rPr>
              <a:t>Zero Standing Privileges is the standard. Elevation follows strict protocols.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377" y="1446609"/>
            <a:ext cx="257175" cy="342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81597" y="1860947"/>
            <a:ext cx="1376707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spc="1" kern="0" dirty="0">
                <a:solidFill>
                  <a:srgbClr val="00BFFF"/>
                </a:solidFill>
              </a:rPr>
              <a:t>Just-In-Time</a:t>
            </a:r>
            <a:endParaRPr lang="en-US" sz="1397" dirty="0"/>
          </a:p>
        </p:txBody>
      </p:sp>
      <p:sp>
        <p:nvSpPr>
          <p:cNvPr id="9" name="Text 5"/>
          <p:cNvSpPr/>
          <p:nvPr/>
        </p:nvSpPr>
        <p:spPr>
          <a:xfrm>
            <a:off x="1101840" y="2191345"/>
            <a:ext cx="293624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Standard workflow for maintenance &amp; troubleshooting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714375" y="2432447"/>
            <a:ext cx="3711178" cy="45362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714375" y="2432447"/>
            <a:ext cx="21431" cy="453628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12" name="Text 8"/>
          <p:cNvSpPr/>
          <p:nvPr/>
        </p:nvSpPr>
        <p:spPr>
          <a:xfrm>
            <a:off x="800100" y="2542282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>
                    <a:alpha val="30000"/>
                  </a:srgbClr>
                </a:solidFill>
              </a:rPr>
              <a:t>01</a:t>
            </a:r>
            <a:endParaRPr lang="en-US" sz="1193" dirty="0"/>
          </a:p>
        </p:txBody>
      </p:sp>
      <p:sp>
        <p:nvSpPr>
          <p:cNvPr id="13" name="Text 9"/>
          <p:cNvSpPr/>
          <p:nvPr/>
        </p:nvSpPr>
        <p:spPr>
          <a:xfrm>
            <a:off x="1128713" y="2489597"/>
            <a:ext cx="32111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Request Access</a:t>
            </a:r>
            <a:endParaRPr lang="en-US" sz="885" dirty="0"/>
          </a:p>
        </p:txBody>
      </p:sp>
      <p:sp>
        <p:nvSpPr>
          <p:cNvPr id="14" name="Text 10"/>
          <p:cNvSpPr/>
          <p:nvPr/>
        </p:nvSpPr>
        <p:spPr>
          <a:xfrm>
            <a:off x="1128713" y="2693194"/>
            <a:ext cx="32111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Specify Role, Agent, Resource &amp; Duration</a:t>
            </a:r>
            <a:endParaRPr lang="en-US" sz="727" dirty="0"/>
          </a:p>
        </p:txBody>
      </p:sp>
      <p:sp>
        <p:nvSpPr>
          <p:cNvPr id="15" name="Shape 11"/>
          <p:cNvSpPr/>
          <p:nvPr/>
        </p:nvSpPr>
        <p:spPr>
          <a:xfrm>
            <a:off x="714375" y="2957513"/>
            <a:ext cx="3711178" cy="45362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714375" y="2957513"/>
            <a:ext cx="21431" cy="453628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17" name="Text 13"/>
          <p:cNvSpPr/>
          <p:nvPr/>
        </p:nvSpPr>
        <p:spPr>
          <a:xfrm>
            <a:off x="800100" y="3067348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>
                    <a:alpha val="30000"/>
                  </a:srgbClr>
                </a:solidFill>
              </a:rPr>
              <a:t>02</a:t>
            </a:r>
            <a:endParaRPr lang="en-US" sz="1193" dirty="0"/>
          </a:p>
        </p:txBody>
      </p:sp>
      <p:sp>
        <p:nvSpPr>
          <p:cNvPr id="18" name="Text 14"/>
          <p:cNvSpPr/>
          <p:nvPr/>
        </p:nvSpPr>
        <p:spPr>
          <a:xfrm>
            <a:off x="1128713" y="3014663"/>
            <a:ext cx="32111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Approval</a:t>
            </a:r>
            <a:endParaRPr lang="en-US" sz="885" dirty="0"/>
          </a:p>
        </p:txBody>
      </p:sp>
      <p:sp>
        <p:nvSpPr>
          <p:cNvPr id="19" name="Text 15"/>
          <p:cNvSpPr/>
          <p:nvPr/>
        </p:nvSpPr>
        <p:spPr>
          <a:xfrm>
            <a:off x="1128713" y="3218259"/>
            <a:ext cx="32111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Automated policy check or Manager approval</a:t>
            </a:r>
            <a:endParaRPr lang="en-US" sz="727" dirty="0"/>
          </a:p>
        </p:txBody>
      </p:sp>
      <p:sp>
        <p:nvSpPr>
          <p:cNvPr id="20" name="Shape 16"/>
          <p:cNvSpPr/>
          <p:nvPr/>
        </p:nvSpPr>
        <p:spPr>
          <a:xfrm>
            <a:off x="714375" y="3482578"/>
            <a:ext cx="3711178" cy="45362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714375" y="3482578"/>
            <a:ext cx="21431" cy="453628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22" name="Text 18"/>
          <p:cNvSpPr/>
          <p:nvPr/>
        </p:nvSpPr>
        <p:spPr>
          <a:xfrm>
            <a:off x="800100" y="3592413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>
                    <a:alpha val="30000"/>
                  </a:srgbClr>
                </a:solidFill>
              </a:rPr>
              <a:t>03</a:t>
            </a:r>
            <a:endParaRPr lang="en-US" sz="1193" dirty="0"/>
          </a:p>
        </p:txBody>
      </p:sp>
      <p:sp>
        <p:nvSpPr>
          <p:cNvPr id="23" name="Text 19"/>
          <p:cNvSpPr/>
          <p:nvPr/>
        </p:nvSpPr>
        <p:spPr>
          <a:xfrm>
            <a:off x="1128713" y="3539728"/>
            <a:ext cx="32111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Elevation</a:t>
            </a:r>
            <a:endParaRPr lang="en-US" sz="885" dirty="0"/>
          </a:p>
        </p:txBody>
      </p:sp>
      <p:sp>
        <p:nvSpPr>
          <p:cNvPr id="24" name="Text 20"/>
          <p:cNvSpPr/>
          <p:nvPr/>
        </p:nvSpPr>
        <p:spPr>
          <a:xfrm>
            <a:off x="1128713" y="3743325"/>
            <a:ext cx="32111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Temporary certificate issued (Max 4 hours)</a:t>
            </a:r>
            <a:endParaRPr lang="en-US" sz="727" dirty="0"/>
          </a:p>
        </p:txBody>
      </p:sp>
      <p:sp>
        <p:nvSpPr>
          <p:cNvPr id="25" name="Shape 21"/>
          <p:cNvSpPr/>
          <p:nvPr/>
        </p:nvSpPr>
        <p:spPr>
          <a:xfrm>
            <a:off x="714375" y="4007644"/>
            <a:ext cx="3711178" cy="45362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6" name="Shape 22"/>
          <p:cNvSpPr/>
          <p:nvPr/>
        </p:nvSpPr>
        <p:spPr>
          <a:xfrm>
            <a:off x="714375" y="4007644"/>
            <a:ext cx="21431" cy="453628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27" name="Text 23"/>
          <p:cNvSpPr/>
          <p:nvPr/>
        </p:nvSpPr>
        <p:spPr>
          <a:xfrm>
            <a:off x="800100" y="4117479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>
                    <a:alpha val="30000"/>
                  </a:srgbClr>
                </a:solidFill>
              </a:rPr>
              <a:t>04</a:t>
            </a:r>
            <a:endParaRPr lang="en-US" sz="1193" dirty="0"/>
          </a:p>
        </p:txBody>
      </p:sp>
      <p:sp>
        <p:nvSpPr>
          <p:cNvPr id="28" name="Text 24"/>
          <p:cNvSpPr/>
          <p:nvPr/>
        </p:nvSpPr>
        <p:spPr>
          <a:xfrm>
            <a:off x="1128713" y="4064794"/>
            <a:ext cx="32111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Revocation</a:t>
            </a:r>
            <a:endParaRPr lang="en-US" sz="885" dirty="0"/>
          </a:p>
        </p:txBody>
      </p:sp>
      <p:sp>
        <p:nvSpPr>
          <p:cNvPr id="29" name="Text 25"/>
          <p:cNvSpPr/>
          <p:nvPr/>
        </p:nvSpPr>
        <p:spPr>
          <a:xfrm>
            <a:off x="1128713" y="4268391"/>
            <a:ext cx="32111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Access automatically expires. No cleanup needed.</a:t>
            </a:r>
            <a:endParaRPr lang="en-US" sz="727" dirty="0"/>
          </a:p>
        </p:txBody>
      </p:sp>
      <p:sp>
        <p:nvSpPr>
          <p:cNvPr id="30" name="Shape 26"/>
          <p:cNvSpPr/>
          <p:nvPr/>
        </p:nvSpPr>
        <p:spPr>
          <a:xfrm>
            <a:off x="714375" y="4575572"/>
            <a:ext cx="3711178" cy="328613"/>
          </a:xfrm>
          <a:prstGeom prst="rect">
            <a:avLst/>
          </a:prstGeom>
          <a:solidFill>
            <a:srgbClr val="00BFFF">
              <a:alpha val="10000"/>
            </a:srgbClr>
          </a:solidFill>
          <a:ln w="9144">
            <a:solidFill>
              <a:srgbClr val="00BFFF">
                <a:alpha val="30000"/>
              </a:srgbClr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4661297"/>
            <a:ext cx="142875" cy="142875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028700" y="4664869"/>
            <a:ext cx="115695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BFFF"/>
                </a:solidFill>
              </a:rPr>
              <a:t>Standard Audit Logging</a:t>
            </a:r>
            <a:endParaRPr lang="en-US" sz="683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2558" y="1446609"/>
            <a:ext cx="342900" cy="3429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875930" y="1860947"/>
            <a:ext cx="1396157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spc="1" kern="0" dirty="0">
                <a:solidFill>
                  <a:srgbClr val="FF6B35"/>
                </a:solidFill>
              </a:rPr>
              <a:t>Break Glass</a:t>
            </a:r>
            <a:endParaRPr lang="en-US" sz="1397" dirty="0"/>
          </a:p>
        </p:txBody>
      </p:sp>
      <p:sp>
        <p:nvSpPr>
          <p:cNvPr id="35" name="Text 29"/>
          <p:cNvSpPr/>
          <p:nvPr/>
        </p:nvSpPr>
        <p:spPr>
          <a:xfrm>
            <a:off x="5559149" y="2191345"/>
            <a:ext cx="202974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Emergency bypass for critical outages</a:t>
            </a:r>
            <a:endParaRPr lang="en-US" sz="834" dirty="0"/>
          </a:p>
        </p:txBody>
      </p:sp>
      <p:sp>
        <p:nvSpPr>
          <p:cNvPr id="36" name="Shape 30"/>
          <p:cNvSpPr/>
          <p:nvPr/>
        </p:nvSpPr>
        <p:spPr>
          <a:xfrm>
            <a:off x="4718447" y="2432447"/>
            <a:ext cx="3711178" cy="45362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37" name="Shape 31"/>
          <p:cNvSpPr/>
          <p:nvPr/>
        </p:nvSpPr>
        <p:spPr>
          <a:xfrm>
            <a:off x="4718447" y="2432447"/>
            <a:ext cx="21431" cy="4536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8" name="Text 32"/>
          <p:cNvSpPr/>
          <p:nvPr/>
        </p:nvSpPr>
        <p:spPr>
          <a:xfrm>
            <a:off x="4804172" y="2542282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>
                    <a:alpha val="30000"/>
                  </a:srgbClr>
                </a:solidFill>
              </a:rPr>
              <a:t>01</a:t>
            </a:r>
            <a:endParaRPr lang="en-US" sz="1193" dirty="0"/>
          </a:p>
        </p:txBody>
      </p:sp>
      <p:sp>
        <p:nvSpPr>
          <p:cNvPr id="39" name="Text 33"/>
          <p:cNvSpPr/>
          <p:nvPr/>
        </p:nvSpPr>
        <p:spPr>
          <a:xfrm>
            <a:off x="5132784" y="2489597"/>
            <a:ext cx="32111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Declare Incident</a:t>
            </a:r>
            <a:endParaRPr lang="en-US" sz="885" dirty="0"/>
          </a:p>
        </p:txBody>
      </p:sp>
      <p:sp>
        <p:nvSpPr>
          <p:cNvPr id="40" name="Text 34"/>
          <p:cNvSpPr/>
          <p:nvPr/>
        </p:nvSpPr>
        <p:spPr>
          <a:xfrm>
            <a:off x="5132784" y="2693194"/>
            <a:ext cx="32111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Select "Emergency" in All Access portal</a:t>
            </a:r>
            <a:endParaRPr lang="en-US" sz="727" dirty="0"/>
          </a:p>
        </p:txBody>
      </p:sp>
      <p:sp>
        <p:nvSpPr>
          <p:cNvPr id="41" name="Shape 35"/>
          <p:cNvSpPr/>
          <p:nvPr/>
        </p:nvSpPr>
        <p:spPr>
          <a:xfrm>
            <a:off x="4718447" y="2957513"/>
            <a:ext cx="3711178" cy="45362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42" name="Shape 36"/>
          <p:cNvSpPr/>
          <p:nvPr/>
        </p:nvSpPr>
        <p:spPr>
          <a:xfrm>
            <a:off x="4718447" y="2957513"/>
            <a:ext cx="21431" cy="4536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3" name="Text 37"/>
          <p:cNvSpPr/>
          <p:nvPr/>
        </p:nvSpPr>
        <p:spPr>
          <a:xfrm>
            <a:off x="4804172" y="3067348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>
                    <a:alpha val="30000"/>
                  </a:srgbClr>
                </a:solidFill>
              </a:rPr>
              <a:t>02</a:t>
            </a:r>
            <a:endParaRPr lang="en-US" sz="1193" dirty="0"/>
          </a:p>
        </p:txBody>
      </p:sp>
      <p:sp>
        <p:nvSpPr>
          <p:cNvPr id="44" name="Text 38"/>
          <p:cNvSpPr/>
          <p:nvPr/>
        </p:nvSpPr>
        <p:spPr>
          <a:xfrm>
            <a:off x="5132784" y="3014663"/>
            <a:ext cx="32111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Bypass Approval</a:t>
            </a:r>
            <a:endParaRPr lang="en-US" sz="885" dirty="0"/>
          </a:p>
        </p:txBody>
      </p:sp>
      <p:sp>
        <p:nvSpPr>
          <p:cNvPr id="45" name="Text 39"/>
          <p:cNvSpPr/>
          <p:nvPr/>
        </p:nvSpPr>
        <p:spPr>
          <a:xfrm>
            <a:off x="5132784" y="3218259"/>
            <a:ext cx="32111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Skips manager approval to save time</a:t>
            </a:r>
            <a:endParaRPr lang="en-US" sz="727" dirty="0"/>
          </a:p>
        </p:txBody>
      </p:sp>
      <p:sp>
        <p:nvSpPr>
          <p:cNvPr id="46" name="Shape 40"/>
          <p:cNvSpPr/>
          <p:nvPr/>
        </p:nvSpPr>
        <p:spPr>
          <a:xfrm>
            <a:off x="4718447" y="3482578"/>
            <a:ext cx="3711178" cy="45362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47" name="Shape 41"/>
          <p:cNvSpPr/>
          <p:nvPr/>
        </p:nvSpPr>
        <p:spPr>
          <a:xfrm>
            <a:off x="4718447" y="3482578"/>
            <a:ext cx="21431" cy="4536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8" name="Text 42"/>
          <p:cNvSpPr/>
          <p:nvPr/>
        </p:nvSpPr>
        <p:spPr>
          <a:xfrm>
            <a:off x="4804172" y="3592413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>
                    <a:alpha val="30000"/>
                  </a:srgbClr>
                </a:solidFill>
              </a:rPr>
              <a:t>03</a:t>
            </a:r>
            <a:endParaRPr lang="en-US" sz="1193" dirty="0"/>
          </a:p>
        </p:txBody>
      </p:sp>
      <p:sp>
        <p:nvSpPr>
          <p:cNvPr id="49" name="Text 43"/>
          <p:cNvSpPr/>
          <p:nvPr/>
        </p:nvSpPr>
        <p:spPr>
          <a:xfrm>
            <a:off x="5132784" y="3539728"/>
            <a:ext cx="32111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Verify Identity</a:t>
            </a:r>
            <a:endParaRPr lang="en-US" sz="885" dirty="0"/>
          </a:p>
        </p:txBody>
      </p:sp>
      <p:sp>
        <p:nvSpPr>
          <p:cNvPr id="50" name="Text 44"/>
          <p:cNvSpPr/>
          <p:nvPr/>
        </p:nvSpPr>
        <p:spPr>
          <a:xfrm>
            <a:off x="5132784" y="3743325"/>
            <a:ext cx="32111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Mandatory MFA + Peer Verification (2-person rule)</a:t>
            </a:r>
            <a:endParaRPr lang="en-US" sz="727" dirty="0"/>
          </a:p>
        </p:txBody>
      </p:sp>
      <p:sp>
        <p:nvSpPr>
          <p:cNvPr id="51" name="Shape 45"/>
          <p:cNvSpPr/>
          <p:nvPr/>
        </p:nvSpPr>
        <p:spPr>
          <a:xfrm>
            <a:off x="4718447" y="4007644"/>
            <a:ext cx="3711178" cy="45362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52" name="Shape 46"/>
          <p:cNvSpPr/>
          <p:nvPr/>
        </p:nvSpPr>
        <p:spPr>
          <a:xfrm>
            <a:off x="4718447" y="4007644"/>
            <a:ext cx="21431" cy="4536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3" name="Text 47"/>
          <p:cNvSpPr/>
          <p:nvPr/>
        </p:nvSpPr>
        <p:spPr>
          <a:xfrm>
            <a:off x="4804172" y="4117479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>
                    <a:alpha val="30000"/>
                  </a:srgbClr>
                </a:solidFill>
              </a:rPr>
              <a:t>04</a:t>
            </a:r>
            <a:endParaRPr lang="en-US" sz="1193" dirty="0"/>
          </a:p>
        </p:txBody>
      </p:sp>
      <p:sp>
        <p:nvSpPr>
          <p:cNvPr id="54" name="Text 48"/>
          <p:cNvSpPr/>
          <p:nvPr/>
        </p:nvSpPr>
        <p:spPr>
          <a:xfrm>
            <a:off x="5132784" y="4064794"/>
            <a:ext cx="32111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Full Access</a:t>
            </a:r>
            <a:endParaRPr lang="en-US" sz="885" dirty="0"/>
          </a:p>
        </p:txBody>
      </p:sp>
      <p:sp>
        <p:nvSpPr>
          <p:cNvPr id="55" name="Text 49"/>
          <p:cNvSpPr/>
          <p:nvPr/>
        </p:nvSpPr>
        <p:spPr>
          <a:xfrm>
            <a:off x="5132784" y="4268391"/>
            <a:ext cx="32111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Unrestricted Admin Role granted immediately</a:t>
            </a:r>
            <a:endParaRPr lang="en-US" sz="727" dirty="0"/>
          </a:p>
        </p:txBody>
      </p:sp>
      <p:sp>
        <p:nvSpPr>
          <p:cNvPr id="56" name="Shape 50"/>
          <p:cNvSpPr/>
          <p:nvPr/>
        </p:nvSpPr>
        <p:spPr>
          <a:xfrm>
            <a:off x="4718447" y="4575572"/>
            <a:ext cx="3711178" cy="328613"/>
          </a:xfrm>
          <a:prstGeom prst="rect">
            <a:avLst/>
          </a:prstGeom>
          <a:solidFill>
            <a:srgbClr val="FF6B35">
              <a:alpha val="10000"/>
            </a:srgbClr>
          </a:solidFill>
          <a:ln w="9144">
            <a:solidFill>
              <a:srgbClr val="FF6B35">
                <a:alpha val="30000"/>
              </a:srgbClr>
            </a:solidFill>
            <a:prstDash val="solid"/>
          </a:ln>
        </p:spPr>
      </p:sp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4172" y="4661297"/>
            <a:ext cx="125016" cy="142875"/>
          </a:xfrm>
          <a:prstGeom prst="rect">
            <a:avLst/>
          </a:prstGeom>
        </p:spPr>
      </p:pic>
      <p:sp>
        <p:nvSpPr>
          <p:cNvPr id="58" name="Text 51"/>
          <p:cNvSpPr/>
          <p:nvPr/>
        </p:nvSpPr>
        <p:spPr>
          <a:xfrm>
            <a:off x="5014913" y="4664869"/>
            <a:ext cx="246132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PagerDuty Alert to Security + Post-Incident Review</a:t>
            </a:r>
            <a:endParaRPr lang="en-US" sz="68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518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66192"/>
            <a:ext cx="80010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334723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Audit &amp; Governance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109067"/>
            <a:ext cx="4634871" cy="3703393"/>
          </a:xfrm>
          <a:prstGeom prst="rect">
            <a:avLst/>
          </a:prstGeom>
          <a:solidFill>
            <a:srgbClr val="112240"/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1500" y="1109067"/>
            <a:ext cx="4629150" cy="294680"/>
          </a:xfrm>
          <a:prstGeom prst="rect">
            <a:avLst/>
          </a:prstGeom>
          <a:solidFill>
            <a:srgbClr val="051020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396603"/>
            <a:ext cx="462915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185863" y="1194792"/>
            <a:ext cx="89257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C6D85"/>
                </a:solidFill>
              </a:rPr>
              <a:t>audit_event_2025.json</a:t>
            </a:r>
            <a:endParaRPr lang="en-US" sz="621" dirty="0"/>
          </a:p>
        </p:txBody>
      </p:sp>
      <p:sp>
        <p:nvSpPr>
          <p:cNvPr id="10" name="Text 7"/>
          <p:cNvSpPr/>
          <p:nvPr/>
        </p:nvSpPr>
        <p:spPr>
          <a:xfrm>
            <a:off x="571500" y="1396603"/>
            <a:ext cx="4629150" cy="339442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{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BFFF"/>
                </a:solidFill>
              </a:rPr>
              <a:t>"timestamp"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: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2CD32"/>
                </a:solidFill>
              </a:rPr>
              <a:t>"2025-12-12T14:30:05Z"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,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BFFF"/>
                </a:solidFill>
              </a:rPr>
              <a:t>"event_id"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: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2CD32"/>
                </a:solidFill>
              </a:rPr>
              <a:t>"evt_982374"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,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BFFF"/>
                </a:solidFill>
              </a:rPr>
              <a:t>"actor"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: {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BFFF"/>
                </a:solidFill>
              </a:rPr>
              <a:t>"user"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: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2CD32"/>
                </a:solidFill>
              </a:rPr>
              <a:t>"alice@company.com"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,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BFFF"/>
                </a:solidFill>
              </a:rPr>
              <a:t>"role"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: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2CD32"/>
                </a:solidFill>
              </a:rPr>
              <a:t>"ProductionSupport"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,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BFFF"/>
                </a:solidFill>
              </a:rPr>
              <a:t>"mfa_verified"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: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6B35"/>
                </a:solidFill>
              </a:rPr>
              <a:t>true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 },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BFFF"/>
                </a:solidFill>
              </a:rPr>
              <a:t>"action"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: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2CD32"/>
                </a:solidFill>
              </a:rPr>
              <a:t>"agent.restart"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,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BFFF"/>
                </a:solidFill>
              </a:rPr>
              <a:t>"target"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: {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BFFF"/>
                </a:solidFill>
              </a:rPr>
              <a:t>"agent"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: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2CD32"/>
                </a:solidFill>
              </a:rPr>
              <a:t>"osquery"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,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BFFF"/>
                </a:solidFill>
              </a:rPr>
              <a:t>"host"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: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2CD32"/>
                </a:solidFill>
              </a:rPr>
              <a:t>"i-0123456789abcdef0"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,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BFFF"/>
                </a:solidFill>
              </a:rPr>
              <a:t>"region"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: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2CD32"/>
                </a:solidFill>
              </a:rPr>
              <a:t>"us-east-1"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 },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BFFF"/>
                </a:solidFill>
              </a:rPr>
              <a:t>"result"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: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2CD32"/>
                </a:solidFill>
              </a:rPr>
              <a:t>"SUCCESS"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,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BFFF"/>
                </a:solidFill>
              </a:rPr>
              <a:t>"latency_ms"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: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D700"/>
                </a:solidFill>
              </a:rPr>
              <a:t>45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F1FF"/>
                </a:solidFill>
              </a:rPr>
              <a:t> }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5486400" y="1109067"/>
            <a:ext cx="1493044" cy="1098686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0" y="1109067"/>
            <a:ext cx="28575" cy="1098686"/>
          </a:xfrm>
          <a:prstGeom prst="rect">
            <a:avLst/>
          </a:prstGeom>
          <a:solidFill>
            <a:srgbClr val="00B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413" y="1253728"/>
            <a:ext cx="176808" cy="15716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48945" y="1209080"/>
            <a:ext cx="1030486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Immutable Storage</a:t>
            </a:r>
            <a:endParaRPr lang="en-US" sz="885" dirty="0"/>
          </a:p>
        </p:txBody>
      </p:sp>
      <p:sp>
        <p:nvSpPr>
          <p:cNvPr id="15" name="Text 11"/>
          <p:cNvSpPr/>
          <p:nvPr/>
        </p:nvSpPr>
        <p:spPr>
          <a:xfrm>
            <a:off x="5848945" y="1587698"/>
            <a:ext cx="1030486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Logs shipped to S3 Object Lock buckets with WORM protection.</a:t>
            </a:r>
            <a:endParaRPr lang="en-US" sz="727" dirty="0"/>
          </a:p>
        </p:txBody>
      </p:sp>
      <p:sp>
        <p:nvSpPr>
          <p:cNvPr id="16" name="Shape 12"/>
          <p:cNvSpPr/>
          <p:nvPr/>
        </p:nvSpPr>
        <p:spPr>
          <a:xfrm>
            <a:off x="7079456" y="1109067"/>
            <a:ext cx="1493044" cy="1098686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7079456" y="1109067"/>
            <a:ext cx="28575" cy="1098686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469" y="1253728"/>
            <a:ext cx="157163" cy="15716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422356" y="1209080"/>
            <a:ext cx="10501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Retention Policy</a:t>
            </a:r>
            <a:endParaRPr lang="en-US" sz="885" dirty="0"/>
          </a:p>
        </p:txBody>
      </p:sp>
      <p:sp>
        <p:nvSpPr>
          <p:cNvPr id="20" name="Text 15"/>
          <p:cNvSpPr/>
          <p:nvPr/>
        </p:nvSpPr>
        <p:spPr>
          <a:xfrm>
            <a:off x="7422356" y="1412677"/>
            <a:ext cx="1050131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1 year hot, 7 years cold for regulatory compliance (PCI/HIPAA).</a:t>
            </a:r>
            <a:endParaRPr lang="en-US" sz="727" dirty="0"/>
          </a:p>
        </p:txBody>
      </p:sp>
      <p:sp>
        <p:nvSpPr>
          <p:cNvPr id="21" name="Shape 16"/>
          <p:cNvSpPr/>
          <p:nvPr/>
        </p:nvSpPr>
        <p:spPr>
          <a:xfrm>
            <a:off x="5486400" y="2307766"/>
            <a:ext cx="1493044" cy="1098686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5486400" y="2307766"/>
            <a:ext cx="28575" cy="1098686"/>
          </a:xfrm>
          <a:prstGeom prst="rect">
            <a:avLst/>
          </a:prstGeom>
          <a:solidFill>
            <a:srgbClr val="32CD3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413" y="2452427"/>
            <a:ext cx="157163" cy="15716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829300" y="2407779"/>
            <a:ext cx="1050131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SIEM Integration</a:t>
            </a:r>
            <a:endParaRPr lang="en-US" sz="885" dirty="0"/>
          </a:p>
        </p:txBody>
      </p:sp>
      <p:sp>
        <p:nvSpPr>
          <p:cNvPr id="25" name="Text 19"/>
          <p:cNvSpPr/>
          <p:nvPr/>
        </p:nvSpPr>
        <p:spPr>
          <a:xfrm>
            <a:off x="5829300" y="2786397"/>
            <a:ext cx="1050131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Real-time forwarding to Splunk/Sentinel; correlate agent actions.</a:t>
            </a:r>
            <a:endParaRPr lang="en-US" sz="727" dirty="0"/>
          </a:p>
        </p:txBody>
      </p:sp>
      <p:sp>
        <p:nvSpPr>
          <p:cNvPr id="26" name="Shape 20"/>
          <p:cNvSpPr/>
          <p:nvPr/>
        </p:nvSpPr>
        <p:spPr>
          <a:xfrm>
            <a:off x="7079456" y="2307766"/>
            <a:ext cx="1493044" cy="92366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7" name="Shape 21"/>
          <p:cNvSpPr/>
          <p:nvPr/>
        </p:nvSpPr>
        <p:spPr>
          <a:xfrm>
            <a:off x="7079456" y="2307766"/>
            <a:ext cx="28575" cy="923665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469" y="2452427"/>
            <a:ext cx="117872" cy="15716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383066" y="2407779"/>
            <a:ext cx="108942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Audit Ready</a:t>
            </a:r>
            <a:endParaRPr lang="en-US" sz="885" dirty="0"/>
          </a:p>
        </p:txBody>
      </p:sp>
      <p:sp>
        <p:nvSpPr>
          <p:cNvPr id="30" name="Text 23"/>
          <p:cNvSpPr/>
          <p:nvPr/>
        </p:nvSpPr>
        <p:spPr>
          <a:xfrm>
            <a:off x="7383066" y="2611375"/>
            <a:ext cx="1089422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Pre-built reports for SOC 2 Type II; "who changed what" answered fast.</a:t>
            </a:r>
            <a:endParaRPr lang="en-US" sz="727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3508949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OSQuery Integration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853803"/>
            <a:ext cx="428625" cy="428625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BFFF">
                <a:alpha val="30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02" y="1968103"/>
            <a:ext cx="175022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1853803"/>
            <a:ext cx="32146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Query Packs Management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1143000" y="2144911"/>
            <a:ext cx="32146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Distribute curated SQL query packs for CIS benchmarks, vulnerability scanning, and incident response.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571500" y="2702123"/>
            <a:ext cx="428625" cy="428625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D700">
                <a:alpha val="3000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97" y="2816423"/>
            <a:ext cx="250031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2702123"/>
            <a:ext cx="32146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Configuration Control</a:t>
            </a:r>
            <a:endParaRPr lang="en-US" sz="1193" dirty="0"/>
          </a:p>
        </p:txBody>
      </p:sp>
      <p:sp>
        <p:nvSpPr>
          <p:cNvPr id="13" name="Text 8"/>
          <p:cNvSpPr/>
          <p:nvPr/>
        </p:nvSpPr>
        <p:spPr>
          <a:xfrm>
            <a:off x="1143000" y="2993231"/>
            <a:ext cx="32146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Manage flags, decorators, and File Integrity Monitoring (FIM) paths via centralized OpAMP templates.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571500" y="3550444"/>
            <a:ext cx="428625" cy="428625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32CD32">
                <a:alpha val="3000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98" y="3664744"/>
            <a:ext cx="225028" cy="2000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3550444"/>
            <a:ext cx="32146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Health Monitoring</a:t>
            </a:r>
            <a:endParaRPr lang="en-US" sz="1193" dirty="0"/>
          </a:p>
        </p:txBody>
      </p:sp>
      <p:sp>
        <p:nvSpPr>
          <p:cNvPr id="17" name="Text 11"/>
          <p:cNvSpPr/>
          <p:nvPr/>
        </p:nvSpPr>
        <p:spPr>
          <a:xfrm>
            <a:off x="1143000" y="3841552"/>
            <a:ext cx="32146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Enforce watchdog limits on memory and CPU usage. Auto-restart on hang or crash.</a:t>
            </a:r>
            <a:endParaRPr lang="en-US" sz="834" dirty="0"/>
          </a:p>
        </p:txBody>
      </p:sp>
      <p:sp>
        <p:nvSpPr>
          <p:cNvPr id="18" name="Shape 12"/>
          <p:cNvSpPr/>
          <p:nvPr/>
        </p:nvSpPr>
        <p:spPr>
          <a:xfrm>
            <a:off x="4786313" y="1344699"/>
            <a:ext cx="3786188" cy="3348828"/>
          </a:xfrm>
          <a:prstGeom prst="rect">
            <a:avLst/>
          </a:prstGeom>
          <a:solidFill>
            <a:srgbClr val="112240"/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786313" y="1351843"/>
            <a:ext cx="3786188" cy="307181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0" name="Shape 14"/>
          <p:cNvSpPr/>
          <p:nvPr/>
        </p:nvSpPr>
        <p:spPr>
          <a:xfrm>
            <a:off x="4786313" y="1651881"/>
            <a:ext cx="3786188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5"/>
          <p:cNvSpPr/>
          <p:nvPr/>
        </p:nvSpPr>
        <p:spPr>
          <a:xfrm>
            <a:off x="4964906" y="1844762"/>
            <a:ext cx="15176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C6773"/>
                </a:solidFill>
              </a:rPr>
              <a:t># OpAMP Configuration Payload</a:t>
            </a:r>
            <a:endParaRPr lang="en-US" sz="727" dirty="0"/>
          </a:p>
        </p:txBody>
      </p:sp>
      <p:sp>
        <p:nvSpPr>
          <p:cNvPr id="22" name="Text 16"/>
          <p:cNvSpPr/>
          <p:nvPr/>
        </p:nvSpPr>
        <p:spPr>
          <a:xfrm>
            <a:off x="4964906" y="1994055"/>
            <a:ext cx="34290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6F1FF"/>
                </a:solidFill>
              </a:rPr>
              <a:t>{</a:t>
            </a:r>
            <a:endParaRPr lang="en-US" sz="727" dirty="0"/>
          </a:p>
        </p:txBody>
      </p:sp>
      <p:sp>
        <p:nvSpPr>
          <p:cNvPr id="23" name="Text 17"/>
          <p:cNvSpPr/>
          <p:nvPr/>
        </p:nvSpPr>
        <p:spPr>
          <a:xfrm>
            <a:off x="4964906" y="2154064"/>
            <a:ext cx="34290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00BFFF"/>
                </a:solidFill>
              </a:rPr>
              <a:t>"options"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6F1FF"/>
                </a:solidFill>
              </a:rPr>
              <a:t>: {</a:t>
            </a:r>
            <a:endParaRPr lang="en-US" sz="727" dirty="0"/>
          </a:p>
        </p:txBody>
      </p:sp>
      <p:sp>
        <p:nvSpPr>
          <p:cNvPr id="24" name="Text 18"/>
          <p:cNvSpPr/>
          <p:nvPr/>
        </p:nvSpPr>
        <p:spPr>
          <a:xfrm>
            <a:off x="4964906" y="2314073"/>
            <a:ext cx="34290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00BFFF"/>
                </a:solidFill>
              </a:rPr>
              <a:t>"config_plugin"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6F1FF"/>
                </a:solidFill>
              </a:rPr>
              <a:t>: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2CD32"/>
                </a:solidFill>
              </a:rPr>
              <a:t>"filesystem"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6F1FF"/>
                </a:solidFill>
              </a:rPr>
              <a:t>,</a:t>
            </a:r>
            <a:endParaRPr lang="en-US" sz="727" dirty="0"/>
          </a:p>
        </p:txBody>
      </p:sp>
      <p:sp>
        <p:nvSpPr>
          <p:cNvPr id="25" name="Text 19"/>
          <p:cNvSpPr/>
          <p:nvPr/>
        </p:nvSpPr>
        <p:spPr>
          <a:xfrm>
            <a:off x="4964906" y="2474082"/>
            <a:ext cx="34290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00BFFF"/>
                </a:solidFill>
              </a:rPr>
              <a:t>"logger_plugin"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6F1FF"/>
                </a:solidFill>
              </a:rPr>
              <a:t>: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2CD32"/>
                </a:solidFill>
              </a:rPr>
              <a:t>"filesystem"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6F1FF"/>
                </a:solidFill>
              </a:rPr>
              <a:t>,</a:t>
            </a:r>
            <a:endParaRPr lang="en-US" sz="727" dirty="0"/>
          </a:p>
        </p:txBody>
      </p:sp>
      <p:sp>
        <p:nvSpPr>
          <p:cNvPr id="26" name="Text 20"/>
          <p:cNvSpPr/>
          <p:nvPr/>
        </p:nvSpPr>
        <p:spPr>
          <a:xfrm>
            <a:off x="4964906" y="2634090"/>
            <a:ext cx="34290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00BFFF"/>
                </a:solidFill>
              </a:rPr>
              <a:t>"watchdog_memory_limit"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6F1FF"/>
                </a:solidFill>
              </a:rPr>
              <a:t>: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FFD700"/>
                </a:solidFill>
              </a:rPr>
              <a:t>200</a:t>
            </a:r>
            <a:endParaRPr lang="en-US" sz="727" dirty="0"/>
          </a:p>
        </p:txBody>
      </p:sp>
      <p:sp>
        <p:nvSpPr>
          <p:cNvPr id="27" name="Text 21"/>
          <p:cNvSpPr/>
          <p:nvPr/>
        </p:nvSpPr>
        <p:spPr>
          <a:xfrm>
            <a:off x="4964906" y="2794099"/>
            <a:ext cx="34290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6F1FF"/>
                </a:solidFill>
              </a:rPr>
              <a:t>},</a:t>
            </a:r>
            <a:endParaRPr lang="en-US" sz="727" dirty="0"/>
          </a:p>
        </p:txBody>
      </p:sp>
      <p:sp>
        <p:nvSpPr>
          <p:cNvPr id="28" name="Text 22"/>
          <p:cNvSpPr/>
          <p:nvPr/>
        </p:nvSpPr>
        <p:spPr>
          <a:xfrm>
            <a:off x="4964906" y="2954108"/>
            <a:ext cx="34290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00BFFF"/>
                </a:solidFill>
              </a:rPr>
              <a:t>"schedule"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6F1FF"/>
                </a:solidFill>
              </a:rPr>
              <a:t>: {</a:t>
            </a:r>
            <a:endParaRPr lang="en-US" sz="727" dirty="0"/>
          </a:p>
        </p:txBody>
      </p:sp>
      <p:sp>
        <p:nvSpPr>
          <p:cNvPr id="29" name="Text 23"/>
          <p:cNvSpPr/>
          <p:nvPr/>
        </p:nvSpPr>
        <p:spPr>
          <a:xfrm>
            <a:off x="4964906" y="3114117"/>
            <a:ext cx="34290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00BFFF"/>
                </a:solidFill>
              </a:rPr>
              <a:t>"cis_benchmark_check"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6F1FF"/>
                </a:solidFill>
              </a:rPr>
              <a:t>: {</a:t>
            </a:r>
            <a:endParaRPr lang="en-US" sz="727" dirty="0"/>
          </a:p>
        </p:txBody>
      </p:sp>
      <p:sp>
        <p:nvSpPr>
          <p:cNvPr id="30" name="Text 24"/>
          <p:cNvSpPr/>
          <p:nvPr/>
        </p:nvSpPr>
        <p:spPr>
          <a:xfrm>
            <a:off x="4964906" y="3274126"/>
            <a:ext cx="34290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00BFFF"/>
                </a:solidFill>
              </a:rPr>
              <a:t>"query"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6F1FF"/>
                </a:solidFill>
              </a:rPr>
              <a:t>: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2CD32"/>
                </a:solidFill>
              </a:rPr>
              <a:t>"SELECT * FROM processes WHERE..."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6F1FF"/>
                </a:solidFill>
              </a:rPr>
              <a:t>,</a:t>
            </a:r>
            <a:endParaRPr lang="en-US" sz="727" dirty="0"/>
          </a:p>
        </p:txBody>
      </p:sp>
      <p:sp>
        <p:nvSpPr>
          <p:cNvPr id="31" name="Text 25"/>
          <p:cNvSpPr/>
          <p:nvPr/>
        </p:nvSpPr>
        <p:spPr>
          <a:xfrm>
            <a:off x="4964906" y="3434135"/>
            <a:ext cx="34290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00BFFF"/>
                </a:solidFill>
              </a:rPr>
              <a:t>"interval"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6F1FF"/>
                </a:solidFill>
              </a:rPr>
              <a:t>: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FFD700"/>
                </a:solidFill>
              </a:rPr>
              <a:t>3600</a:t>
            </a:r>
            <a:endParaRPr lang="en-US" sz="727" dirty="0"/>
          </a:p>
        </p:txBody>
      </p:sp>
      <p:sp>
        <p:nvSpPr>
          <p:cNvPr id="32" name="Text 26"/>
          <p:cNvSpPr/>
          <p:nvPr/>
        </p:nvSpPr>
        <p:spPr>
          <a:xfrm>
            <a:off x="4964906" y="3594143"/>
            <a:ext cx="34290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6F1FF"/>
                </a:solidFill>
              </a:rPr>
              <a:t>}</a:t>
            </a:r>
            <a:endParaRPr lang="en-US" sz="727" dirty="0"/>
          </a:p>
        </p:txBody>
      </p:sp>
      <p:sp>
        <p:nvSpPr>
          <p:cNvPr id="33" name="Text 27"/>
          <p:cNvSpPr/>
          <p:nvPr/>
        </p:nvSpPr>
        <p:spPr>
          <a:xfrm>
            <a:off x="4964906" y="3754152"/>
            <a:ext cx="34290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6F1FF"/>
                </a:solidFill>
              </a:rPr>
              <a:t>}</a:t>
            </a:r>
            <a:endParaRPr lang="en-US" sz="727" dirty="0"/>
          </a:p>
        </p:txBody>
      </p:sp>
      <p:sp>
        <p:nvSpPr>
          <p:cNvPr id="34" name="Text 28"/>
          <p:cNvSpPr/>
          <p:nvPr/>
        </p:nvSpPr>
        <p:spPr>
          <a:xfrm>
            <a:off x="4964906" y="3914161"/>
            <a:ext cx="34290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6F1FF"/>
                </a:solidFill>
              </a:rPr>
              <a:t>}</a:t>
            </a:r>
            <a:endParaRPr lang="en-US" sz="727" dirty="0"/>
          </a:p>
        </p:txBody>
      </p:sp>
      <p:sp>
        <p:nvSpPr>
          <p:cNvPr id="35" name="Text 29"/>
          <p:cNvSpPr/>
          <p:nvPr/>
        </p:nvSpPr>
        <p:spPr>
          <a:xfrm>
            <a:off x="5079206" y="4367064"/>
            <a:ext cx="927292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8892B0"/>
                </a:solidFill>
              </a:rPr>
              <a:t>Agent Status: HEALTHY</a:t>
            </a:r>
            <a:endParaRPr lang="en-US" sz="621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7247" y="4392764"/>
            <a:ext cx="96441" cy="85725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910838" y="4367064"/>
            <a:ext cx="483068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8892B0"/>
                </a:solidFill>
              </a:rPr>
              <a:t>Mem: 45MB</a:t>
            </a:r>
            <a:endParaRPr lang="en-US" sz="62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373852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OpenTelemetry (OTEL)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323380"/>
            <a:ext cx="8001000" cy="158591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5813" y="1216223"/>
            <a:ext cx="1626543" cy="135731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8" name="Text 5"/>
          <p:cNvSpPr/>
          <p:nvPr/>
        </p:nvSpPr>
        <p:spPr>
          <a:xfrm>
            <a:off x="785813" y="1216223"/>
            <a:ext cx="1626543" cy="135731"/>
          </a:xfrm>
          <a:prstGeom prst="rect">
            <a:avLst/>
          </a:prstGeom>
          <a:noFill/>
          <a:ln/>
        </p:spPr>
        <p:txBody>
          <a:bodyPr wrap="none" lIns="127508" tIns="0" rIns="1275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9370DB"/>
                </a:solidFill>
              </a:rPr>
              <a:t>Observability Pipeline</a:t>
            </a:r>
            <a:endParaRPr lang="en-US" sz="683" dirty="0"/>
          </a:p>
        </p:txBody>
      </p:sp>
      <p:sp>
        <p:nvSpPr>
          <p:cNvPr id="9" name="Shape 6"/>
          <p:cNvSpPr/>
          <p:nvPr/>
        </p:nvSpPr>
        <p:spPr>
          <a:xfrm>
            <a:off x="857250" y="1609130"/>
            <a:ext cx="2214563" cy="1000125"/>
          </a:xfrm>
          <a:prstGeom prst="rect">
            <a:avLst/>
          </a:prstGeom>
          <a:solidFill>
            <a:srgbClr val="000000">
              <a:alpha val="30000"/>
            </a:srgbClr>
          </a:solidFill>
          <a:ln w="9144">
            <a:solidFill>
              <a:srgbClr val="9370DB">
                <a:alpha val="3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459" y="1722537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52941" y="2097584"/>
            <a:ext cx="6136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9370DB"/>
                </a:solidFill>
              </a:rPr>
              <a:t>Receivers</a:t>
            </a:r>
            <a:endParaRPr lang="en-US" sz="885" dirty="0"/>
          </a:p>
        </p:txBody>
      </p:sp>
      <p:sp>
        <p:nvSpPr>
          <p:cNvPr id="12" name="Text 8"/>
          <p:cNvSpPr/>
          <p:nvPr/>
        </p:nvSpPr>
        <p:spPr>
          <a:xfrm>
            <a:off x="1411923" y="2308324"/>
            <a:ext cx="109567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B0C4DE"/>
                </a:solidFill>
              </a:rPr>
              <a:t>Logs, Metrics, Traces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B0C4DE"/>
                </a:solidFill>
              </a:rPr>
              <a:t>
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B0C4DE"/>
                </a:solidFill>
              </a:rPr>
              <a:t>(OTLP, Prometheus, Filelog)</a:t>
            </a:r>
            <a:endParaRPr lang="en-US" sz="621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5172" y="2023467"/>
            <a:ext cx="107156" cy="17145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55203" y="1609130"/>
            <a:ext cx="2219334" cy="1000125"/>
          </a:xfrm>
          <a:prstGeom prst="rect">
            <a:avLst/>
          </a:prstGeom>
          <a:solidFill>
            <a:srgbClr val="000000">
              <a:alpha val="30000"/>
            </a:srgbClr>
          </a:solidFill>
          <a:ln w="9144">
            <a:solidFill>
              <a:srgbClr val="9370DB">
                <a:alpha val="3000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0528" y="1722537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220868" y="2097584"/>
            <a:ext cx="68794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9370DB"/>
                </a:solidFill>
              </a:rPr>
              <a:t>Processors</a:t>
            </a:r>
            <a:endParaRPr lang="en-US" sz="885" dirty="0"/>
          </a:p>
        </p:txBody>
      </p:sp>
      <p:sp>
        <p:nvSpPr>
          <p:cNvPr id="17" name="Text 11"/>
          <p:cNvSpPr/>
          <p:nvPr/>
        </p:nvSpPr>
        <p:spPr>
          <a:xfrm>
            <a:off x="4149542" y="2308324"/>
            <a:ext cx="83060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B0C4DE"/>
                </a:solidFill>
              </a:rPr>
              <a:t>Batch, Filter, Sample,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B0C4DE"/>
                </a:solidFill>
              </a:rPr>
              <a:t>
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B0C4DE"/>
                </a:solidFill>
              </a:rPr>
              <a:t>Redact PII</a:t>
            </a:r>
            <a:endParaRPr lang="en-US" sz="621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2613" y="2023467"/>
            <a:ext cx="107156" cy="17145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062644" y="1609130"/>
            <a:ext cx="2224078" cy="1000125"/>
          </a:xfrm>
          <a:prstGeom prst="rect">
            <a:avLst/>
          </a:prstGeom>
          <a:solidFill>
            <a:srgbClr val="000000">
              <a:alpha val="30000"/>
            </a:srgbClr>
          </a:solidFill>
          <a:ln w="9144">
            <a:solidFill>
              <a:srgbClr val="9370DB">
                <a:alpha val="30000"/>
              </a:srgbClr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5169" y="1722537"/>
            <a:ext cx="228600" cy="228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69553" y="2097584"/>
            <a:ext cx="61980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9370DB"/>
                </a:solidFill>
              </a:rPr>
              <a:t>Exporters</a:t>
            </a:r>
            <a:endParaRPr lang="en-US" sz="885" dirty="0"/>
          </a:p>
        </p:txBody>
      </p:sp>
      <p:sp>
        <p:nvSpPr>
          <p:cNvPr id="22" name="Text 14"/>
          <p:cNvSpPr/>
          <p:nvPr/>
        </p:nvSpPr>
        <p:spPr>
          <a:xfrm>
            <a:off x="6770963" y="2308324"/>
            <a:ext cx="81698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B0C4DE"/>
                </a:solidFill>
              </a:rPr>
              <a:t>SIEM, Vendor Cloud,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B0C4DE"/>
                </a:solidFill>
              </a:rPr>
              <a:t>
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B0C4DE"/>
                </a:solidFill>
              </a:rPr>
              <a:t>S3 Archive</a:t>
            </a:r>
            <a:endParaRPr lang="en-US" sz="621" dirty="0"/>
          </a:p>
        </p:txBody>
      </p:sp>
      <p:sp>
        <p:nvSpPr>
          <p:cNvPr id="23" name="Shape 15"/>
          <p:cNvSpPr/>
          <p:nvPr/>
        </p:nvSpPr>
        <p:spPr>
          <a:xfrm>
            <a:off x="3350907" y="2730698"/>
            <a:ext cx="2442186" cy="307181"/>
          </a:xfrm>
          <a:prstGeom prst="roundRect">
            <a:avLst/>
          </a:prstGeom>
          <a:solidFill>
            <a:srgbClr val="112240"/>
          </a:solidFill>
          <a:ln w="18288">
            <a:solidFill>
              <a:srgbClr val="00BFFF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9507" y="2841427"/>
            <a:ext cx="114300" cy="1143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800963" y="2830711"/>
            <a:ext cx="176353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Configured via OpAMP (config.yaml)</a:t>
            </a:r>
            <a:endParaRPr lang="en-US" sz="683" dirty="0"/>
          </a:p>
        </p:txBody>
      </p:sp>
      <p:sp>
        <p:nvSpPr>
          <p:cNvPr id="26" name="Shape 17"/>
          <p:cNvSpPr/>
          <p:nvPr/>
        </p:nvSpPr>
        <p:spPr>
          <a:xfrm>
            <a:off x="571500" y="3180755"/>
            <a:ext cx="2524116" cy="153412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7" name="Shape 18"/>
          <p:cNvSpPr/>
          <p:nvPr/>
        </p:nvSpPr>
        <p:spPr>
          <a:xfrm>
            <a:off x="571500" y="3180755"/>
            <a:ext cx="28575" cy="1534120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094" y="3361134"/>
            <a:ext cx="214313" cy="17145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1071563" y="3359348"/>
            <a:ext cx="119602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Dynamic Sampling</a:t>
            </a:r>
            <a:endParaRPr lang="en-US" sz="885" dirty="0"/>
          </a:p>
        </p:txBody>
      </p:sp>
      <p:sp>
        <p:nvSpPr>
          <p:cNvPr id="30" name="Text 20"/>
          <p:cNvSpPr/>
          <p:nvPr/>
        </p:nvSpPr>
        <p:spPr>
          <a:xfrm>
            <a:off x="750094" y="3641527"/>
            <a:ext cx="2166928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Adjust sampling rates (10% -&gt; 100%) on the fly without redeploying binaries. Control ingestion costs during surges.</a:t>
            </a:r>
            <a:endParaRPr lang="en-US" sz="727" dirty="0"/>
          </a:p>
        </p:txBody>
      </p:sp>
      <p:sp>
        <p:nvSpPr>
          <p:cNvPr id="31" name="Shape 21"/>
          <p:cNvSpPr/>
          <p:nvPr/>
        </p:nvSpPr>
        <p:spPr>
          <a:xfrm>
            <a:off x="3309928" y="3180755"/>
            <a:ext cx="2524116" cy="153412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32" name="Shape 22"/>
          <p:cNvSpPr/>
          <p:nvPr/>
        </p:nvSpPr>
        <p:spPr>
          <a:xfrm>
            <a:off x="3309928" y="3180755"/>
            <a:ext cx="28575" cy="1534120"/>
          </a:xfrm>
          <a:prstGeom prst="rect">
            <a:avLst/>
          </a:prstGeom>
          <a:solidFill>
            <a:srgbClr val="32CD32"/>
          </a:solidFill>
          <a:ln/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8522" y="3361134"/>
            <a:ext cx="171450" cy="17145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3767128" y="3359348"/>
            <a:ext cx="93228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Smart Routing</a:t>
            </a:r>
            <a:endParaRPr lang="en-US" sz="885" dirty="0"/>
          </a:p>
        </p:txBody>
      </p:sp>
      <p:sp>
        <p:nvSpPr>
          <p:cNvPr id="35" name="Text 24"/>
          <p:cNvSpPr/>
          <p:nvPr/>
        </p:nvSpPr>
        <p:spPr>
          <a:xfrm>
            <a:off x="3488522" y="3641527"/>
            <a:ext cx="2166928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Send full logs to S3 (cheap) and only security events to Splunk (expensive). Dual data path implementation.</a:t>
            </a:r>
            <a:endParaRPr lang="en-US" sz="727" dirty="0"/>
          </a:p>
        </p:txBody>
      </p:sp>
      <p:sp>
        <p:nvSpPr>
          <p:cNvPr id="36" name="Shape 25"/>
          <p:cNvSpPr/>
          <p:nvPr/>
        </p:nvSpPr>
        <p:spPr>
          <a:xfrm>
            <a:off x="6048356" y="3180755"/>
            <a:ext cx="2524144" cy="153412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37" name="Shape 26"/>
          <p:cNvSpPr/>
          <p:nvPr/>
        </p:nvSpPr>
        <p:spPr>
          <a:xfrm>
            <a:off x="6048356" y="3180755"/>
            <a:ext cx="28575" cy="153412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6950" y="3361134"/>
            <a:ext cx="192881" cy="17145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6526988" y="3359348"/>
            <a:ext cx="10126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Resource Guard</a:t>
            </a:r>
            <a:endParaRPr lang="en-US" sz="885" dirty="0"/>
          </a:p>
        </p:txBody>
      </p:sp>
      <p:sp>
        <p:nvSpPr>
          <p:cNvPr id="40" name="Text 28"/>
          <p:cNvSpPr/>
          <p:nvPr/>
        </p:nvSpPr>
        <p:spPr>
          <a:xfrm>
            <a:off x="6226950" y="3641527"/>
            <a:ext cx="2166956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Enforce memory limits (500MB) and CPU caps. Auto-restart if pipeline stalls or leaks memory.</a:t>
            </a:r>
            <a:endParaRPr lang="en-US" sz="727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3994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3235114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CrowdStrike Falcon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394817"/>
            <a:ext cx="2476509" cy="3402211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1500" y="1394817"/>
            <a:ext cx="2462222" cy="42863"/>
          </a:xfrm>
          <a:prstGeom prst="rect">
            <a:avLst/>
          </a:prstGeom>
          <a:solidFill>
            <a:srgbClr val="FC0000"/>
          </a:solidFill>
          <a:ln/>
        </p:spPr>
      </p:sp>
      <p:sp>
        <p:nvSpPr>
          <p:cNvPr id="8" name="Shape 5"/>
          <p:cNvSpPr/>
          <p:nvPr/>
        </p:nvSpPr>
        <p:spPr>
          <a:xfrm>
            <a:off x="785813" y="1609130"/>
            <a:ext cx="571500" cy="571500"/>
          </a:xfrm>
          <a:prstGeom prst="ellipse">
            <a:avLst/>
          </a:prstGeom>
          <a:solidFill>
            <a:srgbClr val="FC0000">
              <a:alpha val="10000"/>
            </a:srgbClr>
          </a:solidFill>
          <a:ln w="9144">
            <a:solidFill>
              <a:srgbClr val="FC0000">
                <a:alpha val="30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902" y="1766292"/>
            <a:ext cx="289322" cy="2571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85813" y="2394942"/>
            <a:ext cx="203834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Sensor Health</a:t>
            </a:r>
            <a:endParaRPr lang="en-US" sz="1193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2800350"/>
            <a:ext cx="114300" cy="114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85838" y="2771775"/>
            <a:ext cx="18383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B0C4DE"/>
                </a:solidFill>
              </a:rPr>
              <a:t>Service Watchdog: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 Auto-restart if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falcon-sensor process dies.</a:t>
            </a:r>
            <a:endParaRPr lang="en-US" sz="784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3250406"/>
            <a:ext cx="114300" cy="1143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85838" y="3221831"/>
            <a:ext cx="183831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B0C4DE"/>
                </a:solidFill>
              </a:rPr>
              <a:t>Connectivity Check: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 Alert if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sensor enters RFM (Reduced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Functionality Mode).</a:t>
            </a:r>
            <a:endParaRPr lang="en-US" sz="784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3871913"/>
            <a:ext cx="114300" cy="1143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85838" y="3843338"/>
            <a:ext cx="18383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B0C4DE"/>
                </a:solidFill>
              </a:rPr>
              <a:t>Resource Cap: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 Monitor CPU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spikes during scans.</a:t>
            </a:r>
            <a:endParaRPr lang="en-US" sz="784" dirty="0"/>
          </a:p>
        </p:txBody>
      </p:sp>
      <p:sp>
        <p:nvSpPr>
          <p:cNvPr id="17" name="Text 10"/>
          <p:cNvSpPr/>
          <p:nvPr/>
        </p:nvSpPr>
        <p:spPr>
          <a:xfrm>
            <a:off x="785813" y="4186238"/>
            <a:ext cx="2038341" cy="382191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C6D85"/>
                </a:solidFill>
              </a:rPr>
              <a:t>STATUS: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2CD32"/>
                </a:solidFill>
              </a:rPr>
              <a:t>ONLINE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C6D85"/>
                </a:solidFill>
              </a:rPr>
              <a:t>
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C6D85"/>
                </a:solidFill>
              </a:rPr>
              <a:t> PID: 48291</a:t>
            </a:r>
            <a:endParaRPr lang="en-US" sz="621" dirty="0"/>
          </a:p>
        </p:txBody>
      </p:sp>
      <p:sp>
        <p:nvSpPr>
          <p:cNvPr id="18" name="Shape 11"/>
          <p:cNvSpPr/>
          <p:nvPr/>
        </p:nvSpPr>
        <p:spPr>
          <a:xfrm>
            <a:off x="3324216" y="1394817"/>
            <a:ext cx="2481253" cy="338792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3328988" y="1394817"/>
            <a:ext cx="2462222" cy="42863"/>
          </a:xfrm>
          <a:prstGeom prst="rect">
            <a:avLst/>
          </a:prstGeom>
          <a:solidFill>
            <a:srgbClr val="FC0000"/>
          </a:solidFill>
          <a:ln/>
        </p:spPr>
      </p:sp>
      <p:sp>
        <p:nvSpPr>
          <p:cNvPr id="20" name="Shape 13"/>
          <p:cNvSpPr/>
          <p:nvPr/>
        </p:nvSpPr>
        <p:spPr>
          <a:xfrm>
            <a:off x="3543300" y="1609130"/>
            <a:ext cx="571500" cy="571500"/>
          </a:xfrm>
          <a:prstGeom prst="ellipse">
            <a:avLst/>
          </a:prstGeom>
          <a:solidFill>
            <a:srgbClr val="FC0000">
              <a:alpha val="10000"/>
            </a:srgbClr>
          </a:solidFill>
          <a:ln w="9144">
            <a:solidFill>
              <a:srgbClr val="FC0000">
                <a:alpha val="30000"/>
              </a:srgbClr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0463" y="1766292"/>
            <a:ext cx="257175" cy="25717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543300" y="2394942"/>
            <a:ext cx="20431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Hardening</a:t>
            </a:r>
            <a:endParaRPr lang="en-US" sz="1193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3300" y="2800350"/>
            <a:ext cx="114300" cy="1143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3743325" y="2771775"/>
            <a:ext cx="18430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B0C4DE"/>
                </a:solidFill>
              </a:rPr>
              <a:t>Anti-Tamper: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 Enforce uninstall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protection password.</a:t>
            </a:r>
            <a:endParaRPr lang="en-US" sz="784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3300" y="3250406"/>
            <a:ext cx="114300" cy="11430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743325" y="3221831"/>
            <a:ext cx="18430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B0C4DE"/>
                </a:solidFill>
              </a:rPr>
              <a:t>Version Lock: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 Ensure N-1 version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compliance across fleet.</a:t>
            </a:r>
            <a:endParaRPr lang="en-US" sz="784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43300" y="3700463"/>
            <a:ext cx="114300" cy="11430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3743325" y="3671888"/>
            <a:ext cx="18430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B0C4DE"/>
                </a:solidFill>
              </a:rPr>
              <a:t>Config Audit: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 Verify "Sensor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Visibility" settings.</a:t>
            </a:r>
            <a:endParaRPr lang="en-US" sz="784" dirty="0"/>
          </a:p>
        </p:txBody>
      </p:sp>
      <p:sp>
        <p:nvSpPr>
          <p:cNvPr id="29" name="Text 18"/>
          <p:cNvSpPr/>
          <p:nvPr/>
        </p:nvSpPr>
        <p:spPr>
          <a:xfrm>
            <a:off x="3543300" y="4186238"/>
            <a:ext cx="2043113" cy="382191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C6D85"/>
                </a:solidFill>
              </a:rPr>
              <a:t>POLICY: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2CD32"/>
                </a:solidFill>
              </a:rPr>
              <a:t>ENFORCED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C6D85"/>
                </a:solidFill>
              </a:rPr>
              <a:t>
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C6D85"/>
                </a:solidFill>
              </a:rPr>
              <a:t> TOKEN: ********</a:t>
            </a:r>
            <a:endParaRPr lang="en-US" sz="621" dirty="0"/>
          </a:p>
        </p:txBody>
      </p:sp>
      <p:sp>
        <p:nvSpPr>
          <p:cNvPr id="30" name="Shape 19"/>
          <p:cNvSpPr/>
          <p:nvPr/>
        </p:nvSpPr>
        <p:spPr>
          <a:xfrm>
            <a:off x="6086475" y="1394817"/>
            <a:ext cx="2486025" cy="338792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1" name="Shape 20"/>
          <p:cNvSpPr/>
          <p:nvPr/>
        </p:nvSpPr>
        <p:spPr>
          <a:xfrm>
            <a:off x="6096019" y="1394817"/>
            <a:ext cx="2462222" cy="42863"/>
          </a:xfrm>
          <a:prstGeom prst="rect">
            <a:avLst/>
          </a:prstGeom>
          <a:solidFill>
            <a:srgbClr val="FC0000"/>
          </a:solidFill>
          <a:ln/>
        </p:spPr>
      </p:sp>
      <p:sp>
        <p:nvSpPr>
          <p:cNvPr id="32" name="Shape 21"/>
          <p:cNvSpPr/>
          <p:nvPr/>
        </p:nvSpPr>
        <p:spPr>
          <a:xfrm>
            <a:off x="6310331" y="1609130"/>
            <a:ext cx="571500" cy="571500"/>
          </a:xfrm>
          <a:prstGeom prst="ellipse">
            <a:avLst/>
          </a:prstGeom>
          <a:solidFill>
            <a:srgbClr val="FC0000">
              <a:alpha val="10000"/>
            </a:srgbClr>
          </a:solidFill>
          <a:ln w="9144">
            <a:solidFill>
              <a:srgbClr val="FC0000">
                <a:alpha val="30000"/>
              </a:srgbClr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7494" y="1766292"/>
            <a:ext cx="257175" cy="257175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310331" y="2394942"/>
            <a:ext cx="204788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Exclusions</a:t>
            </a:r>
            <a:endParaRPr lang="en-US" sz="1193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10331" y="2800350"/>
            <a:ext cx="114300" cy="114300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6510356" y="2771775"/>
            <a:ext cx="18478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B0C4DE"/>
                </a:solidFill>
              </a:rPr>
              <a:t>GitOps Workflow: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 Manage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exclusions via Pull Request.</a:t>
            </a:r>
            <a:endParaRPr lang="en-US" sz="784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0331" y="3250406"/>
            <a:ext cx="114300" cy="114300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6510356" y="3221831"/>
            <a:ext cx="18478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B0C4DE"/>
                </a:solidFill>
              </a:rPr>
              <a:t>Validation: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 Pre-check paths to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prevent syntax errors.</a:t>
            </a:r>
            <a:endParaRPr lang="en-US" sz="784" dirty="0"/>
          </a:p>
        </p:txBody>
      </p:sp>
      <p:pic>
        <p:nvPicPr>
          <p:cNvPr id="3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10331" y="3700463"/>
            <a:ext cx="114300" cy="114300"/>
          </a:xfrm>
          <a:prstGeom prst="rect">
            <a:avLst/>
          </a:prstGeom>
        </p:spPr>
      </p:pic>
      <p:sp>
        <p:nvSpPr>
          <p:cNvPr id="40" name="Text 25"/>
          <p:cNvSpPr/>
          <p:nvPr/>
        </p:nvSpPr>
        <p:spPr>
          <a:xfrm>
            <a:off x="6510356" y="3671888"/>
            <a:ext cx="18478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B0C4DE"/>
                </a:solidFill>
              </a:rPr>
              <a:t>Scope: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 Apply globally or target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specific host groups.</a:t>
            </a:r>
            <a:endParaRPr lang="en-US" sz="784" dirty="0"/>
          </a:p>
        </p:txBody>
      </p:sp>
      <p:sp>
        <p:nvSpPr>
          <p:cNvPr id="41" name="Text 26"/>
          <p:cNvSpPr/>
          <p:nvPr/>
        </p:nvSpPr>
        <p:spPr>
          <a:xfrm>
            <a:off x="6310331" y="4186238"/>
            <a:ext cx="2047884" cy="382191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C6D85"/>
                </a:solidFill>
              </a:rPr>
              <a:t>RULES: 42 Active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C6D85"/>
                </a:solidFill>
              </a:rPr>
              <a:t>
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C6D85"/>
                </a:solidFill>
              </a:rPr>
              <a:t> LAST UPD: 10m ago</a:t>
            </a:r>
            <a:endParaRPr lang="en-US" sz="62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3327676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Sysmon Integration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596628"/>
            <a:ext cx="428625" cy="428625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BFFF">
                <a:alpha val="30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02" y="1710928"/>
            <a:ext cx="175022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1596628"/>
            <a:ext cx="32146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Advanced Windows Logging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1143000" y="1887736"/>
            <a:ext cx="32146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Deploy and manage Sysmon binaries and configurations at scale. Gain visibility into process creation, network connections, and file changes.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571500" y="2616398"/>
            <a:ext cx="428625" cy="428625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9370DB">
                <a:alpha val="3000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30698"/>
            <a:ext cx="200025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2616398"/>
            <a:ext cx="32146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Noise Reduction</a:t>
            </a:r>
            <a:endParaRPr lang="en-US" sz="1193" dirty="0"/>
          </a:p>
        </p:txBody>
      </p:sp>
      <p:sp>
        <p:nvSpPr>
          <p:cNvPr id="13" name="Text 8"/>
          <p:cNvSpPr/>
          <p:nvPr/>
        </p:nvSpPr>
        <p:spPr>
          <a:xfrm>
            <a:off x="1143000" y="2907506"/>
            <a:ext cx="32146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Centralized management of XML exclusion rules. Filter out trusted processes (e.g., Splunk, AV) to reduce SIEM ingestion costs.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571500" y="3636169"/>
            <a:ext cx="428625" cy="428625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6B35">
                <a:alpha val="3000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50469"/>
            <a:ext cx="200025" cy="2000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3636169"/>
            <a:ext cx="32146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Tamper Protection</a:t>
            </a:r>
            <a:endParaRPr lang="en-US" sz="1193" dirty="0"/>
          </a:p>
        </p:txBody>
      </p:sp>
      <p:sp>
        <p:nvSpPr>
          <p:cNvPr id="17" name="Text 11"/>
          <p:cNvSpPr/>
          <p:nvPr/>
        </p:nvSpPr>
        <p:spPr>
          <a:xfrm>
            <a:off x="1143000" y="3927277"/>
            <a:ext cx="32146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Monitor the Sysmon service and driver status. Automatically attempt restart if stopped and alert SOC on persistence failure.</a:t>
            </a:r>
            <a:endParaRPr lang="en-US" sz="834" dirty="0"/>
          </a:p>
        </p:txBody>
      </p:sp>
      <p:sp>
        <p:nvSpPr>
          <p:cNvPr id="18" name="Shape 12"/>
          <p:cNvSpPr/>
          <p:nvPr/>
        </p:nvSpPr>
        <p:spPr>
          <a:xfrm>
            <a:off x="4786313" y="1590377"/>
            <a:ext cx="3786188" cy="2857500"/>
          </a:xfrm>
          <a:prstGeom prst="rect">
            <a:avLst/>
          </a:prstGeom>
          <a:solidFill>
            <a:srgbClr val="1E1E1E"/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786313" y="1590377"/>
            <a:ext cx="3786188" cy="266105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20" name="Shape 14"/>
          <p:cNvSpPr/>
          <p:nvPr/>
        </p:nvSpPr>
        <p:spPr>
          <a:xfrm>
            <a:off x="4786313" y="1849338"/>
            <a:ext cx="3786188" cy="7144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1676995"/>
            <a:ext cx="64294" cy="8572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014913" y="1661815"/>
            <a:ext cx="76982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sysmon_config.xml</a:t>
            </a:r>
            <a:endParaRPr lang="en-US" sz="621" dirty="0"/>
          </a:p>
        </p:txBody>
      </p:sp>
      <p:sp>
        <p:nvSpPr>
          <p:cNvPr id="23" name="Text 16"/>
          <p:cNvSpPr/>
          <p:nvPr/>
        </p:nvSpPr>
        <p:spPr>
          <a:xfrm>
            <a:off x="4786313" y="1849338"/>
            <a:ext cx="3786188" cy="19413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6A9955"/>
                </a:solidFill>
              </a:rPr>
              <a:t>&lt;!-- Sysmon Configuration v2.4 --&gt;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69CD6"/>
                </a:solidFill>
              </a:rPr>
              <a:t>&lt;Sysmon schemaversion="4.82"&gt;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69CD6"/>
                </a:solidFill>
              </a:rPr>
              <a:t>&lt;EventFiltering&gt;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6A9955"/>
                </a:solidFill>
              </a:rPr>
              <a:t>&lt;!-- Log Process Creation --&gt;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69CD6"/>
                </a:solidFill>
              </a:rPr>
              <a:t>&lt;RuleGroup name="" groupRelation="or"&gt;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69CD6"/>
                </a:solidFill>
              </a:rPr>
              <a:t>&lt;ProcessCreate onmatch="include"&gt;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69CD6"/>
                </a:solidFill>
              </a:rPr>
              <a:t>&lt;Image condition="end with"&gt;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cmd.exe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69CD6"/>
                </a:solidFill>
              </a:rPr>
              <a:t>&lt;/Image&gt;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69CD6"/>
                </a:solidFill>
              </a:rPr>
              <a:t>&lt;Image condition="end with"&gt;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powershell.exe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69CD6"/>
                </a:solidFill>
              </a:rPr>
              <a:t>&lt;/Image&gt;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69CD6"/>
                </a:solidFill>
              </a:rPr>
              <a:t>&lt;/ProcessCreate&gt;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69CD6"/>
                </a:solidFill>
              </a:rPr>
              <a:t>&lt;/RuleGroup&gt;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69CD6"/>
                </a:solidFill>
              </a:rPr>
              <a:t>&lt;/EventFiltering&gt;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69CD6"/>
                </a:solidFill>
              </a:rPr>
              <a:t>&lt;/Sysmon&gt;</a:t>
            </a:r>
            <a:endParaRPr lang="en-US" sz="727" dirty="0"/>
          </a:p>
        </p:txBody>
      </p:sp>
      <p:sp>
        <p:nvSpPr>
          <p:cNvPr id="24" name="Shape 17"/>
          <p:cNvSpPr/>
          <p:nvPr/>
        </p:nvSpPr>
        <p:spPr>
          <a:xfrm>
            <a:off x="4929188" y="3933527"/>
            <a:ext cx="3500438" cy="371475"/>
          </a:xfrm>
          <a:prstGeom prst="rect">
            <a:avLst/>
          </a:prstGeom>
          <a:solidFill>
            <a:srgbClr val="32CD32">
              <a:alpha val="10000"/>
            </a:srgbClr>
          </a:solidFill>
          <a:ln w="9144">
            <a:solidFill>
              <a:srgbClr val="32CD32">
                <a:alpha val="30000"/>
              </a:srgbClr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6344" y="4054971"/>
            <a:ext cx="142875" cy="14287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286375" y="4058543"/>
            <a:ext cx="196776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2CD32"/>
                </a:solidFill>
              </a:rPr>
              <a:t>Config Applied: 50,000 Endpoints Synced</a:t>
            </a:r>
            <a:endParaRPr lang="en-US" sz="683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3040196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Trellix Integration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323380"/>
            <a:ext cx="3893344" cy="1335881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50094" y="1501973"/>
            <a:ext cx="428625" cy="428625"/>
          </a:xfrm>
          <a:prstGeom prst="rect">
            <a:avLst/>
          </a:prstGeom>
          <a:solidFill>
            <a:srgbClr val="000000">
              <a:alpha val="30000"/>
            </a:srgbClr>
          </a:solidFill>
          <a:ln w="9144">
            <a:solidFill>
              <a:srgbClr val="32CD32">
                <a:alpha val="3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892" y="1616273"/>
            <a:ext cx="225028" cy="2000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1594" y="1501973"/>
            <a:ext cx="296465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Legacy Health Assurance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1321594" y="1768078"/>
            <a:ext cx="2964656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Legacy agents are prone to silent failures. OpAMP actively monitors critical processes to ensure protection remains active.</a:t>
            </a:r>
            <a:endParaRPr lang="en-US" sz="727" dirty="0"/>
          </a:p>
        </p:txBody>
      </p:sp>
      <p:sp>
        <p:nvSpPr>
          <p:cNvPr id="11" name="Shape 7"/>
          <p:cNvSpPr/>
          <p:nvPr/>
        </p:nvSpPr>
        <p:spPr>
          <a:xfrm>
            <a:off x="1321594" y="2293144"/>
            <a:ext cx="1459976" cy="173236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1321594" y="2293144"/>
            <a:ext cx="1459976" cy="173236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WATCH: mcshield.exe, masvc.exe</a:t>
            </a:r>
            <a:endParaRPr lang="en-US" sz="621" dirty="0"/>
          </a:p>
        </p:txBody>
      </p:sp>
      <p:sp>
        <p:nvSpPr>
          <p:cNvPr id="13" name="Shape 9"/>
          <p:cNvSpPr/>
          <p:nvPr/>
        </p:nvSpPr>
        <p:spPr>
          <a:xfrm>
            <a:off x="4679156" y="1323380"/>
            <a:ext cx="3893344" cy="1321594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857750" y="1501973"/>
            <a:ext cx="428625" cy="428625"/>
          </a:xfrm>
          <a:prstGeom prst="rect">
            <a:avLst/>
          </a:prstGeom>
          <a:solidFill>
            <a:srgbClr val="000000">
              <a:alpha val="30000"/>
            </a:srgbClr>
          </a:solidFill>
          <a:ln w="9144">
            <a:solidFill>
              <a:srgbClr val="FFD700">
                <a:alpha val="30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7053" y="1616273"/>
            <a:ext cx="150019" cy="2000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29250" y="1501973"/>
            <a:ext cx="296465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Definition Compliance</a:t>
            </a:r>
            <a:endParaRPr lang="en-US" sz="987" dirty="0"/>
          </a:p>
        </p:txBody>
      </p:sp>
      <p:sp>
        <p:nvSpPr>
          <p:cNvPr id="17" name="Text 12"/>
          <p:cNvSpPr/>
          <p:nvPr/>
        </p:nvSpPr>
        <p:spPr>
          <a:xfrm>
            <a:off x="5429250" y="1768078"/>
            <a:ext cx="296465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Ensures DAT files are current. Triggers alerts or forced updates if definitions fall behind policy.</a:t>
            </a:r>
            <a:endParaRPr lang="en-US" sz="727" dirty="0"/>
          </a:p>
        </p:txBody>
      </p:sp>
      <p:sp>
        <p:nvSpPr>
          <p:cNvPr id="18" name="Shape 13"/>
          <p:cNvSpPr/>
          <p:nvPr/>
        </p:nvSpPr>
        <p:spPr>
          <a:xfrm>
            <a:off x="5429250" y="2143125"/>
            <a:ext cx="1201852" cy="173236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5429250" y="2143125"/>
            <a:ext cx="1201852" cy="173236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ALERT IF: dat_age &gt; 3 days</a:t>
            </a:r>
            <a:endParaRPr lang="en-US" sz="621" dirty="0"/>
          </a:p>
        </p:txBody>
      </p:sp>
      <p:sp>
        <p:nvSpPr>
          <p:cNvPr id="20" name="Shape 15"/>
          <p:cNvSpPr/>
          <p:nvPr/>
        </p:nvSpPr>
        <p:spPr>
          <a:xfrm>
            <a:off x="571500" y="2930723"/>
            <a:ext cx="8001000" cy="1498402"/>
          </a:xfrm>
          <a:prstGeom prst="rect">
            <a:avLst/>
          </a:prstGeom>
          <a:solidFill>
            <a:srgbClr val="112240"/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71500" y="2930723"/>
            <a:ext cx="1250045" cy="187523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22" name="Text 17"/>
          <p:cNvSpPr/>
          <p:nvPr/>
        </p:nvSpPr>
        <p:spPr>
          <a:xfrm>
            <a:off x="571500" y="2930723"/>
            <a:ext cx="1250045" cy="187523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A192F"/>
                </a:solidFill>
              </a:rPr>
              <a:t>The Migration Bridge</a:t>
            </a:r>
            <a:endParaRPr lang="en-US" sz="584" dirty="0"/>
          </a:p>
        </p:txBody>
      </p:sp>
      <p:sp>
        <p:nvSpPr>
          <p:cNvPr id="23" name="Text 18"/>
          <p:cNvSpPr/>
          <p:nvPr/>
        </p:nvSpPr>
        <p:spPr>
          <a:xfrm>
            <a:off x="785813" y="3145036"/>
            <a:ext cx="75723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Inter-Agent Coordination: Safe Migration Logic</a:t>
            </a:r>
            <a:endParaRPr lang="en-US" sz="885" dirty="0"/>
          </a:p>
        </p:txBody>
      </p:sp>
      <p:sp>
        <p:nvSpPr>
          <p:cNvPr id="24" name="Shape 19"/>
          <p:cNvSpPr/>
          <p:nvPr/>
        </p:nvSpPr>
        <p:spPr>
          <a:xfrm>
            <a:off x="785813" y="3462933"/>
            <a:ext cx="1577011" cy="398264"/>
          </a:xfrm>
          <a:prstGeom prst="rect">
            <a:avLst/>
          </a:prstGeom>
          <a:solidFill>
            <a:srgbClr val="0A192F"/>
          </a:solidFill>
          <a:ln w="18288">
            <a:solidFill>
              <a:srgbClr val="00BFFF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406" y="3605808"/>
            <a:ext cx="114300" cy="1143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78706" y="3584377"/>
            <a:ext cx="10769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BFFF"/>
                </a:solidFill>
              </a:rPr>
              <a:t>Check CrowdStrike</a:t>
            </a:r>
            <a:endParaRPr lang="en-US" sz="784" dirty="0"/>
          </a:p>
        </p:txBody>
      </p:sp>
      <p:sp>
        <p:nvSpPr>
          <p:cNvPr id="27" name="Text 21"/>
          <p:cNvSpPr/>
          <p:nvPr/>
        </p:nvSpPr>
        <p:spPr>
          <a:xfrm>
            <a:off x="845641" y="3954066"/>
            <a:ext cx="14287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B0C4DE"/>
                </a:solidFill>
              </a:rPr>
              <a:t>OpAMP verifies modern EDR is installed and reporting "Healthy".</a:t>
            </a:r>
            <a:endParaRPr lang="en-US" sz="621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8346" y="3746004"/>
            <a:ext cx="107156" cy="17145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3833180" y="3462933"/>
            <a:ext cx="1381562" cy="398264"/>
          </a:xfrm>
          <a:prstGeom prst="rect">
            <a:avLst/>
          </a:prstGeom>
          <a:solidFill>
            <a:srgbClr val="0A192F"/>
          </a:solidFill>
          <a:ln w="18288">
            <a:solidFill>
              <a:srgbClr val="FF5F56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6061" y="3605808"/>
            <a:ext cx="100013" cy="1143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126074" y="3584377"/>
            <a:ext cx="8957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5F56"/>
                </a:solidFill>
              </a:rPr>
              <a:t>Uninstall Trellix</a:t>
            </a:r>
            <a:endParaRPr lang="en-US" sz="784" dirty="0"/>
          </a:p>
        </p:txBody>
      </p:sp>
      <p:sp>
        <p:nvSpPr>
          <p:cNvPr id="32" name="Text 24"/>
          <p:cNvSpPr/>
          <p:nvPr/>
        </p:nvSpPr>
        <p:spPr>
          <a:xfrm>
            <a:off x="3809600" y="3954066"/>
            <a:ext cx="14287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B0C4DE"/>
                </a:solidFill>
              </a:rPr>
              <a:t>Only proceeds if Step 1 is TRUE. Prevents protection gaps.</a:t>
            </a:r>
            <a:endParaRPr lang="en-US" sz="621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2448" y="3746004"/>
            <a:ext cx="107156" cy="171450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6713702" y="3462933"/>
            <a:ext cx="1644458" cy="398264"/>
          </a:xfrm>
          <a:prstGeom prst="rect">
            <a:avLst/>
          </a:prstGeom>
          <a:solidFill>
            <a:srgbClr val="0A192F"/>
          </a:solidFill>
          <a:ln w="18288">
            <a:solidFill>
              <a:srgbClr val="32CD32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0871" y="3591520"/>
            <a:ext cx="114300" cy="11430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035171" y="3570089"/>
            <a:ext cx="114439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2CD32"/>
                </a:solidFill>
              </a:rPr>
              <a:t>Migration Complete</a:t>
            </a:r>
            <a:endParaRPr lang="en-US" sz="784" dirty="0"/>
          </a:p>
        </p:txBody>
      </p:sp>
      <p:sp>
        <p:nvSpPr>
          <p:cNvPr id="37" name="Text 27"/>
          <p:cNvSpPr/>
          <p:nvPr/>
        </p:nvSpPr>
        <p:spPr>
          <a:xfrm>
            <a:off x="6835843" y="3939778"/>
            <a:ext cx="14287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B0C4DE"/>
                </a:solidFill>
              </a:rPr>
              <a:t>Updates inventory and notifies central dashboard.</a:t>
            </a:r>
            <a:endParaRPr lang="en-US" sz="62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219408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The Long Tail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323380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Unified Management for the Entire Ecosystem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1664494"/>
            <a:ext cx="80010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B0C4DE"/>
                </a:solidFill>
              </a:rPr>
              <a:t>Beyond the core security stack, enterprises run dozens of niche agents (Backup, VPN, DLP, Asset Mgmt). OpAMP provides a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D700"/>
                </a:solidFill>
              </a:rPr>
              <a:t>Generic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D700"/>
                </a:solidFill>
              </a:rPr>
              <a:t>Adapter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B0C4DE"/>
                </a:solidFill>
              </a:rPr>
              <a:t> to standardize lifecycle management for this "Long Tail," eliminating custom scripts and manual updates.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571500" y="2247379"/>
            <a:ext cx="8001000" cy="275324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4375" y="2390254"/>
            <a:ext cx="169622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5C6D85"/>
                </a:solidFill>
              </a:rPr>
              <a:t>Agent Ecosystem Distribution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1371600" y="2390254"/>
            <a:ext cx="1099942" cy="3429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371600" y="2390254"/>
            <a:ext cx="21431" cy="342900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12" name="Text 9"/>
          <p:cNvSpPr/>
          <p:nvPr/>
        </p:nvSpPr>
        <p:spPr>
          <a:xfrm>
            <a:off x="1371600" y="2390254"/>
            <a:ext cx="1099942" cy="342900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Core Security Stack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B0C4DE"/>
                </a:solidFill>
              </a:rPr>
              <a:t>Deep Integration</a:t>
            </a:r>
            <a:endParaRPr lang="en-US" sz="683" dirty="0"/>
          </a:p>
        </p:txBody>
      </p:sp>
      <p:sp>
        <p:nvSpPr>
          <p:cNvPr id="13" name="Shape 10"/>
          <p:cNvSpPr/>
          <p:nvPr/>
        </p:nvSpPr>
        <p:spPr>
          <a:xfrm>
            <a:off x="5538108" y="3318942"/>
            <a:ext cx="1434192" cy="3429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538108" y="3318942"/>
            <a:ext cx="21431" cy="342900"/>
          </a:xfrm>
          <a:prstGeom prst="rect">
            <a:avLst/>
          </a:prstGeom>
          <a:solidFill>
            <a:srgbClr val="B0C4DE"/>
          </a:solidFill>
          <a:ln/>
        </p:spPr>
      </p:sp>
      <p:sp>
        <p:nvSpPr>
          <p:cNvPr id="15" name="Text 12"/>
          <p:cNvSpPr/>
          <p:nvPr/>
        </p:nvSpPr>
        <p:spPr>
          <a:xfrm>
            <a:off x="5538108" y="3318942"/>
            <a:ext cx="1434192" cy="342900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The Long Tail (20+ Agents)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B0C4DE"/>
                </a:solidFill>
              </a:rPr>
              <a:t>Generic Adapter Managed</a:t>
            </a:r>
            <a:endParaRPr lang="en-US" sz="683" dirty="0"/>
          </a:p>
        </p:txBody>
      </p:sp>
      <p:sp>
        <p:nvSpPr>
          <p:cNvPr id="16" name="Shape 13"/>
          <p:cNvSpPr/>
          <p:nvPr/>
        </p:nvSpPr>
        <p:spPr>
          <a:xfrm>
            <a:off x="714375" y="2262783"/>
            <a:ext cx="675084" cy="1785938"/>
          </a:xfrm>
          <a:prstGeom prst="rect">
            <a:avLst/>
          </a:prstGeom>
          <a:solidFill>
            <a:srgbClr val="1E90F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620" y="3762970"/>
            <a:ext cx="178594" cy="14287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96668" y="4120158"/>
            <a:ext cx="51049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CrowdStrike</a:t>
            </a:r>
            <a:endParaRPr lang="en-US" sz="584" dirty="0"/>
          </a:p>
        </p:txBody>
      </p:sp>
      <p:sp>
        <p:nvSpPr>
          <p:cNvPr id="19" name="Shape 15"/>
          <p:cNvSpPr/>
          <p:nvPr/>
        </p:nvSpPr>
        <p:spPr>
          <a:xfrm>
            <a:off x="1496616" y="2477095"/>
            <a:ext cx="675084" cy="1571625"/>
          </a:xfrm>
          <a:prstGeom prst="rect">
            <a:avLst/>
          </a:prstGeom>
          <a:solidFill>
            <a:srgbClr val="1E90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720" y="3762970"/>
            <a:ext cx="142875" cy="14287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48169" y="4120158"/>
            <a:ext cx="37197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OSQuery</a:t>
            </a:r>
            <a:endParaRPr lang="en-US" sz="584" dirty="0"/>
          </a:p>
        </p:txBody>
      </p:sp>
      <p:sp>
        <p:nvSpPr>
          <p:cNvPr id="22" name="Shape 17"/>
          <p:cNvSpPr/>
          <p:nvPr/>
        </p:nvSpPr>
        <p:spPr>
          <a:xfrm>
            <a:off x="2278856" y="2619970"/>
            <a:ext cx="675084" cy="1428750"/>
          </a:xfrm>
          <a:prstGeom prst="rect">
            <a:avLst/>
          </a:prstGeom>
          <a:solidFill>
            <a:srgbClr val="1E90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6031" y="3762970"/>
            <a:ext cx="160734" cy="14287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511893" y="4120158"/>
            <a:ext cx="20901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OTEL</a:t>
            </a:r>
            <a:endParaRPr lang="en-US" sz="584" dirty="0"/>
          </a:p>
        </p:txBody>
      </p:sp>
      <p:sp>
        <p:nvSpPr>
          <p:cNvPr id="25" name="Text 19"/>
          <p:cNvSpPr/>
          <p:nvPr/>
        </p:nvSpPr>
        <p:spPr>
          <a:xfrm>
            <a:off x="3255680" y="4120158"/>
            <a:ext cx="28591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Splunk</a:t>
            </a:r>
            <a:endParaRPr lang="en-US" sz="584" dirty="0"/>
          </a:p>
        </p:txBody>
      </p:sp>
      <p:sp>
        <p:nvSpPr>
          <p:cNvPr id="26" name="Text 20"/>
          <p:cNvSpPr/>
          <p:nvPr/>
        </p:nvSpPr>
        <p:spPr>
          <a:xfrm>
            <a:off x="4026005" y="4120158"/>
            <a:ext cx="30974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Tanium</a:t>
            </a:r>
            <a:endParaRPr lang="en-US" sz="584" dirty="0"/>
          </a:p>
        </p:txBody>
      </p:sp>
      <p:sp>
        <p:nvSpPr>
          <p:cNvPr id="27" name="Text 21"/>
          <p:cNvSpPr/>
          <p:nvPr/>
        </p:nvSpPr>
        <p:spPr>
          <a:xfrm>
            <a:off x="4819771" y="4120158"/>
            <a:ext cx="28667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Qualys</a:t>
            </a:r>
            <a:endParaRPr lang="en-US" sz="584" dirty="0"/>
          </a:p>
        </p:txBody>
      </p:sp>
      <p:sp>
        <p:nvSpPr>
          <p:cNvPr id="28" name="Text 22"/>
          <p:cNvSpPr/>
          <p:nvPr/>
        </p:nvSpPr>
        <p:spPr>
          <a:xfrm>
            <a:off x="5596961" y="4120158"/>
            <a:ext cx="2968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Zscaler</a:t>
            </a:r>
            <a:endParaRPr lang="en-US" sz="584" dirty="0"/>
          </a:p>
        </p:txBody>
      </p:sp>
      <p:sp>
        <p:nvSpPr>
          <p:cNvPr id="29" name="Text 23"/>
          <p:cNvSpPr/>
          <p:nvPr/>
        </p:nvSpPr>
        <p:spPr>
          <a:xfrm>
            <a:off x="6327046" y="4120158"/>
            <a:ext cx="40111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Netskope</a:t>
            </a:r>
            <a:endParaRPr lang="en-US" sz="584" dirty="0"/>
          </a:p>
        </p:txBody>
      </p:sp>
      <p:sp>
        <p:nvSpPr>
          <p:cNvPr id="30" name="Text 24"/>
          <p:cNvSpPr/>
          <p:nvPr/>
        </p:nvSpPr>
        <p:spPr>
          <a:xfrm>
            <a:off x="7166465" y="4120158"/>
            <a:ext cx="28675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Rapid7</a:t>
            </a:r>
            <a:endParaRPr lang="en-US" sz="584" dirty="0"/>
          </a:p>
        </p:txBody>
      </p:sp>
      <p:sp>
        <p:nvSpPr>
          <p:cNvPr id="31" name="Text 25"/>
          <p:cNvSpPr/>
          <p:nvPr/>
        </p:nvSpPr>
        <p:spPr>
          <a:xfrm>
            <a:off x="7931293" y="4120158"/>
            <a:ext cx="32158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Custom</a:t>
            </a:r>
            <a:endParaRPr lang="en-US" sz="584" dirty="0"/>
          </a:p>
        </p:txBody>
      </p:sp>
      <p:sp>
        <p:nvSpPr>
          <p:cNvPr id="32" name="Shape 26"/>
          <p:cNvSpPr/>
          <p:nvPr/>
        </p:nvSpPr>
        <p:spPr>
          <a:xfrm>
            <a:off x="714375" y="4429125"/>
            <a:ext cx="7715250" cy="428625"/>
          </a:xfrm>
          <a:prstGeom prst="rect">
            <a:avLst/>
          </a:prstGeom>
          <a:solidFill>
            <a:srgbClr val="112240"/>
          </a:solidFill>
          <a:ln w="18288">
            <a:solidFill>
              <a:srgbClr val="FFD700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567" y="4586288"/>
            <a:ext cx="114300" cy="1143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513023" y="4555927"/>
            <a:ext cx="233941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D700"/>
                </a:solidFill>
              </a:rPr>
              <a:t>OpAMP Unified Control Plane</a:t>
            </a:r>
            <a:endParaRPr lang="en-US" sz="88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2699249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Dual Data Paths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285750" y="2378171"/>
            <a:ext cx="2000250" cy="1281912"/>
          </a:xfrm>
          <a:prstGeom prst="rect">
            <a:avLst/>
          </a:prstGeom>
          <a:solidFill>
            <a:srgbClr val="112240"/>
          </a:solidFill>
          <a:ln w="18288">
            <a:solidFill>
              <a:srgbClr val="B0C4D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141" y="2583554"/>
            <a:ext cx="321469" cy="2571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286" y="2992534"/>
            <a:ext cx="110915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Endpoint Agent</a:t>
            </a:r>
            <a:endParaRPr lang="en-US" sz="987" dirty="0"/>
          </a:p>
        </p:txBody>
      </p:sp>
      <p:sp>
        <p:nvSpPr>
          <p:cNvPr id="9" name="Text 5"/>
          <p:cNvSpPr/>
          <p:nvPr/>
        </p:nvSpPr>
        <p:spPr>
          <a:xfrm>
            <a:off x="428625" y="3222920"/>
            <a:ext cx="171450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Generates telemetry, logs, and security alerts.</a:t>
            </a:r>
            <a:endParaRPr lang="en-US" sz="727" dirty="0"/>
          </a:p>
        </p:txBody>
      </p:sp>
      <p:sp>
        <p:nvSpPr>
          <p:cNvPr id="10" name="Shape 6"/>
          <p:cNvSpPr/>
          <p:nvPr/>
        </p:nvSpPr>
        <p:spPr>
          <a:xfrm>
            <a:off x="4286250" y="2548533"/>
            <a:ext cx="714375" cy="714375"/>
          </a:xfrm>
          <a:prstGeom prst="ellipse">
            <a:avLst/>
          </a:prstGeom>
          <a:solidFill>
            <a:srgbClr val="0A192F"/>
          </a:solidFill>
          <a:ln w="18288">
            <a:solidFill>
              <a:srgbClr val="FFD700"/>
            </a:solidFill>
            <a:prstDash val="dash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563" y="2762845"/>
            <a:ext cx="285750" cy="285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73845" y="3334345"/>
            <a:ext cx="5391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D700"/>
                </a:solidFill>
              </a:rPr>
              <a:t>ROUTING</a:t>
            </a:r>
            <a:endParaRPr lang="en-US" sz="784" dirty="0"/>
          </a:p>
        </p:txBody>
      </p:sp>
      <p:sp>
        <p:nvSpPr>
          <p:cNvPr id="13" name="Shape 8"/>
          <p:cNvSpPr/>
          <p:nvPr/>
        </p:nvSpPr>
        <p:spPr>
          <a:xfrm>
            <a:off x="6858000" y="1522902"/>
            <a:ext cx="2000250" cy="1281912"/>
          </a:xfrm>
          <a:prstGeom prst="rect">
            <a:avLst/>
          </a:prstGeom>
          <a:solidFill>
            <a:srgbClr val="112240"/>
          </a:solidFill>
          <a:ln w="18288">
            <a:solidFill>
              <a:srgbClr val="FF5F56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7391" y="1728285"/>
            <a:ext cx="321469" cy="2571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379829" y="2137265"/>
            <a:ext cx="95656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Vendor Cloud</a:t>
            </a:r>
            <a:endParaRPr lang="en-US" sz="987" dirty="0"/>
          </a:p>
        </p:txBody>
      </p:sp>
      <p:sp>
        <p:nvSpPr>
          <p:cNvPr id="16" name="Text 10"/>
          <p:cNvSpPr/>
          <p:nvPr/>
        </p:nvSpPr>
        <p:spPr>
          <a:xfrm>
            <a:off x="7176064" y="2367651"/>
            <a:ext cx="136409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Security Events &amp; Detections.</a:t>
            </a:r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B0C4DE"/>
                </a:solidFill>
              </a:rPr>
              <a:t>Why:</a:t>
            </a:r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 Vendor SLA &amp; Analysis.</a:t>
            </a:r>
            <a:endParaRPr lang="en-US" sz="727" dirty="0"/>
          </a:p>
        </p:txBody>
      </p:sp>
      <p:sp>
        <p:nvSpPr>
          <p:cNvPr id="17" name="Shape 11"/>
          <p:cNvSpPr/>
          <p:nvPr/>
        </p:nvSpPr>
        <p:spPr>
          <a:xfrm>
            <a:off x="6858000" y="3219152"/>
            <a:ext cx="2000250" cy="1281912"/>
          </a:xfrm>
          <a:prstGeom prst="rect">
            <a:avLst/>
          </a:prstGeom>
          <a:solidFill>
            <a:srgbClr val="112240"/>
          </a:solidFill>
          <a:ln w="18288">
            <a:solidFill>
              <a:srgbClr val="32CD32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9538" y="3424535"/>
            <a:ext cx="257175" cy="2571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372769" y="3833515"/>
            <a:ext cx="9707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Internal SIEM</a:t>
            </a:r>
            <a:endParaRPr lang="en-US" sz="987" dirty="0"/>
          </a:p>
        </p:txBody>
      </p:sp>
      <p:sp>
        <p:nvSpPr>
          <p:cNvPr id="20" name="Text 13"/>
          <p:cNvSpPr/>
          <p:nvPr/>
        </p:nvSpPr>
        <p:spPr>
          <a:xfrm>
            <a:off x="7161023" y="4063901"/>
            <a:ext cx="139420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Raw Telemetry &amp; Logs.</a:t>
            </a:r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B0C4DE"/>
                </a:solidFill>
              </a:rPr>
              <a:t>Why:</a:t>
            </a:r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 Data Ownership &amp; Cost.</a:t>
            </a:r>
            <a:endParaRPr lang="en-US" sz="727" dirty="0"/>
          </a:p>
        </p:txBody>
      </p:sp>
      <p:sp>
        <p:nvSpPr>
          <p:cNvPr id="21" name="Shape 14"/>
          <p:cNvSpPr/>
          <p:nvPr/>
        </p:nvSpPr>
        <p:spPr>
          <a:xfrm>
            <a:off x="4530728" y="2272996"/>
            <a:ext cx="1241422" cy="201811"/>
          </a:xfrm>
          <a:prstGeom prst="rect">
            <a:avLst/>
          </a:prstGeom>
          <a:solidFill>
            <a:srgbClr val="0A192F"/>
          </a:solidFill>
          <a:ln w="9144">
            <a:solidFill>
              <a:srgbClr val="FF5F56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4530728" y="2272996"/>
            <a:ext cx="1241422" cy="201811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5F56"/>
                </a:solidFill>
              </a:rPr>
              <a:t>Path 1: Security Events</a:t>
            </a:r>
            <a:endParaRPr lang="en-US" sz="584" dirty="0"/>
          </a:p>
        </p:txBody>
      </p:sp>
      <p:sp>
        <p:nvSpPr>
          <p:cNvPr id="23" name="Shape 16"/>
          <p:cNvSpPr/>
          <p:nvPr/>
        </p:nvSpPr>
        <p:spPr>
          <a:xfrm>
            <a:off x="4430771" y="3563448"/>
            <a:ext cx="1341379" cy="201811"/>
          </a:xfrm>
          <a:prstGeom prst="rect">
            <a:avLst/>
          </a:prstGeom>
          <a:solidFill>
            <a:srgbClr val="0A192F"/>
          </a:solidFill>
          <a:ln w="9144">
            <a:solidFill>
              <a:srgbClr val="32CD32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4430771" y="3563448"/>
            <a:ext cx="1341379" cy="201811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2CD32"/>
                </a:solidFill>
              </a:rPr>
              <a:t>Path 2: Operational Data</a:t>
            </a:r>
            <a:endParaRPr lang="en-US" sz="584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5518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966192"/>
            <a:ext cx="828675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4008453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Implementation Details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109067"/>
            <a:ext cx="8286750" cy="114300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57238" y="1230511"/>
            <a:ext cx="571500" cy="571500"/>
          </a:xfrm>
          <a:prstGeom prst="rect">
            <a:avLst/>
          </a:prstGeom>
          <a:solidFill>
            <a:srgbClr val="0A192F"/>
          </a:solidFill>
          <a:ln w="18288">
            <a:solidFill>
              <a:srgbClr val="B0C4D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1401961"/>
            <a:ext cx="200025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5195" y="1844873"/>
            <a:ext cx="395557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Agent</a:t>
            </a:r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(Source)</a:t>
            </a:r>
            <a:endParaRPr lang="en-US" sz="683" dirty="0"/>
          </a:p>
        </p:txBody>
      </p:sp>
      <p:sp>
        <p:nvSpPr>
          <p:cNvPr id="10" name="Shape 6"/>
          <p:cNvSpPr/>
          <p:nvPr/>
        </p:nvSpPr>
        <p:spPr>
          <a:xfrm>
            <a:off x="1628775" y="1666280"/>
            <a:ext cx="4286250" cy="14288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5873948" y="1623417"/>
            <a:ext cx="6250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>
                    <a:alpha val="20000"/>
                  </a:srgbClr>
                </a:solidFill>
              </a:rPr>
              <a:t></a:t>
            </a:r>
            <a:endParaRPr lang="en-US" sz="683" dirty="0"/>
          </a:p>
        </p:txBody>
      </p:sp>
      <p:sp>
        <p:nvSpPr>
          <p:cNvPr id="12" name="Shape 8"/>
          <p:cNvSpPr/>
          <p:nvPr/>
        </p:nvSpPr>
        <p:spPr>
          <a:xfrm>
            <a:off x="6286500" y="1230511"/>
            <a:ext cx="571500" cy="571500"/>
          </a:xfrm>
          <a:prstGeom prst="rect">
            <a:avLst/>
          </a:prstGeom>
          <a:solidFill>
            <a:srgbClr val="9370DB">
              <a:alpha val="10000"/>
            </a:srgbClr>
          </a:solidFill>
          <a:ln w="18288">
            <a:solidFill>
              <a:srgbClr val="9370D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950" y="1401961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04738" y="1844873"/>
            <a:ext cx="734997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OTEL Sidecar</a:t>
            </a:r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(Routing Logic)</a:t>
            </a:r>
            <a:endParaRPr lang="en-US" sz="683" dirty="0"/>
          </a:p>
        </p:txBody>
      </p:sp>
      <p:sp>
        <p:nvSpPr>
          <p:cNvPr id="15" name="Shape 10"/>
          <p:cNvSpPr/>
          <p:nvPr/>
        </p:nvSpPr>
        <p:spPr>
          <a:xfrm>
            <a:off x="7243763" y="1351955"/>
            <a:ext cx="271463" cy="14288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16" name="Shape 11"/>
          <p:cNvSpPr/>
          <p:nvPr/>
        </p:nvSpPr>
        <p:spPr>
          <a:xfrm>
            <a:off x="7243763" y="1980605"/>
            <a:ext cx="271463" cy="14288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17" name="Shape 12"/>
          <p:cNvSpPr/>
          <p:nvPr/>
        </p:nvSpPr>
        <p:spPr>
          <a:xfrm>
            <a:off x="7600950" y="1248370"/>
            <a:ext cx="331822" cy="357188"/>
          </a:xfrm>
          <a:prstGeom prst="rect">
            <a:avLst/>
          </a:prstGeom>
          <a:solidFill>
            <a:srgbClr val="0A192F"/>
          </a:solidFill>
          <a:ln w="18288">
            <a:solidFill>
              <a:srgbClr val="32CD3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4684" y="1355527"/>
            <a:ext cx="142875" cy="1428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988471" y="1223367"/>
            <a:ext cx="612604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Internal 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SIEM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485" b="1" dirty="0">
                <a:solidFill>
                  <a:srgbClr val="32CD32"/>
                </a:solidFill>
              </a:rPr>
              <a:t>(Security Events)</a:t>
            </a:r>
            <a:endParaRPr lang="en-US" sz="683" dirty="0"/>
          </a:p>
        </p:txBody>
      </p:sp>
      <p:sp>
        <p:nvSpPr>
          <p:cNvPr id="20" name="Shape 14"/>
          <p:cNvSpPr/>
          <p:nvPr/>
        </p:nvSpPr>
        <p:spPr>
          <a:xfrm>
            <a:off x="7600950" y="1741289"/>
            <a:ext cx="333189" cy="357188"/>
          </a:xfrm>
          <a:prstGeom prst="rect">
            <a:avLst/>
          </a:prstGeom>
          <a:solidFill>
            <a:srgbClr val="0A192F"/>
          </a:solidFill>
          <a:ln w="18288">
            <a:solidFill>
              <a:srgbClr val="00BFF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7578" y="1848445"/>
            <a:ext cx="178594" cy="14287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989950" y="1716286"/>
            <a:ext cx="611125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Vendor 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Cloud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485" b="1" dirty="0">
                <a:solidFill>
                  <a:srgbClr val="00BFFF"/>
                </a:solidFill>
              </a:rPr>
              <a:t>(Full Telemetry)</a:t>
            </a:r>
            <a:endParaRPr lang="en-US" sz="683" dirty="0"/>
          </a:p>
        </p:txBody>
      </p:sp>
      <p:sp>
        <p:nvSpPr>
          <p:cNvPr id="23" name="Shape 16"/>
          <p:cNvSpPr/>
          <p:nvPr/>
        </p:nvSpPr>
        <p:spPr>
          <a:xfrm>
            <a:off x="428625" y="2904827"/>
            <a:ext cx="3701746" cy="85367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4" name="Shape 17"/>
          <p:cNvSpPr/>
          <p:nvPr/>
        </p:nvSpPr>
        <p:spPr>
          <a:xfrm>
            <a:off x="428625" y="2904827"/>
            <a:ext cx="28575" cy="853678"/>
          </a:xfrm>
          <a:prstGeom prst="rect">
            <a:avLst/>
          </a:prstGeom>
          <a:solidFill>
            <a:srgbClr val="9370DB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" y="3013770"/>
            <a:ext cx="128588" cy="12858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14375" y="2990552"/>
            <a:ext cx="126031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9370DB"/>
                </a:solidFill>
              </a:rPr>
              <a:t>The Sidecar Pattern</a:t>
            </a:r>
            <a:endParaRPr lang="en-US" sz="885" dirty="0"/>
          </a:p>
        </p:txBody>
      </p:sp>
      <p:sp>
        <p:nvSpPr>
          <p:cNvPr id="27" name="Text 19"/>
          <p:cNvSpPr/>
          <p:nvPr/>
        </p:nvSpPr>
        <p:spPr>
          <a:xfrm>
            <a:off x="514350" y="3222724"/>
            <a:ext cx="3530296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An OpenTelemetry Collector runs alongside the agent on localhost. It intercepts traffic via local loopback (127.0.0.1) or log file tailing, ensuring zero network exposure.</a:t>
            </a:r>
            <a:endParaRPr lang="en-US" sz="727" dirty="0"/>
          </a:p>
        </p:txBody>
      </p:sp>
      <p:sp>
        <p:nvSpPr>
          <p:cNvPr id="28" name="Shape 20"/>
          <p:cNvSpPr/>
          <p:nvPr/>
        </p:nvSpPr>
        <p:spPr>
          <a:xfrm>
            <a:off x="428625" y="3844230"/>
            <a:ext cx="3701746" cy="703659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9" name="Shape 21"/>
          <p:cNvSpPr/>
          <p:nvPr/>
        </p:nvSpPr>
        <p:spPr>
          <a:xfrm>
            <a:off x="428625" y="3844230"/>
            <a:ext cx="28575" cy="703659"/>
          </a:xfrm>
          <a:prstGeom prst="rect">
            <a:avLst/>
          </a:prstGeom>
          <a:solidFill>
            <a:srgbClr val="32CD32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" y="3953173"/>
            <a:ext cx="112514" cy="12858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98302" y="3929955"/>
            <a:ext cx="116733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2CD32"/>
                </a:solidFill>
              </a:rPr>
              <a:t>Routing Processor</a:t>
            </a:r>
            <a:endParaRPr lang="en-US" sz="885" dirty="0"/>
          </a:p>
        </p:txBody>
      </p:sp>
      <p:sp>
        <p:nvSpPr>
          <p:cNvPr id="32" name="Text 23"/>
          <p:cNvSpPr/>
          <p:nvPr/>
        </p:nvSpPr>
        <p:spPr>
          <a:xfrm>
            <a:off x="514350" y="4162127"/>
            <a:ext cx="353029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Logic is defined in the OTEL configuration. Data is tagged, filtered, and routed to specific exporters based on content (e.g., "severity=critical").</a:t>
            </a:r>
            <a:endParaRPr lang="en-US" sz="727" dirty="0"/>
          </a:p>
        </p:txBody>
      </p:sp>
      <p:sp>
        <p:nvSpPr>
          <p:cNvPr id="33" name="Shape 24"/>
          <p:cNvSpPr/>
          <p:nvPr/>
        </p:nvSpPr>
        <p:spPr>
          <a:xfrm>
            <a:off x="4273246" y="2380655"/>
            <a:ext cx="4442129" cy="2691408"/>
          </a:xfrm>
          <a:prstGeom prst="rect">
            <a:avLst/>
          </a:prstGeom>
          <a:solidFill>
            <a:srgbClr val="112240"/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4273246" y="2380655"/>
            <a:ext cx="4442129" cy="237530"/>
          </a:xfrm>
          <a:prstGeom prst="rect">
            <a:avLst/>
          </a:prstGeom>
          <a:solidFill>
            <a:srgbClr val="051020"/>
          </a:solidFill>
          <a:ln/>
        </p:spPr>
      </p:sp>
      <p:sp>
        <p:nvSpPr>
          <p:cNvPr id="35" name="Shape 26"/>
          <p:cNvSpPr/>
          <p:nvPr/>
        </p:nvSpPr>
        <p:spPr>
          <a:xfrm>
            <a:off x="4273246" y="2611041"/>
            <a:ext cx="4442129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27"/>
          <p:cNvSpPr/>
          <p:nvPr/>
        </p:nvSpPr>
        <p:spPr>
          <a:xfrm>
            <a:off x="4816171" y="2437805"/>
            <a:ext cx="64826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C6D85"/>
                </a:solidFill>
              </a:rPr>
              <a:t>otel-config.yaml</a:t>
            </a:r>
            <a:endParaRPr lang="en-US" sz="621" dirty="0"/>
          </a:p>
        </p:txBody>
      </p:sp>
      <p:sp>
        <p:nvSpPr>
          <p:cNvPr id="37" name="Text 28"/>
          <p:cNvSpPr/>
          <p:nvPr/>
        </p:nvSpPr>
        <p:spPr>
          <a:xfrm>
            <a:off x="4273246" y="2611041"/>
            <a:ext cx="4442129" cy="239996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792EA"/>
                </a:solidFill>
              </a:rPr>
              <a:t>processors: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792EA"/>
                </a:solidFill>
              </a:rPr>
              <a:t>routing: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792EA"/>
                </a:solidFill>
              </a:rPr>
              <a:t>from_attribute: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3E88D"/>
                </a:solidFill>
              </a:rPr>
              <a:t>log.type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792EA"/>
                </a:solidFill>
              </a:rPr>
              <a:t>table: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546E7A"/>
                </a:solidFill>
              </a:rPr>
              <a:t># Route 1: Security Alerts -&gt; SIEM + Vendor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6F1FF"/>
                </a:solidFill>
              </a:rPr>
              <a:t> -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792EA"/>
                </a:solidFill>
              </a:rPr>
              <a:t>value: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3E88D"/>
                </a:solidFill>
              </a:rPr>
              <a:t>security_alert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792EA"/>
                </a:solidFill>
              </a:rPr>
              <a:t>exporters: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6F1FF"/>
                </a:solidFill>
              </a:rPr>
              <a:t> [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78C6C"/>
                </a:solidFill>
              </a:rPr>
              <a:t>splunk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6F1FF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78C6C"/>
                </a:solidFill>
              </a:rPr>
              <a:t>crowdstrike_cloud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6F1FF"/>
                </a:solidFill>
              </a:rPr>
              <a:t>]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546E7A"/>
                </a:solidFill>
              </a:rPr>
              <a:t># Route 2: Operational Metrics -&gt; SIEM Only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6F1FF"/>
                </a:solidFill>
              </a:rPr>
              <a:t> -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792EA"/>
                </a:solidFill>
              </a:rPr>
              <a:t>value: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3E88D"/>
                </a:solidFill>
              </a:rPr>
              <a:t>op_metric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792EA"/>
                </a:solidFill>
              </a:rPr>
              <a:t>exporters: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6F1FF"/>
                </a:solidFill>
              </a:rPr>
              <a:t> [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78C6C"/>
                </a:solidFill>
              </a:rPr>
              <a:t>splunk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6F1FF"/>
                </a:solidFill>
              </a:rPr>
              <a:t>]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546E7A"/>
                </a:solidFill>
              </a:rPr>
              <a:t># Route 3: Debug Logs -&gt; Drop (Cost Saving)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6F1FF"/>
                </a:solidFill>
              </a:rPr>
              <a:t> -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792EA"/>
                </a:solidFill>
              </a:rPr>
              <a:t>value: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3E88D"/>
                </a:solidFill>
              </a:rPr>
              <a:t>debug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6F1FF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792EA"/>
                </a:solidFill>
              </a:rPr>
              <a:t>exporters: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6F1FF"/>
                </a:solidFill>
              </a:rPr>
              <a:t> [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78C6C"/>
                </a:solidFill>
              </a:rPr>
              <a:t>logging/devnull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6F1FF"/>
                </a:solidFill>
              </a:rPr>
              <a:t>]</a:t>
            </a:r>
            <a:endParaRPr lang="en-US" sz="674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2985474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Strategic Benefits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394817"/>
            <a:ext cx="2476481" cy="332005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1500" y="1394817"/>
            <a:ext cx="2462166" cy="57150"/>
          </a:xfrm>
          <a:prstGeom prst="rect">
            <a:avLst/>
          </a:prstGeom>
          <a:solidFill>
            <a:srgbClr val="00B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1851403" y="3786188"/>
            <a:ext cx="1339453" cy="107156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488272" y="1680567"/>
            <a:ext cx="642938" cy="642938"/>
          </a:xfrm>
          <a:prstGeom prst="ellipse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BFFF">
                <a:alpha val="30000"/>
              </a:srgbClr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2584" y="1859161"/>
            <a:ext cx="214313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2275" y="2537817"/>
            <a:ext cx="195493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</a:rPr>
              <a:t>Vendor Neutrality</a:t>
            </a:r>
            <a:endParaRPr lang="en-US" sz="1193" dirty="0"/>
          </a:p>
        </p:txBody>
      </p:sp>
      <p:sp>
        <p:nvSpPr>
          <p:cNvPr id="12" name="Text 7"/>
          <p:cNvSpPr/>
          <p:nvPr/>
        </p:nvSpPr>
        <p:spPr>
          <a:xfrm>
            <a:off x="785813" y="2914650"/>
            <a:ext cx="204785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Decouple data collection from vendor backends. Switch providers without re-instrumenting 200k endpoints.</a:t>
            </a:r>
            <a:endParaRPr lang="en-US" sz="834" dirty="0"/>
          </a:p>
        </p:txBody>
      </p:sp>
      <p:sp>
        <p:nvSpPr>
          <p:cNvPr id="13" name="Shape 8"/>
          <p:cNvSpPr/>
          <p:nvPr/>
        </p:nvSpPr>
        <p:spPr>
          <a:xfrm>
            <a:off x="785813" y="3711178"/>
            <a:ext cx="2047856" cy="717947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964406" y="3818334"/>
            <a:ext cx="1690669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BFFF"/>
                </a:solidFill>
              </a:rPr>
              <a:t>Zero</a:t>
            </a:r>
            <a:endParaRPr lang="en-US" sz="1602" dirty="0"/>
          </a:p>
        </p:txBody>
      </p:sp>
      <p:sp>
        <p:nvSpPr>
          <p:cNvPr id="15" name="Text 10"/>
          <p:cNvSpPr/>
          <p:nvPr/>
        </p:nvSpPr>
        <p:spPr>
          <a:xfrm>
            <a:off x="1405421" y="4198739"/>
            <a:ext cx="80863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FFFFFF">
                    <a:alpha val="70000"/>
                  </a:srgbClr>
                </a:solidFill>
              </a:rPr>
              <a:t>Vendor Lock-in</a:t>
            </a:r>
            <a:endParaRPr lang="en-US" sz="621" dirty="0"/>
          </a:p>
        </p:txBody>
      </p:sp>
      <p:sp>
        <p:nvSpPr>
          <p:cNvPr id="16" name="Shape 11"/>
          <p:cNvSpPr/>
          <p:nvPr/>
        </p:nvSpPr>
        <p:spPr>
          <a:xfrm>
            <a:off x="3333731" y="1394817"/>
            <a:ext cx="2476509" cy="332005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333731" y="1394817"/>
            <a:ext cx="2462222" cy="57150"/>
          </a:xfrm>
          <a:prstGeom prst="rect">
            <a:avLst/>
          </a:prstGeom>
          <a:solidFill>
            <a:srgbClr val="32CD3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5015499" y="3786188"/>
            <a:ext cx="937617" cy="1071563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250503" y="1680567"/>
            <a:ext cx="642938" cy="642938"/>
          </a:xfrm>
          <a:prstGeom prst="ellipse">
            <a:avLst/>
          </a:prstGeom>
          <a:solidFill>
            <a:srgbClr val="FFFFFF">
              <a:alpha val="5000"/>
            </a:srgbClr>
          </a:solidFill>
          <a:ln w="9144">
            <a:solidFill>
              <a:srgbClr val="32CD32">
                <a:alpha val="30000"/>
              </a:srgbClr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097" y="1859161"/>
            <a:ext cx="285750" cy="2857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683719" y="2537817"/>
            <a:ext cx="177653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</a:rPr>
              <a:t>Data Sovereignty</a:t>
            </a:r>
            <a:endParaRPr lang="en-US" sz="1193" dirty="0"/>
          </a:p>
        </p:txBody>
      </p:sp>
      <p:sp>
        <p:nvSpPr>
          <p:cNvPr id="22" name="Text 15"/>
          <p:cNvSpPr/>
          <p:nvPr/>
        </p:nvSpPr>
        <p:spPr>
          <a:xfrm>
            <a:off x="3548044" y="2914650"/>
            <a:ext cx="2047884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We own the data pipeline. Logs are archived in our S3 buckets before they ever reach a vendor cloud.</a:t>
            </a:r>
            <a:endParaRPr lang="en-US" sz="834" dirty="0"/>
          </a:p>
        </p:txBody>
      </p:sp>
      <p:sp>
        <p:nvSpPr>
          <p:cNvPr id="23" name="Shape 16"/>
          <p:cNvSpPr/>
          <p:nvPr/>
        </p:nvSpPr>
        <p:spPr>
          <a:xfrm>
            <a:off x="3548044" y="3711178"/>
            <a:ext cx="2047884" cy="717947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24" name="Text 17"/>
          <p:cNvSpPr/>
          <p:nvPr/>
        </p:nvSpPr>
        <p:spPr>
          <a:xfrm>
            <a:off x="3726638" y="3818334"/>
            <a:ext cx="1690697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2CD32"/>
                </a:solidFill>
              </a:rPr>
              <a:t>100%</a:t>
            </a:r>
            <a:endParaRPr lang="en-US" sz="1602" dirty="0"/>
          </a:p>
        </p:txBody>
      </p:sp>
      <p:sp>
        <p:nvSpPr>
          <p:cNvPr id="25" name="Text 18"/>
          <p:cNvSpPr/>
          <p:nvPr/>
        </p:nvSpPr>
        <p:spPr>
          <a:xfrm>
            <a:off x="4156044" y="4198739"/>
            <a:ext cx="8318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FFFFFF">
                    <a:alpha val="70000"/>
                  </a:srgbClr>
                </a:solidFill>
              </a:rPr>
              <a:t>Data Ownership</a:t>
            </a:r>
            <a:endParaRPr lang="en-US" sz="621" dirty="0"/>
          </a:p>
        </p:txBody>
      </p:sp>
      <p:sp>
        <p:nvSpPr>
          <p:cNvPr id="26" name="Shape 19"/>
          <p:cNvSpPr/>
          <p:nvPr/>
        </p:nvSpPr>
        <p:spPr>
          <a:xfrm>
            <a:off x="6095991" y="1394817"/>
            <a:ext cx="2476481" cy="332005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095991" y="1394817"/>
            <a:ext cx="2462166" cy="57150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>
            <a:alphaModFix amt="5000"/>
          </a:blip>
          <a:stretch>
            <a:fillRect/>
          </a:stretch>
        </p:blipFill>
        <p:spPr>
          <a:xfrm>
            <a:off x="7643785" y="3786188"/>
            <a:ext cx="1071563" cy="1071563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7012763" y="1680567"/>
            <a:ext cx="642938" cy="642938"/>
          </a:xfrm>
          <a:prstGeom prst="ellipse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D700">
                <a:alpha val="30000"/>
              </a:srgbClr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1356" y="1859161"/>
            <a:ext cx="285750" cy="28575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637353" y="2537817"/>
            <a:ext cx="139372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</a:rPr>
              <a:t>Cost Control</a:t>
            </a:r>
            <a:endParaRPr lang="en-US" sz="1193" dirty="0"/>
          </a:p>
        </p:txBody>
      </p:sp>
      <p:sp>
        <p:nvSpPr>
          <p:cNvPr id="32" name="Text 23"/>
          <p:cNvSpPr/>
          <p:nvPr/>
        </p:nvSpPr>
        <p:spPr>
          <a:xfrm>
            <a:off x="6310303" y="2914650"/>
            <a:ext cx="204785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Filter noise at the source. Route high-volume, low-value logs to cheap storage instead of expensive SIEMs.</a:t>
            </a:r>
            <a:endParaRPr lang="en-US" sz="834" dirty="0"/>
          </a:p>
        </p:txBody>
      </p:sp>
      <p:sp>
        <p:nvSpPr>
          <p:cNvPr id="33" name="Shape 24"/>
          <p:cNvSpPr/>
          <p:nvPr/>
        </p:nvSpPr>
        <p:spPr>
          <a:xfrm>
            <a:off x="6310303" y="3711178"/>
            <a:ext cx="2047856" cy="717947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34" name="Text 25"/>
          <p:cNvSpPr/>
          <p:nvPr/>
        </p:nvSpPr>
        <p:spPr>
          <a:xfrm>
            <a:off x="6488897" y="3818334"/>
            <a:ext cx="1690669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D700"/>
                </a:solidFill>
              </a:rPr>
              <a:t>30%</a:t>
            </a:r>
            <a:endParaRPr lang="en-US" sz="1602" dirty="0"/>
          </a:p>
        </p:txBody>
      </p:sp>
      <p:sp>
        <p:nvSpPr>
          <p:cNvPr id="35" name="Text 26"/>
          <p:cNvSpPr/>
          <p:nvPr/>
        </p:nvSpPr>
        <p:spPr>
          <a:xfrm>
            <a:off x="6921373" y="4198739"/>
            <a:ext cx="82568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FFFFFF">
                    <a:alpha val="70000"/>
                  </a:srgbClr>
                </a:solidFill>
              </a:rPr>
              <a:t>Cost Reduction</a:t>
            </a:r>
            <a:endParaRPr lang="en-US" sz="62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5602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3020244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Update Strategies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323380"/>
            <a:ext cx="2476481" cy="365402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323380"/>
            <a:ext cx="2476481" cy="42863"/>
          </a:xfrm>
          <a:prstGeom prst="rect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2327802" y="1466255"/>
            <a:ext cx="577304" cy="169664"/>
          </a:xfrm>
          <a:prstGeom prst="rect">
            <a:avLst/>
          </a:prstGeom>
          <a:solidFill>
            <a:srgbClr val="FF5F56">
              <a:alpha val="2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2327802" y="1466255"/>
            <a:ext cx="577304" cy="169664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5F56"/>
                </a:solidFill>
              </a:rPr>
              <a:t>Emergency</a:t>
            </a:r>
            <a:endParaRPr lang="en-US" sz="485" dirty="0"/>
          </a:p>
        </p:txBody>
      </p:sp>
      <p:sp>
        <p:nvSpPr>
          <p:cNvPr id="10" name="Shape 7"/>
          <p:cNvSpPr/>
          <p:nvPr/>
        </p:nvSpPr>
        <p:spPr>
          <a:xfrm>
            <a:off x="1523991" y="1537692"/>
            <a:ext cx="571500" cy="571500"/>
          </a:xfrm>
          <a:prstGeom prst="ellipse">
            <a:avLst/>
          </a:prstGeom>
          <a:solidFill>
            <a:srgbClr val="FF5F56">
              <a:alpha val="10000"/>
            </a:srgbClr>
          </a:solidFill>
          <a:ln w="18288">
            <a:solidFill>
              <a:srgbClr val="FF5F5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300" y="1694855"/>
            <a:ext cx="192881" cy="2571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53893" y="2252067"/>
            <a:ext cx="71169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Critical</a:t>
            </a:r>
            <a:endParaRPr lang="en-US" sz="1397" dirty="0"/>
          </a:p>
        </p:txBody>
      </p:sp>
      <p:sp>
        <p:nvSpPr>
          <p:cNvPr id="13" name="Text 9"/>
          <p:cNvSpPr/>
          <p:nvPr/>
        </p:nvSpPr>
        <p:spPr>
          <a:xfrm>
            <a:off x="1241701" y="2596753"/>
            <a:ext cx="11360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B0C4DE"/>
                </a:solidFill>
              </a:rPr>
              <a:t>Zero-Day Response</a:t>
            </a:r>
            <a:endParaRPr lang="en-US" sz="683" dirty="0"/>
          </a:p>
        </p:txBody>
      </p:sp>
      <p:sp>
        <p:nvSpPr>
          <p:cNvPr id="14" name="Text 10"/>
          <p:cNvSpPr/>
          <p:nvPr/>
        </p:nvSpPr>
        <p:spPr>
          <a:xfrm>
            <a:off x="785813" y="2956620"/>
            <a:ext cx="29074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892B0"/>
                </a:solidFill>
              </a:rPr>
              <a:t>Speed</a:t>
            </a:r>
            <a:endParaRPr lang="en-US" sz="727" dirty="0"/>
          </a:p>
        </p:txBody>
      </p:sp>
      <p:sp>
        <p:nvSpPr>
          <p:cNvPr id="15" name="Text 11"/>
          <p:cNvSpPr/>
          <p:nvPr/>
        </p:nvSpPr>
        <p:spPr>
          <a:xfrm>
            <a:off x="2294399" y="2946797"/>
            <a:ext cx="5392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2-3 Hours</a:t>
            </a:r>
            <a:endParaRPr lang="en-US" sz="784" dirty="0"/>
          </a:p>
        </p:txBody>
      </p:sp>
      <p:sp>
        <p:nvSpPr>
          <p:cNvPr id="16" name="Text 12"/>
          <p:cNvSpPr/>
          <p:nvPr/>
        </p:nvSpPr>
        <p:spPr>
          <a:xfrm>
            <a:off x="785813" y="3297734"/>
            <a:ext cx="47718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892B0"/>
                </a:solidFill>
              </a:rPr>
              <a:t>Batch Size</a:t>
            </a:r>
            <a:endParaRPr lang="en-US" sz="727" dirty="0"/>
          </a:p>
        </p:txBody>
      </p:sp>
      <p:sp>
        <p:nvSpPr>
          <p:cNvPr id="17" name="Text 13"/>
          <p:cNvSpPr/>
          <p:nvPr/>
        </p:nvSpPr>
        <p:spPr>
          <a:xfrm>
            <a:off x="2103053" y="3287911"/>
            <a:ext cx="7306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Large (25%+)</a:t>
            </a:r>
            <a:endParaRPr lang="en-US" sz="784" dirty="0"/>
          </a:p>
        </p:txBody>
      </p:sp>
      <p:sp>
        <p:nvSpPr>
          <p:cNvPr id="18" name="Text 14"/>
          <p:cNvSpPr/>
          <p:nvPr/>
        </p:nvSpPr>
        <p:spPr>
          <a:xfrm>
            <a:off x="785813" y="3638848"/>
            <a:ext cx="4174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892B0"/>
                </a:solidFill>
              </a:rPr>
              <a:t>Approval</a:t>
            </a:r>
            <a:endParaRPr lang="en-US" sz="727" dirty="0"/>
          </a:p>
        </p:txBody>
      </p:sp>
      <p:sp>
        <p:nvSpPr>
          <p:cNvPr id="19" name="Text 15"/>
          <p:cNvSpPr/>
          <p:nvPr/>
        </p:nvSpPr>
        <p:spPr>
          <a:xfrm>
            <a:off x="2169802" y="3629025"/>
            <a:ext cx="66386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Break Glass</a:t>
            </a:r>
            <a:endParaRPr lang="en-US" sz="784" dirty="0"/>
          </a:p>
        </p:txBody>
      </p:sp>
      <p:sp>
        <p:nvSpPr>
          <p:cNvPr id="20" name="Text 16"/>
          <p:cNvSpPr/>
          <p:nvPr/>
        </p:nvSpPr>
        <p:spPr>
          <a:xfrm>
            <a:off x="785813" y="4120158"/>
            <a:ext cx="2047856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B0C4DE"/>
                </a:solidFill>
              </a:rPr>
              <a:t>Rapid deployment for active threats (e.g., Log4j). Bypasses standard canary gates. High risk tolerance for availability to ensure security.</a:t>
            </a:r>
            <a:endParaRPr lang="en-US" sz="780" dirty="0"/>
          </a:p>
        </p:txBody>
      </p:sp>
      <p:sp>
        <p:nvSpPr>
          <p:cNvPr id="21" name="Shape 17"/>
          <p:cNvSpPr/>
          <p:nvPr/>
        </p:nvSpPr>
        <p:spPr>
          <a:xfrm>
            <a:off x="3333731" y="1323380"/>
            <a:ext cx="2476509" cy="365402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3333731" y="1323380"/>
            <a:ext cx="2476509" cy="42863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23" name="Shape 19"/>
          <p:cNvSpPr/>
          <p:nvPr/>
        </p:nvSpPr>
        <p:spPr>
          <a:xfrm>
            <a:off x="5140654" y="1466255"/>
            <a:ext cx="526712" cy="169664"/>
          </a:xfrm>
          <a:prstGeom prst="rect">
            <a:avLst/>
          </a:prstGeom>
          <a:solidFill>
            <a:srgbClr val="32CD32">
              <a:alpha val="2000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5140654" y="1466255"/>
            <a:ext cx="526712" cy="169664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32CD32"/>
                </a:solidFill>
              </a:rPr>
              <a:t>Standard</a:t>
            </a:r>
            <a:endParaRPr lang="en-US" sz="485" dirty="0"/>
          </a:p>
        </p:txBody>
      </p:sp>
      <p:sp>
        <p:nvSpPr>
          <p:cNvPr id="25" name="Shape 21"/>
          <p:cNvSpPr/>
          <p:nvPr/>
        </p:nvSpPr>
        <p:spPr>
          <a:xfrm>
            <a:off x="4286222" y="1537692"/>
            <a:ext cx="571500" cy="571500"/>
          </a:xfrm>
          <a:prstGeom prst="ellipse">
            <a:avLst/>
          </a:prstGeom>
          <a:solidFill>
            <a:srgbClr val="32CD32">
              <a:alpha val="10000"/>
            </a:srgbClr>
          </a:solidFill>
          <a:ln w="18288">
            <a:solidFill>
              <a:srgbClr val="32CD32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385" y="1694855"/>
            <a:ext cx="257175" cy="25717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194218" y="2252067"/>
            <a:ext cx="755507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Normal</a:t>
            </a:r>
            <a:endParaRPr lang="en-US" sz="1397" dirty="0"/>
          </a:p>
        </p:txBody>
      </p:sp>
      <p:sp>
        <p:nvSpPr>
          <p:cNvPr id="28" name="Text 23"/>
          <p:cNvSpPr/>
          <p:nvPr/>
        </p:nvSpPr>
        <p:spPr>
          <a:xfrm>
            <a:off x="4066356" y="2596753"/>
            <a:ext cx="10112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B0C4DE"/>
                </a:solidFill>
              </a:rPr>
              <a:t>Feature / Config</a:t>
            </a:r>
            <a:endParaRPr lang="en-US" sz="683" dirty="0"/>
          </a:p>
        </p:txBody>
      </p:sp>
      <p:sp>
        <p:nvSpPr>
          <p:cNvPr id="29" name="Text 24"/>
          <p:cNvSpPr/>
          <p:nvPr/>
        </p:nvSpPr>
        <p:spPr>
          <a:xfrm>
            <a:off x="3548044" y="2956620"/>
            <a:ext cx="29074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892B0"/>
                </a:solidFill>
              </a:rPr>
              <a:t>Speed</a:t>
            </a:r>
            <a:endParaRPr lang="en-US" sz="727" dirty="0"/>
          </a:p>
        </p:txBody>
      </p:sp>
      <p:sp>
        <p:nvSpPr>
          <p:cNvPr id="30" name="Text 25"/>
          <p:cNvSpPr/>
          <p:nvPr/>
        </p:nvSpPr>
        <p:spPr>
          <a:xfrm>
            <a:off x="5225346" y="2946797"/>
            <a:ext cx="3705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6 Days</a:t>
            </a:r>
            <a:endParaRPr lang="en-US" sz="784" dirty="0"/>
          </a:p>
        </p:txBody>
      </p:sp>
      <p:sp>
        <p:nvSpPr>
          <p:cNvPr id="31" name="Text 26"/>
          <p:cNvSpPr/>
          <p:nvPr/>
        </p:nvSpPr>
        <p:spPr>
          <a:xfrm>
            <a:off x="3548044" y="3297734"/>
            <a:ext cx="47718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892B0"/>
                </a:solidFill>
              </a:rPr>
              <a:t>Batch Size</a:t>
            </a:r>
            <a:endParaRPr lang="en-US" sz="727" dirty="0"/>
          </a:p>
        </p:txBody>
      </p:sp>
      <p:sp>
        <p:nvSpPr>
          <p:cNvPr id="32" name="Text 27"/>
          <p:cNvSpPr/>
          <p:nvPr/>
        </p:nvSpPr>
        <p:spPr>
          <a:xfrm>
            <a:off x="4446984" y="3287911"/>
            <a:ext cx="11489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Phased (1% -&gt; 100%)</a:t>
            </a:r>
            <a:endParaRPr lang="en-US" sz="784" dirty="0"/>
          </a:p>
        </p:txBody>
      </p:sp>
      <p:sp>
        <p:nvSpPr>
          <p:cNvPr id="33" name="Text 28"/>
          <p:cNvSpPr/>
          <p:nvPr/>
        </p:nvSpPr>
        <p:spPr>
          <a:xfrm>
            <a:off x="3548044" y="3638848"/>
            <a:ext cx="4174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892B0"/>
                </a:solidFill>
              </a:rPr>
              <a:t>Approval</a:t>
            </a:r>
            <a:endParaRPr lang="en-US" sz="727" dirty="0"/>
          </a:p>
        </p:txBody>
      </p:sp>
      <p:sp>
        <p:nvSpPr>
          <p:cNvPr id="34" name="Text 29"/>
          <p:cNvSpPr/>
          <p:nvPr/>
        </p:nvSpPr>
        <p:spPr>
          <a:xfrm>
            <a:off x="4595329" y="3629025"/>
            <a:ext cx="100059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Automated Gates</a:t>
            </a:r>
            <a:endParaRPr lang="en-US" sz="784" dirty="0"/>
          </a:p>
        </p:txBody>
      </p:sp>
      <p:sp>
        <p:nvSpPr>
          <p:cNvPr id="35" name="Text 30"/>
          <p:cNvSpPr/>
          <p:nvPr/>
        </p:nvSpPr>
        <p:spPr>
          <a:xfrm>
            <a:off x="3548044" y="4280892"/>
            <a:ext cx="2047884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B0C4DE"/>
                </a:solidFill>
              </a:rPr>
              <a:t>Standard lifecycle management. Uses canary analysis (health, metrics) at each stage. Auto-pauses on error spikes.</a:t>
            </a:r>
            <a:endParaRPr lang="en-US" sz="780" dirty="0"/>
          </a:p>
        </p:txBody>
      </p:sp>
      <p:sp>
        <p:nvSpPr>
          <p:cNvPr id="36" name="Shape 31"/>
          <p:cNvSpPr/>
          <p:nvPr/>
        </p:nvSpPr>
        <p:spPr>
          <a:xfrm>
            <a:off x="6095991" y="1323380"/>
            <a:ext cx="2476481" cy="365402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7" name="Shape 32"/>
          <p:cNvSpPr/>
          <p:nvPr/>
        </p:nvSpPr>
        <p:spPr>
          <a:xfrm>
            <a:off x="6095991" y="1323380"/>
            <a:ext cx="2476481" cy="42863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38" name="Shape 33"/>
          <p:cNvSpPr/>
          <p:nvPr/>
        </p:nvSpPr>
        <p:spPr>
          <a:xfrm>
            <a:off x="7927944" y="1466255"/>
            <a:ext cx="501653" cy="169664"/>
          </a:xfrm>
          <a:prstGeom prst="rect">
            <a:avLst/>
          </a:prstGeom>
          <a:solidFill>
            <a:srgbClr val="00BFFF">
              <a:alpha val="20000"/>
            </a:srgbClr>
          </a:solidFill>
          <a:ln/>
        </p:spPr>
      </p:sp>
      <p:sp>
        <p:nvSpPr>
          <p:cNvPr id="39" name="Text 34"/>
          <p:cNvSpPr/>
          <p:nvPr/>
        </p:nvSpPr>
        <p:spPr>
          <a:xfrm>
            <a:off x="7927944" y="1466255"/>
            <a:ext cx="501653" cy="169664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0BFFF"/>
                </a:solidFill>
              </a:rPr>
              <a:t>Targeted</a:t>
            </a:r>
            <a:endParaRPr lang="en-US" sz="485" dirty="0"/>
          </a:p>
        </p:txBody>
      </p:sp>
      <p:sp>
        <p:nvSpPr>
          <p:cNvPr id="40" name="Shape 35"/>
          <p:cNvSpPr/>
          <p:nvPr/>
        </p:nvSpPr>
        <p:spPr>
          <a:xfrm>
            <a:off x="7048481" y="1537692"/>
            <a:ext cx="571500" cy="571500"/>
          </a:xfrm>
          <a:prstGeom prst="ellipse">
            <a:avLst/>
          </a:prstGeom>
          <a:solidFill>
            <a:srgbClr val="00BFFF">
              <a:alpha val="10000"/>
            </a:srgbClr>
          </a:solidFill>
          <a:ln w="18288">
            <a:solidFill>
              <a:srgbClr val="00BFFF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644" y="1694855"/>
            <a:ext cx="257175" cy="257175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6979862" y="2252067"/>
            <a:ext cx="70871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Ad-Hoc</a:t>
            </a:r>
            <a:endParaRPr lang="en-US" sz="1397" dirty="0"/>
          </a:p>
        </p:txBody>
      </p:sp>
      <p:sp>
        <p:nvSpPr>
          <p:cNvPr id="43" name="Text 37"/>
          <p:cNvSpPr/>
          <p:nvPr/>
        </p:nvSpPr>
        <p:spPr>
          <a:xfrm>
            <a:off x="6900807" y="2596753"/>
            <a:ext cx="86682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B0C4DE"/>
                </a:solidFill>
              </a:rPr>
              <a:t>Specific Scope</a:t>
            </a:r>
            <a:endParaRPr lang="en-US" sz="683" dirty="0"/>
          </a:p>
        </p:txBody>
      </p:sp>
      <p:sp>
        <p:nvSpPr>
          <p:cNvPr id="44" name="Text 38"/>
          <p:cNvSpPr/>
          <p:nvPr/>
        </p:nvSpPr>
        <p:spPr>
          <a:xfrm>
            <a:off x="6310303" y="2956620"/>
            <a:ext cx="29074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892B0"/>
                </a:solidFill>
              </a:rPr>
              <a:t>Speed</a:t>
            </a:r>
            <a:endParaRPr lang="en-US" sz="727" dirty="0"/>
          </a:p>
        </p:txBody>
      </p:sp>
      <p:sp>
        <p:nvSpPr>
          <p:cNvPr id="45" name="Text 39"/>
          <p:cNvSpPr/>
          <p:nvPr/>
        </p:nvSpPr>
        <p:spPr>
          <a:xfrm>
            <a:off x="7728226" y="2946797"/>
            <a:ext cx="6299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Immediate</a:t>
            </a:r>
            <a:endParaRPr lang="en-US" sz="784" dirty="0"/>
          </a:p>
        </p:txBody>
      </p:sp>
      <p:sp>
        <p:nvSpPr>
          <p:cNvPr id="46" name="Text 40"/>
          <p:cNvSpPr/>
          <p:nvPr/>
        </p:nvSpPr>
        <p:spPr>
          <a:xfrm>
            <a:off x="6310303" y="3297734"/>
            <a:ext cx="47718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892B0"/>
                </a:solidFill>
              </a:rPr>
              <a:t>Batch Size</a:t>
            </a:r>
            <a:endParaRPr lang="en-US" sz="727" dirty="0"/>
          </a:p>
        </p:txBody>
      </p:sp>
      <p:sp>
        <p:nvSpPr>
          <p:cNvPr id="47" name="Text 41"/>
          <p:cNvSpPr/>
          <p:nvPr/>
        </p:nvSpPr>
        <p:spPr>
          <a:xfrm>
            <a:off x="7556218" y="3287911"/>
            <a:ext cx="80194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Targeted Only</a:t>
            </a:r>
            <a:endParaRPr lang="en-US" sz="784" dirty="0"/>
          </a:p>
        </p:txBody>
      </p:sp>
      <p:sp>
        <p:nvSpPr>
          <p:cNvPr id="48" name="Text 42"/>
          <p:cNvSpPr/>
          <p:nvPr/>
        </p:nvSpPr>
        <p:spPr>
          <a:xfrm>
            <a:off x="6310303" y="3638848"/>
            <a:ext cx="4471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892B0"/>
                </a:solidFill>
              </a:rPr>
              <a:t>Targeting</a:t>
            </a:r>
            <a:endParaRPr lang="en-US" sz="727" dirty="0"/>
          </a:p>
        </p:txBody>
      </p:sp>
      <p:sp>
        <p:nvSpPr>
          <p:cNvPr id="49" name="Text 43"/>
          <p:cNvSpPr/>
          <p:nvPr/>
        </p:nvSpPr>
        <p:spPr>
          <a:xfrm>
            <a:off x="7810435" y="3629025"/>
            <a:ext cx="5477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Tags / IDs</a:t>
            </a:r>
            <a:endParaRPr lang="en-US" sz="784" dirty="0"/>
          </a:p>
        </p:txBody>
      </p:sp>
      <p:sp>
        <p:nvSpPr>
          <p:cNvPr id="50" name="Text 44"/>
          <p:cNvSpPr/>
          <p:nvPr/>
        </p:nvSpPr>
        <p:spPr>
          <a:xfrm>
            <a:off x="6310303" y="4077295"/>
            <a:ext cx="2047856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B0C4DE"/>
                </a:solidFill>
              </a:rPr>
              <a:t>Surgical updates for specific groups (e.g., "region:us-east-1" or "app:payment"). Used for testing or isolated fixes.</a:t>
            </a:r>
            <a:endParaRPr lang="en-US" sz="7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2648824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Canary Rollouts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1357313" y="2368153"/>
            <a:ext cx="571500" cy="571500"/>
          </a:xfrm>
          <a:prstGeom prst="ellipse">
            <a:avLst/>
          </a:prstGeom>
          <a:solidFill>
            <a:srgbClr val="112240"/>
          </a:solidFill>
          <a:ln w="18288">
            <a:solidFill>
              <a:srgbClr val="32CD3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622" y="2568178"/>
            <a:ext cx="192881" cy="1714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57250" y="3082528"/>
            <a:ext cx="1571625" cy="73044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64406" y="3196828"/>
            <a:ext cx="13573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Canary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964406" y="3427214"/>
            <a:ext cx="135731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Target: 1%</a:t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Time: 1 Hour</a:t>
            </a:r>
            <a:endParaRPr lang="en-US" sz="727" dirty="0"/>
          </a:p>
        </p:txBody>
      </p:sp>
      <p:sp>
        <p:nvSpPr>
          <p:cNvPr id="11" name="Shape 7"/>
          <p:cNvSpPr/>
          <p:nvPr/>
        </p:nvSpPr>
        <p:spPr>
          <a:xfrm>
            <a:off x="2751181" y="2263173"/>
            <a:ext cx="712701" cy="187523"/>
          </a:xfrm>
          <a:prstGeom prst="rect">
            <a:avLst/>
          </a:prstGeom>
          <a:solidFill>
            <a:srgbClr val="FFD700">
              <a:alpha val="1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2751181" y="2263173"/>
            <a:ext cx="712701" cy="187523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D700"/>
                </a:solidFill>
              </a:rPr>
              <a:t>Health Gate</a:t>
            </a:r>
            <a:endParaRPr lang="en-US" sz="584" dirty="0"/>
          </a:p>
        </p:txBody>
      </p:sp>
      <p:sp>
        <p:nvSpPr>
          <p:cNvPr id="13" name="Shape 9"/>
          <p:cNvSpPr/>
          <p:nvPr/>
        </p:nvSpPr>
        <p:spPr>
          <a:xfrm rot="2700000">
            <a:off x="2893219" y="2522134"/>
            <a:ext cx="428625" cy="428625"/>
          </a:xfrm>
          <a:prstGeom prst="rect">
            <a:avLst/>
          </a:prstGeom>
          <a:solidFill>
            <a:srgbClr val="0A192F"/>
          </a:solidFill>
          <a:ln w="18288">
            <a:solidFill>
              <a:srgbClr val="FFD70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1091" y="2650722"/>
            <a:ext cx="192881" cy="17145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607469" y="3057916"/>
            <a:ext cx="1000125" cy="431416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6" name="Text 11"/>
          <p:cNvSpPr/>
          <p:nvPr/>
        </p:nvSpPr>
        <p:spPr>
          <a:xfrm>
            <a:off x="2607469" y="3057916"/>
            <a:ext cx="1000125" cy="431416"/>
          </a:xfrm>
          <a:prstGeom prst="rect">
            <a:avLst/>
          </a:prstGeom>
          <a:noFill/>
          <a:ln/>
        </p:spPr>
        <p:txBody>
          <a:bodyPr wrap="square" lIns="42545" tIns="42545" rIns="42545" bIns="42545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892B0"/>
                </a:solidFill>
              </a:rPr>
              <a:t>CPU &lt; 50%</a:t>
            </a:r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892B0"/>
                </a:solidFill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892B0"/>
                </a:solidFill>
              </a:rPr>
              <a:t> Error Rate &lt; 0.1%</a:t>
            </a:r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892B0"/>
                </a:solidFill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892B0"/>
                </a:solidFill>
              </a:rPr>
              <a:t> No Crash Loops</a:t>
            </a:r>
            <a:endParaRPr lang="en-US" sz="621" dirty="0"/>
          </a:p>
        </p:txBody>
      </p:sp>
      <p:sp>
        <p:nvSpPr>
          <p:cNvPr id="17" name="Shape 12"/>
          <p:cNvSpPr/>
          <p:nvPr/>
        </p:nvSpPr>
        <p:spPr>
          <a:xfrm>
            <a:off x="4179094" y="2260997"/>
            <a:ext cx="785813" cy="785813"/>
          </a:xfrm>
          <a:prstGeom prst="ellipse">
            <a:avLst/>
          </a:prstGeom>
          <a:solidFill>
            <a:srgbClr val="112240"/>
          </a:solidFill>
          <a:ln w="18288">
            <a:solidFill>
              <a:srgbClr val="32CD3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266" y="2525316"/>
            <a:ext cx="321469" cy="257175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786188" y="3189684"/>
            <a:ext cx="1571625" cy="73044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3893344" y="3303984"/>
            <a:ext cx="13573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Pilot</a:t>
            </a:r>
            <a:endParaRPr lang="en-US" sz="987" dirty="0"/>
          </a:p>
        </p:txBody>
      </p:sp>
      <p:sp>
        <p:nvSpPr>
          <p:cNvPr id="21" name="Text 15"/>
          <p:cNvSpPr/>
          <p:nvPr/>
        </p:nvSpPr>
        <p:spPr>
          <a:xfrm>
            <a:off x="3893344" y="3534370"/>
            <a:ext cx="135731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Target: 10%</a:t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Time: 24 Hours</a:t>
            </a:r>
            <a:endParaRPr lang="en-US" sz="727" dirty="0"/>
          </a:p>
        </p:txBody>
      </p:sp>
      <p:sp>
        <p:nvSpPr>
          <p:cNvPr id="22" name="Shape 16"/>
          <p:cNvSpPr/>
          <p:nvPr/>
        </p:nvSpPr>
        <p:spPr>
          <a:xfrm>
            <a:off x="5634493" y="2203177"/>
            <a:ext cx="803923" cy="187523"/>
          </a:xfrm>
          <a:prstGeom prst="rect">
            <a:avLst/>
          </a:prstGeom>
          <a:solidFill>
            <a:srgbClr val="FFD700">
              <a:alpha val="10000"/>
            </a:srgbClr>
          </a:solidFill>
          <a:ln/>
        </p:spPr>
      </p:sp>
      <p:sp>
        <p:nvSpPr>
          <p:cNvPr id="23" name="Text 17"/>
          <p:cNvSpPr/>
          <p:nvPr/>
        </p:nvSpPr>
        <p:spPr>
          <a:xfrm>
            <a:off x="5634493" y="2203177"/>
            <a:ext cx="803923" cy="187523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D700"/>
                </a:solidFill>
              </a:rPr>
              <a:t>Stability Gate</a:t>
            </a:r>
            <a:endParaRPr lang="en-US" sz="584" dirty="0"/>
          </a:p>
        </p:txBody>
      </p:sp>
      <p:sp>
        <p:nvSpPr>
          <p:cNvPr id="24" name="Shape 18"/>
          <p:cNvSpPr/>
          <p:nvPr/>
        </p:nvSpPr>
        <p:spPr>
          <a:xfrm rot="2700000">
            <a:off x="5822156" y="2462138"/>
            <a:ext cx="428625" cy="428625"/>
          </a:xfrm>
          <a:prstGeom prst="rect">
            <a:avLst/>
          </a:prstGeom>
          <a:solidFill>
            <a:srgbClr val="0A192F"/>
          </a:solidFill>
          <a:ln w="18288">
            <a:solidFill>
              <a:srgbClr val="FFD70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0744" y="2590726"/>
            <a:ext cx="171450" cy="17145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536406" y="2997919"/>
            <a:ext cx="1000125" cy="55140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7" name="Text 20"/>
          <p:cNvSpPr/>
          <p:nvPr/>
        </p:nvSpPr>
        <p:spPr>
          <a:xfrm>
            <a:off x="5536406" y="2997919"/>
            <a:ext cx="1000125" cy="551408"/>
          </a:xfrm>
          <a:prstGeom prst="rect">
            <a:avLst/>
          </a:prstGeom>
          <a:noFill/>
          <a:ln/>
        </p:spPr>
        <p:txBody>
          <a:bodyPr wrap="square" lIns="42545" tIns="42545" rIns="42545" bIns="42545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892B0"/>
                </a:solidFill>
              </a:rPr>
              <a:t>Support Tickets &lt; </a:t>
            </a:r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892B0"/>
                </a:solidFill>
              </a:rPr>
              <a:t>Baseline</a:t>
            </a:r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892B0"/>
                </a:solidFill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892B0"/>
                </a:solidFill>
              </a:rPr>
              <a:t> Latency &lt; 200ms</a:t>
            </a:r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892B0"/>
                </a:solidFill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892B0"/>
                </a:solidFill>
              </a:rPr>
              <a:t> Vendor API OK</a:t>
            </a:r>
            <a:endParaRPr lang="en-US" sz="621" dirty="0"/>
          </a:p>
        </p:txBody>
      </p:sp>
      <p:sp>
        <p:nvSpPr>
          <p:cNvPr id="28" name="Shape 21"/>
          <p:cNvSpPr/>
          <p:nvPr/>
        </p:nvSpPr>
        <p:spPr>
          <a:xfrm>
            <a:off x="7000875" y="2153841"/>
            <a:ext cx="1000125" cy="1000125"/>
          </a:xfrm>
          <a:prstGeom prst="ellipse">
            <a:avLst/>
          </a:prstGeom>
          <a:solidFill>
            <a:srgbClr val="32CD32">
              <a:alpha val="10000"/>
            </a:srgbClr>
          </a:solidFill>
          <a:ln w="18288">
            <a:solidFill>
              <a:srgbClr val="32CD32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9488" y="2482453"/>
            <a:ext cx="342900" cy="342900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6715125" y="3296841"/>
            <a:ext cx="1571625" cy="73044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6822281" y="3411141"/>
            <a:ext cx="13573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Fleet</a:t>
            </a:r>
            <a:endParaRPr lang="en-US" sz="987" dirty="0"/>
          </a:p>
        </p:txBody>
      </p:sp>
      <p:sp>
        <p:nvSpPr>
          <p:cNvPr id="32" name="Text 24"/>
          <p:cNvSpPr/>
          <p:nvPr/>
        </p:nvSpPr>
        <p:spPr>
          <a:xfrm>
            <a:off x="6822281" y="3641527"/>
            <a:ext cx="135731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Target: 100%</a:t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Time: 5 Days</a:t>
            </a:r>
            <a:endParaRPr lang="en-US" sz="727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3282079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Automatic Rollback</a:t>
            </a:r>
            <a:endParaRPr lang="en-US" sz="2436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04690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4388" y="1773436"/>
            <a:ext cx="15811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5F56"/>
                </a:solidFill>
              </a:rPr>
              <a:t>Trigger Conditions</a:t>
            </a:r>
            <a:endParaRPr lang="en-US" sz="1193" dirty="0"/>
          </a:p>
        </p:txBody>
      </p:sp>
      <p:sp>
        <p:nvSpPr>
          <p:cNvPr id="8" name="Shape 4"/>
          <p:cNvSpPr/>
          <p:nvPr/>
        </p:nvSpPr>
        <p:spPr>
          <a:xfrm>
            <a:off x="571500" y="2207419"/>
            <a:ext cx="3506912" cy="600075"/>
          </a:xfrm>
          <a:prstGeom prst="rect">
            <a:avLst/>
          </a:prstGeom>
          <a:solidFill>
            <a:srgbClr val="FF5F56">
              <a:alpha val="5000"/>
            </a:srgbClr>
          </a:solidFill>
          <a:ln w="9144">
            <a:solidFill>
              <a:srgbClr val="FF5F56">
                <a:alpha val="20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85800" y="2328863"/>
            <a:ext cx="357188" cy="357188"/>
          </a:xfrm>
          <a:prstGeom prst="ellipse">
            <a:avLst/>
          </a:prstGeom>
          <a:solidFill>
            <a:srgbClr val="FF5F56">
              <a:alpha val="10000"/>
            </a:srgbClr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69" y="2421731"/>
            <a:ext cx="171450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57288" y="2337792"/>
            <a:ext cx="195434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Crash Loop</a:t>
            </a:r>
            <a:endParaRPr lang="en-US" sz="885" dirty="0"/>
          </a:p>
        </p:txBody>
      </p:sp>
      <p:sp>
        <p:nvSpPr>
          <p:cNvPr id="12" name="Text 7"/>
          <p:cNvSpPr/>
          <p:nvPr/>
        </p:nvSpPr>
        <p:spPr>
          <a:xfrm>
            <a:off x="1157288" y="2541389"/>
            <a:ext cx="195434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Agent restarts &gt; 3 times within 5 minutes.</a:t>
            </a:r>
            <a:endParaRPr lang="en-US" sz="727" dirty="0"/>
          </a:p>
        </p:txBody>
      </p:sp>
      <p:sp>
        <p:nvSpPr>
          <p:cNvPr id="13" name="Shape 8"/>
          <p:cNvSpPr/>
          <p:nvPr/>
        </p:nvSpPr>
        <p:spPr>
          <a:xfrm>
            <a:off x="571500" y="2928938"/>
            <a:ext cx="3506912" cy="600075"/>
          </a:xfrm>
          <a:prstGeom prst="rect">
            <a:avLst/>
          </a:prstGeom>
          <a:solidFill>
            <a:srgbClr val="FF5F56">
              <a:alpha val="5000"/>
            </a:srgbClr>
          </a:solidFill>
          <a:ln w="9144">
            <a:solidFill>
              <a:srgbClr val="FF5F56">
                <a:alpha val="20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85800" y="3050381"/>
            <a:ext cx="357188" cy="357188"/>
          </a:xfrm>
          <a:prstGeom prst="ellipse">
            <a:avLst/>
          </a:prstGeom>
          <a:solidFill>
            <a:srgbClr val="FF5F56">
              <a:alpha val="10000"/>
            </a:srgbClr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669" y="3143250"/>
            <a:ext cx="171450" cy="1714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57288" y="3059311"/>
            <a:ext cx="209127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Error Rate Spike</a:t>
            </a:r>
            <a:endParaRPr lang="en-US" sz="885" dirty="0"/>
          </a:p>
        </p:txBody>
      </p:sp>
      <p:sp>
        <p:nvSpPr>
          <p:cNvPr id="17" name="Text 11"/>
          <p:cNvSpPr/>
          <p:nvPr/>
        </p:nvSpPr>
        <p:spPr>
          <a:xfrm>
            <a:off x="1157288" y="3262908"/>
            <a:ext cx="209127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HTTP 5xx errors exceed 5% of total requests.</a:t>
            </a:r>
            <a:endParaRPr lang="en-US" sz="727" dirty="0"/>
          </a:p>
        </p:txBody>
      </p:sp>
      <p:sp>
        <p:nvSpPr>
          <p:cNvPr id="18" name="Shape 12"/>
          <p:cNvSpPr/>
          <p:nvPr/>
        </p:nvSpPr>
        <p:spPr>
          <a:xfrm>
            <a:off x="571500" y="3650456"/>
            <a:ext cx="3506912" cy="600075"/>
          </a:xfrm>
          <a:prstGeom prst="rect">
            <a:avLst/>
          </a:prstGeom>
          <a:solidFill>
            <a:srgbClr val="FF5F56">
              <a:alpha val="5000"/>
            </a:srgbClr>
          </a:solidFill>
          <a:ln w="9144">
            <a:solidFill>
              <a:srgbClr val="FF5F56">
                <a:alpha val="20000"/>
              </a:srgbClr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85800" y="3771900"/>
            <a:ext cx="357188" cy="357188"/>
          </a:xfrm>
          <a:prstGeom prst="ellipse">
            <a:avLst/>
          </a:prstGeom>
          <a:solidFill>
            <a:srgbClr val="FF5F56">
              <a:alpha val="10000"/>
            </a:srgbClr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953" y="3864769"/>
            <a:ext cx="192881" cy="1714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57288" y="3780830"/>
            <a:ext cx="243973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Resource Exhaustion</a:t>
            </a:r>
            <a:endParaRPr lang="en-US" sz="885" dirty="0"/>
          </a:p>
        </p:txBody>
      </p:sp>
      <p:sp>
        <p:nvSpPr>
          <p:cNvPr id="22" name="Text 15"/>
          <p:cNvSpPr/>
          <p:nvPr/>
        </p:nvSpPr>
        <p:spPr>
          <a:xfrm>
            <a:off x="1157288" y="3984427"/>
            <a:ext cx="243973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CPU usage &gt; 90% or Memory leak detected for 10m.</a:t>
            </a:r>
            <a:endParaRPr lang="en-US" sz="727" dirty="0"/>
          </a:p>
        </p:txBody>
      </p:sp>
      <p:sp>
        <p:nvSpPr>
          <p:cNvPr id="23" name="Shape 16"/>
          <p:cNvSpPr/>
          <p:nvPr/>
        </p:nvSpPr>
        <p:spPr>
          <a:xfrm>
            <a:off x="4364162" y="1477863"/>
            <a:ext cx="4208338" cy="3082528"/>
          </a:xfrm>
          <a:prstGeom prst="rect">
            <a:avLst/>
          </a:prstGeom>
          <a:solidFill>
            <a:srgbClr val="112240"/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7037" y="1659136"/>
            <a:ext cx="171450" cy="17145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749924" y="1627882"/>
            <a:ext cx="182578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2CD32"/>
                </a:solidFill>
              </a:rPr>
              <a:t>Automated Response</a:t>
            </a:r>
            <a:endParaRPr lang="en-US" sz="1193" dirty="0"/>
          </a:p>
        </p:txBody>
      </p:sp>
      <p:sp>
        <p:nvSpPr>
          <p:cNvPr id="26" name="Shape 18"/>
          <p:cNvSpPr/>
          <p:nvPr/>
        </p:nvSpPr>
        <p:spPr>
          <a:xfrm>
            <a:off x="4507037" y="2033290"/>
            <a:ext cx="357188" cy="357188"/>
          </a:xfrm>
          <a:prstGeom prst="ellipse">
            <a:avLst/>
          </a:prstGeom>
          <a:solidFill>
            <a:srgbClr val="0A192F"/>
          </a:solidFill>
          <a:ln w="18288">
            <a:solidFill>
              <a:srgbClr val="32CD32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4507037" y="2033290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2CD32"/>
                </a:solidFill>
              </a:rPr>
              <a:t>01</a:t>
            </a:r>
            <a:endParaRPr lang="en-US" sz="885" dirty="0"/>
          </a:p>
        </p:txBody>
      </p:sp>
      <p:sp>
        <p:nvSpPr>
          <p:cNvPr id="28" name="Text 20"/>
          <p:cNvSpPr/>
          <p:nvPr/>
        </p:nvSpPr>
        <p:spPr>
          <a:xfrm>
            <a:off x="5007099" y="2042220"/>
            <a:ext cx="34225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Detection</a:t>
            </a:r>
            <a:endParaRPr lang="en-US" sz="885" dirty="0"/>
          </a:p>
        </p:txBody>
      </p:sp>
      <p:sp>
        <p:nvSpPr>
          <p:cNvPr id="29" name="Text 21"/>
          <p:cNvSpPr/>
          <p:nvPr/>
        </p:nvSpPr>
        <p:spPr>
          <a:xfrm>
            <a:off x="5007099" y="2245816"/>
            <a:ext cx="342252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Supervisor identifies unhealthy state immediately.</a:t>
            </a:r>
            <a:endParaRPr lang="en-US" sz="727" dirty="0"/>
          </a:p>
        </p:txBody>
      </p:sp>
      <p:sp>
        <p:nvSpPr>
          <p:cNvPr id="30" name="Shape 22"/>
          <p:cNvSpPr/>
          <p:nvPr/>
        </p:nvSpPr>
        <p:spPr>
          <a:xfrm>
            <a:off x="4507037" y="2519065"/>
            <a:ext cx="357188" cy="357188"/>
          </a:xfrm>
          <a:prstGeom prst="ellipse">
            <a:avLst/>
          </a:prstGeom>
          <a:solidFill>
            <a:srgbClr val="0A192F"/>
          </a:solidFill>
          <a:ln w="18288">
            <a:solidFill>
              <a:srgbClr val="32CD32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4507037" y="2519065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2CD32"/>
                </a:solidFill>
              </a:rPr>
              <a:t>02</a:t>
            </a:r>
            <a:endParaRPr lang="en-US" sz="885" dirty="0"/>
          </a:p>
        </p:txBody>
      </p:sp>
      <p:sp>
        <p:nvSpPr>
          <p:cNvPr id="32" name="Text 24"/>
          <p:cNvSpPr/>
          <p:nvPr/>
        </p:nvSpPr>
        <p:spPr>
          <a:xfrm>
            <a:off x="5007099" y="2527995"/>
            <a:ext cx="34225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Revert Configuration</a:t>
            </a:r>
            <a:endParaRPr lang="en-US" sz="885" dirty="0"/>
          </a:p>
        </p:txBody>
      </p:sp>
      <p:sp>
        <p:nvSpPr>
          <p:cNvPr id="33" name="Text 25"/>
          <p:cNvSpPr/>
          <p:nvPr/>
        </p:nvSpPr>
        <p:spPr>
          <a:xfrm>
            <a:off x="5007099" y="2731591"/>
            <a:ext cx="342252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Restores last known good config (LKG) from local cache.</a:t>
            </a:r>
            <a:endParaRPr lang="en-US" sz="727" dirty="0"/>
          </a:p>
        </p:txBody>
      </p:sp>
      <p:sp>
        <p:nvSpPr>
          <p:cNvPr id="34" name="Shape 26"/>
          <p:cNvSpPr/>
          <p:nvPr/>
        </p:nvSpPr>
        <p:spPr>
          <a:xfrm>
            <a:off x="4507037" y="3004840"/>
            <a:ext cx="357188" cy="357188"/>
          </a:xfrm>
          <a:prstGeom prst="ellipse">
            <a:avLst/>
          </a:prstGeom>
          <a:solidFill>
            <a:srgbClr val="0A192F"/>
          </a:solidFill>
          <a:ln w="18288">
            <a:solidFill>
              <a:srgbClr val="32CD32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4507037" y="3004840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2CD32"/>
                </a:solidFill>
              </a:rPr>
              <a:t>03</a:t>
            </a:r>
            <a:endParaRPr lang="en-US" sz="885" dirty="0"/>
          </a:p>
        </p:txBody>
      </p:sp>
      <p:sp>
        <p:nvSpPr>
          <p:cNvPr id="36" name="Text 28"/>
          <p:cNvSpPr/>
          <p:nvPr/>
        </p:nvSpPr>
        <p:spPr>
          <a:xfrm>
            <a:off x="5007099" y="3013770"/>
            <a:ext cx="34225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Restart Agent</a:t>
            </a:r>
            <a:endParaRPr lang="en-US" sz="885" dirty="0"/>
          </a:p>
        </p:txBody>
      </p:sp>
      <p:sp>
        <p:nvSpPr>
          <p:cNvPr id="37" name="Text 29"/>
          <p:cNvSpPr/>
          <p:nvPr/>
        </p:nvSpPr>
        <p:spPr>
          <a:xfrm>
            <a:off x="5007099" y="3217366"/>
            <a:ext cx="342252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Clean restart with stable configuration.</a:t>
            </a:r>
            <a:endParaRPr lang="en-US" sz="727" dirty="0"/>
          </a:p>
        </p:txBody>
      </p:sp>
      <p:sp>
        <p:nvSpPr>
          <p:cNvPr id="38" name="Shape 30"/>
          <p:cNvSpPr/>
          <p:nvPr/>
        </p:nvSpPr>
        <p:spPr>
          <a:xfrm>
            <a:off x="4507037" y="3490615"/>
            <a:ext cx="357188" cy="357188"/>
          </a:xfrm>
          <a:prstGeom prst="ellipse">
            <a:avLst/>
          </a:prstGeom>
          <a:solidFill>
            <a:srgbClr val="0A192F"/>
          </a:solidFill>
          <a:ln w="18288">
            <a:solidFill>
              <a:srgbClr val="32CD32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4507037" y="3490615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2CD32"/>
                </a:solidFill>
              </a:rPr>
              <a:t>04</a:t>
            </a:r>
            <a:endParaRPr lang="en-US" sz="885" dirty="0"/>
          </a:p>
        </p:txBody>
      </p:sp>
      <p:sp>
        <p:nvSpPr>
          <p:cNvPr id="40" name="Text 32"/>
          <p:cNvSpPr/>
          <p:nvPr/>
        </p:nvSpPr>
        <p:spPr>
          <a:xfrm>
            <a:off x="5007099" y="3499545"/>
            <a:ext cx="34225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Notify Ops</a:t>
            </a:r>
            <a:endParaRPr lang="en-US" sz="885" dirty="0"/>
          </a:p>
        </p:txBody>
      </p:sp>
      <p:sp>
        <p:nvSpPr>
          <p:cNvPr id="41" name="Text 33"/>
          <p:cNvSpPr/>
          <p:nvPr/>
        </p:nvSpPr>
        <p:spPr>
          <a:xfrm>
            <a:off x="5007099" y="3703141"/>
            <a:ext cx="342252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Alert sent to PagerDuty with "Self-Healed" status.</a:t>
            </a:r>
            <a:endParaRPr lang="en-US" sz="727" dirty="0"/>
          </a:p>
        </p:txBody>
      </p:sp>
      <p:sp>
        <p:nvSpPr>
          <p:cNvPr id="42" name="Shape 34"/>
          <p:cNvSpPr/>
          <p:nvPr/>
        </p:nvSpPr>
        <p:spPr>
          <a:xfrm>
            <a:off x="4507037" y="3990677"/>
            <a:ext cx="3922588" cy="419695"/>
          </a:xfrm>
          <a:prstGeom prst="rect">
            <a:avLst/>
          </a:prstGeom>
          <a:solidFill>
            <a:srgbClr val="32CD32">
              <a:alpha val="10000"/>
            </a:srgbClr>
          </a:solidFill>
          <a:ln w="9144">
            <a:solidFill>
              <a:srgbClr val="32CD32">
                <a:alpha val="30000"/>
              </a:srgbClr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9912" y="4143375"/>
            <a:ext cx="114300" cy="11430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4835649" y="4122837"/>
            <a:ext cx="17275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2CD32"/>
                </a:solidFill>
              </a:rPr>
              <a:t>Mean Time To Recovery (MTTR)</a:t>
            </a:r>
            <a:endParaRPr lang="en-US" sz="784" dirty="0"/>
          </a:p>
        </p:txBody>
      </p:sp>
      <p:sp>
        <p:nvSpPr>
          <p:cNvPr id="45" name="Text 36"/>
          <p:cNvSpPr/>
          <p:nvPr/>
        </p:nvSpPr>
        <p:spPr>
          <a:xfrm>
            <a:off x="7288048" y="4083546"/>
            <a:ext cx="99870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&lt; 2 Minutes</a:t>
            </a:r>
            <a:endParaRPr lang="en-US" sz="1193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642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468197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Configuration Management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394817"/>
            <a:ext cx="8001000" cy="1878081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78719" y="1680567"/>
            <a:ext cx="642938" cy="642938"/>
          </a:xfrm>
          <a:prstGeom prst="rect">
            <a:avLst/>
          </a:prstGeom>
          <a:solidFill>
            <a:srgbClr val="0A192F"/>
          </a:solidFill>
          <a:ln w="18288">
            <a:solidFill>
              <a:srgbClr val="F0503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172" y="1859161"/>
            <a:ext cx="250031" cy="285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28474" y="2430661"/>
            <a:ext cx="54342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Git Repo</a:t>
            </a:r>
            <a:endParaRPr lang="en-US" sz="885" dirty="0"/>
          </a:p>
        </p:txBody>
      </p:sp>
      <p:sp>
        <p:nvSpPr>
          <p:cNvPr id="10" name="Text 6"/>
          <p:cNvSpPr/>
          <p:nvPr/>
        </p:nvSpPr>
        <p:spPr>
          <a:xfrm>
            <a:off x="1021166" y="2712839"/>
            <a:ext cx="958044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B0C4DE"/>
                </a:solidFill>
              </a:rPr>
              <a:t>Single Source of Truth</a:t>
            </a:r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B0C4DE"/>
                </a:solidFill>
              </a:rPr>
              <a:t>
</a:t>
            </a:r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B0C4DE"/>
                </a:solidFill>
              </a:rPr>
              <a:t>Version History</a:t>
            </a:r>
            <a:endParaRPr lang="en-US" sz="674" dirty="0"/>
          </a:p>
        </p:txBody>
      </p:sp>
      <p:sp>
        <p:nvSpPr>
          <p:cNvPr id="11" name="Shape 7"/>
          <p:cNvSpPr/>
          <p:nvPr/>
        </p:nvSpPr>
        <p:spPr>
          <a:xfrm>
            <a:off x="2214563" y="2062395"/>
            <a:ext cx="619134" cy="2857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2793206" y="2019533"/>
            <a:ext cx="714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>
                    <a:alpha val="20000"/>
                  </a:srgbClr>
                </a:solidFill>
              </a:rPr>
              <a:t></a:t>
            </a:r>
            <a:endParaRPr lang="en-US" sz="784" dirty="0"/>
          </a:p>
        </p:txBody>
      </p:sp>
      <p:sp>
        <p:nvSpPr>
          <p:cNvPr id="13" name="Shape 9"/>
          <p:cNvSpPr/>
          <p:nvPr/>
        </p:nvSpPr>
        <p:spPr>
          <a:xfrm>
            <a:off x="3226603" y="1680567"/>
            <a:ext cx="642938" cy="642938"/>
          </a:xfrm>
          <a:prstGeom prst="rect">
            <a:avLst/>
          </a:prstGeom>
          <a:solidFill>
            <a:srgbClr val="0A192F"/>
          </a:solidFill>
          <a:ln w="18288">
            <a:solidFill>
              <a:srgbClr val="00B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9478" y="1859161"/>
            <a:ext cx="357188" cy="285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33564" y="2430661"/>
            <a:ext cx="4289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CI / CD</a:t>
            </a:r>
            <a:endParaRPr lang="en-US" sz="885" dirty="0"/>
          </a:p>
        </p:txBody>
      </p:sp>
      <p:sp>
        <p:nvSpPr>
          <p:cNvPr id="16" name="Text 11"/>
          <p:cNvSpPr/>
          <p:nvPr/>
        </p:nvSpPr>
        <p:spPr>
          <a:xfrm>
            <a:off x="3146766" y="2712839"/>
            <a:ext cx="802584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B0C4DE"/>
                </a:solidFill>
              </a:rPr>
              <a:t>Schema Validation</a:t>
            </a:r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B0C4DE"/>
                </a:solidFill>
              </a:rPr>
              <a:t>
</a:t>
            </a:r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B0C4DE"/>
                </a:solidFill>
              </a:rPr>
              <a:t>Policy Checks</a:t>
            </a:r>
            <a:endParaRPr lang="en-US" sz="674" dirty="0"/>
          </a:p>
        </p:txBody>
      </p:sp>
      <p:sp>
        <p:nvSpPr>
          <p:cNvPr id="17" name="Shape 12"/>
          <p:cNvSpPr/>
          <p:nvPr/>
        </p:nvSpPr>
        <p:spPr>
          <a:xfrm>
            <a:off x="4262447" y="2062395"/>
            <a:ext cx="619134" cy="2857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Text 13"/>
          <p:cNvSpPr/>
          <p:nvPr/>
        </p:nvSpPr>
        <p:spPr>
          <a:xfrm>
            <a:off x="4841091" y="2019533"/>
            <a:ext cx="714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>
                    <a:alpha val="20000"/>
                  </a:srgbClr>
                </a:solidFill>
              </a:rPr>
              <a:t></a:t>
            </a:r>
            <a:endParaRPr lang="en-US" sz="784" dirty="0"/>
          </a:p>
        </p:txBody>
      </p:sp>
      <p:sp>
        <p:nvSpPr>
          <p:cNvPr id="19" name="Shape 14"/>
          <p:cNvSpPr/>
          <p:nvPr/>
        </p:nvSpPr>
        <p:spPr>
          <a:xfrm>
            <a:off x="5274487" y="1680567"/>
            <a:ext cx="642938" cy="642938"/>
          </a:xfrm>
          <a:prstGeom prst="rect">
            <a:avLst/>
          </a:prstGeom>
          <a:solidFill>
            <a:srgbClr val="0A192F"/>
          </a:solidFill>
          <a:ln w="18288">
            <a:solidFill>
              <a:srgbClr val="FFD70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3081" y="1859161"/>
            <a:ext cx="285750" cy="2857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061542" y="2430661"/>
            <a:ext cx="10688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OpAMP Gateway</a:t>
            </a:r>
            <a:endParaRPr lang="en-US" sz="885" dirty="0"/>
          </a:p>
        </p:txBody>
      </p:sp>
      <p:sp>
        <p:nvSpPr>
          <p:cNvPr id="22" name="Text 16"/>
          <p:cNvSpPr/>
          <p:nvPr/>
        </p:nvSpPr>
        <p:spPr>
          <a:xfrm>
            <a:off x="5182400" y="2712839"/>
            <a:ext cx="827112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B0C4DE"/>
                </a:solidFill>
              </a:rPr>
              <a:t>Config Distribution</a:t>
            </a:r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B0C4DE"/>
                </a:solidFill>
              </a:rPr>
              <a:t>
</a:t>
            </a:r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B0C4DE"/>
                </a:solidFill>
              </a:rPr>
              <a:t>Targeting</a:t>
            </a:r>
            <a:endParaRPr lang="en-US" sz="674" dirty="0"/>
          </a:p>
        </p:txBody>
      </p:sp>
      <p:sp>
        <p:nvSpPr>
          <p:cNvPr id="23" name="Shape 17"/>
          <p:cNvSpPr/>
          <p:nvPr/>
        </p:nvSpPr>
        <p:spPr>
          <a:xfrm>
            <a:off x="6310331" y="2062395"/>
            <a:ext cx="619134" cy="2857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4" name="Text 18"/>
          <p:cNvSpPr/>
          <p:nvPr/>
        </p:nvSpPr>
        <p:spPr>
          <a:xfrm>
            <a:off x="6888975" y="2019533"/>
            <a:ext cx="714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>
                    <a:alpha val="20000"/>
                  </a:srgbClr>
                </a:solidFill>
              </a:rPr>
              <a:t></a:t>
            </a:r>
            <a:endParaRPr lang="en-US" sz="784" dirty="0"/>
          </a:p>
        </p:txBody>
      </p:sp>
      <p:sp>
        <p:nvSpPr>
          <p:cNvPr id="25" name="Shape 19"/>
          <p:cNvSpPr/>
          <p:nvPr/>
        </p:nvSpPr>
        <p:spPr>
          <a:xfrm>
            <a:off x="7322372" y="1680567"/>
            <a:ext cx="642938" cy="642938"/>
          </a:xfrm>
          <a:prstGeom prst="rect">
            <a:avLst/>
          </a:prstGeom>
          <a:solidFill>
            <a:srgbClr val="0A192F"/>
          </a:solidFill>
          <a:ln w="18288">
            <a:solidFill>
              <a:srgbClr val="32CD32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3106" y="1859161"/>
            <a:ext cx="321469" cy="28575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01136" y="2430661"/>
            <a:ext cx="6853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Supervisor</a:t>
            </a:r>
            <a:endParaRPr lang="en-US" sz="885" dirty="0"/>
          </a:p>
        </p:txBody>
      </p:sp>
      <p:sp>
        <p:nvSpPr>
          <p:cNvPr id="28" name="Text 21"/>
          <p:cNvSpPr/>
          <p:nvPr/>
        </p:nvSpPr>
        <p:spPr>
          <a:xfrm>
            <a:off x="7238628" y="2712839"/>
            <a:ext cx="810397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B0C4DE"/>
                </a:solidFill>
              </a:rPr>
              <a:t>Local Enforcement</a:t>
            </a:r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B0C4DE"/>
                </a:solidFill>
              </a:rPr>
              <a:t>
</a:t>
            </a:r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B0C4DE"/>
                </a:solidFill>
              </a:rPr>
              <a:t>Drift Correction</a:t>
            </a:r>
            <a:endParaRPr lang="en-US" sz="674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2958" y="2928212"/>
            <a:ext cx="85725" cy="8572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098683" y="2913924"/>
            <a:ext cx="60454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5F56"/>
                </a:solidFill>
              </a:rPr>
              <a:t>Auto-Revert</a:t>
            </a:r>
            <a:endParaRPr lang="en-US" sz="584" dirty="0"/>
          </a:p>
        </p:txBody>
      </p:sp>
      <p:sp>
        <p:nvSpPr>
          <p:cNvPr id="31" name="Shape 23"/>
          <p:cNvSpPr/>
          <p:nvPr/>
        </p:nvSpPr>
        <p:spPr>
          <a:xfrm>
            <a:off x="571500" y="3544360"/>
            <a:ext cx="2524116" cy="137695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2" name="Shape 24"/>
          <p:cNvSpPr/>
          <p:nvPr/>
        </p:nvSpPr>
        <p:spPr>
          <a:xfrm>
            <a:off x="571500" y="3544360"/>
            <a:ext cx="28575" cy="1376958"/>
          </a:xfrm>
          <a:prstGeom prst="rect">
            <a:avLst/>
          </a:prstGeom>
          <a:solidFill>
            <a:srgbClr val="F05032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094" y="3748850"/>
            <a:ext cx="125016" cy="14287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46547" y="3722954"/>
            <a:ext cx="120531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05032"/>
                </a:solidFill>
              </a:rPr>
              <a:t>GitOps Workflow</a:t>
            </a:r>
            <a:endParaRPr lang="en-US" sz="987" dirty="0"/>
          </a:p>
        </p:txBody>
      </p:sp>
      <p:sp>
        <p:nvSpPr>
          <p:cNvPr id="35" name="Text 26"/>
          <p:cNvSpPr/>
          <p:nvPr/>
        </p:nvSpPr>
        <p:spPr>
          <a:xfrm>
            <a:off x="750094" y="3989059"/>
            <a:ext cx="2166928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B0C4DE"/>
                </a:solidFill>
              </a:rPr>
              <a:t>All changes start in Git. Pull Requests require peer review. Full audit trail of who changed what and when.</a:t>
            </a:r>
            <a:endParaRPr lang="en-US" sz="780" dirty="0"/>
          </a:p>
        </p:txBody>
      </p:sp>
      <p:sp>
        <p:nvSpPr>
          <p:cNvPr id="36" name="Shape 27"/>
          <p:cNvSpPr/>
          <p:nvPr/>
        </p:nvSpPr>
        <p:spPr>
          <a:xfrm>
            <a:off x="3309928" y="3544360"/>
            <a:ext cx="2524116" cy="137695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7" name="Shape 28"/>
          <p:cNvSpPr/>
          <p:nvPr/>
        </p:nvSpPr>
        <p:spPr>
          <a:xfrm>
            <a:off x="3309928" y="3544360"/>
            <a:ext cx="28575" cy="1376958"/>
          </a:xfrm>
          <a:prstGeom prst="rect">
            <a:avLst/>
          </a:prstGeom>
          <a:solidFill>
            <a:srgbClr val="00BFFF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88522" y="3748850"/>
            <a:ext cx="142875" cy="142875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3702834" y="3722954"/>
            <a:ext cx="123360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BFFF"/>
                </a:solidFill>
              </a:rPr>
              <a:t>Pre-Flight Checks</a:t>
            </a:r>
            <a:endParaRPr lang="en-US" sz="987" dirty="0"/>
          </a:p>
        </p:txBody>
      </p:sp>
      <p:sp>
        <p:nvSpPr>
          <p:cNvPr id="40" name="Text 30"/>
          <p:cNvSpPr/>
          <p:nvPr/>
        </p:nvSpPr>
        <p:spPr>
          <a:xfrm>
            <a:off x="3488522" y="3996203"/>
            <a:ext cx="188745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B0C4DE"/>
                </a:solidFill>
              </a:rPr>
              <a:t>CI pipeline validates YAML syntax and</a:t>
            </a:r>
            <a:endParaRPr lang="en-US" sz="780" dirty="0"/>
          </a:p>
        </p:txBody>
      </p:sp>
      <p:sp>
        <p:nvSpPr>
          <p:cNvPr id="41" name="Text 31"/>
          <p:cNvSpPr/>
          <p:nvPr/>
        </p:nvSpPr>
        <p:spPr>
          <a:xfrm>
            <a:off x="3488522" y="4156937"/>
            <a:ext cx="208259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B0C4DE"/>
                </a:solidFill>
              </a:rPr>
              <a:t>business rules before config ever reaches</a:t>
            </a:r>
            <a:endParaRPr lang="en-US" sz="780" dirty="0"/>
          </a:p>
        </p:txBody>
      </p:sp>
      <p:sp>
        <p:nvSpPr>
          <p:cNvPr id="42" name="Text 32"/>
          <p:cNvSpPr/>
          <p:nvPr/>
        </p:nvSpPr>
        <p:spPr>
          <a:xfrm>
            <a:off x="3488522" y="4317671"/>
            <a:ext cx="58252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B0C4DE"/>
                </a:solidFill>
              </a:rPr>
              <a:t>production.</a:t>
            </a:r>
            <a:endParaRPr lang="en-US" sz="780" dirty="0"/>
          </a:p>
        </p:txBody>
      </p:sp>
      <p:sp>
        <p:nvSpPr>
          <p:cNvPr id="43" name="Shape 33"/>
          <p:cNvSpPr/>
          <p:nvPr/>
        </p:nvSpPr>
        <p:spPr>
          <a:xfrm>
            <a:off x="3488522" y="4542699"/>
            <a:ext cx="1195992" cy="200025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4" name="Text 34"/>
          <p:cNvSpPr/>
          <p:nvPr/>
        </p:nvSpPr>
        <p:spPr>
          <a:xfrm>
            <a:off x="3488522" y="4542699"/>
            <a:ext cx="1195992" cy="200025"/>
          </a:xfrm>
          <a:prstGeom prst="rect">
            <a:avLst/>
          </a:prstGeom>
          <a:noFill/>
          <a:ln/>
        </p:spPr>
        <p:txBody>
          <a:bodyPr wrap="square" lIns="68072" tIns="42545" rIns="68072" bIns="42545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6F1FF"/>
                </a:solidFill>
              </a:rPr>
              <a:t>otel-config-check --validate</a:t>
            </a:r>
            <a:endParaRPr lang="en-US" sz="621" dirty="0"/>
          </a:p>
        </p:txBody>
      </p:sp>
      <p:sp>
        <p:nvSpPr>
          <p:cNvPr id="45" name="Shape 35"/>
          <p:cNvSpPr/>
          <p:nvPr/>
        </p:nvSpPr>
        <p:spPr>
          <a:xfrm>
            <a:off x="6048356" y="3544360"/>
            <a:ext cx="2524144" cy="137695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46" name="Shape 36"/>
          <p:cNvSpPr/>
          <p:nvPr/>
        </p:nvSpPr>
        <p:spPr>
          <a:xfrm>
            <a:off x="6048356" y="3544360"/>
            <a:ext cx="28575" cy="1376958"/>
          </a:xfrm>
          <a:prstGeom prst="rect">
            <a:avLst/>
          </a:prstGeom>
          <a:solidFill>
            <a:srgbClr val="32CD32"/>
          </a:solidFill>
          <a:ln/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6950" y="3748850"/>
            <a:ext cx="142875" cy="142875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6441263" y="3722954"/>
            <a:ext cx="114944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2CD32"/>
                </a:solidFill>
              </a:rPr>
              <a:t>Drift Prevention</a:t>
            </a:r>
            <a:endParaRPr lang="en-US" sz="987" dirty="0"/>
          </a:p>
        </p:txBody>
      </p:sp>
      <p:sp>
        <p:nvSpPr>
          <p:cNvPr id="49" name="Text 38"/>
          <p:cNvSpPr/>
          <p:nvPr/>
        </p:nvSpPr>
        <p:spPr>
          <a:xfrm>
            <a:off x="6226950" y="3989059"/>
            <a:ext cx="2166956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B0C4DE"/>
                </a:solidFill>
              </a:rPr>
              <a:t>Supervisor monitors config files. If a human manually edits a file on the server, Supervisor overwrites it immediately.</a:t>
            </a:r>
            <a:endParaRPr lang="en-US" sz="7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3315537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Monitoring &amp; Alerts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323380"/>
            <a:ext cx="4959800" cy="3391495"/>
          </a:xfrm>
          <a:prstGeom prst="rect">
            <a:avLst/>
          </a:prstGeom>
          <a:solidFill>
            <a:srgbClr val="112240"/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94" y="1525191"/>
            <a:ext cx="128588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0119" y="1501973"/>
            <a:ext cx="144404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Fleet Command Center</a:t>
            </a:r>
            <a:endParaRPr lang="en-US" sz="885" dirty="0"/>
          </a:p>
        </p:txBody>
      </p:sp>
      <p:sp>
        <p:nvSpPr>
          <p:cNvPr id="9" name="Text 5"/>
          <p:cNvSpPr/>
          <p:nvPr/>
        </p:nvSpPr>
        <p:spPr>
          <a:xfrm>
            <a:off x="4803446" y="1531441"/>
            <a:ext cx="54925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2CD32"/>
                </a:solidFill>
              </a:rPr>
              <a:t>Live Stream</a:t>
            </a:r>
            <a:endParaRPr lang="en-US" sz="584" dirty="0"/>
          </a:p>
        </p:txBody>
      </p:sp>
      <p:sp>
        <p:nvSpPr>
          <p:cNvPr id="10" name="Shape 6"/>
          <p:cNvSpPr/>
          <p:nvPr/>
        </p:nvSpPr>
        <p:spPr>
          <a:xfrm>
            <a:off x="750094" y="1969889"/>
            <a:ext cx="1462767" cy="75188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857250" y="2077045"/>
            <a:ext cx="12484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892B0"/>
                </a:solidFill>
              </a:rPr>
              <a:t>Fleet Health</a:t>
            </a:r>
            <a:endParaRPr lang="en-US" sz="621" dirty="0"/>
          </a:p>
        </p:txBody>
      </p:sp>
      <p:sp>
        <p:nvSpPr>
          <p:cNvPr id="12" name="Text 8"/>
          <p:cNvSpPr/>
          <p:nvPr/>
        </p:nvSpPr>
        <p:spPr>
          <a:xfrm>
            <a:off x="857250" y="2228850"/>
            <a:ext cx="124845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2CD32"/>
                </a:solidFill>
              </a:rPr>
              <a:t>99.92%</a:t>
            </a:r>
            <a:endParaRPr lang="en-US" sz="1193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513707"/>
            <a:ext cx="64294" cy="857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57263" y="2498527"/>
            <a:ext cx="2413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2CD32"/>
                </a:solidFill>
              </a:rPr>
              <a:t>0.05%</a:t>
            </a:r>
            <a:endParaRPr lang="en-US" sz="621" dirty="0"/>
          </a:p>
        </p:txBody>
      </p:sp>
      <p:sp>
        <p:nvSpPr>
          <p:cNvPr id="15" name="Shape 10"/>
          <p:cNvSpPr/>
          <p:nvPr/>
        </p:nvSpPr>
        <p:spPr>
          <a:xfrm>
            <a:off x="2320017" y="1969889"/>
            <a:ext cx="1462767" cy="75188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2427173" y="2077045"/>
            <a:ext cx="12484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892B0"/>
                </a:solidFill>
              </a:rPr>
              <a:t>Active Agents</a:t>
            </a:r>
            <a:endParaRPr lang="en-US" sz="621" dirty="0"/>
          </a:p>
        </p:txBody>
      </p:sp>
      <p:sp>
        <p:nvSpPr>
          <p:cNvPr id="17" name="Text 12"/>
          <p:cNvSpPr/>
          <p:nvPr/>
        </p:nvSpPr>
        <p:spPr>
          <a:xfrm>
            <a:off x="2427173" y="2228850"/>
            <a:ext cx="124845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1.24M</a:t>
            </a:r>
            <a:endParaRPr lang="en-US" sz="1193" dirty="0"/>
          </a:p>
        </p:txBody>
      </p:sp>
      <p:sp>
        <p:nvSpPr>
          <p:cNvPr id="18" name="Text 13"/>
          <p:cNvSpPr/>
          <p:nvPr/>
        </p:nvSpPr>
        <p:spPr>
          <a:xfrm>
            <a:off x="2427173" y="2498527"/>
            <a:ext cx="12484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B0C4DE"/>
                </a:solidFill>
              </a:rPr>
              <a:t>Total</a:t>
            </a:r>
            <a:endParaRPr lang="en-US" sz="621" dirty="0"/>
          </a:p>
        </p:txBody>
      </p:sp>
      <p:sp>
        <p:nvSpPr>
          <p:cNvPr id="19" name="Shape 14"/>
          <p:cNvSpPr/>
          <p:nvPr/>
        </p:nvSpPr>
        <p:spPr>
          <a:xfrm>
            <a:off x="3889939" y="1969889"/>
            <a:ext cx="1462767" cy="75188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3997096" y="2077045"/>
            <a:ext cx="12484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892B0"/>
                </a:solidFill>
              </a:rPr>
              <a:t>Config Drift</a:t>
            </a:r>
            <a:endParaRPr lang="en-US" sz="621" dirty="0"/>
          </a:p>
        </p:txBody>
      </p:sp>
      <p:sp>
        <p:nvSpPr>
          <p:cNvPr id="21" name="Text 16"/>
          <p:cNvSpPr/>
          <p:nvPr/>
        </p:nvSpPr>
        <p:spPr>
          <a:xfrm>
            <a:off x="3997096" y="2228850"/>
            <a:ext cx="124845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BD2E"/>
                </a:solidFill>
              </a:rPr>
              <a:t>0.8%</a:t>
            </a:r>
            <a:endParaRPr lang="en-US" sz="1193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7096" y="2513707"/>
            <a:ext cx="64294" cy="857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097108" y="2498527"/>
            <a:ext cx="19229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5F56"/>
                </a:solidFill>
              </a:rPr>
              <a:t>0.2%</a:t>
            </a:r>
            <a:endParaRPr lang="en-US" sz="621" dirty="0"/>
          </a:p>
        </p:txBody>
      </p:sp>
      <p:sp>
        <p:nvSpPr>
          <p:cNvPr id="24" name="Text 18"/>
          <p:cNvSpPr/>
          <p:nvPr/>
        </p:nvSpPr>
        <p:spPr>
          <a:xfrm>
            <a:off x="750094" y="2900363"/>
            <a:ext cx="460261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B0C4DE"/>
                </a:solidFill>
              </a:rPr>
              <a:t>Global Agent Status Distribution</a:t>
            </a:r>
            <a:endParaRPr lang="en-US" sz="683" dirty="0"/>
          </a:p>
        </p:txBody>
      </p:sp>
      <p:sp>
        <p:nvSpPr>
          <p:cNvPr id="25" name="Shape 19"/>
          <p:cNvSpPr/>
          <p:nvPr/>
        </p:nvSpPr>
        <p:spPr>
          <a:xfrm>
            <a:off x="750094" y="3107531"/>
            <a:ext cx="4602612" cy="142875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5817050" y="1628775"/>
            <a:ext cx="2755450" cy="19466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BFFF"/>
                </a:solidFill>
              </a:rPr>
              <a:t>Smart Alert Rules</a:t>
            </a:r>
            <a:endParaRPr lang="en-US" sz="987" dirty="0"/>
          </a:p>
        </p:txBody>
      </p:sp>
      <p:sp>
        <p:nvSpPr>
          <p:cNvPr id="27" name="Shape 21"/>
          <p:cNvSpPr/>
          <p:nvPr/>
        </p:nvSpPr>
        <p:spPr>
          <a:xfrm>
            <a:off x="5817050" y="1930598"/>
            <a:ext cx="2755450" cy="49470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4206" y="2113657"/>
            <a:ext cx="160734" cy="12858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192096" y="2044898"/>
            <a:ext cx="227324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Mass Disconnect</a:t>
            </a:r>
            <a:endParaRPr lang="en-US" sz="683" dirty="0"/>
          </a:p>
        </p:txBody>
      </p:sp>
      <p:sp>
        <p:nvSpPr>
          <p:cNvPr id="30" name="Text 23"/>
          <p:cNvSpPr/>
          <p:nvPr/>
        </p:nvSpPr>
        <p:spPr>
          <a:xfrm>
            <a:off x="6192096" y="2194917"/>
            <a:ext cx="227324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892B0"/>
                </a:solidFill>
              </a:rPr>
              <a:t>offline_agents &gt; 5% (5m)</a:t>
            </a:r>
            <a:endParaRPr lang="en-US" sz="621" dirty="0"/>
          </a:p>
        </p:txBody>
      </p:sp>
      <p:sp>
        <p:nvSpPr>
          <p:cNvPr id="31" name="Shape 24"/>
          <p:cNvSpPr/>
          <p:nvPr/>
        </p:nvSpPr>
        <p:spPr>
          <a:xfrm>
            <a:off x="5817050" y="2525316"/>
            <a:ext cx="2755450" cy="49470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4206" y="2708374"/>
            <a:ext cx="96441" cy="12858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127803" y="2639616"/>
            <a:ext cx="233754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Config Drift</a:t>
            </a:r>
            <a:endParaRPr lang="en-US" sz="683" dirty="0"/>
          </a:p>
        </p:txBody>
      </p:sp>
      <p:sp>
        <p:nvSpPr>
          <p:cNvPr id="34" name="Text 26"/>
          <p:cNvSpPr/>
          <p:nvPr/>
        </p:nvSpPr>
        <p:spPr>
          <a:xfrm>
            <a:off x="6127803" y="2789634"/>
            <a:ext cx="233754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892B0"/>
                </a:solidFill>
              </a:rPr>
              <a:t>sync_status == 'failed'</a:t>
            </a:r>
            <a:endParaRPr lang="en-US" sz="621" dirty="0"/>
          </a:p>
        </p:txBody>
      </p:sp>
      <p:sp>
        <p:nvSpPr>
          <p:cNvPr id="35" name="Shape 27"/>
          <p:cNvSpPr/>
          <p:nvPr/>
        </p:nvSpPr>
        <p:spPr>
          <a:xfrm>
            <a:off x="5817050" y="3120033"/>
            <a:ext cx="2755450" cy="49470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4206" y="3303091"/>
            <a:ext cx="128588" cy="12858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159950" y="3234333"/>
            <a:ext cx="23053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Resource Spike</a:t>
            </a:r>
            <a:endParaRPr lang="en-US" sz="683" dirty="0"/>
          </a:p>
        </p:txBody>
      </p:sp>
      <p:sp>
        <p:nvSpPr>
          <p:cNvPr id="38" name="Text 29"/>
          <p:cNvSpPr/>
          <p:nvPr/>
        </p:nvSpPr>
        <p:spPr>
          <a:xfrm>
            <a:off x="6159950" y="3384352"/>
            <a:ext cx="230539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892B0"/>
                </a:solidFill>
              </a:rPr>
              <a:t>cpu_usage &gt; 90% (10m)</a:t>
            </a:r>
            <a:endParaRPr lang="en-US" sz="621" dirty="0"/>
          </a:p>
        </p:txBody>
      </p:sp>
      <p:sp>
        <p:nvSpPr>
          <p:cNvPr id="39" name="Text 30"/>
          <p:cNvSpPr/>
          <p:nvPr/>
        </p:nvSpPr>
        <p:spPr>
          <a:xfrm>
            <a:off x="5817050" y="3821906"/>
            <a:ext cx="2755450" cy="19466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BFFF"/>
                </a:solidFill>
              </a:rPr>
              <a:t>Integrations</a:t>
            </a:r>
            <a:endParaRPr lang="en-US" sz="987" dirty="0"/>
          </a:p>
        </p:txBody>
      </p:sp>
      <p:sp>
        <p:nvSpPr>
          <p:cNvPr id="40" name="Shape 31"/>
          <p:cNvSpPr/>
          <p:nvPr/>
        </p:nvSpPr>
        <p:spPr>
          <a:xfrm>
            <a:off x="5817050" y="4123730"/>
            <a:ext cx="568654" cy="264319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2775" y="4205883"/>
            <a:ext cx="87511" cy="100013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047436" y="4188023"/>
            <a:ext cx="23825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Slack</a:t>
            </a:r>
            <a:endParaRPr lang="en-US" sz="727" dirty="0"/>
          </a:p>
        </p:txBody>
      </p:sp>
      <p:sp>
        <p:nvSpPr>
          <p:cNvPr id="43" name="Shape 33"/>
          <p:cNvSpPr/>
          <p:nvPr/>
        </p:nvSpPr>
        <p:spPr>
          <a:xfrm>
            <a:off x="6478572" y="4123730"/>
            <a:ext cx="840674" cy="264319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4297" y="4205883"/>
            <a:ext cx="100013" cy="100013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6721459" y="4188023"/>
            <a:ext cx="4977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PagerDuty</a:t>
            </a:r>
            <a:endParaRPr lang="en-US" sz="727" dirty="0"/>
          </a:p>
        </p:txBody>
      </p:sp>
      <p:sp>
        <p:nvSpPr>
          <p:cNvPr id="46" name="Shape 35"/>
          <p:cNvSpPr/>
          <p:nvPr/>
        </p:nvSpPr>
        <p:spPr>
          <a:xfrm>
            <a:off x="7412115" y="4123730"/>
            <a:ext cx="487868" cy="264319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7840" y="4205883"/>
            <a:ext cx="96441" cy="100013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7651431" y="4188023"/>
            <a:ext cx="1485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Jira</a:t>
            </a:r>
            <a:endParaRPr lang="en-US" sz="727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6094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4148007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Remote Troubleshooting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549971"/>
            <a:ext cx="428625" cy="428625"/>
          </a:xfrm>
          <a:prstGeom prst="rect">
            <a:avLst/>
          </a:prstGeom>
          <a:solidFill>
            <a:srgbClr val="00BFFF">
              <a:alpha val="10000"/>
            </a:srgbClr>
          </a:solidFill>
          <a:ln w="9144">
            <a:solidFill>
              <a:srgbClr val="00BFFF">
                <a:alpha val="30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19" y="1678558"/>
            <a:ext cx="128588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1549971"/>
            <a:ext cx="287047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Log Retrieval</a:t>
            </a:r>
            <a:endParaRPr lang="en-US" sz="987" dirty="0"/>
          </a:p>
        </p:txBody>
      </p:sp>
      <p:sp>
        <p:nvSpPr>
          <p:cNvPr id="9" name="Text 5"/>
          <p:cNvSpPr/>
          <p:nvPr/>
        </p:nvSpPr>
        <p:spPr>
          <a:xfrm>
            <a:off x="1143000" y="1801788"/>
            <a:ext cx="28704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Fetch recent logs or specific time windows securely without accessing the host filesystem.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571500" y="2359000"/>
            <a:ext cx="428625" cy="428625"/>
          </a:xfrm>
          <a:prstGeom prst="rect">
            <a:avLst/>
          </a:prstGeom>
          <a:solidFill>
            <a:srgbClr val="00BFFF">
              <a:alpha val="10000"/>
            </a:srgbClr>
          </a:solidFill>
          <a:ln w="9144">
            <a:solidFill>
              <a:srgbClr val="00BFFF">
                <a:alpha val="3000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88" y="2487588"/>
            <a:ext cx="171450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2359000"/>
            <a:ext cx="287047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Lifecycle Control</a:t>
            </a:r>
            <a:endParaRPr lang="en-US" sz="987" dirty="0"/>
          </a:p>
        </p:txBody>
      </p:sp>
      <p:sp>
        <p:nvSpPr>
          <p:cNvPr id="13" name="Text 8"/>
          <p:cNvSpPr/>
          <p:nvPr/>
        </p:nvSpPr>
        <p:spPr>
          <a:xfrm>
            <a:off x="1143000" y="2610817"/>
            <a:ext cx="28704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Restart, stop, or start specific agents to resolve hung processes or apply config changes.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571500" y="3168030"/>
            <a:ext cx="428625" cy="428625"/>
          </a:xfrm>
          <a:prstGeom prst="rect">
            <a:avLst/>
          </a:prstGeom>
          <a:solidFill>
            <a:srgbClr val="00BFFF">
              <a:alpha val="10000"/>
            </a:srgbClr>
          </a:solidFill>
          <a:ln w="9144">
            <a:solidFill>
              <a:srgbClr val="00BFFF">
                <a:alpha val="3000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372" y="3296617"/>
            <a:ext cx="192881" cy="1714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3168030"/>
            <a:ext cx="287047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Health Diagnostics</a:t>
            </a:r>
            <a:endParaRPr lang="en-US" sz="987" dirty="0"/>
          </a:p>
        </p:txBody>
      </p:sp>
      <p:sp>
        <p:nvSpPr>
          <p:cNvPr id="17" name="Text 11"/>
          <p:cNvSpPr/>
          <p:nvPr/>
        </p:nvSpPr>
        <p:spPr>
          <a:xfrm>
            <a:off x="1143000" y="3419847"/>
            <a:ext cx="28704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Real-time query of agent status, resource usage (CPU/RAM), and version information.</a:t>
            </a:r>
            <a:endParaRPr lang="en-US" sz="834" dirty="0"/>
          </a:p>
        </p:txBody>
      </p:sp>
      <p:sp>
        <p:nvSpPr>
          <p:cNvPr id="18" name="Shape 12"/>
          <p:cNvSpPr/>
          <p:nvPr/>
        </p:nvSpPr>
        <p:spPr>
          <a:xfrm>
            <a:off x="4442101" y="1323380"/>
            <a:ext cx="4130399" cy="2665986"/>
          </a:xfrm>
          <a:prstGeom prst="rect">
            <a:avLst/>
          </a:prstGeom>
          <a:solidFill>
            <a:srgbClr val="112240"/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442101" y="1328933"/>
            <a:ext cx="4130399" cy="314325"/>
          </a:xfrm>
          <a:prstGeom prst="rect">
            <a:avLst/>
          </a:prstGeom>
          <a:solidFill>
            <a:srgbClr val="051020"/>
          </a:solidFill>
          <a:ln/>
        </p:spPr>
      </p:sp>
      <p:sp>
        <p:nvSpPr>
          <p:cNvPr id="20" name="Shape 14"/>
          <p:cNvSpPr/>
          <p:nvPr/>
        </p:nvSpPr>
        <p:spPr>
          <a:xfrm>
            <a:off x="4442101" y="1636114"/>
            <a:ext cx="4130399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5"/>
          <p:cNvSpPr/>
          <p:nvPr/>
        </p:nvSpPr>
        <p:spPr>
          <a:xfrm>
            <a:off x="5120757" y="1418230"/>
            <a:ext cx="93683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C6D85"/>
                </a:solidFill>
              </a:rPr>
              <a:t>admin@opamp-cli ~</a:t>
            </a:r>
            <a:endParaRPr lang="en-US" sz="727" dirty="0"/>
          </a:p>
        </p:txBody>
      </p:sp>
      <p:sp>
        <p:nvSpPr>
          <p:cNvPr id="22" name="Text 16"/>
          <p:cNvSpPr/>
          <p:nvPr/>
        </p:nvSpPr>
        <p:spPr>
          <a:xfrm>
            <a:off x="4620695" y="1818280"/>
            <a:ext cx="377321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27C93F"/>
                </a:solidFill>
              </a:rPr>
              <a:t>➜</a:t>
            </a:r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opamp agent status --target=prod-web-01 --agent=osquery</a:t>
            </a:r>
            <a:endParaRPr lang="en-US" sz="727" dirty="0"/>
          </a:p>
        </p:txBody>
      </p:sp>
      <p:sp>
        <p:nvSpPr>
          <p:cNvPr id="23" name="Text 17"/>
          <p:cNvSpPr/>
          <p:nvPr/>
        </p:nvSpPr>
        <p:spPr>
          <a:xfrm>
            <a:off x="4620695" y="1998297"/>
            <a:ext cx="377321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Status: </a:t>
            </a:r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UNHEALTHY</a:t>
            </a:r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 (High Memory Usage)</a:t>
            </a:r>
            <a:endParaRPr lang="en-US" sz="727" dirty="0"/>
          </a:p>
        </p:txBody>
      </p:sp>
      <p:sp>
        <p:nvSpPr>
          <p:cNvPr id="24" name="Text 18"/>
          <p:cNvSpPr/>
          <p:nvPr/>
        </p:nvSpPr>
        <p:spPr>
          <a:xfrm>
            <a:off x="4620695" y="2178314"/>
            <a:ext cx="377321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Memory: 450MB / Limit: 200MB</a:t>
            </a:r>
            <a:endParaRPr lang="en-US" sz="727" dirty="0"/>
          </a:p>
        </p:txBody>
      </p:sp>
      <p:sp>
        <p:nvSpPr>
          <p:cNvPr id="25" name="Text 19"/>
          <p:cNvSpPr/>
          <p:nvPr/>
        </p:nvSpPr>
        <p:spPr>
          <a:xfrm>
            <a:off x="4620695" y="2538347"/>
            <a:ext cx="377321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27C93F"/>
                </a:solidFill>
              </a:rPr>
              <a:t>➜</a:t>
            </a:r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opamp agent restart --target=prod-web-01 --agent=osquery</a:t>
            </a:r>
            <a:endParaRPr lang="en-US" sz="727" dirty="0"/>
          </a:p>
        </p:txBody>
      </p:sp>
      <p:sp>
        <p:nvSpPr>
          <p:cNvPr id="26" name="Text 20"/>
          <p:cNvSpPr/>
          <p:nvPr/>
        </p:nvSpPr>
        <p:spPr>
          <a:xfrm>
            <a:off x="4620695" y="2718364"/>
            <a:ext cx="377321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00BFFF"/>
                </a:solidFill>
              </a:rPr>
              <a:t>ℹ</a:t>
            </a:r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 Verifying permissions for user 'alice'... </a:t>
            </a:r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27C93F"/>
                </a:solidFill>
              </a:rPr>
              <a:t>OK</a:t>
            </a:r>
            <a:endParaRPr lang="en-US" sz="727" dirty="0"/>
          </a:p>
        </p:txBody>
      </p:sp>
      <p:sp>
        <p:nvSpPr>
          <p:cNvPr id="27" name="Text 21"/>
          <p:cNvSpPr/>
          <p:nvPr/>
        </p:nvSpPr>
        <p:spPr>
          <a:xfrm>
            <a:off x="4620695" y="2898381"/>
            <a:ext cx="377321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00BFFF"/>
                </a:solidFill>
              </a:rPr>
              <a:t>ℹ</a:t>
            </a:r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 Sending command to supervisor... </a:t>
            </a:r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27C93F"/>
                </a:solidFill>
              </a:rPr>
              <a:t>Sent</a:t>
            </a:r>
            <a:endParaRPr lang="en-US" sz="727" dirty="0"/>
          </a:p>
        </p:txBody>
      </p:sp>
      <p:sp>
        <p:nvSpPr>
          <p:cNvPr id="28" name="Text 22"/>
          <p:cNvSpPr/>
          <p:nvPr/>
        </p:nvSpPr>
        <p:spPr>
          <a:xfrm>
            <a:off x="4620695" y="3078398"/>
            <a:ext cx="377321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Waiting for agent to stabilize...</a:t>
            </a:r>
            <a:endParaRPr lang="en-US" sz="727" dirty="0"/>
          </a:p>
        </p:txBody>
      </p:sp>
      <p:sp>
        <p:nvSpPr>
          <p:cNvPr id="29" name="Text 23"/>
          <p:cNvSpPr/>
          <p:nvPr/>
        </p:nvSpPr>
        <p:spPr>
          <a:xfrm>
            <a:off x="4620695" y="3258415"/>
            <a:ext cx="377321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27C93F"/>
                </a:solidFill>
              </a:rPr>
              <a:t>✔</a:t>
            </a:r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 Agent 'osquery' restarted successfully (PID: 8921)</a:t>
            </a:r>
            <a:endParaRPr lang="en-US" sz="727" dirty="0"/>
          </a:p>
        </p:txBody>
      </p:sp>
      <p:sp>
        <p:nvSpPr>
          <p:cNvPr id="30" name="Text 24"/>
          <p:cNvSpPr/>
          <p:nvPr/>
        </p:nvSpPr>
        <p:spPr>
          <a:xfrm>
            <a:off x="4620695" y="3639880"/>
            <a:ext cx="8393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27C93F"/>
                </a:solidFill>
              </a:rPr>
              <a:t>➜</a:t>
            </a:r>
            <a:endParaRPr lang="en-US" sz="727" dirty="0"/>
          </a:p>
        </p:txBody>
      </p:sp>
      <p:sp>
        <p:nvSpPr>
          <p:cNvPr id="31" name="Text 25"/>
          <p:cNvSpPr/>
          <p:nvPr/>
        </p:nvSpPr>
        <p:spPr>
          <a:xfrm>
            <a:off x="4730641" y="3639880"/>
            <a:ext cx="444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_</a:t>
            </a:r>
            <a:endParaRPr lang="en-US" sz="727" dirty="0"/>
          </a:p>
        </p:txBody>
      </p:sp>
      <p:sp>
        <p:nvSpPr>
          <p:cNvPr id="32" name="Shape 26"/>
          <p:cNvSpPr/>
          <p:nvPr/>
        </p:nvSpPr>
        <p:spPr>
          <a:xfrm>
            <a:off x="571500" y="4271963"/>
            <a:ext cx="8001000" cy="4429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3" name="Shape 27"/>
          <p:cNvSpPr/>
          <p:nvPr/>
        </p:nvSpPr>
        <p:spPr>
          <a:xfrm>
            <a:off x="571500" y="4271963"/>
            <a:ext cx="800100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28"/>
          <p:cNvSpPr/>
          <p:nvPr/>
        </p:nvSpPr>
        <p:spPr>
          <a:xfrm>
            <a:off x="571500" y="4421981"/>
            <a:ext cx="1290703" cy="292894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4511278"/>
            <a:ext cx="100013" cy="1143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85825" y="4500563"/>
            <a:ext cx="81921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No SSH Required</a:t>
            </a:r>
            <a:endParaRPr lang="en-US" sz="683" dirty="0"/>
          </a:p>
        </p:txBody>
      </p:sp>
      <p:sp>
        <p:nvSpPr>
          <p:cNvPr id="37" name="Shape 30"/>
          <p:cNvSpPr/>
          <p:nvPr/>
        </p:nvSpPr>
        <p:spPr>
          <a:xfrm>
            <a:off x="1990790" y="4421981"/>
            <a:ext cx="1231264" cy="292894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3665" y="4511278"/>
            <a:ext cx="142875" cy="11430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2347978" y="4500563"/>
            <a:ext cx="71691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RBAC Enforced</a:t>
            </a:r>
            <a:endParaRPr lang="en-US" sz="683" dirty="0"/>
          </a:p>
        </p:txBody>
      </p:sp>
      <p:sp>
        <p:nvSpPr>
          <p:cNvPr id="40" name="Shape 32"/>
          <p:cNvSpPr/>
          <p:nvPr/>
        </p:nvSpPr>
        <p:spPr>
          <a:xfrm>
            <a:off x="3350642" y="4421981"/>
            <a:ext cx="1140154" cy="292894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3517" y="4511278"/>
            <a:ext cx="128588" cy="11430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3693542" y="4500563"/>
            <a:ext cx="64009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Fully Audited</a:t>
            </a:r>
            <a:endParaRPr lang="en-US" sz="683" dirty="0"/>
          </a:p>
        </p:txBody>
      </p:sp>
      <p:sp>
        <p:nvSpPr>
          <p:cNvPr id="43" name="Shape 34"/>
          <p:cNvSpPr/>
          <p:nvPr/>
        </p:nvSpPr>
        <p:spPr>
          <a:xfrm>
            <a:off x="4619383" y="4421981"/>
            <a:ext cx="1344309" cy="292894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258" y="4518422"/>
            <a:ext cx="114300" cy="11430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4947996" y="4507706"/>
            <a:ext cx="8585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Agent Scope Only</a:t>
            </a:r>
            <a:endParaRPr lang="en-US" sz="683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3827683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Emergency Operations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2233315"/>
            <a:ext cx="428625" cy="428625"/>
          </a:xfrm>
          <a:prstGeom prst="rect">
            <a:avLst/>
          </a:prstGeom>
          <a:solidFill>
            <a:srgbClr val="FF5F56">
              <a:alpha val="10000"/>
            </a:srgbClr>
          </a:solidFill>
          <a:ln w="9144">
            <a:solidFill>
              <a:srgbClr val="FF5F56">
                <a:alpha val="30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8" y="2361902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85850" y="2233315"/>
            <a:ext cx="217535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Global Kill-Switch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1085850" y="2504777"/>
            <a:ext cx="21753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Instantly stop any agent across the fleet.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571500" y="2819102"/>
            <a:ext cx="428625" cy="428625"/>
          </a:xfrm>
          <a:prstGeom prst="rect">
            <a:avLst/>
          </a:prstGeom>
          <a:solidFill>
            <a:srgbClr val="FF5F56">
              <a:alpha val="10000"/>
            </a:srgbClr>
          </a:solidFill>
          <a:ln w="9144">
            <a:solidFill>
              <a:srgbClr val="FF5F56">
                <a:alpha val="3000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56" y="2947690"/>
            <a:ext cx="214313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85850" y="2819102"/>
            <a:ext cx="28432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Network Isolation</a:t>
            </a:r>
            <a:endParaRPr lang="en-US" sz="1090" dirty="0"/>
          </a:p>
        </p:txBody>
      </p:sp>
      <p:sp>
        <p:nvSpPr>
          <p:cNvPr id="13" name="Text 8"/>
          <p:cNvSpPr/>
          <p:nvPr/>
        </p:nvSpPr>
        <p:spPr>
          <a:xfrm>
            <a:off x="1085850" y="3090565"/>
            <a:ext cx="28432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Sever host network access while keeping control for remediation.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571500" y="3576340"/>
            <a:ext cx="428625" cy="428625"/>
          </a:xfrm>
          <a:prstGeom prst="rect">
            <a:avLst/>
          </a:prstGeom>
          <a:solidFill>
            <a:srgbClr val="FF5F56">
              <a:alpha val="10000"/>
            </a:srgbClr>
          </a:solidFill>
          <a:ln w="9144">
            <a:solidFill>
              <a:srgbClr val="FF5F56">
                <a:alpha val="3000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6" y="3704927"/>
            <a:ext cx="214313" cy="1714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85850" y="3576340"/>
            <a:ext cx="280562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Break-Glass Access</a:t>
            </a:r>
            <a:endParaRPr lang="en-US" sz="1090" dirty="0"/>
          </a:p>
        </p:txBody>
      </p:sp>
      <p:sp>
        <p:nvSpPr>
          <p:cNvPr id="17" name="Text 11"/>
          <p:cNvSpPr/>
          <p:nvPr/>
        </p:nvSpPr>
        <p:spPr>
          <a:xfrm>
            <a:off x="1085850" y="3847802"/>
            <a:ext cx="280562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JIT elevated responders with MFA and full audit logs.</a:t>
            </a:r>
            <a:endParaRPr lang="en-US" sz="834" dirty="0"/>
          </a:p>
        </p:txBody>
      </p:sp>
      <p:sp>
        <p:nvSpPr>
          <p:cNvPr id="18" name="Shape 12"/>
          <p:cNvSpPr/>
          <p:nvPr/>
        </p:nvSpPr>
        <p:spPr>
          <a:xfrm>
            <a:off x="4357688" y="1251942"/>
            <a:ext cx="4214813" cy="3748683"/>
          </a:xfrm>
          <a:prstGeom prst="rect">
            <a:avLst/>
          </a:prstGeom>
          <a:solidFill>
            <a:srgbClr val="112240"/>
          </a:solidFill>
          <a:ln w="9144">
            <a:solidFill>
              <a:srgbClr val="FF5F56">
                <a:alpha val="30000"/>
              </a:srgbClr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9914" y="1374279"/>
            <a:ext cx="135731" cy="1143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657083" y="1353741"/>
            <a:ext cx="13832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F5F56"/>
                </a:solidFill>
              </a:rPr>
              <a:t>Emergency Console</a:t>
            </a:r>
            <a:endParaRPr lang="en-US" sz="784" dirty="0"/>
          </a:p>
        </p:txBody>
      </p:sp>
      <p:sp>
        <p:nvSpPr>
          <p:cNvPr id="21" name="Shape 14"/>
          <p:cNvSpPr/>
          <p:nvPr/>
        </p:nvSpPr>
        <p:spPr>
          <a:xfrm>
            <a:off x="7601090" y="1337667"/>
            <a:ext cx="885685" cy="187523"/>
          </a:xfrm>
          <a:prstGeom prst="rect">
            <a:avLst/>
          </a:prstGeom>
          <a:solidFill>
            <a:srgbClr val="FF5F56">
              <a:alpha val="20000"/>
            </a:srgbClr>
          </a:solidFill>
          <a:ln/>
        </p:spPr>
      </p:sp>
      <p:sp>
        <p:nvSpPr>
          <p:cNvPr id="22" name="Text 15"/>
          <p:cNvSpPr/>
          <p:nvPr/>
        </p:nvSpPr>
        <p:spPr>
          <a:xfrm>
            <a:off x="7601090" y="1337667"/>
            <a:ext cx="885685" cy="187523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5F56"/>
                </a:solidFill>
              </a:rPr>
              <a:t>Active Incident</a:t>
            </a:r>
            <a:endParaRPr lang="en-US" sz="584" dirty="0"/>
          </a:p>
        </p:txBody>
      </p:sp>
      <p:sp>
        <p:nvSpPr>
          <p:cNvPr id="23" name="Shape 16"/>
          <p:cNvSpPr/>
          <p:nvPr/>
        </p:nvSpPr>
        <p:spPr>
          <a:xfrm>
            <a:off x="4449914" y="1732359"/>
            <a:ext cx="1975554" cy="880467"/>
          </a:xfrm>
          <a:prstGeom prst="rect">
            <a:avLst/>
          </a:prstGeom>
          <a:solidFill>
            <a:srgbClr val="0A192F"/>
          </a:solidFill>
          <a:ln w="9144">
            <a:solidFill>
              <a:srgbClr val="FF5F56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7665" y="1818084"/>
            <a:ext cx="200025" cy="20002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969818" y="2089547"/>
            <a:ext cx="9357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Stop Agent Process</a:t>
            </a:r>
            <a:endParaRPr lang="en-US" sz="683" dirty="0"/>
          </a:p>
        </p:txBody>
      </p:sp>
      <p:sp>
        <p:nvSpPr>
          <p:cNvPr id="26" name="Shape 18"/>
          <p:cNvSpPr/>
          <p:nvPr/>
        </p:nvSpPr>
        <p:spPr>
          <a:xfrm>
            <a:off x="4535639" y="2296716"/>
            <a:ext cx="1804104" cy="216098"/>
          </a:xfrm>
          <a:prstGeom prst="rect">
            <a:avLst/>
          </a:prstGeom>
          <a:solidFill>
            <a:srgbClr val="FF5F56"/>
          </a:solidFill>
          <a:ln w="9144">
            <a:solidFill>
              <a:srgbClr val="FF5F56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4535639" y="2296716"/>
            <a:ext cx="1804104" cy="216098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Execute</a:t>
            </a:r>
            <a:endParaRPr lang="en-US" sz="584" dirty="0"/>
          </a:p>
        </p:txBody>
      </p:sp>
      <p:sp>
        <p:nvSpPr>
          <p:cNvPr id="28" name="Shape 20"/>
          <p:cNvSpPr/>
          <p:nvPr/>
        </p:nvSpPr>
        <p:spPr>
          <a:xfrm>
            <a:off x="6511193" y="1732359"/>
            <a:ext cx="1975582" cy="880467"/>
          </a:xfrm>
          <a:prstGeom prst="rect">
            <a:avLst/>
          </a:prstGeom>
          <a:solidFill>
            <a:srgbClr val="0A192F"/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8972" y="1818084"/>
            <a:ext cx="200025" cy="20002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205839" y="2089547"/>
            <a:ext cx="58629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Isolate Host</a:t>
            </a:r>
            <a:endParaRPr lang="en-US" sz="683" dirty="0"/>
          </a:p>
        </p:txBody>
      </p:sp>
      <p:sp>
        <p:nvSpPr>
          <p:cNvPr id="31" name="Text 22"/>
          <p:cNvSpPr/>
          <p:nvPr/>
        </p:nvSpPr>
        <p:spPr>
          <a:xfrm>
            <a:off x="6596918" y="2296716"/>
            <a:ext cx="1804132" cy="216098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5F56"/>
                </a:solidFill>
              </a:rPr>
              <a:t>Select Scope</a:t>
            </a:r>
            <a:endParaRPr lang="en-US" sz="584" dirty="0"/>
          </a:p>
        </p:txBody>
      </p:sp>
      <p:sp>
        <p:nvSpPr>
          <p:cNvPr id="32" name="Shape 23"/>
          <p:cNvSpPr/>
          <p:nvPr/>
        </p:nvSpPr>
        <p:spPr>
          <a:xfrm>
            <a:off x="4449914" y="2684264"/>
            <a:ext cx="1975554" cy="880467"/>
          </a:xfrm>
          <a:prstGeom prst="rect">
            <a:avLst/>
          </a:prstGeom>
          <a:solidFill>
            <a:srgbClr val="0A192F"/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7665" y="2769989"/>
            <a:ext cx="200025" cy="20002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059031" y="3041452"/>
            <a:ext cx="75732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Rollback Config</a:t>
            </a:r>
            <a:endParaRPr lang="en-US" sz="683" dirty="0"/>
          </a:p>
        </p:txBody>
      </p:sp>
      <p:sp>
        <p:nvSpPr>
          <p:cNvPr id="35" name="Text 25"/>
          <p:cNvSpPr/>
          <p:nvPr/>
        </p:nvSpPr>
        <p:spPr>
          <a:xfrm>
            <a:off x="4535639" y="3248620"/>
            <a:ext cx="1804104" cy="216098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5F56"/>
                </a:solidFill>
              </a:rPr>
              <a:t>Select Version</a:t>
            </a:r>
            <a:endParaRPr lang="en-US" sz="584" dirty="0"/>
          </a:p>
        </p:txBody>
      </p:sp>
      <p:sp>
        <p:nvSpPr>
          <p:cNvPr id="36" name="Shape 26"/>
          <p:cNvSpPr/>
          <p:nvPr/>
        </p:nvSpPr>
        <p:spPr>
          <a:xfrm>
            <a:off x="6511193" y="2684264"/>
            <a:ext cx="1975582" cy="880467"/>
          </a:xfrm>
          <a:prstGeom prst="rect">
            <a:avLst/>
          </a:prstGeom>
          <a:solidFill>
            <a:srgbClr val="0A192F"/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6470" y="2769989"/>
            <a:ext cx="225028" cy="200025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241977" y="3041452"/>
            <a:ext cx="51398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Flush Logs</a:t>
            </a:r>
            <a:endParaRPr lang="en-US" sz="683" dirty="0"/>
          </a:p>
        </p:txBody>
      </p:sp>
      <p:sp>
        <p:nvSpPr>
          <p:cNvPr id="39" name="Text 28"/>
          <p:cNvSpPr/>
          <p:nvPr/>
        </p:nvSpPr>
        <p:spPr>
          <a:xfrm>
            <a:off x="6596918" y="3248620"/>
            <a:ext cx="1804132" cy="216098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5F56"/>
                </a:solidFill>
              </a:rPr>
              <a:t>Upload Now</a:t>
            </a:r>
            <a:endParaRPr lang="en-US" sz="584" dirty="0"/>
          </a:p>
        </p:txBody>
      </p:sp>
      <p:sp>
        <p:nvSpPr>
          <p:cNvPr id="40" name="Shape 29"/>
          <p:cNvSpPr/>
          <p:nvPr/>
        </p:nvSpPr>
        <p:spPr>
          <a:xfrm>
            <a:off x="4449914" y="4509492"/>
            <a:ext cx="4036861" cy="405408"/>
          </a:xfrm>
          <a:prstGeom prst="rect">
            <a:avLst/>
          </a:prstGeom>
          <a:solidFill>
            <a:srgbClr val="FF5F56">
              <a:alpha val="10000"/>
            </a:srgbClr>
          </a:solidFill>
          <a:ln/>
        </p:spPr>
      </p:sp>
      <p:sp>
        <p:nvSpPr>
          <p:cNvPr id="41" name="Text 30"/>
          <p:cNvSpPr/>
          <p:nvPr/>
        </p:nvSpPr>
        <p:spPr>
          <a:xfrm>
            <a:off x="4535639" y="4644330"/>
            <a:ext cx="92542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5F56"/>
                </a:solidFill>
              </a:rPr>
              <a:t>Propagation Speed</a:t>
            </a:r>
            <a:endParaRPr lang="en-US" sz="683" dirty="0"/>
          </a:p>
        </p:txBody>
      </p:sp>
      <p:sp>
        <p:nvSpPr>
          <p:cNvPr id="42" name="Text 31"/>
          <p:cNvSpPr/>
          <p:nvPr/>
        </p:nvSpPr>
        <p:spPr>
          <a:xfrm>
            <a:off x="7321255" y="4595217"/>
            <a:ext cx="107979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&lt; 10 Seconds</a:t>
            </a:r>
            <a:endParaRPr lang="en-US" sz="1193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3458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252807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Key Takeaways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394817"/>
            <a:ext cx="3893344" cy="159127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394817"/>
            <a:ext cx="42863" cy="1591270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8" name="Shape 5"/>
          <p:cNvSpPr/>
          <p:nvPr/>
        </p:nvSpPr>
        <p:spPr>
          <a:xfrm>
            <a:off x="785813" y="1609130"/>
            <a:ext cx="500063" cy="500063"/>
          </a:xfrm>
          <a:prstGeom prst="rect">
            <a:avLst/>
          </a:prstGeom>
          <a:solidFill>
            <a:srgbClr val="00BFFF">
              <a:alpha val="10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544" y="1744861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4469" y="1609130"/>
            <a:ext cx="27860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Unified Standardization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1464469" y="1914525"/>
            <a:ext cx="27860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One protocol (OpAMP) to manage the entire agent ecosystem, from core security stack to the long tail of niche tools.</a:t>
            </a:r>
            <a:endParaRPr lang="en-US" sz="834" dirty="0"/>
          </a:p>
        </p:txBody>
      </p:sp>
      <p:sp>
        <p:nvSpPr>
          <p:cNvPr id="12" name="Shape 8"/>
          <p:cNvSpPr/>
          <p:nvPr/>
        </p:nvSpPr>
        <p:spPr>
          <a:xfrm>
            <a:off x="1464469" y="2536031"/>
            <a:ext cx="939347" cy="235744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464469" y="2536031"/>
            <a:ext cx="939347" cy="23574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100% Coverage</a:t>
            </a:r>
            <a:endParaRPr lang="en-US" sz="683" dirty="0"/>
          </a:p>
        </p:txBody>
      </p:sp>
      <p:sp>
        <p:nvSpPr>
          <p:cNvPr id="14" name="Shape 10"/>
          <p:cNvSpPr/>
          <p:nvPr/>
        </p:nvSpPr>
        <p:spPr>
          <a:xfrm>
            <a:off x="4679156" y="1394817"/>
            <a:ext cx="3893344" cy="159127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4679156" y="1394817"/>
            <a:ext cx="42863" cy="1591270"/>
          </a:xfrm>
          <a:prstGeom prst="rect">
            <a:avLst/>
          </a:prstGeom>
          <a:solidFill>
            <a:srgbClr val="FF5F56"/>
          </a:solidFill>
          <a:ln/>
        </p:spPr>
      </p:sp>
      <p:sp>
        <p:nvSpPr>
          <p:cNvPr id="16" name="Shape 12"/>
          <p:cNvSpPr/>
          <p:nvPr/>
        </p:nvSpPr>
        <p:spPr>
          <a:xfrm>
            <a:off x="4893469" y="1609130"/>
            <a:ext cx="500063" cy="500063"/>
          </a:xfrm>
          <a:prstGeom prst="rect">
            <a:avLst/>
          </a:prstGeom>
          <a:solidFill>
            <a:srgbClr val="FF5F56">
              <a:alpha val="10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744861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572125" y="1609130"/>
            <a:ext cx="27860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Security Governance</a:t>
            </a:r>
            <a:endParaRPr lang="en-US" sz="1193" dirty="0"/>
          </a:p>
        </p:txBody>
      </p:sp>
      <p:sp>
        <p:nvSpPr>
          <p:cNvPr id="19" name="Text 14"/>
          <p:cNvSpPr/>
          <p:nvPr/>
        </p:nvSpPr>
        <p:spPr>
          <a:xfrm>
            <a:off x="5572125" y="1914525"/>
            <a:ext cx="27860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We drive standards, not vendors. Zero Trust architecture with RBAC, dual data paths, and vendor risk management.</a:t>
            </a:r>
            <a:endParaRPr lang="en-US" sz="834" dirty="0"/>
          </a:p>
        </p:txBody>
      </p:sp>
      <p:sp>
        <p:nvSpPr>
          <p:cNvPr id="20" name="Shape 15"/>
          <p:cNvSpPr/>
          <p:nvPr/>
        </p:nvSpPr>
        <p:spPr>
          <a:xfrm>
            <a:off x="5572125" y="2536031"/>
            <a:ext cx="1048848" cy="235744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572125" y="2536031"/>
            <a:ext cx="1048848" cy="23574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Zero Trust Native</a:t>
            </a:r>
            <a:endParaRPr lang="en-US" sz="683" dirty="0"/>
          </a:p>
        </p:txBody>
      </p:sp>
      <p:sp>
        <p:nvSpPr>
          <p:cNvPr id="22" name="Shape 17"/>
          <p:cNvSpPr/>
          <p:nvPr/>
        </p:nvSpPr>
        <p:spPr>
          <a:xfrm>
            <a:off x="571500" y="3200400"/>
            <a:ext cx="3893344" cy="159127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571500" y="3200400"/>
            <a:ext cx="42863" cy="1591270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24" name="Shape 19"/>
          <p:cNvSpPr/>
          <p:nvPr/>
        </p:nvSpPr>
        <p:spPr>
          <a:xfrm>
            <a:off x="785813" y="3414713"/>
            <a:ext cx="500063" cy="500063"/>
          </a:xfrm>
          <a:prstGeom prst="rect">
            <a:avLst/>
          </a:prstGeom>
          <a:solidFill>
            <a:srgbClr val="32CD32">
              <a:alpha val="10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256" y="3550444"/>
            <a:ext cx="257175" cy="2286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64469" y="3414713"/>
            <a:ext cx="27860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Operational Resilience</a:t>
            </a:r>
            <a:endParaRPr lang="en-US" sz="1193" dirty="0"/>
          </a:p>
        </p:txBody>
      </p:sp>
      <p:sp>
        <p:nvSpPr>
          <p:cNvPr id="27" name="Text 21"/>
          <p:cNvSpPr/>
          <p:nvPr/>
        </p:nvSpPr>
        <p:spPr>
          <a:xfrm>
            <a:off x="1464469" y="3720108"/>
            <a:ext cx="27860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Self-healing agents with automatic rollback capabilities. Emergency kill-switches for zero-day response.</a:t>
            </a:r>
            <a:endParaRPr lang="en-US" sz="834" dirty="0"/>
          </a:p>
        </p:txBody>
      </p:sp>
      <p:sp>
        <p:nvSpPr>
          <p:cNvPr id="28" name="Shape 22"/>
          <p:cNvSpPr/>
          <p:nvPr/>
        </p:nvSpPr>
        <p:spPr>
          <a:xfrm>
            <a:off x="1464469" y="4341614"/>
            <a:ext cx="846841" cy="235744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1464469" y="4341614"/>
            <a:ext cx="846841" cy="23574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&lt; 2 Min MTTR</a:t>
            </a:r>
            <a:endParaRPr lang="en-US" sz="683" dirty="0"/>
          </a:p>
        </p:txBody>
      </p:sp>
      <p:sp>
        <p:nvSpPr>
          <p:cNvPr id="30" name="Shape 24"/>
          <p:cNvSpPr/>
          <p:nvPr/>
        </p:nvSpPr>
        <p:spPr>
          <a:xfrm>
            <a:off x="4679156" y="3200400"/>
            <a:ext cx="3893344" cy="159127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31" name="Shape 25"/>
          <p:cNvSpPr/>
          <p:nvPr/>
        </p:nvSpPr>
        <p:spPr>
          <a:xfrm>
            <a:off x="4679156" y="3200400"/>
            <a:ext cx="42863" cy="159127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2" name="Shape 26"/>
          <p:cNvSpPr/>
          <p:nvPr/>
        </p:nvSpPr>
        <p:spPr>
          <a:xfrm>
            <a:off x="4893469" y="3414713"/>
            <a:ext cx="500063" cy="500063"/>
          </a:xfrm>
          <a:prstGeom prst="rect">
            <a:avLst/>
          </a:prstGeom>
          <a:solidFill>
            <a:srgbClr val="FFD700">
              <a:alpha val="10000"/>
            </a:srgbClr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4913" y="3550444"/>
            <a:ext cx="257175" cy="2286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572125" y="3414713"/>
            <a:ext cx="27860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Massive Efficiency</a:t>
            </a:r>
            <a:endParaRPr lang="en-US" sz="1193" dirty="0"/>
          </a:p>
        </p:txBody>
      </p:sp>
      <p:sp>
        <p:nvSpPr>
          <p:cNvPr id="35" name="Text 28"/>
          <p:cNvSpPr/>
          <p:nvPr/>
        </p:nvSpPr>
        <p:spPr>
          <a:xfrm>
            <a:off x="5572125" y="3720108"/>
            <a:ext cx="27860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Automated lifecycle management reduces operational complexity and frees up engineering time for high-value tasks.</a:t>
            </a:r>
            <a:endParaRPr lang="en-US" sz="834" dirty="0"/>
          </a:p>
        </p:txBody>
      </p:sp>
      <p:sp>
        <p:nvSpPr>
          <p:cNvPr id="36" name="Shape 29"/>
          <p:cNvSpPr/>
          <p:nvPr/>
        </p:nvSpPr>
        <p:spPr>
          <a:xfrm>
            <a:off x="5572125" y="4341614"/>
            <a:ext cx="1512717" cy="235744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5572125" y="4341614"/>
            <a:ext cx="1512717" cy="23574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83% Complexity Reduction</a:t>
            </a:r>
            <a:endParaRPr lang="en-US" sz="683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8279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180293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Next Steps</a:t>
            </a:r>
            <a:endParaRPr lang="en-US" sz="2436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26071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0106" y="1394817"/>
            <a:ext cx="162657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2CD32"/>
                </a:solidFill>
              </a:rPr>
              <a:t>Immediate Actions</a:t>
            </a:r>
            <a:endParaRPr lang="en-US" sz="1193" dirty="0"/>
          </a:p>
        </p:txBody>
      </p:sp>
      <p:sp>
        <p:nvSpPr>
          <p:cNvPr id="8" name="Shape 4"/>
          <p:cNvSpPr/>
          <p:nvPr/>
        </p:nvSpPr>
        <p:spPr>
          <a:xfrm>
            <a:off x="571500" y="1914525"/>
            <a:ext cx="285750" cy="285750"/>
          </a:xfrm>
          <a:prstGeom prst="rect">
            <a:avLst/>
          </a:prstGeom>
          <a:solidFill>
            <a:srgbClr val="32CD32">
              <a:alpha val="10000"/>
            </a:srgbClr>
          </a:solidFill>
          <a:ln w="18288">
            <a:solidFill>
              <a:srgbClr val="32CD32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1985963"/>
            <a:ext cx="142875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0125" y="1914525"/>
            <a:ext cx="294841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Pilot Onboarding</a:t>
            </a:r>
            <a:endParaRPr lang="en-US" sz="987" dirty="0"/>
          </a:p>
        </p:txBody>
      </p:sp>
      <p:sp>
        <p:nvSpPr>
          <p:cNvPr id="11" name="Text 6"/>
          <p:cNvSpPr/>
          <p:nvPr/>
        </p:nvSpPr>
        <p:spPr>
          <a:xfrm>
            <a:off x="1000125" y="2144911"/>
            <a:ext cx="29484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Select 1 simple agent (e.g., OSQuery) and 1 complex agent (e.g., CrowdStrike) to validate the framework.</a:t>
            </a:r>
            <a:endParaRPr lang="en-US" sz="834" dirty="0"/>
          </a:p>
        </p:txBody>
      </p:sp>
      <p:sp>
        <p:nvSpPr>
          <p:cNvPr id="12" name="Shape 7"/>
          <p:cNvSpPr/>
          <p:nvPr/>
        </p:nvSpPr>
        <p:spPr>
          <a:xfrm>
            <a:off x="571500" y="2666405"/>
            <a:ext cx="285750" cy="285750"/>
          </a:xfrm>
          <a:prstGeom prst="rect">
            <a:avLst/>
          </a:prstGeom>
          <a:solidFill>
            <a:srgbClr val="32CD32">
              <a:alpha val="10000"/>
            </a:srgbClr>
          </a:solidFill>
          <a:ln w="18288">
            <a:solidFill>
              <a:srgbClr val="32CD32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2737842"/>
            <a:ext cx="142875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0125" y="2666405"/>
            <a:ext cx="294841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Define RBAC Model</a:t>
            </a:r>
            <a:endParaRPr lang="en-US" sz="987" dirty="0"/>
          </a:p>
        </p:txBody>
      </p:sp>
      <p:sp>
        <p:nvSpPr>
          <p:cNvPr id="15" name="Text 9"/>
          <p:cNvSpPr/>
          <p:nvPr/>
        </p:nvSpPr>
        <p:spPr>
          <a:xfrm>
            <a:off x="1000125" y="2896791"/>
            <a:ext cx="29484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Map existing operational teams to the new Agent + Resource role structure.</a:t>
            </a:r>
            <a:endParaRPr lang="en-US" sz="834" dirty="0"/>
          </a:p>
        </p:txBody>
      </p:sp>
      <p:sp>
        <p:nvSpPr>
          <p:cNvPr id="16" name="Shape 10"/>
          <p:cNvSpPr/>
          <p:nvPr/>
        </p:nvSpPr>
        <p:spPr>
          <a:xfrm>
            <a:off x="571500" y="3418284"/>
            <a:ext cx="285750" cy="285750"/>
          </a:xfrm>
          <a:prstGeom prst="rect">
            <a:avLst/>
          </a:prstGeom>
          <a:solidFill>
            <a:srgbClr val="32CD32">
              <a:alpha val="10000"/>
            </a:srgbClr>
          </a:solidFill>
          <a:ln w="18288">
            <a:solidFill>
              <a:srgbClr val="32CD32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3489722"/>
            <a:ext cx="142875" cy="1428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0125" y="3418284"/>
            <a:ext cx="294841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Audit "Long Tail"</a:t>
            </a:r>
            <a:endParaRPr lang="en-US" sz="987" dirty="0"/>
          </a:p>
        </p:txBody>
      </p:sp>
      <p:sp>
        <p:nvSpPr>
          <p:cNvPr id="19" name="Text 12"/>
          <p:cNvSpPr/>
          <p:nvPr/>
        </p:nvSpPr>
        <p:spPr>
          <a:xfrm>
            <a:off x="1000125" y="3648670"/>
            <a:ext cx="29484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Identify all 15+ niche agents currently running and prioritize them for migration.</a:t>
            </a:r>
            <a:endParaRPr lang="en-US" sz="834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0040" y="1426071"/>
            <a:ext cx="171450" cy="1714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798647" y="1394817"/>
            <a:ext cx="141772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Deep Dive Series</a:t>
            </a:r>
            <a:endParaRPr lang="en-US" sz="1193" dirty="0"/>
          </a:p>
        </p:txBody>
      </p:sp>
      <p:sp>
        <p:nvSpPr>
          <p:cNvPr id="22" name="Shape 14"/>
          <p:cNvSpPr/>
          <p:nvPr/>
        </p:nvSpPr>
        <p:spPr>
          <a:xfrm>
            <a:off x="4520040" y="1914525"/>
            <a:ext cx="4052460" cy="980480"/>
          </a:xfrm>
          <a:prstGeom prst="rect">
            <a:avLst/>
          </a:prstGeom>
          <a:solidFill>
            <a:srgbClr val="112240"/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4520040" y="1914525"/>
            <a:ext cx="42863" cy="966192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24" name="Shape 16"/>
          <p:cNvSpPr/>
          <p:nvPr/>
        </p:nvSpPr>
        <p:spPr>
          <a:xfrm>
            <a:off x="4734353" y="2147590"/>
            <a:ext cx="500063" cy="500063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0084" y="2283321"/>
            <a:ext cx="228600" cy="2286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413009" y="2128838"/>
            <a:ext cx="265942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8892B0"/>
                </a:solidFill>
              </a:rPr>
              <a:t>Presentation 3</a:t>
            </a:r>
            <a:endParaRPr lang="en-US" sz="621" dirty="0"/>
          </a:p>
        </p:txBody>
      </p:sp>
      <p:sp>
        <p:nvSpPr>
          <p:cNvPr id="27" name="Text 18"/>
          <p:cNvSpPr/>
          <p:nvPr/>
        </p:nvSpPr>
        <p:spPr>
          <a:xfrm>
            <a:off x="5413009" y="2280642"/>
            <a:ext cx="265942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Zero Trust Architecture</a:t>
            </a:r>
            <a:endParaRPr lang="en-US" sz="1090" dirty="0"/>
          </a:p>
        </p:txBody>
      </p:sp>
      <p:sp>
        <p:nvSpPr>
          <p:cNvPr id="28" name="Text 19"/>
          <p:cNvSpPr/>
          <p:nvPr/>
        </p:nvSpPr>
        <p:spPr>
          <a:xfrm>
            <a:off x="5413009" y="2530673"/>
            <a:ext cx="26594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mTLS, PKI Infrastructure, and Identity</a:t>
            </a:r>
            <a:endParaRPr lang="en-US" sz="727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1031" y="2311896"/>
            <a:ext cx="107156" cy="171450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4520040" y="3095030"/>
            <a:ext cx="4052460" cy="980480"/>
          </a:xfrm>
          <a:prstGeom prst="rect">
            <a:avLst/>
          </a:prstGeom>
          <a:solidFill>
            <a:srgbClr val="112240"/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1" name="Shape 21"/>
          <p:cNvSpPr/>
          <p:nvPr/>
        </p:nvSpPr>
        <p:spPr>
          <a:xfrm>
            <a:off x="4520040" y="3095030"/>
            <a:ext cx="42863" cy="966192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32" name="Shape 22"/>
          <p:cNvSpPr/>
          <p:nvPr/>
        </p:nvSpPr>
        <p:spPr>
          <a:xfrm>
            <a:off x="4734353" y="3328095"/>
            <a:ext cx="500063" cy="500063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0084" y="3463826"/>
            <a:ext cx="228600" cy="22860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413009" y="3309342"/>
            <a:ext cx="265942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8892B0"/>
                </a:solidFill>
              </a:rPr>
              <a:t>Presentation 4</a:t>
            </a:r>
            <a:endParaRPr lang="en-US" sz="621" dirty="0"/>
          </a:p>
        </p:txBody>
      </p:sp>
      <p:sp>
        <p:nvSpPr>
          <p:cNvPr id="35" name="Text 24"/>
          <p:cNvSpPr/>
          <p:nvPr/>
        </p:nvSpPr>
        <p:spPr>
          <a:xfrm>
            <a:off x="5413009" y="3461147"/>
            <a:ext cx="265942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Certificate Management</a:t>
            </a:r>
            <a:endParaRPr lang="en-US" sz="1090" dirty="0"/>
          </a:p>
        </p:txBody>
      </p:sp>
      <p:sp>
        <p:nvSpPr>
          <p:cNvPr id="36" name="Text 25"/>
          <p:cNvSpPr/>
          <p:nvPr/>
        </p:nvSpPr>
        <p:spPr>
          <a:xfrm>
            <a:off x="5413009" y="3711178"/>
            <a:ext cx="26594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Operations, Lifecycle, and Automation</a:t>
            </a:r>
            <a:endParaRPr lang="en-US" sz="727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1031" y="3492401"/>
            <a:ext cx="107156" cy="171450"/>
          </a:xfrm>
          <a:prstGeom prst="rect">
            <a:avLst/>
          </a:prstGeom>
        </p:spPr>
      </p:pic>
      <p:sp>
        <p:nvSpPr>
          <p:cNvPr id="38" name="Shape 26"/>
          <p:cNvSpPr/>
          <p:nvPr/>
        </p:nvSpPr>
        <p:spPr>
          <a:xfrm>
            <a:off x="4520040" y="4279106"/>
            <a:ext cx="4052460" cy="435769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62915" y="4454128"/>
            <a:ext cx="100013" cy="100013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4834365" y="4436269"/>
            <a:ext cx="135298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security-arch@company.com</a:t>
            </a:r>
            <a:endParaRPr lang="en-US" sz="727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67550" y="4454128"/>
            <a:ext cx="75009" cy="100013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7513997" y="4436269"/>
            <a:ext cx="9156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C4DE"/>
                </a:solidFill>
              </a:rPr>
              <a:t>#proj-unified-agent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2025-12-18T16:36:14Z</dcterms:created>
  <dcterms:modified xsi:type="dcterms:W3CDTF">2025-12-18T16:36:14Z</dcterms:modified>
</cp:coreProperties>
</file>