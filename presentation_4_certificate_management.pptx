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4.png"/><Relationship Id="rId4" Type="http://schemas.openxmlformats.org/officeDocument/2006/relationships/image" Target="../media/image8.png"/><Relationship Id="rId5" Type="http://schemas.openxmlformats.org/officeDocument/2006/relationships/image" Target="../media/image34.png"/><Relationship Id="rId6" Type="http://schemas.openxmlformats.org/officeDocument/2006/relationships/image" Target="../media/image10.png"/><Relationship Id="rId7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6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22.png"/><Relationship Id="rId13" Type="http://schemas.openxmlformats.org/officeDocument/2006/relationships/image" Target="../media/image19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2.png"/><Relationship Id="rId4" Type="http://schemas.openxmlformats.org/officeDocument/2006/relationships/image" Target="../media/image15.png"/><Relationship Id="rId9" Type="http://schemas.openxmlformats.org/officeDocument/2006/relationships/image" Target="../media/image3.png"/><Relationship Id="rId15" Type="http://schemas.openxmlformats.org/officeDocument/2006/relationships/image" Target="../media/image9.png"/><Relationship Id="rId14" Type="http://schemas.openxmlformats.org/officeDocument/2006/relationships/image" Target="../media/image7.png"/><Relationship Id="rId17" Type="http://schemas.openxmlformats.org/officeDocument/2006/relationships/image" Target="../media/image16.png"/><Relationship Id="rId16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18" Type="http://schemas.openxmlformats.org/officeDocument/2006/relationships/image" Target="../media/image28.png"/><Relationship Id="rId7" Type="http://schemas.openxmlformats.org/officeDocument/2006/relationships/image" Target="../media/image21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9.png"/><Relationship Id="rId4" Type="http://schemas.openxmlformats.org/officeDocument/2006/relationships/image" Target="../media/image25.png"/><Relationship Id="rId5" Type="http://schemas.openxmlformats.org/officeDocument/2006/relationships/image" Target="../media/image48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9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5.png"/><Relationship Id="rId4" Type="http://schemas.openxmlformats.org/officeDocument/2006/relationships/image" Target="../media/image49.png"/><Relationship Id="rId9" Type="http://schemas.openxmlformats.org/officeDocument/2006/relationships/image" Target="../media/image36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Relationship Id="rId7" Type="http://schemas.openxmlformats.org/officeDocument/2006/relationships/image" Target="../media/image32.png"/><Relationship Id="rId8" Type="http://schemas.openxmlformats.org/officeDocument/2006/relationships/image" Target="../media/image4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1.png"/><Relationship Id="rId4" Type="http://schemas.openxmlformats.org/officeDocument/2006/relationships/image" Target="../media/image51.png"/><Relationship Id="rId5" Type="http://schemas.openxmlformats.org/officeDocument/2006/relationships/image" Target="../media/image5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5.png"/><Relationship Id="rId4" Type="http://schemas.openxmlformats.org/officeDocument/2006/relationships/image" Target="../media/image46.png"/><Relationship Id="rId5" Type="http://schemas.openxmlformats.org/officeDocument/2006/relationships/image" Target="../media/image55.png"/><Relationship Id="rId6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3.png"/><Relationship Id="rId4" Type="http://schemas.openxmlformats.org/officeDocument/2006/relationships/image" Target="../media/image59.png"/><Relationship Id="rId5" Type="http://schemas.openxmlformats.org/officeDocument/2006/relationships/image" Target="../media/image53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Relationship Id="rId8" Type="http://schemas.openxmlformats.org/officeDocument/2006/relationships/image" Target="../media/image1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6.png"/><Relationship Id="rId4" Type="http://schemas.openxmlformats.org/officeDocument/2006/relationships/image" Target="../media/image63.png"/><Relationship Id="rId5" Type="http://schemas.openxmlformats.org/officeDocument/2006/relationships/image" Target="../media/image57.png"/><Relationship Id="rId6" Type="http://schemas.openxmlformats.org/officeDocument/2006/relationships/image" Target="../media/image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1.png"/><Relationship Id="rId4" Type="http://schemas.openxmlformats.org/officeDocument/2006/relationships/image" Target="../media/image62.png"/><Relationship Id="rId5" Type="http://schemas.openxmlformats.org/officeDocument/2006/relationships/image" Target="../media/image58.png"/><Relationship Id="rId6" Type="http://schemas.openxmlformats.org/officeDocument/2006/relationships/image" Target="../media/image60.png"/><Relationship Id="rId7" Type="http://schemas.openxmlformats.org/officeDocument/2006/relationships/image" Target="../media/image6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5.png"/><Relationship Id="rId4" Type="http://schemas.openxmlformats.org/officeDocument/2006/relationships/image" Target="../media/image68.png"/><Relationship Id="rId9" Type="http://schemas.openxmlformats.org/officeDocument/2006/relationships/image" Target="../media/image64.png"/><Relationship Id="rId5" Type="http://schemas.openxmlformats.org/officeDocument/2006/relationships/image" Target="../media/image61.png"/><Relationship Id="rId6" Type="http://schemas.openxmlformats.org/officeDocument/2006/relationships/image" Target="../media/image67.png"/><Relationship Id="rId7" Type="http://schemas.openxmlformats.org/officeDocument/2006/relationships/image" Target="../media/image69.png"/><Relationship Id="rId8" Type="http://schemas.openxmlformats.org/officeDocument/2006/relationships/image" Target="../media/image6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2.png"/><Relationship Id="rId4" Type="http://schemas.openxmlformats.org/officeDocument/2006/relationships/image" Target="../media/image7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8.png"/><Relationship Id="rId4" Type="http://schemas.openxmlformats.org/officeDocument/2006/relationships/image" Target="../media/image71.png"/><Relationship Id="rId5" Type="http://schemas.openxmlformats.org/officeDocument/2006/relationships/image" Target="../media/image73.png"/><Relationship Id="rId6" Type="http://schemas.openxmlformats.org/officeDocument/2006/relationships/image" Target="../media/image7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0.png"/><Relationship Id="rId4" Type="http://schemas.openxmlformats.org/officeDocument/2006/relationships/image" Target="../media/image72.png"/><Relationship Id="rId5" Type="http://schemas.openxmlformats.org/officeDocument/2006/relationships/image" Target="../media/image74.png"/><Relationship Id="rId6" Type="http://schemas.openxmlformats.org/officeDocument/2006/relationships/image" Target="../media/image7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2.png"/><Relationship Id="rId4" Type="http://schemas.openxmlformats.org/officeDocument/2006/relationships/image" Target="../media/image7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2.png"/><Relationship Id="rId4" Type="http://schemas.openxmlformats.org/officeDocument/2006/relationships/image" Target="../media/image78.png"/><Relationship Id="rId5" Type="http://schemas.openxmlformats.org/officeDocument/2006/relationships/image" Target="../media/image80.png"/><Relationship Id="rId6" Type="http://schemas.openxmlformats.org/officeDocument/2006/relationships/image" Target="../media/image79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2.png"/><Relationship Id="rId4" Type="http://schemas.openxmlformats.org/officeDocument/2006/relationships/image" Target="../media/image85.png"/><Relationship Id="rId5" Type="http://schemas.openxmlformats.org/officeDocument/2006/relationships/image" Target="../media/image88.png"/><Relationship Id="rId6" Type="http://schemas.openxmlformats.org/officeDocument/2006/relationships/image" Target="../media/image87.png"/><Relationship Id="rId7" Type="http://schemas.openxmlformats.org/officeDocument/2006/relationships/image" Target="../media/image90.png"/><Relationship Id="rId8" Type="http://schemas.openxmlformats.org/officeDocument/2006/relationships/image" Target="../media/image9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6.png"/><Relationship Id="rId4" Type="http://schemas.openxmlformats.org/officeDocument/2006/relationships/image" Target="../media/image96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2.png"/><Relationship Id="rId4" Type="http://schemas.openxmlformats.org/officeDocument/2006/relationships/image" Target="../media/image9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0.png"/><Relationship Id="rId4" Type="http://schemas.openxmlformats.org/officeDocument/2006/relationships/image" Target="../media/image98.png"/><Relationship Id="rId5" Type="http://schemas.openxmlformats.org/officeDocument/2006/relationships/image" Target="../media/image101.png"/><Relationship Id="rId6" Type="http://schemas.openxmlformats.org/officeDocument/2006/relationships/image" Target="../media/image10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1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519833" y="934408"/>
            <a:ext cx="6104334" cy="3274684"/>
          </a:xfrm>
          <a:prstGeom prst="rect">
            <a:avLst/>
          </a:prstGeom>
          <a:solidFill>
            <a:srgbClr val="0A192F">
              <a:alpha val="69803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rot="2700000">
            <a:off x="4143375" y="1227302"/>
            <a:ext cx="857250" cy="857250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3064" y="1497862"/>
            <a:ext cx="277853" cy="35718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812727" y="2298864"/>
            <a:ext cx="5518547" cy="502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 Management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812727" y="3201823"/>
            <a:ext cx="5518547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86"/>
              <a:buFont typeface="Calibri"/>
              <a:buNone/>
            </a:pPr>
            <a:r>
              <a:rPr b="0" i="0" lang="en-US" sz="1486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Operational Excellence for Zero-Touch PKI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" name="Google Shape;2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6898" y="3781360"/>
            <a:ext cx="8890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2667242" y="3760822"/>
            <a:ext cx="107078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OpAMP Automation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" name="Google Shape;2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23773" y="3781360"/>
            <a:ext cx="8890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4184117" y="3760822"/>
            <a:ext cx="90343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Proxy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" name="Google Shape;2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73300" y="3781360"/>
            <a:ext cx="8890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5533644" y="3760822"/>
            <a:ext cx="110345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Continuous Lifecycle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4722019"/>
            <a:ext cx="91440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CONFIDENTIAL &amp; PROPRIETARY | © 2025 COMPANY NAME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71500" y="428625"/>
            <a:ext cx="5412423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Certificate Operations Crisis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215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850106" y="1460897"/>
            <a:ext cx="227104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Manual Management Fails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71500" y="1944886"/>
            <a:ext cx="3564731" cy="853678"/>
          </a:xfrm>
          <a:prstGeom prst="rect">
            <a:avLst/>
          </a:prstGeom>
          <a:solidFill>
            <a:srgbClr val="FF4500">
              <a:alpha val="9803"/>
            </a:srgbClr>
          </a:solidFill>
          <a:ln cap="flat" cmpd="sng" w="9525">
            <a:solidFill>
              <a:srgbClr val="FF450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963" y="2260104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1250156" y="2130623"/>
            <a:ext cx="270748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Spreadsheet Tracking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250156" y="2341364"/>
            <a:ext cx="270748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Manual tracking leads to human error and missed expiries.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71500" y="2970014"/>
            <a:ext cx="3564731" cy="853678"/>
          </a:xfrm>
          <a:prstGeom prst="rect">
            <a:avLst/>
          </a:prstGeom>
          <a:solidFill>
            <a:srgbClr val="FF4500">
              <a:alpha val="9803"/>
            </a:srgbClr>
          </a:solidFill>
          <a:ln cap="flat" cmpd="sng" w="9525">
            <a:solidFill>
              <a:srgbClr val="FF450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388" y="32852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1250156" y="3155752"/>
            <a:ext cx="270748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Unexpected Outages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250156" y="3366492"/>
            <a:ext cx="270748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Expired certificates cause P1 incidents and service downtime.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71500" y="3995142"/>
            <a:ext cx="3564731" cy="853678"/>
          </a:xfrm>
          <a:prstGeom prst="rect">
            <a:avLst/>
          </a:prstGeom>
          <a:solidFill>
            <a:srgbClr val="FF4500">
              <a:alpha val="9803"/>
            </a:srgbClr>
          </a:solidFill>
          <a:ln cap="flat" cmpd="sng" w="9525">
            <a:solidFill>
              <a:srgbClr val="FF450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431036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1250156" y="4180880"/>
            <a:ext cx="270748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Operational Toil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250156" y="4391620"/>
            <a:ext cx="270748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15+ minutes per certificate for manual issuance and installation.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07769" y="149393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5286375" y="1462683"/>
            <a:ext cx="1695999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The Scale Challenge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007769" y="1982391"/>
            <a:ext cx="1710928" cy="951905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186363" y="2160984"/>
            <a:ext cx="1353741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200K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186363" y="2605683"/>
            <a:ext cx="135374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861572" y="1982391"/>
            <a:ext cx="1710928" cy="951905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040166" y="2168128"/>
            <a:ext cx="1353741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1.2M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040166" y="2612827"/>
            <a:ext cx="135374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Agents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007769" y="3070027"/>
            <a:ext cx="1710928" cy="951905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5186363" y="3248620"/>
            <a:ext cx="1353741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2,777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186363" y="3693319"/>
            <a:ext cx="135374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Renewals / Day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861572" y="3070027"/>
            <a:ext cx="1710928" cy="951905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7040166" y="3255764"/>
            <a:ext cx="1353741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040166" y="3700463"/>
            <a:ext cx="135374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Downtime Tolerance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007769" y="4371975"/>
            <a:ext cx="3564731" cy="475059"/>
          </a:xfrm>
          <a:prstGeom prst="rect">
            <a:avLst/>
          </a:prstGeom>
          <a:solidFill>
            <a:srgbClr val="FF0000">
              <a:alpha val="9803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97813" y="4545211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5610327" y="4521994"/>
            <a:ext cx="24721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99% Success = 27 Broken Servers Daily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6674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71500" y="428625"/>
            <a:ext cx="564526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Zero-Touch Certificate Operations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71500" y="1323380"/>
            <a:ext cx="2524116" cy="310574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71500" y="1323380"/>
            <a:ext cx="2524116" cy="42863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1476356" y="1537692"/>
            <a:ext cx="714375" cy="714375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0669" y="175200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955281" y="2466380"/>
            <a:ext cx="17565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Lifecycle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13" y="295662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957263" y="2928938"/>
            <a:ext cx="109969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Zero-Touch Issuance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813" y="329059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957263" y="3262908"/>
            <a:ext cx="12073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Auto-Renewal (Day 60)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5813" y="362456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957263" y="3596878"/>
            <a:ext cx="122085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Automated Revocation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5813" y="395853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957263" y="3930848"/>
            <a:ext cx="101728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Rotation Policy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309928" y="1323380"/>
            <a:ext cx="2524116" cy="310574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3309928" y="1323380"/>
            <a:ext cx="2524116" cy="42863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4214785" y="1537692"/>
            <a:ext cx="714375" cy="714375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11238" y="1752005"/>
            <a:ext cx="32146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3659525" y="2466380"/>
            <a:ext cx="182492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 Control Plane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24241" y="295662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3695691" y="2928938"/>
            <a:ext cx="107946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Single Pane of Glass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524241" y="329059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3695691" y="3262908"/>
            <a:ext cx="141996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Agent + Cert Management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524241" y="362456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3695691" y="3596878"/>
            <a:ext cx="81611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Global Visibility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524241" y="395853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3695691" y="3930848"/>
            <a:ext cx="90881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Consistent Policy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048356" y="1323380"/>
            <a:ext cx="2524116" cy="310574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048356" y="1323380"/>
            <a:ext cx="2524116" cy="42863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953213" y="1537692"/>
            <a:ext cx="714375" cy="714375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149666" y="1752005"/>
            <a:ext cx="32146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6794683" y="2466380"/>
            <a:ext cx="103146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Self-Healing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62669" y="295662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6434119" y="2928938"/>
            <a:ext cx="117615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Automatic Retry Logic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262669" y="329059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6434119" y="3262908"/>
            <a:ext cx="95943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Fallback Channels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262669" y="362456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6434119" y="3596878"/>
            <a:ext cx="128760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Proactive Health Checks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262669" y="395853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6434119" y="3930848"/>
            <a:ext cx="77621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Auto-Recovery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71500" y="4672013"/>
            <a:ext cx="8001000" cy="494705"/>
          </a:xfrm>
          <a:prstGeom prst="rect">
            <a:avLst/>
          </a:prstGeom>
          <a:solidFill>
            <a:srgbClr val="FFD700">
              <a:alpha val="9803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14375" y="4814888"/>
            <a:ext cx="771525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Agent. Two Domains. </a:t>
            </a:r>
            <a:r>
              <a:rPr b="1" i="0" lang="en-US" sz="987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100% Automation.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571500" y="428625"/>
            <a:ext cx="8001000" cy="108942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71500" y="1503759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71500" y="428625"/>
            <a:ext cx="7318046" cy="93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 Proxy: The Local Certificate Broker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157413" y="3268266"/>
            <a:ext cx="1225934" cy="135731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2157413" y="3268266"/>
            <a:ext cx="122593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85075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ENDPOINT (Localhost)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857625" y="2146697"/>
            <a:ext cx="1428750" cy="100548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3094" y="2343150"/>
            <a:ext cx="177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4096969" y="2673548"/>
            <a:ext cx="95006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OpAMP Gateway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144017" y="2864644"/>
            <a:ext cx="85596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Central Control Plane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429375" y="2146697"/>
            <a:ext cx="1428750" cy="100548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8A2B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4844" y="2343150"/>
            <a:ext cx="177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6864223" y="2673548"/>
            <a:ext cx="55905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EJBCA PKI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768592" y="2864644"/>
            <a:ext cx="75028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Internal CA Engine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679031" y="3575447"/>
            <a:ext cx="1785938" cy="1071563"/>
          </a:xfrm>
          <a:prstGeom prst="rect">
            <a:avLst/>
          </a:prstGeom>
          <a:solidFill>
            <a:srgbClr val="FFD700">
              <a:alpha val="4705"/>
            </a:srgbClr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83094" y="3761184"/>
            <a:ext cx="177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4092029" y="4091583"/>
            <a:ext cx="95991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 Proxy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104642" y="4282678"/>
            <a:ext cx="934687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Local Certificate Broker</a:t>
            </a:r>
            <a:b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Cert Manager Module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714625" y="3637955"/>
            <a:ext cx="1428750" cy="100548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40094" y="3862983"/>
            <a:ext cx="177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3176736" y="4193381"/>
            <a:ext cx="50452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OSQuery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974395" y="4384477"/>
            <a:ext cx="90921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Consumes Cert via File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000625" y="3637955"/>
            <a:ext cx="1428750" cy="100548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26094" y="3862983"/>
            <a:ext cx="177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5274766" y="4193381"/>
            <a:ext cx="88046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OpenTelemetry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256823" y="4384477"/>
            <a:ext cx="91632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Consumes Cert via Env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652004" y="3146822"/>
            <a:ext cx="754754" cy="201811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652004" y="3146822"/>
            <a:ext cx="754754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OpAMP (mTLS)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132171" y="5004197"/>
            <a:ext cx="879658" cy="201811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4132171" y="5004197"/>
            <a:ext cx="879658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IPC / File Injection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152151" y="2361009"/>
            <a:ext cx="705724" cy="201811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5152151" y="2361009"/>
            <a:ext cx="705724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CMPv2 / REST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571500" y="428625"/>
            <a:ext cx="5537188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Zero-Touch Bootstrap Enrollment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357313" y="1609130"/>
            <a:ext cx="428625" cy="428625"/>
          </a:xfrm>
          <a:prstGeom prst="ellipse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8750" y="170914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1267011" y="2109192"/>
            <a:ext cx="60922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357563" y="1609130"/>
            <a:ext cx="428625" cy="428625"/>
          </a:xfrm>
          <a:prstGeom prst="ellipse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6150" y="170914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3164793" y="2109192"/>
            <a:ext cx="81416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Identity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357813" y="1609130"/>
            <a:ext cx="428625" cy="428625"/>
          </a:xfrm>
          <a:prstGeom prst="ellipse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0" y="170914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5249735" y="2109192"/>
            <a:ext cx="64477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OpAMP GW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7358063" y="1609130"/>
            <a:ext cx="428625" cy="428625"/>
          </a:xfrm>
          <a:prstGeom prst="ellipse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58075" y="170914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7403771" y="2109192"/>
            <a:ext cx="33720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EJBCA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571625" y="2316361"/>
            <a:ext cx="2000250" cy="142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1571625" y="2173486"/>
            <a:ext cx="20002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1. Get Instance Identity Doc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571875" y="2744986"/>
            <a:ext cx="2000250" cy="142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571875" y="2602111"/>
            <a:ext cx="20002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2. Send CSR + Identity Token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572125" y="3173611"/>
            <a:ext cx="2000250" cy="142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572125" y="3030736"/>
            <a:ext cx="20002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3. Validate Token &amp; CSR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 rot="10800000">
            <a:off x="5572125" y="3602236"/>
            <a:ext cx="2000250" cy="142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5572125" y="3464719"/>
            <a:ext cx="20002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4. Issue Certificate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 rot="10800000">
            <a:off x="3571875" y="4030861"/>
            <a:ext cx="2000250" cy="142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571875" y="3893344"/>
            <a:ext cx="20002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5. Return Signed Cert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 rot="10800000">
            <a:off x="1571625" y="4459486"/>
            <a:ext cx="2000250" cy="142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1571625" y="4321969"/>
            <a:ext cx="20002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6. Install &amp; Configure mTLS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2687138" y="4473773"/>
            <a:ext cx="3769723" cy="383977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08595" y="461575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>
            <a:off x="3094332" y="4595217"/>
            <a:ext cx="314107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No Pre-Shared Keys. No Manual Steps. 100% Automated.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571500" y="428625"/>
            <a:ext cx="4357994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Secure Certificate Storage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71500" y="1323380"/>
            <a:ext cx="3893344" cy="1731466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785813" y="1537692"/>
            <a:ext cx="571500" cy="57150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6547" y="1680567"/>
            <a:ext cx="250031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1535906" y="1537692"/>
            <a:ext cx="27146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Linux Systems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906" y="1906488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/>
          <p:nvPr/>
        </p:nvSpPr>
        <p:spPr>
          <a:xfrm>
            <a:off x="1694855" y="1878806"/>
            <a:ext cx="121033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Filesystem ACLs (0600)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5906" y="2133302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1732359" y="2105620"/>
            <a:ext cx="123159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Root/Service User Only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535906" y="2332434"/>
            <a:ext cx="2714625" cy="360759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535906" y="2332434"/>
            <a:ext cx="27146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/var/lib/opamp/certs/agent.crt (0644)</a:t>
            </a:r>
            <a:b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/var/lib/opamp/certs/agent.key (0600)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679156" y="1323380"/>
            <a:ext cx="3893344" cy="1731466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893469" y="1537692"/>
            <a:ext cx="571500" cy="57150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54203" y="1680567"/>
            <a:ext cx="250031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5643563" y="1537692"/>
            <a:ext cx="27146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Windows Server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3563" y="1906488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/>
          <p:nvPr/>
        </p:nvSpPr>
        <p:spPr>
          <a:xfrm>
            <a:off x="5802511" y="1878806"/>
            <a:ext cx="137835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Windows Certificate Store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43563" y="2133302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/>
          <p:nvPr/>
        </p:nvSpPr>
        <p:spPr>
          <a:xfrm>
            <a:off x="5840016" y="2105620"/>
            <a:ext cx="152295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Non-Exportable Private Keys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643563" y="2332434"/>
            <a:ext cx="2714625" cy="360759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643563" y="2332434"/>
            <a:ext cx="27146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Cert:\LocalMachine\My\[Thumbprint]</a:t>
            </a:r>
            <a:b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ACL: SYSTEM, Administrators Only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71500" y="3269159"/>
            <a:ext cx="3893344" cy="1731466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785813" y="3483471"/>
            <a:ext cx="571500" cy="57150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406" y="3626346"/>
            <a:ext cx="21431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1535906" y="3483471"/>
            <a:ext cx="27146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macOS Workstations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35906" y="3852267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1694855" y="3824585"/>
            <a:ext cx="89910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System Keychain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" name="Google Shape;227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35906" y="4079081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/>
          <p:nvPr/>
        </p:nvSpPr>
        <p:spPr>
          <a:xfrm>
            <a:off x="1732359" y="4051399"/>
            <a:ext cx="144739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Secure Enclave (T2/M1/M2)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535906" y="4278213"/>
            <a:ext cx="2714625" cy="360759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1535906" y="4278213"/>
            <a:ext cx="27146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security add-trusted-cert -d -r trustRoot</a:t>
            </a:r>
            <a:b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Access Control: TouchID / Password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679156" y="3269159"/>
            <a:ext cx="3893344" cy="1731466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893469" y="3483471"/>
            <a:ext cx="571500" cy="57150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36344" y="362634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5643563" y="3483471"/>
            <a:ext cx="27146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Security (TPM)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43563" y="3852267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/>
          <p:nvPr/>
        </p:nvSpPr>
        <p:spPr>
          <a:xfrm>
            <a:off x="5802511" y="3824585"/>
            <a:ext cx="122897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Hardware-Backed Keys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43563" y="4079081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5840016" y="4051399"/>
            <a:ext cx="149231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Never Leaves Hardware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643563" y="4278213"/>
            <a:ext cx="2714625" cy="360759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5643563" y="4278213"/>
            <a:ext cx="27146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TPM 2.0 Attestation</a:t>
            </a:r>
            <a:b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Private Key: Non-Extractable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571500" y="428625"/>
            <a:ext cx="5437677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Automating mTLS Configuration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357688" y="2357438"/>
            <a:ext cx="428625" cy="428625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4357688" y="2357438"/>
            <a:ext cx="4286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71500" y="1323380"/>
            <a:ext cx="3857625" cy="3677245"/>
          </a:xfrm>
          <a:prstGeom prst="rect">
            <a:avLst/>
          </a:prstGeom>
          <a:solidFill>
            <a:srgbClr val="FF4500">
              <a:alpha val="4705"/>
            </a:srgbClr>
          </a:solidFill>
          <a:ln cap="flat" cmpd="sng" w="9525">
            <a:solidFill>
              <a:srgbClr val="FF450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13" y="154037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/>
          <p:nvPr/>
        </p:nvSpPr>
        <p:spPr>
          <a:xfrm>
            <a:off x="1178719" y="1537692"/>
            <a:ext cx="188218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Configuration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85813" y="2150269"/>
            <a:ext cx="171450" cy="171450"/>
          </a:xfrm>
          <a:prstGeom prst="ellipse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785813" y="2150269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064419" y="2135981"/>
            <a:ext cx="1942207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Generate CSR manually on endpoint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785813" y="2478881"/>
            <a:ext cx="171450" cy="171450"/>
          </a:xfrm>
          <a:prstGeom prst="ellipse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785813" y="2478881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064419" y="2464594"/>
            <a:ext cx="19327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Copy CSR to CA, sign, download cert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785813" y="2807494"/>
            <a:ext cx="171450" cy="171450"/>
          </a:xfrm>
          <a:prstGeom prst="ellipse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785813" y="2807494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064419" y="2793206"/>
            <a:ext cx="1488300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SCP cert/key to correct path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785813" y="3136106"/>
            <a:ext cx="171450" cy="171450"/>
          </a:xfrm>
          <a:prstGeom prst="ellipse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785813" y="3136106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064419" y="3121819"/>
            <a:ext cx="1682158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Edit config file to point to paths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85813" y="3464719"/>
            <a:ext cx="171450" cy="171450"/>
          </a:xfrm>
          <a:prstGeom prst="ellipse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785813" y="3464719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064419" y="3450431"/>
            <a:ext cx="131057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Restart service manually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785813" y="4209455"/>
            <a:ext cx="3421856" cy="57685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785813" y="4209455"/>
            <a:ext cx="3421856" cy="576858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# Error Prone &amp; Slow</a:t>
            </a:r>
            <a:b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tls_cert_file: /etc/pki/tls/certs/server.crt</a:t>
            </a:r>
            <a:b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tls_key_file: /etc/pki/tls/private/server.key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4707731" y="1323380"/>
            <a:ext cx="3864769" cy="3677245"/>
          </a:xfrm>
          <a:prstGeom prst="rect">
            <a:avLst/>
          </a:prstGeom>
          <a:solidFill>
            <a:srgbClr val="32CD32">
              <a:alpha val="4705"/>
            </a:srgbClr>
          </a:solidFill>
          <a:ln cap="flat" cmpd="sng" w="9525">
            <a:solidFill>
              <a:srgbClr val="32CD32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9188" y="154037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/>
          <p:nvPr/>
        </p:nvSpPr>
        <p:spPr>
          <a:xfrm>
            <a:off x="5322094" y="1537692"/>
            <a:ext cx="1724964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 Injection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929188" y="2150269"/>
            <a:ext cx="171450" cy="171450"/>
          </a:xfrm>
          <a:prstGeom prst="ellipse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929188" y="2150269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207794" y="2135981"/>
            <a:ext cx="1809155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auto-enrolls certificate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929188" y="2478881"/>
            <a:ext cx="171450" cy="171450"/>
          </a:xfrm>
          <a:prstGeom prst="ellipse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4929188" y="2478881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207794" y="2464594"/>
            <a:ext cx="180069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Injects paths into config template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929188" y="2807494"/>
            <a:ext cx="171450" cy="171450"/>
          </a:xfrm>
          <a:prstGeom prst="ellipse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4929188" y="2807494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5207794" y="2793206"/>
            <a:ext cx="1283726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Writes config file to disk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4929188" y="3136106"/>
            <a:ext cx="171450" cy="171450"/>
          </a:xfrm>
          <a:prstGeom prst="ellipse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4929188" y="3136106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5207794" y="3121819"/>
            <a:ext cx="1682744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Starts agent with correct config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929188" y="3464719"/>
            <a:ext cx="171450" cy="171450"/>
          </a:xfrm>
          <a:prstGeom prst="ellipse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4929188" y="3464719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5207794" y="3450431"/>
            <a:ext cx="1317324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Auto-reloads on rotation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929188" y="4209455"/>
            <a:ext cx="3429000" cy="57685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4929188" y="4209455"/>
            <a:ext cx="3429000" cy="576858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# Dynamic Template Injection</a:t>
            </a:r>
            <a:b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tls_cert_file: </a:t>
            </a:r>
            <a:r>
              <a:rPr b="0" i="0" lang="en-US" sz="621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{{ .CertPath }}</a:t>
            </a:r>
            <a:b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tls_key_file: </a:t>
            </a:r>
            <a:r>
              <a:rPr b="0" i="0" lang="en-US" sz="621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{{ .KeyPath }}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7" name="Google Shape;2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571500" y="428625"/>
            <a:ext cx="4418326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 Usage Patterns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71500" y="1323380"/>
            <a:ext cx="2524116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785813" y="1537692"/>
            <a:ext cx="428625" cy="428625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611" y="1651992"/>
            <a:ext cx="2250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/>
          <p:nvPr/>
        </p:nvSpPr>
        <p:spPr>
          <a:xfrm>
            <a:off x="1321594" y="1644848"/>
            <a:ext cx="11317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Identity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785813" y="2223492"/>
            <a:ext cx="2085975" cy="1328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Used by agents to authenticate themselves to the OpAMP Gateway and other services via mTLS.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785813" y="3695105"/>
            <a:ext cx="782659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785813" y="3695105"/>
            <a:ext cx="782659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digitalSignature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1639909" y="3695105"/>
            <a:ext cx="844804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1639909" y="3695105"/>
            <a:ext cx="844804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keyEncipherment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785813" y="3954066"/>
            <a:ext cx="552217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785813" y="3954066"/>
            <a:ext cx="552217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clientAuth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785813" y="4284464"/>
            <a:ext cx="2085975" cy="5018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785813" y="4284464"/>
            <a:ext cx="28575" cy="50184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892969" y="4391620"/>
            <a:ext cx="187166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892969" y="4543425"/>
            <a:ext cx="18716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connecting to Gateway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3300413" y="1323380"/>
            <a:ext cx="2528888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3519497" y="1537692"/>
            <a:ext cx="428625" cy="428625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3797" y="165199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0"/>
          <p:cNvSpPr/>
          <p:nvPr/>
        </p:nvSpPr>
        <p:spPr>
          <a:xfrm>
            <a:off x="4055278" y="1644848"/>
            <a:ext cx="11759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Identity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3519497" y="2223492"/>
            <a:ext cx="2090747" cy="1328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Used by local services (e.g., Supervisor API) to prove their identity to local clients.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3519497" y="3695105"/>
            <a:ext cx="782659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3519497" y="3695105"/>
            <a:ext cx="782659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digitalSignature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4373594" y="3695105"/>
            <a:ext cx="844804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4373594" y="3695105"/>
            <a:ext cx="844804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keyEncipherment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3519497" y="3954066"/>
            <a:ext cx="586680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3519497" y="3954066"/>
            <a:ext cx="586680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serverAuth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519497" y="4284464"/>
            <a:ext cx="2090747" cy="5018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3519497" y="4284464"/>
            <a:ext cx="28575" cy="5018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3626653" y="4391620"/>
            <a:ext cx="187643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3626653" y="4543425"/>
            <a:ext cx="187643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 Local API (localhost)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038869" y="1323380"/>
            <a:ext cx="2533659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6262669" y="1537692"/>
            <a:ext cx="428625" cy="428625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4467" y="1651992"/>
            <a:ext cx="2250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0"/>
          <p:cNvSpPr/>
          <p:nvPr/>
        </p:nvSpPr>
        <p:spPr>
          <a:xfrm>
            <a:off x="6798450" y="1644848"/>
            <a:ext cx="101859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Signing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6262669" y="2223492"/>
            <a:ext cx="2095491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Used to verify the integrity and origin of agent packages and configuration updates.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262669" y="3954066"/>
            <a:ext cx="782659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6262669" y="3954066"/>
            <a:ext cx="782659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digitalSignature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7116766" y="3954066"/>
            <a:ext cx="639673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7116766" y="3954066"/>
            <a:ext cx="639673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codeSigning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6262669" y="4284464"/>
            <a:ext cx="2095491" cy="5018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6262669" y="4284464"/>
            <a:ext cx="28575" cy="501848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6369825" y="4391620"/>
            <a:ext cx="188117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6369825" y="4543425"/>
            <a:ext cx="188117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Verifying Agent Binary Update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9" name="Google Shape;3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1"/>
          <p:cNvSpPr/>
          <p:nvPr/>
        </p:nvSpPr>
        <p:spPr>
          <a:xfrm>
            <a:off x="571500" y="285750"/>
            <a:ext cx="8001000" cy="5304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571500" y="801886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571500" y="285750"/>
            <a:ext cx="4324369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 Health Monitoring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571500" y="944761"/>
            <a:ext cx="1919883" cy="64293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678656" y="1105495"/>
            <a:ext cx="321469" cy="321469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5" name="Google Shape;35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953" y="119479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1"/>
          <p:cNvSpPr/>
          <p:nvPr/>
        </p:nvSpPr>
        <p:spPr>
          <a:xfrm>
            <a:off x="1107281" y="1095673"/>
            <a:ext cx="126623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99.96%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1107281" y="1329630"/>
            <a:ext cx="126623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Healthy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2587823" y="944761"/>
            <a:ext cx="1923455" cy="64293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2698552" y="1105495"/>
            <a:ext cx="321469" cy="321469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7848" y="119479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1"/>
          <p:cNvSpPr/>
          <p:nvPr/>
        </p:nvSpPr>
        <p:spPr>
          <a:xfrm>
            <a:off x="3127177" y="1095673"/>
            <a:ext cx="1269802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1,240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3127177" y="1329630"/>
            <a:ext cx="1269802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Expiring &lt; 30d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4611291" y="944761"/>
            <a:ext cx="1927027" cy="64293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4725591" y="1105495"/>
            <a:ext cx="321469" cy="321469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4888" y="119479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1"/>
          <p:cNvSpPr/>
          <p:nvPr/>
        </p:nvSpPr>
        <p:spPr>
          <a:xfrm>
            <a:off x="5154216" y="1095673"/>
            <a:ext cx="127337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154216" y="1329630"/>
            <a:ext cx="127337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6641902" y="944761"/>
            <a:ext cx="1930598" cy="64293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6759773" y="1105495"/>
            <a:ext cx="321469" cy="321469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49070" y="119479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1"/>
          <p:cNvSpPr/>
          <p:nvPr/>
        </p:nvSpPr>
        <p:spPr>
          <a:xfrm>
            <a:off x="7188398" y="1095673"/>
            <a:ext cx="127694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2,777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7188398" y="1329630"/>
            <a:ext cx="127694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Renewed Today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571500" y="1694855"/>
            <a:ext cx="5920383" cy="3378994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678656" y="1802011"/>
            <a:ext cx="16835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Expiry Timeline (Next 90 Days)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5607788" y="1802011"/>
            <a:ext cx="77693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Updated: Just Now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8656" y="2028825"/>
            <a:ext cx="5691783" cy="292358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1"/>
          <p:cNvSpPr/>
          <p:nvPr/>
        </p:nvSpPr>
        <p:spPr>
          <a:xfrm>
            <a:off x="6599039" y="1694855"/>
            <a:ext cx="1973461" cy="3364706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6706195" y="1802011"/>
            <a:ext cx="175914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 Breakdown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6834783" y="2580233"/>
            <a:ext cx="132109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Valid (&gt;60 days)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8227312" y="2575768"/>
            <a:ext cx="23803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145K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6834783" y="3327202"/>
            <a:ext cx="137829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Renewing (30-60 days)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8284518" y="3322737"/>
            <a:ext cx="18082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53K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6834783" y="4074170"/>
            <a:ext cx="144468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Critical (&lt;7 days)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8350904" y="4069705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6834783" y="4821138"/>
            <a:ext cx="134977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Revoked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8255998" y="4816673"/>
            <a:ext cx="20934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1.2K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2" name="Google Shape;3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2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571500" y="428625"/>
            <a:ext cx="5229113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90-Day Certificate Lifecycle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395013" y="966192"/>
            <a:ext cx="35297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0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5591491" y="966192"/>
            <a:ext cx="52132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Day 60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6999047" y="966192"/>
            <a:ext cx="42653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Day 75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8449494" y="966192"/>
            <a:ext cx="246013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Day 90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857250" y="2836962"/>
            <a:ext cx="7429500" cy="85725"/>
          </a:xfrm>
          <a:prstGeom prst="roundRect">
            <a:avLst>
              <a:gd fmla="val 16667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-214312" y="1609130"/>
            <a:ext cx="1571625" cy="640035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-107156" y="1716286"/>
            <a:ext cx="135731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Issuance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-107156" y="1887736"/>
            <a:ext cx="1357313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Certificate issued and installed. Validity period begins.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4923467" y="1609130"/>
            <a:ext cx="1857375" cy="760028"/>
          </a:xfrm>
          <a:prstGeom prst="rect">
            <a:avLst/>
          </a:prstGeom>
          <a:solidFill>
            <a:srgbClr val="FFD700">
              <a:alpha val="9803"/>
            </a:srgbClr>
          </a:solidFill>
          <a:ln cap="flat" cmpd="sng" w="952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5030623" y="1716286"/>
            <a:ext cx="16430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Auto-Renewal Trigger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5030623" y="1887736"/>
            <a:ext cx="1643063" cy="359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initiates renewal. 30-day buffer ensures zero downtime even if retries needed.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6426501" y="1609130"/>
            <a:ext cx="1571625" cy="640035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6533657" y="1716286"/>
            <a:ext cx="135731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Critical Warning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6533657" y="1887736"/>
            <a:ext cx="1357313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If renewal failed, alerts escalate to P1. 15 days remaining.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7786688" y="1609130"/>
            <a:ext cx="1571625" cy="760028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7893844" y="1716286"/>
            <a:ext cx="135731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Expiry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7893844" y="1887736"/>
            <a:ext cx="1357313" cy="359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Hard stop. Certificate invalid. Service interruption if not renewed.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3" name="Google Shape;4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3151" y="378350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2"/>
          <p:cNvSpPr/>
          <p:nvPr/>
        </p:nvSpPr>
        <p:spPr>
          <a:xfrm>
            <a:off x="3133176" y="3779937"/>
            <a:ext cx="69339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Healthy Period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5" name="Google Shape;41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2316" y="378350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2"/>
          <p:cNvSpPr/>
          <p:nvPr/>
        </p:nvSpPr>
        <p:spPr>
          <a:xfrm>
            <a:off x="4312341" y="3779937"/>
            <a:ext cx="80060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Renewal Window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7" name="Google Shape;41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98694" y="378350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2"/>
          <p:cNvSpPr/>
          <p:nvPr/>
        </p:nvSpPr>
        <p:spPr>
          <a:xfrm>
            <a:off x="5598719" y="3779937"/>
            <a:ext cx="61210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Danger Zone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4" name="Google Shape;4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3"/>
          <p:cNvSpPr/>
          <p:nvPr/>
        </p:nvSpPr>
        <p:spPr>
          <a:xfrm>
            <a:off x="571500" y="285750"/>
            <a:ext cx="8001000" cy="5304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571500" y="801886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571500" y="285750"/>
            <a:ext cx="4466211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Renewal Workflow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3643313" y="1087636"/>
            <a:ext cx="1857375" cy="346472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9137" y="118229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3"/>
          <p:cNvSpPr/>
          <p:nvPr/>
        </p:nvSpPr>
        <p:spPr>
          <a:xfrm>
            <a:off x="4279162" y="1173361"/>
            <a:ext cx="78567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Trigger: Day 60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4572000" y="1359098"/>
            <a:ext cx="14288" cy="178594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3643313" y="1584127"/>
            <a:ext cx="1857375" cy="346472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3" name="Google Shape;43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3196" y="167878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3"/>
          <p:cNvSpPr/>
          <p:nvPr/>
        </p:nvSpPr>
        <p:spPr>
          <a:xfrm>
            <a:off x="4073221" y="1669852"/>
            <a:ext cx="119758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 New Key Pair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4572000" y="1894880"/>
            <a:ext cx="14288" cy="178594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 rot="2700000">
            <a:off x="4107656" y="2080617"/>
            <a:ext cx="928688" cy="928688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4361152" y="2409220"/>
            <a:ext cx="42167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Renewal</a:t>
            </a:r>
            <a:b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Success?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5212063" y="3473648"/>
            <a:ext cx="17354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6332209" y="3616523"/>
            <a:ext cx="14288" cy="464344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3771007" y="3473648"/>
            <a:ext cx="16093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2811763" y="3616523"/>
            <a:ext cx="14288" cy="464344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2250281" y="3295055"/>
            <a:ext cx="1428750" cy="492919"/>
          </a:xfrm>
          <a:prstGeom prst="rect">
            <a:avLst/>
          </a:prstGeom>
          <a:solidFill>
            <a:srgbClr val="FF0000">
              <a:alpha val="9803"/>
            </a:srgbClr>
          </a:solidFill>
          <a:ln cap="flat" cmpd="sng" w="18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3" name="Google Shape;44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8875" y="346293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3"/>
          <p:cNvSpPr/>
          <p:nvPr/>
        </p:nvSpPr>
        <p:spPr>
          <a:xfrm>
            <a:off x="2628900" y="3380780"/>
            <a:ext cx="871538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Retry (Exp. Backoff)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5464969" y="3295055"/>
            <a:ext cx="1428750" cy="464344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1827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6" name="Google Shape;44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8119" y="346293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3"/>
          <p:cNvSpPr/>
          <p:nvPr/>
        </p:nvSpPr>
        <p:spPr>
          <a:xfrm>
            <a:off x="5868144" y="3454003"/>
            <a:ext cx="822424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Install &amp; Reload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3" name="Google Shape;4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4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571500" y="428625"/>
            <a:ext cx="3821516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Emergency Revocation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571500" y="1612702"/>
            <a:ext cx="38576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Immediate Action Protocol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8" name="Google Shape;45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8109"/>
            <a:ext cx="1111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4"/>
          <p:cNvSpPr/>
          <p:nvPr/>
        </p:nvSpPr>
        <p:spPr>
          <a:xfrm>
            <a:off x="789803" y="1989534"/>
            <a:ext cx="363932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Propagation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789803" y="2219920"/>
            <a:ext cx="36393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Revocation commands propagate to all OpAMP Gateways within 30 seconds via control plane broadcast.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1" name="Google Shape;46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34270"/>
            <a:ext cx="1111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4"/>
          <p:cNvSpPr/>
          <p:nvPr/>
        </p:nvSpPr>
        <p:spPr>
          <a:xfrm>
            <a:off x="789803" y="2705695"/>
            <a:ext cx="363932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Instant Termination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789803" y="2936081"/>
            <a:ext cx="36393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Gateways immediately terminate existing mTLS connections for revoked serial numbers.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4" name="Google Shape;46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50431"/>
            <a:ext cx="1111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4"/>
          <p:cNvSpPr/>
          <p:nvPr/>
        </p:nvSpPr>
        <p:spPr>
          <a:xfrm>
            <a:off x="789803" y="3421856"/>
            <a:ext cx="363932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CRL &amp; OCSP Updates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789803" y="3652242"/>
            <a:ext cx="36393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EJBCA updates CRLs and OCSP responders instantly. Gateways cache OCSP responses for performance.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7" name="Google Shape;46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66592"/>
            <a:ext cx="1111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4"/>
          <p:cNvSpPr/>
          <p:nvPr/>
        </p:nvSpPr>
        <p:spPr>
          <a:xfrm>
            <a:off x="789803" y="4138017"/>
            <a:ext cx="363932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Blast Radius Containment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789803" y="4368403"/>
            <a:ext cx="36393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Revocation can target specific certificates, entire agents, or whole intermediate CAs if compromised.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4714875" y="1323380"/>
            <a:ext cx="3857625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6072188" y="1727002"/>
            <a:ext cx="1143000" cy="1143000"/>
          </a:xfrm>
          <a:prstGeom prst="ellipse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2" name="Google Shape;47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1422" y="2012752"/>
            <a:ext cx="444531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4"/>
          <p:cNvSpPr/>
          <p:nvPr/>
        </p:nvSpPr>
        <p:spPr>
          <a:xfrm>
            <a:off x="5783200" y="3084314"/>
            <a:ext cx="1720974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30s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5783200" y="3550444"/>
            <a:ext cx="172097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Global Propagation Time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4929188" y="3920133"/>
            <a:ext cx="3429000" cy="676870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4"/>
          <p:cNvSpPr/>
          <p:nvPr/>
        </p:nvSpPr>
        <p:spPr>
          <a:xfrm>
            <a:off x="4929188" y="3920133"/>
            <a:ext cx="28575" cy="67687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7" name="Google Shape;47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36344" y="4047827"/>
            <a:ext cx="8890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4"/>
          <p:cNvSpPr/>
          <p:nvPr/>
        </p:nvSpPr>
        <p:spPr>
          <a:xfrm>
            <a:off x="5196687" y="4027289"/>
            <a:ext cx="128372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Break-Glass Procedure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5036344" y="4218384"/>
            <a:ext cx="321468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Requires 2-person authorization (CertificateAdmin + SecurityOfficer) via MFA to trigger root CA revocation.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5" name="Google Shape;4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5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571500" y="428625"/>
            <a:ext cx="156956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D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3857625" y="1664494"/>
            <a:ext cx="1428750" cy="1428750"/>
          </a:xfrm>
          <a:prstGeom prst="ellipse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0" name="Google Shape;49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4813" y="2021681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15"/>
          <p:cNvSpPr/>
          <p:nvPr/>
        </p:nvSpPr>
        <p:spPr>
          <a:xfrm>
            <a:off x="1963471" y="3378994"/>
            <a:ext cx="5217058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Workflows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1714500" y="4145161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Standard operating procedures for certificate lifecycle management, troubleshooting, and emergency response.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7724375" y="3689747"/>
            <a:ext cx="991000" cy="1168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8"/>
              <a:buFont typeface="Calibri"/>
              <a:buNone/>
            </a:pPr>
            <a:r>
              <a:rPr b="1" i="0" lang="en-US" sz="621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62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9" name="Google Shape;4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6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571500" y="428625"/>
            <a:ext cx="5298821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 Operating Procedures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571500" y="1323380"/>
            <a:ext cx="2524116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6"/>
          <p:cNvSpPr/>
          <p:nvPr/>
        </p:nvSpPr>
        <p:spPr>
          <a:xfrm>
            <a:off x="571500" y="1323380"/>
            <a:ext cx="2509800" cy="28575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6"/>
          <p:cNvSpPr/>
          <p:nvPr/>
        </p:nvSpPr>
        <p:spPr>
          <a:xfrm>
            <a:off x="785813" y="1537692"/>
            <a:ext cx="428625" cy="428625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6" name="Google Shape;5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3" y="165199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6"/>
          <p:cNvSpPr/>
          <p:nvPr/>
        </p:nvSpPr>
        <p:spPr>
          <a:xfrm>
            <a:off x="785813" y="2109192"/>
            <a:ext cx="209549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Routine Renewal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785813" y="2450306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785813" y="2450306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1041062" y="2450306"/>
            <a:ext cx="1567216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detects Day 60 trigger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785813" y="2684599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785813" y="2684599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1041062" y="2684599"/>
            <a:ext cx="1418704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Generates new key pair locally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785813" y="2918892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785813" y="2918892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1041062" y="2918892"/>
            <a:ext cx="1508392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Sends CSR to EJBCA via Gateway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785813" y="3153184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785813" y="3153184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1041062" y="3153184"/>
            <a:ext cx="1581503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Receives new cert, validates chain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785813" y="3387477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785813" y="3387477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1041062" y="3387477"/>
            <a:ext cx="1228781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Atomically swaps cert files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785813" y="4650581"/>
            <a:ext cx="76597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Target Duration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2232980" y="4630936"/>
            <a:ext cx="64832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5 seconds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3309928" y="1323380"/>
            <a:ext cx="2524116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6"/>
          <p:cNvSpPr/>
          <p:nvPr/>
        </p:nvSpPr>
        <p:spPr>
          <a:xfrm>
            <a:off x="3309928" y="1323380"/>
            <a:ext cx="2509800" cy="285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6"/>
          <p:cNvSpPr/>
          <p:nvPr/>
        </p:nvSpPr>
        <p:spPr>
          <a:xfrm>
            <a:off x="3524241" y="1537692"/>
            <a:ext cx="428625" cy="428625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8" name="Google Shape;5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8541" y="165199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6"/>
          <p:cNvSpPr/>
          <p:nvPr/>
        </p:nvSpPr>
        <p:spPr>
          <a:xfrm>
            <a:off x="3524241" y="2109192"/>
            <a:ext cx="209549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Failed Renewal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3524241" y="2450306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6"/>
          <p:cNvSpPr/>
          <p:nvPr/>
        </p:nvSpPr>
        <p:spPr>
          <a:xfrm>
            <a:off x="3524241" y="2450306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3779490" y="2450306"/>
            <a:ext cx="1603409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Renewal fails (network/auth error)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3524241" y="2684599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6"/>
          <p:cNvSpPr/>
          <p:nvPr/>
        </p:nvSpPr>
        <p:spPr>
          <a:xfrm>
            <a:off x="3524241" y="2684599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3779490" y="2684599"/>
            <a:ext cx="1840241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enters retry loop (exp. backoff)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3524241" y="3050325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6"/>
          <p:cNvSpPr/>
          <p:nvPr/>
        </p:nvSpPr>
        <p:spPr>
          <a:xfrm>
            <a:off x="3524241" y="3050325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3779490" y="3050325"/>
            <a:ext cx="1840241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Day 75: Sends P2 alert to Ops Dashboard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3524241" y="3416052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6"/>
          <p:cNvSpPr/>
          <p:nvPr/>
        </p:nvSpPr>
        <p:spPr>
          <a:xfrm>
            <a:off x="3524241" y="3416052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3779490" y="3416052"/>
            <a:ext cx="1840241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Ops triggers manual "Force Renew" job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6"/>
          <p:cNvSpPr/>
          <p:nvPr/>
        </p:nvSpPr>
        <p:spPr>
          <a:xfrm>
            <a:off x="3524241" y="3781778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6"/>
          <p:cNvSpPr/>
          <p:nvPr/>
        </p:nvSpPr>
        <p:spPr>
          <a:xfrm>
            <a:off x="3524241" y="3781778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3779490" y="3781778"/>
            <a:ext cx="1722034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executes job immediately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/>
          <p:nvPr/>
        </p:nvSpPr>
        <p:spPr>
          <a:xfrm>
            <a:off x="3524241" y="4650581"/>
            <a:ext cx="69961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Resolution SLA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5034502" y="4630936"/>
            <a:ext cx="58522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24 hours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6"/>
          <p:cNvSpPr/>
          <p:nvPr/>
        </p:nvSpPr>
        <p:spPr>
          <a:xfrm>
            <a:off x="6048356" y="1323380"/>
            <a:ext cx="2524144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6"/>
          <p:cNvSpPr/>
          <p:nvPr/>
        </p:nvSpPr>
        <p:spPr>
          <a:xfrm>
            <a:off x="6048356" y="1323380"/>
            <a:ext cx="2509856" cy="28575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6"/>
          <p:cNvSpPr/>
          <p:nvPr/>
        </p:nvSpPr>
        <p:spPr>
          <a:xfrm>
            <a:off x="6262669" y="1537692"/>
            <a:ext cx="428625" cy="428625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6969" y="165199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6"/>
          <p:cNvSpPr/>
          <p:nvPr/>
        </p:nvSpPr>
        <p:spPr>
          <a:xfrm>
            <a:off x="6262669" y="2109192"/>
            <a:ext cx="2095519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Compromise Response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6262669" y="2450306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6"/>
          <p:cNvSpPr/>
          <p:nvPr/>
        </p:nvSpPr>
        <p:spPr>
          <a:xfrm>
            <a:off x="6262669" y="2450306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6"/>
          <p:cNvSpPr/>
          <p:nvPr/>
        </p:nvSpPr>
        <p:spPr>
          <a:xfrm>
            <a:off x="6517918" y="2450306"/>
            <a:ext cx="179883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Security detects anomaly/compromise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6262669" y="2684599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6"/>
          <p:cNvSpPr/>
          <p:nvPr/>
        </p:nvSpPr>
        <p:spPr>
          <a:xfrm>
            <a:off x="6262669" y="2684599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6"/>
          <p:cNvSpPr/>
          <p:nvPr/>
        </p:nvSpPr>
        <p:spPr>
          <a:xfrm>
            <a:off x="6517918" y="2684599"/>
            <a:ext cx="1840269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Admin triggers "Revoke &amp; Block" workflow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6262669" y="3050325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6262669" y="3050325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6517918" y="3050325"/>
            <a:ext cx="1840269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Cert revoked in EJBCA, pushed to Gateways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6262669" y="3416052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6"/>
          <p:cNvSpPr/>
          <p:nvPr/>
        </p:nvSpPr>
        <p:spPr>
          <a:xfrm>
            <a:off x="6262669" y="3416052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6517918" y="3416052"/>
            <a:ext cx="1806029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Agent connection terminated instantly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6262669" y="3650345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6"/>
          <p:cNvSpPr/>
          <p:nvPr/>
        </p:nvSpPr>
        <p:spPr>
          <a:xfrm>
            <a:off x="6262669" y="3650345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6517918" y="3650345"/>
            <a:ext cx="1840269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Agent quarantined for forensic analysis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6262669" y="4650581"/>
            <a:ext cx="78252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Containment SLA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7631339" y="4630936"/>
            <a:ext cx="72684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15 minutes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4" name="Google Shape;5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7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7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7"/>
          <p:cNvSpPr/>
          <p:nvPr/>
        </p:nvSpPr>
        <p:spPr>
          <a:xfrm>
            <a:off x="571500" y="428625"/>
            <a:ext cx="3820009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Troubleshooting Guide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571500" y="1323380"/>
            <a:ext cx="3857625" cy="790780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7"/>
          <p:cNvSpPr/>
          <p:nvPr/>
        </p:nvSpPr>
        <p:spPr>
          <a:xfrm>
            <a:off x="714375" y="1466255"/>
            <a:ext cx="357188" cy="357188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0" name="Google Shape;5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13" y="1559123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7"/>
          <p:cNvSpPr/>
          <p:nvPr/>
        </p:nvSpPr>
        <p:spPr>
          <a:xfrm>
            <a:off x="1214438" y="1466255"/>
            <a:ext cx="307181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 Connectivity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1214438" y="1676995"/>
            <a:ext cx="3071813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Firewall blocking port 443/8080 or DNS resolution failure for OpAMP Gateway.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571500" y="2242747"/>
            <a:ext cx="3857625" cy="790780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7"/>
          <p:cNvSpPr/>
          <p:nvPr/>
        </p:nvSpPr>
        <p:spPr>
          <a:xfrm>
            <a:off x="714375" y="2385622"/>
            <a:ext cx="357188" cy="357188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5" name="Google Shape;5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244" y="247849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7"/>
          <p:cNvSpPr/>
          <p:nvPr/>
        </p:nvSpPr>
        <p:spPr>
          <a:xfrm>
            <a:off x="1214438" y="2385622"/>
            <a:ext cx="307181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Clock Skew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1214438" y="2596362"/>
            <a:ext cx="3071813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System time drift &gt; 5 minutes causes certificate validation failures (NotBefore/NotAfter).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7"/>
          <p:cNvSpPr/>
          <p:nvPr/>
        </p:nvSpPr>
        <p:spPr>
          <a:xfrm>
            <a:off x="571500" y="3162114"/>
            <a:ext cx="3857625" cy="790780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7"/>
          <p:cNvSpPr/>
          <p:nvPr/>
        </p:nvSpPr>
        <p:spPr>
          <a:xfrm>
            <a:off x="714375" y="3304989"/>
            <a:ext cx="357188" cy="357188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0" name="Google Shape;59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244" y="339785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17"/>
          <p:cNvSpPr/>
          <p:nvPr/>
        </p:nvSpPr>
        <p:spPr>
          <a:xfrm>
            <a:off x="1214438" y="3304989"/>
            <a:ext cx="307181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Permission Denied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/>
          <p:nvPr/>
        </p:nvSpPr>
        <p:spPr>
          <a:xfrm>
            <a:off x="1214438" y="3515730"/>
            <a:ext cx="3071813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process lacks filesystem permissions to write key/cert files to storage path.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4714875" y="1323380"/>
            <a:ext cx="3857625" cy="367724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4857750" y="1466255"/>
            <a:ext cx="78232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ubuntu@host:~$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7"/>
          <p:cNvSpPr/>
          <p:nvPr/>
        </p:nvSpPr>
        <p:spPr>
          <a:xfrm>
            <a:off x="5711512" y="1466255"/>
            <a:ext cx="138798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sudo supervisor-cli diag --cert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7"/>
          <p:cNvSpPr/>
          <p:nvPr/>
        </p:nvSpPr>
        <p:spPr>
          <a:xfrm>
            <a:off x="4857750" y="1823442"/>
            <a:ext cx="4626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[10:42:01]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7"/>
          <p:cNvSpPr/>
          <p:nvPr/>
        </p:nvSpPr>
        <p:spPr>
          <a:xfrm>
            <a:off x="5427576" y="1823442"/>
            <a:ext cx="25474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5789479" y="1823442"/>
            <a:ext cx="131478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Checking certificate status...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7"/>
          <p:cNvSpPr/>
          <p:nvPr/>
        </p:nvSpPr>
        <p:spPr>
          <a:xfrm>
            <a:off x="4857750" y="2030611"/>
            <a:ext cx="4626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[10:42:01]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5427576" y="2030611"/>
            <a:ext cx="25474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5789479" y="2030611"/>
            <a:ext cx="170582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Path: /etc/supervisor/certs/agent.crt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4857750" y="2237780"/>
            <a:ext cx="4626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[10:42:01]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/>
          <p:nvPr/>
        </p:nvSpPr>
        <p:spPr>
          <a:xfrm>
            <a:off x="5427576" y="2237780"/>
            <a:ext cx="25474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/>
          <p:nvPr/>
        </p:nvSpPr>
        <p:spPr>
          <a:xfrm>
            <a:off x="5789479" y="2237780"/>
            <a:ext cx="18989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Validity: 2023-10-01 to 2024-01-01 (Valid)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4857750" y="2444948"/>
            <a:ext cx="462669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[10:42:02]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5427576" y="2444948"/>
            <a:ext cx="33366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/>
          <p:nvPr/>
        </p:nvSpPr>
        <p:spPr>
          <a:xfrm>
            <a:off x="5868395" y="2444948"/>
            <a:ext cx="2024193" cy="164306"/>
          </a:xfrm>
          <a:prstGeom prst="rect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7"/>
          <p:cNvSpPr/>
          <p:nvPr/>
        </p:nvSpPr>
        <p:spPr>
          <a:xfrm>
            <a:off x="5868395" y="2444948"/>
            <a:ext cx="202419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42525" spcFirstLastPara="1" rIns="42525" wrap="square" tIns="170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Connection refused: gateway.internal:443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4857750" y="2680692"/>
            <a:ext cx="4626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[10:42:02]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5427576" y="2680692"/>
            <a:ext cx="25463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HINT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5789368" y="2680692"/>
            <a:ext cx="175172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Check firewall rules or proxy settings.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7" name="Google Shape;6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18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8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8"/>
          <p:cNvSpPr/>
          <p:nvPr/>
        </p:nvSpPr>
        <p:spPr>
          <a:xfrm>
            <a:off x="571500" y="428625"/>
            <a:ext cx="1507834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8"/>
          <p:cNvSpPr/>
          <p:nvPr/>
        </p:nvSpPr>
        <p:spPr>
          <a:xfrm>
            <a:off x="3857625" y="1664494"/>
            <a:ext cx="1428750" cy="1428750"/>
          </a:xfrm>
          <a:prstGeom prst="ellipse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2" name="Google Shape;6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4109" y="2021681"/>
            <a:ext cx="535781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18"/>
          <p:cNvSpPr/>
          <p:nvPr/>
        </p:nvSpPr>
        <p:spPr>
          <a:xfrm>
            <a:off x="2352331" y="3378994"/>
            <a:ext cx="4439310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&amp; Audit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1714500" y="4145161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Automated evidence collection, regulatory alignment, and SIEM integration for 100% audit readiness.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7724375" y="3689747"/>
            <a:ext cx="991000" cy="1168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8"/>
              <a:buFont typeface="Calibri"/>
              <a:buNone/>
            </a:pPr>
            <a:r>
              <a:rPr b="1" i="0" lang="en-US" sz="621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62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1" name="Google Shape;6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19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9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9"/>
          <p:cNvSpPr/>
          <p:nvPr/>
        </p:nvSpPr>
        <p:spPr>
          <a:xfrm>
            <a:off x="571500" y="428625"/>
            <a:ext cx="508841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&amp; Audit Readiness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9"/>
          <p:cNvSpPr/>
          <p:nvPr/>
        </p:nvSpPr>
        <p:spPr>
          <a:xfrm>
            <a:off x="571500" y="1547515"/>
            <a:ext cx="1821656" cy="93761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9"/>
          <p:cNvSpPr/>
          <p:nvPr/>
        </p:nvSpPr>
        <p:spPr>
          <a:xfrm>
            <a:off x="714375" y="1690390"/>
            <a:ext cx="1528763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9"/>
          <p:cNvSpPr/>
          <p:nvPr/>
        </p:nvSpPr>
        <p:spPr>
          <a:xfrm>
            <a:off x="714375" y="2192238"/>
            <a:ext cx="15287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Audit Prep Reduction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9"/>
          <p:cNvSpPr/>
          <p:nvPr/>
        </p:nvSpPr>
        <p:spPr>
          <a:xfrm>
            <a:off x="2600325" y="1547515"/>
            <a:ext cx="1828800" cy="93761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9"/>
          <p:cNvSpPr/>
          <p:nvPr/>
        </p:nvSpPr>
        <p:spPr>
          <a:xfrm>
            <a:off x="2750344" y="1697534"/>
            <a:ext cx="1535906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9"/>
          <p:cNvSpPr/>
          <p:nvPr/>
        </p:nvSpPr>
        <p:spPr>
          <a:xfrm>
            <a:off x="2750344" y="2199382"/>
            <a:ext cx="153590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Control Coverage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1" name="Google Shape;6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2313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19"/>
          <p:cNvSpPr/>
          <p:nvPr/>
        </p:nvSpPr>
        <p:spPr>
          <a:xfrm>
            <a:off x="857250" y="2763738"/>
            <a:ext cx="35718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Evidence Collection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9"/>
          <p:cNvSpPr/>
          <p:nvPr/>
        </p:nvSpPr>
        <p:spPr>
          <a:xfrm>
            <a:off x="857250" y="2994124"/>
            <a:ext cx="3571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System automatically logs every issuance, renewal, and revocation. No manual screenshots or spreadsheets needed.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4" name="Google Shape;64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0847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9"/>
          <p:cNvSpPr/>
          <p:nvPr/>
        </p:nvSpPr>
        <p:spPr>
          <a:xfrm>
            <a:off x="821531" y="3479899"/>
            <a:ext cx="360759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Auditor Self-Service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9"/>
          <p:cNvSpPr/>
          <p:nvPr/>
        </p:nvSpPr>
        <p:spPr>
          <a:xfrm>
            <a:off x="821531" y="3710285"/>
            <a:ext cx="360759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Read-only portal allows auditors to verify controls independently, reducing operational interruptions.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7" name="Google Shape;64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2463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19"/>
          <p:cNvSpPr/>
          <p:nvPr/>
        </p:nvSpPr>
        <p:spPr>
          <a:xfrm>
            <a:off x="821531" y="4196060"/>
            <a:ext cx="360759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Immutable Audit Trail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9"/>
          <p:cNvSpPr/>
          <p:nvPr/>
        </p:nvSpPr>
        <p:spPr>
          <a:xfrm>
            <a:off x="821531" y="4426446"/>
            <a:ext cx="360759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All actions are cryptographically signed and stored in tamper-evident logs for 7 years.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9"/>
          <p:cNvSpPr/>
          <p:nvPr/>
        </p:nvSpPr>
        <p:spPr>
          <a:xfrm>
            <a:off x="4714875" y="1323380"/>
            <a:ext cx="3857625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9"/>
          <p:cNvSpPr/>
          <p:nvPr/>
        </p:nvSpPr>
        <p:spPr>
          <a:xfrm>
            <a:off x="4929188" y="1537692"/>
            <a:ext cx="34290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Regulatory Framework Mapping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9"/>
          <p:cNvSpPr/>
          <p:nvPr/>
        </p:nvSpPr>
        <p:spPr>
          <a:xfrm>
            <a:off x="4929188" y="1956495"/>
            <a:ext cx="8572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NIST 800-53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9"/>
          <p:cNvSpPr/>
          <p:nvPr/>
        </p:nvSpPr>
        <p:spPr>
          <a:xfrm>
            <a:off x="5929313" y="1947565"/>
            <a:ext cx="292196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9"/>
          <p:cNvSpPr/>
          <p:nvPr/>
        </p:nvSpPr>
        <p:spPr>
          <a:xfrm>
            <a:off x="5929313" y="1947565"/>
            <a:ext cx="29219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SC-8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9"/>
          <p:cNvSpPr/>
          <p:nvPr/>
        </p:nvSpPr>
        <p:spPr>
          <a:xfrm>
            <a:off x="6292946" y="1947565"/>
            <a:ext cx="274783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9"/>
          <p:cNvSpPr/>
          <p:nvPr/>
        </p:nvSpPr>
        <p:spPr>
          <a:xfrm>
            <a:off x="6292946" y="1947565"/>
            <a:ext cx="27478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IA-2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9"/>
          <p:cNvSpPr/>
          <p:nvPr/>
        </p:nvSpPr>
        <p:spPr>
          <a:xfrm>
            <a:off x="6639167" y="1947565"/>
            <a:ext cx="298196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9"/>
          <p:cNvSpPr/>
          <p:nvPr/>
        </p:nvSpPr>
        <p:spPr>
          <a:xfrm>
            <a:off x="6639167" y="1947565"/>
            <a:ext cx="29819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AC-2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9"/>
          <p:cNvSpPr/>
          <p:nvPr/>
        </p:nvSpPr>
        <p:spPr>
          <a:xfrm>
            <a:off x="7008800" y="1947565"/>
            <a:ext cx="308409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9"/>
          <p:cNvSpPr/>
          <p:nvPr/>
        </p:nvSpPr>
        <p:spPr>
          <a:xfrm>
            <a:off x="7008800" y="1947565"/>
            <a:ext cx="3084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AU-2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1" name="Google Shape;66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9600" y="196988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19"/>
          <p:cNvSpPr/>
          <p:nvPr/>
        </p:nvSpPr>
        <p:spPr>
          <a:xfrm>
            <a:off x="4929188" y="2388691"/>
            <a:ext cx="8572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 2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9"/>
          <p:cNvSpPr/>
          <p:nvPr/>
        </p:nvSpPr>
        <p:spPr>
          <a:xfrm>
            <a:off x="5929313" y="2379762"/>
            <a:ext cx="342007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9"/>
          <p:cNvSpPr/>
          <p:nvPr/>
        </p:nvSpPr>
        <p:spPr>
          <a:xfrm>
            <a:off x="5929313" y="2379762"/>
            <a:ext cx="34200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CC6.1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9"/>
          <p:cNvSpPr/>
          <p:nvPr/>
        </p:nvSpPr>
        <p:spPr>
          <a:xfrm>
            <a:off x="6342757" y="2379762"/>
            <a:ext cx="342007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9"/>
          <p:cNvSpPr/>
          <p:nvPr/>
        </p:nvSpPr>
        <p:spPr>
          <a:xfrm>
            <a:off x="6342757" y="2379762"/>
            <a:ext cx="34200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CC6.7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9"/>
          <p:cNvSpPr/>
          <p:nvPr/>
        </p:nvSpPr>
        <p:spPr>
          <a:xfrm>
            <a:off x="6756202" y="2379762"/>
            <a:ext cx="342007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9"/>
          <p:cNvSpPr/>
          <p:nvPr/>
        </p:nvSpPr>
        <p:spPr>
          <a:xfrm>
            <a:off x="6756202" y="2379762"/>
            <a:ext cx="34200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CC7.1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9" name="Google Shape;66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9600" y="240208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19"/>
          <p:cNvSpPr/>
          <p:nvPr/>
        </p:nvSpPr>
        <p:spPr>
          <a:xfrm>
            <a:off x="4929188" y="2820888"/>
            <a:ext cx="8572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PCI-DSS 4.0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9"/>
          <p:cNvSpPr/>
          <p:nvPr/>
        </p:nvSpPr>
        <p:spPr>
          <a:xfrm>
            <a:off x="5929313" y="2811959"/>
            <a:ext cx="307377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9"/>
          <p:cNvSpPr/>
          <p:nvPr/>
        </p:nvSpPr>
        <p:spPr>
          <a:xfrm>
            <a:off x="5929313" y="2811959"/>
            <a:ext cx="30737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4.2.1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9"/>
          <p:cNvSpPr/>
          <p:nvPr/>
        </p:nvSpPr>
        <p:spPr>
          <a:xfrm>
            <a:off x="6308127" y="2811959"/>
            <a:ext cx="307377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9"/>
          <p:cNvSpPr/>
          <p:nvPr/>
        </p:nvSpPr>
        <p:spPr>
          <a:xfrm>
            <a:off x="6308127" y="2811959"/>
            <a:ext cx="30737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8.2.2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9"/>
          <p:cNvSpPr/>
          <p:nvPr/>
        </p:nvSpPr>
        <p:spPr>
          <a:xfrm>
            <a:off x="6686941" y="2811959"/>
            <a:ext cx="284383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9"/>
          <p:cNvSpPr/>
          <p:nvPr/>
        </p:nvSpPr>
        <p:spPr>
          <a:xfrm>
            <a:off x="6686941" y="2811959"/>
            <a:ext cx="28438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10.2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7" name="Google Shape;67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9600" y="283428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19"/>
          <p:cNvSpPr/>
          <p:nvPr/>
        </p:nvSpPr>
        <p:spPr>
          <a:xfrm>
            <a:off x="4929188" y="3253085"/>
            <a:ext cx="8572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HIPAA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9"/>
          <p:cNvSpPr/>
          <p:nvPr/>
        </p:nvSpPr>
        <p:spPr>
          <a:xfrm>
            <a:off x="5929313" y="3244155"/>
            <a:ext cx="531037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9"/>
          <p:cNvSpPr/>
          <p:nvPr/>
        </p:nvSpPr>
        <p:spPr>
          <a:xfrm>
            <a:off x="5929313" y="3244155"/>
            <a:ext cx="53103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164.312(a)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9"/>
          <p:cNvSpPr/>
          <p:nvPr/>
        </p:nvSpPr>
        <p:spPr>
          <a:xfrm>
            <a:off x="6531787" y="3244155"/>
            <a:ext cx="524089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9"/>
          <p:cNvSpPr/>
          <p:nvPr/>
        </p:nvSpPr>
        <p:spPr>
          <a:xfrm>
            <a:off x="6531787" y="3244155"/>
            <a:ext cx="52408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164.312(c)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3" name="Google Shape;68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9600" y="3266480"/>
            <a:ext cx="128588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9" name="Google Shape;6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0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0"/>
          <p:cNvSpPr/>
          <p:nvPr/>
        </p:nvSpPr>
        <p:spPr>
          <a:xfrm>
            <a:off x="571500" y="428625"/>
            <a:ext cx="393816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SIEM &amp; SOC Integration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0"/>
          <p:cNvSpPr/>
          <p:nvPr/>
        </p:nvSpPr>
        <p:spPr>
          <a:xfrm>
            <a:off x="3857625" y="2447627"/>
            <a:ext cx="1428750" cy="1428750"/>
          </a:xfrm>
          <a:prstGeom prst="ellipse">
            <a:avLst/>
          </a:prstGeom>
          <a:solidFill>
            <a:srgbClr val="00BFFF">
              <a:alpha val="9803"/>
            </a:srgbClr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4" name="Google Shape;6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898" y="2736949"/>
            <a:ext cx="482203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20"/>
          <p:cNvSpPr/>
          <p:nvPr/>
        </p:nvSpPr>
        <p:spPr>
          <a:xfrm>
            <a:off x="4207250" y="3237012"/>
            <a:ext cx="72950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OpAMP</a:t>
            </a:r>
            <a:b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 Stream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0"/>
          <p:cNvSpPr/>
          <p:nvPr/>
        </p:nvSpPr>
        <p:spPr>
          <a:xfrm>
            <a:off x="4000500" y="1466255"/>
            <a:ext cx="1143000" cy="85725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7" name="Google Shape;6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0563" y="1591270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20"/>
          <p:cNvSpPr/>
          <p:nvPr/>
        </p:nvSpPr>
        <p:spPr>
          <a:xfrm>
            <a:off x="4381379" y="1891308"/>
            <a:ext cx="38121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Splunk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0"/>
          <p:cNvSpPr/>
          <p:nvPr/>
        </p:nvSpPr>
        <p:spPr>
          <a:xfrm>
            <a:off x="4192488" y="2082403"/>
            <a:ext cx="75902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Enterprise Security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0"/>
          <p:cNvSpPr/>
          <p:nvPr/>
        </p:nvSpPr>
        <p:spPr>
          <a:xfrm>
            <a:off x="6715125" y="2733377"/>
            <a:ext cx="1143000" cy="85725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1" name="Google Shape;70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6613" y="285839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20"/>
          <p:cNvSpPr/>
          <p:nvPr/>
        </p:nvSpPr>
        <p:spPr>
          <a:xfrm>
            <a:off x="7059392" y="3158430"/>
            <a:ext cx="45446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Sentinel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0"/>
          <p:cNvSpPr/>
          <p:nvPr/>
        </p:nvSpPr>
        <p:spPr>
          <a:xfrm>
            <a:off x="7043486" y="3349526"/>
            <a:ext cx="48624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Azure Cloud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0"/>
          <p:cNvSpPr/>
          <p:nvPr/>
        </p:nvSpPr>
        <p:spPr>
          <a:xfrm>
            <a:off x="4000500" y="4000500"/>
            <a:ext cx="1143000" cy="85725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5" name="Google Shape;7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63058" y="4125516"/>
            <a:ext cx="21788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20"/>
          <p:cNvSpPr/>
          <p:nvPr/>
        </p:nvSpPr>
        <p:spPr>
          <a:xfrm>
            <a:off x="4308630" y="4425553"/>
            <a:ext cx="52671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Chronicle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0"/>
          <p:cNvSpPr/>
          <p:nvPr/>
        </p:nvSpPr>
        <p:spPr>
          <a:xfrm>
            <a:off x="4267526" y="4616648"/>
            <a:ext cx="60892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Google SecOps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0"/>
          <p:cNvSpPr/>
          <p:nvPr/>
        </p:nvSpPr>
        <p:spPr>
          <a:xfrm>
            <a:off x="1285875" y="2733377"/>
            <a:ext cx="1143000" cy="85725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9" name="Google Shape;70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43075" y="285839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0"/>
          <p:cNvSpPr/>
          <p:nvPr/>
        </p:nvSpPr>
        <p:spPr>
          <a:xfrm>
            <a:off x="1679228" y="3158430"/>
            <a:ext cx="35629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0"/>
          <p:cNvSpPr/>
          <p:nvPr/>
        </p:nvSpPr>
        <p:spPr>
          <a:xfrm>
            <a:off x="1519386" y="3349526"/>
            <a:ext cx="67594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Security Solution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0"/>
          <p:cNvSpPr/>
          <p:nvPr/>
        </p:nvSpPr>
        <p:spPr>
          <a:xfrm>
            <a:off x="7244516" y="3682603"/>
            <a:ext cx="1185109" cy="1175147"/>
          </a:xfrm>
          <a:prstGeom prst="rect">
            <a:avLst/>
          </a:prstGeom>
          <a:solidFill>
            <a:srgbClr val="000000">
              <a:alpha val="49803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0"/>
          <p:cNvSpPr/>
          <p:nvPr/>
        </p:nvSpPr>
        <p:spPr>
          <a:xfrm>
            <a:off x="7365960" y="3804047"/>
            <a:ext cx="95650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Forwarded Events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0"/>
          <p:cNvSpPr/>
          <p:nvPr/>
        </p:nvSpPr>
        <p:spPr>
          <a:xfrm>
            <a:off x="7465972" y="3991570"/>
            <a:ext cx="53700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CERT_ISSUED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0"/>
          <p:cNvSpPr/>
          <p:nvPr/>
        </p:nvSpPr>
        <p:spPr>
          <a:xfrm>
            <a:off x="7465972" y="4143375"/>
            <a:ext cx="64466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CERT_RENEWED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0"/>
          <p:cNvSpPr/>
          <p:nvPr/>
        </p:nvSpPr>
        <p:spPr>
          <a:xfrm>
            <a:off x="7465972" y="4295180"/>
            <a:ext cx="62273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CERT_REVOKED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0"/>
          <p:cNvSpPr/>
          <p:nvPr/>
        </p:nvSpPr>
        <p:spPr>
          <a:xfrm>
            <a:off x="7465972" y="4446984"/>
            <a:ext cx="85649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MTLS_AUTH_FAILURE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0"/>
          <p:cNvSpPr/>
          <p:nvPr/>
        </p:nvSpPr>
        <p:spPr>
          <a:xfrm>
            <a:off x="7465972" y="4598789"/>
            <a:ext cx="60428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KEY_ROTATION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4" name="Google Shape;7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2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1"/>
          <p:cNvSpPr/>
          <p:nvPr/>
        </p:nvSpPr>
        <p:spPr>
          <a:xfrm>
            <a:off x="571500" y="428625"/>
            <a:ext cx="5077588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Incident Response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1"/>
          <p:cNvSpPr/>
          <p:nvPr/>
        </p:nvSpPr>
        <p:spPr>
          <a:xfrm>
            <a:off x="571500" y="1935063"/>
            <a:ext cx="38576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SOAR Integration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9" name="Google Shape;7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0471"/>
            <a:ext cx="10715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1"/>
          <p:cNvSpPr/>
          <p:nvPr/>
        </p:nvSpPr>
        <p:spPr>
          <a:xfrm>
            <a:off x="785813" y="2311896"/>
            <a:ext cx="364331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Instant Detection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1"/>
          <p:cNvSpPr/>
          <p:nvPr/>
        </p:nvSpPr>
        <p:spPr>
          <a:xfrm>
            <a:off x="785813" y="2542282"/>
            <a:ext cx="364331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SIEM correlates failed mTLS attempts, unusual revocation patterns, and certificate expiry warnings in real-time.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2" name="Google Shape;7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92351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21"/>
          <p:cNvSpPr/>
          <p:nvPr/>
        </p:nvSpPr>
        <p:spPr>
          <a:xfrm>
            <a:off x="857250" y="3063776"/>
            <a:ext cx="35718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Playbooks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1"/>
          <p:cNvSpPr/>
          <p:nvPr/>
        </p:nvSpPr>
        <p:spPr>
          <a:xfrm>
            <a:off x="857250" y="3294162"/>
            <a:ext cx="3571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SOAR triggers pre-defined playbooks for common scenarios: Revoke &amp; Block, Force Renew, Isolate Host.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5" name="Google Shape;73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4230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21"/>
          <p:cNvSpPr/>
          <p:nvPr/>
        </p:nvSpPr>
        <p:spPr>
          <a:xfrm>
            <a:off x="857250" y="3815655"/>
            <a:ext cx="35718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Analyst Efficiency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1"/>
          <p:cNvSpPr/>
          <p:nvPr/>
        </p:nvSpPr>
        <p:spPr>
          <a:xfrm>
            <a:off x="857250" y="4046041"/>
            <a:ext cx="3571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L1 analysts focus on complex threats while automation handles routine certificate incidents.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1"/>
          <p:cNvSpPr/>
          <p:nvPr/>
        </p:nvSpPr>
        <p:spPr>
          <a:xfrm>
            <a:off x="4714875" y="1323380"/>
            <a:ext cx="3857625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1"/>
          <p:cNvSpPr/>
          <p:nvPr/>
        </p:nvSpPr>
        <p:spPr>
          <a:xfrm>
            <a:off x="4929188" y="1798830"/>
            <a:ext cx="34290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Compromise Containment Workflow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1"/>
          <p:cNvSpPr/>
          <p:nvPr/>
        </p:nvSpPr>
        <p:spPr>
          <a:xfrm>
            <a:off x="5157788" y="2116727"/>
            <a:ext cx="32004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T+00:00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1"/>
          <p:cNvSpPr/>
          <p:nvPr/>
        </p:nvSpPr>
        <p:spPr>
          <a:xfrm>
            <a:off x="5157788" y="2268531"/>
            <a:ext cx="320040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SIEM detects </a:t>
            </a:r>
            <a:r>
              <a:rPr b="1" i="0" lang="en-US" sz="683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Anomalous Cert Usage</a:t>
            </a: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from unknown IP.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1"/>
          <p:cNvSpPr/>
          <p:nvPr/>
        </p:nvSpPr>
        <p:spPr>
          <a:xfrm>
            <a:off x="5157788" y="2622845"/>
            <a:ext cx="32004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T+00:01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1"/>
          <p:cNvSpPr/>
          <p:nvPr/>
        </p:nvSpPr>
        <p:spPr>
          <a:xfrm>
            <a:off x="5157788" y="2774649"/>
            <a:ext cx="320040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SOAR triggers </a:t>
            </a:r>
            <a:r>
              <a:rPr b="1" i="0" lang="en-US" sz="683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"Contain Compromise"</a:t>
            </a: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playbook.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1"/>
          <p:cNvSpPr/>
          <p:nvPr/>
        </p:nvSpPr>
        <p:spPr>
          <a:xfrm>
            <a:off x="5157788" y="3128963"/>
            <a:ext cx="32004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T+00:02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1"/>
          <p:cNvSpPr/>
          <p:nvPr/>
        </p:nvSpPr>
        <p:spPr>
          <a:xfrm>
            <a:off x="5157788" y="3280767"/>
            <a:ext cx="320040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OpAMP revokes cert serial #12345 globally.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1"/>
          <p:cNvSpPr/>
          <p:nvPr/>
        </p:nvSpPr>
        <p:spPr>
          <a:xfrm>
            <a:off x="5157788" y="3635080"/>
            <a:ext cx="32004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T+00:05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1"/>
          <p:cNvSpPr/>
          <p:nvPr/>
        </p:nvSpPr>
        <p:spPr>
          <a:xfrm>
            <a:off x="5157788" y="3786885"/>
            <a:ext cx="320040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Gateways terminate connections. Threat contained.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1"/>
          <p:cNvSpPr/>
          <p:nvPr/>
        </p:nvSpPr>
        <p:spPr>
          <a:xfrm>
            <a:off x="4929188" y="4141198"/>
            <a:ext cx="3429000" cy="383977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1"/>
          <p:cNvSpPr/>
          <p:nvPr/>
        </p:nvSpPr>
        <p:spPr>
          <a:xfrm>
            <a:off x="4929188" y="4141198"/>
            <a:ext cx="3429000" cy="3839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Total Time to Contain: &lt; 5 Minutes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5" name="Google Shape;7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22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2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2"/>
          <p:cNvSpPr/>
          <p:nvPr/>
        </p:nvSpPr>
        <p:spPr>
          <a:xfrm>
            <a:off x="571500" y="428625"/>
            <a:ext cx="1504066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F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2"/>
          <p:cNvSpPr/>
          <p:nvPr/>
        </p:nvSpPr>
        <p:spPr>
          <a:xfrm>
            <a:off x="3857625" y="1793081"/>
            <a:ext cx="1428750" cy="1428750"/>
          </a:xfrm>
          <a:prstGeom prst="ellipse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0" name="Google Shape;76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0164" y="2150269"/>
            <a:ext cx="803672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22"/>
          <p:cNvSpPr/>
          <p:nvPr/>
        </p:nvSpPr>
        <p:spPr>
          <a:xfrm>
            <a:off x="3340122" y="3507581"/>
            <a:ext cx="2463757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2"/>
          <p:cNvSpPr/>
          <p:nvPr/>
        </p:nvSpPr>
        <p:spPr>
          <a:xfrm>
            <a:off x="1827851" y="4273748"/>
            <a:ext cx="54882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takeaways, business impact, and next steps for implementation.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2"/>
          <p:cNvSpPr/>
          <p:nvPr/>
        </p:nvSpPr>
        <p:spPr>
          <a:xfrm>
            <a:off x="7724375" y="3689747"/>
            <a:ext cx="991000" cy="1168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8"/>
              <a:buFont typeface="Calibri"/>
              <a:buNone/>
            </a:pPr>
            <a:r>
              <a:rPr b="1" i="0" lang="en-US" sz="621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62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9" name="Google Shape;7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23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3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3"/>
          <p:cNvSpPr/>
          <p:nvPr/>
        </p:nvSpPr>
        <p:spPr>
          <a:xfrm>
            <a:off x="571500" y="428625"/>
            <a:ext cx="2528078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3"/>
          <p:cNvSpPr/>
          <p:nvPr/>
        </p:nvSpPr>
        <p:spPr>
          <a:xfrm>
            <a:off x="571500" y="1323380"/>
            <a:ext cx="2524116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3"/>
          <p:cNvSpPr/>
          <p:nvPr/>
        </p:nvSpPr>
        <p:spPr>
          <a:xfrm>
            <a:off x="571500" y="1323380"/>
            <a:ext cx="2509800" cy="28575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3"/>
          <p:cNvSpPr/>
          <p:nvPr/>
        </p:nvSpPr>
        <p:spPr>
          <a:xfrm>
            <a:off x="1547794" y="1537692"/>
            <a:ext cx="571500" cy="571500"/>
          </a:xfrm>
          <a:prstGeom prst="ellipse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6" name="Google Shape;7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2810" y="1694855"/>
            <a:ext cx="32146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23"/>
          <p:cNvSpPr/>
          <p:nvPr/>
        </p:nvSpPr>
        <p:spPr>
          <a:xfrm>
            <a:off x="853873" y="2252067"/>
            <a:ext cx="195934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Excellence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3"/>
          <p:cNvSpPr/>
          <p:nvPr/>
        </p:nvSpPr>
        <p:spPr>
          <a:xfrm>
            <a:off x="785813" y="2593181"/>
            <a:ext cx="209549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Zero-touch automation eliminates manual toil, reduces human error, and ensures 99.96% renewal success across 250K endpoints.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3"/>
          <p:cNvSpPr/>
          <p:nvPr/>
        </p:nvSpPr>
        <p:spPr>
          <a:xfrm>
            <a:off x="1529851" y="4321969"/>
            <a:ext cx="607414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3"/>
          <p:cNvSpPr/>
          <p:nvPr/>
        </p:nvSpPr>
        <p:spPr>
          <a:xfrm>
            <a:off x="1550696" y="4670227"/>
            <a:ext cx="56572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3"/>
          <p:cNvSpPr/>
          <p:nvPr/>
        </p:nvSpPr>
        <p:spPr>
          <a:xfrm>
            <a:off x="3309928" y="1323380"/>
            <a:ext cx="2524116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3"/>
          <p:cNvSpPr/>
          <p:nvPr/>
        </p:nvSpPr>
        <p:spPr>
          <a:xfrm>
            <a:off x="3309928" y="1323380"/>
            <a:ext cx="2509800" cy="2857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3"/>
          <p:cNvSpPr/>
          <p:nvPr/>
        </p:nvSpPr>
        <p:spPr>
          <a:xfrm>
            <a:off x="4286222" y="1537692"/>
            <a:ext cx="571500" cy="571500"/>
          </a:xfrm>
          <a:prstGeom prst="ellipse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4" name="Google Shape;78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3385" y="1694855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23"/>
          <p:cNvSpPr/>
          <p:nvPr/>
        </p:nvSpPr>
        <p:spPr>
          <a:xfrm>
            <a:off x="3612533" y="2252067"/>
            <a:ext cx="191887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&amp; Compliance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3"/>
          <p:cNvSpPr/>
          <p:nvPr/>
        </p:nvSpPr>
        <p:spPr>
          <a:xfrm>
            <a:off x="3524241" y="2593181"/>
            <a:ext cx="209549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Short-lived certificates (90 days), mTLS everywhere, and automated evidence collection ensure continuous compliance.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3"/>
          <p:cNvSpPr/>
          <p:nvPr/>
        </p:nvSpPr>
        <p:spPr>
          <a:xfrm>
            <a:off x="4313095" y="4321969"/>
            <a:ext cx="517782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3"/>
          <p:cNvSpPr/>
          <p:nvPr/>
        </p:nvSpPr>
        <p:spPr>
          <a:xfrm>
            <a:off x="4123813" y="4670227"/>
            <a:ext cx="89634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Trust Architecture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3"/>
          <p:cNvSpPr/>
          <p:nvPr/>
        </p:nvSpPr>
        <p:spPr>
          <a:xfrm>
            <a:off x="6048356" y="1323380"/>
            <a:ext cx="2524144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3"/>
          <p:cNvSpPr/>
          <p:nvPr/>
        </p:nvSpPr>
        <p:spPr>
          <a:xfrm>
            <a:off x="6048356" y="1323380"/>
            <a:ext cx="2509856" cy="285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3"/>
          <p:cNvSpPr/>
          <p:nvPr/>
        </p:nvSpPr>
        <p:spPr>
          <a:xfrm>
            <a:off x="7024678" y="1537692"/>
            <a:ext cx="571500" cy="571500"/>
          </a:xfrm>
          <a:prstGeom prst="ellipse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2" name="Google Shape;79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1841" y="1694855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23"/>
          <p:cNvSpPr/>
          <p:nvPr/>
        </p:nvSpPr>
        <p:spPr>
          <a:xfrm>
            <a:off x="6674327" y="2252067"/>
            <a:ext cx="1272174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Value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3"/>
          <p:cNvSpPr/>
          <p:nvPr/>
        </p:nvSpPr>
        <p:spPr>
          <a:xfrm>
            <a:off x="6262669" y="2593181"/>
            <a:ext cx="20955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Significant cost savings from reduced outages, faster audit cycles, and elimination of manual certificate management overhead.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3"/>
          <p:cNvSpPr/>
          <p:nvPr/>
        </p:nvSpPr>
        <p:spPr>
          <a:xfrm>
            <a:off x="6969454" y="4321969"/>
            <a:ext cx="68192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$500K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3"/>
          <p:cNvSpPr/>
          <p:nvPr/>
        </p:nvSpPr>
        <p:spPr>
          <a:xfrm>
            <a:off x="6949222" y="4670227"/>
            <a:ext cx="72241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Annual Savings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2" name="Google Shape;8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3" name="Google Shape;80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4813" y="1236762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24"/>
          <p:cNvSpPr/>
          <p:nvPr/>
        </p:nvSpPr>
        <p:spPr>
          <a:xfrm>
            <a:off x="1357313" y="2190452"/>
            <a:ext cx="6429375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4"/>
          <p:cNvSpPr/>
          <p:nvPr/>
        </p:nvSpPr>
        <p:spPr>
          <a:xfrm>
            <a:off x="1357313" y="2956620"/>
            <a:ext cx="6429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Thank you for your time. We are now open for questions regarding the Certificate Management architecture and operational workflows.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4"/>
          <p:cNvSpPr/>
          <p:nvPr/>
        </p:nvSpPr>
        <p:spPr>
          <a:xfrm>
            <a:off x="2126689" y="3899595"/>
            <a:ext cx="2501289" cy="403622"/>
          </a:xfrm>
          <a:prstGeom prst="roundRect">
            <a:avLst>
              <a:gd fmla="val 16667" name="adj"/>
            </a:avLst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7" name="Google Shape;80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48145" y="402996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24"/>
          <p:cNvSpPr/>
          <p:nvPr/>
        </p:nvSpPr>
        <p:spPr>
          <a:xfrm>
            <a:off x="2598176" y="4013895"/>
            <a:ext cx="180834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security-arch@company.com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4"/>
          <p:cNvSpPr/>
          <p:nvPr/>
        </p:nvSpPr>
        <p:spPr>
          <a:xfrm>
            <a:off x="4906584" y="3899595"/>
            <a:ext cx="2103555" cy="403622"/>
          </a:xfrm>
          <a:prstGeom prst="roundRect">
            <a:avLst>
              <a:gd fmla="val 16667" name="adj"/>
            </a:avLst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0" name="Google Shape;81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8040" y="402996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24"/>
          <p:cNvSpPr/>
          <p:nvPr/>
        </p:nvSpPr>
        <p:spPr>
          <a:xfrm>
            <a:off x="5378072" y="4013895"/>
            <a:ext cx="141061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wiki.company.com/pki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